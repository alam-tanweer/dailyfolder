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Lst>
  <p:sldSz cy="5143500" cx="9144000"/>
  <p:notesSz cx="6858000" cy="9144000"/>
  <p:embeddedFontLst>
    <p:embeddedFont>
      <p:font typeface="Roboto"/>
      <p:regular r:id="rId106"/>
      <p:bold r:id="rId107"/>
      <p:italic r:id="rId108"/>
      <p:boldItalic r:id="rId109"/>
    </p:embeddedFont>
    <p:embeddedFont>
      <p:font typeface="Source Code Pro"/>
      <p:regular r:id="rId110"/>
      <p:bold r:id="rId111"/>
      <p:italic r:id="rId112"/>
      <p:boldItalic r:id="rId113"/>
    </p:embeddedFont>
    <p:embeddedFont>
      <p:font typeface="Shadows Into Light"/>
      <p:regular r:id="rId114"/>
    </p:embeddedFont>
    <p:embeddedFont>
      <p:font typeface="Merriweather"/>
      <p:regular r:id="rId115"/>
      <p:bold r:id="rId116"/>
      <p:italic r:id="rId117"/>
      <p:boldItalic r:id="rId118"/>
    </p:embeddedFont>
    <p:embeddedFont>
      <p:font typeface="Handlee"/>
      <p:regular r:id="rId1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CCAE03-A2B2-4379-B0C2-E101A7E113D6}">
  <a:tblStyle styleId="{89CCAE03-A2B2-4379-B0C2-E101A7E113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Roboto-bold.fntdata"/><Relationship Id="rId106" Type="http://schemas.openxmlformats.org/officeDocument/2006/relationships/font" Target="fonts/Roboto-regular.fntdata"/><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font" Target="fonts/Roboto-boldItalic.fntdata"/><Relationship Id="rId108" Type="http://schemas.openxmlformats.org/officeDocument/2006/relationships/font" Target="fonts/Roboto-italic.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Merriweather-boldItalic.fntdata"/><Relationship Id="rId117" Type="http://schemas.openxmlformats.org/officeDocument/2006/relationships/font" Target="fonts/Merriweather-italic.fntdata"/><Relationship Id="rId116" Type="http://schemas.openxmlformats.org/officeDocument/2006/relationships/font" Target="fonts/Merriweather-bold.fntdata"/><Relationship Id="rId115" Type="http://schemas.openxmlformats.org/officeDocument/2006/relationships/font" Target="fonts/Merriweather-regular.fntdata"/><Relationship Id="rId119" Type="http://schemas.openxmlformats.org/officeDocument/2006/relationships/font" Target="fonts/Handlee-regular.fntdata"/><Relationship Id="rId15" Type="http://schemas.openxmlformats.org/officeDocument/2006/relationships/slide" Target="slides/slide9.xml"/><Relationship Id="rId110" Type="http://schemas.openxmlformats.org/officeDocument/2006/relationships/font" Target="fonts/SourceCodePro-regular.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ShadowsIntoLight-regular.fntdata"/><Relationship Id="rId18" Type="http://schemas.openxmlformats.org/officeDocument/2006/relationships/slide" Target="slides/slide12.xml"/><Relationship Id="rId113" Type="http://schemas.openxmlformats.org/officeDocument/2006/relationships/font" Target="fonts/SourceCodePro-boldItalic.fntdata"/><Relationship Id="rId112" Type="http://schemas.openxmlformats.org/officeDocument/2006/relationships/font" Target="fonts/SourceCodePro-italic.fntdata"/><Relationship Id="rId111" Type="http://schemas.openxmlformats.org/officeDocument/2006/relationships/font" Target="fonts/SourceCodePro-bold.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16b9e6fb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16b9e6fb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b3d3c908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b3d3c908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b21e7e554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b21e7e554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c0fe14963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c0fe14963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1a5d03fb9e_0_3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1a5d03fb9e_0_3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b21e7e554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b21e7e554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c0fe14963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c0fe14963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1a5d03fb9e_0_3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1a5d03fb9e_0_3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c0fe14963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c0fe14963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b21e7e554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b21e7e554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c387932d7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c387932d7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c387932d7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c387932d7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part here should be a class activity - take a few minutes to go through the code with your students.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c387932d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c387932d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c0fe14963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c0fe14963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b21e7e554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b21e7e554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b21e7e554b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b21e7e554b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c387932d70_1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c387932d70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c387932d70_1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c387932d70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b21e7e554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b21e7e554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b21e7e554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b21e7e554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b21e7e554b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b21e7e554b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3ebf2401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3ebf2401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bfc5f3bdd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bfc5f3bdd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c56afa2e0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c56afa2e0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f3c93e4b19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f3c93e4b1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f3c93e4b19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f3c93e4b19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bfc5f3bdd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bfc5f3bdd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2c2668378d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2c2668378d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3ebf2401f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3ebf2401f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1a5d03fb9e_0_1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1a5d03fb9e_0_1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1a5d03fb9e_0_1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21a5d03fb9e_0_1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21a5d03fb9e_0_1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21a5d03fb9e_0_1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1a5d03fb9e_0_1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1a5d03fb9e_0_1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1a5d03fb9e_0_1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1a5d03fb9e_0_1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1a5d03fb9e_0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1a5d03fb9e_0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1a5d03fb9e_0_1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1a5d03fb9e_0_1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1a5d03fb9e_0_1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1a5d03fb9e_0_1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1a5d03fb9e_0_1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21a5d03fb9e_0_1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21a5d03fb9e_0_1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21a5d03fb9e_0_1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21a5d03fb9e_0_1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21a5d03fb9e_0_1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21a5d03fb9e_0_1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21a5d03fb9e_0_1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21a5d03fb9e_0_1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21a5d03fb9e_0_1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21a5d03fb9e_0_1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21a5d03fb9e_0_1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21a5d03fb9e_0_1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21a5d03fb9e_0_1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21a5d03fb9e_0_1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21a5d03fb9e_0_1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may be worth pointing out that the distance of ACB is shorter than AB.</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1a5d03fb9e_0_1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21a5d03fb9e_0_1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1a5d03fb9e_0_1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21a5d03fb9e_0_1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1a5d03fb9e_0_1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1a5d03fb9e_0_1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21a5d03fb9e_0_1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21a5d03fb9e_0_1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21a5d03fb9e_0_1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21a5d03fb9e_0_1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21a5d03fb9e_0_1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21a5d03fb9e_0_1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21a5d03fb9e_0_2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21a5d03fb9e_0_2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21a5d03fb9e_0_20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21a5d03fb9e_0_20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21a5d03fb9e_0_2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g21a5d03fb9e_0_2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21a5d03fb9e_0_2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21a5d03fb9e_0_2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21a5d03fb9e_0_2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0" name="Google Shape;1500;g21a5d03fb9e_0_2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g33ebf2401f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0" name="Google Shape;1510;g33ebf2401f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g33f6f974bb3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1" name="Google Shape;1521;g33f6f974bb3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2e42b6117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9" name="Google Shape;1559;g2e42b6117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33f6f974bb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4" name="Google Shape;1624;g33f6f974bb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g33f6f974bb3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0" name="Google Shape;1660;g33f6f974bb3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g33f6f974bb3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1" name="Google Shape;1721;g33f6f974bb3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g33f6f974bb3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3" name="Google Shape;1763;g33f6f974bb3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g33f6f974bb3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5" name="Google Shape;1835;g33f6f974bb3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1" name="Shape 1881"/>
        <p:cNvGrpSpPr/>
        <p:nvPr/>
      </p:nvGrpSpPr>
      <p:grpSpPr>
        <a:xfrm>
          <a:off x="0" y="0"/>
          <a:ext cx="0" cy="0"/>
          <a:chOff x="0" y="0"/>
          <a:chExt cx="0" cy="0"/>
        </a:xfrm>
      </p:grpSpPr>
      <p:sp>
        <p:nvSpPr>
          <p:cNvPr id="1882" name="Google Shape;1882;g33f6f974bb3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3" name="Google Shape;1883;g33f6f974bb3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g21a5d03fb9e_0_2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8" name="Google Shape;1968;g21a5d03fb9e_0_2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1" name="Shape 1981"/>
        <p:cNvGrpSpPr/>
        <p:nvPr/>
      </p:nvGrpSpPr>
      <p:grpSpPr>
        <a:xfrm>
          <a:off x="0" y="0"/>
          <a:ext cx="0" cy="0"/>
          <a:chOff x="0" y="0"/>
          <a:chExt cx="0" cy="0"/>
        </a:xfrm>
      </p:grpSpPr>
      <p:sp>
        <p:nvSpPr>
          <p:cNvPr id="1982" name="Google Shape;1982;g21a5d03fb9e_0_2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3" name="Google Shape;1983;g21a5d03fb9e_0_2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9" name="Shape 2009"/>
        <p:cNvGrpSpPr/>
        <p:nvPr/>
      </p:nvGrpSpPr>
      <p:grpSpPr>
        <a:xfrm>
          <a:off x="0" y="0"/>
          <a:ext cx="0" cy="0"/>
          <a:chOff x="0" y="0"/>
          <a:chExt cx="0" cy="0"/>
        </a:xfrm>
      </p:grpSpPr>
      <p:sp>
        <p:nvSpPr>
          <p:cNvPr id="2010" name="Google Shape;2010;g21a5d03fb9e_0_2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1" name="Google Shape;2011;g21a5d03fb9e_0_2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g21a5d03fb9e_0_2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0" name="Google Shape;2020;g21a5d03fb9e_0_2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6" name="Shape 2036"/>
        <p:cNvGrpSpPr/>
        <p:nvPr/>
      </p:nvGrpSpPr>
      <p:grpSpPr>
        <a:xfrm>
          <a:off x="0" y="0"/>
          <a:ext cx="0" cy="0"/>
          <a:chOff x="0" y="0"/>
          <a:chExt cx="0" cy="0"/>
        </a:xfrm>
      </p:grpSpPr>
      <p:sp>
        <p:nvSpPr>
          <p:cNvPr id="2037" name="Google Shape;2037;g21a5d03fb9e_0_2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8" name="Google Shape;2038;g21a5d03fb9e_0_2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g21a5d03fb9e_0_2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3" name="Google Shape;2053;g21a5d03fb9e_0_2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g21a5d03fb9e_0_2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7" name="Google Shape;2067;g21a5d03fb9e_0_2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2" name="Shape 2082"/>
        <p:cNvGrpSpPr/>
        <p:nvPr/>
      </p:nvGrpSpPr>
      <p:grpSpPr>
        <a:xfrm>
          <a:off x="0" y="0"/>
          <a:ext cx="0" cy="0"/>
          <a:chOff x="0" y="0"/>
          <a:chExt cx="0" cy="0"/>
        </a:xfrm>
      </p:grpSpPr>
      <p:sp>
        <p:nvSpPr>
          <p:cNvPr id="2083" name="Google Shape;2083;g21a5d03fb9e_0_2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4" name="Google Shape;2084;g21a5d03fb9e_0_2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1" name="Shape 2101"/>
        <p:cNvGrpSpPr/>
        <p:nvPr/>
      </p:nvGrpSpPr>
      <p:grpSpPr>
        <a:xfrm>
          <a:off x="0" y="0"/>
          <a:ext cx="0" cy="0"/>
          <a:chOff x="0" y="0"/>
          <a:chExt cx="0" cy="0"/>
        </a:xfrm>
      </p:grpSpPr>
      <p:sp>
        <p:nvSpPr>
          <p:cNvPr id="2102" name="Google Shape;2102;g21a5d03fb9e_0_2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3" name="Google Shape;2103;g21a5d03fb9e_0_2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8" name="Shape 2118"/>
        <p:cNvGrpSpPr/>
        <p:nvPr/>
      </p:nvGrpSpPr>
      <p:grpSpPr>
        <a:xfrm>
          <a:off x="0" y="0"/>
          <a:ext cx="0" cy="0"/>
          <a:chOff x="0" y="0"/>
          <a:chExt cx="0" cy="0"/>
        </a:xfrm>
      </p:grpSpPr>
      <p:sp>
        <p:nvSpPr>
          <p:cNvPr id="2119" name="Google Shape;2119;g21a5d03fb9e_0_3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0" name="Google Shape;2120;g21a5d03fb9e_0_3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9" name="Shape 2129"/>
        <p:cNvGrpSpPr/>
        <p:nvPr/>
      </p:nvGrpSpPr>
      <p:grpSpPr>
        <a:xfrm>
          <a:off x="0" y="0"/>
          <a:ext cx="0" cy="0"/>
          <a:chOff x="0" y="0"/>
          <a:chExt cx="0" cy="0"/>
        </a:xfrm>
      </p:grpSpPr>
      <p:sp>
        <p:nvSpPr>
          <p:cNvPr id="2130" name="Google Shape;2130;g21a5d03fb9e_0_3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1" name="Google Shape;2131;g21a5d03fb9e_0_3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9" name="Shape 2149"/>
        <p:cNvGrpSpPr/>
        <p:nvPr/>
      </p:nvGrpSpPr>
      <p:grpSpPr>
        <a:xfrm>
          <a:off x="0" y="0"/>
          <a:ext cx="0" cy="0"/>
          <a:chOff x="0" y="0"/>
          <a:chExt cx="0" cy="0"/>
        </a:xfrm>
      </p:grpSpPr>
      <p:sp>
        <p:nvSpPr>
          <p:cNvPr id="2150" name="Google Shape;2150;g21a5d03fb9e_0_3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1" name="Google Shape;2151;g21a5d03fb9e_0_3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0" name="Shape 2160"/>
        <p:cNvGrpSpPr/>
        <p:nvPr/>
      </p:nvGrpSpPr>
      <p:grpSpPr>
        <a:xfrm>
          <a:off x="0" y="0"/>
          <a:ext cx="0" cy="0"/>
          <a:chOff x="0" y="0"/>
          <a:chExt cx="0" cy="0"/>
        </a:xfrm>
      </p:grpSpPr>
      <p:sp>
        <p:nvSpPr>
          <p:cNvPr id="2161" name="Google Shape;2161;g21a5d03fb9e_0_3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2" name="Google Shape;2162;g21a5d03fb9e_0_3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g21a5d03fb9e_0_3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6" name="Google Shape;2196;g21a5d03fb9e_0_3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good time to mention that "Collection" is the parent interface for Lists and Sets.</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5" name="Shape 2205"/>
        <p:cNvGrpSpPr/>
        <p:nvPr/>
      </p:nvGrpSpPr>
      <p:grpSpPr>
        <a:xfrm>
          <a:off x="0" y="0"/>
          <a:ext cx="0" cy="0"/>
          <a:chOff x="0" y="0"/>
          <a:chExt cx="0" cy="0"/>
        </a:xfrm>
      </p:grpSpPr>
      <p:sp>
        <p:nvSpPr>
          <p:cNvPr id="2206" name="Google Shape;2206;g21f354692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7" name="Google Shape;2207;g21f354692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2" name="Shape 2212"/>
        <p:cNvGrpSpPr/>
        <p:nvPr/>
      </p:nvGrpSpPr>
      <p:grpSpPr>
        <a:xfrm>
          <a:off x="0" y="0"/>
          <a:ext cx="0" cy="0"/>
          <a:chOff x="0" y="0"/>
          <a:chExt cx="0" cy="0"/>
        </a:xfrm>
      </p:grpSpPr>
      <p:sp>
        <p:nvSpPr>
          <p:cNvPr id="2213" name="Google Shape;2213;g21f3546926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4" name="Google Shape;2214;g21f3546926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7" name="Shape 2237"/>
        <p:cNvGrpSpPr/>
        <p:nvPr/>
      </p:nvGrpSpPr>
      <p:grpSpPr>
        <a:xfrm>
          <a:off x="0" y="0"/>
          <a:ext cx="0" cy="0"/>
          <a:chOff x="0" y="0"/>
          <a:chExt cx="0" cy="0"/>
        </a:xfrm>
      </p:grpSpPr>
      <p:sp>
        <p:nvSpPr>
          <p:cNvPr id="2238" name="Google Shape;2238;g2e42b6117f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9" name="Google Shape;2239;g2e42b6117f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7" name="Shape 2247"/>
        <p:cNvGrpSpPr/>
        <p:nvPr/>
      </p:nvGrpSpPr>
      <p:grpSpPr>
        <a:xfrm>
          <a:off x="0" y="0"/>
          <a:ext cx="0" cy="0"/>
          <a:chOff x="0" y="0"/>
          <a:chExt cx="0" cy="0"/>
        </a:xfrm>
      </p:grpSpPr>
      <p:sp>
        <p:nvSpPr>
          <p:cNvPr id="2248" name="Google Shape;2248;g21a5d03fb9e_0_3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9" name="Google Shape;2249;g21a5d03fb9e_0_3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7" name="Shape 2257"/>
        <p:cNvGrpSpPr/>
        <p:nvPr/>
      </p:nvGrpSpPr>
      <p:grpSpPr>
        <a:xfrm>
          <a:off x="0" y="0"/>
          <a:ext cx="0" cy="0"/>
          <a:chOff x="0" y="0"/>
          <a:chExt cx="0" cy="0"/>
        </a:xfrm>
      </p:grpSpPr>
      <p:sp>
        <p:nvSpPr>
          <p:cNvPr id="2258" name="Google Shape;2258;g21a5d03fb9e_0_3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9" name="Google Shape;2259;g21a5d03fb9e_0_3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1" name="Shape 2271"/>
        <p:cNvGrpSpPr/>
        <p:nvPr/>
      </p:nvGrpSpPr>
      <p:grpSpPr>
        <a:xfrm>
          <a:off x="0" y="0"/>
          <a:ext cx="0" cy="0"/>
          <a:chOff x="0" y="0"/>
          <a:chExt cx="0" cy="0"/>
        </a:xfrm>
      </p:grpSpPr>
      <p:sp>
        <p:nvSpPr>
          <p:cNvPr id="2272" name="Google Shape;2272;g21a5d03fb9e_0_3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3" name="Google Shape;2273;g21a5d03fb9e_0_3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2" name="Shape 2282"/>
        <p:cNvGrpSpPr/>
        <p:nvPr/>
      </p:nvGrpSpPr>
      <p:grpSpPr>
        <a:xfrm>
          <a:off x="0" y="0"/>
          <a:ext cx="0" cy="0"/>
          <a:chOff x="0" y="0"/>
          <a:chExt cx="0" cy="0"/>
        </a:xfrm>
      </p:grpSpPr>
      <p:sp>
        <p:nvSpPr>
          <p:cNvPr id="2283" name="Google Shape;2283;g21a5d03fb9e_0_3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4" name="Google Shape;2284;g21a5d03fb9e_0_3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3" name="Shape 2293"/>
        <p:cNvGrpSpPr/>
        <p:nvPr/>
      </p:nvGrpSpPr>
      <p:grpSpPr>
        <a:xfrm>
          <a:off x="0" y="0"/>
          <a:ext cx="0" cy="0"/>
          <a:chOff x="0" y="0"/>
          <a:chExt cx="0" cy="0"/>
        </a:xfrm>
      </p:grpSpPr>
      <p:sp>
        <p:nvSpPr>
          <p:cNvPr id="2294" name="Google Shape;2294;g21a5d03fb9e_0_3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5" name="Google Shape;2295;g21a5d03fb9e_0_3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0" name="Shape 2310"/>
        <p:cNvGrpSpPr/>
        <p:nvPr/>
      </p:nvGrpSpPr>
      <p:grpSpPr>
        <a:xfrm>
          <a:off x="0" y="0"/>
          <a:ext cx="0" cy="0"/>
          <a:chOff x="0" y="0"/>
          <a:chExt cx="0" cy="0"/>
        </a:xfrm>
      </p:grpSpPr>
      <p:sp>
        <p:nvSpPr>
          <p:cNvPr id="2311" name="Google Shape;2311;g21a5d03fb9e_0_3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2" name="Google Shape;2312;g21a5d03fb9e_0_3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0" name="Shape 2340"/>
        <p:cNvGrpSpPr/>
        <p:nvPr/>
      </p:nvGrpSpPr>
      <p:grpSpPr>
        <a:xfrm>
          <a:off x="0" y="0"/>
          <a:ext cx="0" cy="0"/>
          <a:chOff x="0" y="0"/>
          <a:chExt cx="0" cy="0"/>
        </a:xfrm>
      </p:grpSpPr>
      <p:sp>
        <p:nvSpPr>
          <p:cNvPr id="2341" name="Google Shape;2341;g21a5d03fb9e_0_3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2" name="Google Shape;2342;g21a5d03fb9e_0_3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4" name="Shape 2384"/>
        <p:cNvGrpSpPr/>
        <p:nvPr/>
      </p:nvGrpSpPr>
      <p:grpSpPr>
        <a:xfrm>
          <a:off x="0" y="0"/>
          <a:ext cx="0" cy="0"/>
          <a:chOff x="0" y="0"/>
          <a:chExt cx="0" cy="0"/>
        </a:xfrm>
      </p:grpSpPr>
      <p:sp>
        <p:nvSpPr>
          <p:cNvPr id="2385" name="Google Shape;2385;g21a5d03fb9e_0_3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6" name="Google Shape;2386;g21a5d03fb9e_0_3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3" name="Shape 2403"/>
        <p:cNvGrpSpPr/>
        <p:nvPr/>
      </p:nvGrpSpPr>
      <p:grpSpPr>
        <a:xfrm>
          <a:off x="0" y="0"/>
          <a:ext cx="0" cy="0"/>
          <a:chOff x="0" y="0"/>
          <a:chExt cx="0" cy="0"/>
        </a:xfrm>
      </p:grpSpPr>
      <p:sp>
        <p:nvSpPr>
          <p:cNvPr id="2404" name="Google Shape;2404;g21a5d03fb9e_0_3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5" name="Google Shape;2405;g21a5d03fb9e_0_3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3" name="Shape 2413"/>
        <p:cNvGrpSpPr/>
        <p:nvPr/>
      </p:nvGrpSpPr>
      <p:grpSpPr>
        <a:xfrm>
          <a:off x="0" y="0"/>
          <a:ext cx="0" cy="0"/>
          <a:chOff x="0" y="0"/>
          <a:chExt cx="0" cy="0"/>
        </a:xfrm>
      </p:grpSpPr>
      <p:sp>
        <p:nvSpPr>
          <p:cNvPr id="2414" name="Google Shape;2414;g21a5d03fb9e_0_3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5" name="Google Shape;2415;g21a5d03fb9e_0_3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5" name="Shape 2425"/>
        <p:cNvGrpSpPr/>
        <p:nvPr/>
      </p:nvGrpSpPr>
      <p:grpSpPr>
        <a:xfrm>
          <a:off x="0" y="0"/>
          <a:ext cx="0" cy="0"/>
          <a:chOff x="0" y="0"/>
          <a:chExt cx="0" cy="0"/>
        </a:xfrm>
      </p:grpSpPr>
      <p:sp>
        <p:nvSpPr>
          <p:cNvPr id="2426" name="Google Shape;2426;g21a5d03fb9e_0_3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7" name="Google Shape;2427;g21a5d03fb9e_0_3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g21a5d03fb9e_0_3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1" name="Google Shape;2441;g21a5d03fb9e_0_3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1" name="Shape 2451"/>
        <p:cNvGrpSpPr/>
        <p:nvPr/>
      </p:nvGrpSpPr>
      <p:grpSpPr>
        <a:xfrm>
          <a:off x="0" y="0"/>
          <a:ext cx="0" cy="0"/>
          <a:chOff x="0" y="0"/>
          <a:chExt cx="0" cy="0"/>
        </a:xfrm>
      </p:grpSpPr>
      <p:sp>
        <p:nvSpPr>
          <p:cNvPr id="2452" name="Google Shape;2452;g21a5d03fb9e_0_3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3" name="Google Shape;2453;g21a5d03fb9e_0_3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2" name="Shape 2462"/>
        <p:cNvGrpSpPr/>
        <p:nvPr/>
      </p:nvGrpSpPr>
      <p:grpSpPr>
        <a:xfrm>
          <a:off x="0" y="0"/>
          <a:ext cx="0" cy="0"/>
          <a:chOff x="0" y="0"/>
          <a:chExt cx="0" cy="0"/>
        </a:xfrm>
      </p:grpSpPr>
      <p:sp>
        <p:nvSpPr>
          <p:cNvPr id="2463" name="Google Shape;2463;g21a5d03fb9e_0_3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4" name="Google Shape;2464;g21a5d03fb9e_0_3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2" name="Shape 2472"/>
        <p:cNvGrpSpPr/>
        <p:nvPr/>
      </p:nvGrpSpPr>
      <p:grpSpPr>
        <a:xfrm>
          <a:off x="0" y="0"/>
          <a:ext cx="0" cy="0"/>
          <a:chOff x="0" y="0"/>
          <a:chExt cx="0" cy="0"/>
        </a:xfrm>
      </p:grpSpPr>
      <p:sp>
        <p:nvSpPr>
          <p:cNvPr id="2473" name="Google Shape;2473;g21a5d03fb9e_0_3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4" name="Google Shape;2474;g21a5d03fb9e_0_3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2" name="Shape 2482"/>
        <p:cNvGrpSpPr/>
        <p:nvPr/>
      </p:nvGrpSpPr>
      <p:grpSpPr>
        <a:xfrm>
          <a:off x="0" y="0"/>
          <a:ext cx="0" cy="0"/>
          <a:chOff x="0" y="0"/>
          <a:chExt cx="0" cy="0"/>
        </a:xfrm>
      </p:grpSpPr>
      <p:sp>
        <p:nvSpPr>
          <p:cNvPr id="2483" name="Google Shape;2483;g8b6744271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4" name="Google Shape;2484;g8b6744271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 name="Google Shape;23;p4"/>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6" name="Google Shape;26;p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 name="Google Shape;30;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0" name="Google Shape;40;p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43" name="Google Shape;43;p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44" name="Google Shape;4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4"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8" name="Google Shape;6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69" name="Shape 69"/>
        <p:cNvGrpSpPr/>
        <p:nvPr/>
      </p:nvGrpSpPr>
      <p:grpSpPr>
        <a:xfrm>
          <a:off x="0" y="0"/>
          <a:ext cx="0" cy="0"/>
          <a:chOff x="0" y="0"/>
          <a:chExt cx="0" cy="0"/>
        </a:xfrm>
      </p:grpSpPr>
      <p:sp>
        <p:nvSpPr>
          <p:cNvPr id="70" name="Google Shape;7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 name="Google Shape;7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2" name="Google Shape;7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3" name="Shape 73"/>
        <p:cNvGrpSpPr/>
        <p:nvPr/>
      </p:nvGrpSpPr>
      <p:grpSpPr>
        <a:xfrm>
          <a:off x="0" y="0"/>
          <a:ext cx="0" cy="0"/>
          <a:chOff x="0" y="0"/>
          <a:chExt cx="0" cy="0"/>
        </a:xfrm>
      </p:grpSpPr>
      <p:sp>
        <p:nvSpPr>
          <p:cNvPr id="74" name="Google Shape;74;p15"/>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 name="Google Shape;76;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UTOLAYOUT_1_1">
    <p:bg>
      <p:bgPr>
        <a:solidFill>
          <a:srgbClr val="FFFFFF"/>
        </a:solidFill>
      </p:bgPr>
    </p:bg>
    <p:spTree>
      <p:nvGrpSpPr>
        <p:cNvPr id="78" name="Shape 78"/>
        <p:cNvGrpSpPr/>
        <p:nvPr/>
      </p:nvGrpSpPr>
      <p:grpSpPr>
        <a:xfrm>
          <a:off x="0" y="0"/>
          <a:ext cx="0" cy="0"/>
          <a:chOff x="0" y="0"/>
          <a:chExt cx="0" cy="0"/>
        </a:xfrm>
      </p:grpSpPr>
      <p:sp>
        <p:nvSpPr>
          <p:cNvPr id="79" name="Google Shape;79;p16"/>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81" name="Google Shape;81;p16"/>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6"/>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3" name="Google Shape;83;p16"/>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85" name="Google Shape;85;p16"/>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87" name="Google Shape;87;p16"/>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8" name="Shape 88"/>
        <p:cNvGrpSpPr/>
        <p:nvPr/>
      </p:nvGrpSpPr>
      <p:grpSpPr>
        <a:xfrm>
          <a:off x="0" y="0"/>
          <a:ext cx="0" cy="0"/>
          <a:chOff x="0" y="0"/>
          <a:chExt cx="0" cy="0"/>
        </a:xfrm>
      </p:grpSpPr>
      <p:sp>
        <p:nvSpPr>
          <p:cNvPr id="89" name="Google Shape;89;p17"/>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1" name="Google Shape;9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92" name="Google Shape;92;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3" name="Shape 93"/>
        <p:cNvGrpSpPr/>
        <p:nvPr/>
      </p:nvGrpSpPr>
      <p:grpSpPr>
        <a:xfrm>
          <a:off x="0" y="0"/>
          <a:ext cx="0" cy="0"/>
          <a:chOff x="0" y="0"/>
          <a:chExt cx="0" cy="0"/>
        </a:xfrm>
      </p:grpSpPr>
      <p:sp>
        <p:nvSpPr>
          <p:cNvPr id="94" name="Google Shape;94;p1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 name="Google Shape;96;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97" name="Google Shape;97;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hyperlink" Target="https://en.wikipedia.org/wiki/David_Berlinski" TargetMode="External"/><Relationship Id="rId5" Type="http://schemas.openxmlformats.org/officeDocument/2006/relationships/hyperlink" Target="https://www.amazon.com/Advent-Algorithm-300-Year-Journey-Computer/dp/151131814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7.png"/><Relationship Id="rId9"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hyperlink" Target="https://en.wikipedia.org/wiki/GRASP_(object-oriented_design)" TargetMode="External"/><Relationship Id="rId4" Type="http://schemas.openxmlformats.org/officeDocument/2006/relationships/hyperlink" Target="https://en.wikipedia.org/wiki/Craig_Larman" TargetMode="External"/><Relationship Id="rId5"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hyperlink" Target="https://www.youtube.com/watch?v=AKiq3JxCVi4" TargetMode="Externa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hyperlink" Target="https://docs.oracle.com/en/java/javase/15/docs/api/java.base/java/util/PriorityQueue.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 Id="rId3"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image" Target="../media/image2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 Id="rId3"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image" Target="../media/image3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 Id="rId3" Type="http://schemas.openxmlformats.org/officeDocument/2006/relationships/image" Target="../media/image3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 Id="rId3" Type="http://schemas.openxmlformats.org/officeDocument/2006/relationships/image" Target="../media/image30.png"/><Relationship Id="rId4" Type="http://schemas.openxmlformats.org/officeDocument/2006/relationships/image" Target="../media/image3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 Id="rId3" Type="http://schemas.openxmlformats.org/officeDocument/2006/relationships/image" Target="../media/image30.png"/><Relationship Id="rId4" Type="http://schemas.openxmlformats.org/officeDocument/2006/relationships/image" Target="../media/image3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 Id="rId3" Type="http://schemas.openxmlformats.org/officeDocument/2006/relationships/image" Target="../media/image3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image" Target="../media/image30.png"/><Relationship Id="rId4" Type="http://schemas.openxmlformats.org/officeDocument/2006/relationships/image" Target="../media/image3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30.png"/><Relationship Id="rId4" Type="http://schemas.openxmlformats.org/officeDocument/2006/relationships/image" Target="../media/image3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3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6.xml"/><Relationship Id="rId3" Type="http://schemas.openxmlformats.org/officeDocument/2006/relationships/image" Target="../media/image3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 Id="rId3" Type="http://schemas.openxmlformats.org/officeDocument/2006/relationships/image" Target="../media/image3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8.xml"/><Relationship Id="rId3" Type="http://schemas.openxmlformats.org/officeDocument/2006/relationships/image" Target="../media/image3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 Id="rId3" Type="http://schemas.openxmlformats.org/officeDocument/2006/relationships/image" Target="../media/image3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3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4.xml"/><Relationship Id="rId3" Type="http://schemas.openxmlformats.org/officeDocument/2006/relationships/image" Target="../media/image3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5.xml"/><Relationship Id="rId3" Type="http://schemas.openxmlformats.org/officeDocument/2006/relationships/image" Target="../media/image3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6.xml"/><Relationship Id="rId3" Type="http://schemas.openxmlformats.org/officeDocument/2006/relationships/image" Target="../media/image3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 Id="rId3" Type="http://schemas.openxmlformats.org/officeDocument/2006/relationships/image" Target="../media/image3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 Id="rId3" Type="http://schemas.openxmlformats.org/officeDocument/2006/relationships/image" Target="../media/image3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0.xml"/><Relationship Id="rId3" Type="http://schemas.openxmlformats.org/officeDocument/2006/relationships/image" Target="../media/image3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 Id="rId3" Type="http://schemas.openxmlformats.org/officeDocument/2006/relationships/image" Target="../media/image30.png"/><Relationship Id="rId4" Type="http://schemas.openxmlformats.org/officeDocument/2006/relationships/image" Target="../media/image3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2.xml"/><Relationship Id="rId3" Type="http://schemas.openxmlformats.org/officeDocument/2006/relationships/image" Target="../media/image3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3.xml"/><Relationship Id="rId3" Type="http://schemas.openxmlformats.org/officeDocument/2006/relationships/image" Target="../media/image3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3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5.xml"/><Relationship Id="rId3" Type="http://schemas.openxmlformats.org/officeDocument/2006/relationships/image" Target="../media/image3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6.xml"/><Relationship Id="rId3" Type="http://schemas.openxmlformats.org/officeDocument/2006/relationships/image" Target="../media/image3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8.xml"/><Relationship Id="rId3" Type="http://schemas.openxmlformats.org/officeDocument/2006/relationships/image" Target="../media/image3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 Id="rId3" Type="http://schemas.openxmlformats.org/officeDocument/2006/relationships/image" Target="../media/image37.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103" name="Google Shape;103;p19"/>
          <p:cNvSpPr txBox="1"/>
          <p:nvPr>
            <p:ph idx="1" type="subTitle"/>
          </p:nvPr>
        </p:nvSpPr>
        <p:spPr>
          <a:xfrm>
            <a:off x="311700" y="1878550"/>
            <a:ext cx="4741200" cy="95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600"/>
              <a:t>13: Algorithms</a:t>
            </a:r>
            <a:endParaRPr i="1" sz="2600">
              <a:solidFill>
                <a:srgbClr val="FF0000"/>
              </a:solidFill>
            </a:endParaRPr>
          </a:p>
        </p:txBody>
      </p:sp>
      <p:grpSp>
        <p:nvGrpSpPr>
          <p:cNvPr id="104" name="Google Shape;104;p19"/>
          <p:cNvGrpSpPr/>
          <p:nvPr/>
        </p:nvGrpSpPr>
        <p:grpSpPr>
          <a:xfrm>
            <a:off x="5001999" y="4264475"/>
            <a:ext cx="3908400" cy="738300"/>
            <a:chOff x="5001999" y="4264475"/>
            <a:chExt cx="3908400" cy="738300"/>
          </a:xfrm>
        </p:grpSpPr>
        <p:sp>
          <p:nvSpPr>
            <p:cNvPr id="105" name="Google Shape;105;p19"/>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19"/>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Week: Team Project</a:t>
            </a:r>
            <a:endParaRPr/>
          </a:p>
        </p:txBody>
      </p:sp>
      <p:sp>
        <p:nvSpPr>
          <p:cNvPr id="112" name="Google Shape;112;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0"/>
          <p:cNvSpPr txBox="1"/>
          <p:nvPr/>
        </p:nvSpPr>
        <p:spPr>
          <a:xfrm>
            <a:off x="4873450" y="4270875"/>
            <a:ext cx="38277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Next week we will begin the </a:t>
            </a:r>
            <a:r>
              <a:rPr b="1" i="1" lang="en" sz="1200">
                <a:solidFill>
                  <a:srgbClr val="FF0000"/>
                </a:solidFill>
              </a:rPr>
              <a:t>team project</a:t>
            </a:r>
            <a:r>
              <a:rPr lang="en" sz="1200"/>
              <a:t>. Your instructor will provide details about how your teams will be formed.</a:t>
            </a:r>
            <a:endParaRPr sz="1200"/>
          </a:p>
        </p:txBody>
      </p:sp>
      <p:pic>
        <p:nvPicPr>
          <p:cNvPr id="114" name="Google Shape;114;p20"/>
          <p:cNvPicPr preferRelativeResize="0"/>
          <p:nvPr/>
        </p:nvPicPr>
        <p:blipFill rotWithShape="1">
          <a:blip r:embed="rId3">
            <a:alphaModFix/>
          </a:blip>
          <a:srcRect b="0" l="0" r="0" t="0"/>
          <a:stretch/>
        </p:blipFill>
        <p:spPr>
          <a:xfrm>
            <a:off x="4873450" y="1442199"/>
            <a:ext cx="3827723" cy="2705078"/>
          </a:xfrm>
          <a:prstGeom prst="rect">
            <a:avLst/>
          </a:prstGeom>
          <a:noFill/>
          <a:ln cap="flat" cmpd="sng" w="19050">
            <a:solidFill>
              <a:srgbClr val="666666"/>
            </a:solidFill>
            <a:prstDash val="solid"/>
            <a:round/>
            <a:headEnd len="sm" w="sm" type="none"/>
            <a:tailEnd len="sm" w="sm" type="none"/>
          </a:ln>
        </p:spPr>
      </p:pic>
      <p:sp>
        <p:nvSpPr>
          <p:cNvPr id="115" name="Google Shape;115;p20"/>
          <p:cNvSpPr txBox="1"/>
          <p:nvPr>
            <p:ph idx="4294967295" type="body"/>
          </p:nvPr>
        </p:nvSpPr>
        <p:spPr>
          <a:xfrm>
            <a:off x="235525" y="1366000"/>
            <a:ext cx="4323900" cy="36948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Some software tasks are too large and complex for an individual software engineer to complete them alone in a reasonable amount of time.</a:t>
            </a:r>
            <a:endParaRPr/>
          </a:p>
          <a:p>
            <a:pPr indent="-311150" lvl="0" marL="457200" rtl="0" algn="l">
              <a:spcBef>
                <a:spcPts val="0"/>
              </a:spcBef>
              <a:spcAft>
                <a:spcPts val="0"/>
              </a:spcAft>
              <a:buSzPts val="1300"/>
              <a:buChar char="●"/>
            </a:pPr>
            <a:r>
              <a:rPr lang="en"/>
              <a:t>It is usually the case that a team of software engineers will work together on large scale </a:t>
            </a:r>
            <a:r>
              <a:rPr lang="en"/>
              <a:t>projects</a:t>
            </a:r>
            <a:r>
              <a:rPr lang="en"/>
              <a:t>.</a:t>
            </a:r>
            <a:endParaRPr/>
          </a:p>
          <a:p>
            <a:pPr indent="-311150" lvl="0" marL="457200" rtl="0" algn="l">
              <a:spcBef>
                <a:spcPts val="0"/>
              </a:spcBef>
              <a:spcAft>
                <a:spcPts val="0"/>
              </a:spcAft>
              <a:buSzPts val="1300"/>
              <a:buChar char="●"/>
            </a:pPr>
            <a:r>
              <a:rPr lang="en"/>
              <a:t>The team collaborate on all phases of the project.</a:t>
            </a:r>
            <a:endParaRPr/>
          </a:p>
          <a:p>
            <a:pPr indent="-298450" lvl="1" marL="914400" rtl="0" algn="l">
              <a:spcBef>
                <a:spcPts val="0"/>
              </a:spcBef>
              <a:spcAft>
                <a:spcPts val="0"/>
              </a:spcAft>
              <a:buSzPts val="1100"/>
              <a:buChar char="○"/>
            </a:pPr>
            <a:r>
              <a:rPr lang="en"/>
              <a:t>Design</a:t>
            </a:r>
            <a:endParaRPr/>
          </a:p>
          <a:p>
            <a:pPr indent="-298450" lvl="1" marL="914400" rtl="0" algn="l">
              <a:spcBef>
                <a:spcPts val="0"/>
              </a:spcBef>
              <a:spcAft>
                <a:spcPts val="0"/>
              </a:spcAft>
              <a:buSzPts val="1100"/>
              <a:buChar char="○"/>
            </a:pPr>
            <a:r>
              <a:rPr lang="en"/>
              <a:t>Implementation</a:t>
            </a:r>
            <a:endParaRPr/>
          </a:p>
          <a:p>
            <a:pPr indent="-298450" lvl="1" marL="914400" rtl="0" algn="l">
              <a:spcBef>
                <a:spcPts val="0"/>
              </a:spcBef>
              <a:spcAft>
                <a:spcPts val="0"/>
              </a:spcAft>
              <a:buSzPts val="1100"/>
              <a:buChar char="○"/>
            </a:pPr>
            <a:r>
              <a:rPr lang="en"/>
              <a:t>Testing</a:t>
            </a:r>
            <a:endParaRPr/>
          </a:p>
          <a:p>
            <a:pPr indent="-311150" lvl="0" marL="457200" rtl="0" algn="l">
              <a:spcBef>
                <a:spcPts val="0"/>
              </a:spcBef>
              <a:spcAft>
                <a:spcPts val="0"/>
              </a:spcAft>
              <a:buSzPts val="1300"/>
              <a:buChar char="●"/>
            </a:pPr>
            <a:r>
              <a:rPr lang="en"/>
              <a:t>Working on a team also presents challenges that you will not generally face when working alone.</a:t>
            </a:r>
            <a:endParaRPr/>
          </a:p>
          <a:p>
            <a:pPr indent="-298450" lvl="1" marL="914400" rtl="0" algn="l">
              <a:spcBef>
                <a:spcPts val="0"/>
              </a:spcBef>
              <a:spcAft>
                <a:spcPts val="0"/>
              </a:spcAft>
              <a:buSzPts val="1100"/>
              <a:buChar char="○"/>
            </a:pPr>
            <a:r>
              <a:rPr lang="en"/>
              <a:t>Including the dreaded </a:t>
            </a:r>
            <a:r>
              <a:rPr b="1" i="1" lang="en">
                <a:solidFill>
                  <a:srgbClr val="FF0000"/>
                </a:solidFill>
              </a:rPr>
              <a:t>merge conflict</a:t>
            </a:r>
            <a:r>
              <a:rPr lang="en"/>
              <a:t>.</a:t>
            </a:r>
            <a:endParaRPr/>
          </a:p>
          <a:p>
            <a:pPr indent="-311150" lvl="0" marL="457200" rtl="0" algn="l">
              <a:spcBef>
                <a:spcPts val="0"/>
              </a:spcBef>
              <a:spcAft>
                <a:spcPts val="0"/>
              </a:spcAft>
              <a:buSzPts val="1300"/>
              <a:buChar char="●"/>
            </a:pPr>
            <a:r>
              <a:rPr lang="en"/>
              <a:t>In support of this, you will be working with 2-3 other students on a team project beginning next week.</a:t>
            </a:r>
            <a:r>
              <a:rPr lang="en"/>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1"/>
          <p:cNvPicPr preferRelativeResize="0"/>
          <p:nvPr/>
        </p:nvPicPr>
        <p:blipFill>
          <a:blip r:embed="rId3">
            <a:alphaModFix/>
          </a:blip>
          <a:stretch>
            <a:fillRect/>
          </a:stretch>
        </p:blipFill>
        <p:spPr>
          <a:xfrm>
            <a:off x="228600" y="1062825"/>
            <a:ext cx="2567426" cy="2384626"/>
          </a:xfrm>
          <a:prstGeom prst="rect">
            <a:avLst/>
          </a:prstGeom>
          <a:noFill/>
          <a:ln>
            <a:noFill/>
          </a:ln>
        </p:spPr>
      </p:pic>
      <p:sp>
        <p:nvSpPr>
          <p:cNvPr id="121" name="Google Shape;121;p21"/>
          <p:cNvSpPr txBox="1"/>
          <p:nvPr>
            <p:ph type="title"/>
          </p:nvPr>
        </p:nvSpPr>
        <p:spPr>
          <a:xfrm>
            <a:off x="311725" y="2723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Overview of the Week</a:t>
            </a:r>
            <a:endParaRPr sz="2600"/>
          </a:p>
        </p:txBody>
      </p:sp>
      <p:sp>
        <p:nvSpPr>
          <p:cNvPr id="122" name="Google Shape;122;p21"/>
          <p:cNvSpPr txBox="1"/>
          <p:nvPr>
            <p:ph idx="1" type="body"/>
          </p:nvPr>
        </p:nvSpPr>
        <p:spPr>
          <a:xfrm>
            <a:off x="4492275" y="196125"/>
            <a:ext cx="4452600" cy="4588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We have spent the better part of two semesters implementing a variety of </a:t>
            </a:r>
            <a:r>
              <a:rPr b="1" i="1" lang="en">
                <a:solidFill>
                  <a:srgbClr val="FF0000"/>
                </a:solidFill>
              </a:rPr>
              <a:t>algorithms</a:t>
            </a:r>
            <a:r>
              <a:rPr lang="en"/>
              <a:t>. In this unit we will spend more time exploring exactly what an algorithm is.</a:t>
            </a:r>
            <a:endParaRPr/>
          </a:p>
          <a:p>
            <a:pPr indent="-298450" lvl="1" marL="914400" rtl="0" algn="l">
              <a:spcBef>
                <a:spcPts val="0"/>
              </a:spcBef>
              <a:spcAft>
                <a:spcPts val="0"/>
              </a:spcAft>
              <a:buSzPts val="1100"/>
              <a:buChar char="○"/>
            </a:pPr>
            <a:r>
              <a:rPr lang="en"/>
              <a:t>How to apply an </a:t>
            </a:r>
            <a:r>
              <a:rPr b="1" i="1" lang="en">
                <a:solidFill>
                  <a:srgbClr val="FF0000"/>
                </a:solidFill>
              </a:rPr>
              <a:t>algorithmic approach</a:t>
            </a:r>
            <a:r>
              <a:rPr lang="en"/>
              <a:t> to problem solving.</a:t>
            </a:r>
            <a:endParaRPr/>
          </a:p>
          <a:p>
            <a:pPr indent="-298450" lvl="1" marL="914400" rtl="0" algn="l">
              <a:spcBef>
                <a:spcPts val="0"/>
              </a:spcBef>
              <a:spcAft>
                <a:spcPts val="0"/>
              </a:spcAft>
              <a:buSzPts val="1100"/>
              <a:buChar char="○"/>
            </a:pPr>
            <a:r>
              <a:rPr lang="en"/>
              <a:t>How to capture algorithms quickly using </a:t>
            </a:r>
            <a:r>
              <a:rPr b="1" i="1" lang="en">
                <a:solidFill>
                  <a:srgbClr val="FF0000"/>
                </a:solidFill>
              </a:rPr>
              <a:t>pseudocode</a:t>
            </a:r>
            <a:r>
              <a:rPr lang="en"/>
              <a:t>.</a:t>
            </a:r>
            <a:endParaRPr/>
          </a:p>
          <a:p>
            <a:pPr indent="-298450" lvl="1" marL="914400" rtl="0" algn="l">
              <a:spcBef>
                <a:spcPts val="0"/>
              </a:spcBef>
              <a:spcAft>
                <a:spcPts val="0"/>
              </a:spcAft>
              <a:buSzPts val="1100"/>
              <a:buChar char="○"/>
            </a:pPr>
            <a:r>
              <a:rPr lang="en"/>
              <a:t>A few very </a:t>
            </a:r>
            <a:r>
              <a:rPr b="1" i="1" lang="en">
                <a:solidFill>
                  <a:srgbClr val="FF0000"/>
                </a:solidFill>
              </a:rPr>
              <a:t>well known algorithms</a:t>
            </a:r>
            <a:r>
              <a:rPr lang="en"/>
              <a:t> in computer science.</a:t>
            </a:r>
            <a:endParaRPr/>
          </a:p>
          <a:p>
            <a:pPr indent="-311150" lvl="0" marL="457200" rtl="0" algn="l">
              <a:spcBef>
                <a:spcPts val="1000"/>
              </a:spcBef>
              <a:spcAft>
                <a:spcPts val="0"/>
              </a:spcAft>
              <a:buSzPts val="1300"/>
              <a:buChar char="●"/>
            </a:pPr>
            <a:r>
              <a:rPr lang="en"/>
              <a:t>Specifically, we will explore:</a:t>
            </a:r>
            <a:endParaRPr/>
          </a:p>
          <a:p>
            <a:pPr indent="-298450" lvl="1" marL="914400" rtl="0" algn="l">
              <a:spcBef>
                <a:spcPts val="0"/>
              </a:spcBef>
              <a:spcAft>
                <a:spcPts val="0"/>
              </a:spcAft>
              <a:buSzPts val="1100"/>
              <a:buChar char="○"/>
            </a:pPr>
            <a:r>
              <a:rPr lang="en"/>
              <a:t>Algorithms &amp; Pseudocode</a:t>
            </a:r>
            <a:endParaRPr/>
          </a:p>
          <a:p>
            <a:pPr indent="-298450" lvl="1" marL="914400" rtl="0" algn="l">
              <a:spcBef>
                <a:spcPts val="0"/>
              </a:spcBef>
              <a:spcAft>
                <a:spcPts val="0"/>
              </a:spcAft>
              <a:buSzPts val="1100"/>
              <a:buChar char="○"/>
            </a:pPr>
            <a:r>
              <a:rPr lang="en"/>
              <a:t>Algorithmic Problem Solving</a:t>
            </a:r>
            <a:endParaRPr/>
          </a:p>
          <a:p>
            <a:pPr indent="-298450" lvl="1" marL="914400" rtl="0" algn="l">
              <a:spcBef>
                <a:spcPts val="0"/>
              </a:spcBef>
              <a:spcAft>
                <a:spcPts val="0"/>
              </a:spcAft>
              <a:buSzPts val="1100"/>
              <a:buChar char="○"/>
            </a:pPr>
            <a:r>
              <a:rPr lang="en"/>
              <a:t>Greedy Algorithms</a:t>
            </a:r>
            <a:endParaRPr/>
          </a:p>
          <a:p>
            <a:pPr indent="-298450" lvl="2" marL="1371600" rtl="0" algn="l">
              <a:spcBef>
                <a:spcPts val="0"/>
              </a:spcBef>
              <a:spcAft>
                <a:spcPts val="0"/>
              </a:spcAft>
              <a:buSzPts val="1100"/>
              <a:buChar char="■"/>
            </a:pPr>
            <a:r>
              <a:rPr lang="en"/>
              <a:t>Change Making</a:t>
            </a:r>
            <a:endParaRPr/>
          </a:p>
          <a:p>
            <a:pPr indent="-298450" lvl="2" marL="1371600" rtl="0" algn="l">
              <a:spcBef>
                <a:spcPts val="0"/>
              </a:spcBef>
              <a:spcAft>
                <a:spcPts val="0"/>
              </a:spcAft>
              <a:buSzPts val="1100"/>
              <a:buChar char="■"/>
            </a:pPr>
            <a:r>
              <a:rPr lang="en"/>
              <a:t>Nearest Neighbor</a:t>
            </a:r>
            <a:endParaRPr/>
          </a:p>
          <a:p>
            <a:pPr indent="-298450" lvl="1" marL="914400" rtl="0" algn="l">
              <a:spcBef>
                <a:spcPts val="0"/>
              </a:spcBef>
              <a:spcAft>
                <a:spcPts val="0"/>
              </a:spcAft>
              <a:buSzPts val="1100"/>
              <a:buChar char="○"/>
            </a:pPr>
            <a:r>
              <a:rPr lang="en"/>
              <a:t>Dijkstra's Algorithm</a:t>
            </a:r>
            <a:endParaRPr/>
          </a:p>
          <a:p>
            <a:pPr indent="-298450" lvl="1" marL="914400" rtl="0" algn="l">
              <a:spcBef>
                <a:spcPts val="0"/>
              </a:spcBef>
              <a:spcAft>
                <a:spcPts val="0"/>
              </a:spcAft>
              <a:buSzPts val="1100"/>
              <a:buChar char="○"/>
            </a:pPr>
            <a:r>
              <a:rPr lang="en"/>
              <a:t>Backtracking</a:t>
            </a:r>
            <a:endParaRPr/>
          </a:p>
          <a:p>
            <a:pPr indent="-311150" lvl="0" marL="457200" rtl="0" algn="l">
              <a:spcBef>
                <a:spcPts val="1000"/>
              </a:spcBef>
              <a:spcAft>
                <a:spcPts val="0"/>
              </a:spcAft>
              <a:buSzPts val="1300"/>
              <a:buChar char="●"/>
            </a:pPr>
            <a:r>
              <a:rPr lang="en"/>
              <a:t>To begin, we will focus on an </a:t>
            </a:r>
            <a:r>
              <a:rPr b="1" i="1" lang="en">
                <a:solidFill>
                  <a:srgbClr val="FF0000"/>
                </a:solidFill>
              </a:rPr>
              <a:t>algorithmic approach</a:t>
            </a:r>
            <a:r>
              <a:rPr lang="en"/>
              <a:t> problem solving, describing algorithms using </a:t>
            </a:r>
            <a:r>
              <a:rPr b="1" i="1" lang="en">
                <a:solidFill>
                  <a:srgbClr val="FF0000"/>
                </a:solidFill>
              </a:rPr>
              <a:t>pseudocode</a:t>
            </a:r>
            <a:r>
              <a:rPr lang="en"/>
              <a:t>, and </a:t>
            </a:r>
            <a:r>
              <a:rPr b="1" i="1" lang="en">
                <a:solidFill>
                  <a:srgbClr val="FF0000"/>
                </a:solidFill>
              </a:rPr>
              <a:t>greedy algorithms</a:t>
            </a:r>
            <a:r>
              <a:rPr lang="en"/>
              <a:t>.</a:t>
            </a:r>
            <a:endParaRPr/>
          </a:p>
        </p:txBody>
      </p:sp>
      <p:sp>
        <p:nvSpPr>
          <p:cNvPr id="123" name="Google Shape;12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3" type="body"/>
          </p:nvPr>
        </p:nvSpPr>
        <p:spPr>
          <a:xfrm>
            <a:off x="260425" y="4069533"/>
            <a:ext cx="3706500" cy="9234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We will try to answer questions like </a:t>
            </a:r>
            <a:r>
              <a:rPr i="1" lang="en"/>
              <a:t>"Can I fit </a:t>
            </a:r>
            <a:r>
              <a:rPr b="1" i="1" lang="en">
                <a:solidFill>
                  <a:srgbClr val="FF0000"/>
                </a:solidFill>
              </a:rPr>
              <a:t>8 queens</a:t>
            </a:r>
            <a:r>
              <a:rPr i="1" lang="en"/>
              <a:t> on an 8x8 chessboard?"</a:t>
            </a:r>
            <a:r>
              <a:rPr lang="en"/>
              <a:t> and </a:t>
            </a:r>
            <a:r>
              <a:rPr i="1" lang="en"/>
              <a:t>"What is the </a:t>
            </a:r>
            <a:r>
              <a:rPr b="1" i="1" lang="en">
                <a:solidFill>
                  <a:srgbClr val="FF0000"/>
                </a:solidFill>
              </a:rPr>
              <a:t>lowest cost path</a:t>
            </a:r>
            <a:r>
              <a:rPr i="1" lang="en"/>
              <a:t> between two vertices in a weighted graph?"</a:t>
            </a:r>
            <a:endParaRPr i="1" sz="1200"/>
          </a:p>
        </p:txBody>
      </p:sp>
      <p:pic>
        <p:nvPicPr>
          <p:cNvPr id="125" name="Google Shape;125;p21"/>
          <p:cNvPicPr preferRelativeResize="0"/>
          <p:nvPr/>
        </p:nvPicPr>
        <p:blipFill>
          <a:blip r:embed="rId4">
            <a:alphaModFix/>
          </a:blip>
          <a:stretch>
            <a:fillRect/>
          </a:stretch>
        </p:blipFill>
        <p:spPr>
          <a:xfrm>
            <a:off x="2190950" y="1955800"/>
            <a:ext cx="1775975" cy="1900275"/>
          </a:xfrm>
          <a:prstGeom prst="rect">
            <a:avLst/>
          </a:prstGeom>
          <a:noFill/>
          <a:ln cap="flat" cmpd="sng" w="19050">
            <a:solidFill>
              <a:srgbClr val="666666"/>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Algorithms</a:t>
            </a:r>
            <a:endParaRPr/>
          </a:p>
        </p:txBody>
      </p:sp>
      <p:sp>
        <p:nvSpPr>
          <p:cNvPr id="131" name="Google Shape;131;p22"/>
          <p:cNvSpPr txBox="1"/>
          <p:nvPr>
            <p:ph idx="1" type="body"/>
          </p:nvPr>
        </p:nvSpPr>
        <p:spPr>
          <a:xfrm>
            <a:off x="114132" y="1308132"/>
            <a:ext cx="3999900" cy="37791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When programming in a high-level language like Python or Java, the programmer designs an </a:t>
            </a:r>
            <a:r>
              <a:rPr b="1" i="1" lang="en">
                <a:solidFill>
                  <a:srgbClr val="FF0000"/>
                </a:solidFill>
              </a:rPr>
              <a:t>algorithm</a:t>
            </a:r>
            <a:r>
              <a:rPr lang="en"/>
              <a:t>.</a:t>
            </a:r>
            <a:endParaRPr/>
          </a:p>
          <a:p>
            <a:pPr indent="-298450" lvl="1" marL="914400" rtl="0" algn="l">
              <a:spcBef>
                <a:spcPts val="0"/>
              </a:spcBef>
              <a:spcAft>
                <a:spcPts val="0"/>
              </a:spcAft>
              <a:buSzPts val="1100"/>
              <a:buChar char="○"/>
            </a:pPr>
            <a:r>
              <a:rPr lang="en"/>
              <a:t>But what does this mean, exactly?</a:t>
            </a:r>
            <a:endParaRPr/>
          </a:p>
          <a:p>
            <a:pPr indent="-311150" lvl="0" marL="457200" rtl="0" algn="l">
              <a:spcBef>
                <a:spcPts val="1000"/>
              </a:spcBef>
              <a:spcAft>
                <a:spcPts val="0"/>
              </a:spcAft>
              <a:buSzPts val="1300"/>
              <a:buChar char="●"/>
            </a:pPr>
            <a:r>
              <a:rPr lang="en"/>
              <a:t>An algorithm is like a </a:t>
            </a:r>
            <a:r>
              <a:rPr b="1" i="1" lang="en">
                <a:solidFill>
                  <a:srgbClr val="FF0000"/>
                </a:solidFill>
              </a:rPr>
              <a:t>recipe</a:t>
            </a:r>
            <a:r>
              <a:rPr lang="en">
                <a:solidFill>
                  <a:srgbClr val="FF0000"/>
                </a:solidFill>
              </a:rPr>
              <a:t> </a:t>
            </a:r>
            <a:r>
              <a:rPr lang="en"/>
              <a:t>with instructions that tell a computer how to solve a problem.</a:t>
            </a:r>
            <a:endParaRPr/>
          </a:p>
          <a:p>
            <a:pPr indent="-298450" lvl="1" marL="914400" rtl="0" algn="l">
              <a:spcBef>
                <a:spcPts val="0"/>
              </a:spcBef>
              <a:spcAft>
                <a:spcPts val="0"/>
              </a:spcAft>
              <a:buSzPts val="1100"/>
              <a:buChar char="○"/>
            </a:pPr>
            <a:r>
              <a:rPr lang="en"/>
              <a:t>First, break the problem into discrete </a:t>
            </a:r>
            <a:r>
              <a:rPr b="1" i="1" lang="en">
                <a:solidFill>
                  <a:srgbClr val="FF0000"/>
                </a:solidFill>
              </a:rPr>
              <a:t>steps</a:t>
            </a:r>
            <a:r>
              <a:rPr lang="en"/>
              <a:t>.</a:t>
            </a:r>
            <a:endParaRPr/>
          </a:p>
          <a:p>
            <a:pPr indent="-298450" lvl="1" marL="914400" rtl="0" algn="l">
              <a:spcBef>
                <a:spcPts val="0"/>
              </a:spcBef>
              <a:spcAft>
                <a:spcPts val="0"/>
              </a:spcAft>
              <a:buSzPts val="1100"/>
              <a:buChar char="○"/>
            </a:pPr>
            <a:r>
              <a:rPr lang="en"/>
              <a:t>Implement each step as an </a:t>
            </a:r>
            <a:r>
              <a:rPr b="1" i="1" lang="en">
                <a:solidFill>
                  <a:srgbClr val="FF0000"/>
                </a:solidFill>
              </a:rPr>
              <a:t>instruction</a:t>
            </a:r>
            <a:r>
              <a:rPr lang="en">
                <a:solidFill>
                  <a:srgbClr val="FF0000"/>
                </a:solidFill>
              </a:rPr>
              <a:t> </a:t>
            </a:r>
            <a:r>
              <a:rPr lang="en"/>
              <a:t>in a programming language.</a:t>
            </a:r>
            <a:endParaRPr/>
          </a:p>
          <a:p>
            <a:pPr indent="-298450" lvl="1" marL="914400" rtl="0" algn="l">
              <a:spcBef>
                <a:spcPts val="0"/>
              </a:spcBef>
              <a:spcAft>
                <a:spcPts val="0"/>
              </a:spcAft>
              <a:buSzPts val="1100"/>
              <a:buChar char="○"/>
            </a:pPr>
            <a:r>
              <a:rPr b="1" i="1" lang="en">
                <a:solidFill>
                  <a:srgbClr val="FF0000"/>
                </a:solidFill>
              </a:rPr>
              <a:t>Execute</a:t>
            </a:r>
            <a:r>
              <a:rPr lang="en">
                <a:solidFill>
                  <a:srgbClr val="FF0000"/>
                </a:solidFill>
              </a:rPr>
              <a:t> </a:t>
            </a:r>
            <a:r>
              <a:rPr lang="en"/>
              <a:t>the program.</a:t>
            </a:r>
            <a:endParaRPr/>
          </a:p>
          <a:p>
            <a:pPr indent="-311150" lvl="0" marL="457200" rtl="0" algn="l">
              <a:spcBef>
                <a:spcPts val="1000"/>
              </a:spcBef>
              <a:spcAft>
                <a:spcPts val="0"/>
              </a:spcAft>
              <a:buSzPts val="1300"/>
              <a:buChar char="●"/>
            </a:pPr>
            <a:r>
              <a:rPr lang="en"/>
              <a:t>We often begin by writing an algorithm in </a:t>
            </a:r>
            <a:r>
              <a:rPr b="1" i="1" lang="en">
                <a:solidFill>
                  <a:srgbClr val="FF0000"/>
                </a:solidFill>
              </a:rPr>
              <a:t>pseudocode</a:t>
            </a:r>
            <a:r>
              <a:rPr lang="en"/>
              <a:t>.</a:t>
            </a:r>
            <a:endParaRPr/>
          </a:p>
          <a:p>
            <a:pPr indent="-298450" lvl="1" marL="914400" rtl="0" algn="l">
              <a:spcBef>
                <a:spcPts val="0"/>
              </a:spcBef>
              <a:spcAft>
                <a:spcPts val="0"/>
              </a:spcAft>
              <a:buSzPts val="1100"/>
              <a:buChar char="○"/>
            </a:pPr>
            <a:r>
              <a:rPr lang="en"/>
              <a:t>We use plain English (or something like it) to describe what it is that we'd like to do.</a:t>
            </a:r>
            <a:endParaRPr/>
          </a:p>
          <a:p>
            <a:pPr indent="-298450" lvl="1" marL="914400" rtl="0" algn="l">
              <a:spcBef>
                <a:spcPts val="0"/>
              </a:spcBef>
              <a:spcAft>
                <a:spcPts val="0"/>
              </a:spcAft>
              <a:buSzPts val="1100"/>
              <a:buChar char="○"/>
            </a:pPr>
            <a:r>
              <a:rPr lang="en"/>
              <a:t>We then </a:t>
            </a:r>
            <a:r>
              <a:rPr b="1" i="1" lang="en">
                <a:solidFill>
                  <a:srgbClr val="FF0000"/>
                </a:solidFill>
              </a:rPr>
              <a:t>translate</a:t>
            </a:r>
            <a:r>
              <a:rPr lang="en">
                <a:solidFill>
                  <a:srgbClr val="FF0000"/>
                </a:solidFill>
              </a:rPr>
              <a:t> </a:t>
            </a:r>
            <a:r>
              <a:rPr lang="en"/>
              <a:t>that pseudocode into the syntax of our language of choice.</a:t>
            </a:r>
            <a:endParaRPr/>
          </a:p>
        </p:txBody>
      </p:sp>
      <p:sp>
        <p:nvSpPr>
          <p:cNvPr id="132" name="Google Shape;132;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3" name="Google Shape;133;p22"/>
          <p:cNvPicPr preferRelativeResize="0"/>
          <p:nvPr/>
        </p:nvPicPr>
        <p:blipFill>
          <a:blip r:embed="rId3">
            <a:alphaModFix/>
          </a:blip>
          <a:stretch>
            <a:fillRect/>
          </a:stretch>
        </p:blipFill>
        <p:spPr>
          <a:xfrm>
            <a:off x="4577800" y="1563499"/>
            <a:ext cx="4070999" cy="2520502"/>
          </a:xfrm>
          <a:prstGeom prst="rect">
            <a:avLst/>
          </a:prstGeom>
          <a:noFill/>
          <a:ln cap="flat" cmpd="sng" w="19050">
            <a:solidFill>
              <a:schemeClr val="dk2"/>
            </a:solidFill>
            <a:prstDash val="solid"/>
            <a:round/>
            <a:headEnd len="sm" w="sm" type="none"/>
            <a:tailEnd len="sm" w="sm" type="none"/>
          </a:ln>
        </p:spPr>
      </p:pic>
      <p:sp>
        <p:nvSpPr>
          <p:cNvPr id="134" name="Google Shape;134;p22"/>
          <p:cNvSpPr/>
          <p:nvPr/>
        </p:nvSpPr>
        <p:spPr>
          <a:xfrm>
            <a:off x="4262750" y="918975"/>
            <a:ext cx="2655300" cy="1234500"/>
          </a:xfrm>
          <a:prstGeom prst="wedgeRoundRectCallout">
            <a:avLst>
              <a:gd fmla="val 48791" name="adj1"/>
              <a:gd fmla="val 7186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t>An algorithm is a finite procedure, written in a fixed symbolic vocabulary, governed by precise instructions, moving in discrete steps, 1, 2, 3, …, whose execution requires no insight, cleverness, intuition, intelligence, or </a:t>
            </a:r>
            <a:r>
              <a:rPr i="1" lang="en" sz="1000"/>
              <a:t>perspicuity</a:t>
            </a:r>
            <a:r>
              <a:rPr i="1" lang="en" sz="1000"/>
              <a:t>, and that sooner or later comes to an end.</a:t>
            </a:r>
            <a:endParaRPr i="1" sz="1000"/>
          </a:p>
        </p:txBody>
      </p:sp>
      <p:sp>
        <p:nvSpPr>
          <p:cNvPr id="135" name="Google Shape;135;p22"/>
          <p:cNvSpPr txBox="1"/>
          <p:nvPr/>
        </p:nvSpPr>
        <p:spPr>
          <a:xfrm>
            <a:off x="4574925" y="4184125"/>
            <a:ext cx="40710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Believe it or not, this is </a:t>
            </a:r>
            <a:r>
              <a:rPr i="1" lang="en" sz="1200">
                <a:latin typeface="Roboto"/>
                <a:ea typeface="Roboto"/>
                <a:cs typeface="Roboto"/>
                <a:sym typeface="Roboto"/>
              </a:rPr>
              <a:t>not</a:t>
            </a:r>
            <a:r>
              <a:rPr lang="en" sz="1200">
                <a:latin typeface="Roboto"/>
                <a:ea typeface="Roboto"/>
                <a:cs typeface="Roboto"/>
                <a:sym typeface="Roboto"/>
              </a:rPr>
              <a:t> the creepy killer from Silence of the Lambs, but is actually </a:t>
            </a:r>
            <a:r>
              <a:rPr lang="en" sz="1200" u="sng">
                <a:solidFill>
                  <a:schemeClr val="hlink"/>
                </a:solidFill>
                <a:latin typeface="Roboto"/>
                <a:ea typeface="Roboto"/>
                <a:cs typeface="Roboto"/>
                <a:sym typeface="Roboto"/>
                <a:hlinkClick r:id="rId4"/>
              </a:rPr>
              <a:t>David Berlinski</a:t>
            </a:r>
            <a:r>
              <a:rPr lang="en" sz="1200">
                <a:latin typeface="Roboto"/>
                <a:ea typeface="Roboto"/>
                <a:cs typeface="Roboto"/>
                <a:sym typeface="Roboto"/>
              </a:rPr>
              <a:t>, the person that wrote </a:t>
            </a:r>
            <a:r>
              <a:rPr i="1" lang="en" sz="1200" u="sng">
                <a:solidFill>
                  <a:schemeClr val="hlink"/>
                </a:solidFill>
                <a:latin typeface="Roboto"/>
                <a:ea typeface="Roboto"/>
                <a:cs typeface="Roboto"/>
                <a:sym typeface="Roboto"/>
                <a:hlinkClick r:id="rId5"/>
              </a:rPr>
              <a:t>The Advent of the Algorithm</a:t>
            </a:r>
            <a:r>
              <a:rPr lang="en" sz="1200">
                <a:latin typeface="Roboto"/>
                <a:ea typeface="Roboto"/>
                <a:cs typeface="Roboto"/>
                <a:sym typeface="Roboto"/>
              </a:rPr>
              <a:t>.</a:t>
            </a:r>
            <a:endParaRPr sz="12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idx="1" type="body"/>
          </p:nvPr>
        </p:nvSpPr>
        <p:spPr>
          <a:xfrm>
            <a:off x="90450" y="27450"/>
            <a:ext cx="4665300" cy="50886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An </a:t>
            </a:r>
            <a:r>
              <a:rPr b="1" i="1" lang="en">
                <a:solidFill>
                  <a:srgbClr val="FF0000"/>
                </a:solidFill>
              </a:rPr>
              <a:t>algorithmic approach</a:t>
            </a:r>
            <a:r>
              <a:rPr lang="en">
                <a:solidFill>
                  <a:srgbClr val="FF0000"/>
                </a:solidFill>
              </a:rPr>
              <a:t> </a:t>
            </a:r>
            <a:r>
              <a:rPr lang="en"/>
              <a:t>to problem solving begins by breaking the problem that we are trying to solve down into </a:t>
            </a:r>
            <a:r>
              <a:rPr lang="en"/>
              <a:t>a </a:t>
            </a:r>
            <a:r>
              <a:rPr b="1" i="1" lang="en">
                <a:solidFill>
                  <a:srgbClr val="FF0000"/>
                </a:solidFill>
              </a:rPr>
              <a:t>series of discrete steps</a:t>
            </a:r>
            <a:r>
              <a:rPr lang="en"/>
              <a:t>.</a:t>
            </a:r>
            <a:endParaRPr/>
          </a:p>
          <a:p>
            <a:pPr indent="-298450" lvl="1" marL="914400" rtl="0" algn="l">
              <a:spcBef>
                <a:spcPts val="0"/>
              </a:spcBef>
              <a:spcAft>
                <a:spcPts val="0"/>
              </a:spcAft>
              <a:buSzPts val="1100"/>
              <a:buChar char="○"/>
            </a:pPr>
            <a:r>
              <a:rPr lang="en"/>
              <a:t>If these steps are executed in the correct order, we will arrive at the solution to the problem at hand.</a:t>
            </a:r>
            <a:endParaRPr/>
          </a:p>
          <a:p>
            <a:pPr indent="-311150" lvl="0" marL="457200" rtl="0" algn="l">
              <a:spcBef>
                <a:spcPts val="1000"/>
              </a:spcBef>
              <a:spcAft>
                <a:spcPts val="0"/>
              </a:spcAft>
              <a:buSzPts val="1300"/>
              <a:buChar char="●"/>
            </a:pPr>
            <a:r>
              <a:rPr lang="en">
                <a:solidFill>
                  <a:schemeClr val="lt2"/>
                </a:solidFill>
              </a:rPr>
              <a:t>Ultimately</a:t>
            </a:r>
            <a:r>
              <a:rPr lang="en"/>
              <a:t>, we would like to capture these steps in a programming language like Python or Java.</a:t>
            </a:r>
            <a:endParaRPr/>
          </a:p>
          <a:p>
            <a:pPr indent="-311150" lvl="0" marL="457200" rtl="0" algn="l">
              <a:spcBef>
                <a:spcPts val="1000"/>
              </a:spcBef>
              <a:spcAft>
                <a:spcPts val="0"/>
              </a:spcAft>
              <a:buSzPts val="1300"/>
              <a:buChar char="●"/>
            </a:pPr>
            <a:r>
              <a:rPr lang="en"/>
              <a:t>But before we start dealing with the rigid syntax of a real programming language, it is often useful to first try to express the algorithm that we wish to write in </a:t>
            </a:r>
            <a:r>
              <a:rPr b="1" i="1" lang="en">
                <a:solidFill>
                  <a:srgbClr val="FF0000"/>
                </a:solidFill>
              </a:rPr>
              <a:t>pseudocode</a:t>
            </a:r>
            <a:r>
              <a:rPr lang="en"/>
              <a:t>.</a:t>
            </a:r>
            <a:endParaRPr/>
          </a:p>
          <a:p>
            <a:pPr indent="-298450" lvl="1" marL="914400" rtl="0" algn="l">
              <a:spcBef>
                <a:spcPts val="0"/>
              </a:spcBef>
              <a:spcAft>
                <a:spcPts val="0"/>
              </a:spcAft>
              <a:buSzPts val="1100"/>
              <a:buChar char="○"/>
            </a:pPr>
            <a:r>
              <a:rPr b="1" i="1" lang="en">
                <a:solidFill>
                  <a:srgbClr val="FF0000"/>
                </a:solidFill>
              </a:rPr>
              <a:t>Pseudocode</a:t>
            </a:r>
            <a:r>
              <a:rPr lang="en">
                <a:solidFill>
                  <a:srgbClr val="FF0000"/>
                </a:solidFill>
              </a:rPr>
              <a:t> </a:t>
            </a:r>
            <a:r>
              <a:rPr lang="en"/>
              <a:t>is a term for very high-level descriptions of what we would like the computer to do.</a:t>
            </a:r>
            <a:endParaRPr/>
          </a:p>
          <a:p>
            <a:pPr indent="-298450" lvl="1" marL="914400" rtl="0" algn="l">
              <a:spcBef>
                <a:spcPts val="0"/>
              </a:spcBef>
              <a:spcAft>
                <a:spcPts val="0"/>
              </a:spcAft>
              <a:buSzPts val="1100"/>
              <a:buChar char="○"/>
            </a:pPr>
            <a:r>
              <a:rPr lang="en"/>
              <a:t>The description should be </a:t>
            </a:r>
            <a:r>
              <a:rPr b="1" i="1" lang="en">
                <a:solidFill>
                  <a:srgbClr val="FF0000"/>
                </a:solidFill>
              </a:rPr>
              <a:t>detailed</a:t>
            </a:r>
            <a:r>
              <a:rPr lang="en"/>
              <a:t>, but is not concerned with the syntax of any particular language.</a:t>
            </a:r>
            <a:endParaRPr/>
          </a:p>
          <a:p>
            <a:pPr indent="-298450" lvl="1" marL="914400" rtl="0" algn="l">
              <a:spcBef>
                <a:spcPts val="0"/>
              </a:spcBef>
              <a:spcAft>
                <a:spcPts val="0"/>
              </a:spcAft>
              <a:buSzPts val="1100"/>
              <a:buChar char="○"/>
            </a:pPr>
            <a:r>
              <a:rPr lang="en"/>
              <a:t>Most pseudocode is very close to written or spoken language, and </a:t>
            </a:r>
            <a:r>
              <a:rPr b="1" i="1" lang="en">
                <a:solidFill>
                  <a:srgbClr val="FF0000"/>
                </a:solidFill>
              </a:rPr>
              <a:t>there are no rules</a:t>
            </a:r>
            <a:r>
              <a:rPr lang="en"/>
              <a:t> of </a:t>
            </a:r>
            <a:r>
              <a:rPr lang="en"/>
              <a:t>grammar or syntax</a:t>
            </a:r>
            <a:r>
              <a:rPr lang="en"/>
              <a:t>.</a:t>
            </a:r>
            <a:endParaRPr/>
          </a:p>
          <a:p>
            <a:pPr indent="-311150" lvl="0" marL="457200" rtl="0" algn="l">
              <a:spcBef>
                <a:spcPts val="1000"/>
              </a:spcBef>
              <a:spcAft>
                <a:spcPts val="0"/>
              </a:spcAft>
              <a:buSzPts val="1300"/>
              <a:buChar char="●"/>
            </a:pPr>
            <a:r>
              <a:rPr lang="en"/>
              <a:t>The purpose of </a:t>
            </a:r>
            <a:r>
              <a:rPr lang="en"/>
              <a:t>using</a:t>
            </a:r>
            <a:r>
              <a:rPr lang="en"/>
              <a:t> pseudocode to describe algorithms is to </a:t>
            </a:r>
            <a:r>
              <a:rPr b="1" i="1" lang="en">
                <a:solidFill>
                  <a:srgbClr val="FF0000"/>
                </a:solidFill>
              </a:rPr>
              <a:t>sketch out an algorithm quickly</a:t>
            </a:r>
            <a:r>
              <a:rPr lang="en"/>
              <a:t>, without spending time dealing with syntax errors or heavy weight tools like an IDE.</a:t>
            </a:r>
            <a:endParaRPr/>
          </a:p>
        </p:txBody>
      </p:sp>
      <p:sp>
        <p:nvSpPr>
          <p:cNvPr id="141" name="Google Shape;141;p23"/>
          <p:cNvSpPr txBox="1"/>
          <p:nvPr>
            <p:ph type="title"/>
          </p:nvPr>
        </p:nvSpPr>
        <p:spPr>
          <a:xfrm>
            <a:off x="5192225" y="2723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t>An Algorithmic Approach to Problem Solving</a:t>
            </a:r>
            <a:endParaRPr sz="2200"/>
          </a:p>
        </p:txBody>
      </p:sp>
      <p:sp>
        <p:nvSpPr>
          <p:cNvPr id="142" name="Google Shape;142;p23"/>
          <p:cNvSpPr txBox="1"/>
          <p:nvPr>
            <p:ph idx="2" type="body"/>
          </p:nvPr>
        </p:nvSpPr>
        <p:spPr>
          <a:xfrm>
            <a:off x="5192225" y="2041289"/>
            <a:ext cx="3706500" cy="2132700"/>
          </a:xfrm>
          <a:prstGeom prst="rect">
            <a:avLst/>
          </a:prstGeom>
          <a:solidFill>
            <a:srgbClr val="CFE2F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500">
                <a:solidFill>
                  <a:srgbClr val="FF0000"/>
                </a:solidFill>
                <a:latin typeface="Shadows Into Light"/>
                <a:ea typeface="Shadows Into Light"/>
                <a:cs typeface="Shadows Into Light"/>
                <a:sym typeface="Shadows Into Light"/>
              </a:rPr>
              <a:t>Euclid's Method for finding the Greatest Common Divisor of two integers A and B:</a:t>
            </a:r>
            <a:endParaRPr sz="1500">
              <a:solidFill>
                <a:srgbClr val="FF0000"/>
              </a:solidFill>
              <a:latin typeface="Shadows Into Light"/>
              <a:ea typeface="Shadows Into Light"/>
              <a:cs typeface="Shadows Into Light"/>
              <a:sym typeface="Shadows Into Light"/>
            </a:endParaRPr>
          </a:p>
          <a:p>
            <a:pPr indent="-323850" lvl="0" marL="457200" rtl="0" algn="l">
              <a:spcBef>
                <a:spcPts val="0"/>
              </a:spcBef>
              <a:spcAft>
                <a:spcPts val="0"/>
              </a:spcAft>
              <a:buClr>
                <a:srgbClr val="FF0000"/>
              </a:buClr>
              <a:buSzPts val="1500"/>
              <a:buFont typeface="Shadows Into Light"/>
              <a:buAutoNum type="arabicPeriod"/>
            </a:pPr>
            <a:r>
              <a:rPr lang="en" sz="1500">
                <a:solidFill>
                  <a:srgbClr val="FF0000"/>
                </a:solidFill>
                <a:latin typeface="Shadows Into Light"/>
                <a:ea typeface="Shadows Into Light"/>
                <a:cs typeface="Shadows Into Light"/>
                <a:sym typeface="Shadows Into Light"/>
              </a:rPr>
              <a:t>As long as A is not equal to B:</a:t>
            </a:r>
            <a:endParaRPr sz="1500">
              <a:solidFill>
                <a:srgbClr val="FF0000"/>
              </a:solidFill>
              <a:latin typeface="Shadows Into Light"/>
              <a:ea typeface="Shadows Into Light"/>
              <a:cs typeface="Shadows Into Light"/>
              <a:sym typeface="Shadows Into Light"/>
            </a:endParaRPr>
          </a:p>
          <a:p>
            <a:pPr indent="-311150" lvl="1" marL="914400" rtl="0" algn="l">
              <a:spcBef>
                <a:spcPts val="0"/>
              </a:spcBef>
              <a:spcAft>
                <a:spcPts val="0"/>
              </a:spcAft>
              <a:buClr>
                <a:srgbClr val="FF0000"/>
              </a:buClr>
              <a:buSzPts val="1300"/>
              <a:buFont typeface="Shadows Into Light"/>
              <a:buAutoNum type="alphaLcPeriod"/>
            </a:pPr>
            <a:r>
              <a:rPr lang="en" sz="1300">
                <a:solidFill>
                  <a:srgbClr val="FF0000"/>
                </a:solidFill>
                <a:latin typeface="Shadows Into Light"/>
                <a:ea typeface="Shadows Into Light"/>
                <a:cs typeface="Shadows Into Light"/>
                <a:sym typeface="Shadows Into Light"/>
              </a:rPr>
              <a:t>if A is greater than B:</a:t>
            </a:r>
            <a:endParaRPr sz="1300">
              <a:solidFill>
                <a:srgbClr val="FF0000"/>
              </a:solidFill>
              <a:latin typeface="Shadows Into Light"/>
              <a:ea typeface="Shadows Into Light"/>
              <a:cs typeface="Shadows Into Light"/>
              <a:sym typeface="Shadows Into Light"/>
            </a:endParaRPr>
          </a:p>
          <a:p>
            <a:pPr indent="-311150" lvl="2" marL="1371600" rtl="0" algn="l">
              <a:spcBef>
                <a:spcPts val="0"/>
              </a:spcBef>
              <a:spcAft>
                <a:spcPts val="0"/>
              </a:spcAft>
              <a:buClr>
                <a:srgbClr val="FF0000"/>
              </a:buClr>
              <a:buSzPts val="1300"/>
              <a:buFont typeface="Shadows Into Light"/>
              <a:buAutoNum type="romanLcPeriod"/>
            </a:pPr>
            <a:r>
              <a:rPr lang="en" sz="1300">
                <a:solidFill>
                  <a:srgbClr val="FF0000"/>
                </a:solidFill>
                <a:latin typeface="Shadows Into Light"/>
                <a:ea typeface="Shadows Into Light"/>
                <a:cs typeface="Shadows Into Light"/>
                <a:sym typeface="Shadows Into Light"/>
              </a:rPr>
              <a:t>Let A = A - B</a:t>
            </a:r>
            <a:endParaRPr sz="1300">
              <a:solidFill>
                <a:srgbClr val="FF0000"/>
              </a:solidFill>
              <a:latin typeface="Shadows Into Light"/>
              <a:ea typeface="Shadows Into Light"/>
              <a:cs typeface="Shadows Into Light"/>
              <a:sym typeface="Shadows Into Light"/>
            </a:endParaRPr>
          </a:p>
          <a:p>
            <a:pPr indent="-311150" lvl="1" marL="914400" rtl="0" algn="l">
              <a:spcBef>
                <a:spcPts val="0"/>
              </a:spcBef>
              <a:spcAft>
                <a:spcPts val="0"/>
              </a:spcAft>
              <a:buClr>
                <a:srgbClr val="FF0000"/>
              </a:buClr>
              <a:buSzPts val="1300"/>
              <a:buFont typeface="Shadows Into Light"/>
              <a:buAutoNum type="alphaLcPeriod"/>
            </a:pPr>
            <a:r>
              <a:rPr lang="en" sz="1300">
                <a:solidFill>
                  <a:srgbClr val="FF0000"/>
                </a:solidFill>
                <a:latin typeface="Shadows Into Light"/>
                <a:ea typeface="Shadows Into Light"/>
                <a:cs typeface="Shadows Into Light"/>
                <a:sym typeface="Shadows Into Light"/>
              </a:rPr>
              <a:t>otherwise</a:t>
            </a:r>
            <a:endParaRPr sz="1300">
              <a:solidFill>
                <a:srgbClr val="FF0000"/>
              </a:solidFill>
              <a:latin typeface="Shadows Into Light"/>
              <a:ea typeface="Shadows Into Light"/>
              <a:cs typeface="Shadows Into Light"/>
              <a:sym typeface="Shadows Into Light"/>
            </a:endParaRPr>
          </a:p>
          <a:p>
            <a:pPr indent="-311150" lvl="2" marL="1371600" rtl="0" algn="l">
              <a:spcBef>
                <a:spcPts val="0"/>
              </a:spcBef>
              <a:spcAft>
                <a:spcPts val="0"/>
              </a:spcAft>
              <a:buClr>
                <a:srgbClr val="FF0000"/>
              </a:buClr>
              <a:buSzPts val="1300"/>
              <a:buFont typeface="Shadows Into Light"/>
              <a:buAutoNum type="romanLcPeriod"/>
            </a:pPr>
            <a:r>
              <a:rPr lang="en" sz="1300">
                <a:solidFill>
                  <a:srgbClr val="FF0000"/>
                </a:solidFill>
                <a:latin typeface="Shadows Into Light"/>
                <a:ea typeface="Shadows Into Light"/>
                <a:cs typeface="Shadows Into Light"/>
                <a:sym typeface="Shadows Into Light"/>
              </a:rPr>
              <a:t>Let B = B - A</a:t>
            </a:r>
            <a:endParaRPr sz="1300">
              <a:solidFill>
                <a:srgbClr val="FF0000"/>
              </a:solidFill>
              <a:latin typeface="Shadows Into Light"/>
              <a:ea typeface="Shadows Into Light"/>
              <a:cs typeface="Shadows Into Light"/>
              <a:sym typeface="Shadows Into Light"/>
            </a:endParaRPr>
          </a:p>
          <a:p>
            <a:pPr indent="-323850" lvl="0" marL="457200" rtl="0" algn="l">
              <a:spcBef>
                <a:spcPts val="0"/>
              </a:spcBef>
              <a:spcAft>
                <a:spcPts val="0"/>
              </a:spcAft>
              <a:buClr>
                <a:srgbClr val="FF0000"/>
              </a:buClr>
              <a:buSzPts val="1500"/>
              <a:buFont typeface="Shadows Into Light"/>
              <a:buAutoNum type="arabicPeriod"/>
            </a:pPr>
            <a:r>
              <a:rPr lang="en" sz="1500">
                <a:solidFill>
                  <a:srgbClr val="FF0000"/>
                </a:solidFill>
                <a:latin typeface="Shadows Into Light"/>
                <a:ea typeface="Shadows Into Light"/>
                <a:cs typeface="Shadows Into Light"/>
                <a:sym typeface="Shadows Into Light"/>
              </a:rPr>
              <a:t>Return A</a:t>
            </a:r>
            <a:endParaRPr sz="1500">
              <a:solidFill>
                <a:srgbClr val="FF0000"/>
              </a:solidFill>
              <a:latin typeface="Shadows Into Light"/>
              <a:ea typeface="Shadows Into Light"/>
              <a:cs typeface="Shadows Into Light"/>
              <a:sym typeface="Shadows Into Light"/>
            </a:endParaRPr>
          </a:p>
        </p:txBody>
      </p:sp>
      <p:sp>
        <p:nvSpPr>
          <p:cNvPr id="143" name="Google Shape;143;p23"/>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44" name="Google Shape;144;p23"/>
          <p:cNvSpPr txBox="1"/>
          <p:nvPr>
            <p:ph idx="3" type="body"/>
          </p:nvPr>
        </p:nvSpPr>
        <p:spPr>
          <a:xfrm>
            <a:off x="5192225" y="1004925"/>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There are </a:t>
            </a:r>
            <a:r>
              <a:rPr b="1" i="1" lang="en">
                <a:solidFill>
                  <a:srgbClr val="FF0000"/>
                </a:solidFill>
              </a:rPr>
              <a:t>no rules</a:t>
            </a:r>
            <a:r>
              <a:rPr lang="en"/>
              <a:t> to writing </a:t>
            </a:r>
            <a:r>
              <a:rPr b="1" i="1" lang="en">
                <a:solidFill>
                  <a:srgbClr val="FF0000"/>
                </a:solidFill>
              </a:rPr>
              <a:t>pseudocode</a:t>
            </a:r>
            <a:r>
              <a:rPr lang="en"/>
              <a:t>. The point is to avoid spending time on strict rules of syntax in order to express the algorithm as </a:t>
            </a:r>
            <a:r>
              <a:rPr b="1" i="1" lang="en">
                <a:solidFill>
                  <a:srgbClr val="FF0000"/>
                </a:solidFill>
              </a:rPr>
              <a:t>quickly as possible</a:t>
            </a:r>
            <a:r>
              <a:rPr lang="en"/>
              <a:t>.</a:t>
            </a:r>
            <a:endParaRPr/>
          </a:p>
        </p:txBody>
      </p:sp>
      <p:sp>
        <p:nvSpPr>
          <p:cNvPr id="145" name="Google Shape;145;p23"/>
          <p:cNvSpPr txBox="1"/>
          <p:nvPr>
            <p:ph idx="3" type="body"/>
          </p:nvPr>
        </p:nvSpPr>
        <p:spPr>
          <a:xfrm>
            <a:off x="5192225" y="4260868"/>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Here is an example of pseudocode used to represent Euclid's method for finding the GCD of two integers.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Euclidean Pseudocode</a:t>
            </a:r>
            <a:endParaRPr/>
          </a:p>
        </p:txBody>
      </p:sp>
      <p:sp>
        <p:nvSpPr>
          <p:cNvPr id="151" name="Google Shape;151;p24"/>
          <p:cNvSpPr txBox="1"/>
          <p:nvPr>
            <p:ph idx="1" type="body"/>
          </p:nvPr>
        </p:nvSpPr>
        <p:spPr>
          <a:xfrm>
            <a:off x="65250" y="655425"/>
            <a:ext cx="8955900" cy="14160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a:t>An algorithm is like a recipe that lists the ingredients needed and the steps required to solve a specific problem. We often sketch an algorithm out by first writing </a:t>
            </a:r>
            <a:r>
              <a:rPr i="1" lang="en"/>
              <a:t>pseudocode </a:t>
            </a:r>
            <a:r>
              <a:rPr lang="en"/>
              <a:t>that describes that we'd like the program to do. Next, the pseudocode needs to be translated into statements in a real programming language. Practice now by implementing Euclid's method for finding the greatest common divisor of two integers.</a:t>
            </a:r>
            <a:endParaRPr/>
          </a:p>
        </p:txBody>
      </p:sp>
      <p:sp>
        <p:nvSpPr>
          <p:cNvPr id="152" name="Google Shape;15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a:t>
            </a:r>
            <a:r>
              <a:rPr lang="en"/>
              <a:t>1</a:t>
            </a:r>
            <a:endParaRPr/>
          </a:p>
        </p:txBody>
      </p:sp>
      <p:sp>
        <p:nvSpPr>
          <p:cNvPr id="154" name="Google Shape;154;p24"/>
          <p:cNvSpPr txBox="1"/>
          <p:nvPr>
            <p:ph idx="4" type="body"/>
          </p:nvPr>
        </p:nvSpPr>
        <p:spPr>
          <a:xfrm>
            <a:off x="268875" y="2183650"/>
            <a:ext cx="3422100" cy="1908600"/>
          </a:xfrm>
          <a:prstGeom prst="rect">
            <a:avLst/>
          </a:prstGeom>
          <a:solidFill>
            <a:srgbClr val="CFE2F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400">
                <a:solidFill>
                  <a:srgbClr val="FF0000"/>
                </a:solidFill>
                <a:latin typeface="Shadows Into Light"/>
                <a:ea typeface="Shadows Into Light"/>
                <a:cs typeface="Shadows Into Light"/>
                <a:sym typeface="Shadows Into Light"/>
              </a:rPr>
              <a:t>Euclid's Method for finding the Greatest Common Divisor of two integers A and B:</a:t>
            </a:r>
            <a:endParaRPr sz="1400">
              <a:solidFill>
                <a:srgbClr val="FF0000"/>
              </a:solidFill>
              <a:latin typeface="Shadows Into Light"/>
              <a:ea typeface="Shadows Into Light"/>
              <a:cs typeface="Shadows Into Light"/>
              <a:sym typeface="Shadows Into Light"/>
            </a:endParaRPr>
          </a:p>
          <a:p>
            <a:pPr indent="-317500" lvl="0" marL="457200" rtl="0" algn="l">
              <a:spcBef>
                <a:spcPts val="0"/>
              </a:spcBef>
              <a:spcAft>
                <a:spcPts val="0"/>
              </a:spcAft>
              <a:buClr>
                <a:srgbClr val="FF0000"/>
              </a:buClr>
              <a:buSzPts val="1400"/>
              <a:buFont typeface="Shadows Into Light"/>
              <a:buAutoNum type="arabicPeriod"/>
            </a:pPr>
            <a:r>
              <a:rPr lang="en" sz="1400">
                <a:solidFill>
                  <a:srgbClr val="FF0000"/>
                </a:solidFill>
                <a:latin typeface="Shadows Into Light"/>
                <a:ea typeface="Shadows Into Light"/>
                <a:cs typeface="Shadows Into Light"/>
                <a:sym typeface="Shadows Into Light"/>
              </a:rPr>
              <a:t>As long as A is not equal to B:</a:t>
            </a:r>
            <a:endParaRPr sz="1400">
              <a:solidFill>
                <a:srgbClr val="FF0000"/>
              </a:solidFill>
              <a:latin typeface="Shadows Into Light"/>
              <a:ea typeface="Shadows Into Light"/>
              <a:cs typeface="Shadows Into Light"/>
              <a:sym typeface="Shadows Into Light"/>
            </a:endParaRPr>
          </a:p>
          <a:p>
            <a:pPr indent="-317500" lvl="1" marL="914400" rtl="0" algn="l">
              <a:spcBef>
                <a:spcPts val="0"/>
              </a:spcBef>
              <a:spcAft>
                <a:spcPts val="0"/>
              </a:spcAft>
              <a:buClr>
                <a:srgbClr val="FF0000"/>
              </a:buClr>
              <a:buSzPts val="1400"/>
              <a:buFont typeface="Shadows Into Light"/>
              <a:buAutoNum type="alphaLcPeriod"/>
            </a:pPr>
            <a:r>
              <a:rPr lang="en" sz="1400">
                <a:solidFill>
                  <a:srgbClr val="FF0000"/>
                </a:solidFill>
                <a:latin typeface="Shadows Into Light"/>
                <a:ea typeface="Shadows Into Light"/>
                <a:cs typeface="Shadows Into Light"/>
                <a:sym typeface="Shadows Into Light"/>
              </a:rPr>
              <a:t>if A is greater than B:</a:t>
            </a:r>
            <a:endParaRPr sz="1400">
              <a:solidFill>
                <a:srgbClr val="FF0000"/>
              </a:solidFill>
              <a:latin typeface="Shadows Into Light"/>
              <a:ea typeface="Shadows Into Light"/>
              <a:cs typeface="Shadows Into Light"/>
              <a:sym typeface="Shadows Into Light"/>
            </a:endParaRPr>
          </a:p>
          <a:p>
            <a:pPr indent="-317500" lvl="2" marL="1371600" rtl="0" algn="l">
              <a:spcBef>
                <a:spcPts val="0"/>
              </a:spcBef>
              <a:spcAft>
                <a:spcPts val="0"/>
              </a:spcAft>
              <a:buClr>
                <a:srgbClr val="FF0000"/>
              </a:buClr>
              <a:buSzPts val="1400"/>
              <a:buFont typeface="Shadows Into Light"/>
              <a:buAutoNum type="romanLcPeriod"/>
            </a:pPr>
            <a:r>
              <a:rPr lang="en" sz="1400">
                <a:solidFill>
                  <a:srgbClr val="FF0000"/>
                </a:solidFill>
                <a:latin typeface="Shadows Into Light"/>
                <a:ea typeface="Shadows Into Light"/>
                <a:cs typeface="Shadows Into Light"/>
                <a:sym typeface="Shadows Into Light"/>
              </a:rPr>
              <a:t>Let A = A - B</a:t>
            </a:r>
            <a:endParaRPr sz="1400">
              <a:solidFill>
                <a:srgbClr val="FF0000"/>
              </a:solidFill>
              <a:latin typeface="Shadows Into Light"/>
              <a:ea typeface="Shadows Into Light"/>
              <a:cs typeface="Shadows Into Light"/>
              <a:sym typeface="Shadows Into Light"/>
            </a:endParaRPr>
          </a:p>
          <a:p>
            <a:pPr indent="-317500" lvl="1" marL="914400" rtl="0" algn="l">
              <a:spcBef>
                <a:spcPts val="0"/>
              </a:spcBef>
              <a:spcAft>
                <a:spcPts val="0"/>
              </a:spcAft>
              <a:buClr>
                <a:srgbClr val="FF0000"/>
              </a:buClr>
              <a:buSzPts val="1400"/>
              <a:buFont typeface="Shadows Into Light"/>
              <a:buAutoNum type="alphaLcPeriod"/>
            </a:pPr>
            <a:r>
              <a:rPr lang="en" sz="1400">
                <a:solidFill>
                  <a:srgbClr val="FF0000"/>
                </a:solidFill>
                <a:latin typeface="Shadows Into Light"/>
                <a:ea typeface="Shadows Into Light"/>
                <a:cs typeface="Shadows Into Light"/>
                <a:sym typeface="Shadows Into Light"/>
              </a:rPr>
              <a:t>otherwise</a:t>
            </a:r>
            <a:endParaRPr sz="1400">
              <a:solidFill>
                <a:srgbClr val="FF0000"/>
              </a:solidFill>
              <a:latin typeface="Shadows Into Light"/>
              <a:ea typeface="Shadows Into Light"/>
              <a:cs typeface="Shadows Into Light"/>
              <a:sym typeface="Shadows Into Light"/>
            </a:endParaRPr>
          </a:p>
          <a:p>
            <a:pPr indent="-317500" lvl="2" marL="1371600" rtl="0" algn="l">
              <a:spcBef>
                <a:spcPts val="0"/>
              </a:spcBef>
              <a:spcAft>
                <a:spcPts val="0"/>
              </a:spcAft>
              <a:buClr>
                <a:srgbClr val="FF0000"/>
              </a:buClr>
              <a:buSzPts val="1400"/>
              <a:buFont typeface="Shadows Into Light"/>
              <a:buAutoNum type="romanLcPeriod"/>
            </a:pPr>
            <a:r>
              <a:rPr lang="en" sz="1400">
                <a:solidFill>
                  <a:srgbClr val="FF0000"/>
                </a:solidFill>
                <a:latin typeface="Shadows Into Light"/>
                <a:ea typeface="Shadows Into Light"/>
                <a:cs typeface="Shadows Into Light"/>
                <a:sym typeface="Shadows Into Light"/>
              </a:rPr>
              <a:t>Let B = B - A</a:t>
            </a:r>
            <a:endParaRPr sz="1400">
              <a:solidFill>
                <a:srgbClr val="FF0000"/>
              </a:solidFill>
              <a:latin typeface="Shadows Into Light"/>
              <a:ea typeface="Shadows Into Light"/>
              <a:cs typeface="Shadows Into Light"/>
              <a:sym typeface="Shadows Into Light"/>
            </a:endParaRPr>
          </a:p>
          <a:p>
            <a:pPr indent="-317500" lvl="0" marL="457200" rtl="0" algn="l">
              <a:spcBef>
                <a:spcPts val="0"/>
              </a:spcBef>
              <a:spcAft>
                <a:spcPts val="0"/>
              </a:spcAft>
              <a:buClr>
                <a:srgbClr val="FF0000"/>
              </a:buClr>
              <a:buSzPts val="1400"/>
              <a:buFont typeface="Shadows Into Light"/>
              <a:buAutoNum type="arabicPeriod"/>
            </a:pPr>
            <a:r>
              <a:rPr lang="en" sz="1400">
                <a:solidFill>
                  <a:srgbClr val="FF0000"/>
                </a:solidFill>
                <a:latin typeface="Shadows Into Light"/>
                <a:ea typeface="Shadows Into Light"/>
                <a:cs typeface="Shadows Into Light"/>
                <a:sym typeface="Shadows Into Light"/>
              </a:rPr>
              <a:t>Return A</a:t>
            </a:r>
            <a:endParaRPr sz="1400">
              <a:solidFill>
                <a:srgbClr val="FF0000"/>
              </a:solidFill>
              <a:latin typeface="Shadows Into Light"/>
              <a:ea typeface="Shadows Into Light"/>
              <a:cs typeface="Shadows Into Light"/>
              <a:sym typeface="Shadows Into Light"/>
            </a:endParaRPr>
          </a:p>
        </p:txBody>
      </p:sp>
      <p:sp>
        <p:nvSpPr>
          <p:cNvPr id="155" name="Google Shape;155;p24"/>
          <p:cNvSpPr txBox="1"/>
          <p:nvPr>
            <p:ph idx="2" type="body"/>
          </p:nvPr>
        </p:nvSpPr>
        <p:spPr>
          <a:xfrm>
            <a:off x="3690975" y="1969525"/>
            <a:ext cx="5016300" cy="29139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Euclid</a:t>
            </a:r>
            <a:r>
              <a:rPr lang="en" sz="1400"/>
              <a:t>" </a:t>
            </a:r>
            <a:r>
              <a:rPr lang="en" sz="1400"/>
              <a:t>and implement the algorithm depicted to the left as a </a:t>
            </a:r>
            <a:r>
              <a:rPr lang="en" sz="1400">
                <a:solidFill>
                  <a:srgbClr val="FF0000"/>
                </a:solidFill>
                <a:latin typeface="Courier New"/>
                <a:ea typeface="Courier New"/>
                <a:cs typeface="Courier New"/>
                <a:sym typeface="Courier New"/>
              </a:rPr>
              <a:t>static</a:t>
            </a:r>
            <a:r>
              <a:rPr lang="en" sz="1400">
                <a:solidFill>
                  <a:srgbClr val="FF0000"/>
                </a:solidFill>
              </a:rPr>
              <a:t> </a:t>
            </a:r>
            <a:r>
              <a:rPr lang="en" sz="1400"/>
              <a:t>method.</a:t>
            </a:r>
            <a:endParaRPr sz="1400"/>
          </a:p>
          <a:p>
            <a:pPr indent="-304800" lvl="1" marL="914400" rtl="0" algn="l">
              <a:spcBef>
                <a:spcPts val="0"/>
              </a:spcBef>
              <a:spcAft>
                <a:spcPts val="0"/>
              </a:spcAft>
              <a:buSzPts val="1200"/>
              <a:buChar char="○"/>
            </a:pPr>
            <a:r>
              <a:rPr lang="en" sz="1200"/>
              <a:t>Begin by stubbing out the </a:t>
            </a:r>
            <a:r>
              <a:rPr lang="en" sz="1200">
                <a:solidFill>
                  <a:srgbClr val="FF0000"/>
                </a:solidFill>
                <a:latin typeface="Courier New"/>
                <a:ea typeface="Courier New"/>
                <a:cs typeface="Courier New"/>
                <a:sym typeface="Courier New"/>
              </a:rPr>
              <a:t>gcd</a:t>
            </a:r>
            <a:r>
              <a:rPr lang="en" sz="1200">
                <a:solidFill>
                  <a:srgbClr val="FF0000"/>
                </a:solidFill>
              </a:rPr>
              <a:t> </a:t>
            </a:r>
            <a:r>
              <a:rPr lang="en" sz="1200"/>
              <a:t>method. It should declare parameters for A and B and return an integer.</a:t>
            </a:r>
            <a:endParaRPr sz="1200"/>
          </a:p>
          <a:p>
            <a:pPr indent="-304800" lvl="1" marL="914400" rtl="0" algn="l">
              <a:spcBef>
                <a:spcPts val="0"/>
              </a:spcBef>
              <a:spcAft>
                <a:spcPts val="0"/>
              </a:spcAft>
              <a:buSzPts val="1200"/>
              <a:buChar char="○"/>
            </a:pPr>
            <a:r>
              <a:rPr lang="en" sz="1200"/>
              <a:t>Next, capture each of the steps as an</a:t>
            </a:r>
            <a:r>
              <a:rPr lang="en" sz="1200">
                <a:solidFill>
                  <a:srgbClr val="FF0000"/>
                </a:solidFill>
              </a:rPr>
              <a:t> </a:t>
            </a:r>
            <a:r>
              <a:rPr b="1" i="1" lang="en" sz="1200">
                <a:solidFill>
                  <a:srgbClr val="FF0000"/>
                </a:solidFill>
              </a:rPr>
              <a:t>inline</a:t>
            </a:r>
            <a:r>
              <a:rPr lang="en" sz="1200">
                <a:solidFill>
                  <a:srgbClr val="FF0000"/>
                </a:solidFill>
              </a:rPr>
              <a:t> </a:t>
            </a:r>
            <a:r>
              <a:rPr b="1" i="1" lang="en" sz="1200">
                <a:solidFill>
                  <a:srgbClr val="FF0000"/>
                </a:solidFill>
              </a:rPr>
              <a:t>comment</a:t>
            </a:r>
            <a:r>
              <a:rPr lang="en" sz="1200"/>
              <a:t> in the method. You must </a:t>
            </a:r>
            <a:r>
              <a:rPr b="1" i="1" lang="en" sz="1200">
                <a:solidFill>
                  <a:srgbClr val="FF0000"/>
                </a:solidFill>
              </a:rPr>
              <a:t>commit</a:t>
            </a:r>
            <a:r>
              <a:rPr lang="en" sz="1200">
                <a:solidFill>
                  <a:srgbClr val="FF0000"/>
                </a:solidFill>
              </a:rPr>
              <a:t> </a:t>
            </a:r>
            <a:r>
              <a:rPr lang="en" sz="1200"/>
              <a:t>this version of your code before moving any further!</a:t>
            </a:r>
            <a:endParaRPr sz="1200"/>
          </a:p>
          <a:p>
            <a:pPr indent="-304800" lvl="1" marL="914400" rtl="0" algn="l">
              <a:spcBef>
                <a:spcPts val="0"/>
              </a:spcBef>
              <a:spcAft>
                <a:spcPts val="0"/>
              </a:spcAft>
              <a:buSzPts val="1200"/>
              <a:buChar char="○"/>
            </a:pPr>
            <a:r>
              <a:rPr b="1" i="1" lang="en" sz="1200">
                <a:solidFill>
                  <a:srgbClr val="FF0000"/>
                </a:solidFill>
              </a:rPr>
              <a:t>Implement </a:t>
            </a:r>
            <a:r>
              <a:rPr lang="en" sz="1200"/>
              <a:t>each of your comments as a Java statement.</a:t>
            </a:r>
            <a:endParaRPr sz="1200"/>
          </a:p>
          <a:p>
            <a:pPr indent="-317500" lvl="0" marL="457200" rtl="0" algn="l">
              <a:spcBef>
                <a:spcPts val="0"/>
              </a:spcBef>
              <a:spcAft>
                <a:spcPts val="0"/>
              </a:spcAft>
              <a:buSzPts val="1400"/>
              <a:buChar char="●"/>
            </a:pPr>
            <a:r>
              <a:rPr lang="en" sz="1400"/>
              <a:t>Define a </a:t>
            </a:r>
            <a:r>
              <a:rPr lang="en" sz="1400">
                <a:solidFill>
                  <a:srgbClr val="FF0000"/>
                </a:solidFill>
                <a:latin typeface="Courier New"/>
                <a:ea typeface="Courier New"/>
                <a:cs typeface="Courier New"/>
                <a:sym typeface="Courier New"/>
              </a:rPr>
              <a:t>main</a:t>
            </a:r>
            <a:r>
              <a:rPr lang="en" sz="1400">
                <a:solidFill>
                  <a:srgbClr val="FF0000"/>
                </a:solidFill>
              </a:rPr>
              <a:t> </a:t>
            </a:r>
            <a:r>
              <a:rPr lang="en" sz="1400"/>
              <a:t>method with the appropriate signature and </a:t>
            </a:r>
            <a:r>
              <a:rPr lang="en" sz="1400">
                <a:solidFill>
                  <a:srgbClr val="FF0000"/>
                </a:solidFill>
              </a:rPr>
              <a:t>test </a:t>
            </a:r>
            <a:r>
              <a:rPr lang="en" sz="1400"/>
              <a:t>your </a:t>
            </a:r>
            <a:r>
              <a:rPr lang="en" sz="1400">
                <a:latin typeface="Courier New"/>
                <a:ea typeface="Courier New"/>
                <a:cs typeface="Courier New"/>
                <a:sym typeface="Courier New"/>
              </a:rPr>
              <a:t>gcd</a:t>
            </a:r>
            <a:r>
              <a:rPr lang="en" sz="1400"/>
              <a:t> method with several different combinations of A and B.</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61" name="Google Shape;161;p25"/>
          <p:cNvSpPr txBox="1"/>
          <p:nvPr>
            <p:ph type="title"/>
          </p:nvPr>
        </p:nvSpPr>
        <p:spPr>
          <a:xfrm>
            <a:off x="51885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Greedy Algorithms</a:t>
            </a:r>
            <a:endParaRPr/>
          </a:p>
        </p:txBody>
      </p:sp>
      <p:sp>
        <p:nvSpPr>
          <p:cNvPr id="162" name="Google Shape;162;p25"/>
          <p:cNvSpPr txBox="1"/>
          <p:nvPr>
            <p:ph idx="1" type="body"/>
          </p:nvPr>
        </p:nvSpPr>
        <p:spPr>
          <a:xfrm>
            <a:off x="262500" y="62850"/>
            <a:ext cx="4384500" cy="50178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A </a:t>
            </a:r>
            <a:r>
              <a:rPr b="1" i="1" lang="en">
                <a:solidFill>
                  <a:srgbClr val="FF0000"/>
                </a:solidFill>
              </a:rPr>
              <a:t>greedy algorithm</a:t>
            </a:r>
            <a:r>
              <a:rPr lang="en">
                <a:solidFill>
                  <a:srgbClr val="FF0000"/>
                </a:solidFill>
              </a:rPr>
              <a:t> </a:t>
            </a:r>
            <a:r>
              <a:rPr lang="en"/>
              <a:t>is one that makes a decision based on what appears to be the optimal choice at the time.</a:t>
            </a:r>
            <a:endParaRPr/>
          </a:p>
          <a:p>
            <a:pPr indent="-298450" lvl="1" marL="914400" rtl="0" algn="l">
              <a:spcBef>
                <a:spcPts val="0"/>
              </a:spcBef>
              <a:spcAft>
                <a:spcPts val="0"/>
              </a:spcAft>
              <a:buSzPts val="1100"/>
              <a:buChar char="○"/>
            </a:pPr>
            <a:r>
              <a:rPr lang="en"/>
              <a:t>“The optimal choice at the time” is another way of saying “the </a:t>
            </a:r>
            <a:r>
              <a:rPr b="1" i="1" lang="en">
                <a:solidFill>
                  <a:srgbClr val="FF0000"/>
                </a:solidFill>
              </a:rPr>
              <a:t>local optimum</a:t>
            </a:r>
            <a:r>
              <a:rPr lang="en"/>
              <a:t>” - what </a:t>
            </a:r>
            <a:r>
              <a:rPr b="1" i="1" lang="en">
                <a:solidFill>
                  <a:srgbClr val="FF0000"/>
                </a:solidFill>
              </a:rPr>
              <a:t>appears</a:t>
            </a:r>
            <a:r>
              <a:rPr lang="en"/>
              <a:t> to be the best answer for that particular step in the problem given the information that we have.</a:t>
            </a:r>
            <a:endParaRPr/>
          </a:p>
          <a:p>
            <a:pPr indent="-311150" lvl="0" marL="457200" rtl="0" algn="l">
              <a:spcBef>
                <a:spcPts val="1000"/>
              </a:spcBef>
              <a:spcAft>
                <a:spcPts val="0"/>
              </a:spcAft>
              <a:buSzPts val="1300"/>
              <a:buChar char="●"/>
            </a:pPr>
            <a:r>
              <a:rPr lang="en"/>
              <a:t>Greedy algorithms sometimes produce a result that is the </a:t>
            </a:r>
            <a:r>
              <a:rPr b="1" i="1" lang="en">
                <a:solidFill>
                  <a:srgbClr val="FF0000"/>
                </a:solidFill>
              </a:rPr>
              <a:t>global optimum</a:t>
            </a:r>
            <a:r>
              <a:rPr lang="en"/>
              <a:t>.</a:t>
            </a:r>
            <a:endParaRPr/>
          </a:p>
          <a:p>
            <a:pPr indent="-298450" lvl="1" marL="914400" rtl="0" algn="l">
              <a:spcBef>
                <a:spcPts val="0"/>
              </a:spcBef>
              <a:spcAft>
                <a:spcPts val="0"/>
              </a:spcAft>
              <a:buSzPts val="1100"/>
              <a:buChar char="○"/>
            </a:pPr>
            <a:r>
              <a:rPr lang="en"/>
              <a:t>The best possible answer for the problem.</a:t>
            </a:r>
            <a:endParaRPr/>
          </a:p>
          <a:p>
            <a:pPr indent="-311150" lvl="0" marL="457200" rtl="0" algn="l">
              <a:spcBef>
                <a:spcPts val="1000"/>
              </a:spcBef>
              <a:spcAft>
                <a:spcPts val="0"/>
              </a:spcAft>
              <a:buSzPts val="1300"/>
              <a:buChar char="●"/>
            </a:pPr>
            <a:r>
              <a:rPr lang="en"/>
              <a:t>But other times, greedy algorithms relatively</a:t>
            </a:r>
            <a:r>
              <a:rPr b="1" i="1" lang="en"/>
              <a:t> </a:t>
            </a:r>
            <a:r>
              <a:rPr b="1" i="1" lang="en">
                <a:solidFill>
                  <a:srgbClr val="FF0000"/>
                </a:solidFill>
              </a:rPr>
              <a:t>efficiently</a:t>
            </a:r>
            <a:r>
              <a:rPr lang="en"/>
              <a:t> produce a result that is </a:t>
            </a:r>
            <a:r>
              <a:rPr b="1" i="1" lang="en">
                <a:solidFill>
                  <a:srgbClr val="FF0000"/>
                </a:solidFill>
              </a:rPr>
              <a:t>reasonably good</a:t>
            </a:r>
            <a:r>
              <a:rPr lang="en"/>
              <a:t> in a relatively short amount of time.</a:t>
            </a:r>
            <a:endParaRPr/>
          </a:p>
          <a:p>
            <a:pPr indent="-298450" lvl="1" marL="914400" rtl="0" algn="l">
              <a:spcBef>
                <a:spcPts val="0"/>
              </a:spcBef>
              <a:spcAft>
                <a:spcPts val="0"/>
              </a:spcAft>
              <a:buSzPts val="1100"/>
              <a:buChar char="○"/>
            </a:pPr>
            <a:r>
              <a:rPr lang="en"/>
              <a:t>There are problems for which the optimal answer takes </a:t>
            </a:r>
            <a:r>
              <a:rPr b="1" i="1" lang="en">
                <a:solidFill>
                  <a:srgbClr val="FF0000"/>
                </a:solidFill>
              </a:rPr>
              <a:t>far too long</a:t>
            </a:r>
            <a:r>
              <a:rPr lang="en"/>
              <a:t> to compute.</a:t>
            </a:r>
            <a:endParaRPr/>
          </a:p>
          <a:p>
            <a:pPr indent="-298450" lvl="1" marL="914400" rtl="0" algn="l">
              <a:spcBef>
                <a:spcPts val="0"/>
              </a:spcBef>
              <a:spcAft>
                <a:spcPts val="0"/>
              </a:spcAft>
              <a:buSzPts val="1100"/>
              <a:buChar char="○"/>
            </a:pPr>
            <a:r>
              <a:rPr lang="en"/>
              <a:t>In these cases, a greedy algorithm may produce an answer that is “</a:t>
            </a:r>
            <a:r>
              <a:rPr b="1" i="1" lang="en">
                <a:solidFill>
                  <a:srgbClr val="FF0000"/>
                </a:solidFill>
              </a:rPr>
              <a:t>close enough</a:t>
            </a:r>
            <a:r>
              <a:rPr lang="en"/>
              <a:t>” in a much shorter amount of time.</a:t>
            </a:r>
            <a:endParaRPr/>
          </a:p>
          <a:p>
            <a:pPr indent="-311150" lvl="0" marL="457200" rtl="0" algn="l">
              <a:spcBef>
                <a:spcPts val="1000"/>
              </a:spcBef>
              <a:spcAft>
                <a:spcPts val="0"/>
              </a:spcAft>
              <a:buSzPts val="1300"/>
              <a:buChar char="●"/>
            </a:pPr>
            <a:r>
              <a:rPr lang="en"/>
              <a:t>Greedy algorithms can be a faster alternative to a more heavyweight algorithm </a:t>
            </a:r>
            <a:r>
              <a:rPr b="1" i="1" lang="en">
                <a:solidFill>
                  <a:srgbClr val="FF0000"/>
                </a:solidFill>
              </a:rPr>
              <a:t>if</a:t>
            </a:r>
            <a:r>
              <a:rPr lang="en"/>
              <a:t> they produce a result that is good enough.</a:t>
            </a:r>
            <a:endParaRPr/>
          </a:p>
        </p:txBody>
      </p:sp>
      <p:sp>
        <p:nvSpPr>
          <p:cNvPr id="163" name="Google Shape;163;p25"/>
          <p:cNvSpPr txBox="1"/>
          <p:nvPr/>
        </p:nvSpPr>
        <p:spPr>
          <a:xfrm>
            <a:off x="5235375" y="4058767"/>
            <a:ext cx="3598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We will be looking at the traveling salesman problem presently, but first l</a:t>
            </a:r>
            <a:r>
              <a:rPr lang="en" sz="1200"/>
              <a:t>et’s take a look at another classic example: </a:t>
            </a:r>
            <a:r>
              <a:rPr b="1" i="1" lang="en" sz="1200">
                <a:solidFill>
                  <a:srgbClr val="FF0000"/>
                </a:solidFill>
              </a:rPr>
              <a:t>making change</a:t>
            </a:r>
            <a:r>
              <a:rPr lang="en" sz="1200"/>
              <a:t>.</a:t>
            </a:r>
            <a:endParaRPr sz="1200"/>
          </a:p>
        </p:txBody>
      </p:sp>
      <p:pic>
        <p:nvPicPr>
          <p:cNvPr id="164" name="Google Shape;164;p25"/>
          <p:cNvPicPr preferRelativeResize="0"/>
          <p:nvPr/>
        </p:nvPicPr>
        <p:blipFill>
          <a:blip r:embed="rId3">
            <a:alphaModFix/>
          </a:blip>
          <a:stretch>
            <a:fillRect/>
          </a:stretch>
        </p:blipFill>
        <p:spPr>
          <a:xfrm>
            <a:off x="5229600" y="885450"/>
            <a:ext cx="3598800" cy="2245306"/>
          </a:xfrm>
          <a:prstGeom prst="rect">
            <a:avLst/>
          </a:prstGeom>
          <a:noFill/>
          <a:ln cap="flat" cmpd="sng" w="19050">
            <a:solidFill>
              <a:srgbClr val="000000"/>
            </a:solidFill>
            <a:prstDash val="solid"/>
            <a:round/>
            <a:headEnd len="sm" w="sm" type="none"/>
            <a:tailEnd len="sm" w="sm" type="none"/>
          </a:ln>
        </p:spPr>
      </p:pic>
      <p:sp>
        <p:nvSpPr>
          <p:cNvPr id="165" name="Google Shape;165;p25"/>
          <p:cNvSpPr txBox="1"/>
          <p:nvPr/>
        </p:nvSpPr>
        <p:spPr>
          <a:xfrm>
            <a:off x="5235425" y="3229521"/>
            <a:ext cx="3598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a:t>
            </a:r>
            <a:r>
              <a:rPr b="1" i="1" lang="en" sz="1200">
                <a:solidFill>
                  <a:srgbClr val="FF0000"/>
                </a:solidFill>
              </a:rPr>
              <a:t>traveling salesman problem</a:t>
            </a:r>
            <a:r>
              <a:rPr lang="en" sz="1200"/>
              <a:t> is a classic example of an algorithm that </a:t>
            </a:r>
            <a:r>
              <a:rPr b="1" i="1" lang="en" sz="1200">
                <a:solidFill>
                  <a:srgbClr val="FF0000"/>
                </a:solidFill>
              </a:rPr>
              <a:t>cannot </a:t>
            </a:r>
            <a:r>
              <a:rPr lang="en" sz="1200"/>
              <a:t>be solved optimally in a reasonable amount of time.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1" name="Google Shape;171;p26"/>
          <p:cNvSpPr txBox="1"/>
          <p:nvPr>
            <p:ph type="title"/>
          </p:nvPr>
        </p:nvSpPr>
        <p:spPr>
          <a:xfrm>
            <a:off x="311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Making Change</a:t>
            </a:r>
            <a:endParaRPr/>
          </a:p>
        </p:txBody>
      </p:sp>
      <p:sp>
        <p:nvSpPr>
          <p:cNvPr id="172" name="Google Shape;172;p26"/>
          <p:cNvSpPr txBox="1"/>
          <p:nvPr>
            <p:ph idx="1" type="body"/>
          </p:nvPr>
        </p:nvSpPr>
        <p:spPr>
          <a:xfrm>
            <a:off x="4393025" y="72175"/>
            <a:ext cx="4714800" cy="48054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Consider a typical transaction at the grocery store.</a:t>
            </a:r>
            <a:endParaRPr/>
          </a:p>
          <a:p>
            <a:pPr indent="-298450" lvl="1" marL="914400" rtl="0" algn="l">
              <a:spcBef>
                <a:spcPts val="0"/>
              </a:spcBef>
              <a:spcAft>
                <a:spcPts val="0"/>
              </a:spcAft>
              <a:buSzPts val="1100"/>
              <a:buChar char="○"/>
            </a:pPr>
            <a:r>
              <a:rPr lang="en"/>
              <a:t>A customer approaches a cashier with a cart full of goods.</a:t>
            </a:r>
            <a:endParaRPr/>
          </a:p>
          <a:p>
            <a:pPr indent="-298450" lvl="1" marL="914400" rtl="0" algn="l">
              <a:spcBef>
                <a:spcPts val="0"/>
              </a:spcBef>
              <a:spcAft>
                <a:spcPts val="0"/>
              </a:spcAft>
              <a:buSzPts val="1100"/>
              <a:buChar char="○"/>
            </a:pPr>
            <a:r>
              <a:rPr lang="en"/>
              <a:t>The cashier scans the merchandise and presents the customer with the total price for all of the goods.</a:t>
            </a:r>
            <a:endParaRPr/>
          </a:p>
          <a:p>
            <a:pPr indent="-298450" lvl="1" marL="914400" rtl="0" algn="l">
              <a:spcBef>
                <a:spcPts val="0"/>
              </a:spcBef>
              <a:spcAft>
                <a:spcPts val="0"/>
              </a:spcAft>
              <a:buSzPts val="1100"/>
              <a:buChar char="○"/>
            </a:pPr>
            <a:r>
              <a:rPr lang="en"/>
              <a:t>The customer hands over a payment in the form of an amount of cash greater than or equal to the total price.</a:t>
            </a:r>
            <a:endParaRPr/>
          </a:p>
          <a:p>
            <a:pPr indent="-298450" lvl="1" marL="914400" rtl="0" algn="l">
              <a:spcBef>
                <a:spcPts val="0"/>
              </a:spcBef>
              <a:spcAft>
                <a:spcPts val="0"/>
              </a:spcAft>
              <a:buSzPts val="1100"/>
              <a:buChar char="○"/>
            </a:pPr>
            <a:r>
              <a:rPr lang="en"/>
              <a:t>The cashier gives any change due back to the customer.</a:t>
            </a:r>
            <a:endParaRPr/>
          </a:p>
          <a:p>
            <a:pPr indent="-311150" lvl="0" marL="457200" rtl="0" algn="l">
              <a:spcBef>
                <a:spcPts val="1000"/>
              </a:spcBef>
              <a:spcAft>
                <a:spcPts val="0"/>
              </a:spcAft>
              <a:buSzPts val="1300"/>
              <a:buChar char="●"/>
            </a:pPr>
            <a:r>
              <a:rPr lang="en"/>
              <a:t>There are potentially many algorithms that the cashier might use to determine which coins and bills to use</a:t>
            </a:r>
            <a:endParaRPr/>
          </a:p>
          <a:p>
            <a:pPr indent="-298450" lvl="1" marL="914400" rtl="0" algn="l">
              <a:spcBef>
                <a:spcPts val="0"/>
              </a:spcBef>
              <a:spcAft>
                <a:spcPts val="0"/>
              </a:spcAft>
              <a:buSzPts val="1100"/>
              <a:buChar char="○"/>
            </a:pPr>
            <a:r>
              <a:rPr lang="en"/>
              <a:t>Try every possible permutation of available coins and bills.</a:t>
            </a:r>
            <a:endParaRPr/>
          </a:p>
          <a:p>
            <a:pPr indent="-298450" lvl="1" marL="914400" rtl="0" algn="l">
              <a:spcBef>
                <a:spcPts val="0"/>
              </a:spcBef>
              <a:spcAft>
                <a:spcPts val="0"/>
              </a:spcAft>
              <a:buSzPts val="1100"/>
              <a:buChar char="○"/>
            </a:pPr>
            <a:r>
              <a:rPr lang="en"/>
              <a:t>Choose the largest coin or bill that is less than or equal to the amount due, and subtract it from the total. Repeat.</a:t>
            </a:r>
            <a:endParaRPr/>
          </a:p>
          <a:p>
            <a:pPr indent="-298450" lvl="1" marL="914400" rtl="0" algn="l">
              <a:spcBef>
                <a:spcPts val="0"/>
              </a:spcBef>
              <a:spcAft>
                <a:spcPts val="0"/>
              </a:spcAft>
              <a:buSzPts val="1100"/>
              <a:buChar char="○"/>
            </a:pPr>
            <a:r>
              <a:rPr lang="en"/>
              <a:t>Use the closest whole dollar amount.</a:t>
            </a:r>
            <a:endParaRPr/>
          </a:p>
          <a:p>
            <a:pPr indent="-298450" lvl="1" marL="914400" rtl="0" algn="l">
              <a:spcBef>
                <a:spcPts val="0"/>
              </a:spcBef>
              <a:spcAft>
                <a:spcPts val="0"/>
              </a:spcAft>
              <a:buSzPts val="1100"/>
              <a:buChar char="○"/>
            </a:pPr>
            <a:r>
              <a:rPr lang="en"/>
              <a:t>Make change only in pennies.</a:t>
            </a:r>
            <a:endParaRPr/>
          </a:p>
          <a:p>
            <a:pPr indent="-298450" lvl="1" marL="914400" rtl="0" algn="l">
              <a:spcBef>
                <a:spcPts val="0"/>
              </a:spcBef>
              <a:spcAft>
                <a:spcPts val="0"/>
              </a:spcAft>
              <a:buSzPts val="1100"/>
              <a:buChar char="○"/>
            </a:pPr>
            <a:r>
              <a:rPr lang="en"/>
              <a:t>etc.</a:t>
            </a:r>
            <a:endParaRPr/>
          </a:p>
          <a:p>
            <a:pPr indent="-311150" lvl="0" marL="457200" rtl="0" algn="l">
              <a:spcBef>
                <a:spcPts val="1000"/>
              </a:spcBef>
              <a:spcAft>
                <a:spcPts val="0"/>
              </a:spcAft>
              <a:buSzPts val="1300"/>
              <a:buChar char="●"/>
            </a:pPr>
            <a:r>
              <a:rPr lang="en"/>
              <a:t>An </a:t>
            </a:r>
            <a:r>
              <a:rPr b="1" i="1" lang="en">
                <a:solidFill>
                  <a:srgbClr val="FF0000"/>
                </a:solidFill>
              </a:rPr>
              <a:t>optimal </a:t>
            </a:r>
            <a:r>
              <a:rPr lang="en"/>
              <a:t>solution will meet a few simple goals:</a:t>
            </a:r>
            <a:endParaRPr/>
          </a:p>
          <a:p>
            <a:pPr indent="-298450" lvl="1" marL="914400" rtl="0" algn="l">
              <a:spcBef>
                <a:spcPts val="0"/>
              </a:spcBef>
              <a:spcAft>
                <a:spcPts val="0"/>
              </a:spcAft>
              <a:buSzPts val="1100"/>
              <a:buChar char="○"/>
            </a:pPr>
            <a:r>
              <a:rPr lang="en"/>
              <a:t>Give the customer the </a:t>
            </a:r>
            <a:r>
              <a:rPr b="1" i="1" lang="en">
                <a:solidFill>
                  <a:srgbClr val="FF0000"/>
                </a:solidFill>
              </a:rPr>
              <a:t>correct change</a:t>
            </a:r>
            <a:r>
              <a:rPr lang="en"/>
              <a:t>.</a:t>
            </a:r>
            <a:endParaRPr/>
          </a:p>
          <a:p>
            <a:pPr indent="-298450" lvl="1" marL="914400" rtl="0" algn="l">
              <a:spcBef>
                <a:spcPts val="0"/>
              </a:spcBef>
              <a:spcAft>
                <a:spcPts val="0"/>
              </a:spcAft>
              <a:buSzPts val="1100"/>
              <a:buChar char="○"/>
            </a:pPr>
            <a:r>
              <a:rPr lang="en"/>
              <a:t>Use the </a:t>
            </a:r>
            <a:r>
              <a:rPr b="1" i="1" lang="en">
                <a:solidFill>
                  <a:srgbClr val="FF0000"/>
                </a:solidFill>
              </a:rPr>
              <a:t>smallest number</a:t>
            </a:r>
            <a:r>
              <a:rPr b="1" i="1" lang="en"/>
              <a:t> </a:t>
            </a:r>
            <a:r>
              <a:rPr lang="en"/>
              <a:t>of bills and coins necessary.</a:t>
            </a:r>
            <a:endParaRPr/>
          </a:p>
          <a:p>
            <a:pPr indent="-298450" lvl="1" marL="914400" rtl="0" algn="l">
              <a:spcBef>
                <a:spcPts val="0"/>
              </a:spcBef>
              <a:spcAft>
                <a:spcPts val="0"/>
              </a:spcAft>
              <a:buSzPts val="1100"/>
              <a:buChar char="○"/>
            </a:pPr>
            <a:r>
              <a:rPr lang="en"/>
              <a:t>Determine the correct answer </a:t>
            </a:r>
            <a:r>
              <a:rPr b="1" i="1" lang="en">
                <a:solidFill>
                  <a:srgbClr val="FF0000"/>
                </a:solidFill>
              </a:rPr>
              <a:t>quickly</a:t>
            </a:r>
            <a:r>
              <a:rPr lang="en"/>
              <a:t>.</a:t>
            </a:r>
            <a:endParaRPr/>
          </a:p>
          <a:p>
            <a:pPr indent="-311150" lvl="0" marL="457200" rtl="0" algn="l">
              <a:spcBef>
                <a:spcPts val="1000"/>
              </a:spcBef>
              <a:spcAft>
                <a:spcPts val="0"/>
              </a:spcAft>
              <a:buSzPts val="1300"/>
              <a:buChar char="●"/>
            </a:pPr>
            <a:r>
              <a:rPr lang="en"/>
              <a:t>Which algorithm(s) if any meet these goals?</a:t>
            </a:r>
            <a:endParaRPr/>
          </a:p>
        </p:txBody>
      </p:sp>
      <p:sp>
        <p:nvSpPr>
          <p:cNvPr id="173" name="Google Shape;173;p26"/>
          <p:cNvSpPr txBox="1"/>
          <p:nvPr>
            <p:ph idx="3" type="body"/>
          </p:nvPr>
        </p:nvSpPr>
        <p:spPr>
          <a:xfrm>
            <a:off x="315425" y="29466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Remember, a </a:t>
            </a:r>
            <a:r>
              <a:rPr b="1" i="1" lang="en">
                <a:solidFill>
                  <a:srgbClr val="FF0000"/>
                </a:solidFill>
              </a:rPr>
              <a:t>greedy algorithm</a:t>
            </a:r>
            <a:r>
              <a:rPr lang="en">
                <a:solidFill>
                  <a:srgbClr val="FF0000"/>
                </a:solidFill>
              </a:rPr>
              <a:t> </a:t>
            </a:r>
            <a:r>
              <a:rPr lang="en"/>
              <a:t>makes the best possible choice at each step with whatever limited information is available.</a:t>
            </a:r>
            <a:endParaRPr/>
          </a:p>
        </p:txBody>
      </p:sp>
      <p:pic>
        <p:nvPicPr>
          <p:cNvPr id="174" name="Google Shape;174;p26"/>
          <p:cNvPicPr preferRelativeResize="0"/>
          <p:nvPr/>
        </p:nvPicPr>
        <p:blipFill>
          <a:blip r:embed="rId3">
            <a:alphaModFix/>
          </a:blip>
          <a:stretch>
            <a:fillRect/>
          </a:stretch>
        </p:blipFill>
        <p:spPr>
          <a:xfrm>
            <a:off x="315425" y="962404"/>
            <a:ext cx="3706505" cy="1841772"/>
          </a:xfrm>
          <a:prstGeom prst="rect">
            <a:avLst/>
          </a:prstGeom>
          <a:noFill/>
          <a:ln>
            <a:noFill/>
          </a:ln>
        </p:spPr>
      </p:pic>
      <p:sp>
        <p:nvSpPr>
          <p:cNvPr id="175" name="Google Shape;175;p26"/>
          <p:cNvSpPr txBox="1"/>
          <p:nvPr>
            <p:ph idx="3" type="body"/>
          </p:nvPr>
        </p:nvSpPr>
        <p:spPr>
          <a:xfrm>
            <a:off x="315425" y="37848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algorithm that chooses the </a:t>
            </a:r>
            <a:r>
              <a:rPr b="1" i="1" lang="en">
                <a:solidFill>
                  <a:srgbClr val="FF0000"/>
                </a:solidFill>
              </a:rPr>
              <a:t>largest</a:t>
            </a:r>
            <a:r>
              <a:rPr lang="en">
                <a:solidFill>
                  <a:srgbClr val="FF0000"/>
                </a:solidFill>
              </a:rPr>
              <a:t> </a:t>
            </a:r>
            <a:r>
              <a:rPr lang="en"/>
              <a:t>denomination that is</a:t>
            </a:r>
            <a:r>
              <a:rPr lang="en">
                <a:solidFill>
                  <a:srgbClr val="FF0000"/>
                </a:solidFill>
              </a:rPr>
              <a:t> </a:t>
            </a:r>
            <a:r>
              <a:rPr b="1" i="1" lang="en">
                <a:solidFill>
                  <a:srgbClr val="FF0000"/>
                </a:solidFill>
              </a:rPr>
              <a:t>less than or equal to</a:t>
            </a:r>
            <a:r>
              <a:rPr lang="en"/>
              <a:t> the amount due is an example of a greedy algorithm.</a:t>
            </a:r>
            <a:endParaRPr/>
          </a:p>
        </p:txBody>
      </p:sp>
      <p:sp>
        <p:nvSpPr>
          <p:cNvPr id="176" name="Google Shape;176;p26"/>
          <p:cNvSpPr txBox="1"/>
          <p:nvPr>
            <p:ph idx="3" type="body"/>
          </p:nvPr>
        </p:nvSpPr>
        <p:spPr>
          <a:xfrm>
            <a:off x="315425" y="4629936"/>
            <a:ext cx="3706500" cy="369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Does it also find the </a:t>
            </a:r>
            <a:r>
              <a:rPr b="1" i="1" lang="en">
                <a:solidFill>
                  <a:srgbClr val="FF0000"/>
                </a:solidFill>
              </a:rPr>
              <a:t>optimal </a:t>
            </a:r>
            <a:r>
              <a:rPr lang="en"/>
              <a:t>answer?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27"/>
          <p:cNvPicPr preferRelativeResize="0"/>
          <p:nvPr/>
        </p:nvPicPr>
        <p:blipFill>
          <a:blip r:embed="rId3">
            <a:alphaModFix/>
          </a:blip>
          <a:stretch>
            <a:fillRect/>
          </a:stretch>
        </p:blipFill>
        <p:spPr>
          <a:xfrm>
            <a:off x="116275" y="1954825"/>
            <a:ext cx="2922652" cy="1644475"/>
          </a:xfrm>
          <a:prstGeom prst="rect">
            <a:avLst/>
          </a:prstGeom>
          <a:noFill/>
          <a:ln>
            <a:noFill/>
          </a:ln>
        </p:spPr>
      </p:pic>
      <p:sp>
        <p:nvSpPr>
          <p:cNvPr id="182" name="Google Shape;182;p2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Making Change</a:t>
            </a:r>
            <a:endParaRPr/>
          </a:p>
        </p:txBody>
      </p:sp>
      <p:sp>
        <p:nvSpPr>
          <p:cNvPr id="183" name="Google Shape;183;p27"/>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Now it's your turn to practice writing pseudocode. </a:t>
            </a:r>
            <a:r>
              <a:rPr lang="en"/>
              <a:t>Sketch out a greedy change-making algorithm using comments before you try to implement it in the next activity.</a:t>
            </a:r>
            <a:endParaRPr/>
          </a:p>
        </p:txBody>
      </p:sp>
      <p:sp>
        <p:nvSpPr>
          <p:cNvPr id="184" name="Google Shape;184;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2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.2</a:t>
            </a:r>
            <a:endParaRPr/>
          </a:p>
        </p:txBody>
      </p:sp>
      <p:sp>
        <p:nvSpPr>
          <p:cNvPr id="186" name="Google Shape;186;p27"/>
          <p:cNvSpPr/>
          <p:nvPr/>
        </p:nvSpPr>
        <p:spPr>
          <a:xfrm>
            <a:off x="427525" y="1579925"/>
            <a:ext cx="1556700" cy="503700"/>
          </a:xfrm>
          <a:prstGeom prst="wedgeRoundRectCallout">
            <a:avLst>
              <a:gd fmla="val -30671" name="adj1"/>
              <a:gd fmla="val 75550" name="adj2"/>
              <a:gd fmla="val 0" name="adj3"/>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 would like some beef jerky and a Diet Coke.</a:t>
            </a:r>
            <a:endParaRPr sz="1000"/>
          </a:p>
        </p:txBody>
      </p:sp>
      <p:sp>
        <p:nvSpPr>
          <p:cNvPr id="187" name="Google Shape;187;p27"/>
          <p:cNvSpPr txBox="1"/>
          <p:nvPr/>
        </p:nvSpPr>
        <p:spPr>
          <a:xfrm>
            <a:off x="167975" y="3653050"/>
            <a:ext cx="27948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b="1" i="1" lang="en" sz="1200">
                <a:solidFill>
                  <a:srgbClr val="FF0000"/>
                </a:solidFill>
              </a:rPr>
              <a:t>greedy</a:t>
            </a:r>
            <a:r>
              <a:rPr lang="en" sz="1200">
                <a:solidFill>
                  <a:srgbClr val="FF0000"/>
                </a:solidFill>
              </a:rPr>
              <a:t> </a:t>
            </a:r>
            <a:r>
              <a:rPr lang="en" sz="1200"/>
              <a:t>change making algorithm always picks the biggest denomination that will "fit" and subtracts it from the total.</a:t>
            </a:r>
            <a:endParaRPr sz="1200"/>
          </a:p>
        </p:txBody>
      </p:sp>
      <p:sp>
        <p:nvSpPr>
          <p:cNvPr id="188" name="Google Shape;188;p27"/>
          <p:cNvSpPr txBox="1"/>
          <p:nvPr>
            <p:ph idx="2" type="body"/>
          </p:nvPr>
        </p:nvSpPr>
        <p:spPr>
          <a:xfrm>
            <a:off x="3038925" y="1555925"/>
            <a:ext cx="5826000" cy="30624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Take a few moments to examine the </a:t>
            </a:r>
            <a:r>
              <a:rPr lang="en">
                <a:latin typeface="Courier New"/>
                <a:ea typeface="Courier New"/>
                <a:cs typeface="Courier New"/>
                <a:sym typeface="Courier New"/>
              </a:rPr>
              <a:t>Currency</a:t>
            </a:r>
            <a:r>
              <a:rPr lang="en"/>
              <a:t> </a:t>
            </a:r>
            <a:r>
              <a:rPr lang="en">
                <a:latin typeface="Courier New"/>
                <a:ea typeface="Courier New"/>
                <a:cs typeface="Courier New"/>
                <a:sym typeface="Courier New"/>
              </a:rPr>
              <a:t>enum</a:t>
            </a:r>
            <a:r>
              <a:rPr lang="en"/>
              <a:t> that has been provided to you.</a:t>
            </a:r>
            <a:endParaRPr/>
          </a:p>
          <a:p>
            <a:pPr indent="-298450" lvl="1" marL="914400" rtl="0" algn="l">
              <a:spcBef>
                <a:spcPts val="0"/>
              </a:spcBef>
              <a:spcAft>
                <a:spcPts val="0"/>
              </a:spcAft>
              <a:buSzPts val="1100"/>
              <a:buChar char="○"/>
            </a:pPr>
            <a:r>
              <a:rPr lang="en"/>
              <a:t>Your algorithm should return a </a:t>
            </a:r>
            <a:r>
              <a:rPr lang="en">
                <a:solidFill>
                  <a:srgbClr val="FF0000"/>
                </a:solidFill>
                <a:latin typeface="Courier New"/>
                <a:ea typeface="Courier New"/>
                <a:cs typeface="Courier New"/>
                <a:sym typeface="Courier New"/>
              </a:rPr>
              <a:t>List</a:t>
            </a:r>
            <a:r>
              <a:rPr lang="en">
                <a:solidFill>
                  <a:srgbClr val="FF0000"/>
                </a:solidFill>
              </a:rPr>
              <a:t> </a:t>
            </a:r>
            <a:r>
              <a:rPr b="1" i="1" lang="en">
                <a:solidFill>
                  <a:srgbClr val="FF0000"/>
                </a:solidFill>
              </a:rPr>
              <a:t>of</a:t>
            </a:r>
            <a:r>
              <a:rPr lang="en">
                <a:solidFill>
                  <a:srgbClr val="FF0000"/>
                </a:solidFill>
              </a:rPr>
              <a:t> </a:t>
            </a:r>
            <a:r>
              <a:rPr lang="en">
                <a:solidFill>
                  <a:srgbClr val="FF0000"/>
                </a:solidFill>
                <a:latin typeface="Courier New"/>
                <a:ea typeface="Courier New"/>
                <a:cs typeface="Courier New"/>
                <a:sym typeface="Courier New"/>
              </a:rPr>
              <a:t>Currency</a:t>
            </a:r>
            <a:r>
              <a:rPr lang="en"/>
              <a:t> that sums to the correct amount of change.</a:t>
            </a:r>
            <a:endParaRPr/>
          </a:p>
          <a:p>
            <a:pPr indent="-298450" lvl="1" marL="914400" rtl="0" algn="l">
              <a:spcBef>
                <a:spcPts val="0"/>
              </a:spcBef>
              <a:spcAft>
                <a:spcPts val="0"/>
              </a:spcAft>
              <a:buSzPts val="1100"/>
              <a:buChar char="○"/>
            </a:pPr>
            <a:r>
              <a:rPr lang="en"/>
              <a:t>For example, if </a:t>
            </a:r>
            <a:r>
              <a:rPr lang="en">
                <a:solidFill>
                  <a:srgbClr val="FF0000"/>
                </a:solidFill>
                <a:latin typeface="Courier New"/>
                <a:ea typeface="Courier New"/>
                <a:cs typeface="Courier New"/>
                <a:sym typeface="Courier New"/>
              </a:rPr>
              <a:t>$2.26</a:t>
            </a:r>
            <a:r>
              <a:rPr lang="en"/>
              <a:t> was the change due back to the customer, your algorithm should return </a:t>
            </a:r>
            <a:r>
              <a:rPr lang="en">
                <a:solidFill>
                  <a:srgbClr val="FF0000"/>
                </a:solidFill>
                <a:latin typeface="Courier New"/>
                <a:ea typeface="Courier New"/>
                <a:cs typeface="Courier New"/>
                <a:sym typeface="Courier New"/>
              </a:rPr>
              <a:t>[DOLLAR, DOLLAR, QUARTER, PENNY]</a:t>
            </a:r>
            <a:endParaRPr>
              <a:solidFill>
                <a:srgbClr val="FF0000"/>
              </a:solidFill>
              <a:latin typeface="Courier New"/>
              <a:ea typeface="Courier New"/>
              <a:cs typeface="Courier New"/>
              <a:sym typeface="Courier New"/>
            </a:endParaRPr>
          </a:p>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Greedy</a:t>
            </a:r>
            <a:r>
              <a:rPr lang="en"/>
              <a:t>"</a:t>
            </a:r>
            <a:r>
              <a:rPr lang="en"/>
              <a:t> and </a:t>
            </a:r>
            <a:r>
              <a:rPr lang="en"/>
              <a:t>define a method</a:t>
            </a:r>
            <a:r>
              <a:rPr lang="en"/>
              <a:t> called "</a:t>
            </a:r>
            <a:r>
              <a:rPr lang="en">
                <a:solidFill>
                  <a:srgbClr val="FF0000"/>
                </a:solidFill>
                <a:latin typeface="Courier New"/>
                <a:ea typeface="Courier New"/>
                <a:cs typeface="Courier New"/>
                <a:sym typeface="Courier New"/>
              </a:rPr>
              <a:t>makeChange</a:t>
            </a:r>
            <a:r>
              <a:rPr lang="en"/>
              <a:t>" that declares </a:t>
            </a:r>
            <a:r>
              <a:rPr lang="en">
                <a:solidFill>
                  <a:srgbClr val="FF0000"/>
                </a:solidFill>
                <a:latin typeface="Courier New"/>
                <a:ea typeface="Courier New"/>
                <a:cs typeface="Courier New"/>
                <a:sym typeface="Courier New"/>
              </a:rPr>
              <a:t>double</a:t>
            </a:r>
            <a:r>
              <a:rPr lang="en">
                <a:solidFill>
                  <a:srgbClr val="FF0000"/>
                </a:solidFill>
              </a:rPr>
              <a:t> </a:t>
            </a:r>
            <a:r>
              <a:rPr lang="en"/>
              <a:t>parameters for </a:t>
            </a:r>
            <a:r>
              <a:rPr lang="en">
                <a:solidFill>
                  <a:srgbClr val="FF0000"/>
                </a:solidFill>
                <a:latin typeface="Courier New"/>
                <a:ea typeface="Courier New"/>
                <a:cs typeface="Courier New"/>
                <a:sym typeface="Courier New"/>
              </a:rPr>
              <a:t>price</a:t>
            </a:r>
            <a:r>
              <a:rPr lang="en">
                <a:solidFill>
                  <a:srgbClr val="FF0000"/>
                </a:solidFill>
              </a:rPr>
              <a:t> </a:t>
            </a:r>
            <a:r>
              <a:rPr lang="en"/>
              <a:t>and </a:t>
            </a:r>
            <a:r>
              <a:rPr lang="en">
                <a:solidFill>
                  <a:srgbClr val="FF0000"/>
                </a:solidFill>
                <a:latin typeface="Courier New"/>
                <a:ea typeface="Courier New"/>
                <a:cs typeface="Courier New"/>
                <a:sym typeface="Courier New"/>
              </a:rPr>
              <a:t>payment</a:t>
            </a:r>
            <a:r>
              <a:rPr lang="en"/>
              <a:t>. It should return a </a:t>
            </a:r>
            <a:r>
              <a:rPr lang="en">
                <a:solidFill>
                  <a:srgbClr val="FF0000"/>
                </a:solidFill>
                <a:latin typeface="Courier New"/>
                <a:ea typeface="Courier New"/>
                <a:cs typeface="Courier New"/>
                <a:sym typeface="Courier New"/>
              </a:rPr>
              <a:t>List</a:t>
            </a:r>
            <a:r>
              <a:rPr lang="en">
                <a:solidFill>
                  <a:srgbClr val="FF0000"/>
                </a:solidFill>
              </a:rPr>
              <a:t> </a:t>
            </a:r>
            <a:r>
              <a:rPr b="1" i="1" lang="en">
                <a:solidFill>
                  <a:srgbClr val="FF0000"/>
                </a:solidFill>
              </a:rPr>
              <a:t>of </a:t>
            </a:r>
            <a:r>
              <a:rPr lang="en">
                <a:solidFill>
                  <a:srgbClr val="FF0000"/>
                </a:solidFill>
                <a:latin typeface="Courier New"/>
                <a:ea typeface="Courier New"/>
                <a:cs typeface="Courier New"/>
                <a:sym typeface="Courier New"/>
              </a:rPr>
              <a:t>Currency</a:t>
            </a:r>
            <a:r>
              <a:rPr lang="en"/>
              <a:t>.</a:t>
            </a:r>
            <a:endParaRPr/>
          </a:p>
          <a:p>
            <a:pPr indent="-298450" lvl="1" marL="914400" rtl="0" algn="l">
              <a:spcBef>
                <a:spcPts val="0"/>
              </a:spcBef>
              <a:spcAft>
                <a:spcPts val="0"/>
              </a:spcAft>
              <a:buSzPts val="1100"/>
              <a:buChar char="○"/>
            </a:pPr>
            <a:r>
              <a:rPr lang="en"/>
              <a:t>The </a:t>
            </a:r>
            <a:r>
              <a:rPr lang="en">
                <a:latin typeface="Courier New"/>
                <a:ea typeface="Courier New"/>
                <a:cs typeface="Courier New"/>
                <a:sym typeface="Courier New"/>
              </a:rPr>
              <a:t>price</a:t>
            </a:r>
            <a:r>
              <a:rPr lang="en"/>
              <a:t> represents the total cost of the items the customer wants to purchase, and the </a:t>
            </a:r>
            <a:r>
              <a:rPr lang="en">
                <a:latin typeface="Courier New"/>
                <a:ea typeface="Courier New"/>
                <a:cs typeface="Courier New"/>
                <a:sym typeface="Courier New"/>
              </a:rPr>
              <a:t>payment</a:t>
            </a:r>
            <a:r>
              <a:rPr lang="en"/>
              <a:t> indicates how much money they are paying.</a:t>
            </a:r>
            <a:endParaRPr/>
          </a:p>
          <a:p>
            <a:pPr indent="-298450" lvl="1" marL="914400" rtl="0" algn="l">
              <a:spcBef>
                <a:spcPts val="0"/>
              </a:spcBef>
              <a:spcAft>
                <a:spcPts val="0"/>
              </a:spcAft>
              <a:buSzPts val="1100"/>
              <a:buChar char="○"/>
            </a:pPr>
            <a:r>
              <a:rPr lang="en"/>
              <a:t>Using </a:t>
            </a:r>
            <a:r>
              <a:rPr b="1" i="1" lang="en">
                <a:solidFill>
                  <a:srgbClr val="FF0000"/>
                </a:solidFill>
              </a:rPr>
              <a:t>inline comments</a:t>
            </a:r>
            <a:r>
              <a:rPr lang="en"/>
              <a:t>, sketch out a</a:t>
            </a:r>
            <a:r>
              <a:rPr lang="en">
                <a:solidFill>
                  <a:srgbClr val="FF0000"/>
                </a:solidFill>
              </a:rPr>
              <a:t> </a:t>
            </a:r>
            <a:r>
              <a:rPr b="1" i="1" lang="en">
                <a:solidFill>
                  <a:srgbClr val="FF0000"/>
                </a:solidFill>
              </a:rPr>
              <a:t>greedy algorithm</a:t>
            </a:r>
            <a:r>
              <a:rPr lang="en"/>
              <a:t> for computing the correct change to return to the customer in pseudocode.</a:t>
            </a:r>
            <a:endParaRPr/>
          </a:p>
          <a:p>
            <a:pPr indent="-298450" lvl="1" marL="914400" rtl="0" algn="l">
              <a:spcBef>
                <a:spcPts val="0"/>
              </a:spcBef>
              <a:spcAft>
                <a:spcPts val="0"/>
              </a:spcAft>
              <a:buSzPts val="1100"/>
              <a:buChar char="○"/>
            </a:pPr>
            <a:r>
              <a:rPr lang="en"/>
              <a:t>When you have finished outlining your algorithm, </a:t>
            </a:r>
            <a:r>
              <a:rPr b="1" i="1" lang="en">
                <a:solidFill>
                  <a:srgbClr val="FF0000"/>
                </a:solidFill>
              </a:rPr>
              <a:t>commit</a:t>
            </a:r>
            <a:r>
              <a:rPr lang="en"/>
              <a:t> your code.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28"/>
          <p:cNvPicPr preferRelativeResize="0"/>
          <p:nvPr/>
        </p:nvPicPr>
        <p:blipFill>
          <a:blip r:embed="rId3">
            <a:alphaModFix/>
          </a:blip>
          <a:stretch>
            <a:fillRect/>
          </a:stretch>
        </p:blipFill>
        <p:spPr>
          <a:xfrm>
            <a:off x="192475" y="2335825"/>
            <a:ext cx="2922652" cy="1644475"/>
          </a:xfrm>
          <a:prstGeom prst="rect">
            <a:avLst/>
          </a:prstGeom>
          <a:noFill/>
          <a:ln>
            <a:noFill/>
          </a:ln>
        </p:spPr>
      </p:pic>
      <p:sp>
        <p:nvSpPr>
          <p:cNvPr id="194" name="Google Shape;194;p2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Implementing </a:t>
            </a:r>
            <a:r>
              <a:rPr lang="en"/>
              <a:t>Change</a:t>
            </a:r>
            <a:endParaRPr/>
          </a:p>
        </p:txBody>
      </p:sp>
      <p:sp>
        <p:nvSpPr>
          <p:cNvPr id="195" name="Google Shape;195;p2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Once you are reasonably certain that you have sketched out a sufficiently detailed change-making algorithm, go ahead and try to implement it in Java. Translate each of your pseudocode comments into one or more Java statements. Does it work?</a:t>
            </a:r>
            <a:endParaRPr/>
          </a:p>
        </p:txBody>
      </p:sp>
      <p:sp>
        <p:nvSpPr>
          <p:cNvPr id="196" name="Google Shape;19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2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.3</a:t>
            </a:r>
            <a:endParaRPr/>
          </a:p>
        </p:txBody>
      </p:sp>
      <p:sp>
        <p:nvSpPr>
          <p:cNvPr id="198" name="Google Shape;198;p28"/>
          <p:cNvSpPr/>
          <p:nvPr/>
        </p:nvSpPr>
        <p:spPr>
          <a:xfrm>
            <a:off x="503725" y="1796375"/>
            <a:ext cx="1741800" cy="668100"/>
          </a:xfrm>
          <a:prstGeom prst="wedgeRoundRectCallout">
            <a:avLst>
              <a:gd fmla="val 19898" name="adj1"/>
              <a:gd fmla="val 70416" name="adj2"/>
              <a:gd fmla="val 0" name="adj3"/>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Thank you for shopping at Crossroads. Your total is $1,347.86.</a:t>
            </a:r>
            <a:endParaRPr sz="1000"/>
          </a:p>
        </p:txBody>
      </p:sp>
      <p:sp>
        <p:nvSpPr>
          <p:cNvPr id="199" name="Google Shape;199;p28"/>
          <p:cNvSpPr txBox="1"/>
          <p:nvPr/>
        </p:nvSpPr>
        <p:spPr>
          <a:xfrm>
            <a:off x="244175" y="4034050"/>
            <a:ext cx="27948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b="1" i="1" lang="en" sz="1200">
                <a:solidFill>
                  <a:srgbClr val="FF0000"/>
                </a:solidFill>
              </a:rPr>
              <a:t>greedy</a:t>
            </a:r>
            <a:r>
              <a:rPr lang="en" sz="1200">
                <a:solidFill>
                  <a:srgbClr val="FF0000"/>
                </a:solidFill>
              </a:rPr>
              <a:t> </a:t>
            </a:r>
            <a:r>
              <a:rPr lang="en" sz="1200"/>
              <a:t>change making algorithm always picks the biggest denomination that will "fit" and subtracts it from the total.</a:t>
            </a:r>
            <a:endParaRPr sz="1200"/>
          </a:p>
        </p:txBody>
      </p:sp>
      <p:sp>
        <p:nvSpPr>
          <p:cNvPr id="200" name="Google Shape;200;p28"/>
          <p:cNvSpPr txBox="1"/>
          <p:nvPr>
            <p:ph idx="2" type="body"/>
          </p:nvPr>
        </p:nvSpPr>
        <p:spPr>
          <a:xfrm>
            <a:off x="3181950" y="1757725"/>
            <a:ext cx="5751600" cy="24888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the </a:t>
            </a:r>
            <a:r>
              <a:rPr lang="en" sz="1600">
                <a:latin typeface="Courier New"/>
                <a:ea typeface="Courier New"/>
                <a:cs typeface="Courier New"/>
                <a:sym typeface="Courier New"/>
              </a:rPr>
              <a:t>Greedy</a:t>
            </a:r>
            <a:r>
              <a:rPr lang="en" sz="1600"/>
              <a:t> class and navigate to the </a:t>
            </a:r>
            <a:r>
              <a:rPr lang="en" sz="1600">
                <a:solidFill>
                  <a:srgbClr val="FF0000"/>
                </a:solidFill>
                <a:latin typeface="Courier New"/>
                <a:ea typeface="Courier New"/>
                <a:cs typeface="Courier New"/>
                <a:sym typeface="Courier New"/>
              </a:rPr>
              <a:t>makeChange</a:t>
            </a:r>
            <a:r>
              <a:rPr lang="en" sz="1600"/>
              <a:t> method.</a:t>
            </a:r>
            <a:endParaRPr sz="1600"/>
          </a:p>
          <a:p>
            <a:pPr indent="-317500" lvl="1" marL="914400" rtl="0" algn="l">
              <a:spcBef>
                <a:spcPts val="0"/>
              </a:spcBef>
              <a:spcAft>
                <a:spcPts val="0"/>
              </a:spcAft>
              <a:buSzPts val="1400"/>
              <a:buChar char="○"/>
            </a:pPr>
            <a:r>
              <a:rPr lang="en" sz="1400"/>
              <a:t>Implement each of the steps in your algorithm using Java statements.</a:t>
            </a:r>
            <a:endParaRPr sz="1400"/>
          </a:p>
          <a:p>
            <a:pPr indent="-317500" lvl="1" marL="914400" rtl="0" algn="l">
              <a:spcBef>
                <a:spcPts val="0"/>
              </a:spcBef>
              <a:spcAft>
                <a:spcPts val="0"/>
              </a:spcAft>
              <a:buSzPts val="1400"/>
              <a:buChar char="○"/>
            </a:pPr>
            <a:r>
              <a:rPr lang="en" sz="1400"/>
              <a:t>You should ultimately return a </a:t>
            </a:r>
            <a:r>
              <a:rPr lang="en" sz="1400">
                <a:latin typeface="Courier New"/>
                <a:ea typeface="Courier New"/>
                <a:cs typeface="Courier New"/>
                <a:sym typeface="Courier New"/>
              </a:rPr>
              <a:t>List</a:t>
            </a:r>
            <a:r>
              <a:rPr lang="en" sz="1400"/>
              <a:t> of </a:t>
            </a:r>
            <a:r>
              <a:rPr lang="en" sz="1400">
                <a:latin typeface="Courier New"/>
                <a:ea typeface="Courier New"/>
                <a:cs typeface="Courier New"/>
                <a:sym typeface="Courier New"/>
              </a:rPr>
              <a:t>Currency</a:t>
            </a:r>
            <a:r>
              <a:rPr lang="en" sz="1400"/>
              <a:t>.</a:t>
            </a:r>
            <a:endParaRPr sz="1400"/>
          </a:p>
          <a:p>
            <a:pPr indent="-330200" lvl="0" marL="457200" rtl="0" algn="l">
              <a:spcBef>
                <a:spcPts val="0"/>
              </a:spcBef>
              <a:spcAft>
                <a:spcPts val="0"/>
              </a:spcAft>
              <a:buSzPts val="1600"/>
              <a:buChar char="●"/>
            </a:pPr>
            <a:r>
              <a:rPr lang="en" sz="1600"/>
              <a:t>Define a </a:t>
            </a:r>
            <a:r>
              <a:rPr lang="en" sz="1600">
                <a:solidFill>
                  <a:srgbClr val="FF0000"/>
                </a:solidFill>
                <a:latin typeface="Courier New"/>
                <a:ea typeface="Courier New"/>
                <a:cs typeface="Courier New"/>
                <a:sym typeface="Courier New"/>
              </a:rPr>
              <a:t>main</a:t>
            </a:r>
            <a:r>
              <a:rPr lang="en" sz="1600">
                <a:solidFill>
                  <a:srgbClr val="FF0000"/>
                </a:solidFill>
              </a:rPr>
              <a:t> </a:t>
            </a:r>
            <a:r>
              <a:rPr lang="en" sz="1600"/>
              <a:t>method with the appropriate signature.</a:t>
            </a:r>
            <a:endParaRPr sz="1600"/>
          </a:p>
          <a:p>
            <a:pPr indent="-317500" lvl="1" marL="914400" rtl="0" algn="l">
              <a:spcBef>
                <a:spcPts val="0"/>
              </a:spcBef>
              <a:spcAft>
                <a:spcPts val="0"/>
              </a:spcAft>
              <a:buSzPts val="1400"/>
              <a:buChar char="○"/>
            </a:pPr>
            <a:r>
              <a:rPr b="1" i="1" lang="en" sz="1400">
                <a:solidFill>
                  <a:srgbClr val="FF0000"/>
                </a:solidFill>
              </a:rPr>
              <a:t>Test</a:t>
            </a:r>
            <a:r>
              <a:rPr lang="en" sz="1400">
                <a:solidFill>
                  <a:srgbClr val="FF0000"/>
                </a:solidFill>
              </a:rPr>
              <a:t> </a:t>
            </a:r>
            <a:r>
              <a:rPr lang="en" sz="1400"/>
              <a:t>the </a:t>
            </a:r>
            <a:r>
              <a:rPr lang="en" sz="1400">
                <a:latin typeface="Courier New"/>
                <a:ea typeface="Courier New"/>
                <a:cs typeface="Courier New"/>
                <a:sym typeface="Courier New"/>
              </a:rPr>
              <a:t>makeChange</a:t>
            </a:r>
            <a:r>
              <a:rPr lang="en" sz="1400"/>
              <a:t> method with several combinations of prices and payments. </a:t>
            </a:r>
            <a:endParaRPr sz="1400"/>
          </a:p>
          <a:p>
            <a:pPr indent="-317500" lvl="1" marL="914400" rtl="0" algn="l">
              <a:spcBef>
                <a:spcPts val="0"/>
              </a:spcBef>
              <a:spcAft>
                <a:spcPts val="0"/>
              </a:spcAft>
              <a:buSzPts val="1400"/>
              <a:buChar char="○"/>
            </a:pPr>
            <a:r>
              <a:rPr b="1" i="1" lang="en" sz="1400">
                <a:solidFill>
                  <a:srgbClr val="FF0000"/>
                </a:solidFill>
              </a:rPr>
              <a:t>Print </a:t>
            </a:r>
            <a:r>
              <a:rPr lang="en" sz="1400"/>
              <a:t>the results of each test to standard output.</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9"/>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06" name="Google Shape;206;p29"/>
          <p:cNvSpPr txBox="1"/>
          <p:nvPr>
            <p:ph type="title"/>
          </p:nvPr>
        </p:nvSpPr>
        <p:spPr>
          <a:xfrm>
            <a:off x="51885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The Knapsack Problem</a:t>
            </a:r>
            <a:endParaRPr sz="2400"/>
          </a:p>
        </p:txBody>
      </p:sp>
      <p:sp>
        <p:nvSpPr>
          <p:cNvPr id="207" name="Google Shape;207;p29"/>
          <p:cNvSpPr txBox="1"/>
          <p:nvPr>
            <p:ph idx="1" type="body"/>
          </p:nvPr>
        </p:nvSpPr>
        <p:spPr>
          <a:xfrm>
            <a:off x="299800" y="119925"/>
            <a:ext cx="4396500" cy="48810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The greedy change-making algorithm makes a </a:t>
            </a:r>
            <a:r>
              <a:rPr b="1" i="1" lang="en">
                <a:solidFill>
                  <a:srgbClr val="FF0000"/>
                </a:solidFill>
              </a:rPr>
              <a:t>locally optimal</a:t>
            </a:r>
            <a:r>
              <a:rPr lang="en"/>
              <a:t> decision with each iteration:</a:t>
            </a:r>
            <a:endParaRPr/>
          </a:p>
          <a:p>
            <a:pPr indent="-298450" lvl="1" marL="914400" rtl="0" algn="l">
              <a:spcBef>
                <a:spcPts val="0"/>
              </a:spcBef>
              <a:spcAft>
                <a:spcPts val="0"/>
              </a:spcAft>
              <a:buSzPts val="1100"/>
              <a:buChar char="○"/>
            </a:pPr>
            <a:r>
              <a:rPr lang="en"/>
              <a:t>"What is the largest bill or coin that is less than the current amount due?"</a:t>
            </a:r>
            <a:endParaRPr/>
          </a:p>
          <a:p>
            <a:pPr indent="-311150" lvl="0" marL="457200" rtl="0" algn="l">
              <a:spcBef>
                <a:spcPts val="1000"/>
              </a:spcBef>
              <a:spcAft>
                <a:spcPts val="0"/>
              </a:spcAft>
              <a:buSzPts val="1300"/>
              <a:buChar char="●"/>
            </a:pPr>
            <a:r>
              <a:rPr lang="en"/>
              <a:t>Such decisions are </a:t>
            </a:r>
            <a:r>
              <a:rPr b="1" i="1" lang="en">
                <a:solidFill>
                  <a:srgbClr val="FF0000"/>
                </a:solidFill>
              </a:rPr>
              <a:t>quick and easy</a:t>
            </a:r>
            <a:r>
              <a:rPr lang="en"/>
              <a:t> to make, but are based on</a:t>
            </a:r>
            <a:r>
              <a:rPr lang="en">
                <a:solidFill>
                  <a:srgbClr val="FF0000"/>
                </a:solidFill>
              </a:rPr>
              <a:t> </a:t>
            </a:r>
            <a:r>
              <a:rPr b="1" i="1" lang="en">
                <a:solidFill>
                  <a:srgbClr val="FF0000"/>
                </a:solidFill>
              </a:rPr>
              <a:t>limited information</a:t>
            </a:r>
            <a:r>
              <a:rPr lang="en"/>
              <a:t>.</a:t>
            </a:r>
            <a:endParaRPr/>
          </a:p>
          <a:p>
            <a:pPr indent="-298450" lvl="1" marL="914400" rtl="0" algn="l">
              <a:spcBef>
                <a:spcPts val="0"/>
              </a:spcBef>
              <a:spcAft>
                <a:spcPts val="0"/>
              </a:spcAft>
              <a:buSzPts val="1100"/>
              <a:buChar char="○"/>
            </a:pPr>
            <a:r>
              <a:rPr lang="en"/>
              <a:t>No memory of what has come before.</a:t>
            </a:r>
            <a:endParaRPr/>
          </a:p>
          <a:p>
            <a:pPr indent="-298450" lvl="1" marL="914400" rtl="0" algn="l">
              <a:spcBef>
                <a:spcPts val="0"/>
              </a:spcBef>
              <a:spcAft>
                <a:spcPts val="0"/>
              </a:spcAft>
              <a:buSzPts val="1100"/>
              <a:buChar char="○"/>
            </a:pPr>
            <a:r>
              <a:rPr lang="en"/>
              <a:t>No idea what is coming next.</a:t>
            </a:r>
            <a:endParaRPr/>
          </a:p>
          <a:p>
            <a:pPr indent="-311150" lvl="0" marL="457200" rtl="0" algn="l">
              <a:spcBef>
                <a:spcPts val="1000"/>
              </a:spcBef>
              <a:spcAft>
                <a:spcPts val="0"/>
              </a:spcAft>
              <a:buSzPts val="1300"/>
              <a:buChar char="●"/>
            </a:pPr>
            <a:r>
              <a:rPr b="1" i="1" lang="en">
                <a:solidFill>
                  <a:srgbClr val="FF0000"/>
                </a:solidFill>
              </a:rPr>
              <a:t>Sometimes</a:t>
            </a:r>
            <a:r>
              <a:rPr lang="en">
                <a:solidFill>
                  <a:srgbClr val="FF0000"/>
                </a:solidFill>
              </a:rPr>
              <a:t> </a:t>
            </a:r>
            <a:r>
              <a:rPr lang="en"/>
              <a:t>making the locally optimal decision results in a solution that is also </a:t>
            </a:r>
            <a:r>
              <a:rPr b="1" i="1" lang="en">
                <a:solidFill>
                  <a:srgbClr val="FF0000"/>
                </a:solidFill>
              </a:rPr>
              <a:t>globally optimal</a:t>
            </a:r>
            <a:r>
              <a:rPr lang="en"/>
              <a:t>.</a:t>
            </a:r>
            <a:endParaRPr/>
          </a:p>
          <a:p>
            <a:pPr indent="-298450" lvl="1" marL="914400" rtl="0" algn="l">
              <a:spcBef>
                <a:spcPts val="0"/>
              </a:spcBef>
              <a:spcAft>
                <a:spcPts val="0"/>
              </a:spcAft>
              <a:buSzPts val="1100"/>
              <a:buChar char="○"/>
            </a:pPr>
            <a:r>
              <a:rPr lang="en"/>
              <a:t>This is the case with the change-making algorithm, which quickly comes up with the best possible answer.</a:t>
            </a:r>
            <a:endParaRPr/>
          </a:p>
          <a:p>
            <a:pPr indent="-298450" lvl="1" marL="914400" rtl="0" algn="l">
              <a:spcBef>
                <a:spcPts val="0"/>
              </a:spcBef>
              <a:spcAft>
                <a:spcPts val="0"/>
              </a:spcAft>
              <a:buSzPts val="1100"/>
              <a:buChar char="○"/>
            </a:pPr>
            <a:r>
              <a:rPr lang="en"/>
              <a:t>But this isn't always the case!</a:t>
            </a:r>
            <a:endParaRPr/>
          </a:p>
          <a:p>
            <a:pPr indent="-311150" lvl="0" marL="457200" rtl="0" algn="l">
              <a:spcBef>
                <a:spcPts val="1000"/>
              </a:spcBef>
              <a:spcAft>
                <a:spcPts val="0"/>
              </a:spcAft>
              <a:buSzPts val="1300"/>
              <a:buChar char="●"/>
            </a:pPr>
            <a:r>
              <a:rPr lang="en"/>
              <a:t>Consider the</a:t>
            </a:r>
            <a:r>
              <a:rPr b="1" i="1" lang="en"/>
              <a:t> </a:t>
            </a:r>
            <a:r>
              <a:rPr b="1" i="1" lang="en">
                <a:solidFill>
                  <a:srgbClr val="FF0000"/>
                </a:solidFill>
              </a:rPr>
              <a:t>Knapsack Problem</a:t>
            </a:r>
            <a:r>
              <a:rPr lang="en"/>
              <a:t>.</a:t>
            </a:r>
            <a:endParaRPr/>
          </a:p>
          <a:p>
            <a:pPr indent="-298450" lvl="1" marL="914400" rtl="0" algn="l">
              <a:spcBef>
                <a:spcPts val="0"/>
              </a:spcBef>
              <a:spcAft>
                <a:spcPts val="0"/>
              </a:spcAft>
              <a:buSzPts val="1100"/>
              <a:buChar char="○"/>
            </a:pPr>
            <a:r>
              <a:rPr lang="en"/>
              <a:t>A </a:t>
            </a:r>
            <a:r>
              <a:rPr b="1" i="1" lang="en">
                <a:solidFill>
                  <a:srgbClr val="FF0000"/>
                </a:solidFill>
              </a:rPr>
              <a:t>knapsack</a:t>
            </a:r>
            <a:r>
              <a:rPr lang="en">
                <a:solidFill>
                  <a:srgbClr val="FF0000"/>
                </a:solidFill>
              </a:rPr>
              <a:t> </a:t>
            </a:r>
            <a:r>
              <a:rPr lang="en"/>
              <a:t>has a </a:t>
            </a:r>
            <a:r>
              <a:rPr b="1" i="1" lang="en">
                <a:solidFill>
                  <a:srgbClr val="FF0000"/>
                </a:solidFill>
              </a:rPr>
              <a:t>maximum weight capacity</a:t>
            </a:r>
            <a:r>
              <a:rPr lang="en"/>
              <a:t> that it can hold.</a:t>
            </a:r>
            <a:endParaRPr/>
          </a:p>
          <a:p>
            <a:pPr indent="-298450" lvl="1" marL="914400" rtl="0" algn="l">
              <a:spcBef>
                <a:spcPts val="0"/>
              </a:spcBef>
              <a:spcAft>
                <a:spcPts val="0"/>
              </a:spcAft>
              <a:buSzPts val="1100"/>
              <a:buChar char="○"/>
            </a:pPr>
            <a:r>
              <a:rPr lang="en"/>
              <a:t>Each </a:t>
            </a:r>
            <a:r>
              <a:rPr b="1" i="1" lang="en">
                <a:solidFill>
                  <a:srgbClr val="FF0000"/>
                </a:solidFill>
              </a:rPr>
              <a:t>item</a:t>
            </a:r>
            <a:r>
              <a:rPr lang="en">
                <a:solidFill>
                  <a:srgbClr val="FF0000"/>
                </a:solidFill>
              </a:rPr>
              <a:t> </a:t>
            </a:r>
            <a:r>
              <a:rPr lang="en"/>
              <a:t>has a </a:t>
            </a:r>
            <a:r>
              <a:rPr b="1" i="1" lang="en">
                <a:solidFill>
                  <a:srgbClr val="FF0000"/>
                </a:solidFill>
              </a:rPr>
              <a:t>weight</a:t>
            </a:r>
            <a:r>
              <a:rPr lang="en">
                <a:solidFill>
                  <a:srgbClr val="FF0000"/>
                </a:solidFill>
              </a:rPr>
              <a:t> </a:t>
            </a:r>
            <a:r>
              <a:rPr lang="en"/>
              <a:t>and a </a:t>
            </a:r>
            <a:r>
              <a:rPr b="1" i="1" lang="en">
                <a:solidFill>
                  <a:srgbClr val="FF0000"/>
                </a:solidFill>
              </a:rPr>
              <a:t>value</a:t>
            </a:r>
            <a:r>
              <a:rPr lang="en"/>
              <a:t>.</a:t>
            </a:r>
            <a:endParaRPr/>
          </a:p>
          <a:p>
            <a:pPr indent="-298450" lvl="1" marL="914400" rtl="0" algn="l">
              <a:spcBef>
                <a:spcPts val="0"/>
              </a:spcBef>
              <a:spcAft>
                <a:spcPts val="0"/>
              </a:spcAft>
              <a:buSzPts val="1100"/>
              <a:buChar char="○"/>
            </a:pPr>
            <a:r>
              <a:rPr lang="en"/>
              <a:t>What is the best way to </a:t>
            </a:r>
            <a:r>
              <a:rPr b="1" i="1" lang="en">
                <a:solidFill>
                  <a:srgbClr val="FF0000"/>
                </a:solidFill>
              </a:rPr>
              <a:t>maximize </a:t>
            </a:r>
            <a:r>
              <a:rPr lang="en"/>
              <a:t>the </a:t>
            </a:r>
            <a:r>
              <a:rPr b="1" i="1" lang="en">
                <a:solidFill>
                  <a:srgbClr val="FF0000"/>
                </a:solidFill>
              </a:rPr>
              <a:t>value</a:t>
            </a:r>
            <a:r>
              <a:rPr lang="en">
                <a:solidFill>
                  <a:srgbClr val="FF0000"/>
                </a:solidFill>
              </a:rPr>
              <a:t> </a:t>
            </a:r>
            <a:r>
              <a:rPr lang="en"/>
              <a:t>of the items in the knapsack without going over its </a:t>
            </a:r>
            <a:r>
              <a:rPr b="1" i="1" lang="en">
                <a:solidFill>
                  <a:srgbClr val="FF0000"/>
                </a:solidFill>
              </a:rPr>
              <a:t>weight limit</a:t>
            </a:r>
            <a:r>
              <a:rPr lang="en"/>
              <a:t>?</a:t>
            </a:r>
            <a:endParaRPr/>
          </a:p>
        </p:txBody>
      </p:sp>
      <p:sp>
        <p:nvSpPr>
          <p:cNvPr id="208" name="Google Shape;208;p29"/>
          <p:cNvSpPr txBox="1"/>
          <p:nvPr>
            <p:ph idx="3" type="body"/>
          </p:nvPr>
        </p:nvSpPr>
        <p:spPr>
          <a:xfrm>
            <a:off x="5192225" y="40896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There are several possible greedy algorithms for choosing which items should be packed into the knapsack. Do any find an optimal solution?</a:t>
            </a:r>
            <a:endParaRPr/>
          </a:p>
        </p:txBody>
      </p:sp>
      <p:pic>
        <p:nvPicPr>
          <p:cNvPr id="209" name="Google Shape;209;p29"/>
          <p:cNvPicPr preferRelativeResize="0"/>
          <p:nvPr/>
        </p:nvPicPr>
        <p:blipFill>
          <a:blip r:embed="rId3">
            <a:alphaModFix/>
          </a:blip>
          <a:stretch>
            <a:fillRect/>
          </a:stretch>
        </p:blipFill>
        <p:spPr>
          <a:xfrm>
            <a:off x="5419250" y="828725"/>
            <a:ext cx="3189745" cy="30268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0"/>
          <p:cNvPicPr preferRelativeResize="0"/>
          <p:nvPr/>
        </p:nvPicPr>
        <p:blipFill>
          <a:blip r:embed="rId3">
            <a:alphaModFix/>
          </a:blip>
          <a:stretch>
            <a:fillRect/>
          </a:stretch>
        </p:blipFill>
        <p:spPr>
          <a:xfrm>
            <a:off x="3367395" y="1335862"/>
            <a:ext cx="2409250" cy="3649969"/>
          </a:xfrm>
          <a:prstGeom prst="rect">
            <a:avLst/>
          </a:prstGeom>
          <a:noFill/>
          <a:ln>
            <a:noFill/>
          </a:ln>
        </p:spPr>
      </p:pic>
      <p:pic>
        <p:nvPicPr>
          <p:cNvPr id="215" name="Google Shape;215;p30"/>
          <p:cNvPicPr preferRelativeResize="0"/>
          <p:nvPr/>
        </p:nvPicPr>
        <p:blipFill>
          <a:blip r:embed="rId4">
            <a:alphaModFix/>
          </a:blip>
          <a:stretch>
            <a:fillRect/>
          </a:stretch>
        </p:blipFill>
        <p:spPr>
          <a:xfrm>
            <a:off x="3367388" y="1335852"/>
            <a:ext cx="2409275" cy="3649998"/>
          </a:xfrm>
          <a:prstGeom prst="rect">
            <a:avLst/>
          </a:prstGeom>
          <a:noFill/>
          <a:ln>
            <a:noFill/>
          </a:ln>
        </p:spPr>
      </p:pic>
      <p:sp>
        <p:nvSpPr>
          <p:cNvPr id="216" name="Google Shape;216;p30"/>
          <p:cNvSpPr txBox="1"/>
          <p:nvPr>
            <p:ph idx="12" type="sldNum"/>
          </p:nvPr>
        </p:nvSpPr>
        <p:spPr>
          <a:xfrm>
            <a:off x="8604249" y="4862897"/>
            <a:ext cx="548700" cy="27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3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Illustrated Knapsack Problem</a:t>
            </a:r>
            <a:endParaRPr/>
          </a:p>
        </p:txBody>
      </p:sp>
      <p:sp>
        <p:nvSpPr>
          <p:cNvPr id="218" name="Google Shape;218;p30"/>
          <p:cNvSpPr txBox="1"/>
          <p:nvPr/>
        </p:nvSpPr>
        <p:spPr>
          <a:xfrm>
            <a:off x="319725" y="1393075"/>
            <a:ext cx="27948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 </a:t>
            </a:r>
            <a:r>
              <a:rPr b="1" i="1" lang="en" sz="1200">
                <a:solidFill>
                  <a:srgbClr val="FF0000"/>
                </a:solidFill>
              </a:rPr>
              <a:t>knapsack</a:t>
            </a:r>
            <a:r>
              <a:rPr lang="en" sz="1200">
                <a:solidFill>
                  <a:srgbClr val="FF0000"/>
                </a:solidFill>
              </a:rPr>
              <a:t> </a:t>
            </a:r>
            <a:r>
              <a:rPr lang="en" sz="1200"/>
              <a:t>has a </a:t>
            </a:r>
            <a:r>
              <a:rPr b="1" i="1" lang="en" sz="1200">
                <a:solidFill>
                  <a:srgbClr val="FF0000"/>
                </a:solidFill>
              </a:rPr>
              <a:t>maximum weight</a:t>
            </a:r>
            <a:r>
              <a:rPr lang="en" sz="1200">
                <a:solidFill>
                  <a:srgbClr val="FF0000"/>
                </a:solidFill>
              </a:rPr>
              <a:t> </a:t>
            </a:r>
            <a:r>
              <a:rPr b="1" i="1" lang="en" sz="1200">
                <a:solidFill>
                  <a:srgbClr val="FF0000"/>
                </a:solidFill>
              </a:rPr>
              <a:t>capacity </a:t>
            </a:r>
            <a:r>
              <a:rPr lang="en" sz="1200"/>
              <a:t>that it can carry.</a:t>
            </a:r>
            <a:endParaRPr sz="1200"/>
          </a:p>
        </p:txBody>
      </p:sp>
      <p:sp>
        <p:nvSpPr>
          <p:cNvPr id="219" name="Google Shape;219;p30"/>
          <p:cNvSpPr/>
          <p:nvPr/>
        </p:nvSpPr>
        <p:spPr>
          <a:xfrm>
            <a:off x="4958200" y="1078450"/>
            <a:ext cx="885900" cy="329700"/>
          </a:xfrm>
          <a:prstGeom prst="wedgeRectCallout">
            <a:avLst>
              <a:gd fmla="val -43027" name="adj1"/>
              <a:gd fmla="val 131203" name="adj2"/>
            </a:avLst>
          </a:prstGeom>
          <a:solidFill>
            <a:srgbClr val="C9DAF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 lb</a:t>
            </a:r>
            <a:endParaRPr/>
          </a:p>
        </p:txBody>
      </p:sp>
      <p:grpSp>
        <p:nvGrpSpPr>
          <p:cNvPr id="220" name="Google Shape;220;p30"/>
          <p:cNvGrpSpPr/>
          <p:nvPr/>
        </p:nvGrpSpPr>
        <p:grpSpPr>
          <a:xfrm>
            <a:off x="471257" y="2962288"/>
            <a:ext cx="2529388" cy="2097346"/>
            <a:chOff x="395057" y="2948554"/>
            <a:chExt cx="2529388" cy="2097346"/>
          </a:xfrm>
        </p:grpSpPr>
        <p:pic>
          <p:nvPicPr>
            <p:cNvPr id="221" name="Google Shape;221;p30"/>
            <p:cNvPicPr preferRelativeResize="0"/>
            <p:nvPr/>
          </p:nvPicPr>
          <p:blipFill>
            <a:blip r:embed="rId5">
              <a:alphaModFix/>
            </a:blip>
            <a:stretch>
              <a:fillRect/>
            </a:stretch>
          </p:blipFill>
          <p:spPr>
            <a:xfrm flipH="1" rot="3132232">
              <a:off x="147483" y="3693733"/>
              <a:ext cx="2077813" cy="391385"/>
            </a:xfrm>
            <a:prstGeom prst="rect">
              <a:avLst/>
            </a:prstGeom>
            <a:noFill/>
            <a:ln>
              <a:noFill/>
            </a:ln>
          </p:spPr>
        </p:pic>
        <p:pic>
          <p:nvPicPr>
            <p:cNvPr id="222" name="Google Shape;222;p30"/>
            <p:cNvPicPr preferRelativeResize="0"/>
            <p:nvPr/>
          </p:nvPicPr>
          <p:blipFill>
            <a:blip r:embed="rId6">
              <a:alphaModFix/>
            </a:blip>
            <a:stretch>
              <a:fillRect/>
            </a:stretch>
          </p:blipFill>
          <p:spPr>
            <a:xfrm>
              <a:off x="1258750" y="3217517"/>
              <a:ext cx="245011" cy="246992"/>
            </a:xfrm>
            <a:prstGeom prst="rect">
              <a:avLst/>
            </a:prstGeom>
            <a:noFill/>
            <a:ln>
              <a:noFill/>
            </a:ln>
          </p:spPr>
        </p:pic>
        <p:pic>
          <p:nvPicPr>
            <p:cNvPr id="223" name="Google Shape;223;p30"/>
            <p:cNvPicPr preferRelativeResize="0"/>
            <p:nvPr/>
          </p:nvPicPr>
          <p:blipFill>
            <a:blip r:embed="rId7">
              <a:alphaModFix/>
            </a:blip>
            <a:stretch>
              <a:fillRect/>
            </a:stretch>
          </p:blipFill>
          <p:spPr>
            <a:xfrm>
              <a:off x="596634" y="4318675"/>
              <a:ext cx="692923" cy="694745"/>
            </a:xfrm>
            <a:prstGeom prst="rect">
              <a:avLst/>
            </a:prstGeom>
            <a:noFill/>
            <a:ln>
              <a:noFill/>
            </a:ln>
          </p:spPr>
        </p:pic>
        <p:pic>
          <p:nvPicPr>
            <p:cNvPr id="224" name="Google Shape;224;p30"/>
            <p:cNvPicPr preferRelativeResize="0"/>
            <p:nvPr/>
          </p:nvPicPr>
          <p:blipFill>
            <a:blip r:embed="rId8">
              <a:alphaModFix/>
            </a:blip>
            <a:stretch>
              <a:fillRect/>
            </a:stretch>
          </p:blipFill>
          <p:spPr>
            <a:xfrm>
              <a:off x="1691972" y="3111630"/>
              <a:ext cx="303433" cy="958148"/>
            </a:xfrm>
            <a:prstGeom prst="rect">
              <a:avLst/>
            </a:prstGeom>
            <a:noFill/>
            <a:ln>
              <a:noFill/>
            </a:ln>
          </p:spPr>
        </p:pic>
        <p:pic>
          <p:nvPicPr>
            <p:cNvPr id="225" name="Google Shape;225;p30"/>
            <p:cNvPicPr preferRelativeResize="0"/>
            <p:nvPr/>
          </p:nvPicPr>
          <p:blipFill>
            <a:blip r:embed="rId9">
              <a:alphaModFix/>
            </a:blip>
            <a:stretch>
              <a:fillRect/>
            </a:stretch>
          </p:blipFill>
          <p:spPr>
            <a:xfrm rot="784625">
              <a:off x="1957861" y="3058841"/>
              <a:ext cx="758504" cy="1926225"/>
            </a:xfrm>
            <a:prstGeom prst="rect">
              <a:avLst/>
            </a:prstGeom>
            <a:noFill/>
            <a:ln>
              <a:noFill/>
            </a:ln>
          </p:spPr>
        </p:pic>
      </p:grpSp>
      <p:sp>
        <p:nvSpPr>
          <p:cNvPr id="226" name="Google Shape;226;p30"/>
          <p:cNvSpPr txBox="1"/>
          <p:nvPr/>
        </p:nvSpPr>
        <p:spPr>
          <a:xfrm>
            <a:off x="319725" y="2044539"/>
            <a:ext cx="27948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And each </a:t>
            </a:r>
            <a:r>
              <a:rPr b="1" i="1" lang="en" sz="1200">
                <a:solidFill>
                  <a:srgbClr val="FF0000"/>
                </a:solidFill>
              </a:rPr>
              <a:t>item</a:t>
            </a:r>
            <a:r>
              <a:rPr lang="en" sz="1200">
                <a:solidFill>
                  <a:srgbClr val="FF0000"/>
                </a:solidFill>
              </a:rPr>
              <a:t> </a:t>
            </a:r>
            <a:r>
              <a:rPr lang="en" sz="1200"/>
              <a:t>has a </a:t>
            </a:r>
            <a:r>
              <a:rPr b="1" i="1" lang="en" sz="1200">
                <a:solidFill>
                  <a:srgbClr val="FF0000"/>
                </a:solidFill>
              </a:rPr>
              <a:t>value</a:t>
            </a:r>
            <a:r>
              <a:rPr lang="en" sz="1200">
                <a:solidFill>
                  <a:srgbClr val="FF0000"/>
                </a:solidFill>
              </a:rPr>
              <a:t> </a:t>
            </a:r>
            <a:r>
              <a:rPr lang="en" sz="1200"/>
              <a:t>and a </a:t>
            </a:r>
            <a:r>
              <a:rPr b="1" i="1" lang="en" sz="1200">
                <a:solidFill>
                  <a:srgbClr val="FF0000"/>
                </a:solidFill>
              </a:rPr>
              <a:t>weight</a:t>
            </a:r>
            <a:r>
              <a:rPr lang="en" sz="1200"/>
              <a:t>.</a:t>
            </a:r>
            <a:endParaRPr sz="1200"/>
          </a:p>
        </p:txBody>
      </p:sp>
      <p:sp>
        <p:nvSpPr>
          <p:cNvPr id="227" name="Google Shape;227;p30"/>
          <p:cNvSpPr txBox="1"/>
          <p:nvPr/>
        </p:nvSpPr>
        <p:spPr>
          <a:xfrm>
            <a:off x="6034725" y="1393075"/>
            <a:ext cx="27948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b="1" i="1" lang="en" sz="1200">
                <a:solidFill>
                  <a:srgbClr val="FF0000"/>
                </a:solidFill>
              </a:rPr>
              <a:t>goal</a:t>
            </a:r>
            <a:r>
              <a:rPr lang="en" sz="1200">
                <a:solidFill>
                  <a:srgbClr val="FF0000"/>
                </a:solidFill>
              </a:rPr>
              <a:t> </a:t>
            </a:r>
            <a:r>
              <a:rPr lang="en" sz="1200"/>
              <a:t>of the </a:t>
            </a:r>
            <a:r>
              <a:rPr b="1" i="1" lang="en" sz="1200">
                <a:solidFill>
                  <a:srgbClr val="FF0000"/>
                </a:solidFill>
              </a:rPr>
              <a:t>Knapsack Problem</a:t>
            </a:r>
            <a:r>
              <a:rPr lang="en" sz="1200">
                <a:solidFill>
                  <a:srgbClr val="FF0000"/>
                </a:solidFill>
              </a:rPr>
              <a:t> </a:t>
            </a:r>
            <a:r>
              <a:rPr lang="en" sz="1200"/>
              <a:t>is to pack the combination of items that </a:t>
            </a:r>
            <a:r>
              <a:rPr b="1" i="1" lang="en" sz="1200">
                <a:solidFill>
                  <a:srgbClr val="FF0000"/>
                </a:solidFill>
              </a:rPr>
              <a:t>maximizes the total value</a:t>
            </a:r>
            <a:r>
              <a:rPr lang="en" sz="1200">
                <a:solidFill>
                  <a:srgbClr val="FF0000"/>
                </a:solidFill>
              </a:rPr>
              <a:t> </a:t>
            </a:r>
            <a:r>
              <a:rPr lang="en" sz="1200"/>
              <a:t>without exceeding the capacity.</a:t>
            </a:r>
            <a:endParaRPr sz="1200"/>
          </a:p>
        </p:txBody>
      </p:sp>
      <p:grpSp>
        <p:nvGrpSpPr>
          <p:cNvPr id="228" name="Google Shape;228;p30"/>
          <p:cNvGrpSpPr/>
          <p:nvPr/>
        </p:nvGrpSpPr>
        <p:grpSpPr>
          <a:xfrm>
            <a:off x="317528" y="2692384"/>
            <a:ext cx="2792770" cy="1548900"/>
            <a:chOff x="241328" y="2678650"/>
            <a:chExt cx="2792770" cy="1548900"/>
          </a:xfrm>
        </p:grpSpPr>
        <p:sp>
          <p:nvSpPr>
            <p:cNvPr id="229" name="Google Shape;229;p30"/>
            <p:cNvSpPr/>
            <p:nvPr/>
          </p:nvSpPr>
          <p:spPr>
            <a:xfrm>
              <a:off x="912733" y="2678650"/>
              <a:ext cx="611100" cy="329700"/>
            </a:xfrm>
            <a:prstGeom prst="wedgeRectCallout">
              <a:avLst>
                <a:gd fmla="val 22140" name="adj1"/>
                <a:gd fmla="val 95754" name="adj2"/>
              </a:avLst>
            </a:prstGeom>
            <a:solidFill>
              <a:srgbClr val="D9EAD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 1lb</a:t>
              </a:r>
              <a:endParaRPr sz="1000"/>
            </a:p>
          </p:txBody>
        </p:sp>
        <p:sp>
          <p:nvSpPr>
            <p:cNvPr id="230" name="Google Shape;230;p30"/>
            <p:cNvSpPr/>
            <p:nvPr/>
          </p:nvSpPr>
          <p:spPr>
            <a:xfrm>
              <a:off x="1598533" y="2685517"/>
              <a:ext cx="611100" cy="329700"/>
            </a:xfrm>
            <a:prstGeom prst="wedgeRectCallout">
              <a:avLst>
                <a:gd fmla="val 7572" name="adj1"/>
                <a:gd fmla="val 91583" name="adj2"/>
              </a:avLst>
            </a:prstGeom>
            <a:solidFill>
              <a:srgbClr val="D9EAD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$2, 2lb</a:t>
              </a:r>
              <a:endParaRPr sz="1000"/>
            </a:p>
          </p:txBody>
        </p:sp>
        <p:sp>
          <p:nvSpPr>
            <p:cNvPr id="231" name="Google Shape;231;p30"/>
            <p:cNvSpPr/>
            <p:nvPr/>
          </p:nvSpPr>
          <p:spPr>
            <a:xfrm>
              <a:off x="2422999" y="2685517"/>
              <a:ext cx="611100" cy="329700"/>
            </a:xfrm>
            <a:prstGeom prst="wedgeRectCallout">
              <a:avLst>
                <a:gd fmla="val 7572" name="adj1"/>
                <a:gd fmla="val 91583" name="adj2"/>
              </a:avLst>
            </a:prstGeom>
            <a:solidFill>
              <a:srgbClr val="D9EAD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 3lb</a:t>
              </a:r>
              <a:endParaRPr sz="1000"/>
            </a:p>
          </p:txBody>
        </p:sp>
        <p:sp>
          <p:nvSpPr>
            <p:cNvPr id="232" name="Google Shape;232;p30"/>
            <p:cNvSpPr/>
            <p:nvPr/>
          </p:nvSpPr>
          <p:spPr>
            <a:xfrm>
              <a:off x="1065133" y="3516850"/>
              <a:ext cx="611100" cy="329700"/>
            </a:xfrm>
            <a:prstGeom prst="wedgeRectCallout">
              <a:avLst>
                <a:gd fmla="val -37416" name="adj1"/>
                <a:gd fmla="val 91462" name="adj2"/>
              </a:avLst>
            </a:prstGeom>
            <a:solidFill>
              <a:srgbClr val="D9EAD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$4, 4lb</a:t>
              </a:r>
              <a:endParaRPr sz="1000"/>
            </a:p>
          </p:txBody>
        </p:sp>
        <p:sp>
          <p:nvSpPr>
            <p:cNvPr id="233" name="Google Shape;233;p30"/>
            <p:cNvSpPr/>
            <p:nvPr/>
          </p:nvSpPr>
          <p:spPr>
            <a:xfrm>
              <a:off x="241328" y="3897850"/>
              <a:ext cx="611100" cy="329700"/>
            </a:xfrm>
            <a:prstGeom prst="wedgeRectCallout">
              <a:avLst>
                <a:gd fmla="val 35583" name="adj1"/>
                <a:gd fmla="val 84410" name="adj2"/>
              </a:avLst>
            </a:prstGeom>
            <a:solidFill>
              <a:srgbClr val="D9EAD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 9lb</a:t>
              </a:r>
              <a:endParaRPr sz="1000"/>
            </a:p>
          </p:txBody>
        </p:sp>
      </p:grpSp>
      <p:sp>
        <p:nvSpPr>
          <p:cNvPr id="234" name="Google Shape;234;p30"/>
          <p:cNvSpPr txBox="1"/>
          <p:nvPr/>
        </p:nvSpPr>
        <p:spPr>
          <a:xfrm>
            <a:off x="6034725" y="2411144"/>
            <a:ext cx="27948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The </a:t>
            </a:r>
            <a:r>
              <a:rPr b="1" i="1" lang="en" sz="1200">
                <a:solidFill>
                  <a:srgbClr val="FF0000"/>
                </a:solidFill>
              </a:rPr>
              <a:t>optimal solution</a:t>
            </a:r>
            <a:r>
              <a:rPr lang="en" sz="1200">
                <a:solidFill>
                  <a:srgbClr val="FF0000"/>
                </a:solidFill>
              </a:rPr>
              <a:t> </a:t>
            </a:r>
            <a:r>
              <a:rPr lang="en" sz="1200"/>
              <a:t>requires trying every possible combination of items to see which has the highest value; this is </a:t>
            </a:r>
            <a:r>
              <a:rPr b="1" i="1" lang="en" sz="1200">
                <a:solidFill>
                  <a:srgbClr val="FF0000"/>
                </a:solidFill>
              </a:rPr>
              <a:t>computationally expensive</a:t>
            </a:r>
            <a:r>
              <a:rPr lang="en" sz="1200"/>
              <a:t>.</a:t>
            </a:r>
            <a:endParaRPr sz="1200"/>
          </a:p>
        </p:txBody>
      </p:sp>
      <p:sp>
        <p:nvSpPr>
          <p:cNvPr id="235" name="Google Shape;235;p30"/>
          <p:cNvSpPr txBox="1"/>
          <p:nvPr/>
        </p:nvSpPr>
        <p:spPr>
          <a:xfrm>
            <a:off x="6034725" y="3429874"/>
            <a:ext cx="2794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A greedy algorithm </a:t>
            </a:r>
            <a:r>
              <a:rPr b="1" i="1" lang="en" sz="1200">
                <a:solidFill>
                  <a:srgbClr val="FF0000"/>
                </a:solidFill>
              </a:rPr>
              <a:t>quickly</a:t>
            </a:r>
            <a:r>
              <a:rPr lang="en" sz="1200">
                <a:solidFill>
                  <a:srgbClr val="FF0000"/>
                </a:solidFill>
              </a:rPr>
              <a:t> </a:t>
            </a:r>
            <a:r>
              <a:rPr lang="en" sz="1200"/>
              <a:t>chooses the next item based on local optima like </a:t>
            </a:r>
            <a:r>
              <a:rPr b="1" i="1" lang="en" sz="1200">
                <a:solidFill>
                  <a:srgbClr val="FF0000"/>
                </a:solidFill>
              </a:rPr>
              <a:t>lowest weight</a:t>
            </a:r>
            <a:r>
              <a:rPr lang="en" sz="1200">
                <a:solidFill>
                  <a:srgbClr val="FF0000"/>
                </a:solidFill>
              </a:rPr>
              <a:t> </a:t>
            </a:r>
            <a:r>
              <a:rPr lang="en" sz="1200"/>
              <a:t>or </a:t>
            </a:r>
            <a:r>
              <a:rPr b="1" i="1" lang="en" sz="1200">
                <a:solidFill>
                  <a:srgbClr val="FF0000"/>
                </a:solidFill>
              </a:rPr>
              <a:t>highest value</a:t>
            </a:r>
            <a:r>
              <a:rPr lang="en" sz="1200"/>
              <a:t>.</a:t>
            </a:r>
            <a:endParaRPr sz="1200"/>
          </a:p>
        </p:txBody>
      </p:sp>
      <p:sp>
        <p:nvSpPr>
          <p:cNvPr id="236" name="Google Shape;236;p30"/>
          <p:cNvSpPr txBox="1"/>
          <p:nvPr/>
        </p:nvSpPr>
        <p:spPr>
          <a:xfrm>
            <a:off x="6034725" y="4268074"/>
            <a:ext cx="2794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But will the greedy knapsack-packing algorithm </a:t>
            </a:r>
            <a:r>
              <a:rPr b="1" i="1" lang="en" sz="1200">
                <a:solidFill>
                  <a:srgbClr val="FF0000"/>
                </a:solidFill>
              </a:rPr>
              <a:t>guarantee </a:t>
            </a:r>
            <a:r>
              <a:rPr lang="en" sz="1200"/>
              <a:t>the optimal result?</a:t>
            </a:r>
            <a:endParaRPr sz="1200"/>
          </a:p>
        </p:txBody>
      </p:sp>
      <p:grpSp>
        <p:nvGrpSpPr>
          <p:cNvPr id="237" name="Google Shape;237;p30"/>
          <p:cNvGrpSpPr/>
          <p:nvPr/>
        </p:nvGrpSpPr>
        <p:grpSpPr>
          <a:xfrm>
            <a:off x="3644947" y="2542715"/>
            <a:ext cx="1946497" cy="2135919"/>
            <a:chOff x="977947" y="2909980"/>
            <a:chExt cx="1946497" cy="2135919"/>
          </a:xfrm>
        </p:grpSpPr>
        <p:pic>
          <p:nvPicPr>
            <p:cNvPr id="238" name="Google Shape;238;p30"/>
            <p:cNvPicPr preferRelativeResize="0"/>
            <p:nvPr/>
          </p:nvPicPr>
          <p:blipFill>
            <a:blip r:embed="rId5">
              <a:alphaModFix/>
            </a:blip>
            <a:stretch>
              <a:fillRect/>
            </a:stretch>
          </p:blipFill>
          <p:spPr>
            <a:xfrm flipH="1" rot="4574910">
              <a:off x="376083" y="3769933"/>
              <a:ext cx="2077812" cy="391384"/>
            </a:xfrm>
            <a:prstGeom prst="rect">
              <a:avLst/>
            </a:prstGeom>
            <a:noFill/>
            <a:ln>
              <a:noFill/>
            </a:ln>
          </p:spPr>
        </p:pic>
        <p:pic>
          <p:nvPicPr>
            <p:cNvPr id="239" name="Google Shape;239;p30"/>
            <p:cNvPicPr preferRelativeResize="0"/>
            <p:nvPr/>
          </p:nvPicPr>
          <p:blipFill>
            <a:blip r:embed="rId6">
              <a:alphaModFix/>
            </a:blip>
            <a:stretch>
              <a:fillRect/>
            </a:stretch>
          </p:blipFill>
          <p:spPr>
            <a:xfrm>
              <a:off x="1258750" y="2912717"/>
              <a:ext cx="245011" cy="246992"/>
            </a:xfrm>
            <a:prstGeom prst="rect">
              <a:avLst/>
            </a:prstGeom>
            <a:noFill/>
            <a:ln>
              <a:noFill/>
            </a:ln>
          </p:spPr>
        </p:pic>
        <p:pic>
          <p:nvPicPr>
            <p:cNvPr id="240" name="Google Shape;240;p30"/>
            <p:cNvPicPr preferRelativeResize="0"/>
            <p:nvPr/>
          </p:nvPicPr>
          <p:blipFill>
            <a:blip r:embed="rId8">
              <a:alphaModFix/>
            </a:blip>
            <a:stretch>
              <a:fillRect/>
            </a:stretch>
          </p:blipFill>
          <p:spPr>
            <a:xfrm rot="1149501">
              <a:off x="1539572" y="3111630"/>
              <a:ext cx="303433" cy="958148"/>
            </a:xfrm>
            <a:prstGeom prst="rect">
              <a:avLst/>
            </a:prstGeom>
            <a:noFill/>
            <a:ln>
              <a:noFill/>
            </a:ln>
          </p:spPr>
        </p:pic>
        <p:pic>
          <p:nvPicPr>
            <p:cNvPr id="241" name="Google Shape;241;p30"/>
            <p:cNvPicPr preferRelativeResize="0"/>
            <p:nvPr/>
          </p:nvPicPr>
          <p:blipFill>
            <a:blip r:embed="rId9">
              <a:alphaModFix/>
            </a:blip>
            <a:stretch>
              <a:fillRect/>
            </a:stretch>
          </p:blipFill>
          <p:spPr>
            <a:xfrm rot="784625">
              <a:off x="1957861" y="3058841"/>
              <a:ext cx="758504" cy="1926225"/>
            </a:xfrm>
            <a:prstGeom prst="rect">
              <a:avLst/>
            </a:prstGeom>
            <a:noFill/>
            <a:ln>
              <a:noFill/>
            </a:ln>
          </p:spPr>
        </p:pic>
      </p:grpSp>
      <p:sp>
        <p:nvSpPr>
          <p:cNvPr id="242" name="Google Shape;242;p30"/>
          <p:cNvSpPr/>
          <p:nvPr/>
        </p:nvSpPr>
        <p:spPr>
          <a:xfrm>
            <a:off x="4272400" y="1947175"/>
            <a:ext cx="885900" cy="463800"/>
          </a:xfrm>
          <a:prstGeom prst="wedgeRectCallout">
            <a:avLst>
              <a:gd fmla="val -26075" name="adj1"/>
              <a:gd fmla="val 115082" name="adj2"/>
            </a:avLst>
          </a:prstGeom>
          <a:solidFill>
            <a:srgbClr val="B6D7A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a:p>
            <a:pPr indent="0" lvl="0" marL="0" rtl="0" algn="ctr">
              <a:spcBef>
                <a:spcPts val="0"/>
              </a:spcBef>
              <a:spcAft>
                <a:spcPts val="0"/>
              </a:spcAft>
              <a:buNone/>
            </a:pPr>
            <a:r>
              <a:rPr lang="en"/>
              <a:t>10 lb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0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000"/>
                                        <p:tgtEl>
                                          <p:spTgt spid="227"/>
                                        </p:tgtEl>
                                      </p:cBhvr>
                                    </p:animEffec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31"/>
          <p:cNvPicPr preferRelativeResize="0"/>
          <p:nvPr/>
        </p:nvPicPr>
        <p:blipFill>
          <a:blip r:embed="rId3">
            <a:alphaModFix/>
          </a:blip>
          <a:stretch>
            <a:fillRect/>
          </a:stretch>
        </p:blipFill>
        <p:spPr>
          <a:xfrm>
            <a:off x="235000" y="1499821"/>
            <a:ext cx="2108934" cy="3163400"/>
          </a:xfrm>
          <a:prstGeom prst="rect">
            <a:avLst/>
          </a:prstGeom>
          <a:noFill/>
          <a:ln>
            <a:noFill/>
          </a:ln>
        </p:spPr>
      </p:pic>
      <p:sp>
        <p:nvSpPr>
          <p:cNvPr id="248" name="Google Shape;248;p3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Knapsacks and Items</a:t>
            </a:r>
            <a:endParaRPr/>
          </a:p>
        </p:txBody>
      </p:sp>
      <p:sp>
        <p:nvSpPr>
          <p:cNvPr id="249" name="Google Shape;249;p31"/>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a:t>A few classes have been provided to you to help you implement a greedy knapsack-packing algorithm. Examine the classes and then think about your algorithm</a:t>
            </a:r>
            <a:r>
              <a:rPr lang="en"/>
              <a:t>. What do you think will work best?</a:t>
            </a:r>
            <a:endParaRPr/>
          </a:p>
        </p:txBody>
      </p:sp>
      <p:sp>
        <p:nvSpPr>
          <p:cNvPr id="250" name="Google Shape;250;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3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.4</a:t>
            </a:r>
            <a:endParaRPr/>
          </a:p>
        </p:txBody>
      </p:sp>
      <p:sp>
        <p:nvSpPr>
          <p:cNvPr id="252" name="Google Shape;252;p31"/>
          <p:cNvSpPr txBox="1"/>
          <p:nvPr>
            <p:ph idx="2" type="body"/>
          </p:nvPr>
        </p:nvSpPr>
        <p:spPr>
          <a:xfrm>
            <a:off x="2538075" y="1410325"/>
            <a:ext cx="6350400" cy="3646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Take a few minutes to examine the contents of the </a:t>
            </a:r>
            <a:r>
              <a:rPr lang="en">
                <a:solidFill>
                  <a:srgbClr val="FF0000"/>
                </a:solidFill>
                <a:latin typeface="Courier New"/>
                <a:ea typeface="Courier New"/>
                <a:cs typeface="Courier New"/>
                <a:sym typeface="Courier New"/>
              </a:rPr>
              <a:t>knapsack</a:t>
            </a:r>
            <a:r>
              <a:rPr lang="en"/>
              <a:t> package that has been provided to you:</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Item</a:t>
            </a:r>
            <a:r>
              <a:rPr lang="en">
                <a:solidFill>
                  <a:srgbClr val="FF0000"/>
                </a:solidFill>
              </a:rPr>
              <a:t> </a:t>
            </a:r>
            <a:r>
              <a:rPr lang="en"/>
              <a:t>- a class that represents an item including its name, weight, and value. Items are naturally comparable by weight from lightest to heaviest.</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ValueComparator</a:t>
            </a:r>
            <a:r>
              <a:rPr lang="en">
                <a:solidFill>
                  <a:srgbClr val="FF0000"/>
                </a:solidFill>
              </a:rPr>
              <a:t> </a:t>
            </a:r>
            <a:r>
              <a:rPr lang="en"/>
              <a:t>- a comparator that arranges items from highest to lowest value. In the event that two items have the same value, they are compared by weight.</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Knapsack</a:t>
            </a:r>
            <a:r>
              <a:rPr lang="en">
                <a:solidFill>
                  <a:srgbClr val="FF0000"/>
                </a:solidFill>
              </a:rPr>
              <a:t> </a:t>
            </a:r>
            <a:r>
              <a:rPr lang="en"/>
              <a:t>- implements a knapsack. An item can be packed as long as its weight does not exceed the maximum capacity. The knapsack keeps track of items packed, current load, and total value.</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ItemSets</a:t>
            </a:r>
            <a:r>
              <a:rPr lang="en">
                <a:solidFill>
                  <a:srgbClr val="FF0000"/>
                </a:solidFill>
              </a:rPr>
              <a:t> </a:t>
            </a:r>
            <a:r>
              <a:rPr lang="en"/>
              <a:t>- provides helper methods to return pre-made sets of items that can be used for testing a knapsack-packing algorithm.</a:t>
            </a:r>
            <a:endParaRPr/>
          </a:p>
          <a:p>
            <a:pPr indent="-311150" lvl="0" marL="457200" rtl="0" algn="l">
              <a:spcBef>
                <a:spcPts val="0"/>
              </a:spcBef>
              <a:spcAft>
                <a:spcPts val="0"/>
              </a:spcAft>
              <a:buSzPts val="1300"/>
              <a:buChar char="●"/>
            </a:pPr>
            <a:r>
              <a:rPr lang="en"/>
              <a:t>Use this time to ask any questions that you have about the code. </a:t>
            </a:r>
            <a:endParaRPr/>
          </a:p>
          <a:p>
            <a:pPr indent="-311150" lvl="0" marL="457200" rtl="0" algn="l">
              <a:spcBef>
                <a:spcPts val="0"/>
              </a:spcBef>
              <a:spcAft>
                <a:spcPts val="0"/>
              </a:spcAft>
              <a:buSzPts val="1300"/>
              <a:buChar char="●"/>
            </a:pPr>
            <a:r>
              <a:rPr lang="en"/>
              <a:t>When you are finished, start thinking about the greedy algorithm that you want to write to pack a knapsack.</a:t>
            </a:r>
            <a:endParaRPr/>
          </a:p>
          <a:p>
            <a:pPr indent="-298450" lvl="1" marL="914400" rtl="0" algn="l">
              <a:spcBef>
                <a:spcPts val="0"/>
              </a:spcBef>
              <a:spcAft>
                <a:spcPts val="0"/>
              </a:spcAft>
              <a:buSzPts val="1100"/>
              <a:buChar char="○"/>
            </a:pPr>
            <a:r>
              <a:rPr lang="en"/>
              <a:t>How will you choose the next item to pack?</a:t>
            </a:r>
            <a:endParaRPr/>
          </a:p>
          <a:p>
            <a:pPr indent="-298450" lvl="1" marL="914400" rtl="0" algn="l">
              <a:spcBef>
                <a:spcPts val="0"/>
              </a:spcBef>
              <a:spcAft>
                <a:spcPts val="0"/>
              </a:spcAft>
              <a:buSzPts val="1100"/>
              <a:buChar char="○"/>
            </a:pPr>
            <a:r>
              <a:rPr lang="en"/>
              <a:t>Will you need to write your own </a:t>
            </a:r>
            <a:r>
              <a:rPr lang="en">
                <a:latin typeface="Courier New"/>
                <a:ea typeface="Courier New"/>
                <a:cs typeface="Courier New"/>
                <a:sym typeface="Courier New"/>
              </a:rPr>
              <a:t>Comparator</a:t>
            </a:r>
            <a:r>
              <a:rPr lang="en"/>
              <a:t>?</a:t>
            </a:r>
            <a:endParaRPr/>
          </a:p>
          <a:p>
            <a:pPr indent="-298450" lvl="1" marL="914400" rtl="0" algn="l">
              <a:spcBef>
                <a:spcPts val="0"/>
              </a:spcBef>
              <a:spcAft>
                <a:spcPts val="0"/>
              </a:spcAft>
              <a:buSzPts val="1100"/>
              <a:buChar char="○"/>
            </a:pPr>
            <a:r>
              <a:rPr lang="en"/>
              <a:t>How easy do you think it will be to foil your algorithm?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32"/>
          <p:cNvPicPr preferRelativeResize="0"/>
          <p:nvPr/>
        </p:nvPicPr>
        <p:blipFill>
          <a:blip r:embed="rId3">
            <a:alphaModFix/>
          </a:blip>
          <a:stretch>
            <a:fillRect/>
          </a:stretch>
        </p:blipFill>
        <p:spPr>
          <a:xfrm>
            <a:off x="130550" y="1262449"/>
            <a:ext cx="2324425" cy="3419752"/>
          </a:xfrm>
          <a:prstGeom prst="rect">
            <a:avLst/>
          </a:prstGeom>
          <a:noFill/>
          <a:ln>
            <a:noFill/>
          </a:ln>
        </p:spPr>
      </p:pic>
      <p:sp>
        <p:nvSpPr>
          <p:cNvPr id="258" name="Google Shape;258;p3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Packing the Knapsack</a:t>
            </a:r>
            <a:endParaRPr/>
          </a:p>
        </p:txBody>
      </p:sp>
      <p:sp>
        <p:nvSpPr>
          <p:cNvPr id="259" name="Google Shape;259;p32"/>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Using only pseudocode, sketch out your algorithm. Try to write one descriptive sentence or phrase for each </a:t>
            </a:r>
            <a:r>
              <a:rPr lang="en"/>
              <a:t>statement</a:t>
            </a:r>
            <a:r>
              <a:rPr lang="en"/>
              <a:t> you think that you will need to write.</a:t>
            </a:r>
            <a:endParaRPr/>
          </a:p>
        </p:txBody>
      </p:sp>
      <p:sp>
        <p:nvSpPr>
          <p:cNvPr id="260" name="Google Shape;260;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3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.5</a:t>
            </a:r>
            <a:endParaRPr/>
          </a:p>
        </p:txBody>
      </p:sp>
      <p:sp>
        <p:nvSpPr>
          <p:cNvPr id="262" name="Google Shape;262;p32"/>
          <p:cNvSpPr txBox="1"/>
          <p:nvPr>
            <p:ph idx="2" type="body"/>
          </p:nvPr>
        </p:nvSpPr>
        <p:spPr>
          <a:xfrm>
            <a:off x="2822550" y="1583700"/>
            <a:ext cx="5697600" cy="30909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Greedy</a:t>
            </a:r>
            <a:r>
              <a:rPr lang="en" sz="1400">
                <a:solidFill>
                  <a:srgbClr val="FF0000"/>
                </a:solidFill>
              </a:rPr>
              <a:t> </a:t>
            </a:r>
            <a:r>
              <a:rPr lang="en" sz="1400"/>
              <a:t>class and define a </a:t>
            </a:r>
            <a:r>
              <a:rPr lang="en" sz="1400"/>
              <a:t>new method</a:t>
            </a:r>
            <a:r>
              <a:rPr lang="en" sz="1400"/>
              <a:t> named "</a:t>
            </a:r>
            <a:r>
              <a:rPr lang="en" sz="1400">
                <a:solidFill>
                  <a:srgbClr val="FF0000"/>
                </a:solidFill>
                <a:latin typeface="Courier New"/>
                <a:ea typeface="Courier New"/>
                <a:cs typeface="Courier New"/>
                <a:sym typeface="Courier New"/>
              </a:rPr>
              <a:t>pack</a:t>
            </a:r>
            <a:r>
              <a:rPr lang="en" sz="1400">
                <a:solidFill>
                  <a:srgbClr val="FF0000"/>
                </a:solidFill>
                <a:latin typeface="Courier New"/>
                <a:ea typeface="Courier New"/>
                <a:cs typeface="Courier New"/>
                <a:sym typeface="Courier New"/>
              </a:rPr>
              <a:t>Items</a:t>
            </a:r>
            <a:r>
              <a:rPr lang="en" sz="1400"/>
              <a:t>" that declares parameters for a </a:t>
            </a:r>
            <a:r>
              <a:rPr lang="en" sz="1400">
                <a:solidFill>
                  <a:srgbClr val="FF0000"/>
                </a:solidFill>
                <a:latin typeface="Courier New"/>
                <a:ea typeface="Courier New"/>
                <a:cs typeface="Courier New"/>
                <a:sym typeface="Courier New"/>
              </a:rPr>
              <a:t>Knapsack</a:t>
            </a:r>
            <a:r>
              <a:rPr lang="en" sz="1400">
                <a:solidFill>
                  <a:srgbClr val="FF0000"/>
                </a:solidFill>
              </a:rPr>
              <a:t> </a:t>
            </a:r>
            <a:r>
              <a:rPr lang="en" sz="1400"/>
              <a:t>and a </a:t>
            </a:r>
            <a:r>
              <a:rPr lang="en" sz="1400">
                <a:latin typeface="Courier New"/>
                <a:ea typeface="Courier New"/>
                <a:cs typeface="Courier New"/>
                <a:sym typeface="Courier New"/>
              </a:rPr>
              <a:t>List</a:t>
            </a:r>
            <a:r>
              <a:rPr lang="en" sz="1400"/>
              <a:t> of </a:t>
            </a:r>
            <a:r>
              <a:rPr lang="en" sz="1400">
                <a:solidFill>
                  <a:srgbClr val="FF0000"/>
                </a:solidFill>
                <a:latin typeface="Courier New"/>
                <a:ea typeface="Courier New"/>
                <a:cs typeface="Courier New"/>
                <a:sym typeface="Courier New"/>
              </a:rPr>
              <a:t>items</a:t>
            </a:r>
            <a:r>
              <a:rPr lang="en" sz="1400"/>
              <a:t>.</a:t>
            </a:r>
            <a:endParaRPr sz="1400"/>
          </a:p>
          <a:p>
            <a:pPr indent="-304800" lvl="1" marL="914400" rtl="0" algn="l">
              <a:spcBef>
                <a:spcPts val="0"/>
              </a:spcBef>
              <a:spcAft>
                <a:spcPts val="0"/>
              </a:spcAft>
              <a:buSzPts val="1200"/>
              <a:buChar char="○"/>
            </a:pPr>
            <a:r>
              <a:rPr lang="en" sz="1200"/>
              <a:t>Using only </a:t>
            </a:r>
            <a:r>
              <a:rPr b="1" i="1" lang="en" sz="1200">
                <a:solidFill>
                  <a:srgbClr val="FF0000"/>
                </a:solidFill>
              </a:rPr>
              <a:t>inline comments</a:t>
            </a:r>
            <a:r>
              <a:rPr lang="en" sz="1200"/>
              <a:t>, sketch out your plan for a greedy algorithm to solve the Knapsack-Packing algorithm using </a:t>
            </a:r>
            <a:r>
              <a:rPr b="1" i="1" lang="en" sz="1200">
                <a:solidFill>
                  <a:srgbClr val="FF0000"/>
                </a:solidFill>
              </a:rPr>
              <a:t>pseudocode</a:t>
            </a:r>
            <a:r>
              <a:rPr lang="en" sz="1200"/>
              <a:t>.</a:t>
            </a:r>
            <a:endParaRPr sz="1200"/>
          </a:p>
          <a:p>
            <a:pPr indent="-304800" lvl="1" marL="914400" rtl="0" algn="l">
              <a:spcBef>
                <a:spcPts val="0"/>
              </a:spcBef>
              <a:spcAft>
                <a:spcPts val="0"/>
              </a:spcAft>
              <a:buSzPts val="1200"/>
              <a:buChar char="○"/>
            </a:pPr>
            <a:r>
              <a:rPr lang="en" sz="1200"/>
              <a:t>What </a:t>
            </a:r>
            <a:r>
              <a:rPr b="1" i="1" lang="en" sz="1200">
                <a:solidFill>
                  <a:srgbClr val="FF0000"/>
                </a:solidFill>
              </a:rPr>
              <a:t>local optima</a:t>
            </a:r>
            <a:r>
              <a:rPr lang="en" sz="1200">
                <a:solidFill>
                  <a:srgbClr val="FF0000"/>
                </a:solidFill>
              </a:rPr>
              <a:t> </a:t>
            </a:r>
            <a:r>
              <a:rPr lang="en" sz="1200"/>
              <a:t>will your algorithm consider as it chooses the next item to try to pack?</a:t>
            </a:r>
            <a:endParaRPr sz="1200"/>
          </a:p>
          <a:p>
            <a:pPr indent="-304800" lvl="1" marL="914400" rtl="0" algn="l">
              <a:spcBef>
                <a:spcPts val="0"/>
              </a:spcBef>
              <a:spcAft>
                <a:spcPts val="0"/>
              </a:spcAft>
              <a:buSzPts val="1200"/>
              <a:buChar char="○"/>
            </a:pPr>
            <a:r>
              <a:rPr lang="en" sz="1200"/>
              <a:t>You should </a:t>
            </a:r>
            <a:r>
              <a:rPr b="1" i="1" lang="en" sz="1200">
                <a:solidFill>
                  <a:srgbClr val="FF0000"/>
                </a:solidFill>
              </a:rPr>
              <a:t>remove</a:t>
            </a:r>
            <a:r>
              <a:rPr lang="en" sz="1200">
                <a:solidFill>
                  <a:srgbClr val="FF0000"/>
                </a:solidFill>
              </a:rPr>
              <a:t> </a:t>
            </a:r>
            <a:r>
              <a:rPr lang="en" sz="1200"/>
              <a:t>items from the list as they are packed (or discarded).</a:t>
            </a:r>
            <a:endParaRPr sz="1200"/>
          </a:p>
          <a:p>
            <a:pPr indent="-304800" lvl="1" marL="914400" rtl="0" algn="l">
              <a:spcBef>
                <a:spcPts val="0"/>
              </a:spcBef>
              <a:spcAft>
                <a:spcPts val="0"/>
              </a:spcAft>
              <a:buSzPts val="1200"/>
              <a:buChar char="○"/>
            </a:pPr>
            <a:r>
              <a:rPr lang="en" sz="1200"/>
              <a:t>How will your algorithm know when to </a:t>
            </a:r>
            <a:r>
              <a:rPr b="1" i="1" lang="en" sz="1200">
                <a:solidFill>
                  <a:srgbClr val="FF0000"/>
                </a:solidFill>
              </a:rPr>
              <a:t>stop</a:t>
            </a:r>
            <a:r>
              <a:rPr lang="en" sz="1200"/>
              <a:t>?</a:t>
            </a:r>
            <a:endParaRPr sz="1200"/>
          </a:p>
          <a:p>
            <a:pPr indent="-317500" lvl="0" marL="457200" rtl="0" algn="l">
              <a:spcBef>
                <a:spcPts val="0"/>
              </a:spcBef>
              <a:spcAft>
                <a:spcPts val="0"/>
              </a:spcAft>
              <a:buSzPts val="1400"/>
              <a:buChar char="●"/>
            </a:pPr>
            <a:r>
              <a:rPr lang="en" sz="1400"/>
              <a:t>When you have finished your pseudocode algorithm </a:t>
            </a:r>
            <a:r>
              <a:rPr b="1" i="1" lang="en" sz="1400">
                <a:solidFill>
                  <a:srgbClr val="FF0000"/>
                </a:solidFill>
              </a:rPr>
              <a:t>commit</a:t>
            </a:r>
            <a:r>
              <a:rPr lang="en" sz="1400">
                <a:solidFill>
                  <a:srgbClr val="FF0000"/>
                </a:solidFill>
              </a:rPr>
              <a:t> </a:t>
            </a:r>
            <a:r>
              <a:rPr lang="en" sz="1400"/>
              <a:t>your code to your repository.</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3"/>
          <p:cNvPicPr preferRelativeResize="0"/>
          <p:nvPr/>
        </p:nvPicPr>
        <p:blipFill>
          <a:blip r:embed="rId3">
            <a:alphaModFix/>
          </a:blip>
          <a:stretch>
            <a:fillRect/>
          </a:stretch>
        </p:blipFill>
        <p:spPr>
          <a:xfrm>
            <a:off x="245564" y="1652350"/>
            <a:ext cx="2150175" cy="3063574"/>
          </a:xfrm>
          <a:prstGeom prst="rect">
            <a:avLst/>
          </a:prstGeom>
          <a:noFill/>
          <a:ln>
            <a:noFill/>
          </a:ln>
        </p:spPr>
      </p:pic>
      <p:sp>
        <p:nvSpPr>
          <p:cNvPr id="268" name="Google Shape;268;p3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Knacking the Packsack</a:t>
            </a:r>
            <a:endParaRPr/>
          </a:p>
        </p:txBody>
      </p:sp>
      <p:sp>
        <p:nvSpPr>
          <p:cNvPr id="269" name="Google Shape;269;p33"/>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Now it's time to put your algorithm to the test! Implement the greedy algorithm that you sketched out previously. How does it compare to the optimal solution for each item set?</a:t>
            </a:r>
            <a:endParaRPr/>
          </a:p>
        </p:txBody>
      </p:sp>
      <p:sp>
        <p:nvSpPr>
          <p:cNvPr id="270" name="Google Shape;270;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3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.6</a:t>
            </a:r>
            <a:endParaRPr/>
          </a:p>
        </p:txBody>
      </p:sp>
      <p:sp>
        <p:nvSpPr>
          <p:cNvPr id="272" name="Google Shape;272;p33"/>
          <p:cNvSpPr txBox="1"/>
          <p:nvPr>
            <p:ph idx="2" type="body"/>
          </p:nvPr>
        </p:nvSpPr>
        <p:spPr>
          <a:xfrm>
            <a:off x="2463200" y="1555925"/>
            <a:ext cx="6477900" cy="33387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the </a:t>
            </a:r>
            <a:r>
              <a:rPr lang="en" sz="1400">
                <a:latin typeface="Courier New"/>
                <a:ea typeface="Courier New"/>
                <a:cs typeface="Courier New"/>
                <a:sym typeface="Courier New"/>
              </a:rPr>
              <a:t>Greedy</a:t>
            </a:r>
            <a:r>
              <a:rPr lang="en" sz="1400"/>
              <a:t> class and implement your knapsack-packing algorithm in the </a:t>
            </a:r>
            <a:r>
              <a:rPr lang="en" sz="1400">
                <a:latin typeface="Courier New"/>
                <a:ea typeface="Courier New"/>
                <a:cs typeface="Courier New"/>
                <a:sym typeface="Courier New"/>
              </a:rPr>
              <a:t>packItems</a:t>
            </a:r>
            <a:r>
              <a:rPr lang="en" sz="1400"/>
              <a:t> method.</a:t>
            </a:r>
            <a:endParaRPr sz="1400"/>
          </a:p>
          <a:p>
            <a:pPr indent="-304800" lvl="1" marL="914400" rtl="0" algn="l">
              <a:spcBef>
                <a:spcPts val="0"/>
              </a:spcBef>
              <a:spcAft>
                <a:spcPts val="0"/>
              </a:spcAft>
              <a:buSzPts val="1200"/>
              <a:buChar char="○"/>
            </a:pPr>
            <a:r>
              <a:rPr lang="en" sz="1200"/>
              <a:t>Remember to </a:t>
            </a:r>
            <a:r>
              <a:rPr b="1" i="1" lang="en" sz="1200">
                <a:solidFill>
                  <a:srgbClr val="FF0000"/>
                </a:solidFill>
              </a:rPr>
              <a:t>remove</a:t>
            </a:r>
            <a:r>
              <a:rPr lang="en" sz="1200">
                <a:solidFill>
                  <a:srgbClr val="FF0000"/>
                </a:solidFill>
              </a:rPr>
              <a:t> </a:t>
            </a:r>
            <a:r>
              <a:rPr lang="en" sz="1200"/>
              <a:t>items from the list as they are packed.</a:t>
            </a:r>
            <a:endParaRPr sz="1200"/>
          </a:p>
          <a:p>
            <a:pPr indent="-304800" lvl="1" marL="914400" rtl="0" algn="l">
              <a:spcBef>
                <a:spcPts val="0"/>
              </a:spcBef>
              <a:spcAft>
                <a:spcPts val="0"/>
              </a:spcAft>
              <a:buSzPts val="1200"/>
              <a:buChar char="○"/>
            </a:pPr>
            <a:r>
              <a:rPr lang="en" sz="1200"/>
              <a:t>The </a:t>
            </a:r>
            <a:r>
              <a:rPr lang="en" sz="1200">
                <a:latin typeface="Courier New"/>
                <a:ea typeface="Courier New"/>
                <a:cs typeface="Courier New"/>
                <a:sym typeface="Courier New"/>
              </a:rPr>
              <a:t>Knapsack</a:t>
            </a:r>
            <a:r>
              <a:rPr lang="en" sz="1200"/>
              <a:t> will not allow an </a:t>
            </a:r>
            <a:r>
              <a:rPr lang="en" sz="1200">
                <a:latin typeface="Courier New"/>
                <a:ea typeface="Courier New"/>
                <a:cs typeface="Courier New"/>
                <a:sym typeface="Courier New"/>
              </a:rPr>
              <a:t>Item</a:t>
            </a:r>
            <a:r>
              <a:rPr lang="en" sz="1200"/>
              <a:t> to be packed if its weight exceeds the capacity.</a:t>
            </a:r>
            <a:endParaRPr sz="1200"/>
          </a:p>
          <a:p>
            <a:pPr indent="-304800" lvl="1" marL="914400" rtl="0" algn="l">
              <a:spcBef>
                <a:spcPts val="0"/>
              </a:spcBef>
              <a:spcAft>
                <a:spcPts val="0"/>
              </a:spcAft>
              <a:buSzPts val="1200"/>
              <a:buChar char="○"/>
            </a:pPr>
            <a:r>
              <a:rPr b="1" i="1" lang="en" sz="1200">
                <a:solidFill>
                  <a:srgbClr val="FF0000"/>
                </a:solidFill>
              </a:rPr>
              <a:t>Print</a:t>
            </a:r>
            <a:r>
              <a:rPr lang="en" sz="1200">
                <a:solidFill>
                  <a:srgbClr val="FF0000"/>
                </a:solidFill>
              </a:rPr>
              <a:t> </a:t>
            </a:r>
            <a:r>
              <a:rPr lang="en" sz="1200"/>
              <a:t>the Knapsack once it is packed.</a:t>
            </a:r>
            <a:endParaRPr sz="1200"/>
          </a:p>
          <a:p>
            <a:pPr indent="-317500" lvl="0" marL="457200" rtl="0" algn="l">
              <a:spcBef>
                <a:spcPts val="0"/>
              </a:spcBef>
              <a:spcAft>
                <a:spcPts val="0"/>
              </a:spcAft>
              <a:buSzPts val="1400"/>
              <a:buChar char="●"/>
            </a:pPr>
            <a:r>
              <a:rPr lang="en" sz="1400"/>
              <a:t>Navigate to </a:t>
            </a:r>
            <a:r>
              <a:rPr lang="en" sz="1400">
                <a:latin typeface="Courier New"/>
                <a:ea typeface="Courier New"/>
                <a:cs typeface="Courier New"/>
                <a:sym typeface="Courier New"/>
              </a:rPr>
              <a:t>main</a:t>
            </a:r>
            <a:r>
              <a:rPr lang="en" sz="1400"/>
              <a:t> and create a Knapsack with a capacity of 10 pounds. Test your knapsack-packing algorithm using the premade item sets created by the </a:t>
            </a:r>
            <a:r>
              <a:rPr lang="en" sz="1400">
                <a:latin typeface="Courier New"/>
                <a:ea typeface="Courier New"/>
                <a:cs typeface="Courier New"/>
                <a:sym typeface="Courier New"/>
              </a:rPr>
              <a:t>ItemSets</a:t>
            </a:r>
            <a:r>
              <a:rPr lang="en" sz="1400"/>
              <a:t> class.</a:t>
            </a:r>
            <a:endParaRPr sz="1400"/>
          </a:p>
          <a:p>
            <a:pPr indent="-304800" lvl="1" marL="914400" rtl="0" algn="l">
              <a:spcBef>
                <a:spcPts val="0"/>
              </a:spcBef>
              <a:spcAft>
                <a:spcPts val="0"/>
              </a:spcAft>
              <a:buSzPts val="1200"/>
              <a:buChar char="○"/>
            </a:pPr>
            <a:r>
              <a:rPr lang="en" sz="1200"/>
              <a:t>The Sports Set</a:t>
            </a:r>
            <a:endParaRPr sz="1200"/>
          </a:p>
          <a:p>
            <a:pPr indent="-304800" lvl="1" marL="914400" rtl="0" algn="l">
              <a:spcBef>
                <a:spcPts val="0"/>
              </a:spcBef>
              <a:spcAft>
                <a:spcPts val="0"/>
              </a:spcAft>
              <a:buSzPts val="1200"/>
              <a:buChar char="○"/>
            </a:pPr>
            <a:r>
              <a:rPr lang="en" sz="1200"/>
              <a:t>The Electronics Set</a:t>
            </a:r>
            <a:endParaRPr sz="1200"/>
          </a:p>
          <a:p>
            <a:pPr indent="-304800" lvl="1" marL="914400" rtl="0" algn="l">
              <a:spcBef>
                <a:spcPts val="0"/>
              </a:spcBef>
              <a:spcAft>
                <a:spcPts val="0"/>
              </a:spcAft>
              <a:buSzPts val="1200"/>
              <a:buChar char="○"/>
            </a:pPr>
            <a:r>
              <a:rPr lang="en" sz="1200"/>
              <a:t>The Toy Set</a:t>
            </a:r>
            <a:endParaRPr sz="1200"/>
          </a:p>
          <a:p>
            <a:pPr indent="-304800" lvl="1" marL="914400" rtl="0" algn="l">
              <a:spcBef>
                <a:spcPts val="0"/>
              </a:spcBef>
              <a:spcAft>
                <a:spcPts val="0"/>
              </a:spcAft>
              <a:buSzPts val="1200"/>
              <a:buChar char="○"/>
            </a:pPr>
            <a:r>
              <a:rPr lang="en" sz="1200"/>
              <a:t>The Metal Set</a:t>
            </a:r>
            <a:endParaRPr sz="1200"/>
          </a:p>
          <a:p>
            <a:pPr indent="-317500" lvl="0" marL="457200" rtl="0" algn="l">
              <a:spcBef>
                <a:spcPts val="0"/>
              </a:spcBef>
              <a:spcAft>
                <a:spcPts val="0"/>
              </a:spcAft>
              <a:buSzPts val="1400"/>
              <a:buChar char="●"/>
            </a:pPr>
            <a:r>
              <a:rPr lang="en" sz="1400"/>
              <a:t>How does your algorithm compare to the optimal solution for each?</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txBox="1"/>
          <p:nvPr>
            <p:ph type="title"/>
          </p:nvPr>
        </p:nvSpPr>
        <p:spPr>
          <a:xfrm>
            <a:off x="311725" y="2723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The Traveling Salesman Problem</a:t>
            </a:r>
            <a:endParaRPr sz="2600"/>
          </a:p>
        </p:txBody>
      </p:sp>
      <p:sp>
        <p:nvSpPr>
          <p:cNvPr id="278" name="Google Shape;278;p34"/>
          <p:cNvSpPr txBox="1"/>
          <p:nvPr>
            <p:ph idx="1" type="body"/>
          </p:nvPr>
        </p:nvSpPr>
        <p:spPr>
          <a:xfrm>
            <a:off x="4419675" y="121200"/>
            <a:ext cx="4393200" cy="4792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 </a:t>
            </a:r>
            <a:r>
              <a:rPr b="1" i="1" lang="en">
                <a:solidFill>
                  <a:srgbClr val="FF0000"/>
                </a:solidFill>
              </a:rPr>
              <a:t>traveling salesman</a:t>
            </a:r>
            <a:r>
              <a:rPr lang="en">
                <a:solidFill>
                  <a:srgbClr val="FF0000"/>
                </a:solidFill>
              </a:rPr>
              <a:t> </a:t>
            </a:r>
            <a:r>
              <a:rPr lang="en"/>
              <a:t>would like to travel to </a:t>
            </a:r>
            <a:r>
              <a:rPr b="1" i="1" lang="en">
                <a:solidFill>
                  <a:srgbClr val="FF0000"/>
                </a:solidFill>
              </a:rPr>
              <a:t>50 different cities</a:t>
            </a:r>
            <a:r>
              <a:rPr lang="en"/>
              <a:t> in the contiguous United States. </a:t>
            </a:r>
            <a:endParaRPr/>
          </a:p>
          <a:p>
            <a:pPr indent="-311150" lvl="0" marL="457200" rtl="0" algn="l">
              <a:spcBef>
                <a:spcPts val="1000"/>
              </a:spcBef>
              <a:spcAft>
                <a:spcPts val="0"/>
              </a:spcAft>
              <a:buSzPts val="1300"/>
              <a:buChar char="●"/>
            </a:pPr>
            <a:r>
              <a:rPr lang="en"/>
              <a:t>All 50 cities are </a:t>
            </a:r>
            <a:r>
              <a:rPr b="1" i="1" lang="en">
                <a:solidFill>
                  <a:srgbClr val="FF0000"/>
                </a:solidFill>
              </a:rPr>
              <a:t>connected to each other</a:t>
            </a:r>
            <a:r>
              <a:rPr lang="en">
                <a:solidFill>
                  <a:srgbClr val="FF0000"/>
                </a:solidFill>
              </a:rPr>
              <a:t> </a:t>
            </a:r>
            <a:r>
              <a:rPr lang="en"/>
              <a:t>by the interstate highway system.</a:t>
            </a:r>
            <a:endParaRPr/>
          </a:p>
          <a:p>
            <a:pPr indent="-298450" lvl="1" marL="914400" rtl="0" algn="l">
              <a:spcBef>
                <a:spcPts val="0"/>
              </a:spcBef>
              <a:spcAft>
                <a:spcPts val="0"/>
              </a:spcAft>
              <a:buSzPts val="1100"/>
              <a:buChar char="○"/>
            </a:pPr>
            <a:r>
              <a:rPr lang="en"/>
              <a:t>Meaning that the salesman can travel </a:t>
            </a:r>
            <a:r>
              <a:rPr b="1" i="1" lang="en">
                <a:solidFill>
                  <a:srgbClr val="FF0000"/>
                </a:solidFill>
              </a:rPr>
              <a:t>from </a:t>
            </a:r>
            <a:r>
              <a:rPr lang="en"/>
              <a:t>any one city </a:t>
            </a:r>
            <a:r>
              <a:rPr b="1" i="1" lang="en">
                <a:solidFill>
                  <a:srgbClr val="FF0000"/>
                </a:solidFill>
              </a:rPr>
              <a:t>to </a:t>
            </a:r>
            <a:r>
              <a:rPr lang="en"/>
              <a:t>any other.</a:t>
            </a:r>
            <a:endParaRPr/>
          </a:p>
          <a:p>
            <a:pPr indent="-311150" lvl="0" marL="457200" rtl="0" algn="l">
              <a:spcBef>
                <a:spcPts val="1000"/>
              </a:spcBef>
              <a:spcAft>
                <a:spcPts val="0"/>
              </a:spcAft>
              <a:buSzPts val="1300"/>
              <a:buChar char="●"/>
            </a:pPr>
            <a:r>
              <a:rPr lang="en"/>
              <a:t>The salesman would like to</a:t>
            </a:r>
            <a:r>
              <a:rPr lang="en">
                <a:solidFill>
                  <a:srgbClr val="FF0000"/>
                </a:solidFill>
              </a:rPr>
              <a:t> </a:t>
            </a:r>
            <a:r>
              <a:rPr b="1" i="1" lang="en">
                <a:solidFill>
                  <a:srgbClr val="FF0000"/>
                </a:solidFill>
              </a:rPr>
              <a:t>plan a trip</a:t>
            </a:r>
            <a:r>
              <a:rPr lang="en"/>
              <a:t> with a few goals in mind:</a:t>
            </a:r>
            <a:endParaRPr/>
          </a:p>
          <a:p>
            <a:pPr indent="-298450" lvl="1" marL="914400" rtl="0" algn="l">
              <a:spcBef>
                <a:spcPts val="0"/>
              </a:spcBef>
              <a:spcAft>
                <a:spcPts val="0"/>
              </a:spcAft>
              <a:buSzPts val="1100"/>
              <a:buChar char="○"/>
            </a:pPr>
            <a:r>
              <a:rPr lang="en"/>
              <a:t>He would like to visit each of the 50 cities </a:t>
            </a:r>
            <a:r>
              <a:rPr b="1" i="1" lang="en">
                <a:solidFill>
                  <a:srgbClr val="FF0000"/>
                </a:solidFill>
              </a:rPr>
              <a:t>exactly once</a:t>
            </a:r>
            <a:r>
              <a:rPr lang="en"/>
              <a:t>.</a:t>
            </a:r>
            <a:endParaRPr/>
          </a:p>
          <a:p>
            <a:pPr indent="-298450" lvl="1" marL="914400" rtl="0" algn="l">
              <a:spcBef>
                <a:spcPts val="0"/>
              </a:spcBef>
              <a:spcAft>
                <a:spcPts val="0"/>
              </a:spcAft>
              <a:buSzPts val="1100"/>
              <a:buChar char="○"/>
            </a:pPr>
            <a:r>
              <a:rPr lang="en"/>
              <a:t>In order to save on time, money, and gas, he would like to </a:t>
            </a:r>
            <a:r>
              <a:rPr b="1" i="1" lang="en">
                <a:solidFill>
                  <a:srgbClr val="FF0000"/>
                </a:solidFill>
              </a:rPr>
              <a:t>minimize</a:t>
            </a:r>
            <a:r>
              <a:rPr i="1" lang="en">
                <a:solidFill>
                  <a:srgbClr val="FF0000"/>
                </a:solidFill>
              </a:rPr>
              <a:t> </a:t>
            </a:r>
            <a:r>
              <a:rPr lang="en"/>
              <a:t>the total distance traveled.</a:t>
            </a:r>
            <a:endParaRPr/>
          </a:p>
          <a:p>
            <a:pPr indent="-311150" lvl="0" marL="457200" rtl="0" algn="l">
              <a:spcBef>
                <a:spcPts val="1000"/>
              </a:spcBef>
              <a:spcAft>
                <a:spcPts val="0"/>
              </a:spcAft>
              <a:buSzPts val="1300"/>
              <a:buChar char="●"/>
            </a:pPr>
            <a:r>
              <a:rPr lang="en"/>
              <a:t>The </a:t>
            </a:r>
            <a:r>
              <a:rPr b="1" i="1" lang="en">
                <a:solidFill>
                  <a:srgbClr val="FF0000"/>
                </a:solidFill>
              </a:rPr>
              <a:t>optimal</a:t>
            </a:r>
            <a:r>
              <a:rPr lang="en">
                <a:solidFill>
                  <a:srgbClr val="FF0000"/>
                </a:solidFill>
              </a:rPr>
              <a:t> </a:t>
            </a:r>
            <a:r>
              <a:rPr lang="en"/>
              <a:t>solution to this problem would require mapping every possible route through all 50 cities.</a:t>
            </a:r>
            <a:endParaRPr/>
          </a:p>
          <a:p>
            <a:pPr indent="-298450" lvl="1" marL="914400" rtl="0" algn="l">
              <a:spcBef>
                <a:spcPts val="0"/>
              </a:spcBef>
              <a:spcAft>
                <a:spcPts val="0"/>
              </a:spcAft>
              <a:buSzPts val="1100"/>
              <a:buChar char="○"/>
            </a:pPr>
            <a:r>
              <a:rPr lang="en"/>
              <a:t>There are </a:t>
            </a:r>
            <a:r>
              <a:rPr b="1" i="1" lang="en">
                <a:solidFill>
                  <a:srgbClr val="FF0000"/>
                </a:solidFill>
              </a:rPr>
              <a:t>50!</a:t>
            </a:r>
            <a:r>
              <a:rPr lang="en"/>
              <a:t> possible routes!</a:t>
            </a:r>
            <a:endParaRPr/>
          </a:p>
          <a:p>
            <a:pPr indent="-311150" lvl="0" marL="457200" rtl="0" algn="l">
              <a:spcBef>
                <a:spcPts val="1000"/>
              </a:spcBef>
              <a:spcAft>
                <a:spcPts val="0"/>
              </a:spcAft>
              <a:buSzPts val="1300"/>
              <a:buChar char="●"/>
            </a:pPr>
            <a:r>
              <a:rPr lang="en"/>
              <a:t>A </a:t>
            </a:r>
            <a:r>
              <a:rPr b="1" i="1" lang="en">
                <a:solidFill>
                  <a:srgbClr val="FF0000"/>
                </a:solidFill>
              </a:rPr>
              <a:t>greedy algorithm</a:t>
            </a:r>
            <a:r>
              <a:rPr lang="en">
                <a:solidFill>
                  <a:srgbClr val="FF0000"/>
                </a:solidFill>
              </a:rPr>
              <a:t> </a:t>
            </a:r>
            <a:r>
              <a:rPr lang="en"/>
              <a:t>would attempt to plan a trip based on some local optima such as which cities are </a:t>
            </a:r>
            <a:r>
              <a:rPr b="1" i="1" lang="en">
                <a:solidFill>
                  <a:srgbClr val="FF0000"/>
                </a:solidFill>
              </a:rPr>
              <a:t>closest </a:t>
            </a:r>
            <a:r>
              <a:rPr lang="en"/>
              <a:t>to each other or in the </a:t>
            </a:r>
            <a:r>
              <a:rPr b="1" i="1" lang="en">
                <a:solidFill>
                  <a:srgbClr val="FF0000"/>
                </a:solidFill>
              </a:rPr>
              <a:t>same general direction</a:t>
            </a:r>
            <a:r>
              <a:rPr lang="en"/>
              <a:t>.</a:t>
            </a:r>
            <a:endParaRPr/>
          </a:p>
        </p:txBody>
      </p:sp>
      <p:sp>
        <p:nvSpPr>
          <p:cNvPr id="279" name="Google Shape;279;p3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34"/>
          <p:cNvSpPr txBox="1"/>
          <p:nvPr>
            <p:ph idx="3" type="body"/>
          </p:nvPr>
        </p:nvSpPr>
        <p:spPr>
          <a:xfrm>
            <a:off x="315425" y="3556250"/>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Before we can begin implementing an algorithm to find a solution to the </a:t>
            </a:r>
            <a:r>
              <a:rPr b="1" i="1" lang="en">
                <a:solidFill>
                  <a:srgbClr val="FF0000"/>
                </a:solidFill>
              </a:rPr>
              <a:t>Traveling Salesman Problem</a:t>
            </a:r>
            <a:r>
              <a:rPr lang="en"/>
              <a:t>, we will need to find a way to represent the 50 cities and the distance </a:t>
            </a:r>
            <a:r>
              <a:rPr lang="en"/>
              <a:t>between</a:t>
            </a:r>
            <a:r>
              <a:rPr lang="en"/>
              <a:t> them.</a:t>
            </a:r>
            <a:endParaRPr/>
          </a:p>
        </p:txBody>
      </p:sp>
      <p:pic>
        <p:nvPicPr>
          <p:cNvPr id="281" name="Google Shape;281;p34"/>
          <p:cNvPicPr preferRelativeResize="0"/>
          <p:nvPr/>
        </p:nvPicPr>
        <p:blipFill>
          <a:blip r:embed="rId3">
            <a:alphaModFix/>
          </a:blip>
          <a:stretch>
            <a:fillRect/>
          </a:stretch>
        </p:blipFill>
        <p:spPr>
          <a:xfrm>
            <a:off x="315425" y="1088631"/>
            <a:ext cx="3706499" cy="2312495"/>
          </a:xfrm>
          <a:prstGeom prst="rect">
            <a:avLst/>
          </a:prstGeom>
          <a:noFill/>
          <a:ln cap="flat" cmpd="sng" w="19050">
            <a:solidFill>
              <a:srgbClr val="000000"/>
            </a:solidFill>
            <a:prstDash val="solid"/>
            <a:round/>
            <a:headEnd len="sm" w="sm" type="none"/>
            <a:tailEnd len="sm" w="sm" type="none"/>
          </a:ln>
        </p:spPr>
      </p:pic>
      <p:pic>
        <p:nvPicPr>
          <p:cNvPr id="282" name="Google Shape;282;p34"/>
          <p:cNvPicPr preferRelativeResize="0"/>
          <p:nvPr/>
        </p:nvPicPr>
        <p:blipFill>
          <a:blip r:embed="rId4">
            <a:alphaModFix/>
          </a:blip>
          <a:stretch>
            <a:fillRect/>
          </a:stretch>
        </p:blipFill>
        <p:spPr>
          <a:xfrm>
            <a:off x="723888" y="1632277"/>
            <a:ext cx="645733" cy="1627821"/>
          </a:xfrm>
          <a:prstGeom prst="rect">
            <a:avLst/>
          </a:prstGeom>
          <a:noFill/>
          <a:ln>
            <a:noFill/>
          </a:ln>
        </p:spPr>
      </p:pic>
      <p:sp>
        <p:nvSpPr>
          <p:cNvPr id="283" name="Google Shape;283;p34"/>
          <p:cNvSpPr txBox="1"/>
          <p:nvPr>
            <p:ph idx="3" type="body"/>
          </p:nvPr>
        </p:nvSpPr>
        <p:spPr>
          <a:xfrm>
            <a:off x="315425" y="4602393"/>
            <a:ext cx="3706500" cy="369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Would it be possible to use a </a:t>
            </a:r>
            <a:r>
              <a:rPr b="1" i="1" lang="en">
                <a:solidFill>
                  <a:srgbClr val="FF0000"/>
                </a:solidFill>
              </a:rPr>
              <a:t>graph</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5"/>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89" name="Google Shape;289;p35"/>
          <p:cNvSpPr txBox="1"/>
          <p:nvPr>
            <p:ph type="title"/>
          </p:nvPr>
        </p:nvSpPr>
        <p:spPr>
          <a:xfrm>
            <a:off x="5264725" y="2723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Weighted Graph</a:t>
            </a:r>
            <a:endParaRPr/>
          </a:p>
        </p:txBody>
      </p:sp>
      <p:sp>
        <p:nvSpPr>
          <p:cNvPr id="290" name="Google Shape;290;p35"/>
          <p:cNvSpPr txBox="1"/>
          <p:nvPr>
            <p:ph idx="1" type="body"/>
          </p:nvPr>
        </p:nvSpPr>
        <p:spPr>
          <a:xfrm>
            <a:off x="301275" y="119925"/>
            <a:ext cx="4362600" cy="49515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We </a:t>
            </a:r>
            <a:r>
              <a:rPr lang="en"/>
              <a:t>could</a:t>
            </a:r>
            <a:r>
              <a:rPr i="1" lang="en"/>
              <a:t> </a:t>
            </a:r>
            <a:r>
              <a:rPr lang="en"/>
              <a:t>make a </a:t>
            </a:r>
            <a:r>
              <a:rPr b="1" i="1" lang="en">
                <a:solidFill>
                  <a:srgbClr val="FF0000"/>
                </a:solidFill>
              </a:rPr>
              <a:t>graph </a:t>
            </a:r>
            <a:r>
              <a:rPr lang="en"/>
              <a:t>to represent the 50 cities.</a:t>
            </a:r>
            <a:endParaRPr/>
          </a:p>
          <a:p>
            <a:pPr indent="-298450" lvl="1" marL="914400" rtl="0" algn="l">
              <a:spcBef>
                <a:spcPts val="0"/>
              </a:spcBef>
              <a:spcAft>
                <a:spcPts val="0"/>
              </a:spcAft>
              <a:buSzPts val="1100"/>
              <a:buChar char="○"/>
            </a:pPr>
            <a:r>
              <a:rPr lang="en"/>
              <a:t>Each city would be a </a:t>
            </a:r>
            <a:r>
              <a:rPr b="1" i="1" lang="en">
                <a:solidFill>
                  <a:srgbClr val="FF0000"/>
                </a:solidFill>
              </a:rPr>
              <a:t>vertex</a:t>
            </a:r>
            <a:r>
              <a:rPr lang="en">
                <a:solidFill>
                  <a:srgbClr val="FF0000"/>
                </a:solidFill>
              </a:rPr>
              <a:t> </a:t>
            </a:r>
            <a:r>
              <a:rPr lang="en"/>
              <a:t>in the graph.</a:t>
            </a:r>
            <a:endParaRPr/>
          </a:p>
          <a:p>
            <a:pPr indent="-298450" lvl="1" marL="914400" rtl="0" algn="l">
              <a:spcBef>
                <a:spcPts val="0"/>
              </a:spcBef>
              <a:spcAft>
                <a:spcPts val="0"/>
              </a:spcAft>
              <a:buSzPts val="1100"/>
              <a:buChar char="○"/>
            </a:pPr>
            <a:r>
              <a:rPr lang="en"/>
              <a:t>Each city would also be </a:t>
            </a:r>
            <a:r>
              <a:rPr b="1" i="1" lang="en">
                <a:solidFill>
                  <a:srgbClr val="FF0000"/>
                </a:solidFill>
              </a:rPr>
              <a:t>connected</a:t>
            </a:r>
            <a:r>
              <a:rPr lang="en">
                <a:solidFill>
                  <a:srgbClr val="FF0000"/>
                </a:solidFill>
              </a:rPr>
              <a:t> </a:t>
            </a:r>
            <a:r>
              <a:rPr lang="en"/>
              <a:t>to the other 49 cities as neighbors.</a:t>
            </a:r>
            <a:endParaRPr/>
          </a:p>
          <a:p>
            <a:pPr indent="-311150" lvl="0" marL="457200" rtl="0" algn="l">
              <a:spcBef>
                <a:spcPts val="1000"/>
              </a:spcBef>
              <a:spcAft>
                <a:spcPts val="0"/>
              </a:spcAft>
              <a:buSzPts val="1300"/>
              <a:buChar char="●"/>
            </a:pPr>
            <a:r>
              <a:rPr lang="en"/>
              <a:t>We could then run a BFS or DFS search to find a path through all 50 cities.</a:t>
            </a:r>
            <a:endParaRPr/>
          </a:p>
          <a:p>
            <a:pPr indent="-311150" lvl="0" marL="457200" rtl="0" algn="l">
              <a:spcBef>
                <a:spcPts val="1000"/>
              </a:spcBef>
              <a:spcAft>
                <a:spcPts val="0"/>
              </a:spcAft>
              <a:buSzPts val="1300"/>
              <a:buChar char="●"/>
            </a:pPr>
            <a:r>
              <a:rPr lang="en"/>
              <a:t>The problem is that our graphs do not have any concept of </a:t>
            </a:r>
            <a:r>
              <a:rPr b="1" i="1" lang="en">
                <a:solidFill>
                  <a:srgbClr val="FF0000"/>
                </a:solidFill>
              </a:rPr>
              <a:t>cost</a:t>
            </a:r>
            <a:r>
              <a:rPr lang="en">
                <a:solidFill>
                  <a:srgbClr val="FF0000"/>
                </a:solidFill>
              </a:rPr>
              <a:t> </a:t>
            </a:r>
            <a:r>
              <a:rPr lang="en"/>
              <a:t>or </a:t>
            </a:r>
            <a:r>
              <a:rPr b="1" i="1" lang="en">
                <a:solidFill>
                  <a:srgbClr val="FF0000"/>
                </a:solidFill>
              </a:rPr>
              <a:t>distance</a:t>
            </a:r>
            <a:r>
              <a:rPr lang="en">
                <a:solidFill>
                  <a:srgbClr val="FF0000"/>
                </a:solidFill>
              </a:rPr>
              <a:t> </a:t>
            </a:r>
            <a:r>
              <a:rPr lang="en"/>
              <a:t>between two cities.</a:t>
            </a:r>
            <a:endParaRPr/>
          </a:p>
          <a:p>
            <a:pPr indent="-298450" lvl="1" marL="914400" rtl="0" algn="l">
              <a:spcBef>
                <a:spcPts val="0"/>
              </a:spcBef>
              <a:spcAft>
                <a:spcPts val="0"/>
              </a:spcAft>
              <a:buSzPts val="1100"/>
              <a:buChar char="○"/>
            </a:pPr>
            <a:r>
              <a:rPr lang="en"/>
              <a:t>There is no way to tell the difference between a neighbor city that is 10 miles away, and one that is 3,000 miles away!</a:t>
            </a:r>
            <a:endParaRPr/>
          </a:p>
          <a:p>
            <a:pPr indent="-298450" lvl="1" marL="914400" rtl="0" algn="l">
              <a:spcBef>
                <a:spcPts val="0"/>
              </a:spcBef>
              <a:spcAft>
                <a:spcPts val="0"/>
              </a:spcAft>
              <a:buSzPts val="1100"/>
              <a:buChar char="○"/>
            </a:pPr>
            <a:r>
              <a:rPr lang="en"/>
              <a:t>Meaning the BFS or DFS will be very unlikely to minimize the distance traveled.</a:t>
            </a:r>
            <a:endParaRPr/>
          </a:p>
          <a:p>
            <a:pPr indent="-311150" lvl="0" marL="457200" rtl="0" algn="l">
              <a:spcBef>
                <a:spcPts val="1000"/>
              </a:spcBef>
              <a:spcAft>
                <a:spcPts val="0"/>
              </a:spcAft>
              <a:buSzPts val="1300"/>
              <a:buChar char="●"/>
            </a:pPr>
            <a:r>
              <a:rPr lang="en"/>
              <a:t>We will need a modified version of our graph data structure that assigns values to the edges between vertices.</a:t>
            </a:r>
            <a:endParaRPr/>
          </a:p>
          <a:p>
            <a:pPr indent="-298450" lvl="1" marL="914400" rtl="0" algn="l">
              <a:spcBef>
                <a:spcPts val="0"/>
              </a:spcBef>
              <a:spcAft>
                <a:spcPts val="0"/>
              </a:spcAft>
              <a:buSzPts val="1100"/>
              <a:buChar char="○"/>
            </a:pPr>
            <a:r>
              <a:rPr lang="en"/>
              <a:t>We will refer to these values as </a:t>
            </a:r>
            <a:r>
              <a:rPr b="1" i="1" lang="en">
                <a:solidFill>
                  <a:srgbClr val="FF0000"/>
                </a:solidFill>
              </a:rPr>
              <a:t>weights</a:t>
            </a:r>
            <a:r>
              <a:rPr lang="en"/>
              <a:t>.</a:t>
            </a:r>
            <a:endParaRPr/>
          </a:p>
          <a:p>
            <a:pPr indent="-311150" lvl="0" marL="457200" rtl="0" algn="l">
              <a:spcBef>
                <a:spcPts val="1000"/>
              </a:spcBef>
              <a:spcAft>
                <a:spcPts val="0"/>
              </a:spcAft>
              <a:buSzPts val="1300"/>
              <a:buChar char="●"/>
            </a:pPr>
            <a:r>
              <a:rPr lang="en"/>
              <a:t>Our </a:t>
            </a:r>
            <a:r>
              <a:rPr b="1" i="1" lang="en">
                <a:solidFill>
                  <a:srgbClr val="FF0000"/>
                </a:solidFill>
              </a:rPr>
              <a:t>weighted graph</a:t>
            </a:r>
            <a:r>
              <a:rPr lang="en">
                <a:solidFill>
                  <a:srgbClr val="FF0000"/>
                </a:solidFill>
              </a:rPr>
              <a:t> </a:t>
            </a:r>
            <a:r>
              <a:rPr lang="en"/>
              <a:t>will also need modified versions of our search algorithms that take edge weights into consideration.</a:t>
            </a:r>
            <a:endParaRPr/>
          </a:p>
        </p:txBody>
      </p:sp>
      <p:sp>
        <p:nvSpPr>
          <p:cNvPr id="291" name="Google Shape;291;p35"/>
          <p:cNvSpPr txBox="1"/>
          <p:nvPr>
            <p:ph idx="3" type="body"/>
          </p:nvPr>
        </p:nvSpPr>
        <p:spPr>
          <a:xfrm>
            <a:off x="5192225" y="3403850"/>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In this problem, the number of vertices in the path </a:t>
            </a:r>
            <a:r>
              <a:rPr b="1" i="1" lang="en">
                <a:solidFill>
                  <a:srgbClr val="FF0000"/>
                </a:solidFill>
              </a:rPr>
              <a:t>does not change</a:t>
            </a:r>
            <a:r>
              <a:rPr lang="en"/>
              <a:t>: it will always be </a:t>
            </a:r>
            <a:r>
              <a:rPr b="1" i="1" lang="en">
                <a:solidFill>
                  <a:srgbClr val="FF0000"/>
                </a:solidFill>
              </a:rPr>
              <a:t>exactly 50</a:t>
            </a:r>
            <a:r>
              <a:rPr lang="en"/>
              <a:t>.</a:t>
            </a:r>
            <a:endParaRPr/>
          </a:p>
        </p:txBody>
      </p:sp>
      <p:pic>
        <p:nvPicPr>
          <p:cNvPr id="292" name="Google Shape;292;p35"/>
          <p:cNvPicPr preferRelativeResize="0"/>
          <p:nvPr/>
        </p:nvPicPr>
        <p:blipFill>
          <a:blip r:embed="rId3">
            <a:alphaModFix/>
          </a:blip>
          <a:stretch>
            <a:fillRect/>
          </a:stretch>
        </p:blipFill>
        <p:spPr>
          <a:xfrm>
            <a:off x="5192225" y="924695"/>
            <a:ext cx="3706499" cy="2312495"/>
          </a:xfrm>
          <a:prstGeom prst="rect">
            <a:avLst/>
          </a:prstGeom>
          <a:noFill/>
          <a:ln cap="flat" cmpd="sng" w="19050">
            <a:solidFill>
              <a:srgbClr val="000000"/>
            </a:solidFill>
            <a:prstDash val="solid"/>
            <a:round/>
            <a:headEnd len="sm" w="sm" type="none"/>
            <a:tailEnd len="sm" w="sm" type="none"/>
          </a:ln>
        </p:spPr>
      </p:pic>
      <p:pic>
        <p:nvPicPr>
          <p:cNvPr id="293" name="Google Shape;293;p35"/>
          <p:cNvPicPr preferRelativeResize="0"/>
          <p:nvPr/>
        </p:nvPicPr>
        <p:blipFill>
          <a:blip r:embed="rId4">
            <a:alphaModFix/>
          </a:blip>
          <a:stretch>
            <a:fillRect/>
          </a:stretch>
        </p:blipFill>
        <p:spPr>
          <a:xfrm flipH="1">
            <a:off x="8115288" y="1468342"/>
            <a:ext cx="645733" cy="1627821"/>
          </a:xfrm>
          <a:prstGeom prst="rect">
            <a:avLst/>
          </a:prstGeom>
          <a:noFill/>
          <a:ln>
            <a:noFill/>
          </a:ln>
        </p:spPr>
      </p:pic>
      <p:sp>
        <p:nvSpPr>
          <p:cNvPr id="294" name="Google Shape;294;p35"/>
          <p:cNvSpPr txBox="1"/>
          <p:nvPr>
            <p:ph idx="3" type="body"/>
          </p:nvPr>
        </p:nvSpPr>
        <p:spPr>
          <a:xfrm>
            <a:off x="5192225" y="4075879"/>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What </a:t>
            </a:r>
            <a:r>
              <a:rPr b="1" i="1" lang="en">
                <a:solidFill>
                  <a:srgbClr val="FF0000"/>
                </a:solidFill>
              </a:rPr>
              <a:t>will</a:t>
            </a:r>
            <a:r>
              <a:rPr lang="en">
                <a:solidFill>
                  <a:srgbClr val="FF0000"/>
                </a:solidFill>
              </a:rPr>
              <a:t> </a:t>
            </a:r>
            <a:r>
              <a:rPr lang="en"/>
              <a:t>change (hopefully) are the specific edges along the path such that the </a:t>
            </a:r>
            <a:r>
              <a:rPr b="1" i="1" lang="en">
                <a:solidFill>
                  <a:srgbClr val="FF0000"/>
                </a:solidFill>
              </a:rPr>
              <a:t>total distance traveled</a:t>
            </a:r>
            <a:r>
              <a:rPr lang="en"/>
              <a:t> is </a:t>
            </a:r>
            <a:r>
              <a:rPr b="1" i="1" lang="en">
                <a:solidFill>
                  <a:srgbClr val="FF0000"/>
                </a:solidFill>
              </a:rPr>
              <a:t>minimized</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3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Weighted Graph</a:t>
            </a:r>
            <a:endParaRPr/>
          </a:p>
        </p:txBody>
      </p:sp>
      <p:pic>
        <p:nvPicPr>
          <p:cNvPr id="301" name="Google Shape;301;p36"/>
          <p:cNvPicPr preferRelativeResize="0"/>
          <p:nvPr/>
        </p:nvPicPr>
        <p:blipFill>
          <a:blip r:embed="rId3">
            <a:alphaModFix/>
          </a:blip>
          <a:stretch>
            <a:fillRect/>
          </a:stretch>
        </p:blipFill>
        <p:spPr>
          <a:xfrm>
            <a:off x="733752" y="2307049"/>
            <a:ext cx="1024225" cy="2581974"/>
          </a:xfrm>
          <a:prstGeom prst="rect">
            <a:avLst/>
          </a:prstGeom>
          <a:noFill/>
          <a:ln>
            <a:noFill/>
          </a:ln>
        </p:spPr>
      </p:pic>
      <p:grpSp>
        <p:nvGrpSpPr>
          <p:cNvPr id="302" name="Google Shape;302;p36"/>
          <p:cNvGrpSpPr/>
          <p:nvPr/>
        </p:nvGrpSpPr>
        <p:grpSpPr>
          <a:xfrm>
            <a:off x="4300535" y="1578019"/>
            <a:ext cx="3430562" cy="3090438"/>
            <a:chOff x="338125" y="1610890"/>
            <a:chExt cx="3334852" cy="3004217"/>
          </a:xfrm>
        </p:grpSpPr>
        <p:sp>
          <p:nvSpPr>
            <p:cNvPr id="303" name="Google Shape;303;p36"/>
            <p:cNvSpPr/>
            <p:nvPr/>
          </p:nvSpPr>
          <p:spPr>
            <a:xfrm>
              <a:off x="679459"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304" name="Google Shape;304;p36"/>
            <p:cNvSpPr/>
            <p:nvPr/>
          </p:nvSpPr>
          <p:spPr>
            <a:xfrm>
              <a:off x="1772863" y="2900772"/>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305" name="Google Shape;305;p36"/>
            <p:cNvSpPr/>
            <p:nvPr/>
          </p:nvSpPr>
          <p:spPr>
            <a:xfrm>
              <a:off x="338125" y="295099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306" name="Google Shape;306;p36"/>
            <p:cNvSpPr/>
            <p:nvPr/>
          </p:nvSpPr>
          <p:spPr>
            <a:xfrm>
              <a:off x="2380788"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307" name="Google Shape;307;p36"/>
            <p:cNvSpPr/>
            <p:nvPr/>
          </p:nvSpPr>
          <p:spPr>
            <a:xfrm>
              <a:off x="2863270"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08" name="Google Shape;308;p36"/>
            <p:cNvSpPr/>
            <p:nvPr/>
          </p:nvSpPr>
          <p:spPr>
            <a:xfrm>
              <a:off x="3110849" y="2857201"/>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309" name="Google Shape;309;p36"/>
            <p:cNvSpPr/>
            <p:nvPr/>
          </p:nvSpPr>
          <p:spPr>
            <a:xfrm>
              <a:off x="1300197"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310" name="Google Shape;310;p36"/>
            <p:cNvCxnSpPr>
              <a:stCxn id="303" idx="3"/>
              <a:endCxn id="305"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311" name="Google Shape;311;p36"/>
            <p:cNvCxnSpPr>
              <a:stCxn id="303" idx="6"/>
              <a:endCxn id="306"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312" name="Google Shape;312;p36"/>
            <p:cNvCxnSpPr>
              <a:stCxn id="303" idx="5"/>
              <a:endCxn id="304"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313" name="Google Shape;313;p36"/>
            <p:cNvCxnSpPr>
              <a:stCxn id="304" idx="6"/>
              <a:endCxn id="308"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314" name="Google Shape;314;p36"/>
            <p:cNvCxnSpPr>
              <a:stCxn id="308" idx="4"/>
              <a:endCxn id="307"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315" name="Google Shape;315;p36"/>
            <p:cNvCxnSpPr>
              <a:stCxn id="304" idx="3"/>
              <a:endCxn id="309"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316" name="Google Shape;316;p36"/>
            <p:cNvCxnSpPr>
              <a:stCxn id="309" idx="6"/>
              <a:endCxn id="307"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317" name="Google Shape;317;p36"/>
            <p:cNvCxnSpPr>
              <a:stCxn id="305" idx="6"/>
              <a:endCxn id="304"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318" name="Google Shape;318;p36"/>
            <p:cNvCxnSpPr>
              <a:stCxn id="306" idx="5"/>
              <a:endCxn id="308"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319" name="Google Shape;319;p36"/>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320" name="Google Shape;320;p36"/>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321" name="Google Shape;321;p36"/>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22" name="Google Shape;322;p36"/>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323" name="Google Shape;323;p36"/>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24" name="Google Shape;324;p36"/>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25" name="Google Shape;325;p36"/>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26" name="Google Shape;326;p36"/>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327" name="Google Shape;327;p36"/>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328" name="Google Shape;328;p36"/>
            <p:cNvCxnSpPr>
              <a:stCxn id="305" idx="5"/>
              <a:endCxn id="309"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329" name="Google Shape;329;p36"/>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330" name="Google Shape;330;p36"/>
          <p:cNvSpPr/>
          <p:nvPr/>
        </p:nvSpPr>
        <p:spPr>
          <a:xfrm>
            <a:off x="668400" y="1425600"/>
            <a:ext cx="1900500" cy="757500"/>
          </a:xfrm>
          <a:prstGeom prst="wedgeRoundRectCallout">
            <a:avLst>
              <a:gd fmla="val -20833" name="adj1"/>
              <a:gd fmla="val 6250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The search algorithms that we have looked at so far do not differentiate between neighbors...</a:t>
            </a:r>
            <a:endParaRPr sz="1000"/>
          </a:p>
        </p:txBody>
      </p:sp>
      <p:sp>
        <p:nvSpPr>
          <p:cNvPr id="331" name="Google Shape;331;p36"/>
          <p:cNvSpPr/>
          <p:nvPr/>
        </p:nvSpPr>
        <p:spPr>
          <a:xfrm>
            <a:off x="1735200" y="2263800"/>
            <a:ext cx="1900500" cy="757500"/>
          </a:xfrm>
          <a:prstGeom prst="wedgeRoundRectCallout">
            <a:avLst>
              <a:gd fmla="val -63404" name="adj1"/>
              <a:gd fmla="val -1612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If </a:t>
            </a:r>
            <a:r>
              <a:rPr b="1" i="1" lang="en" sz="1000">
                <a:solidFill>
                  <a:srgbClr val="FF0000"/>
                </a:solidFill>
              </a:rPr>
              <a:t>BFS</a:t>
            </a:r>
            <a:r>
              <a:rPr lang="en" sz="1000">
                <a:solidFill>
                  <a:srgbClr val="FF0000"/>
                </a:solidFill>
              </a:rPr>
              <a:t> </a:t>
            </a:r>
            <a:r>
              <a:rPr lang="en" sz="1000"/>
              <a:t>were looking for a path from </a:t>
            </a:r>
            <a:r>
              <a:rPr b="1" i="1" lang="en" sz="1000">
                <a:solidFill>
                  <a:srgbClr val="FF0000"/>
                </a:solidFill>
              </a:rPr>
              <a:t>A to E</a:t>
            </a:r>
            <a:r>
              <a:rPr lang="en" sz="1000"/>
              <a:t>, it would find one with the </a:t>
            </a:r>
            <a:r>
              <a:rPr b="1" i="1" lang="en" sz="1000">
                <a:solidFill>
                  <a:srgbClr val="FF0000"/>
                </a:solidFill>
              </a:rPr>
              <a:t>fewest edges</a:t>
            </a:r>
            <a:r>
              <a:rPr lang="en" sz="1000"/>
              <a:t>, for example...</a:t>
            </a:r>
            <a:endParaRPr sz="1000"/>
          </a:p>
        </p:txBody>
      </p:sp>
      <p:sp>
        <p:nvSpPr>
          <p:cNvPr id="332" name="Google Shape;332;p36"/>
          <p:cNvSpPr/>
          <p:nvPr/>
        </p:nvSpPr>
        <p:spPr>
          <a:xfrm>
            <a:off x="1735200" y="3102000"/>
            <a:ext cx="1900500" cy="485700"/>
          </a:xfrm>
          <a:prstGeom prst="wedgeRoundRectCallout">
            <a:avLst>
              <a:gd fmla="val -56159" name="adj1"/>
              <a:gd fmla="val -52241"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But the </a:t>
            </a:r>
            <a:r>
              <a:rPr b="1" i="1" lang="en" sz="1000">
                <a:solidFill>
                  <a:srgbClr val="FF0000"/>
                </a:solidFill>
              </a:rPr>
              <a:t>total cost</a:t>
            </a:r>
            <a:r>
              <a:rPr lang="en" sz="1000">
                <a:solidFill>
                  <a:srgbClr val="FF0000"/>
                </a:solidFill>
              </a:rPr>
              <a:t> </a:t>
            </a:r>
            <a:r>
              <a:rPr lang="en" sz="1000"/>
              <a:t>of this path is </a:t>
            </a:r>
            <a:r>
              <a:rPr b="1" i="1" lang="en" sz="1000">
                <a:solidFill>
                  <a:srgbClr val="FF0000"/>
                </a:solidFill>
              </a:rPr>
              <a:t>6 + 5 + 4 = 15</a:t>
            </a:r>
            <a:r>
              <a:rPr lang="en" sz="1000"/>
              <a:t>.</a:t>
            </a:r>
            <a:endParaRPr sz="1000"/>
          </a:p>
        </p:txBody>
      </p:sp>
      <p:cxnSp>
        <p:nvCxnSpPr>
          <p:cNvPr id="333" name="Google Shape;333;p36"/>
          <p:cNvCxnSpPr/>
          <p:nvPr/>
        </p:nvCxnSpPr>
        <p:spPr>
          <a:xfrm>
            <a:off x="5127919" y="2140386"/>
            <a:ext cx="730200" cy="846300"/>
          </a:xfrm>
          <a:prstGeom prst="straightConnector1">
            <a:avLst/>
          </a:prstGeom>
          <a:noFill/>
          <a:ln cap="flat" cmpd="sng" w="38100">
            <a:solidFill>
              <a:srgbClr val="FF0000"/>
            </a:solidFill>
            <a:prstDash val="solid"/>
            <a:round/>
            <a:headEnd len="med" w="med" type="none"/>
            <a:tailEnd len="med" w="med" type="stealth"/>
          </a:ln>
        </p:spPr>
      </p:cxnSp>
      <p:cxnSp>
        <p:nvCxnSpPr>
          <p:cNvPr id="334" name="Google Shape;334;p36"/>
          <p:cNvCxnSpPr/>
          <p:nvPr/>
        </p:nvCxnSpPr>
        <p:spPr>
          <a:xfrm flipH="1" rot="10800000">
            <a:off x="6334416" y="3139204"/>
            <a:ext cx="818400" cy="44700"/>
          </a:xfrm>
          <a:prstGeom prst="straightConnector1">
            <a:avLst/>
          </a:prstGeom>
          <a:noFill/>
          <a:ln cap="flat" cmpd="sng" w="38100">
            <a:solidFill>
              <a:srgbClr val="FF0000"/>
            </a:solidFill>
            <a:prstDash val="solid"/>
            <a:round/>
            <a:headEnd len="med" w="med" type="none"/>
            <a:tailEnd len="med" w="med" type="stealth"/>
          </a:ln>
        </p:spPr>
      </p:cxnSp>
      <p:cxnSp>
        <p:nvCxnSpPr>
          <p:cNvPr id="335" name="Google Shape;335;p36"/>
          <p:cNvCxnSpPr/>
          <p:nvPr/>
        </p:nvCxnSpPr>
        <p:spPr>
          <a:xfrm flipH="1">
            <a:off x="7374519" y="3418066"/>
            <a:ext cx="57300" cy="774000"/>
          </a:xfrm>
          <a:prstGeom prst="straightConnector1">
            <a:avLst/>
          </a:prstGeom>
          <a:noFill/>
          <a:ln cap="flat" cmpd="sng" w="38100">
            <a:solidFill>
              <a:srgbClr val="FF0000"/>
            </a:solidFill>
            <a:prstDash val="solid"/>
            <a:round/>
            <a:headEnd len="med" w="med" type="none"/>
            <a:tailEnd len="med" w="med" type="stealth"/>
          </a:ln>
        </p:spPr>
      </p:cxnSp>
      <p:sp>
        <p:nvSpPr>
          <p:cNvPr id="336" name="Google Shape;336;p36"/>
          <p:cNvSpPr txBox="1"/>
          <p:nvPr/>
        </p:nvSpPr>
        <p:spPr>
          <a:xfrm>
            <a:off x="5479041" y="2337817"/>
            <a:ext cx="356700" cy="32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ource Code Pro"/>
                <a:ea typeface="Source Code Pro"/>
                <a:cs typeface="Source Code Pro"/>
                <a:sym typeface="Source Code Pro"/>
              </a:rPr>
              <a:t>6</a:t>
            </a:r>
            <a:endParaRPr>
              <a:solidFill>
                <a:srgbClr val="FF0000"/>
              </a:solidFill>
              <a:latin typeface="Source Code Pro"/>
              <a:ea typeface="Source Code Pro"/>
              <a:cs typeface="Source Code Pro"/>
              <a:sym typeface="Source Code Pro"/>
            </a:endParaRPr>
          </a:p>
        </p:txBody>
      </p:sp>
      <p:sp>
        <p:nvSpPr>
          <p:cNvPr id="337" name="Google Shape;337;p36"/>
          <p:cNvSpPr txBox="1"/>
          <p:nvPr/>
        </p:nvSpPr>
        <p:spPr>
          <a:xfrm>
            <a:off x="6548389" y="2872491"/>
            <a:ext cx="356700" cy="32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ource Code Pro"/>
                <a:ea typeface="Source Code Pro"/>
                <a:cs typeface="Source Code Pro"/>
                <a:sym typeface="Source Code Pro"/>
              </a:rPr>
              <a:t>5</a:t>
            </a:r>
            <a:endParaRPr>
              <a:solidFill>
                <a:srgbClr val="FF0000"/>
              </a:solidFill>
              <a:latin typeface="Source Code Pro"/>
              <a:ea typeface="Source Code Pro"/>
              <a:cs typeface="Source Code Pro"/>
              <a:sym typeface="Source Code Pro"/>
            </a:endParaRPr>
          </a:p>
        </p:txBody>
      </p:sp>
      <p:sp>
        <p:nvSpPr>
          <p:cNvPr id="338" name="Google Shape;338;p36"/>
          <p:cNvSpPr txBox="1"/>
          <p:nvPr/>
        </p:nvSpPr>
        <p:spPr>
          <a:xfrm>
            <a:off x="7374344" y="3643674"/>
            <a:ext cx="356700" cy="32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ource Code Pro"/>
                <a:ea typeface="Source Code Pro"/>
                <a:cs typeface="Source Code Pro"/>
                <a:sym typeface="Source Code Pro"/>
              </a:rPr>
              <a:t>4</a:t>
            </a:r>
            <a:endParaRPr>
              <a:solidFill>
                <a:srgbClr val="FF0000"/>
              </a:solidFill>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000"/>
                                        <p:tgtEl>
                                          <p:spTgt spid="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1000"/>
                                        <p:tgtEl>
                                          <p:spTgt spid="3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3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Weighted Graph</a:t>
            </a:r>
            <a:endParaRPr/>
          </a:p>
        </p:txBody>
      </p:sp>
      <p:pic>
        <p:nvPicPr>
          <p:cNvPr id="345" name="Google Shape;345;p37"/>
          <p:cNvPicPr preferRelativeResize="0"/>
          <p:nvPr/>
        </p:nvPicPr>
        <p:blipFill>
          <a:blip r:embed="rId3">
            <a:alphaModFix/>
          </a:blip>
          <a:stretch>
            <a:fillRect/>
          </a:stretch>
        </p:blipFill>
        <p:spPr>
          <a:xfrm>
            <a:off x="733752" y="2307049"/>
            <a:ext cx="1024225" cy="2581974"/>
          </a:xfrm>
          <a:prstGeom prst="rect">
            <a:avLst/>
          </a:prstGeom>
          <a:noFill/>
          <a:ln>
            <a:noFill/>
          </a:ln>
        </p:spPr>
      </p:pic>
      <p:grpSp>
        <p:nvGrpSpPr>
          <p:cNvPr id="346" name="Google Shape;346;p37"/>
          <p:cNvGrpSpPr/>
          <p:nvPr/>
        </p:nvGrpSpPr>
        <p:grpSpPr>
          <a:xfrm>
            <a:off x="4300535" y="1578019"/>
            <a:ext cx="3430562" cy="3090438"/>
            <a:chOff x="338125" y="1610890"/>
            <a:chExt cx="3334852" cy="3004217"/>
          </a:xfrm>
        </p:grpSpPr>
        <p:sp>
          <p:nvSpPr>
            <p:cNvPr id="347" name="Google Shape;347;p37"/>
            <p:cNvSpPr/>
            <p:nvPr/>
          </p:nvSpPr>
          <p:spPr>
            <a:xfrm>
              <a:off x="679459"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348" name="Google Shape;348;p37"/>
            <p:cNvSpPr/>
            <p:nvPr/>
          </p:nvSpPr>
          <p:spPr>
            <a:xfrm>
              <a:off x="1772863" y="2900772"/>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349" name="Google Shape;349;p37"/>
            <p:cNvSpPr/>
            <p:nvPr/>
          </p:nvSpPr>
          <p:spPr>
            <a:xfrm>
              <a:off x="338125" y="295099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350" name="Google Shape;350;p37"/>
            <p:cNvSpPr/>
            <p:nvPr/>
          </p:nvSpPr>
          <p:spPr>
            <a:xfrm>
              <a:off x="2380788"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351" name="Google Shape;351;p37"/>
            <p:cNvSpPr/>
            <p:nvPr/>
          </p:nvSpPr>
          <p:spPr>
            <a:xfrm>
              <a:off x="2863270"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52" name="Google Shape;352;p37"/>
            <p:cNvSpPr/>
            <p:nvPr/>
          </p:nvSpPr>
          <p:spPr>
            <a:xfrm>
              <a:off x="3110849" y="2857201"/>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353" name="Google Shape;353;p37"/>
            <p:cNvSpPr/>
            <p:nvPr/>
          </p:nvSpPr>
          <p:spPr>
            <a:xfrm>
              <a:off x="1300197"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354" name="Google Shape;354;p37"/>
            <p:cNvCxnSpPr>
              <a:stCxn id="347" idx="3"/>
              <a:endCxn id="349"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355" name="Google Shape;355;p37"/>
            <p:cNvCxnSpPr>
              <a:stCxn id="347" idx="6"/>
              <a:endCxn id="350"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356" name="Google Shape;356;p37"/>
            <p:cNvCxnSpPr>
              <a:stCxn id="347" idx="5"/>
              <a:endCxn id="348"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357" name="Google Shape;357;p37"/>
            <p:cNvCxnSpPr>
              <a:stCxn id="348" idx="6"/>
              <a:endCxn id="352"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358" name="Google Shape;358;p37"/>
            <p:cNvCxnSpPr>
              <a:stCxn id="352" idx="4"/>
              <a:endCxn id="351"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359" name="Google Shape;359;p37"/>
            <p:cNvCxnSpPr>
              <a:stCxn id="348" idx="3"/>
              <a:endCxn id="353"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360" name="Google Shape;360;p37"/>
            <p:cNvCxnSpPr>
              <a:stCxn id="353" idx="6"/>
              <a:endCxn id="351"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361" name="Google Shape;361;p37"/>
            <p:cNvCxnSpPr>
              <a:stCxn id="349" idx="6"/>
              <a:endCxn id="348"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362" name="Google Shape;362;p37"/>
            <p:cNvCxnSpPr>
              <a:stCxn id="350" idx="5"/>
              <a:endCxn id="352"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363" name="Google Shape;363;p37"/>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364" name="Google Shape;364;p37"/>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365" name="Google Shape;365;p37"/>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66" name="Google Shape;366;p37"/>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367" name="Google Shape;367;p37"/>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68" name="Google Shape;368;p37"/>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69" name="Google Shape;369;p37"/>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70" name="Google Shape;370;p37"/>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371" name="Google Shape;371;p37"/>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372" name="Google Shape;372;p37"/>
            <p:cNvCxnSpPr>
              <a:stCxn id="349" idx="5"/>
              <a:endCxn id="353"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373" name="Google Shape;373;p37"/>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374" name="Google Shape;374;p37"/>
          <p:cNvSpPr/>
          <p:nvPr/>
        </p:nvSpPr>
        <p:spPr>
          <a:xfrm>
            <a:off x="1735200" y="3143328"/>
            <a:ext cx="1900500" cy="623700"/>
          </a:xfrm>
          <a:prstGeom prst="wedgeRoundRectCallout">
            <a:avLst>
              <a:gd fmla="val -56159" name="adj1"/>
              <a:gd fmla="val -52241"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BFS would </a:t>
            </a:r>
            <a:r>
              <a:rPr b="1" i="1" lang="en" sz="1000">
                <a:solidFill>
                  <a:srgbClr val="FF0000"/>
                </a:solidFill>
              </a:rPr>
              <a:t>never</a:t>
            </a:r>
            <a:r>
              <a:rPr lang="en" sz="1000">
                <a:solidFill>
                  <a:srgbClr val="FF0000"/>
                </a:solidFill>
              </a:rPr>
              <a:t> </a:t>
            </a:r>
            <a:r>
              <a:rPr lang="en" sz="1000"/>
              <a:t>find this path because it </a:t>
            </a:r>
            <a:r>
              <a:rPr b="1" i="1" lang="en" sz="1000">
                <a:solidFill>
                  <a:srgbClr val="FF0000"/>
                </a:solidFill>
              </a:rPr>
              <a:t>always</a:t>
            </a:r>
            <a:r>
              <a:rPr lang="en" sz="1000">
                <a:solidFill>
                  <a:srgbClr val="FF0000"/>
                </a:solidFill>
              </a:rPr>
              <a:t> </a:t>
            </a:r>
            <a:r>
              <a:rPr lang="en" sz="1000"/>
              <a:t>finds paths with the fewest edges.</a:t>
            </a:r>
            <a:endParaRPr sz="1000"/>
          </a:p>
        </p:txBody>
      </p:sp>
      <p:cxnSp>
        <p:nvCxnSpPr>
          <p:cNvPr id="375" name="Google Shape;375;p37"/>
          <p:cNvCxnSpPr/>
          <p:nvPr/>
        </p:nvCxnSpPr>
        <p:spPr>
          <a:xfrm>
            <a:off x="5127919" y="2140386"/>
            <a:ext cx="730200" cy="846300"/>
          </a:xfrm>
          <a:prstGeom prst="straightConnector1">
            <a:avLst/>
          </a:prstGeom>
          <a:noFill/>
          <a:ln cap="flat" cmpd="sng" w="38100">
            <a:solidFill>
              <a:srgbClr val="FF0000"/>
            </a:solidFill>
            <a:prstDash val="solid"/>
            <a:round/>
            <a:headEnd len="med" w="med" type="none"/>
            <a:tailEnd len="med" w="med" type="stealth"/>
          </a:ln>
        </p:spPr>
      </p:cxnSp>
      <p:cxnSp>
        <p:nvCxnSpPr>
          <p:cNvPr id="376" name="Google Shape;376;p37"/>
          <p:cNvCxnSpPr/>
          <p:nvPr/>
        </p:nvCxnSpPr>
        <p:spPr>
          <a:xfrm flipH="1" rot="10800000">
            <a:off x="6334416" y="3139204"/>
            <a:ext cx="818400" cy="44700"/>
          </a:xfrm>
          <a:prstGeom prst="straightConnector1">
            <a:avLst/>
          </a:prstGeom>
          <a:noFill/>
          <a:ln cap="flat" cmpd="sng" w="38100">
            <a:solidFill>
              <a:srgbClr val="FF0000"/>
            </a:solidFill>
            <a:prstDash val="solid"/>
            <a:round/>
            <a:headEnd len="med" w="med" type="none"/>
            <a:tailEnd len="med" w="med" type="stealth"/>
          </a:ln>
        </p:spPr>
      </p:cxnSp>
      <p:cxnSp>
        <p:nvCxnSpPr>
          <p:cNvPr id="377" name="Google Shape;377;p37"/>
          <p:cNvCxnSpPr/>
          <p:nvPr/>
        </p:nvCxnSpPr>
        <p:spPr>
          <a:xfrm flipH="1">
            <a:off x="7374519" y="3418066"/>
            <a:ext cx="57300" cy="774000"/>
          </a:xfrm>
          <a:prstGeom prst="straightConnector1">
            <a:avLst/>
          </a:prstGeom>
          <a:noFill/>
          <a:ln cap="flat" cmpd="sng" w="38100">
            <a:solidFill>
              <a:srgbClr val="FF0000"/>
            </a:solidFill>
            <a:prstDash val="solid"/>
            <a:round/>
            <a:headEnd len="med" w="med" type="none"/>
            <a:tailEnd len="med" w="med" type="stealth"/>
          </a:ln>
        </p:spPr>
      </p:cxnSp>
      <p:sp>
        <p:nvSpPr>
          <p:cNvPr id="378" name="Google Shape;378;p37"/>
          <p:cNvSpPr txBox="1"/>
          <p:nvPr/>
        </p:nvSpPr>
        <p:spPr>
          <a:xfrm>
            <a:off x="5479041" y="2337817"/>
            <a:ext cx="356700" cy="32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ource Code Pro"/>
                <a:ea typeface="Source Code Pro"/>
                <a:cs typeface="Source Code Pro"/>
                <a:sym typeface="Source Code Pro"/>
              </a:rPr>
              <a:t>6</a:t>
            </a:r>
            <a:endParaRPr>
              <a:solidFill>
                <a:srgbClr val="FF0000"/>
              </a:solidFill>
              <a:latin typeface="Source Code Pro"/>
              <a:ea typeface="Source Code Pro"/>
              <a:cs typeface="Source Code Pro"/>
              <a:sym typeface="Source Code Pro"/>
            </a:endParaRPr>
          </a:p>
        </p:txBody>
      </p:sp>
      <p:sp>
        <p:nvSpPr>
          <p:cNvPr id="379" name="Google Shape;379;p37"/>
          <p:cNvSpPr txBox="1"/>
          <p:nvPr/>
        </p:nvSpPr>
        <p:spPr>
          <a:xfrm>
            <a:off x="6548389" y="2872491"/>
            <a:ext cx="356700" cy="32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ource Code Pro"/>
                <a:ea typeface="Source Code Pro"/>
                <a:cs typeface="Source Code Pro"/>
                <a:sym typeface="Source Code Pro"/>
              </a:rPr>
              <a:t>5</a:t>
            </a:r>
            <a:endParaRPr>
              <a:solidFill>
                <a:srgbClr val="FF0000"/>
              </a:solidFill>
              <a:latin typeface="Source Code Pro"/>
              <a:ea typeface="Source Code Pro"/>
              <a:cs typeface="Source Code Pro"/>
              <a:sym typeface="Source Code Pro"/>
            </a:endParaRPr>
          </a:p>
        </p:txBody>
      </p:sp>
      <p:sp>
        <p:nvSpPr>
          <p:cNvPr id="380" name="Google Shape;380;p37"/>
          <p:cNvSpPr txBox="1"/>
          <p:nvPr/>
        </p:nvSpPr>
        <p:spPr>
          <a:xfrm>
            <a:off x="7374344" y="3643674"/>
            <a:ext cx="356700" cy="32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Source Code Pro"/>
                <a:ea typeface="Source Code Pro"/>
                <a:cs typeface="Source Code Pro"/>
                <a:sym typeface="Source Code Pro"/>
              </a:rPr>
              <a:t>4</a:t>
            </a:r>
            <a:endParaRPr>
              <a:solidFill>
                <a:srgbClr val="FF0000"/>
              </a:solidFill>
              <a:latin typeface="Source Code Pro"/>
              <a:ea typeface="Source Code Pro"/>
              <a:cs typeface="Source Code Pro"/>
              <a:sym typeface="Source Code Pro"/>
            </a:endParaRPr>
          </a:p>
        </p:txBody>
      </p:sp>
      <p:sp>
        <p:nvSpPr>
          <p:cNvPr id="381" name="Google Shape;381;p37"/>
          <p:cNvSpPr/>
          <p:nvPr/>
        </p:nvSpPr>
        <p:spPr>
          <a:xfrm>
            <a:off x="668400" y="1578025"/>
            <a:ext cx="1900500" cy="605100"/>
          </a:xfrm>
          <a:prstGeom prst="wedgeRoundRectCallout">
            <a:avLst>
              <a:gd fmla="val -20833" name="adj1"/>
              <a:gd fmla="val 6250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But there is a </a:t>
            </a:r>
            <a:r>
              <a:rPr b="1" i="1" lang="en" sz="1000">
                <a:solidFill>
                  <a:srgbClr val="FF0000"/>
                </a:solidFill>
              </a:rPr>
              <a:t>lower cost</a:t>
            </a:r>
            <a:r>
              <a:rPr lang="en" sz="1000">
                <a:solidFill>
                  <a:srgbClr val="FF0000"/>
                </a:solidFill>
              </a:rPr>
              <a:t> </a:t>
            </a:r>
            <a:r>
              <a:rPr lang="en" sz="1000"/>
              <a:t>path from </a:t>
            </a:r>
            <a:r>
              <a:rPr b="1" i="1" lang="en" sz="1000">
                <a:solidFill>
                  <a:srgbClr val="FF0000"/>
                </a:solidFill>
              </a:rPr>
              <a:t>A to E</a:t>
            </a:r>
            <a:r>
              <a:rPr lang="en" sz="1000"/>
              <a:t> in this graph.</a:t>
            </a:r>
            <a:endParaRPr sz="1000"/>
          </a:p>
        </p:txBody>
      </p:sp>
      <p:sp>
        <p:nvSpPr>
          <p:cNvPr id="382" name="Google Shape;382;p37"/>
          <p:cNvSpPr/>
          <p:nvPr/>
        </p:nvSpPr>
        <p:spPr>
          <a:xfrm>
            <a:off x="1735200" y="2263800"/>
            <a:ext cx="1900500" cy="757500"/>
          </a:xfrm>
          <a:prstGeom prst="wedgeRoundRectCallout">
            <a:avLst>
              <a:gd fmla="val -63404" name="adj1"/>
              <a:gd fmla="val -1612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The Path </a:t>
            </a:r>
            <a:r>
              <a:rPr b="1" i="1" lang="en" sz="1000">
                <a:solidFill>
                  <a:srgbClr val="0000FF"/>
                </a:solidFill>
              </a:rPr>
              <a:t>A-C-B-G-E</a:t>
            </a:r>
            <a:r>
              <a:rPr lang="en" sz="1000"/>
              <a:t> comprises </a:t>
            </a:r>
            <a:r>
              <a:rPr b="1" i="1" lang="en" sz="1000">
                <a:solidFill>
                  <a:srgbClr val="0000FF"/>
                </a:solidFill>
              </a:rPr>
              <a:t>four edges</a:t>
            </a:r>
            <a:r>
              <a:rPr lang="en" sz="1000">
                <a:solidFill>
                  <a:srgbClr val="FF0000"/>
                </a:solidFill>
              </a:rPr>
              <a:t> </a:t>
            </a:r>
            <a:r>
              <a:rPr lang="en" sz="1000"/>
              <a:t>but has a total cost of only</a:t>
            </a:r>
            <a:endParaRPr sz="1000"/>
          </a:p>
          <a:p>
            <a:pPr indent="0" lvl="0" marL="0" rtl="0" algn="ctr">
              <a:spcBef>
                <a:spcPts val="0"/>
              </a:spcBef>
              <a:spcAft>
                <a:spcPts val="0"/>
              </a:spcAft>
              <a:buNone/>
            </a:pPr>
            <a:r>
              <a:rPr b="1" i="1" lang="en" sz="1000">
                <a:solidFill>
                  <a:srgbClr val="0000FF"/>
                </a:solidFill>
              </a:rPr>
              <a:t>1 + 2 + 2 + 4 = 9</a:t>
            </a:r>
            <a:r>
              <a:rPr lang="en" sz="1000"/>
              <a:t>.</a:t>
            </a:r>
            <a:endParaRPr sz="1000"/>
          </a:p>
        </p:txBody>
      </p:sp>
      <p:sp>
        <p:nvSpPr>
          <p:cNvPr id="383" name="Google Shape;383;p37"/>
          <p:cNvSpPr/>
          <p:nvPr/>
        </p:nvSpPr>
        <p:spPr>
          <a:xfrm>
            <a:off x="1735200" y="3905328"/>
            <a:ext cx="1900500" cy="623700"/>
          </a:xfrm>
          <a:prstGeom prst="wedgeRoundRectCallout">
            <a:avLst>
              <a:gd fmla="val -56159" name="adj1"/>
              <a:gd fmla="val -52241"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a:t>
            </a:r>
            <a:r>
              <a:rPr lang="en" sz="1000"/>
              <a:t>FS </a:t>
            </a:r>
            <a:r>
              <a:rPr b="1" i="1" lang="en" sz="1000">
                <a:solidFill>
                  <a:srgbClr val="FF0000"/>
                </a:solidFill>
              </a:rPr>
              <a:t>might</a:t>
            </a:r>
            <a:r>
              <a:rPr lang="en" sz="1000">
                <a:solidFill>
                  <a:srgbClr val="FF0000"/>
                </a:solidFill>
              </a:rPr>
              <a:t> </a:t>
            </a:r>
            <a:r>
              <a:rPr lang="en" sz="1000"/>
              <a:t>find it, but if it did, it would be a total coincidence.</a:t>
            </a:r>
            <a:endParaRPr sz="1000"/>
          </a:p>
        </p:txBody>
      </p:sp>
      <p:grpSp>
        <p:nvGrpSpPr>
          <p:cNvPr id="384" name="Google Shape;384;p37"/>
          <p:cNvGrpSpPr/>
          <p:nvPr/>
        </p:nvGrpSpPr>
        <p:grpSpPr>
          <a:xfrm>
            <a:off x="4300537" y="2140386"/>
            <a:ext cx="432840" cy="816273"/>
            <a:chOff x="4300537" y="2140386"/>
            <a:chExt cx="432840" cy="816273"/>
          </a:xfrm>
        </p:grpSpPr>
        <p:cxnSp>
          <p:nvCxnSpPr>
            <p:cNvPr id="385" name="Google Shape;385;p37"/>
            <p:cNvCxnSpPr/>
            <p:nvPr/>
          </p:nvCxnSpPr>
          <p:spPr>
            <a:xfrm flipH="1">
              <a:off x="4579381" y="2140386"/>
              <a:ext cx="153996" cy="816273"/>
            </a:xfrm>
            <a:prstGeom prst="straightConnector1">
              <a:avLst/>
            </a:prstGeom>
            <a:noFill/>
            <a:ln cap="flat" cmpd="sng" w="38100">
              <a:solidFill>
                <a:srgbClr val="0000FF"/>
              </a:solidFill>
              <a:prstDash val="solid"/>
              <a:round/>
              <a:headEnd len="med" w="med" type="none"/>
              <a:tailEnd len="med" w="med" type="stealth"/>
            </a:ln>
          </p:spPr>
        </p:cxnSp>
        <p:sp>
          <p:nvSpPr>
            <p:cNvPr id="386" name="Google Shape;386;p37"/>
            <p:cNvSpPr txBox="1"/>
            <p:nvPr/>
          </p:nvSpPr>
          <p:spPr>
            <a:xfrm>
              <a:off x="4300537" y="2386989"/>
              <a:ext cx="356753" cy="322806"/>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Source Code Pro"/>
                  <a:ea typeface="Source Code Pro"/>
                  <a:cs typeface="Source Code Pro"/>
                  <a:sym typeface="Source Code Pro"/>
                </a:rPr>
                <a:t>1</a:t>
              </a:r>
              <a:endParaRPr>
                <a:solidFill>
                  <a:srgbClr val="0000FF"/>
                </a:solidFill>
                <a:latin typeface="Source Code Pro"/>
                <a:ea typeface="Source Code Pro"/>
                <a:cs typeface="Source Code Pro"/>
                <a:sym typeface="Source Code Pro"/>
              </a:endParaRPr>
            </a:p>
          </p:txBody>
        </p:sp>
      </p:grpSp>
      <p:grpSp>
        <p:nvGrpSpPr>
          <p:cNvPr id="387" name="Google Shape;387;p37"/>
          <p:cNvGrpSpPr/>
          <p:nvPr/>
        </p:nvGrpSpPr>
        <p:grpSpPr>
          <a:xfrm>
            <a:off x="4858502" y="2904914"/>
            <a:ext cx="917806" cy="330650"/>
            <a:chOff x="4858502" y="2904914"/>
            <a:chExt cx="917806" cy="330650"/>
          </a:xfrm>
        </p:grpSpPr>
        <p:cxnSp>
          <p:nvCxnSpPr>
            <p:cNvPr id="388" name="Google Shape;388;p37"/>
            <p:cNvCxnSpPr/>
            <p:nvPr/>
          </p:nvCxnSpPr>
          <p:spPr>
            <a:xfrm flipH="1" rot="10800000">
              <a:off x="4858502" y="3184026"/>
              <a:ext cx="917806" cy="51538"/>
            </a:xfrm>
            <a:prstGeom prst="straightConnector1">
              <a:avLst/>
            </a:prstGeom>
            <a:noFill/>
            <a:ln cap="flat" cmpd="sng" w="38100">
              <a:solidFill>
                <a:srgbClr val="0000FF"/>
              </a:solidFill>
              <a:prstDash val="solid"/>
              <a:round/>
              <a:headEnd len="med" w="med" type="none"/>
              <a:tailEnd len="med" w="med" type="stealth"/>
            </a:ln>
          </p:spPr>
        </p:cxnSp>
        <p:sp>
          <p:nvSpPr>
            <p:cNvPr id="389" name="Google Shape;389;p37"/>
            <p:cNvSpPr txBox="1"/>
            <p:nvPr/>
          </p:nvSpPr>
          <p:spPr>
            <a:xfrm>
              <a:off x="5076537" y="2904914"/>
              <a:ext cx="356753" cy="322806"/>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Source Code Pro"/>
                  <a:ea typeface="Source Code Pro"/>
                  <a:cs typeface="Source Code Pro"/>
                  <a:sym typeface="Source Code Pro"/>
                </a:rPr>
                <a:t>2</a:t>
              </a:r>
              <a:endParaRPr>
                <a:solidFill>
                  <a:srgbClr val="0000FF"/>
                </a:solidFill>
                <a:latin typeface="Source Code Pro"/>
                <a:ea typeface="Source Code Pro"/>
                <a:cs typeface="Source Code Pro"/>
                <a:sym typeface="Source Code Pro"/>
              </a:endParaRPr>
            </a:p>
          </p:txBody>
        </p:sp>
      </p:grpSp>
      <p:grpSp>
        <p:nvGrpSpPr>
          <p:cNvPr id="390" name="Google Shape;390;p37"/>
          <p:cNvGrpSpPr/>
          <p:nvPr/>
        </p:nvGrpSpPr>
        <p:grpSpPr>
          <a:xfrm>
            <a:off x="5422000" y="3381175"/>
            <a:ext cx="436162" cy="729245"/>
            <a:chOff x="5422000" y="3381175"/>
            <a:chExt cx="436162" cy="729245"/>
          </a:xfrm>
        </p:grpSpPr>
        <p:cxnSp>
          <p:nvCxnSpPr>
            <p:cNvPr id="391" name="Google Shape;391;p37"/>
            <p:cNvCxnSpPr/>
            <p:nvPr/>
          </p:nvCxnSpPr>
          <p:spPr>
            <a:xfrm flipH="1">
              <a:off x="5569303" y="3381175"/>
              <a:ext cx="288859" cy="729245"/>
            </a:xfrm>
            <a:prstGeom prst="straightConnector1">
              <a:avLst/>
            </a:prstGeom>
            <a:noFill/>
            <a:ln cap="flat" cmpd="sng" w="38100">
              <a:solidFill>
                <a:srgbClr val="0000FF"/>
              </a:solidFill>
              <a:prstDash val="solid"/>
              <a:round/>
              <a:headEnd len="med" w="med" type="none"/>
              <a:tailEnd len="med" w="med" type="stealth"/>
            </a:ln>
          </p:spPr>
        </p:cxnSp>
        <p:sp>
          <p:nvSpPr>
            <p:cNvPr id="392" name="Google Shape;392;p37"/>
            <p:cNvSpPr txBox="1"/>
            <p:nvPr/>
          </p:nvSpPr>
          <p:spPr>
            <a:xfrm>
              <a:off x="5422000" y="3507693"/>
              <a:ext cx="356753" cy="322806"/>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Source Code Pro"/>
                  <a:ea typeface="Source Code Pro"/>
                  <a:cs typeface="Source Code Pro"/>
                  <a:sym typeface="Source Code Pro"/>
                </a:rPr>
                <a:t>2</a:t>
              </a:r>
              <a:endParaRPr>
                <a:solidFill>
                  <a:srgbClr val="0000FF"/>
                </a:solidFill>
                <a:latin typeface="Source Code Pro"/>
                <a:ea typeface="Source Code Pro"/>
                <a:cs typeface="Source Code Pro"/>
                <a:sym typeface="Source Code Pro"/>
              </a:endParaRPr>
            </a:p>
          </p:txBody>
        </p:sp>
      </p:grpSp>
      <p:grpSp>
        <p:nvGrpSpPr>
          <p:cNvPr id="393" name="Google Shape;393;p37"/>
          <p:cNvGrpSpPr/>
          <p:nvPr/>
        </p:nvGrpSpPr>
        <p:grpSpPr>
          <a:xfrm>
            <a:off x="5848185" y="4086478"/>
            <a:ext cx="1049891" cy="322806"/>
            <a:chOff x="5848185" y="4086478"/>
            <a:chExt cx="1049891" cy="322806"/>
          </a:xfrm>
        </p:grpSpPr>
        <p:cxnSp>
          <p:nvCxnSpPr>
            <p:cNvPr id="394" name="Google Shape;394;p37"/>
            <p:cNvCxnSpPr/>
            <p:nvPr/>
          </p:nvCxnSpPr>
          <p:spPr>
            <a:xfrm>
              <a:off x="5848185" y="4389473"/>
              <a:ext cx="1049891" cy="0"/>
            </a:xfrm>
            <a:prstGeom prst="straightConnector1">
              <a:avLst/>
            </a:prstGeom>
            <a:noFill/>
            <a:ln cap="flat" cmpd="sng" w="38100">
              <a:solidFill>
                <a:srgbClr val="0000FF"/>
              </a:solidFill>
              <a:prstDash val="solid"/>
              <a:round/>
              <a:headEnd len="med" w="med" type="none"/>
              <a:tailEnd len="med" w="med" type="stealth"/>
            </a:ln>
          </p:spPr>
        </p:cxnSp>
        <p:sp>
          <p:nvSpPr>
            <p:cNvPr id="395" name="Google Shape;395;p37"/>
            <p:cNvSpPr txBox="1"/>
            <p:nvPr/>
          </p:nvSpPr>
          <p:spPr>
            <a:xfrm>
              <a:off x="6194798" y="4086478"/>
              <a:ext cx="356753" cy="322806"/>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Source Code Pro"/>
                  <a:ea typeface="Source Code Pro"/>
                  <a:cs typeface="Source Code Pro"/>
                  <a:sym typeface="Source Code Pro"/>
                </a:rPr>
                <a:t>4</a:t>
              </a:r>
              <a:endParaRPr>
                <a:solidFill>
                  <a:srgbClr val="0000FF"/>
                </a:solidFill>
                <a:latin typeface="Source Code Pro"/>
                <a:ea typeface="Source Code Pro"/>
                <a:cs typeface="Source Code Pro"/>
                <a:sym typeface="Source Code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Weighted Graph</a:t>
            </a:r>
            <a:endParaRPr/>
          </a:p>
        </p:txBody>
      </p:sp>
      <p:sp>
        <p:nvSpPr>
          <p:cNvPr id="401" name="Google Shape;401;p38"/>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The Graph </a:t>
            </a:r>
            <a:r>
              <a:rPr lang="en"/>
              <a:t>abstract</a:t>
            </a:r>
            <a:r>
              <a:rPr lang="en"/>
              <a:t> data type that we have used previously keeps track of which vertices are connected as </a:t>
            </a:r>
            <a:r>
              <a:rPr i="1" lang="en"/>
              <a:t>neighbors</a:t>
            </a:r>
            <a:r>
              <a:rPr lang="en"/>
              <a:t>, but it doesn't assign a weight to those connections. We'll need a new Graph data structure that stores edges with weights.</a:t>
            </a:r>
            <a:endParaRPr/>
          </a:p>
        </p:txBody>
      </p:sp>
      <p:sp>
        <p:nvSpPr>
          <p:cNvPr id="402" name="Google Shape;402;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3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13.7</a:t>
            </a:r>
            <a:endParaRPr/>
          </a:p>
        </p:txBody>
      </p:sp>
      <p:sp>
        <p:nvSpPr>
          <p:cNvPr id="404" name="Google Shape;404;p38"/>
          <p:cNvSpPr txBox="1"/>
          <p:nvPr/>
        </p:nvSpPr>
        <p:spPr>
          <a:xfrm>
            <a:off x="341350" y="4039850"/>
            <a:ext cx="2769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t>When two vertices are connected by an edge in a </a:t>
            </a:r>
            <a:r>
              <a:rPr b="1" i="1" lang="en" sz="1200">
                <a:solidFill>
                  <a:srgbClr val="FF0000"/>
                </a:solidFill>
              </a:rPr>
              <a:t>weighted graph</a:t>
            </a:r>
            <a:r>
              <a:rPr lang="en" sz="1200"/>
              <a:t>, a </a:t>
            </a:r>
            <a:r>
              <a:rPr b="1" i="1" lang="en" sz="1200">
                <a:solidFill>
                  <a:srgbClr val="FF0000"/>
                </a:solidFill>
              </a:rPr>
              <a:t>weight </a:t>
            </a:r>
            <a:r>
              <a:rPr lang="en" sz="1200"/>
              <a:t>is associated with the edge.</a:t>
            </a:r>
            <a:endParaRPr sz="1200"/>
          </a:p>
        </p:txBody>
      </p:sp>
      <p:sp>
        <p:nvSpPr>
          <p:cNvPr id="405" name="Google Shape;405;p38"/>
          <p:cNvSpPr txBox="1"/>
          <p:nvPr>
            <p:ph idx="2" type="body"/>
          </p:nvPr>
        </p:nvSpPr>
        <p:spPr>
          <a:xfrm>
            <a:off x="3334650" y="1791800"/>
            <a:ext cx="5369700" cy="28536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The </a:t>
            </a:r>
            <a:r>
              <a:rPr lang="en" sz="1700">
                <a:latin typeface="Courier New"/>
                <a:ea typeface="Courier New"/>
                <a:cs typeface="Courier New"/>
                <a:sym typeface="Courier New"/>
              </a:rPr>
              <a:t>WGraph</a:t>
            </a:r>
            <a:r>
              <a:rPr lang="en" sz="1700"/>
              <a:t> interface has been provided to you in the </a:t>
            </a:r>
            <a:r>
              <a:rPr lang="en" sz="1700">
                <a:latin typeface="Courier New"/>
                <a:ea typeface="Courier New"/>
                <a:cs typeface="Courier New"/>
                <a:sym typeface="Courier New"/>
              </a:rPr>
              <a:t>weighted</a:t>
            </a:r>
            <a:r>
              <a:rPr lang="en" sz="1700"/>
              <a:t> package.</a:t>
            </a:r>
            <a:endParaRPr sz="1700"/>
          </a:p>
          <a:p>
            <a:pPr indent="-336550" lvl="1" marL="914400" rtl="0" algn="l">
              <a:spcBef>
                <a:spcPts val="0"/>
              </a:spcBef>
              <a:spcAft>
                <a:spcPts val="0"/>
              </a:spcAft>
              <a:buSzPts val="1700"/>
              <a:buChar char="○"/>
            </a:pPr>
            <a:r>
              <a:rPr lang="en" sz="1700"/>
              <a:t>Take a moment to review the code and the methods that it provides. Do you understand the purpose of each one?</a:t>
            </a:r>
            <a:endParaRPr sz="1700"/>
          </a:p>
          <a:p>
            <a:pPr indent="-336550" lvl="1" marL="914400" rtl="0" algn="l">
              <a:spcBef>
                <a:spcPts val="0"/>
              </a:spcBef>
              <a:spcAft>
                <a:spcPts val="0"/>
              </a:spcAft>
              <a:buSzPts val="1700"/>
              <a:buChar char="○"/>
            </a:pPr>
            <a:r>
              <a:rPr lang="en" sz="1700"/>
              <a:t>If you have any questions, ask your instructor!</a:t>
            </a:r>
            <a:endParaRPr sz="1700"/>
          </a:p>
          <a:p>
            <a:pPr indent="-336550" lvl="0" marL="457200" rtl="0" algn="l">
              <a:spcBef>
                <a:spcPts val="0"/>
              </a:spcBef>
              <a:spcAft>
                <a:spcPts val="0"/>
              </a:spcAft>
              <a:buSzPts val="1700"/>
              <a:buChar char="●"/>
            </a:pPr>
            <a:r>
              <a:rPr lang="en" sz="1700"/>
              <a:t>We will be discussing the </a:t>
            </a:r>
            <a:r>
              <a:rPr i="1" lang="en" sz="1700"/>
              <a:t>Nearest Neighbor</a:t>
            </a:r>
            <a:r>
              <a:rPr lang="en" sz="1700"/>
              <a:t> and </a:t>
            </a:r>
            <a:r>
              <a:rPr i="1" lang="en" sz="1700"/>
              <a:t>Dijkstra's Path</a:t>
            </a:r>
            <a:r>
              <a:rPr lang="en" sz="1700"/>
              <a:t> algorithms presently.</a:t>
            </a:r>
            <a:endParaRPr sz="1700"/>
          </a:p>
        </p:txBody>
      </p:sp>
      <p:pic>
        <p:nvPicPr>
          <p:cNvPr id="406" name="Google Shape;406;p38"/>
          <p:cNvPicPr preferRelativeResize="0"/>
          <p:nvPr/>
        </p:nvPicPr>
        <p:blipFill>
          <a:blip r:embed="rId3">
            <a:alphaModFix/>
          </a:blip>
          <a:stretch>
            <a:fillRect/>
          </a:stretch>
        </p:blipFill>
        <p:spPr>
          <a:xfrm>
            <a:off x="205310" y="1696700"/>
            <a:ext cx="3042592" cy="23431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Weighted Vertex</a:t>
            </a:r>
            <a:endParaRPr/>
          </a:p>
        </p:txBody>
      </p:sp>
      <p:sp>
        <p:nvSpPr>
          <p:cNvPr id="412" name="Google Shape;412;p3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 weighted adjacency graph needs a special vertex that not only keeps track of its neighbors, but the weight of the edges to those neighbors. Take a moment to examine the WVertex class that has been provided to you in your repository.</a:t>
            </a:r>
            <a:endParaRPr/>
          </a:p>
        </p:txBody>
      </p:sp>
      <p:sp>
        <p:nvSpPr>
          <p:cNvPr id="413" name="Google Shape;41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3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13</a:t>
            </a:r>
            <a:r>
              <a:rPr lang="en">
                <a:solidFill>
                  <a:schemeClr val="lt1"/>
                </a:solidFill>
              </a:rPr>
              <a:t>.8</a:t>
            </a:r>
            <a:endParaRPr/>
          </a:p>
        </p:txBody>
      </p:sp>
      <p:sp>
        <p:nvSpPr>
          <p:cNvPr id="415" name="Google Shape;415;p39"/>
          <p:cNvSpPr txBox="1"/>
          <p:nvPr>
            <p:ph idx="2" type="body"/>
          </p:nvPr>
        </p:nvSpPr>
        <p:spPr>
          <a:xfrm>
            <a:off x="2992000" y="1826925"/>
            <a:ext cx="5853000" cy="2021700"/>
          </a:xfrm>
          <a:prstGeom prst="rect">
            <a:avLst/>
          </a:prstGeom>
        </p:spPr>
        <p:txBody>
          <a:bodyPr anchorCtr="0" anchor="t" bIns="91425" lIns="91425" spcFirstLastPara="1" rIns="91425" wrap="square" tIns="91425">
            <a:spAutoFit/>
          </a:bodyPr>
          <a:lstStyle/>
          <a:p>
            <a:pPr indent="-349250" lvl="0" marL="457200" rtl="0" algn="l">
              <a:spcBef>
                <a:spcPts val="0"/>
              </a:spcBef>
              <a:spcAft>
                <a:spcPts val="0"/>
              </a:spcAft>
              <a:buSzPts val="1900"/>
              <a:buChar char="●"/>
            </a:pPr>
            <a:r>
              <a:rPr lang="en" sz="1900"/>
              <a:t>Open the </a:t>
            </a:r>
            <a:r>
              <a:rPr lang="en" sz="1900">
                <a:solidFill>
                  <a:srgbClr val="FF0000"/>
                </a:solidFill>
                <a:latin typeface="Courier New"/>
                <a:ea typeface="Courier New"/>
                <a:cs typeface="Courier New"/>
                <a:sym typeface="Courier New"/>
              </a:rPr>
              <a:t>WVertex</a:t>
            </a:r>
            <a:r>
              <a:rPr lang="en" sz="1900"/>
              <a:t> class that has been provided to your in your repository for this unit.</a:t>
            </a:r>
            <a:endParaRPr sz="1900"/>
          </a:p>
          <a:p>
            <a:pPr indent="-336550" lvl="1" marL="914400" rtl="0" algn="l">
              <a:spcBef>
                <a:spcPts val="0"/>
              </a:spcBef>
              <a:spcAft>
                <a:spcPts val="0"/>
              </a:spcAft>
              <a:buSzPts val="1700"/>
              <a:buChar char="○"/>
            </a:pPr>
            <a:r>
              <a:rPr lang="en" sz="1700"/>
              <a:t>Examine the fields and the constructor.</a:t>
            </a:r>
            <a:endParaRPr sz="1700"/>
          </a:p>
          <a:p>
            <a:pPr indent="-336550" lvl="1" marL="914400" rtl="0" algn="l">
              <a:spcBef>
                <a:spcPts val="0"/>
              </a:spcBef>
              <a:spcAft>
                <a:spcPts val="0"/>
              </a:spcAft>
              <a:buSzPts val="1700"/>
              <a:buChar char="○"/>
            </a:pPr>
            <a:r>
              <a:rPr lang="en" sz="1700"/>
              <a:t>Examine each of the methods that the </a:t>
            </a:r>
            <a:r>
              <a:rPr lang="en" sz="1700">
                <a:latin typeface="Courier New"/>
                <a:ea typeface="Courier New"/>
                <a:cs typeface="Courier New"/>
                <a:sym typeface="Courier New"/>
              </a:rPr>
              <a:t>WVertex</a:t>
            </a:r>
            <a:r>
              <a:rPr lang="en" sz="1700"/>
              <a:t> provides. Do you understand the purpose?</a:t>
            </a:r>
            <a:endParaRPr sz="1700"/>
          </a:p>
          <a:p>
            <a:pPr indent="-336550" lvl="1" marL="914400" rtl="0" algn="l">
              <a:spcBef>
                <a:spcPts val="0"/>
              </a:spcBef>
              <a:spcAft>
                <a:spcPts val="0"/>
              </a:spcAft>
              <a:buSzPts val="1700"/>
              <a:buChar char="○"/>
            </a:pPr>
            <a:r>
              <a:rPr lang="en" sz="1700"/>
              <a:t>If you have any questions, </a:t>
            </a:r>
            <a:r>
              <a:rPr b="1" i="1" lang="en" sz="1700">
                <a:solidFill>
                  <a:srgbClr val="FF0000"/>
                </a:solidFill>
              </a:rPr>
              <a:t>raise your hand!</a:t>
            </a:r>
            <a:endParaRPr b="1" i="1" sz="1700">
              <a:solidFill>
                <a:srgbClr val="FF0000"/>
              </a:solidFill>
            </a:endParaRPr>
          </a:p>
        </p:txBody>
      </p:sp>
      <p:pic>
        <p:nvPicPr>
          <p:cNvPr id="416" name="Google Shape;416;p39"/>
          <p:cNvPicPr preferRelativeResize="0"/>
          <p:nvPr/>
        </p:nvPicPr>
        <p:blipFill>
          <a:blip r:embed="rId3">
            <a:alphaModFix/>
          </a:blip>
          <a:stretch>
            <a:fillRect/>
          </a:stretch>
        </p:blipFill>
        <p:spPr>
          <a:xfrm>
            <a:off x="152400" y="1826925"/>
            <a:ext cx="2947575" cy="22132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0"/>
          <p:cNvSpPr txBox="1"/>
          <p:nvPr>
            <p:ph type="title"/>
          </p:nvPr>
        </p:nvSpPr>
        <p:spPr>
          <a:xfrm>
            <a:off x="1436850" y="100"/>
            <a:ext cx="7642500" cy="6927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3300"/>
              <a:t>A Weighted Adjacency Graph</a:t>
            </a:r>
            <a:endParaRPr sz="3300"/>
          </a:p>
        </p:txBody>
      </p:sp>
      <p:sp>
        <p:nvSpPr>
          <p:cNvPr id="422" name="Google Shape;422;p40"/>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a:t>Now it's finally time to work with a weighted graph! The implementation is very close to the </a:t>
            </a:r>
            <a:r>
              <a:rPr lang="en">
                <a:latin typeface="Courier New"/>
                <a:ea typeface="Courier New"/>
                <a:cs typeface="Courier New"/>
                <a:sym typeface="Courier New"/>
              </a:rPr>
              <a:t>AdjacencyGraph</a:t>
            </a:r>
            <a:r>
              <a:rPr lang="en"/>
              <a:t>, so the implementation has been provided to you. Spend a few moments looking through the code with your instructor.</a:t>
            </a:r>
            <a:endParaRPr/>
          </a:p>
        </p:txBody>
      </p:sp>
      <p:sp>
        <p:nvSpPr>
          <p:cNvPr id="423" name="Google Shape;423;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4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13</a:t>
            </a:r>
            <a:r>
              <a:rPr lang="en">
                <a:solidFill>
                  <a:schemeClr val="lt1"/>
                </a:solidFill>
              </a:rPr>
              <a:t>.9</a:t>
            </a:r>
            <a:endParaRPr sz="2000"/>
          </a:p>
        </p:txBody>
      </p:sp>
      <p:pic>
        <p:nvPicPr>
          <p:cNvPr id="425" name="Google Shape;425;p40"/>
          <p:cNvPicPr preferRelativeResize="0"/>
          <p:nvPr/>
        </p:nvPicPr>
        <p:blipFill>
          <a:blip r:embed="rId3">
            <a:alphaModFix/>
          </a:blip>
          <a:stretch>
            <a:fillRect/>
          </a:stretch>
        </p:blipFill>
        <p:spPr>
          <a:xfrm>
            <a:off x="128625" y="1579450"/>
            <a:ext cx="2229202" cy="3477376"/>
          </a:xfrm>
          <a:prstGeom prst="rect">
            <a:avLst/>
          </a:prstGeom>
          <a:noFill/>
          <a:ln>
            <a:noFill/>
          </a:ln>
        </p:spPr>
      </p:pic>
      <p:sp>
        <p:nvSpPr>
          <p:cNvPr id="426" name="Google Shape;426;p40"/>
          <p:cNvSpPr txBox="1"/>
          <p:nvPr>
            <p:ph idx="2" type="body"/>
          </p:nvPr>
        </p:nvSpPr>
        <p:spPr>
          <a:xfrm>
            <a:off x="2518725" y="1626475"/>
            <a:ext cx="6195900" cy="12828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the</a:t>
            </a:r>
            <a:r>
              <a:rPr lang="en" sz="1700"/>
              <a:t> </a:t>
            </a:r>
            <a:r>
              <a:rPr lang="en" sz="1700">
                <a:solidFill>
                  <a:srgbClr val="FF0000"/>
                </a:solidFill>
                <a:latin typeface="Courier New"/>
                <a:ea typeface="Courier New"/>
                <a:cs typeface="Courier New"/>
                <a:sym typeface="Courier New"/>
              </a:rPr>
              <a:t>WAdjacencyGraph</a:t>
            </a:r>
            <a:r>
              <a:rPr lang="en" sz="1700"/>
              <a:t> that has been provided to you in the </a:t>
            </a:r>
            <a:r>
              <a:rPr lang="en" sz="1700">
                <a:latin typeface="Courier New"/>
                <a:ea typeface="Courier New"/>
                <a:cs typeface="Courier New"/>
                <a:sym typeface="Courier New"/>
              </a:rPr>
              <a:t>weighted</a:t>
            </a:r>
            <a:r>
              <a:rPr lang="en" sz="1700"/>
              <a:t> </a:t>
            </a:r>
            <a:r>
              <a:rPr lang="en" sz="1700"/>
              <a:t>package.</a:t>
            </a:r>
            <a:endParaRPr sz="1700"/>
          </a:p>
          <a:p>
            <a:pPr indent="-323850" lvl="1" marL="914400" rtl="0" algn="l">
              <a:spcBef>
                <a:spcPts val="0"/>
              </a:spcBef>
              <a:spcAft>
                <a:spcPts val="0"/>
              </a:spcAft>
              <a:buSzPts val="1500"/>
              <a:buChar char="○"/>
            </a:pPr>
            <a:r>
              <a:rPr lang="en" sz="1500"/>
              <a:t>Together with your instructor, examine the code and ask any questions that you have.</a:t>
            </a: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1"/>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When using a graph to solve problems, the challenge usually lies in constructing the graph properly so that you can use it to run the correct algorithms, e.g. BFS or DFS. Create a new class to build a graph that represents a map of 50 cities in the contiguous United States.</a:t>
            </a:r>
            <a:endParaRPr/>
          </a:p>
        </p:txBody>
      </p:sp>
      <p:sp>
        <p:nvSpPr>
          <p:cNvPr id="432" name="Google Shape;432;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3" name="Google Shape;433;p41"/>
          <p:cNvSpPr txBox="1"/>
          <p:nvPr>
            <p:ph idx="2" type="body"/>
          </p:nvPr>
        </p:nvSpPr>
        <p:spPr>
          <a:xfrm>
            <a:off x="3161375" y="1576725"/>
            <a:ext cx="5555100" cy="35757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You will be creating a weighted graph of cities. Before you get started, open the </a:t>
            </a:r>
            <a:r>
              <a:rPr lang="en" sz="1200">
                <a:latin typeface="Courier New"/>
                <a:ea typeface="Courier New"/>
                <a:cs typeface="Courier New"/>
                <a:sym typeface="Courier New"/>
              </a:rPr>
              <a:t>City</a:t>
            </a:r>
            <a:r>
              <a:rPr lang="en" sz="1200"/>
              <a:t> class that has been provided to you in the </a:t>
            </a:r>
            <a:r>
              <a:rPr lang="en" sz="1200">
                <a:latin typeface="Courier New"/>
                <a:ea typeface="Courier New"/>
                <a:cs typeface="Courier New"/>
                <a:sym typeface="Courier New"/>
              </a:rPr>
              <a:t>unit13</a:t>
            </a:r>
            <a:r>
              <a:rPr lang="en" sz="1200"/>
              <a:t> package.</a:t>
            </a:r>
            <a:endParaRPr sz="1200"/>
          </a:p>
          <a:p>
            <a:pPr indent="-298450" lvl="1" marL="914400" rtl="0" algn="l">
              <a:spcBef>
                <a:spcPts val="0"/>
              </a:spcBef>
              <a:spcAft>
                <a:spcPts val="0"/>
              </a:spcAft>
              <a:buSzPts val="1100"/>
              <a:buChar char="○"/>
            </a:pPr>
            <a:r>
              <a:rPr lang="en"/>
              <a:t>Together with your instructor, examine the class.</a:t>
            </a:r>
            <a:endParaRPr/>
          </a:p>
          <a:p>
            <a:pPr indent="-298450" lvl="1" marL="914400" rtl="0" algn="l">
              <a:spcBef>
                <a:spcPts val="0"/>
              </a:spcBef>
              <a:spcAft>
                <a:spcPts val="0"/>
              </a:spcAft>
              <a:buSzPts val="1100"/>
              <a:buChar char="○"/>
            </a:pPr>
            <a:r>
              <a:rPr b="1" i="1" lang="en">
                <a:solidFill>
                  <a:srgbClr val="FF0000"/>
                </a:solidFill>
              </a:rPr>
              <a:t>Raise your hand</a:t>
            </a:r>
            <a:r>
              <a:rPr lang="en"/>
              <a:t> if you have any questions.</a:t>
            </a:r>
            <a:endParaRPr/>
          </a:p>
          <a:p>
            <a:pPr indent="-304800" lvl="0" marL="457200" rtl="0" algn="l">
              <a:spcBef>
                <a:spcPts val="0"/>
              </a:spcBef>
              <a:spcAft>
                <a:spcPts val="0"/>
              </a:spcAft>
              <a:buSzPts val="1200"/>
              <a:buChar char="●"/>
            </a:pPr>
            <a:r>
              <a:rPr lang="en" sz="1200"/>
              <a:t>Next, open the </a:t>
            </a:r>
            <a:r>
              <a:rPr lang="en" sz="1200">
                <a:latin typeface="Courier New"/>
                <a:ea typeface="Courier New"/>
                <a:cs typeface="Courier New"/>
                <a:sym typeface="Courier New"/>
              </a:rPr>
              <a:t>uscities.csv</a:t>
            </a:r>
            <a:r>
              <a:rPr lang="en" sz="1200"/>
              <a:t> file that has been provided to you in the </a:t>
            </a:r>
            <a:r>
              <a:rPr lang="en" sz="1200">
                <a:latin typeface="Courier New"/>
                <a:ea typeface="Courier New"/>
                <a:cs typeface="Courier New"/>
                <a:sym typeface="Courier New"/>
              </a:rPr>
              <a:t>data</a:t>
            </a:r>
            <a:r>
              <a:rPr lang="en" sz="1200"/>
              <a:t> directory of your repository.</a:t>
            </a:r>
            <a:endParaRPr sz="1200"/>
          </a:p>
          <a:p>
            <a:pPr indent="-298450" lvl="1" marL="914400" rtl="0" algn="l">
              <a:spcBef>
                <a:spcPts val="0"/>
              </a:spcBef>
              <a:spcAft>
                <a:spcPts val="0"/>
              </a:spcAft>
              <a:buSzPts val="1100"/>
              <a:buChar char="○"/>
            </a:pPr>
            <a:r>
              <a:rPr lang="en"/>
              <a:t>Note that each city includes a name, state, latitude, and longitude.</a:t>
            </a:r>
            <a:endParaRPr/>
          </a:p>
          <a:p>
            <a:pPr indent="-298450" lvl="1" marL="914400" rtl="0" algn="l">
              <a:spcBef>
                <a:spcPts val="0"/>
              </a:spcBef>
              <a:spcAft>
                <a:spcPts val="0"/>
              </a:spcAft>
              <a:buSzPts val="1100"/>
              <a:buChar char="○"/>
            </a:pPr>
            <a:r>
              <a:rPr lang="en"/>
              <a:t>Google the latitude and longitude of </a:t>
            </a:r>
            <a:r>
              <a:rPr b="1" i="1" lang="en">
                <a:solidFill>
                  <a:srgbClr val="FF0000"/>
                </a:solidFill>
              </a:rPr>
              <a:t>your hometown</a:t>
            </a:r>
            <a:r>
              <a:rPr lang="en"/>
              <a:t> and add it to the bottom of the file. If your hometown is already in the file, use Rochester instead.</a:t>
            </a:r>
            <a:endParaRPr/>
          </a:p>
          <a:p>
            <a:pPr indent="-304800" lvl="0" marL="457200" rtl="0" algn="l">
              <a:spcBef>
                <a:spcPts val="0"/>
              </a:spcBef>
              <a:spcAft>
                <a:spcPts val="0"/>
              </a:spcAft>
              <a:buSzPts val="1200"/>
              <a:buChar char="●"/>
            </a:pPr>
            <a:r>
              <a:rPr lang="en" sz="1200"/>
              <a:t>Create a new class in the </a:t>
            </a:r>
            <a:r>
              <a:rPr lang="en" sz="1200">
                <a:latin typeface="Courier New"/>
                <a:ea typeface="Courier New"/>
                <a:cs typeface="Courier New"/>
                <a:sym typeface="Courier New"/>
              </a:rPr>
              <a:t>unit13</a:t>
            </a:r>
            <a:r>
              <a:rPr lang="en" sz="1200"/>
              <a:t> package named </a:t>
            </a:r>
            <a:r>
              <a:rPr lang="en" sz="1200">
                <a:latin typeface="Courier New"/>
                <a:ea typeface="Courier New"/>
                <a:cs typeface="Courier New"/>
                <a:sym typeface="Courier New"/>
              </a:rPr>
              <a:t>MapMaker</a:t>
            </a:r>
            <a:r>
              <a:rPr lang="en" sz="1200"/>
              <a:t>.</a:t>
            </a:r>
            <a:endParaRPr sz="1200"/>
          </a:p>
          <a:p>
            <a:pPr indent="-298450" lvl="1" marL="914400" rtl="0" algn="l">
              <a:spcBef>
                <a:spcPts val="0"/>
              </a:spcBef>
              <a:spcAft>
                <a:spcPts val="0"/>
              </a:spcAft>
              <a:buSzPts val="1100"/>
              <a:buChar char="○"/>
            </a:pPr>
            <a:r>
              <a:rPr lang="en"/>
              <a:t>Define a </a:t>
            </a:r>
            <a:r>
              <a:rPr lang="en">
                <a:latin typeface="Courier New"/>
                <a:ea typeface="Courier New"/>
                <a:cs typeface="Courier New"/>
                <a:sym typeface="Courier New"/>
              </a:rPr>
              <a:t>static</a:t>
            </a:r>
            <a:r>
              <a:rPr lang="en"/>
              <a:t> method named </a:t>
            </a:r>
            <a:r>
              <a:rPr lang="en">
                <a:latin typeface="Courier New"/>
                <a:ea typeface="Courier New"/>
                <a:cs typeface="Courier New"/>
                <a:sym typeface="Courier New"/>
              </a:rPr>
              <a:t>buildMap</a:t>
            </a:r>
            <a:r>
              <a:rPr lang="en"/>
              <a:t> that declares a parameter for a filename. Build a weighted adjacency graph of the cities in the specified in the file.</a:t>
            </a:r>
            <a:endParaRPr/>
          </a:p>
          <a:p>
            <a:pPr indent="-298450" lvl="1" marL="914400" rtl="0" algn="l">
              <a:spcBef>
                <a:spcPts val="0"/>
              </a:spcBef>
              <a:spcAft>
                <a:spcPts val="0"/>
              </a:spcAft>
              <a:buSzPts val="1100"/>
              <a:buChar char="○"/>
            </a:pPr>
            <a:r>
              <a:rPr lang="en"/>
              <a:t>Define a </a:t>
            </a:r>
            <a:r>
              <a:rPr lang="en">
                <a:latin typeface="Courier New"/>
                <a:ea typeface="Courier New"/>
                <a:cs typeface="Courier New"/>
                <a:sym typeface="Courier New"/>
              </a:rPr>
              <a:t>main</a:t>
            </a:r>
            <a:r>
              <a:rPr lang="en"/>
              <a:t> method with the appropriate signature and use the </a:t>
            </a:r>
            <a:r>
              <a:rPr lang="en">
                <a:latin typeface="Courier New"/>
                <a:ea typeface="Courier New"/>
                <a:cs typeface="Courier New"/>
                <a:sym typeface="Courier New"/>
              </a:rPr>
              <a:t>uscities.csv</a:t>
            </a:r>
            <a:r>
              <a:rPr lang="en"/>
              <a:t> file to build a map of cities in the US.</a:t>
            </a:r>
            <a:endParaRPr/>
          </a:p>
        </p:txBody>
      </p:sp>
      <p:sp>
        <p:nvSpPr>
          <p:cNvPr id="434" name="Google Shape;434;p4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Building a Map</a:t>
            </a:r>
            <a:endParaRPr/>
          </a:p>
        </p:txBody>
      </p:sp>
      <p:sp>
        <p:nvSpPr>
          <p:cNvPr id="435" name="Google Shape;435;p4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13.10</a:t>
            </a:r>
            <a:endParaRPr/>
          </a:p>
        </p:txBody>
      </p:sp>
      <p:sp>
        <p:nvSpPr>
          <p:cNvPr id="436" name="Google Shape;436;p41"/>
          <p:cNvSpPr txBox="1"/>
          <p:nvPr>
            <p:ph idx="4" type="body"/>
          </p:nvPr>
        </p:nvSpPr>
        <p:spPr>
          <a:xfrm>
            <a:off x="141600" y="3775900"/>
            <a:ext cx="3023700" cy="1124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950">
                <a:latin typeface="Consolas"/>
                <a:ea typeface="Consolas"/>
                <a:cs typeface="Consolas"/>
                <a:sym typeface="Consolas"/>
              </a:rPr>
              <a:t>City,</a:t>
            </a:r>
            <a:r>
              <a:rPr lang="en" sz="950">
                <a:solidFill>
                  <a:srgbClr val="0000FF"/>
                </a:solidFill>
                <a:latin typeface="Consolas"/>
                <a:ea typeface="Consolas"/>
                <a:cs typeface="Consolas"/>
                <a:sym typeface="Consolas"/>
              </a:rPr>
              <a:t>State,</a:t>
            </a:r>
            <a:r>
              <a:rPr lang="en" sz="950">
                <a:solidFill>
                  <a:srgbClr val="795E26"/>
                </a:solidFill>
                <a:latin typeface="Consolas"/>
                <a:ea typeface="Consolas"/>
                <a:cs typeface="Consolas"/>
                <a:sym typeface="Consolas"/>
              </a:rPr>
              <a:t>Latitude,</a:t>
            </a:r>
            <a:r>
              <a:rPr lang="en" sz="950">
                <a:solidFill>
                  <a:srgbClr val="008000"/>
                </a:solidFill>
                <a:latin typeface="Consolas"/>
                <a:ea typeface="Consolas"/>
                <a:cs typeface="Consolas"/>
                <a:sym typeface="Consolas"/>
              </a:rPr>
              <a:t>Longitude</a:t>
            </a:r>
            <a:endParaRPr sz="950">
              <a:solidFill>
                <a:srgbClr val="008000"/>
              </a:solidFill>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Birmingham,</a:t>
            </a:r>
            <a:r>
              <a:rPr lang="en" sz="950">
                <a:solidFill>
                  <a:srgbClr val="0000FF"/>
                </a:solidFill>
                <a:latin typeface="Consolas"/>
                <a:ea typeface="Consolas"/>
                <a:cs typeface="Consolas"/>
                <a:sym typeface="Consolas"/>
              </a:rPr>
              <a:t>Alabama,</a:t>
            </a:r>
            <a:r>
              <a:rPr lang="en" sz="950">
                <a:solidFill>
                  <a:srgbClr val="795E26"/>
                </a:solidFill>
                <a:latin typeface="Consolas"/>
                <a:ea typeface="Consolas"/>
                <a:cs typeface="Consolas"/>
                <a:sym typeface="Consolas"/>
              </a:rPr>
              <a:t>33.5207,</a:t>
            </a:r>
            <a:r>
              <a:rPr lang="en" sz="950">
                <a:solidFill>
                  <a:srgbClr val="008000"/>
                </a:solidFill>
                <a:latin typeface="Consolas"/>
                <a:ea typeface="Consolas"/>
                <a:cs typeface="Consolas"/>
                <a:sym typeface="Consolas"/>
              </a:rPr>
              <a:t>-86.8025</a:t>
            </a:r>
            <a:endParaRPr sz="950">
              <a:solidFill>
                <a:srgbClr val="008000"/>
              </a:solidFill>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Phoenix,</a:t>
            </a:r>
            <a:r>
              <a:rPr lang="en" sz="950">
                <a:solidFill>
                  <a:srgbClr val="0000FF"/>
                </a:solidFill>
                <a:latin typeface="Consolas"/>
                <a:ea typeface="Consolas"/>
                <a:cs typeface="Consolas"/>
                <a:sym typeface="Consolas"/>
              </a:rPr>
              <a:t>Arizona,</a:t>
            </a:r>
            <a:r>
              <a:rPr lang="en" sz="950">
                <a:solidFill>
                  <a:srgbClr val="795E26"/>
                </a:solidFill>
                <a:latin typeface="Consolas"/>
                <a:ea typeface="Consolas"/>
                <a:cs typeface="Consolas"/>
                <a:sym typeface="Consolas"/>
              </a:rPr>
              <a:t>33.4484,</a:t>
            </a:r>
            <a:r>
              <a:rPr lang="en" sz="950">
                <a:solidFill>
                  <a:srgbClr val="008000"/>
                </a:solidFill>
                <a:latin typeface="Consolas"/>
                <a:ea typeface="Consolas"/>
                <a:cs typeface="Consolas"/>
                <a:sym typeface="Consolas"/>
              </a:rPr>
              <a:t>-112.0740</a:t>
            </a:r>
            <a:endParaRPr sz="950">
              <a:solidFill>
                <a:srgbClr val="008000"/>
              </a:solidFill>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Little Rock,</a:t>
            </a:r>
            <a:r>
              <a:rPr lang="en" sz="950">
                <a:solidFill>
                  <a:srgbClr val="0000FF"/>
                </a:solidFill>
                <a:latin typeface="Consolas"/>
                <a:ea typeface="Consolas"/>
                <a:cs typeface="Consolas"/>
                <a:sym typeface="Consolas"/>
              </a:rPr>
              <a:t>Arkansas,</a:t>
            </a:r>
            <a:r>
              <a:rPr lang="en" sz="950">
                <a:solidFill>
                  <a:srgbClr val="795E26"/>
                </a:solidFill>
                <a:latin typeface="Consolas"/>
                <a:ea typeface="Consolas"/>
                <a:cs typeface="Consolas"/>
                <a:sym typeface="Consolas"/>
              </a:rPr>
              <a:t>34.7465,</a:t>
            </a:r>
            <a:r>
              <a:rPr lang="en" sz="950">
                <a:solidFill>
                  <a:srgbClr val="008000"/>
                </a:solidFill>
                <a:latin typeface="Consolas"/>
                <a:ea typeface="Consolas"/>
                <a:cs typeface="Consolas"/>
                <a:sym typeface="Consolas"/>
              </a:rPr>
              <a:t>-92.2896</a:t>
            </a:r>
            <a:endParaRPr sz="950">
              <a:solidFill>
                <a:srgbClr val="008000"/>
              </a:solidFill>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Los Angeles,</a:t>
            </a:r>
            <a:r>
              <a:rPr lang="en" sz="950">
                <a:solidFill>
                  <a:srgbClr val="0000FF"/>
                </a:solidFill>
                <a:latin typeface="Consolas"/>
                <a:ea typeface="Consolas"/>
                <a:cs typeface="Consolas"/>
                <a:sym typeface="Consolas"/>
              </a:rPr>
              <a:t>California,</a:t>
            </a:r>
            <a:r>
              <a:rPr lang="en" sz="950">
                <a:solidFill>
                  <a:srgbClr val="795E26"/>
                </a:solidFill>
                <a:latin typeface="Consolas"/>
                <a:ea typeface="Consolas"/>
                <a:cs typeface="Consolas"/>
                <a:sym typeface="Consolas"/>
              </a:rPr>
              <a:t>34.0522,</a:t>
            </a:r>
            <a:r>
              <a:rPr lang="en" sz="950">
                <a:solidFill>
                  <a:srgbClr val="008000"/>
                </a:solidFill>
                <a:latin typeface="Consolas"/>
                <a:ea typeface="Consolas"/>
                <a:cs typeface="Consolas"/>
                <a:sym typeface="Consolas"/>
              </a:rPr>
              <a:t>-118.2437</a:t>
            </a:r>
            <a:endParaRPr sz="1100"/>
          </a:p>
        </p:txBody>
      </p:sp>
      <p:pic>
        <p:nvPicPr>
          <p:cNvPr id="437" name="Google Shape;437;p41"/>
          <p:cNvPicPr preferRelativeResize="0"/>
          <p:nvPr/>
        </p:nvPicPr>
        <p:blipFill>
          <a:blip r:embed="rId3">
            <a:alphaModFix/>
          </a:blip>
          <a:stretch>
            <a:fillRect/>
          </a:stretch>
        </p:blipFill>
        <p:spPr>
          <a:xfrm>
            <a:off x="141600" y="1729124"/>
            <a:ext cx="3023700" cy="1886498"/>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2"/>
          <p:cNvSpPr txBox="1"/>
          <p:nvPr>
            <p:ph type="title"/>
          </p:nvPr>
        </p:nvSpPr>
        <p:spPr>
          <a:xfrm>
            <a:off x="269953" y="168124"/>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Nearest Neighbor</a:t>
            </a:r>
            <a:endParaRPr/>
          </a:p>
        </p:txBody>
      </p:sp>
      <p:sp>
        <p:nvSpPr>
          <p:cNvPr id="443" name="Google Shape;443;p4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4" name="Google Shape;444;p42"/>
          <p:cNvSpPr txBox="1"/>
          <p:nvPr>
            <p:ph idx="1" type="body"/>
          </p:nvPr>
        </p:nvSpPr>
        <p:spPr>
          <a:xfrm>
            <a:off x="4430225" y="30750"/>
            <a:ext cx="4313400" cy="50580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As was previously mentioned, the optimal solution for the </a:t>
            </a:r>
            <a:r>
              <a:rPr b="1" i="1" lang="en">
                <a:solidFill>
                  <a:srgbClr val="FF0000"/>
                </a:solidFill>
              </a:rPr>
              <a:t>Traveling Salesman</a:t>
            </a:r>
            <a:r>
              <a:rPr lang="en">
                <a:solidFill>
                  <a:srgbClr val="FF0000"/>
                </a:solidFill>
              </a:rPr>
              <a:t> </a:t>
            </a:r>
            <a:r>
              <a:rPr lang="en"/>
              <a:t>problem requires an </a:t>
            </a:r>
            <a:r>
              <a:rPr lang="en"/>
              <a:t>exhaustive</a:t>
            </a:r>
            <a:r>
              <a:rPr lang="en"/>
              <a:t> search of all possible paths through the graph.</a:t>
            </a:r>
            <a:endParaRPr/>
          </a:p>
          <a:p>
            <a:pPr indent="-298450" lvl="1" marL="914400" rtl="0" algn="l">
              <a:spcBef>
                <a:spcPts val="0"/>
              </a:spcBef>
              <a:spcAft>
                <a:spcPts val="0"/>
              </a:spcAft>
              <a:buSzPts val="1100"/>
              <a:buChar char="○"/>
            </a:pPr>
            <a:r>
              <a:rPr lang="en"/>
              <a:t>This would take a while as there are are 50! possible paths.</a:t>
            </a:r>
            <a:endParaRPr/>
          </a:p>
          <a:p>
            <a:pPr indent="-311150" lvl="0" marL="457200" rtl="0" algn="l">
              <a:spcBef>
                <a:spcPts val="1000"/>
              </a:spcBef>
              <a:spcAft>
                <a:spcPts val="0"/>
              </a:spcAft>
              <a:buSzPts val="1300"/>
              <a:buChar char="●"/>
            </a:pPr>
            <a:r>
              <a:rPr lang="en"/>
              <a:t>A </a:t>
            </a:r>
            <a:r>
              <a:rPr b="1" i="1" lang="en">
                <a:solidFill>
                  <a:srgbClr val="FF0000"/>
                </a:solidFill>
              </a:rPr>
              <a:t>greedy algorithm</a:t>
            </a:r>
            <a:r>
              <a:rPr lang="en">
                <a:solidFill>
                  <a:srgbClr val="FF0000"/>
                </a:solidFill>
              </a:rPr>
              <a:t> </a:t>
            </a:r>
            <a:r>
              <a:rPr lang="en"/>
              <a:t>might not find the optimal path, but it should find one that is reasonably good in a much shorter amount of time.</a:t>
            </a:r>
            <a:endParaRPr/>
          </a:p>
          <a:p>
            <a:pPr indent="-311150" lvl="0" marL="457200" rtl="0" algn="l">
              <a:spcBef>
                <a:spcPts val="1000"/>
              </a:spcBef>
              <a:spcAft>
                <a:spcPts val="0"/>
              </a:spcAft>
              <a:buSzPts val="1300"/>
              <a:buChar char="●"/>
            </a:pPr>
            <a:r>
              <a:rPr lang="en"/>
              <a:t>One such algorithm is the </a:t>
            </a:r>
            <a:r>
              <a:rPr b="1" i="1" lang="en">
                <a:solidFill>
                  <a:srgbClr val="FF0000"/>
                </a:solidFill>
              </a:rPr>
              <a:t>Nearest Neighbor</a:t>
            </a:r>
            <a:r>
              <a:rPr lang="en">
                <a:solidFill>
                  <a:srgbClr val="FF0000"/>
                </a:solidFill>
              </a:rPr>
              <a:t> </a:t>
            </a:r>
            <a:r>
              <a:rPr lang="en"/>
              <a:t>algorithm.</a:t>
            </a:r>
            <a:endParaRPr/>
          </a:p>
          <a:p>
            <a:pPr indent="-298450" lvl="1" marL="914400" rtl="0" algn="l">
              <a:spcBef>
                <a:spcPts val="0"/>
              </a:spcBef>
              <a:spcAft>
                <a:spcPts val="0"/>
              </a:spcAft>
              <a:buSzPts val="1100"/>
              <a:buChar char="○"/>
            </a:pPr>
            <a:r>
              <a:rPr lang="en"/>
              <a:t>Choose a starting point in the graph, e.g. the city closest to the salesman's current location.</a:t>
            </a:r>
            <a:endParaRPr/>
          </a:p>
          <a:p>
            <a:pPr indent="-298450" lvl="1" marL="914400" rtl="0" algn="l">
              <a:spcBef>
                <a:spcPts val="0"/>
              </a:spcBef>
              <a:spcAft>
                <a:spcPts val="0"/>
              </a:spcAft>
              <a:buSzPts val="1100"/>
              <a:buChar char="○"/>
            </a:pPr>
            <a:r>
              <a:rPr lang="en"/>
              <a:t>Each time the salesman chooses a new city to travel to, he chooses the </a:t>
            </a:r>
            <a:r>
              <a:rPr b="1" i="1" lang="en">
                <a:solidFill>
                  <a:srgbClr val="FF0000"/>
                </a:solidFill>
              </a:rPr>
              <a:t>closest city that he has not yet visited</a:t>
            </a:r>
            <a:r>
              <a:rPr lang="en"/>
              <a:t>.</a:t>
            </a:r>
            <a:endParaRPr/>
          </a:p>
          <a:p>
            <a:pPr indent="-298450" lvl="1" marL="914400" rtl="0" algn="l">
              <a:spcBef>
                <a:spcPts val="0"/>
              </a:spcBef>
              <a:spcAft>
                <a:spcPts val="0"/>
              </a:spcAft>
              <a:buSzPts val="1100"/>
              <a:buChar char="○"/>
            </a:pPr>
            <a:r>
              <a:rPr lang="en"/>
              <a:t>This continues until all 50 cities have been visited.</a:t>
            </a:r>
            <a:endParaRPr/>
          </a:p>
          <a:p>
            <a:pPr indent="-311150" lvl="0" marL="457200" rtl="0" algn="l">
              <a:spcBef>
                <a:spcPts val="1000"/>
              </a:spcBef>
              <a:spcAft>
                <a:spcPts val="0"/>
              </a:spcAft>
              <a:buSzPts val="1300"/>
              <a:buChar char="●"/>
            </a:pPr>
            <a:r>
              <a:rPr lang="en"/>
              <a:t>Each time a new city is chosen, the algorithm heads </a:t>
            </a:r>
            <a:r>
              <a:rPr b="1" i="1" lang="en">
                <a:solidFill>
                  <a:srgbClr val="FF0000"/>
                </a:solidFill>
              </a:rPr>
              <a:t>deeper</a:t>
            </a:r>
            <a:r>
              <a:rPr lang="en">
                <a:solidFill>
                  <a:srgbClr val="FF0000"/>
                </a:solidFill>
              </a:rPr>
              <a:t> </a:t>
            </a:r>
            <a:r>
              <a:rPr lang="en"/>
              <a:t>into the graph without looking at any other neighbors.</a:t>
            </a:r>
            <a:endParaRPr/>
          </a:p>
          <a:p>
            <a:pPr indent="-298450" lvl="1" marL="914400" rtl="0" algn="l">
              <a:spcBef>
                <a:spcPts val="0"/>
              </a:spcBef>
              <a:spcAft>
                <a:spcPts val="0"/>
              </a:spcAft>
              <a:buSzPts val="1100"/>
              <a:buChar char="○"/>
            </a:pPr>
            <a:r>
              <a:rPr lang="en"/>
              <a:t>Does this sound familiar? </a:t>
            </a:r>
            <a:endParaRPr/>
          </a:p>
        </p:txBody>
      </p:sp>
      <p:sp>
        <p:nvSpPr>
          <p:cNvPr id="445" name="Google Shape;445;p42"/>
          <p:cNvSpPr txBox="1"/>
          <p:nvPr>
            <p:ph idx="3" type="body"/>
          </p:nvPr>
        </p:nvSpPr>
        <p:spPr>
          <a:xfrm>
            <a:off x="266838" y="833700"/>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a:t>
            </a:r>
            <a:r>
              <a:rPr b="1" i="1" lang="en">
                <a:solidFill>
                  <a:srgbClr val="FF0000"/>
                </a:solidFill>
              </a:rPr>
              <a:t>Nearest Neighbor</a:t>
            </a:r>
            <a:r>
              <a:rPr lang="en">
                <a:solidFill>
                  <a:srgbClr val="FF0000"/>
                </a:solidFill>
              </a:rPr>
              <a:t> </a:t>
            </a:r>
            <a:r>
              <a:rPr lang="en"/>
              <a:t>algorithm is a slight modification of a </a:t>
            </a:r>
            <a:r>
              <a:rPr b="1" i="1" lang="en">
                <a:solidFill>
                  <a:srgbClr val="FF0000"/>
                </a:solidFill>
              </a:rPr>
              <a:t>depth-first search</a:t>
            </a:r>
            <a:r>
              <a:rPr lang="en"/>
              <a:t>; it always chooses the neighbor connected by the edge with the </a:t>
            </a:r>
            <a:r>
              <a:rPr b="1" i="1" lang="en">
                <a:solidFill>
                  <a:srgbClr val="FF0000"/>
                </a:solidFill>
              </a:rPr>
              <a:t>lowest weight</a:t>
            </a:r>
            <a:r>
              <a:rPr lang="en"/>
              <a:t>.</a:t>
            </a:r>
            <a:endParaRPr/>
          </a:p>
        </p:txBody>
      </p:sp>
      <p:grpSp>
        <p:nvGrpSpPr>
          <p:cNvPr id="446" name="Google Shape;446;p42"/>
          <p:cNvGrpSpPr/>
          <p:nvPr/>
        </p:nvGrpSpPr>
        <p:grpSpPr>
          <a:xfrm>
            <a:off x="719114" y="1839462"/>
            <a:ext cx="2801943" cy="2524143"/>
            <a:chOff x="338125" y="1610890"/>
            <a:chExt cx="3334852" cy="3004217"/>
          </a:xfrm>
        </p:grpSpPr>
        <p:sp>
          <p:nvSpPr>
            <p:cNvPr id="447" name="Google Shape;447;p42"/>
            <p:cNvSpPr/>
            <p:nvPr/>
          </p:nvSpPr>
          <p:spPr>
            <a:xfrm>
              <a:off x="679459" y="1694600"/>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448" name="Google Shape;448;p42"/>
            <p:cNvSpPr/>
            <p:nvPr/>
          </p:nvSpPr>
          <p:spPr>
            <a:xfrm>
              <a:off x="1772863" y="2900772"/>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449" name="Google Shape;449;p42"/>
            <p:cNvSpPr/>
            <p:nvPr/>
          </p:nvSpPr>
          <p:spPr>
            <a:xfrm>
              <a:off x="338125" y="2950990"/>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450" name="Google Shape;450;p42"/>
            <p:cNvSpPr/>
            <p:nvPr/>
          </p:nvSpPr>
          <p:spPr>
            <a:xfrm>
              <a:off x="2380788" y="1694600"/>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451" name="Google Shape;451;p42"/>
            <p:cNvSpPr/>
            <p:nvPr/>
          </p:nvSpPr>
          <p:spPr>
            <a:xfrm>
              <a:off x="2863270" y="4072707"/>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52" name="Google Shape;452;p42"/>
            <p:cNvSpPr/>
            <p:nvPr/>
          </p:nvSpPr>
          <p:spPr>
            <a:xfrm>
              <a:off x="3110849" y="2857201"/>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453" name="Google Shape;453;p42"/>
            <p:cNvSpPr/>
            <p:nvPr/>
          </p:nvSpPr>
          <p:spPr>
            <a:xfrm>
              <a:off x="1300197" y="4072707"/>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454" name="Google Shape;454;p42"/>
            <p:cNvCxnSpPr>
              <a:stCxn id="447" idx="3"/>
              <a:endCxn id="449" idx="0"/>
            </p:cNvCxnSpPr>
            <p:nvPr/>
          </p:nvCxnSpPr>
          <p:spPr>
            <a:xfrm flipH="1">
              <a:off x="609191" y="2157567"/>
              <a:ext cx="149700" cy="793500"/>
            </a:xfrm>
            <a:prstGeom prst="straightConnector1">
              <a:avLst/>
            </a:prstGeom>
            <a:noFill/>
            <a:ln cap="flat" cmpd="sng" w="19050">
              <a:solidFill>
                <a:srgbClr val="FFFFFF"/>
              </a:solidFill>
              <a:prstDash val="solid"/>
              <a:round/>
              <a:headEnd len="med" w="med" type="none"/>
              <a:tailEnd len="med" w="med" type="none"/>
            </a:ln>
          </p:spPr>
        </p:cxnSp>
        <p:cxnSp>
          <p:nvCxnSpPr>
            <p:cNvPr id="455" name="Google Shape;455;p42"/>
            <p:cNvCxnSpPr>
              <a:stCxn id="447" idx="6"/>
              <a:endCxn id="450" idx="2"/>
            </p:cNvCxnSpPr>
            <p:nvPr/>
          </p:nvCxnSpPr>
          <p:spPr>
            <a:xfrm>
              <a:off x="1221859" y="1965800"/>
              <a:ext cx="1158900" cy="0"/>
            </a:xfrm>
            <a:prstGeom prst="straightConnector1">
              <a:avLst/>
            </a:prstGeom>
            <a:noFill/>
            <a:ln cap="flat" cmpd="sng" w="19050">
              <a:solidFill>
                <a:srgbClr val="FFFFFF"/>
              </a:solidFill>
              <a:prstDash val="solid"/>
              <a:round/>
              <a:headEnd len="med" w="med" type="none"/>
              <a:tailEnd len="med" w="med" type="none"/>
            </a:ln>
          </p:spPr>
        </p:cxnSp>
        <p:cxnSp>
          <p:nvCxnSpPr>
            <p:cNvPr id="456" name="Google Shape;456;p42"/>
            <p:cNvCxnSpPr>
              <a:stCxn id="447" idx="5"/>
              <a:endCxn id="448" idx="1"/>
            </p:cNvCxnSpPr>
            <p:nvPr/>
          </p:nvCxnSpPr>
          <p:spPr>
            <a:xfrm>
              <a:off x="1142426" y="2157567"/>
              <a:ext cx="709800" cy="822600"/>
            </a:xfrm>
            <a:prstGeom prst="straightConnector1">
              <a:avLst/>
            </a:prstGeom>
            <a:noFill/>
            <a:ln cap="flat" cmpd="sng" w="19050">
              <a:solidFill>
                <a:srgbClr val="FFFFFF"/>
              </a:solidFill>
              <a:prstDash val="solid"/>
              <a:round/>
              <a:headEnd len="med" w="med" type="none"/>
              <a:tailEnd len="med" w="med" type="none"/>
            </a:ln>
          </p:spPr>
        </p:cxnSp>
        <p:cxnSp>
          <p:nvCxnSpPr>
            <p:cNvPr id="457" name="Google Shape;457;p42"/>
            <p:cNvCxnSpPr>
              <a:stCxn id="448" idx="6"/>
              <a:endCxn id="452" idx="2"/>
            </p:cNvCxnSpPr>
            <p:nvPr/>
          </p:nvCxnSpPr>
          <p:spPr>
            <a:xfrm flipH="1" rot="10800000">
              <a:off x="2315263" y="3128472"/>
              <a:ext cx="795600" cy="43500"/>
            </a:xfrm>
            <a:prstGeom prst="straightConnector1">
              <a:avLst/>
            </a:prstGeom>
            <a:noFill/>
            <a:ln cap="flat" cmpd="sng" w="19050">
              <a:solidFill>
                <a:srgbClr val="FFFFFF"/>
              </a:solidFill>
              <a:prstDash val="solid"/>
              <a:round/>
              <a:headEnd len="med" w="med" type="none"/>
              <a:tailEnd len="med" w="med" type="none"/>
            </a:ln>
          </p:spPr>
        </p:cxnSp>
        <p:cxnSp>
          <p:nvCxnSpPr>
            <p:cNvPr id="458" name="Google Shape;458;p42"/>
            <p:cNvCxnSpPr>
              <a:stCxn id="452" idx="4"/>
              <a:endCxn id="451" idx="7"/>
            </p:cNvCxnSpPr>
            <p:nvPr/>
          </p:nvCxnSpPr>
          <p:spPr>
            <a:xfrm flipH="1">
              <a:off x="3326249" y="3399601"/>
              <a:ext cx="55800" cy="752400"/>
            </a:xfrm>
            <a:prstGeom prst="straightConnector1">
              <a:avLst/>
            </a:prstGeom>
            <a:noFill/>
            <a:ln cap="flat" cmpd="sng" w="19050">
              <a:solidFill>
                <a:srgbClr val="FFFFFF"/>
              </a:solidFill>
              <a:prstDash val="solid"/>
              <a:round/>
              <a:headEnd len="med" w="med" type="none"/>
              <a:tailEnd len="med" w="med" type="none"/>
            </a:ln>
          </p:spPr>
        </p:cxnSp>
        <p:cxnSp>
          <p:nvCxnSpPr>
            <p:cNvPr id="459" name="Google Shape;459;p42"/>
            <p:cNvCxnSpPr>
              <a:stCxn id="448" idx="3"/>
              <a:endCxn id="453" idx="0"/>
            </p:cNvCxnSpPr>
            <p:nvPr/>
          </p:nvCxnSpPr>
          <p:spPr>
            <a:xfrm flipH="1">
              <a:off x="1571495" y="3363739"/>
              <a:ext cx="280800" cy="708900"/>
            </a:xfrm>
            <a:prstGeom prst="straightConnector1">
              <a:avLst/>
            </a:prstGeom>
            <a:noFill/>
            <a:ln cap="flat" cmpd="sng" w="19050">
              <a:solidFill>
                <a:srgbClr val="FFFFFF"/>
              </a:solidFill>
              <a:prstDash val="solid"/>
              <a:round/>
              <a:headEnd len="med" w="med" type="none"/>
              <a:tailEnd len="med" w="med" type="none"/>
            </a:ln>
          </p:spPr>
        </p:cxnSp>
        <p:cxnSp>
          <p:nvCxnSpPr>
            <p:cNvPr id="460" name="Google Shape;460;p42"/>
            <p:cNvCxnSpPr>
              <a:stCxn id="453" idx="6"/>
              <a:endCxn id="451" idx="2"/>
            </p:cNvCxnSpPr>
            <p:nvPr/>
          </p:nvCxnSpPr>
          <p:spPr>
            <a:xfrm>
              <a:off x="1842597" y="4343907"/>
              <a:ext cx="1020600" cy="0"/>
            </a:xfrm>
            <a:prstGeom prst="straightConnector1">
              <a:avLst/>
            </a:prstGeom>
            <a:noFill/>
            <a:ln cap="flat" cmpd="sng" w="19050">
              <a:solidFill>
                <a:srgbClr val="FFFFFF"/>
              </a:solidFill>
              <a:prstDash val="solid"/>
              <a:round/>
              <a:headEnd len="med" w="med" type="none"/>
              <a:tailEnd len="med" w="med" type="none"/>
            </a:ln>
          </p:spPr>
        </p:cxnSp>
        <p:cxnSp>
          <p:nvCxnSpPr>
            <p:cNvPr id="461" name="Google Shape;461;p42"/>
            <p:cNvCxnSpPr>
              <a:stCxn id="449" idx="6"/>
              <a:endCxn id="448" idx="2"/>
            </p:cNvCxnSpPr>
            <p:nvPr/>
          </p:nvCxnSpPr>
          <p:spPr>
            <a:xfrm flipH="1" rot="10800000">
              <a:off x="880525" y="3172090"/>
              <a:ext cx="892200" cy="50100"/>
            </a:xfrm>
            <a:prstGeom prst="straightConnector1">
              <a:avLst/>
            </a:prstGeom>
            <a:noFill/>
            <a:ln cap="flat" cmpd="sng" w="19050">
              <a:solidFill>
                <a:srgbClr val="FFFFFF"/>
              </a:solidFill>
              <a:prstDash val="solid"/>
              <a:round/>
              <a:headEnd len="med" w="med" type="none"/>
              <a:tailEnd len="med" w="med" type="none"/>
            </a:ln>
          </p:spPr>
        </p:cxnSp>
        <p:cxnSp>
          <p:nvCxnSpPr>
            <p:cNvPr id="462" name="Google Shape;462;p42"/>
            <p:cNvCxnSpPr>
              <a:stCxn id="450" idx="5"/>
              <a:endCxn id="452" idx="1"/>
            </p:cNvCxnSpPr>
            <p:nvPr/>
          </p:nvCxnSpPr>
          <p:spPr>
            <a:xfrm>
              <a:off x="2843755" y="2157567"/>
              <a:ext cx="346500" cy="779100"/>
            </a:xfrm>
            <a:prstGeom prst="straightConnector1">
              <a:avLst/>
            </a:prstGeom>
            <a:noFill/>
            <a:ln cap="flat" cmpd="sng" w="19050">
              <a:solidFill>
                <a:srgbClr val="FFFFFF"/>
              </a:solidFill>
              <a:prstDash val="solid"/>
              <a:round/>
              <a:headEnd len="med" w="med" type="none"/>
              <a:tailEnd len="med" w="med" type="none"/>
            </a:ln>
          </p:spPr>
        </p:cxnSp>
        <p:sp>
          <p:nvSpPr>
            <p:cNvPr id="463" name="Google Shape;463;p42"/>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6</a:t>
              </a:r>
              <a:endParaRPr>
                <a:solidFill>
                  <a:srgbClr val="FFFFFF"/>
                </a:solidFill>
                <a:latin typeface="Source Code Pro"/>
                <a:ea typeface="Source Code Pro"/>
                <a:cs typeface="Source Code Pro"/>
                <a:sym typeface="Source Code Pro"/>
              </a:endParaRPr>
            </a:p>
          </p:txBody>
        </p:sp>
        <p:sp>
          <p:nvSpPr>
            <p:cNvPr id="464" name="Google Shape;464;p42"/>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sp>
          <p:nvSpPr>
            <p:cNvPr id="465" name="Google Shape;465;p42"/>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466" name="Google Shape;466;p42"/>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1</a:t>
              </a:r>
              <a:endParaRPr>
                <a:solidFill>
                  <a:srgbClr val="FFFFFF"/>
                </a:solidFill>
                <a:latin typeface="Source Code Pro"/>
                <a:ea typeface="Source Code Pro"/>
                <a:cs typeface="Source Code Pro"/>
                <a:sym typeface="Source Code Pro"/>
              </a:endParaRPr>
            </a:p>
          </p:txBody>
        </p:sp>
        <p:sp>
          <p:nvSpPr>
            <p:cNvPr id="467" name="Google Shape;467;p42"/>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sp>
          <p:nvSpPr>
            <p:cNvPr id="468" name="Google Shape;468;p42"/>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469" name="Google Shape;469;p42"/>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470" name="Google Shape;470;p42"/>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7</a:t>
              </a:r>
              <a:endParaRPr>
                <a:solidFill>
                  <a:srgbClr val="FFFFFF"/>
                </a:solidFill>
                <a:latin typeface="Source Code Pro"/>
                <a:ea typeface="Source Code Pro"/>
                <a:cs typeface="Source Code Pro"/>
                <a:sym typeface="Source Code Pro"/>
              </a:endParaRPr>
            </a:p>
          </p:txBody>
        </p:sp>
        <p:sp>
          <p:nvSpPr>
            <p:cNvPr id="471" name="Google Shape;471;p42"/>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cxnSp>
          <p:nvCxnSpPr>
            <p:cNvPr id="472" name="Google Shape;472;p42"/>
            <p:cNvCxnSpPr>
              <a:stCxn id="449" idx="5"/>
              <a:endCxn id="453" idx="1"/>
            </p:cNvCxnSpPr>
            <p:nvPr/>
          </p:nvCxnSpPr>
          <p:spPr>
            <a:xfrm>
              <a:off x="801092" y="3413957"/>
              <a:ext cx="578400" cy="738300"/>
            </a:xfrm>
            <a:prstGeom prst="straightConnector1">
              <a:avLst/>
            </a:prstGeom>
            <a:noFill/>
            <a:ln cap="flat" cmpd="sng" w="19050">
              <a:solidFill>
                <a:srgbClr val="FFFFFF"/>
              </a:solidFill>
              <a:prstDash val="solid"/>
              <a:round/>
              <a:headEnd len="med" w="med" type="none"/>
              <a:tailEnd len="med" w="med" type="none"/>
            </a:ln>
          </p:spPr>
        </p:cxnSp>
        <p:sp>
          <p:nvSpPr>
            <p:cNvPr id="473" name="Google Shape;473;p42"/>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grpSp>
      <p:sp>
        <p:nvSpPr>
          <p:cNvPr id="474" name="Google Shape;474;p42"/>
          <p:cNvSpPr txBox="1"/>
          <p:nvPr>
            <p:ph idx="3" type="body"/>
          </p:nvPr>
        </p:nvSpPr>
        <p:spPr>
          <a:xfrm>
            <a:off x="266838" y="4546843"/>
            <a:ext cx="3706500" cy="369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But will it always find the path with the lowest cost?</a:t>
            </a:r>
            <a:endParaRPr/>
          </a:p>
        </p:txBody>
      </p:sp>
      <p:cxnSp>
        <p:nvCxnSpPr>
          <p:cNvPr id="475" name="Google Shape;475;p42"/>
          <p:cNvCxnSpPr/>
          <p:nvPr/>
        </p:nvCxnSpPr>
        <p:spPr>
          <a:xfrm flipH="1">
            <a:off x="946942" y="2298780"/>
            <a:ext cx="125700" cy="666600"/>
          </a:xfrm>
          <a:prstGeom prst="straightConnector1">
            <a:avLst/>
          </a:prstGeom>
          <a:noFill/>
          <a:ln cap="flat" cmpd="sng" w="38100">
            <a:solidFill>
              <a:srgbClr val="A4C2F4"/>
            </a:solidFill>
            <a:prstDash val="solid"/>
            <a:round/>
            <a:headEnd len="med" w="med" type="none"/>
            <a:tailEnd len="med" w="med" type="stealth"/>
          </a:ln>
        </p:spPr>
      </p:cxnSp>
      <p:cxnSp>
        <p:nvCxnSpPr>
          <p:cNvPr id="476" name="Google Shape;476;p42"/>
          <p:cNvCxnSpPr/>
          <p:nvPr/>
        </p:nvCxnSpPr>
        <p:spPr>
          <a:xfrm flipH="1">
            <a:off x="1755520" y="3312205"/>
            <a:ext cx="235800" cy="595500"/>
          </a:xfrm>
          <a:prstGeom prst="straightConnector1">
            <a:avLst/>
          </a:prstGeom>
          <a:noFill/>
          <a:ln cap="flat" cmpd="sng" w="38100">
            <a:solidFill>
              <a:srgbClr val="A4C2F4"/>
            </a:solidFill>
            <a:prstDash val="solid"/>
            <a:round/>
            <a:headEnd len="med" w="med" type="none"/>
            <a:tailEnd len="med" w="med" type="stealth"/>
          </a:ln>
        </p:spPr>
      </p:cxnSp>
      <p:cxnSp>
        <p:nvCxnSpPr>
          <p:cNvPr id="477" name="Google Shape;477;p42"/>
          <p:cNvCxnSpPr/>
          <p:nvPr/>
        </p:nvCxnSpPr>
        <p:spPr>
          <a:xfrm>
            <a:off x="1983171" y="4135742"/>
            <a:ext cx="857400" cy="0"/>
          </a:xfrm>
          <a:prstGeom prst="straightConnector1">
            <a:avLst/>
          </a:prstGeom>
          <a:noFill/>
          <a:ln cap="flat" cmpd="sng" w="38100">
            <a:solidFill>
              <a:srgbClr val="A4C2F4"/>
            </a:solidFill>
            <a:prstDash val="solid"/>
            <a:round/>
            <a:headEnd len="med" w="med" type="none"/>
            <a:tailEnd len="med" w="med" type="stealth"/>
          </a:ln>
        </p:spPr>
      </p:cxnSp>
      <p:cxnSp>
        <p:nvCxnSpPr>
          <p:cNvPr id="478" name="Google Shape;478;p42"/>
          <p:cNvCxnSpPr/>
          <p:nvPr/>
        </p:nvCxnSpPr>
        <p:spPr>
          <a:xfrm flipH="1" rot="10800000">
            <a:off x="1174839" y="3151276"/>
            <a:ext cx="749700" cy="42000"/>
          </a:xfrm>
          <a:prstGeom prst="straightConnector1">
            <a:avLst/>
          </a:prstGeom>
          <a:noFill/>
          <a:ln cap="flat" cmpd="sng" w="38100">
            <a:solidFill>
              <a:srgbClr val="A4C2F4"/>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1000"/>
                                        <p:tgtEl>
                                          <p:spTgt spid="47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1000"/>
                                        <p:tgtEl>
                                          <p:spTgt spid="478"/>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1000"/>
                                        <p:tgtEl>
                                          <p:spTgt spid="47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1000"/>
                                        <p:tgtEl>
                                          <p:spTgt spid="4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Weighted Path</a:t>
            </a:r>
            <a:endParaRPr/>
          </a:p>
        </p:txBody>
      </p:sp>
      <p:sp>
        <p:nvSpPr>
          <p:cNvPr id="484" name="Google Shape;484;p4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The </a:t>
            </a:r>
            <a:r>
              <a:rPr i="1" lang="en"/>
              <a:t>Nearest Neighbor</a:t>
            </a:r>
            <a:r>
              <a:rPr lang="en"/>
              <a:t> algorithm will not only need to return the </a:t>
            </a:r>
            <a:r>
              <a:rPr i="1" lang="en"/>
              <a:t>values</a:t>
            </a:r>
            <a:r>
              <a:rPr lang="en"/>
              <a:t> in a path, but the total distance (the sum of the weights of all of the edges on the path) as well. The </a:t>
            </a:r>
            <a:r>
              <a:rPr lang="en">
                <a:latin typeface="Courier New"/>
                <a:ea typeface="Courier New"/>
                <a:cs typeface="Courier New"/>
                <a:sym typeface="Courier New"/>
              </a:rPr>
              <a:t>WPath</a:t>
            </a:r>
            <a:r>
              <a:rPr lang="en"/>
              <a:t> class has been provided to you to fulfill this function.</a:t>
            </a:r>
            <a:endParaRPr/>
          </a:p>
        </p:txBody>
      </p:sp>
      <p:sp>
        <p:nvSpPr>
          <p:cNvPr id="485" name="Google Shape;485;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6" name="Google Shape;486;p4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13</a:t>
            </a:r>
            <a:r>
              <a:rPr lang="en">
                <a:solidFill>
                  <a:schemeClr val="lt1"/>
                </a:solidFill>
              </a:rPr>
              <a:t>.11</a:t>
            </a:r>
            <a:endParaRPr sz="2100"/>
          </a:p>
        </p:txBody>
      </p:sp>
      <p:sp>
        <p:nvSpPr>
          <p:cNvPr id="487" name="Google Shape;487;p43"/>
          <p:cNvSpPr txBox="1"/>
          <p:nvPr>
            <p:ph idx="2" type="body"/>
          </p:nvPr>
        </p:nvSpPr>
        <p:spPr>
          <a:xfrm>
            <a:off x="3285050" y="1850450"/>
            <a:ext cx="5482800" cy="27012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the provided </a:t>
            </a:r>
            <a:r>
              <a:rPr lang="en" sz="1600">
                <a:solidFill>
                  <a:srgbClr val="FF0000"/>
                </a:solidFill>
                <a:latin typeface="Courier New"/>
                <a:ea typeface="Courier New"/>
                <a:cs typeface="Courier New"/>
                <a:sym typeface="Courier New"/>
              </a:rPr>
              <a:t>WPath</a:t>
            </a:r>
            <a:r>
              <a:rPr lang="en" sz="1600">
                <a:solidFill>
                  <a:srgbClr val="FF0000"/>
                </a:solidFill>
              </a:rPr>
              <a:t> </a:t>
            </a:r>
            <a:r>
              <a:rPr lang="en" sz="1600"/>
              <a:t>class in the </a:t>
            </a:r>
            <a:r>
              <a:rPr lang="en" sz="1600">
                <a:latin typeface="Courier New"/>
                <a:ea typeface="Courier New"/>
                <a:cs typeface="Courier New"/>
                <a:sym typeface="Courier New"/>
              </a:rPr>
              <a:t>weighted</a:t>
            </a:r>
            <a:r>
              <a:rPr lang="en" sz="1600"/>
              <a:t> </a:t>
            </a:r>
            <a:r>
              <a:rPr lang="en" sz="1600"/>
              <a:t>package.</a:t>
            </a:r>
            <a:endParaRPr sz="1600"/>
          </a:p>
          <a:p>
            <a:pPr indent="-317500" lvl="1" marL="914400" rtl="0" algn="l">
              <a:spcBef>
                <a:spcPts val="0"/>
              </a:spcBef>
              <a:spcAft>
                <a:spcPts val="0"/>
              </a:spcAft>
              <a:buSzPts val="1400"/>
              <a:buChar char="○"/>
            </a:pPr>
            <a:r>
              <a:rPr b="1" i="1" lang="en" sz="1400">
                <a:solidFill>
                  <a:srgbClr val="FF0000"/>
                </a:solidFill>
              </a:rPr>
              <a:t>Examine </a:t>
            </a:r>
            <a:r>
              <a:rPr lang="en" sz="1400"/>
              <a:t>each of the methods to gain an understanding of what it does.</a:t>
            </a:r>
            <a:endParaRPr sz="1400"/>
          </a:p>
          <a:p>
            <a:pPr indent="-317500" lvl="1" marL="914400" rtl="0" algn="l">
              <a:spcBef>
                <a:spcPts val="0"/>
              </a:spcBef>
              <a:spcAft>
                <a:spcPts val="0"/>
              </a:spcAft>
              <a:buSzPts val="1400"/>
              <a:buChar char="○"/>
            </a:pPr>
            <a:r>
              <a:rPr lang="en" sz="1400"/>
              <a:t>Notice that there are </a:t>
            </a:r>
            <a:r>
              <a:rPr b="1" i="1" lang="en" sz="1400">
                <a:solidFill>
                  <a:srgbClr val="FF0000"/>
                </a:solidFill>
              </a:rPr>
              <a:t>overloaded </a:t>
            </a:r>
            <a:r>
              <a:rPr lang="en" sz="1400"/>
              <a:t>constructors that can be used to create a path with or without an initial weight.</a:t>
            </a:r>
            <a:endParaRPr sz="1400"/>
          </a:p>
          <a:p>
            <a:pPr indent="-317500" lvl="1" marL="914400" rtl="0" algn="l">
              <a:spcBef>
                <a:spcPts val="0"/>
              </a:spcBef>
              <a:spcAft>
                <a:spcPts val="0"/>
              </a:spcAft>
              <a:buSzPts val="1400"/>
              <a:buChar char="○"/>
            </a:pPr>
            <a:r>
              <a:rPr lang="en" sz="1400"/>
              <a:t>Notice also that values can be </a:t>
            </a:r>
            <a:r>
              <a:rPr b="1" i="1" lang="en" sz="1400">
                <a:solidFill>
                  <a:srgbClr val="FF0000"/>
                </a:solidFill>
              </a:rPr>
              <a:t>added to either end</a:t>
            </a:r>
            <a:r>
              <a:rPr lang="en" sz="1400">
                <a:solidFill>
                  <a:srgbClr val="FF0000"/>
                </a:solidFill>
              </a:rPr>
              <a:t> </a:t>
            </a:r>
            <a:r>
              <a:rPr lang="en" sz="1400"/>
              <a:t>of the path with or without a weight.</a:t>
            </a:r>
            <a:endParaRPr sz="1400"/>
          </a:p>
          <a:p>
            <a:pPr indent="-317500" lvl="1" marL="914400" rtl="0" algn="l">
              <a:spcBef>
                <a:spcPts val="0"/>
              </a:spcBef>
              <a:spcAft>
                <a:spcPts val="0"/>
              </a:spcAft>
              <a:buSzPts val="1400"/>
              <a:buChar char="○"/>
            </a:pPr>
            <a:r>
              <a:rPr lang="en" sz="1400"/>
              <a:t>If you have any questions, </a:t>
            </a:r>
            <a:r>
              <a:rPr b="1" i="1" lang="en" sz="1400">
                <a:solidFill>
                  <a:srgbClr val="FF0000"/>
                </a:solidFill>
              </a:rPr>
              <a:t>ask</a:t>
            </a:r>
            <a:r>
              <a:rPr lang="en" sz="1400"/>
              <a:t>!</a:t>
            </a:r>
            <a:endParaRPr sz="1400"/>
          </a:p>
        </p:txBody>
      </p:sp>
      <p:pic>
        <p:nvPicPr>
          <p:cNvPr id="488" name="Google Shape;488;p43"/>
          <p:cNvPicPr preferRelativeResize="0"/>
          <p:nvPr/>
        </p:nvPicPr>
        <p:blipFill>
          <a:blip r:embed="rId3">
            <a:alphaModFix/>
          </a:blip>
          <a:stretch>
            <a:fillRect/>
          </a:stretch>
        </p:blipFill>
        <p:spPr>
          <a:xfrm>
            <a:off x="152400" y="1943216"/>
            <a:ext cx="3304349" cy="25988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4"/>
          <p:cNvSpPr txBox="1"/>
          <p:nvPr>
            <p:ph type="title"/>
          </p:nvPr>
        </p:nvSpPr>
        <p:spPr>
          <a:xfrm>
            <a:off x="5192225" y="119925"/>
            <a:ext cx="3706500" cy="861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Sorting Neighbors</a:t>
            </a:r>
            <a:endParaRPr/>
          </a:p>
          <a:p>
            <a:pPr indent="0" lvl="0" marL="0" rtl="0" algn="l">
              <a:spcBef>
                <a:spcPts val="0"/>
              </a:spcBef>
              <a:spcAft>
                <a:spcPts val="0"/>
              </a:spcAft>
              <a:buNone/>
            </a:pPr>
            <a:r>
              <a:rPr lang="en" sz="1600"/>
              <a:t>(Information Expert)</a:t>
            </a:r>
            <a:endParaRPr sz="1600"/>
          </a:p>
        </p:txBody>
      </p:sp>
      <p:sp>
        <p:nvSpPr>
          <p:cNvPr id="494" name="Google Shape;494;p44"/>
          <p:cNvSpPr txBox="1"/>
          <p:nvPr>
            <p:ph idx="1" type="body"/>
          </p:nvPr>
        </p:nvSpPr>
        <p:spPr>
          <a:xfrm>
            <a:off x="438150" y="130338"/>
            <a:ext cx="4166400" cy="47346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order to properly implement the </a:t>
            </a:r>
            <a:r>
              <a:rPr b="1" i="1" lang="en">
                <a:solidFill>
                  <a:srgbClr val="FF0000"/>
                </a:solidFill>
              </a:rPr>
              <a:t>Nearest Neighbor</a:t>
            </a:r>
            <a:r>
              <a:rPr lang="en"/>
              <a:t> algorithm in a weighted graph, we will need to be able to iterate through each vertex's neighbors in order based on distance from shortest to longest.</a:t>
            </a:r>
            <a:endParaRPr/>
          </a:p>
          <a:p>
            <a:pPr indent="-311150" lvl="0" marL="457200" rtl="0" algn="l">
              <a:spcBef>
                <a:spcPts val="1000"/>
              </a:spcBef>
              <a:spcAft>
                <a:spcPts val="0"/>
              </a:spcAft>
              <a:buSzPts val="1300"/>
              <a:buChar char="●"/>
            </a:pPr>
            <a:r>
              <a:rPr lang="en"/>
              <a:t>This means that we will need to implement a method that creates a </a:t>
            </a:r>
            <a:r>
              <a:rPr b="1" i="1" lang="en">
                <a:solidFill>
                  <a:srgbClr val="FF0000"/>
                </a:solidFill>
              </a:rPr>
              <a:t>sorted list of neighbors</a:t>
            </a:r>
            <a:r>
              <a:rPr lang="en"/>
              <a:t>.</a:t>
            </a:r>
            <a:endParaRPr/>
          </a:p>
          <a:p>
            <a:pPr indent="-298450" lvl="1" marL="914400" rtl="0" algn="l">
              <a:spcBef>
                <a:spcPts val="0"/>
              </a:spcBef>
              <a:spcAft>
                <a:spcPts val="0"/>
              </a:spcAft>
              <a:buSzPts val="1100"/>
              <a:buChar char="○"/>
            </a:pPr>
            <a:r>
              <a:rPr lang="en"/>
              <a:t>Where should this method be implemented?</a:t>
            </a:r>
            <a:endParaRPr/>
          </a:p>
          <a:p>
            <a:pPr indent="-311150" lvl="0" marL="457200" rtl="0" algn="l">
              <a:spcBef>
                <a:spcPts val="1000"/>
              </a:spcBef>
              <a:spcAft>
                <a:spcPts val="0"/>
              </a:spcAft>
              <a:buSzPts val="1300"/>
              <a:buChar char="●"/>
            </a:pPr>
            <a:r>
              <a:rPr b="1" i="1" lang="en">
                <a:solidFill>
                  <a:srgbClr val="FF0000"/>
                </a:solidFill>
              </a:rPr>
              <a:t>Information Expert</a:t>
            </a:r>
            <a:r>
              <a:rPr lang="en"/>
              <a:t> is an object-oriented design principle that is also sometimes called </a:t>
            </a:r>
            <a:r>
              <a:rPr b="1" i="1" lang="en">
                <a:solidFill>
                  <a:srgbClr val="FF0000"/>
                </a:solidFill>
              </a:rPr>
              <a:t>"behaviors follow state."</a:t>
            </a:r>
            <a:endParaRPr b="1" i="1">
              <a:solidFill>
                <a:srgbClr val="FF0000"/>
              </a:solidFill>
            </a:endParaRPr>
          </a:p>
          <a:p>
            <a:pPr indent="-298450" lvl="1" marL="914400" rtl="0" algn="l">
              <a:spcBef>
                <a:spcPts val="0"/>
              </a:spcBef>
              <a:spcAft>
                <a:spcPts val="0"/>
              </a:spcAft>
              <a:buSzPts val="1100"/>
              <a:buChar char="○"/>
            </a:pPr>
            <a:r>
              <a:rPr lang="en"/>
              <a:t>This means that, if you need to add a new method (behavior) to existing code, you should add it to the class that already contains the necessary data (state).</a:t>
            </a:r>
            <a:endParaRPr/>
          </a:p>
          <a:p>
            <a:pPr indent="-311150" lvl="0" marL="457200" rtl="0" algn="l">
              <a:spcBef>
                <a:spcPts val="1000"/>
              </a:spcBef>
              <a:spcAft>
                <a:spcPts val="0"/>
              </a:spcAft>
              <a:buSzPts val="1300"/>
              <a:buChar char="●"/>
            </a:pPr>
            <a:r>
              <a:rPr lang="en"/>
              <a:t>Which class in the system already contains all of the information necessary to sort a vertex's neighbors based on their distance from the vertex?</a:t>
            </a:r>
            <a:endParaRPr/>
          </a:p>
        </p:txBody>
      </p:sp>
      <p:sp>
        <p:nvSpPr>
          <p:cNvPr id="495" name="Google Shape;495;p4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96" name="Google Shape;496;p44"/>
          <p:cNvSpPr txBox="1"/>
          <p:nvPr>
            <p:ph idx="3" type="body"/>
          </p:nvPr>
        </p:nvSpPr>
        <p:spPr>
          <a:xfrm>
            <a:off x="5192225" y="4013450"/>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i="1" lang="en"/>
              <a:t>Information Expert</a:t>
            </a:r>
            <a:r>
              <a:rPr lang="en"/>
              <a:t> is one of the </a:t>
            </a:r>
            <a:r>
              <a:rPr b="1" i="1" lang="en" u="sng">
                <a:solidFill>
                  <a:srgbClr val="4A86E8"/>
                </a:solidFill>
                <a:hlinkClick r:id="rId3">
                  <a:extLst>
                    <a:ext uri="{A12FA001-AC4F-418D-AE19-62706E023703}">
                      <ahyp:hlinkClr val="tx"/>
                    </a:ext>
                  </a:extLst>
                </a:hlinkClick>
              </a:rPr>
              <a:t>GRASP</a:t>
            </a:r>
            <a:r>
              <a:rPr lang="en">
                <a:solidFill>
                  <a:srgbClr val="FF0000"/>
                </a:solidFill>
              </a:rPr>
              <a:t> </a:t>
            </a:r>
            <a:r>
              <a:rPr lang="en"/>
              <a:t>design principles that were first cataloged by </a:t>
            </a:r>
            <a:r>
              <a:rPr lang="en" u="sng">
                <a:solidFill>
                  <a:srgbClr val="4A86E8"/>
                </a:solidFill>
                <a:hlinkClick r:id="rId4">
                  <a:extLst>
                    <a:ext uri="{A12FA001-AC4F-418D-AE19-62706E023703}">
                      <ahyp:hlinkClr val="tx"/>
                    </a:ext>
                  </a:extLst>
                </a:hlinkClick>
              </a:rPr>
              <a:t>Craig Larman</a:t>
            </a:r>
            <a:r>
              <a:rPr lang="en"/>
              <a:t>, one of the pioneers of the software engineering discipline.</a:t>
            </a:r>
            <a:endParaRPr/>
          </a:p>
        </p:txBody>
      </p:sp>
      <p:pic>
        <p:nvPicPr>
          <p:cNvPr id="497" name="Google Shape;497;p44"/>
          <p:cNvPicPr preferRelativeResize="0"/>
          <p:nvPr/>
        </p:nvPicPr>
        <p:blipFill>
          <a:blip r:embed="rId5">
            <a:alphaModFix/>
          </a:blip>
          <a:stretch>
            <a:fillRect/>
          </a:stretch>
        </p:blipFill>
        <p:spPr>
          <a:xfrm>
            <a:off x="5932025" y="1134225"/>
            <a:ext cx="2226907" cy="2726825"/>
          </a:xfrm>
          <a:prstGeom prst="rect">
            <a:avLst/>
          </a:prstGeom>
          <a:noFill/>
          <a:ln cap="flat" cmpd="sng" w="19050">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5"/>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In order to implement </a:t>
            </a:r>
            <a:r>
              <a:rPr i="1" lang="en"/>
              <a:t>Nearest Neighbors</a:t>
            </a:r>
            <a:r>
              <a:rPr lang="en"/>
              <a:t>, we'll need to be able to create a sorted list of neighbors based on their distance from a vertex from shortest to farthest.</a:t>
            </a:r>
            <a:endParaRPr/>
          </a:p>
        </p:txBody>
      </p:sp>
      <p:sp>
        <p:nvSpPr>
          <p:cNvPr id="503" name="Google Shape;503;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45"/>
          <p:cNvSpPr txBox="1"/>
          <p:nvPr>
            <p:ph idx="2" type="body"/>
          </p:nvPr>
        </p:nvSpPr>
        <p:spPr>
          <a:xfrm>
            <a:off x="3165300" y="1445925"/>
            <a:ext cx="5740800" cy="3327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The </a:t>
            </a:r>
            <a:r>
              <a:rPr lang="en">
                <a:latin typeface="Courier New"/>
                <a:ea typeface="Courier New"/>
                <a:cs typeface="Courier New"/>
                <a:sym typeface="Courier New"/>
              </a:rPr>
              <a:t>WVertex</a:t>
            </a:r>
            <a:r>
              <a:rPr lang="en"/>
              <a:t> will need to compare its neighbors based on their distance (the weight of the edge). Open the class and update it so that it </a:t>
            </a:r>
            <a:r>
              <a:rPr lang="en">
                <a:latin typeface="Courier New"/>
                <a:ea typeface="Courier New"/>
                <a:cs typeface="Courier New"/>
                <a:sym typeface="Courier New"/>
              </a:rPr>
              <a:t>implements Comparator</a:t>
            </a:r>
            <a:r>
              <a:rPr lang="en"/>
              <a:t>.</a:t>
            </a:r>
            <a:endParaRPr/>
          </a:p>
          <a:p>
            <a:pPr indent="-298450" lvl="1" marL="914400" rtl="0" algn="l">
              <a:spcBef>
                <a:spcPts val="0"/>
              </a:spcBef>
              <a:spcAft>
                <a:spcPts val="0"/>
              </a:spcAft>
              <a:buSzPts val="1100"/>
              <a:buChar char="○"/>
            </a:pPr>
            <a:r>
              <a:rPr lang="en"/>
              <a:t>The </a:t>
            </a:r>
            <a:r>
              <a:rPr lang="en">
                <a:latin typeface="Courier New"/>
                <a:ea typeface="Courier New"/>
                <a:cs typeface="Courier New"/>
                <a:sym typeface="Courier New"/>
              </a:rPr>
              <a:t>compare</a:t>
            </a:r>
            <a:r>
              <a:rPr lang="en"/>
              <a:t> method should compare two neighbors, </a:t>
            </a:r>
            <a:r>
              <a:rPr lang="en">
                <a:latin typeface="Courier New"/>
                <a:ea typeface="Courier New"/>
                <a:cs typeface="Courier New"/>
                <a:sym typeface="Courier New"/>
              </a:rPr>
              <a:t>a</a:t>
            </a:r>
            <a:r>
              <a:rPr lang="en"/>
              <a:t> and </a:t>
            </a:r>
            <a:r>
              <a:rPr lang="en">
                <a:latin typeface="Courier New"/>
                <a:ea typeface="Courier New"/>
                <a:cs typeface="Courier New"/>
                <a:sym typeface="Courier New"/>
              </a:rPr>
              <a:t>b</a:t>
            </a:r>
            <a:r>
              <a:rPr lang="en"/>
              <a:t>, based on their distance from the vertex.</a:t>
            </a:r>
            <a:endParaRPr/>
          </a:p>
          <a:p>
            <a:pPr indent="-298450" lvl="1" marL="914400" rtl="0" algn="l">
              <a:spcBef>
                <a:spcPts val="0"/>
              </a:spcBef>
              <a:spcAft>
                <a:spcPts val="0"/>
              </a:spcAft>
              <a:buSzPts val="1100"/>
              <a:buChar char="○"/>
            </a:pPr>
            <a:r>
              <a:rPr i="1" lang="en"/>
              <a:t>Hint</a:t>
            </a:r>
            <a:r>
              <a:rPr lang="en"/>
              <a:t>: use the map of </a:t>
            </a:r>
            <a:r>
              <a:rPr lang="en">
                <a:latin typeface="Courier New"/>
                <a:ea typeface="Courier New"/>
                <a:cs typeface="Courier New"/>
                <a:sym typeface="Courier New"/>
              </a:rPr>
              <a:t>vertices</a:t>
            </a:r>
            <a:r>
              <a:rPr lang="en"/>
              <a:t> to look up the weight of each vertex and then return </a:t>
            </a:r>
            <a:r>
              <a:rPr lang="en">
                <a:latin typeface="Courier New"/>
                <a:ea typeface="Courier New"/>
                <a:cs typeface="Courier New"/>
                <a:sym typeface="Courier New"/>
              </a:rPr>
              <a:t>-1</a:t>
            </a:r>
            <a:r>
              <a:rPr lang="en"/>
              <a:t> if </a:t>
            </a:r>
            <a:r>
              <a:rPr lang="en">
                <a:latin typeface="Courier New"/>
                <a:ea typeface="Courier New"/>
                <a:cs typeface="Courier New"/>
                <a:sym typeface="Courier New"/>
              </a:rPr>
              <a:t>a &lt; b</a:t>
            </a:r>
            <a:r>
              <a:rPr lang="en"/>
              <a:t>, and </a:t>
            </a:r>
            <a:r>
              <a:rPr lang="en">
                <a:latin typeface="Courier New"/>
                <a:ea typeface="Courier New"/>
                <a:cs typeface="Courier New"/>
                <a:sym typeface="Courier New"/>
              </a:rPr>
              <a:t>+1</a:t>
            </a:r>
            <a:r>
              <a:rPr lang="en"/>
              <a:t> otherwise.</a:t>
            </a:r>
            <a:endParaRPr/>
          </a:p>
          <a:p>
            <a:pPr indent="-311150" lvl="0" marL="457200" rtl="0" algn="l">
              <a:spcBef>
                <a:spcPts val="0"/>
              </a:spcBef>
              <a:spcAft>
                <a:spcPts val="0"/>
              </a:spcAft>
              <a:buSzPts val="1300"/>
              <a:buChar char="●"/>
            </a:pPr>
            <a:r>
              <a:rPr lang="en"/>
              <a:t>Next, define a new method named "</a:t>
            </a:r>
            <a:r>
              <a:rPr lang="en">
                <a:latin typeface="Courier New"/>
                <a:ea typeface="Courier New"/>
                <a:cs typeface="Courier New"/>
                <a:sym typeface="Courier New"/>
              </a:rPr>
              <a:t>getNearestNeighbors</a:t>
            </a:r>
            <a:r>
              <a:rPr lang="en"/>
              <a:t>" that creates a list of neighbors and sorts it before returning it.</a:t>
            </a:r>
            <a:endParaRPr/>
          </a:p>
          <a:p>
            <a:pPr indent="-298450" lvl="1" marL="914400" rtl="0" algn="l">
              <a:spcBef>
                <a:spcPts val="0"/>
              </a:spcBef>
              <a:spcAft>
                <a:spcPts val="0"/>
              </a:spcAft>
              <a:buSzPts val="1100"/>
              <a:buChar char="○"/>
            </a:pPr>
            <a:r>
              <a:rPr lang="en"/>
              <a:t>Use the </a:t>
            </a:r>
            <a:r>
              <a:rPr lang="en">
                <a:latin typeface="Courier New"/>
                <a:ea typeface="Courier New"/>
                <a:cs typeface="Courier New"/>
                <a:sym typeface="Courier New"/>
              </a:rPr>
              <a:t>neighbors</a:t>
            </a:r>
            <a:r>
              <a:rPr lang="en">
                <a:latin typeface="Courier New"/>
                <a:ea typeface="Courier New"/>
                <a:cs typeface="Courier New"/>
                <a:sym typeface="Courier New"/>
              </a:rPr>
              <a:t>.keySet()</a:t>
            </a:r>
            <a:r>
              <a:rPr lang="en"/>
              <a:t> method to copy the neighbors into a list.</a:t>
            </a:r>
            <a:endParaRPr/>
          </a:p>
          <a:p>
            <a:pPr indent="-298450" lvl="1" marL="914400" rtl="0" algn="l">
              <a:spcBef>
                <a:spcPts val="0"/>
              </a:spcBef>
              <a:spcAft>
                <a:spcPts val="0"/>
              </a:spcAft>
              <a:buSzPts val="1100"/>
              <a:buChar char="○"/>
            </a:pPr>
            <a:r>
              <a:rPr lang="en"/>
              <a:t>Use </a:t>
            </a:r>
            <a:r>
              <a:rPr lang="en">
                <a:latin typeface="Courier New"/>
                <a:ea typeface="Courier New"/>
                <a:cs typeface="Courier New"/>
                <a:sym typeface="Courier New"/>
              </a:rPr>
              <a:t>Collections.sort(list, </a:t>
            </a:r>
            <a:r>
              <a:rPr lang="en" u="sng">
                <a:solidFill>
                  <a:srgbClr val="FF0000"/>
                </a:solidFill>
                <a:latin typeface="Courier New"/>
                <a:ea typeface="Courier New"/>
                <a:cs typeface="Courier New"/>
                <a:sym typeface="Courier New"/>
              </a:rPr>
              <a:t>this</a:t>
            </a:r>
            <a:r>
              <a:rPr lang="en">
                <a:latin typeface="Courier New"/>
                <a:ea typeface="Courier New"/>
                <a:cs typeface="Courier New"/>
                <a:sym typeface="Courier New"/>
              </a:rPr>
              <a:t>)</a:t>
            </a:r>
            <a:r>
              <a:rPr lang="en"/>
              <a:t> to use the vertex as the comparator that helps sort its neighbors in the list.</a:t>
            </a:r>
            <a:endParaRPr/>
          </a:p>
          <a:p>
            <a:pPr indent="-311150" lvl="0" marL="457200" rtl="0" algn="l">
              <a:spcBef>
                <a:spcPts val="0"/>
              </a:spcBef>
              <a:spcAft>
                <a:spcPts val="0"/>
              </a:spcAft>
              <a:buSzPts val="1300"/>
              <a:buChar char="●"/>
            </a:pPr>
            <a:r>
              <a:rPr lang="en"/>
              <a:t>Add a new test method to the </a:t>
            </a:r>
            <a:r>
              <a:rPr lang="en">
                <a:latin typeface="Courier New"/>
                <a:ea typeface="Courier New"/>
                <a:cs typeface="Courier New"/>
                <a:sym typeface="Courier New"/>
              </a:rPr>
              <a:t>WVertex</a:t>
            </a:r>
            <a:r>
              <a:rPr lang="en"/>
              <a:t> class that you can use to test the new method.</a:t>
            </a:r>
            <a:endParaRPr/>
          </a:p>
          <a:p>
            <a:pPr indent="-298450" lvl="1" marL="914400" rtl="0" algn="l">
              <a:spcBef>
                <a:spcPts val="0"/>
              </a:spcBef>
              <a:spcAft>
                <a:spcPts val="0"/>
              </a:spcAft>
              <a:buSzPts val="1100"/>
              <a:buChar char="○"/>
            </a:pPr>
            <a:r>
              <a:rPr lang="en"/>
              <a:t>In the </a:t>
            </a:r>
            <a:r>
              <a:rPr i="1" lang="en"/>
              <a:t>setup</a:t>
            </a:r>
            <a:r>
              <a:rPr lang="en"/>
              <a:t> add at least </a:t>
            </a:r>
            <a:r>
              <a:rPr i="1" lang="en"/>
              <a:t>three</a:t>
            </a:r>
            <a:r>
              <a:rPr lang="en"/>
              <a:t> neighbors with different weights.</a:t>
            </a:r>
            <a:endParaRPr/>
          </a:p>
        </p:txBody>
      </p:sp>
      <p:sp>
        <p:nvSpPr>
          <p:cNvPr id="505" name="Google Shape;505;p4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Sorting Neighbors</a:t>
            </a:r>
            <a:endParaRPr/>
          </a:p>
        </p:txBody>
      </p:sp>
      <p:sp>
        <p:nvSpPr>
          <p:cNvPr id="506" name="Google Shape;506;p4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13.12</a:t>
            </a:r>
            <a:endParaRPr/>
          </a:p>
        </p:txBody>
      </p:sp>
      <p:sp>
        <p:nvSpPr>
          <p:cNvPr id="507" name="Google Shape;507;p45"/>
          <p:cNvSpPr txBox="1"/>
          <p:nvPr>
            <p:ph idx="4" type="body"/>
          </p:nvPr>
        </p:nvSpPr>
        <p:spPr>
          <a:xfrm>
            <a:off x="141600" y="4309300"/>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a:t>
            </a:r>
            <a:r>
              <a:rPr b="1" i="1" lang="en">
                <a:solidFill>
                  <a:srgbClr val="FF0000"/>
                </a:solidFill>
              </a:rPr>
              <a:t>information expert</a:t>
            </a:r>
            <a:r>
              <a:rPr lang="en"/>
              <a:t> principle states that we should add new methods to an existing class that has the needed data.</a:t>
            </a:r>
            <a:endParaRPr/>
          </a:p>
        </p:txBody>
      </p:sp>
      <p:pic>
        <p:nvPicPr>
          <p:cNvPr id="508" name="Google Shape;508;p45"/>
          <p:cNvPicPr preferRelativeResize="0"/>
          <p:nvPr/>
        </p:nvPicPr>
        <p:blipFill>
          <a:blip r:embed="rId3">
            <a:alphaModFix/>
          </a:blip>
          <a:stretch>
            <a:fillRect/>
          </a:stretch>
        </p:blipFill>
        <p:spPr>
          <a:xfrm>
            <a:off x="582938" y="1353750"/>
            <a:ext cx="2141020" cy="2955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Nearest Neighbor, Part 1</a:t>
            </a:r>
            <a:endParaRPr/>
          </a:p>
        </p:txBody>
      </p:sp>
      <p:sp>
        <p:nvSpPr>
          <p:cNvPr id="514" name="Google Shape;514;p46"/>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i="1" lang="en"/>
              <a:t>Nearest Neighbor</a:t>
            </a:r>
            <a:r>
              <a:rPr lang="en"/>
              <a:t> is a greedy algorithm that attempts to quickly find a path through a graph that has a relatively low cost. It does this by choosing neighbors based on their distance from the current vertex. Begin Implementing it in your weighted graph now!</a:t>
            </a:r>
            <a:endParaRPr/>
          </a:p>
        </p:txBody>
      </p:sp>
      <p:sp>
        <p:nvSpPr>
          <p:cNvPr id="515" name="Google Shape;515;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6" name="Google Shape;516;p4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13</a:t>
            </a:r>
            <a:r>
              <a:rPr lang="en">
                <a:solidFill>
                  <a:schemeClr val="lt1"/>
                </a:solidFill>
              </a:rPr>
              <a:t>.13</a:t>
            </a:r>
            <a:endParaRPr sz="2100"/>
          </a:p>
        </p:txBody>
      </p:sp>
      <p:grpSp>
        <p:nvGrpSpPr>
          <p:cNvPr id="517" name="Google Shape;517;p46"/>
          <p:cNvGrpSpPr/>
          <p:nvPr/>
        </p:nvGrpSpPr>
        <p:grpSpPr>
          <a:xfrm>
            <a:off x="261936" y="1684553"/>
            <a:ext cx="2804944" cy="2526847"/>
            <a:chOff x="338125" y="1610890"/>
            <a:chExt cx="3334852" cy="3004217"/>
          </a:xfrm>
        </p:grpSpPr>
        <p:sp>
          <p:nvSpPr>
            <p:cNvPr id="518" name="Google Shape;518;p46"/>
            <p:cNvSpPr/>
            <p:nvPr/>
          </p:nvSpPr>
          <p:spPr>
            <a:xfrm>
              <a:off x="679459"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519" name="Google Shape;519;p46"/>
            <p:cNvSpPr/>
            <p:nvPr/>
          </p:nvSpPr>
          <p:spPr>
            <a:xfrm>
              <a:off x="1772863" y="2900772"/>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520" name="Google Shape;520;p46"/>
            <p:cNvSpPr/>
            <p:nvPr/>
          </p:nvSpPr>
          <p:spPr>
            <a:xfrm>
              <a:off x="338125" y="295099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521" name="Google Shape;521;p46"/>
            <p:cNvSpPr/>
            <p:nvPr/>
          </p:nvSpPr>
          <p:spPr>
            <a:xfrm>
              <a:off x="2380788"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522" name="Google Shape;522;p46"/>
            <p:cNvSpPr/>
            <p:nvPr/>
          </p:nvSpPr>
          <p:spPr>
            <a:xfrm>
              <a:off x="2863270"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23" name="Google Shape;523;p46"/>
            <p:cNvSpPr/>
            <p:nvPr/>
          </p:nvSpPr>
          <p:spPr>
            <a:xfrm>
              <a:off x="3110849" y="2857201"/>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524" name="Google Shape;524;p46"/>
            <p:cNvSpPr/>
            <p:nvPr/>
          </p:nvSpPr>
          <p:spPr>
            <a:xfrm>
              <a:off x="1300197"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525" name="Google Shape;525;p46"/>
            <p:cNvCxnSpPr>
              <a:stCxn id="518" idx="3"/>
              <a:endCxn id="520"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526" name="Google Shape;526;p46"/>
            <p:cNvCxnSpPr>
              <a:stCxn id="518" idx="6"/>
              <a:endCxn id="521"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527" name="Google Shape;527;p46"/>
            <p:cNvCxnSpPr>
              <a:stCxn id="518" idx="5"/>
              <a:endCxn id="519"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528" name="Google Shape;528;p46"/>
            <p:cNvCxnSpPr>
              <a:stCxn id="519" idx="6"/>
              <a:endCxn id="523"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529" name="Google Shape;529;p46"/>
            <p:cNvCxnSpPr>
              <a:stCxn id="523" idx="4"/>
              <a:endCxn id="522"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530" name="Google Shape;530;p46"/>
            <p:cNvCxnSpPr>
              <a:stCxn id="519" idx="3"/>
              <a:endCxn id="524"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531" name="Google Shape;531;p46"/>
            <p:cNvCxnSpPr>
              <a:stCxn id="524" idx="6"/>
              <a:endCxn id="522"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532" name="Google Shape;532;p46"/>
            <p:cNvCxnSpPr>
              <a:stCxn id="520" idx="6"/>
              <a:endCxn id="519"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533" name="Google Shape;533;p46"/>
            <p:cNvCxnSpPr>
              <a:stCxn id="521" idx="5"/>
              <a:endCxn id="523"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534" name="Google Shape;534;p46"/>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535" name="Google Shape;535;p46"/>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536" name="Google Shape;536;p46"/>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37" name="Google Shape;537;p46"/>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538" name="Google Shape;538;p46"/>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539" name="Google Shape;539;p46"/>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40" name="Google Shape;540;p46"/>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41" name="Google Shape;541;p46"/>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542" name="Google Shape;542;p46"/>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543" name="Google Shape;543;p46"/>
            <p:cNvCxnSpPr>
              <a:stCxn id="520" idx="5"/>
              <a:endCxn id="524"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544" name="Google Shape;544;p46"/>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545" name="Google Shape;545;p46"/>
          <p:cNvSpPr txBox="1"/>
          <p:nvPr>
            <p:ph idx="2" type="body"/>
          </p:nvPr>
        </p:nvSpPr>
        <p:spPr>
          <a:xfrm>
            <a:off x="3174450" y="1659075"/>
            <a:ext cx="5721600" cy="31239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The </a:t>
            </a:r>
            <a:r>
              <a:rPr b="1" i="1" lang="en" sz="1500">
                <a:solidFill>
                  <a:srgbClr val="FF0000"/>
                </a:solidFill>
              </a:rPr>
              <a:t>Nearest Neighbor</a:t>
            </a:r>
            <a:r>
              <a:rPr lang="en" sz="1500">
                <a:solidFill>
                  <a:srgbClr val="FF0000"/>
                </a:solidFill>
              </a:rPr>
              <a:t> </a:t>
            </a:r>
            <a:r>
              <a:rPr lang="en" sz="1500"/>
              <a:t>algorithm is a modified DFS. Begin by </a:t>
            </a:r>
            <a:r>
              <a:rPr b="1" i="1" lang="en" sz="1500">
                <a:solidFill>
                  <a:srgbClr val="FF0000"/>
                </a:solidFill>
              </a:rPr>
              <a:t>opening</a:t>
            </a:r>
            <a:r>
              <a:rPr lang="en" sz="1500">
                <a:solidFill>
                  <a:srgbClr val="FF0000"/>
                </a:solidFill>
              </a:rPr>
              <a:t> </a:t>
            </a:r>
            <a:r>
              <a:rPr lang="en" sz="1500"/>
              <a:t>the provided </a:t>
            </a:r>
            <a:r>
              <a:rPr lang="en" sz="1500">
                <a:latin typeface="Courier New"/>
                <a:ea typeface="Courier New"/>
                <a:cs typeface="Courier New"/>
                <a:sym typeface="Courier New"/>
              </a:rPr>
              <a:t>AdjacencyGraph</a:t>
            </a:r>
            <a:r>
              <a:rPr lang="en" sz="1500"/>
              <a:t> class and </a:t>
            </a:r>
            <a:r>
              <a:rPr b="1" i="1" lang="en" sz="1500">
                <a:solidFill>
                  <a:srgbClr val="FF0000"/>
                </a:solidFill>
              </a:rPr>
              <a:t>copying </a:t>
            </a:r>
            <a:r>
              <a:rPr lang="en" sz="1500"/>
              <a:t>the </a:t>
            </a:r>
            <a:r>
              <a:rPr lang="en" sz="1500">
                <a:latin typeface="Courier New"/>
                <a:ea typeface="Courier New"/>
                <a:cs typeface="Courier New"/>
                <a:sym typeface="Courier New"/>
              </a:rPr>
              <a:t>visitDFPath</a:t>
            </a:r>
            <a:r>
              <a:rPr lang="en" sz="1500"/>
              <a:t> method.</a:t>
            </a:r>
            <a:endParaRPr sz="1500"/>
          </a:p>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WAdjacencyGraph</a:t>
            </a:r>
            <a:r>
              <a:rPr lang="en" sz="1500"/>
              <a:t> class and paste the method at the </a:t>
            </a:r>
            <a:r>
              <a:rPr lang="en" sz="1500"/>
              <a:t>bottom of the class.</a:t>
            </a:r>
            <a:endParaRPr sz="1500"/>
          </a:p>
          <a:p>
            <a:pPr indent="-311150" lvl="1" marL="914400" rtl="0" algn="l">
              <a:spcBef>
                <a:spcPts val="0"/>
              </a:spcBef>
              <a:spcAft>
                <a:spcPts val="0"/>
              </a:spcAft>
              <a:buSzPts val="1300"/>
              <a:buChar char="○"/>
            </a:pPr>
            <a:r>
              <a:rPr lang="en" sz="1300"/>
              <a:t>Rename it to "</a:t>
            </a:r>
            <a:r>
              <a:rPr lang="en" sz="1300">
                <a:latin typeface="Courier New"/>
                <a:ea typeface="Courier New"/>
                <a:cs typeface="Courier New"/>
                <a:sym typeface="Courier New"/>
              </a:rPr>
              <a:t>visitNearestNeighbor</a:t>
            </a:r>
            <a:r>
              <a:rPr lang="en" sz="1300"/>
              <a:t>".</a:t>
            </a:r>
            <a:endParaRPr sz="1300"/>
          </a:p>
          <a:p>
            <a:pPr indent="-311150" lvl="1" marL="914400" rtl="0" algn="l">
              <a:spcBef>
                <a:spcPts val="0"/>
              </a:spcBef>
              <a:spcAft>
                <a:spcPts val="0"/>
              </a:spcAft>
              <a:buSzPts val="1300"/>
              <a:buChar char="○"/>
            </a:pPr>
            <a:r>
              <a:rPr lang="en" sz="1300"/>
              <a:t>Make sure to return a </a:t>
            </a:r>
            <a:r>
              <a:rPr lang="en" sz="1300">
                <a:latin typeface="Courier New"/>
                <a:ea typeface="Courier New"/>
                <a:cs typeface="Courier New"/>
                <a:sym typeface="Courier New"/>
              </a:rPr>
              <a:t>WPath</a:t>
            </a:r>
            <a:r>
              <a:rPr lang="en" sz="1300"/>
              <a:t> instead of a </a:t>
            </a:r>
            <a:r>
              <a:rPr lang="en" sz="1300">
                <a:latin typeface="Courier New"/>
                <a:ea typeface="Courier New"/>
                <a:cs typeface="Courier New"/>
                <a:sym typeface="Courier New"/>
              </a:rPr>
              <a:t>List</a:t>
            </a:r>
            <a:r>
              <a:rPr lang="en" sz="1300"/>
              <a:t>!</a:t>
            </a:r>
            <a:endParaRPr sz="1300"/>
          </a:p>
          <a:p>
            <a:pPr indent="-311150" lvl="1" marL="914400" rtl="0" algn="l">
              <a:spcBef>
                <a:spcPts val="0"/>
              </a:spcBef>
              <a:spcAft>
                <a:spcPts val="0"/>
              </a:spcAft>
              <a:buSzPts val="1300"/>
              <a:buChar char="○"/>
            </a:pPr>
            <a:r>
              <a:rPr lang="en" sz="1300"/>
              <a:t>Modify the </a:t>
            </a:r>
            <a:r>
              <a:rPr lang="en" sz="1300">
                <a:latin typeface="Courier New"/>
                <a:ea typeface="Courier New"/>
                <a:cs typeface="Courier New"/>
                <a:sym typeface="Courier New"/>
              </a:rPr>
              <a:t>for</a:t>
            </a:r>
            <a:r>
              <a:rPr lang="en" sz="1300"/>
              <a:t> loop so that it iterates over the </a:t>
            </a:r>
            <a:r>
              <a:rPr b="1" i="1" lang="en" sz="1300">
                <a:solidFill>
                  <a:srgbClr val="FF0000"/>
                </a:solidFill>
              </a:rPr>
              <a:t>nearest neighbors</a:t>
            </a:r>
            <a:r>
              <a:rPr lang="en" sz="1300"/>
              <a:t>.</a:t>
            </a:r>
            <a:endParaRPr sz="1300"/>
          </a:p>
          <a:p>
            <a:pPr indent="-311150" lvl="1" marL="914400" rtl="0" algn="l">
              <a:spcBef>
                <a:spcPts val="0"/>
              </a:spcBef>
              <a:spcAft>
                <a:spcPts val="0"/>
              </a:spcAft>
              <a:buSzPts val="1300"/>
              <a:buChar char="○"/>
            </a:pPr>
            <a:r>
              <a:rPr lang="en" sz="1300"/>
              <a:t>If a non-</a:t>
            </a:r>
            <a:r>
              <a:rPr lang="en" sz="1300">
                <a:latin typeface="Courier New"/>
                <a:ea typeface="Courier New"/>
                <a:cs typeface="Courier New"/>
                <a:sym typeface="Courier New"/>
              </a:rPr>
              <a:t>null</a:t>
            </a:r>
            <a:r>
              <a:rPr lang="en" sz="1300"/>
              <a:t> path is returned, </a:t>
            </a:r>
            <a:r>
              <a:rPr lang="en" sz="1300">
                <a:latin typeface="Courier New"/>
                <a:ea typeface="Courier New"/>
                <a:cs typeface="Courier New"/>
                <a:sym typeface="Courier New"/>
              </a:rPr>
              <a:t>prepend</a:t>
            </a:r>
            <a:r>
              <a:rPr lang="en" sz="1300"/>
              <a:t> the vertex and its weight onto the path!</a:t>
            </a:r>
            <a:endParaRPr sz="1300"/>
          </a:p>
          <a:p>
            <a:pPr indent="-323850" lvl="0" marL="457200" rtl="0" algn="l">
              <a:spcBef>
                <a:spcPts val="0"/>
              </a:spcBef>
              <a:spcAft>
                <a:spcPts val="0"/>
              </a:spcAft>
              <a:buSzPts val="1500"/>
              <a:buChar char="●"/>
            </a:pPr>
            <a:r>
              <a:rPr lang="en" sz="1500"/>
              <a:t>Make sure that there are no PROBLEMS in your code.</a:t>
            </a:r>
            <a:endParaRPr sz="15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Nearest Neighbor, Part 2</a:t>
            </a:r>
            <a:endParaRPr/>
          </a:p>
        </p:txBody>
      </p:sp>
      <p:sp>
        <p:nvSpPr>
          <p:cNvPr id="551" name="Google Shape;551;p47"/>
          <p:cNvSpPr txBox="1"/>
          <p:nvPr>
            <p:ph idx="1" type="body"/>
          </p:nvPr>
        </p:nvSpPr>
        <p:spPr>
          <a:xfrm>
            <a:off x="65250" y="655425"/>
            <a:ext cx="8955900" cy="6771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a:t>We're not done implementing </a:t>
            </a:r>
            <a:r>
              <a:rPr i="1" lang="en"/>
              <a:t>Nearest Neighbor </a:t>
            </a:r>
            <a:r>
              <a:rPr lang="en"/>
              <a:t>yet! Finish implementing and testing the method in your weighted graph now.</a:t>
            </a:r>
            <a:endParaRPr/>
          </a:p>
        </p:txBody>
      </p:sp>
      <p:sp>
        <p:nvSpPr>
          <p:cNvPr id="552" name="Google Shape;552;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4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13</a:t>
            </a:r>
            <a:r>
              <a:rPr lang="en">
                <a:solidFill>
                  <a:schemeClr val="lt1"/>
                </a:solidFill>
              </a:rPr>
              <a:t>.14</a:t>
            </a:r>
            <a:endParaRPr sz="2100"/>
          </a:p>
        </p:txBody>
      </p:sp>
      <p:grpSp>
        <p:nvGrpSpPr>
          <p:cNvPr id="554" name="Google Shape;554;p47"/>
          <p:cNvGrpSpPr/>
          <p:nvPr/>
        </p:nvGrpSpPr>
        <p:grpSpPr>
          <a:xfrm>
            <a:off x="261936" y="1684553"/>
            <a:ext cx="2804944" cy="2526847"/>
            <a:chOff x="338125" y="1610890"/>
            <a:chExt cx="3334852" cy="3004217"/>
          </a:xfrm>
        </p:grpSpPr>
        <p:sp>
          <p:nvSpPr>
            <p:cNvPr id="555" name="Google Shape;555;p47"/>
            <p:cNvSpPr/>
            <p:nvPr/>
          </p:nvSpPr>
          <p:spPr>
            <a:xfrm>
              <a:off x="679459"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556" name="Google Shape;556;p47"/>
            <p:cNvSpPr/>
            <p:nvPr/>
          </p:nvSpPr>
          <p:spPr>
            <a:xfrm>
              <a:off x="1772863" y="2900772"/>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557" name="Google Shape;557;p47"/>
            <p:cNvSpPr/>
            <p:nvPr/>
          </p:nvSpPr>
          <p:spPr>
            <a:xfrm>
              <a:off x="338125" y="295099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558" name="Google Shape;558;p47"/>
            <p:cNvSpPr/>
            <p:nvPr/>
          </p:nvSpPr>
          <p:spPr>
            <a:xfrm>
              <a:off x="2380788"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559" name="Google Shape;559;p47"/>
            <p:cNvSpPr/>
            <p:nvPr/>
          </p:nvSpPr>
          <p:spPr>
            <a:xfrm>
              <a:off x="2863270"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60" name="Google Shape;560;p47"/>
            <p:cNvSpPr/>
            <p:nvPr/>
          </p:nvSpPr>
          <p:spPr>
            <a:xfrm>
              <a:off x="3110849" y="2857201"/>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561" name="Google Shape;561;p47"/>
            <p:cNvSpPr/>
            <p:nvPr/>
          </p:nvSpPr>
          <p:spPr>
            <a:xfrm>
              <a:off x="1300197"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562" name="Google Shape;562;p47"/>
            <p:cNvCxnSpPr>
              <a:stCxn id="555" idx="3"/>
              <a:endCxn id="557"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563" name="Google Shape;563;p47"/>
            <p:cNvCxnSpPr>
              <a:stCxn id="555" idx="6"/>
              <a:endCxn id="558"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564" name="Google Shape;564;p47"/>
            <p:cNvCxnSpPr>
              <a:stCxn id="555" idx="5"/>
              <a:endCxn id="556"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565" name="Google Shape;565;p47"/>
            <p:cNvCxnSpPr>
              <a:stCxn id="556" idx="6"/>
              <a:endCxn id="560"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566" name="Google Shape;566;p47"/>
            <p:cNvCxnSpPr>
              <a:stCxn id="560" idx="4"/>
              <a:endCxn id="559"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567" name="Google Shape;567;p47"/>
            <p:cNvCxnSpPr>
              <a:stCxn id="556" idx="3"/>
              <a:endCxn id="561"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568" name="Google Shape;568;p47"/>
            <p:cNvCxnSpPr>
              <a:stCxn id="561" idx="6"/>
              <a:endCxn id="559"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569" name="Google Shape;569;p47"/>
            <p:cNvCxnSpPr>
              <a:stCxn id="557" idx="6"/>
              <a:endCxn id="556"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570" name="Google Shape;570;p47"/>
            <p:cNvCxnSpPr>
              <a:stCxn id="558" idx="5"/>
              <a:endCxn id="560"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571" name="Google Shape;571;p47"/>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572" name="Google Shape;572;p47"/>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573" name="Google Shape;573;p47"/>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74" name="Google Shape;574;p47"/>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575" name="Google Shape;575;p47"/>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576" name="Google Shape;576;p47"/>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77" name="Google Shape;577;p47"/>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78" name="Google Shape;578;p47"/>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579" name="Google Shape;579;p47"/>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580" name="Google Shape;580;p47"/>
            <p:cNvCxnSpPr>
              <a:stCxn id="557" idx="5"/>
              <a:endCxn id="561"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581" name="Google Shape;581;p47"/>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582" name="Google Shape;582;p47"/>
          <p:cNvSpPr txBox="1"/>
          <p:nvPr>
            <p:ph idx="2" type="body"/>
          </p:nvPr>
        </p:nvSpPr>
        <p:spPr>
          <a:xfrm>
            <a:off x="3174450" y="1430475"/>
            <a:ext cx="5721600" cy="24336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b="1" i="1" lang="en" sz="1500">
                <a:solidFill>
                  <a:srgbClr val="FF0000"/>
                </a:solidFill>
              </a:rPr>
              <a:t>Open</a:t>
            </a:r>
            <a:r>
              <a:rPr lang="en" sz="1500">
                <a:solidFill>
                  <a:srgbClr val="FF0000"/>
                </a:solidFill>
              </a:rPr>
              <a:t> </a:t>
            </a:r>
            <a:r>
              <a:rPr lang="en" sz="1500"/>
              <a:t>the provided </a:t>
            </a:r>
            <a:r>
              <a:rPr lang="en" sz="1500">
                <a:latin typeface="Courier New"/>
                <a:ea typeface="Courier New"/>
                <a:cs typeface="Courier New"/>
                <a:sym typeface="Courier New"/>
              </a:rPr>
              <a:t>AdjacencyGraph</a:t>
            </a:r>
            <a:r>
              <a:rPr lang="en" sz="1500"/>
              <a:t> class and </a:t>
            </a:r>
            <a:r>
              <a:rPr b="1" i="1" lang="en" sz="1500">
                <a:solidFill>
                  <a:srgbClr val="FF0000"/>
                </a:solidFill>
              </a:rPr>
              <a:t>copy </a:t>
            </a:r>
            <a:r>
              <a:rPr lang="en" sz="1500"/>
              <a:t>the </a:t>
            </a:r>
            <a:r>
              <a:rPr lang="en" sz="1500">
                <a:latin typeface="Courier New"/>
                <a:ea typeface="Courier New"/>
                <a:cs typeface="Courier New"/>
                <a:sym typeface="Courier New"/>
              </a:rPr>
              <a:t>dfPath</a:t>
            </a:r>
            <a:r>
              <a:rPr lang="en" sz="1500"/>
              <a:t> method.</a:t>
            </a:r>
            <a:endParaRPr sz="1500"/>
          </a:p>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WAdjacencyGraph</a:t>
            </a:r>
            <a:r>
              <a:rPr lang="en" sz="1500"/>
              <a:t> class and paste the method at the bottom of the class.</a:t>
            </a:r>
            <a:endParaRPr sz="1500"/>
          </a:p>
          <a:p>
            <a:pPr indent="-311150" lvl="1" marL="914400" rtl="0" algn="l">
              <a:spcBef>
                <a:spcPts val="0"/>
              </a:spcBef>
              <a:spcAft>
                <a:spcPts val="0"/>
              </a:spcAft>
              <a:buSzPts val="1300"/>
              <a:buChar char="○"/>
            </a:pPr>
            <a:r>
              <a:rPr lang="en" sz="1300"/>
              <a:t>Rename the method</a:t>
            </a:r>
            <a:r>
              <a:rPr lang="en" sz="1300"/>
              <a:t> from "</a:t>
            </a:r>
            <a:r>
              <a:rPr lang="en" sz="1300">
                <a:latin typeface="Courier New"/>
                <a:ea typeface="Courier New"/>
                <a:cs typeface="Courier New"/>
                <a:sym typeface="Courier New"/>
              </a:rPr>
              <a:t>dfPath</a:t>
            </a:r>
            <a:r>
              <a:rPr lang="en" sz="1300"/>
              <a:t>" to "</a:t>
            </a:r>
            <a:r>
              <a:rPr lang="en" sz="1300">
                <a:solidFill>
                  <a:srgbClr val="FF0000"/>
                </a:solidFill>
                <a:latin typeface="Courier New"/>
                <a:ea typeface="Courier New"/>
                <a:cs typeface="Courier New"/>
                <a:sym typeface="Courier New"/>
              </a:rPr>
              <a:t>nearestNeighbor</a:t>
            </a:r>
            <a:r>
              <a:rPr lang="en" sz="1300"/>
              <a:t>". You will also need to </a:t>
            </a:r>
            <a:r>
              <a:rPr lang="en" sz="1300"/>
              <a:t>update the code to use a </a:t>
            </a:r>
            <a:r>
              <a:rPr lang="en" sz="1300">
                <a:latin typeface="Courier New"/>
                <a:ea typeface="Courier New"/>
                <a:cs typeface="Courier New"/>
                <a:sym typeface="Courier New"/>
              </a:rPr>
              <a:t>WPath</a:t>
            </a:r>
            <a:r>
              <a:rPr lang="en" sz="1300"/>
              <a:t> instead of a list.</a:t>
            </a:r>
            <a:endParaRPr sz="1300"/>
          </a:p>
          <a:p>
            <a:pPr indent="-323850" lvl="0" marL="457200" rtl="0" algn="l">
              <a:spcBef>
                <a:spcPts val="0"/>
              </a:spcBef>
              <a:spcAft>
                <a:spcPts val="0"/>
              </a:spcAft>
              <a:buSzPts val="1500"/>
              <a:buChar char="●"/>
            </a:pPr>
            <a:r>
              <a:rPr lang="en" sz="1500"/>
              <a:t>Use </a:t>
            </a:r>
            <a:r>
              <a:rPr lang="en" sz="1500"/>
              <a:t>the provided </a:t>
            </a:r>
            <a:r>
              <a:rPr lang="en" sz="1500">
                <a:latin typeface="Courier New"/>
                <a:ea typeface="Courier New"/>
                <a:cs typeface="Courier New"/>
                <a:sym typeface="Courier New"/>
              </a:rPr>
              <a:t>NearestNeighborTest</a:t>
            </a:r>
            <a:r>
              <a:rPr lang="en" sz="1500"/>
              <a:t> </a:t>
            </a:r>
            <a:r>
              <a:rPr lang="en" sz="1500"/>
              <a:t>to test your algorithm.</a:t>
            </a:r>
            <a:endParaRPr sz="13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8"/>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see how Nearest Neighbor does when finding a path between two cities in the contiguous United States.</a:t>
            </a:r>
            <a:endParaRPr/>
          </a:p>
        </p:txBody>
      </p:sp>
      <p:sp>
        <p:nvSpPr>
          <p:cNvPr id="588" name="Google Shape;588;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9" name="Google Shape;589;p48"/>
          <p:cNvSpPr txBox="1"/>
          <p:nvPr>
            <p:ph idx="2" type="body"/>
          </p:nvPr>
        </p:nvSpPr>
        <p:spPr>
          <a:xfrm>
            <a:off x="3311000" y="1729125"/>
            <a:ext cx="5478600" cy="16500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the </a:t>
            </a:r>
            <a:r>
              <a:rPr lang="en" sz="1700">
                <a:latin typeface="Courier New"/>
                <a:ea typeface="Courier New"/>
                <a:cs typeface="Courier New"/>
                <a:sym typeface="Courier New"/>
              </a:rPr>
              <a:t>MapMaker</a:t>
            </a:r>
            <a:r>
              <a:rPr lang="en" sz="1700"/>
              <a:t> and navigate to the </a:t>
            </a:r>
            <a:r>
              <a:rPr lang="en" sz="1700">
                <a:latin typeface="Courier New"/>
                <a:ea typeface="Courier New"/>
                <a:cs typeface="Courier New"/>
                <a:sym typeface="Courier New"/>
              </a:rPr>
              <a:t>main</a:t>
            </a:r>
            <a:r>
              <a:rPr lang="en" sz="1700"/>
              <a:t> method.</a:t>
            </a:r>
            <a:endParaRPr sz="1700"/>
          </a:p>
          <a:p>
            <a:pPr indent="-336550" lvl="0" marL="457200" rtl="0" algn="l">
              <a:spcBef>
                <a:spcPts val="0"/>
              </a:spcBef>
              <a:spcAft>
                <a:spcPts val="0"/>
              </a:spcAft>
              <a:buSzPts val="1700"/>
              <a:buChar char="●"/>
            </a:pPr>
            <a:r>
              <a:rPr lang="en" sz="1700"/>
              <a:t>Use </a:t>
            </a:r>
            <a:r>
              <a:rPr i="1" lang="en" sz="1700"/>
              <a:t>Nearest Neighbor</a:t>
            </a:r>
            <a:r>
              <a:rPr lang="en" sz="1700"/>
              <a:t> algorithm to find a path from </a:t>
            </a:r>
            <a:r>
              <a:rPr i="1" lang="en" sz="1700"/>
              <a:t>Boston, Massachusetts</a:t>
            </a:r>
            <a:r>
              <a:rPr lang="en" sz="1700"/>
              <a:t> to </a:t>
            </a:r>
            <a:r>
              <a:rPr i="1" lang="en" sz="1700"/>
              <a:t>Los Angeles, California</a:t>
            </a:r>
            <a:r>
              <a:rPr lang="en" sz="1700"/>
              <a:t> and print it to standard output.</a:t>
            </a:r>
            <a:endParaRPr sz="1700"/>
          </a:p>
        </p:txBody>
      </p:sp>
      <p:sp>
        <p:nvSpPr>
          <p:cNvPr id="590" name="Google Shape;590;p4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Traveling Neighbors</a:t>
            </a:r>
            <a:endParaRPr/>
          </a:p>
        </p:txBody>
      </p:sp>
      <p:sp>
        <p:nvSpPr>
          <p:cNvPr id="591" name="Google Shape;591;p4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13.15</a:t>
            </a:r>
            <a:endParaRPr/>
          </a:p>
        </p:txBody>
      </p:sp>
      <p:sp>
        <p:nvSpPr>
          <p:cNvPr id="592" name="Google Shape;592;p48"/>
          <p:cNvSpPr txBox="1"/>
          <p:nvPr>
            <p:ph idx="4" type="body"/>
          </p:nvPr>
        </p:nvSpPr>
        <p:spPr>
          <a:xfrm>
            <a:off x="141600" y="3753500"/>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How does </a:t>
            </a:r>
            <a:r>
              <a:rPr i="1" lang="en"/>
              <a:t>Nearest Neighbor</a:t>
            </a:r>
            <a:r>
              <a:rPr lang="en"/>
              <a:t> find a path from coast to coast in the United States?</a:t>
            </a:r>
            <a:endParaRPr/>
          </a:p>
        </p:txBody>
      </p:sp>
      <p:pic>
        <p:nvPicPr>
          <p:cNvPr id="593" name="Google Shape;593;p48"/>
          <p:cNvPicPr preferRelativeResize="0"/>
          <p:nvPr/>
        </p:nvPicPr>
        <p:blipFill>
          <a:blip r:embed="rId3">
            <a:alphaModFix/>
          </a:blip>
          <a:stretch>
            <a:fillRect/>
          </a:stretch>
        </p:blipFill>
        <p:spPr>
          <a:xfrm>
            <a:off x="141600" y="1729124"/>
            <a:ext cx="3023700" cy="1886498"/>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4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Graphs &amp; Searches </a:t>
            </a:r>
            <a:endParaRPr/>
          </a:p>
        </p:txBody>
      </p:sp>
      <p:sp>
        <p:nvSpPr>
          <p:cNvPr id="599" name="Google Shape;599;p49"/>
          <p:cNvSpPr txBox="1"/>
          <p:nvPr>
            <p:ph idx="1" type="body"/>
          </p:nvPr>
        </p:nvSpPr>
        <p:spPr>
          <a:xfrm>
            <a:off x="125500" y="1277100"/>
            <a:ext cx="4941900" cy="3853200"/>
          </a:xfrm>
          <a:prstGeom prst="rect">
            <a:avLst/>
          </a:prstGeom>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A </a:t>
            </a:r>
            <a:r>
              <a:rPr b="1" i="1" lang="en">
                <a:solidFill>
                  <a:srgbClr val="FF0000"/>
                </a:solidFill>
              </a:rPr>
              <a:t>graph</a:t>
            </a:r>
            <a:r>
              <a:rPr lang="en">
                <a:solidFill>
                  <a:srgbClr val="FF0000"/>
                </a:solidFill>
              </a:rPr>
              <a:t> </a:t>
            </a:r>
            <a:r>
              <a:rPr lang="en"/>
              <a:t>comprises </a:t>
            </a:r>
            <a:r>
              <a:rPr b="1" i="1" lang="en">
                <a:solidFill>
                  <a:srgbClr val="FF0000"/>
                </a:solidFill>
              </a:rPr>
              <a:t>vertices</a:t>
            </a:r>
            <a:r>
              <a:rPr lang="en"/>
              <a:t>, each of which contains a </a:t>
            </a:r>
            <a:r>
              <a:rPr b="1" i="1" lang="en">
                <a:solidFill>
                  <a:srgbClr val="FF0000"/>
                </a:solidFill>
              </a:rPr>
              <a:t>value</a:t>
            </a:r>
            <a:r>
              <a:rPr lang="en">
                <a:solidFill>
                  <a:srgbClr val="FF0000"/>
                </a:solidFill>
              </a:rPr>
              <a:t> </a:t>
            </a:r>
            <a:r>
              <a:rPr lang="en"/>
              <a:t>of some kind.</a:t>
            </a:r>
            <a:endParaRPr/>
          </a:p>
          <a:p>
            <a:pPr indent="-311150" lvl="0" marL="457200" rtl="0" algn="l">
              <a:lnSpc>
                <a:spcPct val="100000"/>
              </a:lnSpc>
              <a:spcBef>
                <a:spcPts val="1000"/>
              </a:spcBef>
              <a:spcAft>
                <a:spcPts val="0"/>
              </a:spcAft>
              <a:buSzPts val="1300"/>
              <a:buChar char="●"/>
            </a:pPr>
            <a:r>
              <a:rPr lang="en"/>
              <a:t>Two vertices can be connected by an </a:t>
            </a:r>
            <a:r>
              <a:rPr b="1" i="1" lang="en">
                <a:solidFill>
                  <a:srgbClr val="FF0000"/>
                </a:solidFill>
              </a:rPr>
              <a:t>edge</a:t>
            </a:r>
            <a:r>
              <a:rPr lang="en"/>
              <a:t>.</a:t>
            </a:r>
            <a:endParaRPr/>
          </a:p>
          <a:p>
            <a:pPr indent="-298450" lvl="1" marL="914400" rtl="0" algn="l">
              <a:lnSpc>
                <a:spcPct val="100000"/>
              </a:lnSpc>
              <a:spcBef>
                <a:spcPts val="0"/>
              </a:spcBef>
              <a:spcAft>
                <a:spcPts val="0"/>
              </a:spcAft>
              <a:buSzPts val="1100"/>
              <a:buChar char="○"/>
            </a:pPr>
            <a:r>
              <a:rPr lang="en"/>
              <a:t>Edges may be </a:t>
            </a:r>
            <a:r>
              <a:rPr b="1" i="1" lang="en">
                <a:solidFill>
                  <a:srgbClr val="FF0000"/>
                </a:solidFill>
              </a:rPr>
              <a:t>directed</a:t>
            </a:r>
            <a:r>
              <a:rPr lang="en">
                <a:solidFill>
                  <a:srgbClr val="FF0000"/>
                </a:solidFill>
              </a:rPr>
              <a:t> </a:t>
            </a:r>
            <a:r>
              <a:rPr lang="en"/>
              <a:t>or </a:t>
            </a:r>
            <a:r>
              <a:rPr b="1" i="1" lang="en">
                <a:solidFill>
                  <a:srgbClr val="FF0000"/>
                </a:solidFill>
              </a:rPr>
              <a:t>undirected</a:t>
            </a:r>
            <a:r>
              <a:rPr lang="en"/>
              <a:t>.</a:t>
            </a:r>
            <a:endParaRPr/>
          </a:p>
          <a:p>
            <a:pPr indent="-298450" lvl="1" marL="914400" rtl="0" algn="l">
              <a:lnSpc>
                <a:spcPct val="100000"/>
              </a:lnSpc>
              <a:spcBef>
                <a:spcPts val="0"/>
              </a:spcBef>
              <a:spcAft>
                <a:spcPts val="0"/>
              </a:spcAft>
              <a:buSzPts val="1100"/>
              <a:buChar char="○"/>
            </a:pPr>
            <a:r>
              <a:rPr lang="en"/>
              <a:t>An edge may or may not have a </a:t>
            </a:r>
            <a:r>
              <a:rPr b="1" i="1" lang="en">
                <a:solidFill>
                  <a:srgbClr val="FF0000"/>
                </a:solidFill>
              </a:rPr>
              <a:t>weight</a:t>
            </a:r>
            <a:r>
              <a:rPr lang="en">
                <a:solidFill>
                  <a:srgbClr val="FF0000"/>
                </a:solidFill>
              </a:rPr>
              <a:t> </a:t>
            </a:r>
            <a:r>
              <a:rPr lang="en"/>
              <a:t>that indicates the </a:t>
            </a:r>
            <a:r>
              <a:rPr b="1" i="1" lang="en">
                <a:solidFill>
                  <a:srgbClr val="FF0000"/>
                </a:solidFill>
              </a:rPr>
              <a:t>cost</a:t>
            </a:r>
            <a:r>
              <a:rPr lang="en">
                <a:solidFill>
                  <a:srgbClr val="FF0000"/>
                </a:solidFill>
              </a:rPr>
              <a:t> </a:t>
            </a:r>
            <a:r>
              <a:rPr lang="en"/>
              <a:t>of traversing the edge.</a:t>
            </a:r>
            <a:endParaRPr/>
          </a:p>
          <a:p>
            <a:pPr indent="-298450" lvl="1" marL="914400" rtl="0" algn="l">
              <a:lnSpc>
                <a:spcPct val="100000"/>
              </a:lnSpc>
              <a:spcBef>
                <a:spcPts val="0"/>
              </a:spcBef>
              <a:spcAft>
                <a:spcPts val="0"/>
              </a:spcAft>
              <a:buSzPts val="1100"/>
              <a:buChar char="○"/>
            </a:pPr>
            <a:r>
              <a:rPr lang="en"/>
              <a:t>Two vertices connected by an edge are said to be </a:t>
            </a:r>
            <a:r>
              <a:rPr b="1" i="1" lang="en">
                <a:solidFill>
                  <a:srgbClr val="FF0000"/>
                </a:solidFill>
              </a:rPr>
              <a:t>neighbors</a:t>
            </a:r>
            <a:r>
              <a:rPr lang="en"/>
              <a:t>.</a:t>
            </a:r>
            <a:endParaRPr/>
          </a:p>
          <a:p>
            <a:pPr indent="-311150" lvl="0" marL="457200" rtl="0" algn="l">
              <a:lnSpc>
                <a:spcPct val="100000"/>
              </a:lnSpc>
              <a:spcBef>
                <a:spcPts val="1000"/>
              </a:spcBef>
              <a:spcAft>
                <a:spcPts val="0"/>
              </a:spcAft>
              <a:buSzPts val="1300"/>
              <a:buChar char="●"/>
            </a:pPr>
            <a:r>
              <a:rPr lang="en"/>
              <a:t>A </a:t>
            </a:r>
            <a:r>
              <a:rPr b="1" i="1" lang="en">
                <a:solidFill>
                  <a:srgbClr val="FF0000"/>
                </a:solidFill>
              </a:rPr>
              <a:t>path</a:t>
            </a:r>
            <a:r>
              <a:rPr lang="en">
                <a:solidFill>
                  <a:srgbClr val="FF0000"/>
                </a:solidFill>
              </a:rPr>
              <a:t> </a:t>
            </a:r>
            <a:r>
              <a:rPr lang="en"/>
              <a:t>is the series of edges that connect two vertices together.</a:t>
            </a:r>
            <a:endParaRPr/>
          </a:p>
          <a:p>
            <a:pPr indent="-311150" lvl="0" marL="457200" rtl="0" algn="l">
              <a:lnSpc>
                <a:spcPct val="100000"/>
              </a:lnSpc>
              <a:spcBef>
                <a:spcPts val="1000"/>
              </a:spcBef>
              <a:spcAft>
                <a:spcPts val="0"/>
              </a:spcAft>
              <a:buSzPts val="1300"/>
              <a:buChar char="●"/>
            </a:pPr>
            <a:r>
              <a:rPr lang="en"/>
              <a:t>A </a:t>
            </a:r>
            <a:r>
              <a:rPr b="1" i="1" lang="en">
                <a:solidFill>
                  <a:srgbClr val="FF0000"/>
                </a:solidFill>
              </a:rPr>
              <a:t>search</a:t>
            </a:r>
            <a:r>
              <a:rPr lang="en">
                <a:solidFill>
                  <a:srgbClr val="FF0000"/>
                </a:solidFill>
              </a:rPr>
              <a:t> </a:t>
            </a:r>
            <a:r>
              <a:rPr lang="en"/>
              <a:t>is an algorithm that determines whether or not a path exists between two vertices.</a:t>
            </a:r>
            <a:endParaRPr/>
          </a:p>
          <a:p>
            <a:pPr indent="-311150" lvl="0" marL="457200" rtl="0" algn="l">
              <a:lnSpc>
                <a:spcPct val="100000"/>
              </a:lnSpc>
              <a:spcBef>
                <a:spcPts val="1000"/>
              </a:spcBef>
              <a:spcAft>
                <a:spcPts val="0"/>
              </a:spcAft>
              <a:buSzPts val="1300"/>
              <a:buChar char="●"/>
            </a:pPr>
            <a:r>
              <a:rPr lang="en"/>
              <a:t>Some search algorithms consider the weight of the edge between vertices.</a:t>
            </a:r>
            <a:endParaRPr b="1" i="1"/>
          </a:p>
          <a:p>
            <a:pPr indent="-298450" lvl="1" marL="914400" rtl="0" algn="l">
              <a:lnSpc>
                <a:spcPct val="100000"/>
              </a:lnSpc>
              <a:spcBef>
                <a:spcPts val="0"/>
              </a:spcBef>
              <a:spcAft>
                <a:spcPts val="0"/>
              </a:spcAft>
              <a:buSzPts val="1100"/>
              <a:buChar char="○"/>
            </a:pPr>
            <a:r>
              <a:rPr b="1" i="1" lang="en">
                <a:solidFill>
                  <a:srgbClr val="FF0000"/>
                </a:solidFill>
              </a:rPr>
              <a:t>Breadth-First Search</a:t>
            </a:r>
            <a:r>
              <a:rPr lang="en">
                <a:solidFill>
                  <a:srgbClr val="FF0000"/>
                </a:solidFill>
              </a:rPr>
              <a:t> </a:t>
            </a:r>
            <a:r>
              <a:rPr lang="en"/>
              <a:t>and </a:t>
            </a:r>
            <a:r>
              <a:rPr b="1" i="1" lang="en">
                <a:solidFill>
                  <a:srgbClr val="FF0000"/>
                </a:solidFill>
              </a:rPr>
              <a:t>Depth-First Search</a:t>
            </a:r>
            <a:r>
              <a:rPr lang="en"/>
              <a:t> ignore the cost of edges.</a:t>
            </a:r>
            <a:endParaRPr/>
          </a:p>
          <a:p>
            <a:pPr indent="-298450" lvl="1" marL="914400" rtl="0" algn="l">
              <a:lnSpc>
                <a:spcPct val="100000"/>
              </a:lnSpc>
              <a:spcBef>
                <a:spcPts val="0"/>
              </a:spcBef>
              <a:spcAft>
                <a:spcPts val="0"/>
              </a:spcAft>
              <a:buSzPts val="1100"/>
              <a:buChar char="○"/>
            </a:pPr>
            <a:r>
              <a:rPr b="1" i="1" lang="en">
                <a:solidFill>
                  <a:srgbClr val="FF0000"/>
                </a:solidFill>
              </a:rPr>
              <a:t>Nearest Neighbor</a:t>
            </a:r>
            <a:r>
              <a:rPr lang="en"/>
              <a:t> always chooses the </a:t>
            </a:r>
            <a:r>
              <a:rPr b="1" i="1" lang="en">
                <a:solidFill>
                  <a:srgbClr val="FF0000"/>
                </a:solidFill>
              </a:rPr>
              <a:t>unexplored</a:t>
            </a:r>
            <a:r>
              <a:rPr lang="en">
                <a:solidFill>
                  <a:srgbClr val="FF0000"/>
                </a:solidFill>
              </a:rPr>
              <a:t> </a:t>
            </a:r>
            <a:r>
              <a:rPr lang="en"/>
              <a:t>edge with the </a:t>
            </a:r>
            <a:r>
              <a:rPr b="1" i="1" lang="en">
                <a:solidFill>
                  <a:srgbClr val="FF0000"/>
                </a:solidFill>
              </a:rPr>
              <a:t>lowest cost</a:t>
            </a:r>
            <a:r>
              <a:rPr lang="en"/>
              <a:t>.</a:t>
            </a:r>
            <a:endParaRPr/>
          </a:p>
        </p:txBody>
      </p:sp>
      <p:sp>
        <p:nvSpPr>
          <p:cNvPr id="600" name="Google Shape;600;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601" name="Google Shape;601;p49"/>
          <p:cNvGrpSpPr/>
          <p:nvPr/>
        </p:nvGrpSpPr>
        <p:grpSpPr>
          <a:xfrm>
            <a:off x="5474762" y="1349370"/>
            <a:ext cx="2789937" cy="2513027"/>
            <a:chOff x="338125" y="1610890"/>
            <a:chExt cx="3334852" cy="3004217"/>
          </a:xfrm>
        </p:grpSpPr>
        <p:sp>
          <p:nvSpPr>
            <p:cNvPr id="602" name="Google Shape;602;p49"/>
            <p:cNvSpPr/>
            <p:nvPr/>
          </p:nvSpPr>
          <p:spPr>
            <a:xfrm>
              <a:off x="679459"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603" name="Google Shape;603;p49"/>
            <p:cNvSpPr/>
            <p:nvPr/>
          </p:nvSpPr>
          <p:spPr>
            <a:xfrm>
              <a:off x="1772863" y="2900772"/>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604" name="Google Shape;604;p49"/>
            <p:cNvSpPr/>
            <p:nvPr/>
          </p:nvSpPr>
          <p:spPr>
            <a:xfrm>
              <a:off x="338125" y="295099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605" name="Google Shape;605;p49"/>
            <p:cNvSpPr/>
            <p:nvPr/>
          </p:nvSpPr>
          <p:spPr>
            <a:xfrm>
              <a:off x="2380788" y="1694600"/>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606" name="Google Shape;606;p49"/>
            <p:cNvSpPr/>
            <p:nvPr/>
          </p:nvSpPr>
          <p:spPr>
            <a:xfrm>
              <a:off x="2863270"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607" name="Google Shape;607;p49"/>
            <p:cNvSpPr/>
            <p:nvPr/>
          </p:nvSpPr>
          <p:spPr>
            <a:xfrm>
              <a:off x="3110849" y="2857201"/>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608" name="Google Shape;608;p49"/>
            <p:cNvSpPr/>
            <p:nvPr/>
          </p:nvSpPr>
          <p:spPr>
            <a:xfrm>
              <a:off x="1300197" y="4072707"/>
              <a:ext cx="542400" cy="542400"/>
            </a:xfrm>
            <a:prstGeom prst="ellipse">
              <a:avLst/>
            </a:prstGeom>
            <a:solidFill>
              <a:srgbClr val="2AC1B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609" name="Google Shape;609;p49"/>
            <p:cNvCxnSpPr>
              <a:stCxn id="602" idx="3"/>
              <a:endCxn id="604"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610" name="Google Shape;610;p49"/>
            <p:cNvCxnSpPr>
              <a:stCxn id="602" idx="6"/>
              <a:endCxn id="605"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611" name="Google Shape;611;p49"/>
            <p:cNvCxnSpPr>
              <a:stCxn id="602" idx="5"/>
              <a:endCxn id="603"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612" name="Google Shape;612;p49"/>
            <p:cNvCxnSpPr>
              <a:stCxn id="603" idx="6"/>
              <a:endCxn id="607"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613" name="Google Shape;613;p49"/>
            <p:cNvCxnSpPr>
              <a:stCxn id="607" idx="4"/>
              <a:endCxn id="606"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614" name="Google Shape;614;p49"/>
            <p:cNvCxnSpPr>
              <a:stCxn id="603" idx="3"/>
              <a:endCxn id="608"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615" name="Google Shape;615;p49"/>
            <p:cNvCxnSpPr>
              <a:stCxn id="608" idx="6"/>
              <a:endCxn id="606"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616" name="Google Shape;616;p49"/>
            <p:cNvCxnSpPr>
              <a:stCxn id="604" idx="6"/>
              <a:endCxn id="603"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617" name="Google Shape;617;p49"/>
            <p:cNvCxnSpPr>
              <a:stCxn id="605" idx="5"/>
              <a:endCxn id="607"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618" name="Google Shape;618;p49"/>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619" name="Google Shape;619;p49"/>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620" name="Google Shape;620;p49"/>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621" name="Google Shape;621;p49"/>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622" name="Google Shape;622;p49"/>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623" name="Google Shape;623;p49"/>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624" name="Google Shape;624;p49"/>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625" name="Google Shape;625;p49"/>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626" name="Google Shape;626;p49"/>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627" name="Google Shape;627;p49"/>
            <p:cNvCxnSpPr>
              <a:stCxn id="604" idx="5"/>
              <a:endCxn id="608"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628" name="Google Shape;628;p49"/>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629" name="Google Shape;629;p49"/>
          <p:cNvSpPr txBox="1"/>
          <p:nvPr/>
        </p:nvSpPr>
        <p:spPr>
          <a:xfrm>
            <a:off x="5295025" y="4027425"/>
            <a:ext cx="3256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Different searches will find different paths through a graph. Some look for </a:t>
            </a:r>
            <a:r>
              <a:rPr b="1" i="1" lang="en" sz="1200">
                <a:solidFill>
                  <a:srgbClr val="FF0000"/>
                </a:solidFill>
                <a:latin typeface="Roboto"/>
                <a:ea typeface="Roboto"/>
                <a:cs typeface="Roboto"/>
                <a:sym typeface="Roboto"/>
              </a:rPr>
              <a:t>fewer edges</a:t>
            </a:r>
            <a:r>
              <a:rPr lang="en" sz="1200">
                <a:latin typeface="Roboto"/>
                <a:ea typeface="Roboto"/>
                <a:cs typeface="Roboto"/>
                <a:sym typeface="Roboto"/>
              </a:rPr>
              <a:t> while others look for</a:t>
            </a:r>
            <a:r>
              <a:rPr lang="en" sz="1200">
                <a:solidFill>
                  <a:srgbClr val="FF0000"/>
                </a:solidFill>
                <a:latin typeface="Roboto"/>
                <a:ea typeface="Roboto"/>
                <a:cs typeface="Roboto"/>
                <a:sym typeface="Roboto"/>
              </a:rPr>
              <a:t> </a:t>
            </a:r>
            <a:r>
              <a:rPr b="1" i="1" lang="en" sz="1200">
                <a:solidFill>
                  <a:srgbClr val="FF0000"/>
                </a:solidFill>
                <a:latin typeface="Roboto"/>
                <a:ea typeface="Roboto"/>
                <a:cs typeface="Roboto"/>
                <a:sym typeface="Roboto"/>
              </a:rPr>
              <a:t>lowest cost</a:t>
            </a:r>
            <a:r>
              <a:rPr lang="en" sz="1200">
                <a:latin typeface="Roboto"/>
                <a:ea typeface="Roboto"/>
                <a:cs typeface="Roboto"/>
                <a:sym typeface="Roboto"/>
              </a:rPr>
              <a:t>.</a:t>
            </a:r>
            <a:endParaRPr sz="12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1000"/>
                                        <p:tgtEl>
                                          <p:spTgt spid="6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50"/>
          <p:cNvSpPr txBox="1"/>
          <p:nvPr>
            <p:ph idx="1" type="body"/>
          </p:nvPr>
        </p:nvSpPr>
        <p:spPr>
          <a:xfrm>
            <a:off x="231350" y="-9201"/>
            <a:ext cx="4541100" cy="5141700"/>
          </a:xfrm>
          <a:prstGeom prst="rect">
            <a:avLst/>
          </a:prstGeom>
        </p:spPr>
        <p:txBody>
          <a:bodyPr anchorCtr="0" anchor="ctr" bIns="91425" lIns="91425" spcFirstLastPara="1" rIns="91425" wrap="square" tIns="91425">
            <a:spAutoFit/>
          </a:bodyPr>
          <a:lstStyle/>
          <a:p>
            <a:pPr indent="-311150" lvl="0" marL="457200" rtl="0" algn="l">
              <a:spcBef>
                <a:spcPts val="0"/>
              </a:spcBef>
              <a:spcAft>
                <a:spcPts val="0"/>
              </a:spcAft>
              <a:buSzPts val="1300"/>
              <a:buChar char="●"/>
            </a:pPr>
            <a:r>
              <a:rPr lang="en"/>
              <a:t>A</a:t>
            </a:r>
            <a:r>
              <a:rPr lang="en">
                <a:solidFill>
                  <a:srgbClr val="FF0000"/>
                </a:solidFill>
              </a:rPr>
              <a:t> </a:t>
            </a:r>
            <a:r>
              <a:rPr b="1" i="1" lang="en">
                <a:solidFill>
                  <a:srgbClr val="FF0000"/>
                </a:solidFill>
              </a:rPr>
              <a:t>breadth-first search</a:t>
            </a:r>
            <a:r>
              <a:rPr lang="en"/>
              <a:t> will always find a path that has the fewest possible </a:t>
            </a:r>
            <a:r>
              <a:rPr b="1" i="1" lang="en">
                <a:solidFill>
                  <a:srgbClr val="FF0000"/>
                </a:solidFill>
              </a:rPr>
              <a:t>edges</a:t>
            </a:r>
            <a:r>
              <a:rPr lang="en"/>
              <a:t>.</a:t>
            </a:r>
            <a:endParaRPr/>
          </a:p>
          <a:p>
            <a:pPr indent="-298450" lvl="1" marL="914400" rtl="0" algn="l">
              <a:spcBef>
                <a:spcPts val="0"/>
              </a:spcBef>
              <a:spcAft>
                <a:spcPts val="0"/>
              </a:spcAft>
              <a:buSzPts val="1100"/>
              <a:buChar char="○"/>
            </a:pPr>
            <a:r>
              <a:rPr lang="en"/>
              <a:t>There may be more than one path with the same "shortest" length.</a:t>
            </a:r>
            <a:endParaRPr/>
          </a:p>
          <a:p>
            <a:pPr indent="-298450" lvl="1" marL="914400" rtl="0" algn="l">
              <a:spcBef>
                <a:spcPts val="0"/>
              </a:spcBef>
              <a:spcAft>
                <a:spcPts val="0"/>
              </a:spcAft>
              <a:buSzPts val="1100"/>
              <a:buChar char="○"/>
            </a:pPr>
            <a:r>
              <a:rPr lang="en"/>
              <a:t>BFS will find one based on the order in which it visits the neighbors of each vertex.</a:t>
            </a:r>
            <a:endParaRPr/>
          </a:p>
          <a:p>
            <a:pPr indent="-311150" lvl="0" marL="457200" rtl="0" algn="l">
              <a:spcBef>
                <a:spcPts val="1000"/>
              </a:spcBef>
              <a:spcAft>
                <a:spcPts val="0"/>
              </a:spcAft>
              <a:buSzPts val="1300"/>
              <a:buChar char="●"/>
            </a:pPr>
            <a:r>
              <a:rPr lang="en"/>
              <a:t>A </a:t>
            </a:r>
            <a:r>
              <a:rPr b="1" i="1" lang="en">
                <a:solidFill>
                  <a:srgbClr val="FF0000"/>
                </a:solidFill>
              </a:rPr>
              <a:t>depth-first search</a:t>
            </a:r>
            <a:r>
              <a:rPr lang="en">
                <a:solidFill>
                  <a:srgbClr val="FF0000"/>
                </a:solidFill>
              </a:rPr>
              <a:t> </a:t>
            </a:r>
            <a:r>
              <a:rPr lang="en"/>
              <a:t>will only find a path with the fewest edges by coincidence.</a:t>
            </a:r>
            <a:endParaRPr/>
          </a:p>
          <a:p>
            <a:pPr indent="-298450" lvl="1" marL="914400" rtl="0" algn="l">
              <a:spcBef>
                <a:spcPts val="0"/>
              </a:spcBef>
              <a:spcAft>
                <a:spcPts val="0"/>
              </a:spcAft>
              <a:buSzPts val="1100"/>
              <a:buChar char="○"/>
            </a:pPr>
            <a:r>
              <a:rPr lang="en"/>
              <a:t>Again, this will be determined by the order in which the search visits the neighbors of each vertex.</a:t>
            </a:r>
            <a:endParaRPr/>
          </a:p>
          <a:p>
            <a:pPr indent="-298450" lvl="1" marL="914400" rtl="0" algn="l">
              <a:spcBef>
                <a:spcPts val="0"/>
              </a:spcBef>
              <a:spcAft>
                <a:spcPts val="0"/>
              </a:spcAft>
              <a:buSzPts val="1100"/>
              <a:buChar char="○"/>
            </a:pPr>
            <a:r>
              <a:rPr lang="en"/>
              <a:t>DFS is just as likely to find the path with the </a:t>
            </a:r>
            <a:r>
              <a:rPr b="1" i="1" lang="en">
                <a:solidFill>
                  <a:srgbClr val="FF0000"/>
                </a:solidFill>
              </a:rPr>
              <a:t>most</a:t>
            </a:r>
            <a:r>
              <a:rPr lang="en">
                <a:solidFill>
                  <a:srgbClr val="FF0000"/>
                </a:solidFill>
              </a:rPr>
              <a:t> </a:t>
            </a:r>
            <a:r>
              <a:rPr lang="en"/>
              <a:t>edges.</a:t>
            </a:r>
            <a:endParaRPr/>
          </a:p>
          <a:p>
            <a:pPr indent="-311150" lvl="0" marL="457200" rtl="0" algn="l">
              <a:spcBef>
                <a:spcPts val="1000"/>
              </a:spcBef>
              <a:spcAft>
                <a:spcPts val="0"/>
              </a:spcAft>
              <a:buSzPts val="1300"/>
              <a:buChar char="●"/>
            </a:pPr>
            <a:r>
              <a:rPr lang="en"/>
              <a:t>Neither algorithm is guaranteed (or even likely) to find the path with the lowest total </a:t>
            </a:r>
            <a:r>
              <a:rPr b="1" i="1" lang="en">
                <a:solidFill>
                  <a:srgbClr val="FF0000"/>
                </a:solidFill>
              </a:rPr>
              <a:t>cost</a:t>
            </a:r>
            <a:r>
              <a:rPr lang="en"/>
              <a:t>.</a:t>
            </a:r>
            <a:endParaRPr/>
          </a:p>
          <a:p>
            <a:pPr indent="-298450" lvl="1" marL="914400" rtl="0" algn="l">
              <a:spcBef>
                <a:spcPts val="0"/>
              </a:spcBef>
              <a:spcAft>
                <a:spcPts val="0"/>
              </a:spcAft>
              <a:buSzPts val="1100"/>
              <a:buChar char="○"/>
            </a:pPr>
            <a:r>
              <a:rPr lang="en"/>
              <a:t>We also refer to total cost as </a:t>
            </a:r>
            <a:r>
              <a:rPr b="1" i="1" lang="en">
                <a:solidFill>
                  <a:srgbClr val="FF0000"/>
                </a:solidFill>
              </a:rPr>
              <a:t>total distance</a:t>
            </a:r>
            <a:r>
              <a:rPr lang="en"/>
              <a:t> and the lowest cost as the </a:t>
            </a:r>
            <a:r>
              <a:rPr b="1" i="1" lang="en">
                <a:solidFill>
                  <a:srgbClr val="FF0000"/>
                </a:solidFill>
              </a:rPr>
              <a:t>shortest distance</a:t>
            </a:r>
            <a:r>
              <a:rPr lang="en"/>
              <a:t>.</a:t>
            </a:r>
            <a:endParaRPr/>
          </a:p>
          <a:p>
            <a:pPr indent="-298450" lvl="1" marL="914400" rtl="0" algn="l">
              <a:spcBef>
                <a:spcPts val="0"/>
              </a:spcBef>
              <a:spcAft>
                <a:spcPts val="0"/>
              </a:spcAft>
              <a:buSzPts val="1100"/>
              <a:buChar char="○"/>
            </a:pPr>
            <a:r>
              <a:rPr lang="en"/>
              <a:t>If the shortest distance path has more edges, BFS will </a:t>
            </a:r>
            <a:r>
              <a:rPr b="1" i="1" lang="en">
                <a:solidFill>
                  <a:srgbClr val="FF0000"/>
                </a:solidFill>
              </a:rPr>
              <a:t>never</a:t>
            </a:r>
            <a:r>
              <a:rPr lang="en">
                <a:solidFill>
                  <a:srgbClr val="FF0000"/>
                </a:solidFill>
              </a:rPr>
              <a:t> </a:t>
            </a:r>
            <a:r>
              <a:rPr lang="en"/>
              <a:t>find it.</a:t>
            </a:r>
            <a:endParaRPr/>
          </a:p>
          <a:p>
            <a:pPr indent="-298450" lvl="1" marL="914400" rtl="0" algn="l">
              <a:spcBef>
                <a:spcPts val="0"/>
              </a:spcBef>
              <a:spcAft>
                <a:spcPts val="0"/>
              </a:spcAft>
              <a:buSzPts val="1100"/>
              <a:buChar char="○"/>
            </a:pPr>
            <a:r>
              <a:rPr lang="en"/>
              <a:t>DFS may find it, but only by coincidence.</a:t>
            </a:r>
            <a:endParaRPr/>
          </a:p>
          <a:p>
            <a:pPr indent="-311150" lvl="0" marL="457200" rtl="0" algn="l">
              <a:spcBef>
                <a:spcPts val="1000"/>
              </a:spcBef>
              <a:spcAft>
                <a:spcPts val="0"/>
              </a:spcAft>
              <a:buSzPts val="1300"/>
              <a:buChar char="●"/>
            </a:pPr>
            <a:r>
              <a:rPr b="1" i="1" lang="en">
                <a:solidFill>
                  <a:srgbClr val="FF0000"/>
                </a:solidFill>
              </a:rPr>
              <a:t>Nearest Neighbor</a:t>
            </a:r>
            <a:r>
              <a:rPr lang="en"/>
              <a:t> is a greedy algorithm that chooses the unexplored neighbor with the lowest cost, but is</a:t>
            </a:r>
            <a:r>
              <a:rPr lang="en">
                <a:solidFill>
                  <a:srgbClr val="FF0000"/>
                </a:solidFill>
              </a:rPr>
              <a:t> </a:t>
            </a:r>
            <a:r>
              <a:rPr b="1" i="1" lang="en">
                <a:solidFill>
                  <a:srgbClr val="FF0000"/>
                </a:solidFill>
              </a:rPr>
              <a:t>not</a:t>
            </a:r>
            <a:r>
              <a:rPr b="1" i="1" lang="en"/>
              <a:t> </a:t>
            </a:r>
            <a:r>
              <a:rPr lang="en"/>
              <a:t>guaranteed to find the lowest cost path.</a:t>
            </a:r>
            <a:endParaRPr/>
          </a:p>
        </p:txBody>
      </p:sp>
      <p:sp>
        <p:nvSpPr>
          <p:cNvPr id="635" name="Google Shape;635;p50"/>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36" name="Google Shape;636;p50"/>
          <p:cNvSpPr txBox="1"/>
          <p:nvPr>
            <p:ph type="title"/>
          </p:nvPr>
        </p:nvSpPr>
        <p:spPr>
          <a:xfrm>
            <a:off x="5264725" y="1961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What does </a:t>
            </a:r>
            <a:r>
              <a:rPr i="1" lang="en" sz="2500"/>
              <a:t>"Shortest"</a:t>
            </a:r>
            <a:r>
              <a:rPr lang="en" sz="2500"/>
              <a:t> Mean?</a:t>
            </a:r>
            <a:endParaRPr sz="2500"/>
          </a:p>
        </p:txBody>
      </p:sp>
      <p:sp>
        <p:nvSpPr>
          <p:cNvPr id="637" name="Google Shape;637;p50"/>
          <p:cNvSpPr txBox="1"/>
          <p:nvPr>
            <p:ph idx="3" type="body"/>
          </p:nvPr>
        </p:nvSpPr>
        <p:spPr>
          <a:xfrm>
            <a:off x="5192225" y="3431392"/>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definition of </a:t>
            </a:r>
            <a:r>
              <a:rPr b="1" i="1" lang="en">
                <a:solidFill>
                  <a:srgbClr val="FF0000"/>
                </a:solidFill>
              </a:rPr>
              <a:t>"shortest"</a:t>
            </a:r>
            <a:r>
              <a:rPr lang="en"/>
              <a:t> depends on the problem that you are trying to solve. Is it the </a:t>
            </a:r>
            <a:r>
              <a:rPr b="1" i="1" lang="en">
                <a:solidFill>
                  <a:srgbClr val="FF0000"/>
                </a:solidFill>
              </a:rPr>
              <a:t>fewest hops</a:t>
            </a:r>
            <a:r>
              <a:rPr lang="en">
                <a:solidFill>
                  <a:srgbClr val="FF0000"/>
                </a:solidFill>
              </a:rPr>
              <a:t> </a:t>
            </a:r>
            <a:r>
              <a:rPr lang="en"/>
              <a:t>or </a:t>
            </a:r>
            <a:r>
              <a:rPr b="1" i="1" lang="en">
                <a:solidFill>
                  <a:srgbClr val="FF0000"/>
                </a:solidFill>
              </a:rPr>
              <a:t>lowest cost</a:t>
            </a:r>
            <a:r>
              <a:rPr lang="en"/>
              <a:t>?</a:t>
            </a:r>
            <a:endParaRPr/>
          </a:p>
        </p:txBody>
      </p:sp>
      <p:grpSp>
        <p:nvGrpSpPr>
          <p:cNvPr id="638" name="Google Shape;638;p50"/>
          <p:cNvGrpSpPr/>
          <p:nvPr/>
        </p:nvGrpSpPr>
        <p:grpSpPr>
          <a:xfrm>
            <a:off x="5748336" y="963879"/>
            <a:ext cx="2589846" cy="2333075"/>
            <a:chOff x="338125" y="1610890"/>
            <a:chExt cx="3334852" cy="3004217"/>
          </a:xfrm>
        </p:grpSpPr>
        <p:sp>
          <p:nvSpPr>
            <p:cNvPr id="639" name="Google Shape;639;p50"/>
            <p:cNvSpPr/>
            <p:nvPr/>
          </p:nvSpPr>
          <p:spPr>
            <a:xfrm>
              <a:off x="679459" y="1694600"/>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640" name="Google Shape;640;p50"/>
            <p:cNvSpPr/>
            <p:nvPr/>
          </p:nvSpPr>
          <p:spPr>
            <a:xfrm>
              <a:off x="1772863" y="2900772"/>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641" name="Google Shape;641;p50"/>
            <p:cNvSpPr/>
            <p:nvPr/>
          </p:nvSpPr>
          <p:spPr>
            <a:xfrm>
              <a:off x="338125" y="2950990"/>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642" name="Google Shape;642;p50"/>
            <p:cNvSpPr/>
            <p:nvPr/>
          </p:nvSpPr>
          <p:spPr>
            <a:xfrm>
              <a:off x="2380788" y="1694600"/>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643" name="Google Shape;643;p50"/>
            <p:cNvSpPr/>
            <p:nvPr/>
          </p:nvSpPr>
          <p:spPr>
            <a:xfrm>
              <a:off x="2863270" y="4072707"/>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644" name="Google Shape;644;p50"/>
            <p:cNvSpPr/>
            <p:nvPr/>
          </p:nvSpPr>
          <p:spPr>
            <a:xfrm>
              <a:off x="3110849" y="2857201"/>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645" name="Google Shape;645;p50"/>
            <p:cNvSpPr/>
            <p:nvPr/>
          </p:nvSpPr>
          <p:spPr>
            <a:xfrm>
              <a:off x="1300197" y="4072707"/>
              <a:ext cx="542400" cy="542400"/>
            </a:xfrm>
            <a:prstGeom prst="ellipse">
              <a:avLst/>
            </a:prstGeom>
            <a:solidFill>
              <a:srgbClr val="2AC1B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646" name="Google Shape;646;p50"/>
            <p:cNvCxnSpPr>
              <a:stCxn id="639" idx="3"/>
              <a:endCxn id="641" idx="0"/>
            </p:cNvCxnSpPr>
            <p:nvPr/>
          </p:nvCxnSpPr>
          <p:spPr>
            <a:xfrm flipH="1">
              <a:off x="609191" y="2157567"/>
              <a:ext cx="149700" cy="793500"/>
            </a:xfrm>
            <a:prstGeom prst="straightConnector1">
              <a:avLst/>
            </a:prstGeom>
            <a:noFill/>
            <a:ln cap="flat" cmpd="sng" w="19050">
              <a:solidFill>
                <a:srgbClr val="FFFFFF"/>
              </a:solidFill>
              <a:prstDash val="solid"/>
              <a:round/>
              <a:headEnd len="med" w="med" type="none"/>
              <a:tailEnd len="med" w="med" type="none"/>
            </a:ln>
          </p:spPr>
        </p:cxnSp>
        <p:cxnSp>
          <p:nvCxnSpPr>
            <p:cNvPr id="647" name="Google Shape;647;p50"/>
            <p:cNvCxnSpPr>
              <a:stCxn id="639" idx="6"/>
              <a:endCxn id="642" idx="2"/>
            </p:cNvCxnSpPr>
            <p:nvPr/>
          </p:nvCxnSpPr>
          <p:spPr>
            <a:xfrm>
              <a:off x="1221859" y="1965800"/>
              <a:ext cx="1158900" cy="0"/>
            </a:xfrm>
            <a:prstGeom prst="straightConnector1">
              <a:avLst/>
            </a:prstGeom>
            <a:noFill/>
            <a:ln cap="flat" cmpd="sng" w="19050">
              <a:solidFill>
                <a:srgbClr val="FFFFFF"/>
              </a:solidFill>
              <a:prstDash val="solid"/>
              <a:round/>
              <a:headEnd len="med" w="med" type="none"/>
              <a:tailEnd len="med" w="med" type="none"/>
            </a:ln>
          </p:spPr>
        </p:cxnSp>
        <p:cxnSp>
          <p:nvCxnSpPr>
            <p:cNvPr id="648" name="Google Shape;648;p50"/>
            <p:cNvCxnSpPr>
              <a:stCxn id="639" idx="5"/>
              <a:endCxn id="640" idx="1"/>
            </p:cNvCxnSpPr>
            <p:nvPr/>
          </p:nvCxnSpPr>
          <p:spPr>
            <a:xfrm>
              <a:off x="1142426" y="2157567"/>
              <a:ext cx="709800" cy="822600"/>
            </a:xfrm>
            <a:prstGeom prst="straightConnector1">
              <a:avLst/>
            </a:prstGeom>
            <a:noFill/>
            <a:ln cap="flat" cmpd="sng" w="19050">
              <a:solidFill>
                <a:srgbClr val="FFFFFF"/>
              </a:solidFill>
              <a:prstDash val="solid"/>
              <a:round/>
              <a:headEnd len="med" w="med" type="none"/>
              <a:tailEnd len="med" w="med" type="none"/>
            </a:ln>
          </p:spPr>
        </p:cxnSp>
        <p:cxnSp>
          <p:nvCxnSpPr>
            <p:cNvPr id="649" name="Google Shape;649;p50"/>
            <p:cNvCxnSpPr>
              <a:stCxn id="640" idx="6"/>
              <a:endCxn id="644" idx="2"/>
            </p:cNvCxnSpPr>
            <p:nvPr/>
          </p:nvCxnSpPr>
          <p:spPr>
            <a:xfrm flipH="1" rot="10800000">
              <a:off x="2315263" y="3128472"/>
              <a:ext cx="795600" cy="43500"/>
            </a:xfrm>
            <a:prstGeom prst="straightConnector1">
              <a:avLst/>
            </a:prstGeom>
            <a:noFill/>
            <a:ln cap="flat" cmpd="sng" w="19050">
              <a:solidFill>
                <a:srgbClr val="FFFFFF"/>
              </a:solidFill>
              <a:prstDash val="solid"/>
              <a:round/>
              <a:headEnd len="med" w="med" type="none"/>
              <a:tailEnd len="med" w="med" type="none"/>
            </a:ln>
          </p:spPr>
        </p:cxnSp>
        <p:cxnSp>
          <p:nvCxnSpPr>
            <p:cNvPr id="650" name="Google Shape;650;p50"/>
            <p:cNvCxnSpPr>
              <a:stCxn id="644" idx="4"/>
              <a:endCxn id="643" idx="7"/>
            </p:cNvCxnSpPr>
            <p:nvPr/>
          </p:nvCxnSpPr>
          <p:spPr>
            <a:xfrm flipH="1">
              <a:off x="3326249" y="3399601"/>
              <a:ext cx="55800" cy="752400"/>
            </a:xfrm>
            <a:prstGeom prst="straightConnector1">
              <a:avLst/>
            </a:prstGeom>
            <a:noFill/>
            <a:ln cap="flat" cmpd="sng" w="19050">
              <a:solidFill>
                <a:srgbClr val="FFFFFF"/>
              </a:solidFill>
              <a:prstDash val="solid"/>
              <a:round/>
              <a:headEnd len="med" w="med" type="none"/>
              <a:tailEnd len="med" w="med" type="none"/>
            </a:ln>
          </p:spPr>
        </p:cxnSp>
        <p:cxnSp>
          <p:nvCxnSpPr>
            <p:cNvPr id="651" name="Google Shape;651;p50"/>
            <p:cNvCxnSpPr>
              <a:stCxn id="640" idx="3"/>
              <a:endCxn id="645" idx="0"/>
            </p:cNvCxnSpPr>
            <p:nvPr/>
          </p:nvCxnSpPr>
          <p:spPr>
            <a:xfrm flipH="1">
              <a:off x="1571495" y="3363739"/>
              <a:ext cx="280800" cy="708900"/>
            </a:xfrm>
            <a:prstGeom prst="straightConnector1">
              <a:avLst/>
            </a:prstGeom>
            <a:noFill/>
            <a:ln cap="flat" cmpd="sng" w="19050">
              <a:solidFill>
                <a:srgbClr val="FFFFFF"/>
              </a:solidFill>
              <a:prstDash val="solid"/>
              <a:round/>
              <a:headEnd len="med" w="med" type="none"/>
              <a:tailEnd len="med" w="med" type="none"/>
            </a:ln>
          </p:spPr>
        </p:cxnSp>
        <p:cxnSp>
          <p:nvCxnSpPr>
            <p:cNvPr id="652" name="Google Shape;652;p50"/>
            <p:cNvCxnSpPr>
              <a:stCxn id="645" idx="6"/>
              <a:endCxn id="643" idx="2"/>
            </p:cNvCxnSpPr>
            <p:nvPr/>
          </p:nvCxnSpPr>
          <p:spPr>
            <a:xfrm>
              <a:off x="1842597" y="4343907"/>
              <a:ext cx="1020600" cy="0"/>
            </a:xfrm>
            <a:prstGeom prst="straightConnector1">
              <a:avLst/>
            </a:prstGeom>
            <a:noFill/>
            <a:ln cap="flat" cmpd="sng" w="19050">
              <a:solidFill>
                <a:srgbClr val="FFFFFF"/>
              </a:solidFill>
              <a:prstDash val="solid"/>
              <a:round/>
              <a:headEnd len="med" w="med" type="none"/>
              <a:tailEnd len="med" w="med" type="none"/>
            </a:ln>
          </p:spPr>
        </p:cxnSp>
        <p:cxnSp>
          <p:nvCxnSpPr>
            <p:cNvPr id="653" name="Google Shape;653;p50"/>
            <p:cNvCxnSpPr>
              <a:stCxn id="641" idx="6"/>
              <a:endCxn id="640" idx="2"/>
            </p:cNvCxnSpPr>
            <p:nvPr/>
          </p:nvCxnSpPr>
          <p:spPr>
            <a:xfrm flipH="1" rot="10800000">
              <a:off x="880525" y="3172090"/>
              <a:ext cx="892200" cy="50100"/>
            </a:xfrm>
            <a:prstGeom prst="straightConnector1">
              <a:avLst/>
            </a:prstGeom>
            <a:noFill/>
            <a:ln cap="flat" cmpd="sng" w="19050">
              <a:solidFill>
                <a:srgbClr val="FFFFFF"/>
              </a:solidFill>
              <a:prstDash val="solid"/>
              <a:round/>
              <a:headEnd len="med" w="med" type="none"/>
              <a:tailEnd len="med" w="med" type="none"/>
            </a:ln>
          </p:spPr>
        </p:cxnSp>
        <p:cxnSp>
          <p:nvCxnSpPr>
            <p:cNvPr id="654" name="Google Shape;654;p50"/>
            <p:cNvCxnSpPr>
              <a:stCxn id="642" idx="5"/>
              <a:endCxn id="644" idx="1"/>
            </p:cNvCxnSpPr>
            <p:nvPr/>
          </p:nvCxnSpPr>
          <p:spPr>
            <a:xfrm>
              <a:off x="2843755" y="2157567"/>
              <a:ext cx="346500" cy="779100"/>
            </a:xfrm>
            <a:prstGeom prst="straightConnector1">
              <a:avLst/>
            </a:prstGeom>
            <a:noFill/>
            <a:ln cap="flat" cmpd="sng" w="19050">
              <a:solidFill>
                <a:srgbClr val="FFFFFF"/>
              </a:solidFill>
              <a:prstDash val="solid"/>
              <a:round/>
              <a:headEnd len="med" w="med" type="none"/>
              <a:tailEnd len="med" w="med" type="none"/>
            </a:ln>
          </p:spPr>
        </p:cxnSp>
        <p:sp>
          <p:nvSpPr>
            <p:cNvPr id="655" name="Google Shape;655;p50"/>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6</a:t>
              </a:r>
              <a:endParaRPr>
                <a:solidFill>
                  <a:srgbClr val="FFFFFF"/>
                </a:solidFill>
                <a:latin typeface="Source Code Pro"/>
                <a:ea typeface="Source Code Pro"/>
                <a:cs typeface="Source Code Pro"/>
                <a:sym typeface="Source Code Pro"/>
              </a:endParaRPr>
            </a:p>
          </p:txBody>
        </p:sp>
        <p:sp>
          <p:nvSpPr>
            <p:cNvPr id="656" name="Google Shape;656;p50"/>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sp>
          <p:nvSpPr>
            <p:cNvPr id="657" name="Google Shape;657;p50"/>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658" name="Google Shape;658;p50"/>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1</a:t>
              </a:r>
              <a:endParaRPr>
                <a:solidFill>
                  <a:srgbClr val="FFFFFF"/>
                </a:solidFill>
                <a:latin typeface="Source Code Pro"/>
                <a:ea typeface="Source Code Pro"/>
                <a:cs typeface="Source Code Pro"/>
                <a:sym typeface="Source Code Pro"/>
              </a:endParaRPr>
            </a:p>
          </p:txBody>
        </p:sp>
        <p:sp>
          <p:nvSpPr>
            <p:cNvPr id="659" name="Google Shape;659;p50"/>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sp>
          <p:nvSpPr>
            <p:cNvPr id="660" name="Google Shape;660;p50"/>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661" name="Google Shape;661;p50"/>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662" name="Google Shape;662;p50"/>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7</a:t>
              </a:r>
              <a:endParaRPr>
                <a:solidFill>
                  <a:srgbClr val="FFFFFF"/>
                </a:solidFill>
                <a:latin typeface="Source Code Pro"/>
                <a:ea typeface="Source Code Pro"/>
                <a:cs typeface="Source Code Pro"/>
                <a:sym typeface="Source Code Pro"/>
              </a:endParaRPr>
            </a:p>
          </p:txBody>
        </p:sp>
        <p:sp>
          <p:nvSpPr>
            <p:cNvPr id="663" name="Google Shape;663;p50"/>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cxnSp>
          <p:nvCxnSpPr>
            <p:cNvPr id="664" name="Google Shape;664;p50"/>
            <p:cNvCxnSpPr>
              <a:stCxn id="641" idx="5"/>
              <a:endCxn id="645" idx="1"/>
            </p:cNvCxnSpPr>
            <p:nvPr/>
          </p:nvCxnSpPr>
          <p:spPr>
            <a:xfrm>
              <a:off x="801092" y="3413957"/>
              <a:ext cx="578400" cy="738300"/>
            </a:xfrm>
            <a:prstGeom prst="straightConnector1">
              <a:avLst/>
            </a:prstGeom>
            <a:noFill/>
            <a:ln cap="flat" cmpd="sng" w="19050">
              <a:solidFill>
                <a:srgbClr val="FFFFFF"/>
              </a:solidFill>
              <a:prstDash val="solid"/>
              <a:round/>
              <a:headEnd len="med" w="med" type="none"/>
              <a:tailEnd len="med" w="med" type="none"/>
            </a:ln>
          </p:spPr>
        </p:cxnSp>
        <p:sp>
          <p:nvSpPr>
            <p:cNvPr id="665" name="Google Shape;665;p50"/>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grpSp>
      <p:sp>
        <p:nvSpPr>
          <p:cNvPr id="666" name="Google Shape;666;p50"/>
          <p:cNvSpPr txBox="1"/>
          <p:nvPr>
            <p:ph idx="3" type="body"/>
          </p:nvPr>
        </p:nvSpPr>
        <p:spPr>
          <a:xfrm>
            <a:off x="5192225" y="4269592"/>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Next, </a:t>
            </a:r>
            <a:r>
              <a:rPr lang="en"/>
              <a:t>we will focus on finding the path with the </a:t>
            </a:r>
            <a:r>
              <a:rPr b="1" i="1" lang="en">
                <a:solidFill>
                  <a:srgbClr val="FF0000"/>
                </a:solidFill>
              </a:rPr>
              <a:t>lowest cost</a:t>
            </a:r>
            <a:r>
              <a:rPr lang="en">
                <a:solidFill>
                  <a:srgbClr val="FF0000"/>
                </a:solidFill>
              </a:rPr>
              <a:t> </a:t>
            </a:r>
            <a:r>
              <a:rPr lang="en"/>
              <a:t>even if it means that it includes </a:t>
            </a:r>
            <a:r>
              <a:rPr b="1" i="1" lang="en">
                <a:solidFill>
                  <a:srgbClr val="FF0000"/>
                </a:solidFill>
              </a:rPr>
              <a:t>more edges</a:t>
            </a:r>
            <a:r>
              <a:rPr lang="en"/>
              <a:t>.</a:t>
            </a:r>
            <a:endParaRPr/>
          </a:p>
        </p:txBody>
      </p:sp>
      <p:grpSp>
        <p:nvGrpSpPr>
          <p:cNvPr id="667" name="Google Shape;667;p50"/>
          <p:cNvGrpSpPr/>
          <p:nvPr/>
        </p:nvGrpSpPr>
        <p:grpSpPr>
          <a:xfrm>
            <a:off x="5958846" y="1388429"/>
            <a:ext cx="1750461" cy="1697911"/>
            <a:chOff x="609191" y="2157567"/>
            <a:chExt cx="2254005" cy="2186339"/>
          </a:xfrm>
        </p:grpSpPr>
        <p:cxnSp>
          <p:nvCxnSpPr>
            <p:cNvPr id="668" name="Google Shape;668;p50"/>
            <p:cNvCxnSpPr/>
            <p:nvPr/>
          </p:nvCxnSpPr>
          <p:spPr>
            <a:xfrm flipH="1">
              <a:off x="609191" y="2157567"/>
              <a:ext cx="149700" cy="793500"/>
            </a:xfrm>
            <a:prstGeom prst="straightConnector1">
              <a:avLst/>
            </a:prstGeom>
            <a:noFill/>
            <a:ln cap="flat" cmpd="sng" w="28575">
              <a:solidFill>
                <a:srgbClr val="E06666"/>
              </a:solidFill>
              <a:prstDash val="solid"/>
              <a:round/>
              <a:headEnd len="med" w="med" type="none"/>
              <a:tailEnd len="med" w="med" type="stealth"/>
            </a:ln>
          </p:spPr>
        </p:cxnSp>
        <p:cxnSp>
          <p:nvCxnSpPr>
            <p:cNvPr id="669" name="Google Shape;669;p50"/>
            <p:cNvCxnSpPr/>
            <p:nvPr/>
          </p:nvCxnSpPr>
          <p:spPr>
            <a:xfrm>
              <a:off x="1842597" y="4343907"/>
              <a:ext cx="1020600" cy="0"/>
            </a:xfrm>
            <a:prstGeom prst="straightConnector1">
              <a:avLst/>
            </a:prstGeom>
            <a:noFill/>
            <a:ln cap="flat" cmpd="sng" w="28575">
              <a:solidFill>
                <a:srgbClr val="E06666"/>
              </a:solidFill>
              <a:prstDash val="solid"/>
              <a:round/>
              <a:headEnd len="med" w="med" type="none"/>
              <a:tailEnd len="med" w="med" type="stealth"/>
            </a:ln>
          </p:spPr>
        </p:cxnSp>
        <p:cxnSp>
          <p:nvCxnSpPr>
            <p:cNvPr id="670" name="Google Shape;670;p50"/>
            <p:cNvCxnSpPr/>
            <p:nvPr/>
          </p:nvCxnSpPr>
          <p:spPr>
            <a:xfrm>
              <a:off x="801092" y="3413957"/>
              <a:ext cx="578400" cy="738300"/>
            </a:xfrm>
            <a:prstGeom prst="straightConnector1">
              <a:avLst/>
            </a:prstGeom>
            <a:noFill/>
            <a:ln cap="flat" cmpd="sng" w="28575">
              <a:solidFill>
                <a:srgbClr val="E06666"/>
              </a:solidFill>
              <a:prstDash val="solid"/>
              <a:round/>
              <a:headEnd len="med" w="med" type="none"/>
              <a:tailEnd len="med" w="med" type="stealth"/>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1000"/>
                                        <p:tgtEl>
                                          <p:spTgt spid="637"/>
                                        </p:tgtEl>
                                      </p:cBhvr>
                                    </p:animEffect>
                                  </p:childTnLst>
                                </p:cTn>
                              </p:par>
                              <p:par>
                                <p:cTn fill="hold" nodeType="with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10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000"/>
                                        <p:tgtEl>
                                          <p:spTgt spid="6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1000"/>
                                        <p:tgtEl>
                                          <p:spTgt spid="6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51"/>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6" name="Google Shape;676;p51"/>
          <p:cNvSpPr txBox="1"/>
          <p:nvPr>
            <p:ph type="title"/>
          </p:nvPr>
        </p:nvSpPr>
        <p:spPr>
          <a:xfrm>
            <a:off x="51885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Dijkstra's Algorithm</a:t>
            </a:r>
            <a:endParaRPr sz="2700"/>
          </a:p>
        </p:txBody>
      </p:sp>
      <p:sp>
        <p:nvSpPr>
          <p:cNvPr id="677" name="Google Shape;677;p51"/>
          <p:cNvSpPr txBox="1"/>
          <p:nvPr>
            <p:ph idx="1" type="body"/>
          </p:nvPr>
        </p:nvSpPr>
        <p:spPr>
          <a:xfrm>
            <a:off x="254625" y="119925"/>
            <a:ext cx="4503900" cy="46125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An </a:t>
            </a:r>
            <a:r>
              <a:rPr b="1" i="1" lang="en">
                <a:solidFill>
                  <a:srgbClr val="FF0000"/>
                </a:solidFill>
              </a:rPr>
              <a:t>optimal</a:t>
            </a:r>
            <a:r>
              <a:rPr lang="en">
                <a:solidFill>
                  <a:srgbClr val="FF0000"/>
                </a:solidFill>
              </a:rPr>
              <a:t> </a:t>
            </a:r>
            <a:r>
              <a:rPr lang="en"/>
              <a:t>path</a:t>
            </a:r>
            <a:r>
              <a:rPr lang="en">
                <a:solidFill>
                  <a:srgbClr val="FF0000"/>
                </a:solidFill>
              </a:rPr>
              <a:t> </a:t>
            </a:r>
            <a:r>
              <a:rPr b="1" i="1" lang="en">
                <a:solidFill>
                  <a:srgbClr val="FF0000"/>
                </a:solidFill>
              </a:rPr>
              <a:t>P</a:t>
            </a:r>
            <a:r>
              <a:rPr lang="en"/>
              <a:t> between two vertices</a:t>
            </a:r>
            <a:r>
              <a:rPr lang="en">
                <a:solidFill>
                  <a:srgbClr val="FF0000"/>
                </a:solidFill>
              </a:rPr>
              <a:t> </a:t>
            </a:r>
            <a:r>
              <a:rPr b="1" i="1" lang="en">
                <a:solidFill>
                  <a:srgbClr val="FF0000"/>
                </a:solidFill>
              </a:rPr>
              <a:t>S</a:t>
            </a:r>
            <a:r>
              <a:rPr i="1" lang="en">
                <a:solidFill>
                  <a:srgbClr val="FF0000"/>
                </a:solidFill>
              </a:rPr>
              <a:t> </a:t>
            </a:r>
            <a:r>
              <a:rPr lang="en"/>
              <a:t>and</a:t>
            </a:r>
            <a:r>
              <a:rPr lang="en">
                <a:solidFill>
                  <a:srgbClr val="FF0000"/>
                </a:solidFill>
              </a:rPr>
              <a:t> </a:t>
            </a:r>
            <a:r>
              <a:rPr b="1" i="1" lang="en">
                <a:solidFill>
                  <a:srgbClr val="FF0000"/>
                </a:solidFill>
              </a:rPr>
              <a:t>E</a:t>
            </a:r>
            <a:r>
              <a:rPr lang="en">
                <a:solidFill>
                  <a:srgbClr val="FF0000"/>
                </a:solidFill>
              </a:rPr>
              <a:t> </a:t>
            </a:r>
            <a:r>
              <a:rPr lang="en"/>
              <a:t>comprises edges that may be numbered from </a:t>
            </a:r>
            <a:r>
              <a:rPr b="1" i="1" lang="en">
                <a:solidFill>
                  <a:srgbClr val="FF0000"/>
                </a:solidFill>
              </a:rPr>
              <a:t>0 to N</a:t>
            </a:r>
            <a:r>
              <a:rPr lang="en"/>
              <a:t>.</a:t>
            </a:r>
            <a:endParaRPr/>
          </a:p>
          <a:p>
            <a:pPr indent="-311150" lvl="0" marL="457200" rtl="0" algn="l">
              <a:lnSpc>
                <a:spcPct val="100000"/>
              </a:lnSpc>
              <a:spcBef>
                <a:spcPts val="1000"/>
              </a:spcBef>
              <a:spcAft>
                <a:spcPts val="0"/>
              </a:spcAft>
              <a:buSzPts val="1300"/>
              <a:buChar char="●"/>
            </a:pPr>
            <a:r>
              <a:rPr lang="en"/>
              <a:t>Let </a:t>
            </a:r>
            <a:r>
              <a:rPr b="1" i="1" lang="en">
                <a:solidFill>
                  <a:srgbClr val="FF0000"/>
                </a:solidFill>
              </a:rPr>
              <a:t>P'</a:t>
            </a:r>
            <a:r>
              <a:rPr lang="en">
                <a:solidFill>
                  <a:srgbClr val="FF0000"/>
                </a:solidFill>
              </a:rPr>
              <a:t> </a:t>
            </a:r>
            <a:r>
              <a:rPr lang="en"/>
              <a:t>be the </a:t>
            </a:r>
            <a:r>
              <a:rPr b="1" i="1" lang="en">
                <a:solidFill>
                  <a:srgbClr val="FF0000"/>
                </a:solidFill>
              </a:rPr>
              <a:t>subpath</a:t>
            </a:r>
            <a:r>
              <a:rPr lang="en"/>
              <a:t> of </a:t>
            </a:r>
            <a:r>
              <a:rPr b="1" i="1" lang="en">
                <a:solidFill>
                  <a:srgbClr val="FF0000"/>
                </a:solidFill>
              </a:rPr>
              <a:t>P</a:t>
            </a:r>
            <a:r>
              <a:rPr lang="en"/>
              <a:t> that comprises the edges numbered </a:t>
            </a:r>
            <a:r>
              <a:rPr b="1" i="1" lang="en">
                <a:solidFill>
                  <a:srgbClr val="FF0000"/>
                </a:solidFill>
              </a:rPr>
              <a:t>0 to N-1</a:t>
            </a:r>
            <a:r>
              <a:rPr lang="en"/>
              <a:t> that ends at some vertex </a:t>
            </a:r>
            <a:r>
              <a:rPr b="1" i="1" lang="en">
                <a:solidFill>
                  <a:srgbClr val="FF0000"/>
                </a:solidFill>
              </a:rPr>
              <a:t>E'</a:t>
            </a:r>
            <a:r>
              <a:rPr lang="en"/>
              <a:t>.</a:t>
            </a:r>
            <a:endParaRPr/>
          </a:p>
          <a:p>
            <a:pPr indent="-298450" lvl="1" marL="914400" rtl="0" algn="l">
              <a:lnSpc>
                <a:spcPct val="100000"/>
              </a:lnSpc>
              <a:spcBef>
                <a:spcPts val="0"/>
              </a:spcBef>
              <a:spcAft>
                <a:spcPts val="0"/>
              </a:spcAft>
              <a:buSzPts val="1100"/>
              <a:buChar char="○"/>
            </a:pPr>
            <a:r>
              <a:rPr lang="en"/>
              <a:t>That is the subpath that contains all but the last edge of </a:t>
            </a:r>
            <a:r>
              <a:rPr b="1" i="1" lang="en">
                <a:solidFill>
                  <a:srgbClr val="FF0000"/>
                </a:solidFill>
              </a:rPr>
              <a:t>P</a:t>
            </a:r>
            <a:r>
              <a:rPr lang="en"/>
              <a:t> ending at the last vertex before </a:t>
            </a:r>
            <a:r>
              <a:rPr b="1" i="1" lang="en">
                <a:solidFill>
                  <a:srgbClr val="FF0000"/>
                </a:solidFill>
              </a:rPr>
              <a:t>E</a:t>
            </a:r>
            <a:r>
              <a:rPr lang="en"/>
              <a:t>.</a:t>
            </a:r>
            <a:endParaRPr/>
          </a:p>
          <a:p>
            <a:pPr indent="-311150" lvl="0" marL="457200" rtl="0" algn="l">
              <a:lnSpc>
                <a:spcPct val="100000"/>
              </a:lnSpc>
              <a:spcBef>
                <a:spcPts val="1000"/>
              </a:spcBef>
              <a:spcAft>
                <a:spcPts val="0"/>
              </a:spcAft>
              <a:buSzPts val="1300"/>
              <a:buChar char="●"/>
            </a:pPr>
            <a:r>
              <a:rPr lang="en"/>
              <a:t>If </a:t>
            </a:r>
            <a:r>
              <a:rPr b="1" i="1" lang="en">
                <a:solidFill>
                  <a:srgbClr val="FF0000"/>
                </a:solidFill>
              </a:rPr>
              <a:t>P</a:t>
            </a:r>
            <a:r>
              <a:rPr b="1" i="1" lang="en"/>
              <a:t> </a:t>
            </a:r>
            <a:r>
              <a:rPr lang="en"/>
              <a:t>is </a:t>
            </a:r>
            <a:r>
              <a:rPr b="1" i="1" lang="en">
                <a:solidFill>
                  <a:srgbClr val="FF0000"/>
                </a:solidFill>
              </a:rPr>
              <a:t>optimal</a:t>
            </a:r>
            <a:r>
              <a:rPr lang="en"/>
              <a:t>, then it must be true that </a:t>
            </a:r>
            <a:r>
              <a:rPr b="1" i="1" lang="en">
                <a:solidFill>
                  <a:srgbClr val="FF0000"/>
                </a:solidFill>
              </a:rPr>
              <a:t>P'</a:t>
            </a:r>
            <a:r>
              <a:rPr b="1" i="1" lang="en"/>
              <a:t> </a:t>
            </a:r>
            <a:r>
              <a:rPr lang="en"/>
              <a:t>is </a:t>
            </a:r>
            <a:r>
              <a:rPr b="1" i="1" lang="en">
                <a:solidFill>
                  <a:srgbClr val="FF0000"/>
                </a:solidFill>
              </a:rPr>
              <a:t>also optimal</a:t>
            </a:r>
            <a:r>
              <a:rPr lang="en"/>
              <a:t>.</a:t>
            </a:r>
            <a:endParaRPr/>
          </a:p>
          <a:p>
            <a:pPr indent="-298450" lvl="1" marL="914400" rtl="0" algn="l">
              <a:lnSpc>
                <a:spcPct val="100000"/>
              </a:lnSpc>
              <a:spcBef>
                <a:spcPts val="0"/>
              </a:spcBef>
              <a:spcAft>
                <a:spcPts val="0"/>
              </a:spcAft>
              <a:buSzPts val="1100"/>
              <a:buChar char="○"/>
            </a:pPr>
            <a:r>
              <a:rPr lang="en"/>
              <a:t>That is to say that there </a:t>
            </a:r>
            <a:r>
              <a:rPr b="1" i="1" lang="en">
                <a:solidFill>
                  <a:srgbClr val="FF0000"/>
                </a:solidFill>
              </a:rPr>
              <a:t>cannot</a:t>
            </a:r>
            <a:r>
              <a:rPr lang="en"/>
              <a:t> be some other path from </a:t>
            </a:r>
            <a:r>
              <a:rPr b="1" i="1" lang="en">
                <a:solidFill>
                  <a:srgbClr val="FF0000"/>
                </a:solidFill>
              </a:rPr>
              <a:t>S</a:t>
            </a:r>
            <a:r>
              <a:rPr lang="en"/>
              <a:t> to </a:t>
            </a:r>
            <a:r>
              <a:rPr b="1" i="1" lang="en">
                <a:solidFill>
                  <a:srgbClr val="FF0000"/>
                </a:solidFill>
              </a:rPr>
              <a:t>E'</a:t>
            </a:r>
            <a:r>
              <a:rPr lang="en"/>
              <a:t> that is shorter than </a:t>
            </a:r>
            <a:r>
              <a:rPr b="1" i="1" lang="en">
                <a:solidFill>
                  <a:srgbClr val="FF0000"/>
                </a:solidFill>
              </a:rPr>
              <a:t>P'</a:t>
            </a:r>
            <a:r>
              <a:rPr lang="en"/>
              <a:t>.</a:t>
            </a:r>
            <a:endParaRPr/>
          </a:p>
          <a:p>
            <a:pPr indent="-298450" lvl="1" marL="914400" rtl="0" algn="l">
              <a:lnSpc>
                <a:spcPct val="100000"/>
              </a:lnSpc>
              <a:spcBef>
                <a:spcPts val="0"/>
              </a:spcBef>
              <a:spcAft>
                <a:spcPts val="0"/>
              </a:spcAft>
              <a:buSzPts val="1100"/>
              <a:buChar char="○"/>
            </a:pPr>
            <a:r>
              <a:rPr lang="en"/>
              <a:t>If there were such a shorter path, then </a:t>
            </a:r>
            <a:r>
              <a:rPr b="1" i="1" lang="en">
                <a:solidFill>
                  <a:srgbClr val="FF0000"/>
                </a:solidFill>
              </a:rPr>
              <a:t>P</a:t>
            </a:r>
            <a:r>
              <a:rPr lang="en"/>
              <a:t> could not be optimal.</a:t>
            </a:r>
            <a:endParaRPr/>
          </a:p>
          <a:p>
            <a:pPr indent="-311150" lvl="0" marL="457200" rtl="0" algn="l">
              <a:lnSpc>
                <a:spcPct val="100000"/>
              </a:lnSpc>
              <a:spcBef>
                <a:spcPts val="1000"/>
              </a:spcBef>
              <a:spcAft>
                <a:spcPts val="0"/>
              </a:spcAft>
              <a:buSzPts val="1300"/>
              <a:buChar char="●"/>
            </a:pPr>
            <a:r>
              <a:rPr lang="en"/>
              <a:t>It must also be true that the path </a:t>
            </a:r>
            <a:r>
              <a:rPr b="1" i="1" lang="en">
                <a:solidFill>
                  <a:srgbClr val="FF0000"/>
                </a:solidFill>
              </a:rPr>
              <a:t>P''</a:t>
            </a:r>
            <a:r>
              <a:rPr lang="en"/>
              <a:t> that comprises the edges </a:t>
            </a:r>
            <a:r>
              <a:rPr b="1" i="1" lang="en">
                <a:solidFill>
                  <a:srgbClr val="FF0000"/>
                </a:solidFill>
              </a:rPr>
              <a:t>0 to N-2</a:t>
            </a:r>
            <a:r>
              <a:rPr lang="en"/>
              <a:t> and ends at vertex </a:t>
            </a:r>
            <a:r>
              <a:rPr b="1" i="1" lang="en">
                <a:solidFill>
                  <a:srgbClr val="FF0000"/>
                </a:solidFill>
              </a:rPr>
              <a:t>E''</a:t>
            </a:r>
            <a:r>
              <a:rPr lang="en"/>
              <a:t> is also optimal.</a:t>
            </a:r>
            <a:endParaRPr/>
          </a:p>
          <a:p>
            <a:pPr indent="-298450" lvl="1" marL="914400" rtl="0" algn="l">
              <a:lnSpc>
                <a:spcPct val="100000"/>
              </a:lnSpc>
              <a:spcBef>
                <a:spcPts val="0"/>
              </a:spcBef>
              <a:spcAft>
                <a:spcPts val="0"/>
              </a:spcAft>
              <a:buSzPts val="1100"/>
              <a:buChar char="○"/>
            </a:pPr>
            <a:r>
              <a:rPr lang="en"/>
              <a:t>And so on.</a:t>
            </a:r>
            <a:endParaRPr/>
          </a:p>
          <a:p>
            <a:pPr indent="-311150" lvl="0" marL="457200" rtl="0" algn="l">
              <a:lnSpc>
                <a:spcPct val="100000"/>
              </a:lnSpc>
              <a:spcBef>
                <a:spcPts val="1000"/>
              </a:spcBef>
              <a:spcAft>
                <a:spcPts val="0"/>
              </a:spcAft>
              <a:buSzPts val="1300"/>
              <a:buChar char="●"/>
            </a:pPr>
            <a:r>
              <a:rPr lang="en"/>
              <a:t>OK, so what?</a:t>
            </a:r>
            <a:endParaRPr/>
          </a:p>
          <a:p>
            <a:pPr indent="-311150" lvl="0" marL="457200" rtl="0" algn="l">
              <a:lnSpc>
                <a:spcPct val="100000"/>
              </a:lnSpc>
              <a:spcBef>
                <a:spcPts val="1000"/>
              </a:spcBef>
              <a:spcAft>
                <a:spcPts val="0"/>
              </a:spcAft>
              <a:buSzPts val="1300"/>
              <a:buChar char="●"/>
            </a:pPr>
            <a:r>
              <a:rPr lang="en"/>
              <a:t>If we can methodically work through the graph and keep track of the shortest path from </a:t>
            </a:r>
            <a:r>
              <a:rPr b="1" i="1" lang="en">
                <a:solidFill>
                  <a:srgbClr val="FF0000"/>
                </a:solidFill>
              </a:rPr>
              <a:t>S</a:t>
            </a:r>
            <a:r>
              <a:rPr i="1" lang="en"/>
              <a:t> </a:t>
            </a:r>
            <a:r>
              <a:rPr lang="en"/>
              <a:t>to </a:t>
            </a:r>
            <a:r>
              <a:rPr b="1" i="1" lang="en">
                <a:solidFill>
                  <a:srgbClr val="FF0000"/>
                </a:solidFill>
              </a:rPr>
              <a:t>every other vertex</a:t>
            </a:r>
            <a:r>
              <a:rPr lang="en"/>
              <a:t>, we can find </a:t>
            </a:r>
            <a:r>
              <a:rPr b="1" i="1" lang="en">
                <a:solidFill>
                  <a:srgbClr val="FF0000"/>
                </a:solidFill>
              </a:rPr>
              <a:t>all</a:t>
            </a:r>
            <a:r>
              <a:rPr lang="en"/>
              <a:t> of the shortest paths!</a:t>
            </a:r>
            <a:endParaRPr/>
          </a:p>
        </p:txBody>
      </p:sp>
      <p:sp>
        <p:nvSpPr>
          <p:cNvPr id="678" name="Google Shape;678;p51"/>
          <p:cNvSpPr txBox="1"/>
          <p:nvPr>
            <p:ph idx="3" type="body"/>
          </p:nvPr>
        </p:nvSpPr>
        <p:spPr>
          <a:xfrm>
            <a:off x="5192225" y="4504250"/>
            <a:ext cx="37065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His last name is pronounced like “</a:t>
            </a:r>
            <a:r>
              <a:rPr lang="en" u="sng">
                <a:solidFill>
                  <a:schemeClr val="hlink"/>
                </a:solidFill>
                <a:hlinkClick r:id="rId3"/>
              </a:rPr>
              <a:t>Dike-stra</a:t>
            </a:r>
            <a:r>
              <a:rPr lang="en"/>
              <a:t>.”</a:t>
            </a:r>
            <a:endParaRPr/>
          </a:p>
        </p:txBody>
      </p:sp>
      <p:pic>
        <p:nvPicPr>
          <p:cNvPr id="679" name="Google Shape;679;p51"/>
          <p:cNvPicPr preferRelativeResize="0"/>
          <p:nvPr/>
        </p:nvPicPr>
        <p:blipFill>
          <a:blip r:embed="rId4">
            <a:alphaModFix/>
          </a:blip>
          <a:stretch>
            <a:fillRect/>
          </a:stretch>
        </p:blipFill>
        <p:spPr>
          <a:xfrm>
            <a:off x="5737425" y="1573850"/>
            <a:ext cx="2608700" cy="2791300"/>
          </a:xfrm>
          <a:prstGeom prst="rect">
            <a:avLst/>
          </a:prstGeom>
          <a:noFill/>
          <a:ln cap="flat" cmpd="sng" w="19050">
            <a:solidFill>
              <a:srgbClr val="000000"/>
            </a:solidFill>
            <a:prstDash val="solid"/>
            <a:round/>
            <a:headEnd len="sm" w="sm" type="none"/>
            <a:tailEnd len="sm" w="sm" type="none"/>
          </a:ln>
        </p:spPr>
      </p:pic>
      <p:sp>
        <p:nvSpPr>
          <p:cNvPr id="680" name="Google Shape;680;p51"/>
          <p:cNvSpPr/>
          <p:nvPr/>
        </p:nvSpPr>
        <p:spPr>
          <a:xfrm>
            <a:off x="6342625" y="801894"/>
            <a:ext cx="2608800" cy="1036800"/>
          </a:xfrm>
          <a:prstGeom prst="wedgeRectCallout">
            <a:avLst>
              <a:gd fmla="val 5166" name="adj1"/>
              <a:gd fmla="val 81978"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If debugging is the process of removing bugs, then programming must be the process of putting them 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1000"/>
                                        <p:tgtEl>
                                          <p:spTgt spid="678"/>
                                        </p:tgtEl>
                                      </p:cBhvr>
                                    </p:animEffect>
                                  </p:childTnLst>
                                </p:cTn>
                              </p:par>
                              <p:par>
                                <p:cTn fill="hold" nodeType="with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1000"/>
                                        <p:tgtEl>
                                          <p:spTgt spid="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1000"/>
                                        <p:tgtEl>
                                          <p:spTgt spid="6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Dijkstra in a Nutshell</a:t>
            </a:r>
            <a:endParaRPr/>
          </a:p>
        </p:txBody>
      </p:sp>
      <p:sp>
        <p:nvSpPr>
          <p:cNvPr id="686" name="Google Shape;686;p52"/>
          <p:cNvSpPr txBox="1"/>
          <p:nvPr>
            <p:ph idx="12" type="sldNum"/>
          </p:nvPr>
        </p:nvSpPr>
        <p:spPr>
          <a:xfrm>
            <a:off x="8562429" y="471876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687" name="Google Shape;687;p52"/>
          <p:cNvGrpSpPr/>
          <p:nvPr/>
        </p:nvGrpSpPr>
        <p:grpSpPr>
          <a:xfrm>
            <a:off x="265825" y="3724007"/>
            <a:ext cx="5281800" cy="633600"/>
            <a:chOff x="1866025" y="2788950"/>
            <a:chExt cx="5281800" cy="633600"/>
          </a:xfrm>
        </p:grpSpPr>
        <p:sp>
          <p:nvSpPr>
            <p:cNvPr id="688" name="Google Shape;688;p52"/>
            <p:cNvSpPr/>
            <p:nvPr/>
          </p:nvSpPr>
          <p:spPr>
            <a:xfrm>
              <a:off x="1866025" y="2788950"/>
              <a:ext cx="633600" cy="633600"/>
            </a:xfrm>
            <a:prstGeom prst="ellipse">
              <a:avLst/>
            </a:prstGeom>
            <a:solidFill>
              <a:srgbClr val="4A86E8"/>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S</a:t>
              </a:r>
              <a:endParaRPr sz="2400">
                <a:solidFill>
                  <a:srgbClr val="FFFFFF"/>
                </a:solidFill>
              </a:endParaRPr>
            </a:p>
          </p:txBody>
        </p:sp>
        <p:sp>
          <p:nvSpPr>
            <p:cNvPr id="689" name="Google Shape;689;p52"/>
            <p:cNvSpPr/>
            <p:nvPr/>
          </p:nvSpPr>
          <p:spPr>
            <a:xfrm>
              <a:off x="6514225" y="2788950"/>
              <a:ext cx="633600" cy="633600"/>
            </a:xfrm>
            <a:prstGeom prst="ellipse">
              <a:avLst/>
            </a:prstGeom>
            <a:solidFill>
              <a:srgbClr val="4A86E8"/>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E</a:t>
              </a:r>
              <a:endParaRPr sz="2400">
                <a:solidFill>
                  <a:srgbClr val="FFFFFF"/>
                </a:solidFill>
              </a:endParaRPr>
            </a:p>
          </p:txBody>
        </p:sp>
      </p:grpSp>
      <p:sp>
        <p:nvSpPr>
          <p:cNvPr id="690" name="Google Shape;690;p52"/>
          <p:cNvSpPr/>
          <p:nvPr/>
        </p:nvSpPr>
        <p:spPr>
          <a:xfrm>
            <a:off x="3264600" y="3724007"/>
            <a:ext cx="633600" cy="633600"/>
          </a:xfrm>
          <a:prstGeom prst="ellipse">
            <a:avLst/>
          </a:prstGeom>
          <a:solidFill>
            <a:srgbClr val="4A86E8"/>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E'</a:t>
            </a:r>
            <a:endParaRPr sz="2400">
              <a:solidFill>
                <a:srgbClr val="FFFFFF"/>
              </a:solidFill>
            </a:endParaRPr>
          </a:p>
        </p:txBody>
      </p:sp>
      <p:sp>
        <p:nvSpPr>
          <p:cNvPr id="691" name="Google Shape;691;p52"/>
          <p:cNvSpPr txBox="1"/>
          <p:nvPr/>
        </p:nvSpPr>
        <p:spPr>
          <a:xfrm>
            <a:off x="262925" y="1448625"/>
            <a:ext cx="2923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Assume that you are trying to find the </a:t>
            </a:r>
            <a:r>
              <a:rPr b="1" i="1" lang="en" sz="1200">
                <a:solidFill>
                  <a:srgbClr val="FF0000"/>
                </a:solidFill>
              </a:rPr>
              <a:t>optimal path</a:t>
            </a:r>
            <a:r>
              <a:rPr i="1" lang="en" sz="1200"/>
              <a:t> </a:t>
            </a:r>
            <a:r>
              <a:rPr lang="en" sz="1200"/>
              <a:t>from </a:t>
            </a:r>
            <a:r>
              <a:rPr b="1" i="1" lang="en" sz="1200">
                <a:solidFill>
                  <a:srgbClr val="FF0000"/>
                </a:solidFill>
              </a:rPr>
              <a:t>S</a:t>
            </a:r>
            <a:r>
              <a:rPr lang="en" sz="1200"/>
              <a:t> to </a:t>
            </a:r>
            <a:r>
              <a:rPr b="1" i="1" lang="en" sz="1200">
                <a:solidFill>
                  <a:srgbClr val="FF0000"/>
                </a:solidFill>
              </a:rPr>
              <a:t>E</a:t>
            </a:r>
            <a:r>
              <a:rPr lang="en" sz="1200"/>
              <a:t> in a weighted graph.</a:t>
            </a:r>
            <a:endParaRPr sz="1200"/>
          </a:p>
        </p:txBody>
      </p:sp>
      <p:sp>
        <p:nvSpPr>
          <p:cNvPr id="692" name="Google Shape;692;p52"/>
          <p:cNvSpPr txBox="1"/>
          <p:nvPr/>
        </p:nvSpPr>
        <p:spPr>
          <a:xfrm>
            <a:off x="262925" y="2335019"/>
            <a:ext cx="2923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second to last vertex on that path is </a:t>
            </a:r>
            <a:r>
              <a:rPr b="1" i="1" lang="en" sz="1200">
                <a:solidFill>
                  <a:srgbClr val="FF0000"/>
                </a:solidFill>
              </a:rPr>
              <a:t>E'</a:t>
            </a:r>
            <a:r>
              <a:rPr lang="en" sz="1200"/>
              <a:t> and the </a:t>
            </a:r>
            <a:r>
              <a:rPr b="1" i="1" lang="en" sz="1200">
                <a:solidFill>
                  <a:srgbClr val="FF0000"/>
                </a:solidFill>
              </a:rPr>
              <a:t>distance</a:t>
            </a:r>
            <a:r>
              <a:rPr lang="en" sz="1200"/>
              <a:t> between </a:t>
            </a:r>
            <a:r>
              <a:rPr b="1" i="1" lang="en" sz="1200">
                <a:solidFill>
                  <a:srgbClr val="FF0000"/>
                </a:solidFill>
              </a:rPr>
              <a:t>E'</a:t>
            </a:r>
            <a:r>
              <a:rPr lang="en" sz="1200"/>
              <a:t> and </a:t>
            </a:r>
            <a:r>
              <a:rPr b="1" i="1" lang="en" sz="1200">
                <a:solidFill>
                  <a:srgbClr val="FF0000"/>
                </a:solidFill>
              </a:rPr>
              <a:t>E</a:t>
            </a:r>
            <a:r>
              <a:rPr lang="en" sz="1200"/>
              <a:t> is</a:t>
            </a:r>
            <a:r>
              <a:rPr lang="en" sz="1200">
                <a:solidFill>
                  <a:srgbClr val="FF0000"/>
                </a:solidFill>
              </a:rPr>
              <a:t> </a:t>
            </a:r>
            <a:r>
              <a:rPr b="1" i="1" lang="en" sz="1200">
                <a:solidFill>
                  <a:srgbClr val="FF0000"/>
                </a:solidFill>
              </a:rPr>
              <a:t>C</a:t>
            </a:r>
            <a:r>
              <a:rPr lang="en" sz="1200"/>
              <a:t>.</a:t>
            </a:r>
            <a:endParaRPr sz="1200"/>
          </a:p>
        </p:txBody>
      </p:sp>
      <p:grpSp>
        <p:nvGrpSpPr>
          <p:cNvPr id="693" name="Google Shape;693;p52"/>
          <p:cNvGrpSpPr/>
          <p:nvPr/>
        </p:nvGrpSpPr>
        <p:grpSpPr>
          <a:xfrm>
            <a:off x="3905570" y="3672139"/>
            <a:ext cx="1015800" cy="400200"/>
            <a:chOff x="5346025" y="3367339"/>
            <a:chExt cx="1015800" cy="400200"/>
          </a:xfrm>
        </p:grpSpPr>
        <p:cxnSp>
          <p:nvCxnSpPr>
            <p:cNvPr id="694" name="Google Shape;694;p52"/>
            <p:cNvCxnSpPr/>
            <p:nvPr/>
          </p:nvCxnSpPr>
          <p:spPr>
            <a:xfrm>
              <a:off x="5346025" y="3736007"/>
              <a:ext cx="1015800" cy="0"/>
            </a:xfrm>
            <a:prstGeom prst="straightConnector1">
              <a:avLst/>
            </a:prstGeom>
            <a:noFill/>
            <a:ln cap="flat" cmpd="sng" w="28575">
              <a:solidFill>
                <a:srgbClr val="0000FF"/>
              </a:solidFill>
              <a:prstDash val="solid"/>
              <a:round/>
              <a:headEnd len="med" w="med" type="none"/>
              <a:tailEnd len="med" w="med" type="none"/>
            </a:ln>
          </p:spPr>
        </p:cxnSp>
        <p:sp>
          <p:nvSpPr>
            <p:cNvPr id="695" name="Google Shape;695;p52"/>
            <p:cNvSpPr txBox="1"/>
            <p:nvPr/>
          </p:nvSpPr>
          <p:spPr>
            <a:xfrm>
              <a:off x="5661054" y="3367339"/>
              <a:ext cx="3582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grpSp>
      <p:grpSp>
        <p:nvGrpSpPr>
          <p:cNvPr id="696" name="Google Shape;696;p52"/>
          <p:cNvGrpSpPr/>
          <p:nvPr/>
        </p:nvGrpSpPr>
        <p:grpSpPr>
          <a:xfrm>
            <a:off x="806636" y="3138739"/>
            <a:ext cx="2550900" cy="678656"/>
            <a:chOff x="806636" y="3138739"/>
            <a:chExt cx="2550900" cy="678656"/>
          </a:xfrm>
        </p:grpSpPr>
        <p:cxnSp>
          <p:nvCxnSpPr>
            <p:cNvPr id="697" name="Google Shape;697;p52"/>
            <p:cNvCxnSpPr>
              <a:stCxn id="688" idx="7"/>
              <a:endCxn id="690" idx="1"/>
            </p:cNvCxnSpPr>
            <p:nvPr/>
          </p:nvCxnSpPr>
          <p:spPr>
            <a:xfrm flipH="1" rot="-5400000">
              <a:off x="2081786" y="2541645"/>
              <a:ext cx="600" cy="2550900"/>
            </a:xfrm>
            <a:prstGeom prst="curvedConnector3">
              <a:avLst>
                <a:gd fmla="val -55152262" name="adj1"/>
              </a:avLst>
            </a:prstGeom>
            <a:noFill/>
            <a:ln cap="flat" cmpd="sng" w="19050">
              <a:solidFill>
                <a:srgbClr val="0000FF"/>
              </a:solidFill>
              <a:prstDash val="solid"/>
              <a:round/>
              <a:headEnd len="med" w="med" type="none"/>
              <a:tailEnd len="med" w="med" type="none"/>
            </a:ln>
          </p:spPr>
        </p:cxnSp>
        <p:sp>
          <p:nvSpPr>
            <p:cNvPr id="698" name="Google Shape;698;p52"/>
            <p:cNvSpPr txBox="1"/>
            <p:nvPr/>
          </p:nvSpPr>
          <p:spPr>
            <a:xfrm>
              <a:off x="1830397" y="3138739"/>
              <a:ext cx="3582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Q</a:t>
              </a:r>
              <a:endParaRPr>
                <a:latin typeface="Roboto"/>
                <a:ea typeface="Roboto"/>
                <a:cs typeface="Roboto"/>
                <a:sym typeface="Roboto"/>
              </a:endParaRPr>
            </a:p>
          </p:txBody>
        </p:sp>
      </p:grpSp>
      <p:grpSp>
        <p:nvGrpSpPr>
          <p:cNvPr id="699" name="Google Shape;699;p52"/>
          <p:cNvGrpSpPr/>
          <p:nvPr/>
        </p:nvGrpSpPr>
        <p:grpSpPr>
          <a:xfrm>
            <a:off x="806636" y="4264818"/>
            <a:ext cx="2550900" cy="666378"/>
            <a:chOff x="806636" y="4264818"/>
            <a:chExt cx="2550900" cy="666378"/>
          </a:xfrm>
        </p:grpSpPr>
        <p:cxnSp>
          <p:nvCxnSpPr>
            <p:cNvPr id="700" name="Google Shape;700;p52"/>
            <p:cNvCxnSpPr>
              <a:stCxn id="688" idx="5"/>
              <a:endCxn id="690" idx="3"/>
            </p:cNvCxnSpPr>
            <p:nvPr/>
          </p:nvCxnSpPr>
          <p:spPr>
            <a:xfrm flipH="1" rot="-5400000">
              <a:off x="2081786" y="2989668"/>
              <a:ext cx="600" cy="2550900"/>
            </a:xfrm>
            <a:prstGeom prst="curvedConnector3">
              <a:avLst>
                <a:gd fmla="val 55152262" name="adj1"/>
              </a:avLst>
            </a:prstGeom>
            <a:noFill/>
            <a:ln cap="flat" cmpd="sng" w="19050">
              <a:solidFill>
                <a:srgbClr val="0000FF"/>
              </a:solidFill>
              <a:prstDash val="solid"/>
              <a:round/>
              <a:headEnd len="med" w="med" type="none"/>
              <a:tailEnd len="med" w="med" type="none"/>
            </a:ln>
          </p:spPr>
        </p:cxnSp>
        <p:sp>
          <p:nvSpPr>
            <p:cNvPr id="701" name="Google Shape;701;p52"/>
            <p:cNvSpPr txBox="1"/>
            <p:nvPr/>
          </p:nvSpPr>
          <p:spPr>
            <a:xfrm>
              <a:off x="1830397" y="4530996"/>
              <a:ext cx="3582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a:t>
              </a:r>
              <a:endParaRPr>
                <a:latin typeface="Roboto"/>
                <a:ea typeface="Roboto"/>
                <a:cs typeface="Roboto"/>
                <a:sym typeface="Roboto"/>
              </a:endParaRPr>
            </a:p>
          </p:txBody>
        </p:sp>
      </p:grpSp>
      <p:sp>
        <p:nvSpPr>
          <p:cNvPr id="702" name="Google Shape;702;p52"/>
          <p:cNvSpPr txBox="1"/>
          <p:nvPr/>
        </p:nvSpPr>
        <p:spPr>
          <a:xfrm>
            <a:off x="3308225" y="1448625"/>
            <a:ext cx="2923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Now assume that there are </a:t>
            </a:r>
            <a:r>
              <a:rPr b="1" i="1" lang="en" sz="1200">
                <a:solidFill>
                  <a:srgbClr val="FF0000"/>
                </a:solidFill>
              </a:rPr>
              <a:t>exactly two</a:t>
            </a:r>
            <a:r>
              <a:rPr lang="en" sz="1200">
                <a:solidFill>
                  <a:srgbClr val="FF0000"/>
                </a:solidFill>
              </a:rPr>
              <a:t> </a:t>
            </a:r>
            <a:r>
              <a:rPr lang="en" sz="1200"/>
              <a:t>possible paths from </a:t>
            </a:r>
            <a:r>
              <a:rPr b="1" i="1" lang="en" sz="1200">
                <a:solidFill>
                  <a:srgbClr val="FF0000"/>
                </a:solidFill>
              </a:rPr>
              <a:t>S</a:t>
            </a:r>
            <a:r>
              <a:rPr lang="en" sz="1200"/>
              <a:t> to </a:t>
            </a:r>
            <a:r>
              <a:rPr b="1" i="1" lang="en" sz="1200">
                <a:solidFill>
                  <a:srgbClr val="FF0000"/>
                </a:solidFill>
              </a:rPr>
              <a:t>E'</a:t>
            </a:r>
            <a:r>
              <a:rPr lang="en" sz="1200"/>
              <a:t> the </a:t>
            </a:r>
            <a:r>
              <a:rPr b="1" i="1" lang="en" sz="1200">
                <a:solidFill>
                  <a:srgbClr val="FF0000"/>
                </a:solidFill>
              </a:rPr>
              <a:t>total distance</a:t>
            </a:r>
            <a:r>
              <a:rPr lang="en" sz="1200"/>
              <a:t> of which are </a:t>
            </a:r>
            <a:r>
              <a:rPr b="1" i="1" lang="en" sz="1200">
                <a:solidFill>
                  <a:srgbClr val="FF0000"/>
                </a:solidFill>
              </a:rPr>
              <a:t>Q</a:t>
            </a:r>
            <a:r>
              <a:rPr lang="en" sz="1200"/>
              <a:t> and </a:t>
            </a:r>
            <a:r>
              <a:rPr b="1" i="1" lang="en" sz="1200">
                <a:solidFill>
                  <a:srgbClr val="FF0000"/>
                </a:solidFill>
              </a:rPr>
              <a:t>R</a:t>
            </a:r>
            <a:r>
              <a:rPr lang="en" sz="1200"/>
              <a:t>.</a:t>
            </a:r>
            <a:endParaRPr sz="1200"/>
          </a:p>
        </p:txBody>
      </p:sp>
      <p:sp>
        <p:nvSpPr>
          <p:cNvPr id="703" name="Google Shape;703;p52"/>
          <p:cNvSpPr txBox="1"/>
          <p:nvPr/>
        </p:nvSpPr>
        <p:spPr>
          <a:xfrm>
            <a:off x="3308225" y="2335032"/>
            <a:ext cx="2923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If </a:t>
            </a:r>
            <a:r>
              <a:rPr b="1" i="1" lang="en" sz="1200">
                <a:solidFill>
                  <a:srgbClr val="FF0000"/>
                </a:solidFill>
              </a:rPr>
              <a:t>Q &lt; R</a:t>
            </a:r>
            <a:r>
              <a:rPr lang="en" sz="1200"/>
              <a:t>, then </a:t>
            </a:r>
            <a:r>
              <a:rPr b="1" i="1" lang="en" sz="1200">
                <a:solidFill>
                  <a:srgbClr val="FF0000"/>
                </a:solidFill>
              </a:rPr>
              <a:t>Q+C &lt; R+C</a:t>
            </a:r>
            <a:r>
              <a:rPr lang="en" sz="1200"/>
              <a:t>. Therefore,</a:t>
            </a:r>
            <a:endParaRPr sz="1200"/>
          </a:p>
          <a:p>
            <a:pPr indent="0" lvl="0" marL="0" rtl="0" algn="l">
              <a:spcBef>
                <a:spcPts val="0"/>
              </a:spcBef>
              <a:spcAft>
                <a:spcPts val="0"/>
              </a:spcAft>
              <a:buNone/>
            </a:pPr>
            <a:r>
              <a:rPr lang="en" sz="1200"/>
              <a:t>the </a:t>
            </a:r>
            <a:r>
              <a:rPr b="1" i="1" lang="en" sz="1200">
                <a:solidFill>
                  <a:srgbClr val="FF0000"/>
                </a:solidFill>
              </a:rPr>
              <a:t>optimal path</a:t>
            </a:r>
            <a:r>
              <a:rPr lang="en" sz="1200"/>
              <a:t> from </a:t>
            </a:r>
            <a:r>
              <a:rPr b="1" i="1" lang="en" sz="1200">
                <a:solidFill>
                  <a:srgbClr val="FF0000"/>
                </a:solidFill>
              </a:rPr>
              <a:t>S to E</a:t>
            </a:r>
            <a:r>
              <a:rPr lang="en" sz="1200"/>
              <a:t> must include </a:t>
            </a:r>
            <a:r>
              <a:rPr b="1" i="1" lang="en" sz="1200">
                <a:solidFill>
                  <a:srgbClr val="FF0000"/>
                </a:solidFill>
              </a:rPr>
              <a:t>Q</a:t>
            </a:r>
            <a:r>
              <a:rPr lang="en" sz="1200">
                <a:solidFill>
                  <a:srgbClr val="FF0000"/>
                </a:solidFill>
              </a:rPr>
              <a:t> </a:t>
            </a:r>
            <a:r>
              <a:rPr lang="en" sz="1200"/>
              <a:t>and </a:t>
            </a:r>
            <a:r>
              <a:rPr b="1" i="1" lang="en" sz="1200">
                <a:solidFill>
                  <a:srgbClr val="FF0000"/>
                </a:solidFill>
              </a:rPr>
              <a:t>not R</a:t>
            </a:r>
            <a:r>
              <a:rPr lang="en" sz="1200"/>
              <a:t>.</a:t>
            </a:r>
            <a:endParaRPr sz="1200"/>
          </a:p>
        </p:txBody>
      </p:sp>
      <p:pic>
        <p:nvPicPr>
          <p:cNvPr id="704" name="Google Shape;704;p52"/>
          <p:cNvPicPr preferRelativeResize="0"/>
          <p:nvPr/>
        </p:nvPicPr>
        <p:blipFill>
          <a:blip r:embed="rId3">
            <a:alphaModFix/>
          </a:blip>
          <a:stretch>
            <a:fillRect/>
          </a:stretch>
        </p:blipFill>
        <p:spPr>
          <a:xfrm>
            <a:off x="6625238" y="2605432"/>
            <a:ext cx="2152525" cy="2303200"/>
          </a:xfrm>
          <a:prstGeom prst="rect">
            <a:avLst/>
          </a:prstGeom>
          <a:noFill/>
          <a:ln cap="flat" cmpd="sng" w="19050">
            <a:solidFill>
              <a:srgbClr val="000000"/>
            </a:solidFill>
            <a:prstDash val="solid"/>
            <a:round/>
            <a:headEnd len="sm" w="sm" type="none"/>
            <a:tailEnd len="sm" w="sm" type="none"/>
          </a:ln>
        </p:spPr>
      </p:pic>
      <p:sp>
        <p:nvSpPr>
          <p:cNvPr id="705" name="Google Shape;705;p52"/>
          <p:cNvSpPr/>
          <p:nvPr/>
        </p:nvSpPr>
        <p:spPr>
          <a:xfrm>
            <a:off x="6366225" y="1393550"/>
            <a:ext cx="2655000" cy="979200"/>
          </a:xfrm>
          <a:prstGeom prst="wedgeRoundRectCallout">
            <a:avLst>
              <a:gd fmla="val -14000" name="adj1"/>
              <a:gd fmla="val 92832"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Therefore, we can find the </a:t>
            </a:r>
            <a:r>
              <a:rPr b="1" i="1" lang="en" sz="1200">
                <a:solidFill>
                  <a:srgbClr val="FF0000"/>
                </a:solidFill>
              </a:rPr>
              <a:t>optimal path</a:t>
            </a:r>
            <a:r>
              <a:rPr lang="en" sz="1200"/>
              <a:t> by finding the </a:t>
            </a:r>
            <a:r>
              <a:rPr b="1" i="1" lang="en" sz="1200">
                <a:solidFill>
                  <a:srgbClr val="FF0000"/>
                </a:solidFill>
              </a:rPr>
              <a:t>optimal subpaths</a:t>
            </a:r>
            <a:r>
              <a:rPr lang="en" sz="1200"/>
              <a:t> from </a:t>
            </a:r>
            <a:r>
              <a:rPr b="1" i="1" lang="en" sz="1200">
                <a:solidFill>
                  <a:srgbClr val="FF0000"/>
                </a:solidFill>
              </a:rPr>
              <a:t>S</a:t>
            </a:r>
            <a:r>
              <a:rPr lang="en" sz="1200"/>
              <a:t> to every vertex that is along the path to </a:t>
            </a:r>
            <a:r>
              <a:rPr b="1" i="1" lang="en" sz="1200">
                <a:solidFill>
                  <a:srgbClr val="FF0000"/>
                </a:solidFill>
              </a:rPr>
              <a:t>E</a:t>
            </a:r>
            <a:r>
              <a:rPr lang="en" sz="1200"/>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1000"/>
                                        <p:tgtEl>
                                          <p:spTgt spid="6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10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1000"/>
                                        <p:tgtEl>
                                          <p:spTgt spid="6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1000"/>
                                        <p:tgtEl>
                                          <p:spTgt spid="69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1000"/>
                                        <p:tgtEl>
                                          <p:spTgt spid="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gtEl>
                                        <p:attrNameLst>
                                          <p:attrName>style.visibility</p:attrName>
                                        </p:attrNameLst>
                                      </p:cBhvr>
                                      <p:to>
                                        <p:strVal val="visible"/>
                                      </p:to>
                                    </p:set>
                                    <p:animEffect filter="fade" transition="in">
                                      <p:cBhvr>
                                        <p:cTn dur="1000"/>
                                        <p:tgtEl>
                                          <p:spTgt spid="7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96"/>
                                        </p:tgtEl>
                                        <p:attrNameLst>
                                          <p:attrName>style.visibility</p:attrName>
                                        </p:attrNameLst>
                                      </p:cBhvr>
                                      <p:to>
                                        <p:strVal val="visible"/>
                                      </p:to>
                                    </p:set>
                                    <p:animEffect filter="fade" transition="in">
                                      <p:cBhvr>
                                        <p:cTn dur="1000"/>
                                        <p:tgtEl>
                                          <p:spTgt spid="69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1000"/>
                                        <p:tgtEl>
                                          <p:spTgt spid="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1000"/>
                                        <p:tgtEl>
                                          <p:spTgt spid="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1000"/>
                                        <p:tgtEl>
                                          <p:spTgt spid="7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Illustrated Example</a:t>
            </a:r>
            <a:endParaRPr/>
          </a:p>
        </p:txBody>
      </p:sp>
      <p:sp>
        <p:nvSpPr>
          <p:cNvPr id="711" name="Google Shape;711;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712" name="Google Shape;712;p53"/>
          <p:cNvGrpSpPr/>
          <p:nvPr/>
        </p:nvGrpSpPr>
        <p:grpSpPr>
          <a:xfrm>
            <a:off x="5062520" y="1458399"/>
            <a:ext cx="3388210" cy="3052284"/>
            <a:chOff x="338125" y="1610890"/>
            <a:chExt cx="3334852" cy="3004217"/>
          </a:xfrm>
        </p:grpSpPr>
        <p:sp>
          <p:nvSpPr>
            <p:cNvPr id="713" name="Google Shape;713;p53"/>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714" name="Google Shape;714;p53"/>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715" name="Google Shape;715;p53"/>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716" name="Google Shape;716;p53"/>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717" name="Google Shape;717;p53"/>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718" name="Google Shape;718;p53"/>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719" name="Google Shape;719;p53"/>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720" name="Google Shape;720;p53"/>
            <p:cNvCxnSpPr>
              <a:stCxn id="713" idx="3"/>
              <a:endCxn id="715"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721" name="Google Shape;721;p53"/>
            <p:cNvCxnSpPr>
              <a:stCxn id="713" idx="6"/>
              <a:endCxn id="716"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722" name="Google Shape;722;p53"/>
            <p:cNvCxnSpPr>
              <a:stCxn id="713" idx="5"/>
              <a:endCxn id="714"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723" name="Google Shape;723;p53"/>
            <p:cNvCxnSpPr>
              <a:stCxn id="714" idx="6"/>
              <a:endCxn id="718"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724" name="Google Shape;724;p53"/>
            <p:cNvCxnSpPr>
              <a:stCxn id="718" idx="4"/>
              <a:endCxn id="717"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725" name="Google Shape;725;p53"/>
            <p:cNvCxnSpPr>
              <a:stCxn id="714" idx="3"/>
              <a:endCxn id="719"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726" name="Google Shape;726;p53"/>
            <p:cNvCxnSpPr>
              <a:stCxn id="719" idx="6"/>
              <a:endCxn id="717"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727" name="Google Shape;727;p53"/>
            <p:cNvCxnSpPr>
              <a:stCxn id="715" idx="6"/>
              <a:endCxn id="714"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728" name="Google Shape;728;p53"/>
            <p:cNvCxnSpPr>
              <a:stCxn id="716" idx="5"/>
              <a:endCxn id="718"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729" name="Google Shape;729;p53"/>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730" name="Google Shape;730;p53"/>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731" name="Google Shape;731;p53"/>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732" name="Google Shape;732;p53"/>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733" name="Google Shape;733;p53"/>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734" name="Google Shape;734;p53"/>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735" name="Google Shape;735;p53"/>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736" name="Google Shape;736;p53"/>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737" name="Google Shape;737;p53"/>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738" name="Google Shape;738;p53"/>
            <p:cNvCxnSpPr>
              <a:stCxn id="715" idx="5"/>
              <a:endCxn id="719"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739" name="Google Shape;739;p53"/>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740" name="Google Shape;740;p53"/>
          <p:cNvSpPr txBox="1"/>
          <p:nvPr/>
        </p:nvSpPr>
        <p:spPr>
          <a:xfrm>
            <a:off x="311725" y="1396993"/>
            <a:ext cx="4198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Let's represent a path from </a:t>
            </a:r>
            <a:r>
              <a:rPr b="1" i="1" lang="en" sz="1200">
                <a:solidFill>
                  <a:srgbClr val="FF0000"/>
                </a:solidFill>
              </a:rPr>
              <a:t>X</a:t>
            </a:r>
            <a:r>
              <a:rPr i="1" lang="en" sz="1200"/>
              <a:t> </a:t>
            </a:r>
            <a:r>
              <a:rPr lang="en" sz="1200"/>
              <a:t>to</a:t>
            </a:r>
            <a:r>
              <a:rPr i="1" lang="en" sz="1200"/>
              <a:t> </a:t>
            </a:r>
            <a:r>
              <a:rPr b="1" lang="en" sz="1200">
                <a:solidFill>
                  <a:srgbClr val="FF0000"/>
                </a:solidFill>
              </a:rPr>
              <a:t>Z</a:t>
            </a:r>
            <a:r>
              <a:rPr lang="en" sz="1200"/>
              <a:t> in the form </a:t>
            </a:r>
            <a:r>
              <a:rPr b="1" i="1" lang="en" sz="1200">
                <a:solidFill>
                  <a:srgbClr val="FF0000"/>
                </a:solidFill>
              </a:rPr>
              <a:t>X</a:t>
            </a:r>
            <a:r>
              <a:rPr b="1" baseline="-25000" i="1" lang="en" sz="1200">
                <a:solidFill>
                  <a:srgbClr val="FF0000"/>
                </a:solidFill>
              </a:rPr>
              <a:t>d</a:t>
            </a:r>
            <a:r>
              <a:rPr b="1" i="1" lang="en" sz="1200">
                <a:solidFill>
                  <a:srgbClr val="FF0000"/>
                </a:solidFill>
              </a:rPr>
              <a:t>Y</a:t>
            </a:r>
            <a:r>
              <a:rPr b="1" baseline="-25000" i="1" lang="en" sz="1200">
                <a:solidFill>
                  <a:srgbClr val="FF0000"/>
                </a:solidFill>
              </a:rPr>
              <a:t>d</a:t>
            </a:r>
            <a:r>
              <a:rPr b="1" i="1" lang="en" sz="1200">
                <a:solidFill>
                  <a:srgbClr val="FF0000"/>
                </a:solidFill>
              </a:rPr>
              <a:t>Z</a:t>
            </a:r>
            <a:r>
              <a:rPr lang="en" sz="1200"/>
              <a:t> where </a:t>
            </a:r>
            <a:r>
              <a:rPr b="1" i="1" lang="en" sz="1200">
                <a:solidFill>
                  <a:srgbClr val="FF0000"/>
                </a:solidFill>
              </a:rPr>
              <a:t>d</a:t>
            </a:r>
            <a:r>
              <a:rPr lang="en" sz="1200"/>
              <a:t> is the distance between each pair of vertices.</a:t>
            </a:r>
            <a:endParaRPr sz="1200"/>
          </a:p>
        </p:txBody>
      </p:sp>
      <p:cxnSp>
        <p:nvCxnSpPr>
          <p:cNvPr id="741" name="Google Shape;741;p53"/>
          <p:cNvCxnSpPr/>
          <p:nvPr/>
        </p:nvCxnSpPr>
        <p:spPr>
          <a:xfrm>
            <a:off x="6591063" y="4235144"/>
            <a:ext cx="1036800" cy="0"/>
          </a:xfrm>
          <a:prstGeom prst="straightConnector1">
            <a:avLst/>
          </a:prstGeom>
          <a:noFill/>
          <a:ln cap="flat" cmpd="sng" w="28575">
            <a:solidFill>
              <a:srgbClr val="FF0000"/>
            </a:solidFill>
            <a:prstDash val="solid"/>
            <a:round/>
            <a:headEnd len="med" w="med" type="none"/>
            <a:tailEnd len="med" w="med" type="stealth"/>
          </a:ln>
        </p:spPr>
      </p:cxnSp>
      <p:sp>
        <p:nvSpPr>
          <p:cNvPr id="742" name="Google Shape;742;p53"/>
          <p:cNvSpPr txBox="1"/>
          <p:nvPr/>
        </p:nvSpPr>
        <p:spPr>
          <a:xfrm>
            <a:off x="311725" y="2027712"/>
            <a:ext cx="4198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When searching for a path from </a:t>
            </a:r>
            <a:r>
              <a:rPr b="1" i="1" lang="en" sz="1200">
                <a:solidFill>
                  <a:srgbClr val="FF0000"/>
                </a:solidFill>
              </a:rPr>
              <a:t>A</a:t>
            </a:r>
            <a:r>
              <a:rPr lang="en" sz="1200"/>
              <a:t> to </a:t>
            </a:r>
            <a:r>
              <a:rPr b="1" i="1" lang="en" sz="1200">
                <a:solidFill>
                  <a:srgbClr val="FF0000"/>
                </a:solidFill>
              </a:rPr>
              <a:t>E</a:t>
            </a:r>
            <a:r>
              <a:rPr lang="en" sz="1200"/>
              <a:t>, </a:t>
            </a:r>
            <a:r>
              <a:rPr b="1" i="1" lang="en" sz="1200">
                <a:solidFill>
                  <a:srgbClr val="FF0000"/>
                </a:solidFill>
              </a:rPr>
              <a:t>Nearest Neighbor</a:t>
            </a:r>
            <a:r>
              <a:rPr lang="en" sz="1200"/>
              <a:t> found the path </a:t>
            </a:r>
            <a:r>
              <a:rPr b="1" i="1" lang="en" sz="1200">
                <a:solidFill>
                  <a:srgbClr val="FF0000"/>
                </a:solidFill>
              </a:rPr>
              <a:t>A</a:t>
            </a:r>
            <a:r>
              <a:rPr b="1" baseline="-25000" i="1" lang="en" sz="1200">
                <a:solidFill>
                  <a:srgbClr val="FF0000"/>
                </a:solidFill>
              </a:rPr>
              <a:t>1</a:t>
            </a:r>
            <a:r>
              <a:rPr b="1" i="1" lang="en" sz="1200">
                <a:solidFill>
                  <a:srgbClr val="FF0000"/>
                </a:solidFill>
              </a:rPr>
              <a:t>C</a:t>
            </a:r>
            <a:r>
              <a:rPr b="1" baseline="-25000" i="1" lang="en" sz="1200">
                <a:solidFill>
                  <a:srgbClr val="FF0000"/>
                </a:solidFill>
              </a:rPr>
              <a:t>2</a:t>
            </a:r>
            <a:r>
              <a:rPr b="1" i="1" lang="en" sz="1200">
                <a:solidFill>
                  <a:srgbClr val="FF0000"/>
                </a:solidFill>
              </a:rPr>
              <a:t>B</a:t>
            </a:r>
            <a:r>
              <a:rPr b="1" baseline="-25000" i="1" lang="en" sz="1200">
                <a:solidFill>
                  <a:srgbClr val="FF0000"/>
                </a:solidFill>
              </a:rPr>
              <a:t>4</a:t>
            </a:r>
            <a:r>
              <a:rPr b="1" i="1" lang="en" sz="1200">
                <a:solidFill>
                  <a:srgbClr val="FF0000"/>
                </a:solidFill>
              </a:rPr>
              <a:t>G</a:t>
            </a:r>
            <a:r>
              <a:rPr b="1" baseline="-25000" i="1" lang="en" sz="1200">
                <a:solidFill>
                  <a:srgbClr val="FF0000"/>
                </a:solidFill>
              </a:rPr>
              <a:t>4</a:t>
            </a:r>
            <a:r>
              <a:rPr b="1" i="1" lang="en" sz="1200">
                <a:solidFill>
                  <a:srgbClr val="FF0000"/>
                </a:solidFill>
              </a:rPr>
              <a:t>E</a:t>
            </a:r>
            <a:r>
              <a:rPr lang="en" sz="1200"/>
              <a:t> with a total cost of </a:t>
            </a:r>
            <a:r>
              <a:rPr b="1" i="1" lang="en" sz="1200">
                <a:solidFill>
                  <a:srgbClr val="FF0000"/>
                </a:solidFill>
              </a:rPr>
              <a:t>11</a:t>
            </a:r>
            <a:r>
              <a:rPr lang="en" sz="1200"/>
              <a:t>.</a:t>
            </a:r>
            <a:endParaRPr sz="1200"/>
          </a:p>
        </p:txBody>
      </p:sp>
      <p:sp>
        <p:nvSpPr>
          <p:cNvPr id="743" name="Google Shape;743;p53"/>
          <p:cNvSpPr txBox="1"/>
          <p:nvPr/>
        </p:nvSpPr>
        <p:spPr>
          <a:xfrm>
            <a:off x="311725" y="2651542"/>
            <a:ext cx="4198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Dijkstra observed that if </a:t>
            </a:r>
            <a:r>
              <a:rPr b="1" i="1" lang="en" sz="1200">
                <a:solidFill>
                  <a:srgbClr val="FF0000"/>
                </a:solidFill>
              </a:rPr>
              <a:t>A</a:t>
            </a:r>
            <a:r>
              <a:rPr b="1" baseline="-25000" i="1" lang="en" sz="1200">
                <a:solidFill>
                  <a:srgbClr val="FF0000"/>
                </a:solidFill>
              </a:rPr>
              <a:t>1</a:t>
            </a:r>
            <a:r>
              <a:rPr b="1" i="1" lang="en" sz="1200">
                <a:solidFill>
                  <a:srgbClr val="FF0000"/>
                </a:solidFill>
              </a:rPr>
              <a:t>C</a:t>
            </a:r>
            <a:r>
              <a:rPr b="1" baseline="-25000" i="1" lang="en" sz="1200">
                <a:solidFill>
                  <a:srgbClr val="FF0000"/>
                </a:solidFill>
              </a:rPr>
              <a:t>2</a:t>
            </a:r>
            <a:r>
              <a:rPr b="1" i="1" lang="en" sz="1200">
                <a:solidFill>
                  <a:srgbClr val="FF0000"/>
                </a:solidFill>
              </a:rPr>
              <a:t>B</a:t>
            </a:r>
            <a:r>
              <a:rPr b="1" baseline="-25000" i="1" lang="en" sz="1200">
                <a:solidFill>
                  <a:srgbClr val="FF0000"/>
                </a:solidFill>
              </a:rPr>
              <a:t>4</a:t>
            </a:r>
            <a:r>
              <a:rPr b="1" i="1" lang="en" sz="1200">
                <a:solidFill>
                  <a:srgbClr val="FF0000"/>
                </a:solidFill>
              </a:rPr>
              <a:t>G</a:t>
            </a:r>
            <a:r>
              <a:rPr b="1" baseline="-25000" i="1" lang="en" sz="1200">
                <a:solidFill>
                  <a:srgbClr val="FF0000"/>
                </a:solidFill>
              </a:rPr>
              <a:t>4</a:t>
            </a:r>
            <a:r>
              <a:rPr b="1" i="1" lang="en" sz="1200">
                <a:solidFill>
                  <a:srgbClr val="FF0000"/>
                </a:solidFill>
              </a:rPr>
              <a:t>E</a:t>
            </a:r>
            <a:r>
              <a:rPr lang="en" sz="1200"/>
              <a:t> is optimal, then all of its </a:t>
            </a:r>
            <a:r>
              <a:rPr b="1" i="1" lang="en" sz="1200">
                <a:solidFill>
                  <a:srgbClr val="FF0000"/>
                </a:solidFill>
              </a:rPr>
              <a:t>subpaths</a:t>
            </a:r>
            <a:r>
              <a:rPr lang="en" sz="1200"/>
              <a:t> must also be optimal. Which means that the subpath </a:t>
            </a:r>
            <a:r>
              <a:rPr b="1" i="1" lang="en" sz="1200">
                <a:solidFill>
                  <a:srgbClr val="FF0000"/>
                </a:solidFill>
              </a:rPr>
              <a:t>A</a:t>
            </a:r>
            <a:r>
              <a:rPr b="1" baseline="-25000" i="1" lang="en" sz="1200">
                <a:solidFill>
                  <a:srgbClr val="FF0000"/>
                </a:solidFill>
              </a:rPr>
              <a:t>1</a:t>
            </a:r>
            <a:r>
              <a:rPr b="1" i="1" lang="en" sz="1200">
                <a:solidFill>
                  <a:srgbClr val="FF0000"/>
                </a:solidFill>
              </a:rPr>
              <a:t>C</a:t>
            </a:r>
            <a:r>
              <a:rPr b="1" baseline="-25000" i="1" lang="en" sz="1200">
                <a:solidFill>
                  <a:srgbClr val="FF0000"/>
                </a:solidFill>
              </a:rPr>
              <a:t>2</a:t>
            </a:r>
            <a:r>
              <a:rPr b="1" i="1" lang="en" sz="1200">
                <a:solidFill>
                  <a:srgbClr val="FF0000"/>
                </a:solidFill>
              </a:rPr>
              <a:t>B</a:t>
            </a:r>
            <a:r>
              <a:rPr b="1" baseline="-25000" i="1" lang="en" sz="1200">
                <a:solidFill>
                  <a:srgbClr val="FF0000"/>
                </a:solidFill>
              </a:rPr>
              <a:t>4</a:t>
            </a:r>
            <a:r>
              <a:rPr b="1" i="1" lang="en" sz="1200">
                <a:solidFill>
                  <a:srgbClr val="FF0000"/>
                </a:solidFill>
              </a:rPr>
              <a:t>G</a:t>
            </a:r>
            <a:r>
              <a:rPr lang="en" sz="1200"/>
              <a:t> must be the optimal path from </a:t>
            </a:r>
            <a:r>
              <a:rPr b="1" i="1" lang="en" sz="1200">
                <a:solidFill>
                  <a:srgbClr val="FF0000"/>
                </a:solidFill>
              </a:rPr>
              <a:t>A</a:t>
            </a:r>
            <a:r>
              <a:rPr lang="en" sz="1200"/>
              <a:t> to </a:t>
            </a:r>
            <a:r>
              <a:rPr b="1" i="1" lang="en" sz="1200">
                <a:solidFill>
                  <a:srgbClr val="FF0000"/>
                </a:solidFill>
              </a:rPr>
              <a:t>G</a:t>
            </a:r>
            <a:r>
              <a:rPr lang="en" sz="1200"/>
              <a:t>. Is that true?</a:t>
            </a:r>
            <a:endParaRPr sz="1200"/>
          </a:p>
        </p:txBody>
      </p:sp>
      <p:cxnSp>
        <p:nvCxnSpPr>
          <p:cNvPr id="744" name="Google Shape;744;p53"/>
          <p:cNvCxnSpPr/>
          <p:nvPr/>
        </p:nvCxnSpPr>
        <p:spPr>
          <a:xfrm flipH="1">
            <a:off x="5337919" y="2013823"/>
            <a:ext cx="152100" cy="806100"/>
          </a:xfrm>
          <a:prstGeom prst="straightConnector1">
            <a:avLst/>
          </a:prstGeom>
          <a:noFill/>
          <a:ln cap="flat" cmpd="sng" w="28575">
            <a:solidFill>
              <a:srgbClr val="FF0000"/>
            </a:solidFill>
            <a:prstDash val="solid"/>
            <a:round/>
            <a:headEnd len="med" w="med" type="none"/>
            <a:tailEnd len="med" w="med" type="stealth"/>
          </a:ln>
        </p:spPr>
      </p:cxnSp>
      <p:cxnSp>
        <p:nvCxnSpPr>
          <p:cNvPr id="745" name="Google Shape;745;p53"/>
          <p:cNvCxnSpPr/>
          <p:nvPr/>
        </p:nvCxnSpPr>
        <p:spPr>
          <a:xfrm flipH="1">
            <a:off x="6315617" y="3239293"/>
            <a:ext cx="285300" cy="720300"/>
          </a:xfrm>
          <a:prstGeom prst="straightConnector1">
            <a:avLst/>
          </a:prstGeom>
          <a:noFill/>
          <a:ln cap="flat" cmpd="sng" w="28575">
            <a:solidFill>
              <a:srgbClr val="FF0000"/>
            </a:solidFill>
            <a:prstDash val="solid"/>
            <a:round/>
            <a:headEnd len="med" w="med" type="none"/>
            <a:tailEnd len="med" w="med" type="stealth"/>
          </a:ln>
        </p:spPr>
      </p:cxnSp>
      <p:cxnSp>
        <p:nvCxnSpPr>
          <p:cNvPr id="746" name="Google Shape;746;p53"/>
          <p:cNvCxnSpPr/>
          <p:nvPr/>
        </p:nvCxnSpPr>
        <p:spPr>
          <a:xfrm flipH="1" rot="10800000">
            <a:off x="5613599" y="3044480"/>
            <a:ext cx="906600" cy="51000"/>
          </a:xfrm>
          <a:prstGeom prst="straightConnector1">
            <a:avLst/>
          </a:prstGeom>
          <a:noFill/>
          <a:ln cap="flat" cmpd="sng" w="28575">
            <a:solidFill>
              <a:srgbClr val="FF0000"/>
            </a:solidFill>
            <a:prstDash val="solid"/>
            <a:round/>
            <a:headEnd len="med" w="med" type="none"/>
            <a:tailEnd len="med" w="med" type="stealth"/>
          </a:ln>
        </p:spPr>
      </p:cxnSp>
      <p:sp>
        <p:nvSpPr>
          <p:cNvPr id="747" name="Google Shape;747;p53"/>
          <p:cNvSpPr txBox="1"/>
          <p:nvPr/>
        </p:nvSpPr>
        <p:spPr>
          <a:xfrm>
            <a:off x="311725" y="3642142"/>
            <a:ext cx="4198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It is not! There is a </a:t>
            </a:r>
            <a:r>
              <a:rPr b="1" i="1" lang="en" sz="1200">
                <a:solidFill>
                  <a:srgbClr val="FF0000"/>
                </a:solidFill>
              </a:rPr>
              <a:t>shorter</a:t>
            </a:r>
            <a:r>
              <a:rPr lang="en" sz="1200">
                <a:solidFill>
                  <a:srgbClr val="FF0000"/>
                </a:solidFill>
              </a:rPr>
              <a:t> </a:t>
            </a:r>
            <a:r>
              <a:rPr lang="en" sz="1200"/>
              <a:t>path from </a:t>
            </a:r>
            <a:r>
              <a:rPr b="1" i="1" lang="en" sz="1200">
                <a:solidFill>
                  <a:srgbClr val="FF0000"/>
                </a:solidFill>
              </a:rPr>
              <a:t>A</a:t>
            </a:r>
            <a:r>
              <a:rPr b="1" i="1" lang="en" sz="1200"/>
              <a:t> </a:t>
            </a:r>
            <a:r>
              <a:rPr lang="en" sz="1200"/>
              <a:t>to </a:t>
            </a:r>
            <a:r>
              <a:rPr b="1" i="1" lang="en" sz="1200">
                <a:solidFill>
                  <a:srgbClr val="FF0000"/>
                </a:solidFill>
              </a:rPr>
              <a:t>G</a:t>
            </a:r>
            <a:r>
              <a:rPr lang="en" sz="1200"/>
              <a:t>: </a:t>
            </a:r>
            <a:r>
              <a:rPr b="1" i="1" lang="en" sz="1200">
                <a:solidFill>
                  <a:srgbClr val="FF0000"/>
                </a:solidFill>
              </a:rPr>
              <a:t>A</a:t>
            </a:r>
            <a:r>
              <a:rPr b="1" baseline="-25000" i="1" lang="en" sz="1200">
                <a:solidFill>
                  <a:srgbClr val="FF0000"/>
                </a:solidFill>
              </a:rPr>
              <a:t>1</a:t>
            </a:r>
            <a:r>
              <a:rPr b="1" i="1" lang="en" sz="1200">
                <a:solidFill>
                  <a:srgbClr val="FF0000"/>
                </a:solidFill>
              </a:rPr>
              <a:t>C</a:t>
            </a:r>
            <a:r>
              <a:rPr b="1" baseline="-25000" i="1" lang="en" sz="1200">
                <a:solidFill>
                  <a:srgbClr val="FF0000"/>
                </a:solidFill>
              </a:rPr>
              <a:t>5</a:t>
            </a:r>
            <a:r>
              <a:rPr b="1" i="1" lang="en" sz="1200">
                <a:solidFill>
                  <a:srgbClr val="FF0000"/>
                </a:solidFill>
              </a:rPr>
              <a:t>G</a:t>
            </a:r>
            <a:r>
              <a:rPr lang="en" sz="1200"/>
              <a:t> with a total cost of </a:t>
            </a:r>
            <a:r>
              <a:rPr b="1" i="1" lang="en" sz="1200">
                <a:solidFill>
                  <a:srgbClr val="FF0000"/>
                </a:solidFill>
              </a:rPr>
              <a:t>6</a:t>
            </a:r>
            <a:r>
              <a:rPr lang="en" sz="1200"/>
              <a:t>.</a:t>
            </a:r>
            <a:endParaRPr sz="1200"/>
          </a:p>
        </p:txBody>
      </p:sp>
      <p:cxnSp>
        <p:nvCxnSpPr>
          <p:cNvPr id="748" name="Google Shape;748;p53"/>
          <p:cNvCxnSpPr/>
          <p:nvPr/>
        </p:nvCxnSpPr>
        <p:spPr>
          <a:xfrm>
            <a:off x="5532895" y="3290315"/>
            <a:ext cx="587700" cy="750000"/>
          </a:xfrm>
          <a:prstGeom prst="straightConnector1">
            <a:avLst/>
          </a:prstGeom>
          <a:noFill/>
          <a:ln cap="flat" cmpd="sng" w="28575">
            <a:solidFill>
              <a:srgbClr val="4A86E8"/>
            </a:solidFill>
            <a:prstDash val="solid"/>
            <a:round/>
            <a:headEnd len="med" w="med" type="none"/>
            <a:tailEnd len="med" w="med" type="stealth"/>
          </a:ln>
        </p:spPr>
      </p:cxnSp>
      <p:sp>
        <p:nvSpPr>
          <p:cNvPr id="749" name="Google Shape;749;p53"/>
          <p:cNvSpPr txBox="1"/>
          <p:nvPr/>
        </p:nvSpPr>
        <p:spPr>
          <a:xfrm>
            <a:off x="311725" y="4263441"/>
            <a:ext cx="4198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It is impossible for</a:t>
            </a:r>
            <a:r>
              <a:rPr lang="en" sz="1200">
                <a:solidFill>
                  <a:srgbClr val="FF0000"/>
                </a:solidFill>
              </a:rPr>
              <a:t> </a:t>
            </a:r>
            <a:r>
              <a:rPr b="1" i="1" lang="en" sz="1200">
                <a:solidFill>
                  <a:srgbClr val="FF0000"/>
                </a:solidFill>
              </a:rPr>
              <a:t>A</a:t>
            </a:r>
            <a:r>
              <a:rPr b="1" baseline="-25000" i="1" lang="en" sz="1200">
                <a:solidFill>
                  <a:srgbClr val="FF0000"/>
                </a:solidFill>
              </a:rPr>
              <a:t>1</a:t>
            </a:r>
            <a:r>
              <a:rPr b="1" i="1" lang="en" sz="1200">
                <a:solidFill>
                  <a:srgbClr val="FF0000"/>
                </a:solidFill>
              </a:rPr>
              <a:t>C</a:t>
            </a:r>
            <a:r>
              <a:rPr b="1" baseline="-25000" i="1" lang="en" sz="1200">
                <a:solidFill>
                  <a:srgbClr val="FF0000"/>
                </a:solidFill>
              </a:rPr>
              <a:t>2</a:t>
            </a:r>
            <a:r>
              <a:rPr b="1" i="1" lang="en" sz="1200">
                <a:solidFill>
                  <a:srgbClr val="FF0000"/>
                </a:solidFill>
              </a:rPr>
              <a:t>B</a:t>
            </a:r>
            <a:r>
              <a:rPr b="1" baseline="-25000" i="1" lang="en" sz="1200">
                <a:solidFill>
                  <a:srgbClr val="FF0000"/>
                </a:solidFill>
              </a:rPr>
              <a:t>4</a:t>
            </a:r>
            <a:r>
              <a:rPr b="1" i="1" lang="en" sz="1200">
                <a:solidFill>
                  <a:srgbClr val="FF0000"/>
                </a:solidFill>
              </a:rPr>
              <a:t>G</a:t>
            </a:r>
            <a:r>
              <a:rPr b="1" baseline="-25000" i="1" lang="en" sz="1200">
                <a:solidFill>
                  <a:srgbClr val="FF0000"/>
                </a:solidFill>
              </a:rPr>
              <a:t>4</a:t>
            </a:r>
            <a:r>
              <a:rPr b="1" i="1" lang="en" sz="1200">
                <a:solidFill>
                  <a:srgbClr val="FF0000"/>
                </a:solidFill>
              </a:rPr>
              <a:t>E</a:t>
            </a:r>
            <a:r>
              <a:rPr lang="en" sz="1200"/>
              <a:t> to be optimal if it contains a subpath that is not optimal. In fact, the optimal path is </a:t>
            </a:r>
            <a:r>
              <a:rPr b="1" i="1" lang="en" sz="1200">
                <a:solidFill>
                  <a:srgbClr val="FF0000"/>
                </a:solidFill>
              </a:rPr>
              <a:t>A</a:t>
            </a:r>
            <a:r>
              <a:rPr b="1" baseline="-25000" i="1" lang="en" sz="1200">
                <a:solidFill>
                  <a:srgbClr val="FF0000"/>
                </a:solidFill>
              </a:rPr>
              <a:t>1</a:t>
            </a:r>
            <a:r>
              <a:rPr b="1" i="1" lang="en" sz="1200">
                <a:solidFill>
                  <a:srgbClr val="FF0000"/>
                </a:solidFill>
              </a:rPr>
              <a:t>C</a:t>
            </a:r>
            <a:r>
              <a:rPr b="1" baseline="-25000" i="1" lang="en" sz="1200">
                <a:solidFill>
                  <a:srgbClr val="FF0000"/>
                </a:solidFill>
              </a:rPr>
              <a:t>5</a:t>
            </a:r>
            <a:r>
              <a:rPr b="1" i="1" lang="en" sz="1200">
                <a:solidFill>
                  <a:srgbClr val="FF0000"/>
                </a:solidFill>
              </a:rPr>
              <a:t>G</a:t>
            </a:r>
            <a:r>
              <a:rPr b="1" baseline="-25000" i="1" lang="en" sz="1200">
                <a:solidFill>
                  <a:srgbClr val="FF0000"/>
                </a:solidFill>
              </a:rPr>
              <a:t>4</a:t>
            </a:r>
            <a:r>
              <a:rPr b="1" i="1" lang="en" sz="1200">
                <a:solidFill>
                  <a:srgbClr val="FF0000"/>
                </a:solidFill>
              </a:rPr>
              <a:t>E</a:t>
            </a:r>
            <a:r>
              <a:rPr lang="en" sz="1200"/>
              <a:t> with a total cost of </a:t>
            </a:r>
            <a:r>
              <a:rPr b="1" i="1" lang="en" sz="1200">
                <a:solidFill>
                  <a:srgbClr val="FF0000"/>
                </a:solidFill>
              </a:rPr>
              <a:t>10</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1000"/>
                                        <p:tgtEl>
                                          <p:spTgt spid="7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1000"/>
                                        <p:tgtEl>
                                          <p:spTgt spid="7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1000"/>
                                        <p:tgtEl>
                                          <p:spTgt spid="74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1000"/>
                                        <p:tgtEl>
                                          <p:spTgt spid="74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1000"/>
                                        <p:tgtEl>
                                          <p:spTgt spid="74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1000"/>
                                        <p:tgtEl>
                                          <p:spTgt spid="7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1000"/>
                                        <p:tgtEl>
                                          <p:spTgt spid="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1000"/>
                                        <p:tgtEl>
                                          <p:spTgt spid="7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1000"/>
                                        <p:tgtEl>
                                          <p:spTgt spid="7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1000"/>
                                        <p:tgtEl>
                                          <p:spTgt spid="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54"/>
          <p:cNvSpPr txBox="1"/>
          <p:nvPr>
            <p:ph type="title"/>
          </p:nvPr>
        </p:nvSpPr>
        <p:spPr>
          <a:xfrm>
            <a:off x="311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Search Fight!</a:t>
            </a:r>
            <a:endParaRPr/>
          </a:p>
        </p:txBody>
      </p:sp>
      <p:sp>
        <p:nvSpPr>
          <p:cNvPr id="755" name="Google Shape;755;p54"/>
          <p:cNvSpPr txBox="1"/>
          <p:nvPr>
            <p:ph idx="1" type="body"/>
          </p:nvPr>
        </p:nvSpPr>
        <p:spPr>
          <a:xfrm>
            <a:off x="4437525" y="196125"/>
            <a:ext cx="4374000" cy="4741200"/>
          </a:xfrm>
          <a:prstGeom prst="rect">
            <a:avLst/>
          </a:prstGeom>
        </p:spPr>
        <p:txBody>
          <a:bodyPr anchorCtr="0" anchor="ctr" bIns="91425" lIns="91425" spcFirstLastPara="1" rIns="91425" wrap="square" tIns="91425">
            <a:spAutoFit/>
          </a:bodyPr>
          <a:lstStyle/>
          <a:p>
            <a:pPr indent="-304800" lvl="0" marL="457200" rtl="0" algn="l">
              <a:spcBef>
                <a:spcPts val="0"/>
              </a:spcBef>
              <a:spcAft>
                <a:spcPts val="0"/>
              </a:spcAft>
              <a:buSzPts val="1200"/>
              <a:buChar char="●"/>
            </a:pPr>
            <a:r>
              <a:rPr lang="en" sz="1200"/>
              <a:t>C</a:t>
            </a:r>
            <a:r>
              <a:rPr lang="en" sz="1200"/>
              <a:t>onsider searching for a path from </a:t>
            </a:r>
            <a:r>
              <a:rPr b="1" i="1" lang="en" sz="1200">
                <a:solidFill>
                  <a:srgbClr val="FF0000"/>
                </a:solidFill>
              </a:rPr>
              <a:t>A</a:t>
            </a:r>
            <a:r>
              <a:rPr lang="en" sz="1200"/>
              <a:t> to </a:t>
            </a:r>
            <a:r>
              <a:rPr b="1" i="1" lang="en" sz="1200">
                <a:solidFill>
                  <a:srgbClr val="FF0000"/>
                </a:solidFill>
              </a:rPr>
              <a:t>G</a:t>
            </a:r>
            <a:r>
              <a:rPr lang="en" sz="1200">
                <a:solidFill>
                  <a:srgbClr val="FF0000"/>
                </a:solidFill>
              </a:rPr>
              <a:t> </a:t>
            </a:r>
            <a:r>
              <a:rPr lang="en" sz="1200"/>
              <a:t>in the weighted graph to the left.</a:t>
            </a:r>
            <a:endParaRPr sz="1200"/>
          </a:p>
          <a:p>
            <a:pPr indent="-304800" lvl="0" marL="457200" rtl="0" algn="l">
              <a:spcBef>
                <a:spcPts val="1000"/>
              </a:spcBef>
              <a:spcAft>
                <a:spcPts val="0"/>
              </a:spcAft>
              <a:buSzPts val="1200"/>
              <a:buChar char="●"/>
            </a:pPr>
            <a:r>
              <a:rPr lang="en" sz="1200"/>
              <a:t>The </a:t>
            </a:r>
            <a:r>
              <a:rPr b="1" i="1" lang="en" sz="1200">
                <a:solidFill>
                  <a:srgbClr val="FF0000"/>
                </a:solidFill>
              </a:rPr>
              <a:t>Breadth-First Search</a:t>
            </a:r>
            <a:r>
              <a:rPr lang="en" sz="1200"/>
              <a:t> algorithm would visit each vertex in order based on </a:t>
            </a:r>
            <a:r>
              <a:rPr b="1" i="1" lang="en" sz="1200">
                <a:solidFill>
                  <a:srgbClr val="FF0000"/>
                </a:solidFill>
              </a:rPr>
              <a:t>distance from the start</a:t>
            </a:r>
            <a:r>
              <a:rPr lang="en" sz="1200"/>
              <a:t>.</a:t>
            </a:r>
            <a:endParaRPr sz="1200"/>
          </a:p>
          <a:p>
            <a:pPr indent="-292100" lvl="1" marL="914400" rtl="0" algn="l">
              <a:spcBef>
                <a:spcPts val="0"/>
              </a:spcBef>
              <a:spcAft>
                <a:spcPts val="0"/>
              </a:spcAft>
              <a:buSzPts val="1000"/>
              <a:buChar char="○"/>
            </a:pPr>
            <a:r>
              <a:rPr lang="en" sz="1000"/>
              <a:t>All vertices that are </a:t>
            </a:r>
            <a:r>
              <a:rPr b="1" i="1" lang="en" sz="1000">
                <a:solidFill>
                  <a:srgbClr val="FF0000"/>
                </a:solidFill>
              </a:rPr>
              <a:t>one</a:t>
            </a:r>
            <a:r>
              <a:rPr lang="en" sz="1000">
                <a:solidFill>
                  <a:srgbClr val="FF0000"/>
                </a:solidFill>
              </a:rPr>
              <a:t> edge</a:t>
            </a:r>
            <a:r>
              <a:rPr lang="en" sz="1000"/>
              <a:t> from start, then vertices that are </a:t>
            </a:r>
            <a:r>
              <a:rPr b="1" i="1" lang="en" sz="1000">
                <a:solidFill>
                  <a:srgbClr val="FF0000"/>
                </a:solidFill>
              </a:rPr>
              <a:t>two edges</a:t>
            </a:r>
            <a:r>
              <a:rPr lang="en" sz="1000"/>
              <a:t>, and so on.</a:t>
            </a:r>
            <a:endParaRPr sz="1000"/>
          </a:p>
          <a:p>
            <a:pPr indent="-292100" lvl="1" marL="914400" rtl="0" algn="l">
              <a:spcBef>
                <a:spcPts val="0"/>
              </a:spcBef>
              <a:spcAft>
                <a:spcPts val="0"/>
              </a:spcAft>
              <a:buSzPts val="1000"/>
              <a:buChar char="○"/>
            </a:pPr>
            <a:r>
              <a:rPr lang="en" sz="1000"/>
              <a:t>In order to remain consistent, given the choice between two unexplored vertices, we choose the one that comes </a:t>
            </a:r>
            <a:r>
              <a:rPr b="1" i="1" lang="en" sz="1000">
                <a:solidFill>
                  <a:srgbClr val="FF0000"/>
                </a:solidFill>
              </a:rPr>
              <a:t>first alphabetically</a:t>
            </a:r>
            <a:r>
              <a:rPr lang="en" sz="1000"/>
              <a:t>.</a:t>
            </a:r>
            <a:endParaRPr sz="1000"/>
          </a:p>
          <a:p>
            <a:pPr indent="-292100" lvl="1" marL="914400" rtl="0" algn="l">
              <a:spcBef>
                <a:spcPts val="0"/>
              </a:spcBef>
              <a:spcAft>
                <a:spcPts val="0"/>
              </a:spcAft>
              <a:buSzPts val="1000"/>
              <a:buChar char="○"/>
            </a:pPr>
            <a:r>
              <a:rPr lang="en" sz="1000"/>
              <a:t>The path the BFS would find is therefore </a:t>
            </a:r>
            <a:r>
              <a:rPr b="1" i="1" lang="en" sz="1000">
                <a:solidFill>
                  <a:srgbClr val="FF0000"/>
                </a:solidFill>
              </a:rPr>
              <a:t>A</a:t>
            </a:r>
            <a:r>
              <a:rPr b="1" baseline="-25000" i="1" lang="en" sz="1000">
                <a:solidFill>
                  <a:srgbClr val="FF0000"/>
                </a:solidFill>
              </a:rPr>
              <a:t>4</a:t>
            </a:r>
            <a:r>
              <a:rPr b="1" i="1" lang="en" sz="1000">
                <a:solidFill>
                  <a:srgbClr val="FF0000"/>
                </a:solidFill>
              </a:rPr>
              <a:t>B</a:t>
            </a:r>
            <a:r>
              <a:rPr b="1" baseline="-25000" i="1" lang="en" sz="1000">
                <a:solidFill>
                  <a:srgbClr val="FF0000"/>
                </a:solidFill>
              </a:rPr>
              <a:t>2</a:t>
            </a:r>
            <a:r>
              <a:rPr b="1" i="1" lang="en" sz="1000">
                <a:solidFill>
                  <a:srgbClr val="FF0000"/>
                </a:solidFill>
              </a:rPr>
              <a:t>D</a:t>
            </a:r>
            <a:r>
              <a:rPr b="1" baseline="-25000" i="1" lang="en" sz="1000">
                <a:solidFill>
                  <a:srgbClr val="FF0000"/>
                </a:solidFill>
              </a:rPr>
              <a:t>7</a:t>
            </a:r>
            <a:r>
              <a:rPr b="1" i="1" lang="en" sz="1000">
                <a:solidFill>
                  <a:srgbClr val="FF0000"/>
                </a:solidFill>
              </a:rPr>
              <a:t>F</a:t>
            </a:r>
            <a:r>
              <a:rPr b="1" baseline="-25000" i="1" lang="en" sz="1000">
                <a:solidFill>
                  <a:srgbClr val="FF0000"/>
                </a:solidFill>
              </a:rPr>
              <a:t>10</a:t>
            </a:r>
            <a:r>
              <a:rPr b="1" i="1" lang="en" sz="1000">
                <a:solidFill>
                  <a:srgbClr val="FF0000"/>
                </a:solidFill>
              </a:rPr>
              <a:t>G</a:t>
            </a:r>
            <a:r>
              <a:rPr lang="en" sz="1000"/>
              <a:t> with a total cost of </a:t>
            </a:r>
            <a:r>
              <a:rPr b="1" i="1" lang="en" sz="1000">
                <a:solidFill>
                  <a:srgbClr val="FF0000"/>
                </a:solidFill>
              </a:rPr>
              <a:t>23</a:t>
            </a:r>
            <a:r>
              <a:rPr lang="en" sz="1000"/>
              <a:t>.</a:t>
            </a:r>
            <a:endParaRPr sz="1000"/>
          </a:p>
          <a:p>
            <a:pPr indent="-304800" lvl="0" marL="457200" rtl="0" algn="l">
              <a:spcBef>
                <a:spcPts val="1000"/>
              </a:spcBef>
              <a:spcAft>
                <a:spcPts val="0"/>
              </a:spcAft>
              <a:buSzPts val="1200"/>
              <a:buChar char="●"/>
            </a:pPr>
            <a:r>
              <a:rPr b="1" i="1" lang="en" sz="1200">
                <a:solidFill>
                  <a:srgbClr val="FF0000"/>
                </a:solidFill>
              </a:rPr>
              <a:t>Depth-First Search</a:t>
            </a:r>
            <a:r>
              <a:rPr lang="en" sz="1200"/>
              <a:t> chooses </a:t>
            </a:r>
            <a:r>
              <a:rPr b="1" i="1" lang="en" sz="1200">
                <a:solidFill>
                  <a:srgbClr val="FF0000"/>
                </a:solidFill>
              </a:rPr>
              <a:t>one</a:t>
            </a:r>
            <a:r>
              <a:rPr lang="en" sz="1200"/>
              <a:t> unexplored neighbor and heads </a:t>
            </a:r>
            <a:r>
              <a:rPr b="1" i="1" lang="en" sz="1200">
                <a:solidFill>
                  <a:srgbClr val="FF0000"/>
                </a:solidFill>
              </a:rPr>
              <a:t>deeper</a:t>
            </a:r>
            <a:r>
              <a:rPr lang="en" sz="1200"/>
              <a:t> into the graph.</a:t>
            </a:r>
            <a:endParaRPr sz="1200"/>
          </a:p>
          <a:p>
            <a:pPr indent="-292100" lvl="1" marL="914400" rtl="0" algn="l">
              <a:spcBef>
                <a:spcPts val="0"/>
              </a:spcBef>
              <a:spcAft>
                <a:spcPts val="0"/>
              </a:spcAft>
              <a:buSzPts val="1000"/>
              <a:buChar char="○"/>
            </a:pPr>
            <a:r>
              <a:rPr lang="en" sz="1000"/>
              <a:t>For consistency we also choose the neighbors in </a:t>
            </a:r>
            <a:r>
              <a:rPr b="1" i="1" lang="en" sz="1000">
                <a:solidFill>
                  <a:srgbClr val="FF0000"/>
                </a:solidFill>
              </a:rPr>
              <a:t>alphabetical order</a:t>
            </a:r>
            <a:r>
              <a:rPr lang="en" sz="1000"/>
              <a:t>.</a:t>
            </a:r>
            <a:endParaRPr sz="1000"/>
          </a:p>
          <a:p>
            <a:pPr indent="-292100" lvl="1" marL="914400" rtl="0" algn="l">
              <a:spcBef>
                <a:spcPts val="0"/>
              </a:spcBef>
              <a:spcAft>
                <a:spcPts val="0"/>
              </a:spcAft>
              <a:buSzPts val="1000"/>
              <a:buChar char="○"/>
            </a:pPr>
            <a:r>
              <a:rPr lang="en" sz="1000"/>
              <a:t>The path that </a:t>
            </a:r>
            <a:r>
              <a:rPr b="1" i="1" lang="en" sz="1000">
                <a:solidFill>
                  <a:srgbClr val="FF0000"/>
                </a:solidFill>
              </a:rPr>
              <a:t>DFS</a:t>
            </a:r>
            <a:r>
              <a:rPr lang="en" sz="1000"/>
              <a:t> would find is therefore </a:t>
            </a:r>
            <a:r>
              <a:rPr b="1" i="1" lang="en" sz="1000">
                <a:solidFill>
                  <a:srgbClr val="FF0000"/>
                </a:solidFill>
              </a:rPr>
              <a:t>A</a:t>
            </a:r>
            <a:r>
              <a:rPr b="1" baseline="-25000" i="1" lang="en" sz="1000">
                <a:solidFill>
                  <a:srgbClr val="FF0000"/>
                </a:solidFill>
              </a:rPr>
              <a:t>4</a:t>
            </a:r>
            <a:r>
              <a:rPr b="1" i="1" lang="en" sz="1000">
                <a:solidFill>
                  <a:srgbClr val="FF0000"/>
                </a:solidFill>
              </a:rPr>
              <a:t>B</a:t>
            </a:r>
            <a:r>
              <a:rPr b="1" baseline="-25000" i="1" lang="en" sz="1000">
                <a:solidFill>
                  <a:srgbClr val="FF0000"/>
                </a:solidFill>
              </a:rPr>
              <a:t>2</a:t>
            </a:r>
            <a:r>
              <a:rPr b="1" i="1" lang="en" sz="1000">
                <a:solidFill>
                  <a:srgbClr val="FF0000"/>
                </a:solidFill>
              </a:rPr>
              <a:t>D</a:t>
            </a:r>
            <a:r>
              <a:rPr b="1" baseline="-25000" i="1" lang="en" sz="1000">
                <a:solidFill>
                  <a:srgbClr val="FF0000"/>
                </a:solidFill>
              </a:rPr>
              <a:t>12</a:t>
            </a:r>
            <a:r>
              <a:rPr b="1" i="1" lang="en" sz="1000">
                <a:solidFill>
                  <a:srgbClr val="FF0000"/>
                </a:solidFill>
              </a:rPr>
              <a:t>C</a:t>
            </a:r>
            <a:r>
              <a:rPr b="1" baseline="-25000" i="1" lang="en" sz="1000">
                <a:solidFill>
                  <a:srgbClr val="FF0000"/>
                </a:solidFill>
              </a:rPr>
              <a:t>1</a:t>
            </a:r>
            <a:r>
              <a:rPr b="1" i="1" lang="en" sz="1000">
                <a:solidFill>
                  <a:srgbClr val="FF0000"/>
                </a:solidFill>
              </a:rPr>
              <a:t>E</a:t>
            </a:r>
            <a:r>
              <a:rPr b="1" baseline="-25000" i="1" lang="en" sz="1000">
                <a:solidFill>
                  <a:srgbClr val="FF0000"/>
                </a:solidFill>
              </a:rPr>
              <a:t>2</a:t>
            </a:r>
            <a:r>
              <a:rPr b="1" i="1" lang="en" sz="1000">
                <a:solidFill>
                  <a:srgbClr val="FF0000"/>
                </a:solidFill>
              </a:rPr>
              <a:t>F</a:t>
            </a:r>
            <a:r>
              <a:rPr b="1" baseline="-25000" i="1" lang="en" sz="1000">
                <a:solidFill>
                  <a:srgbClr val="FF0000"/>
                </a:solidFill>
              </a:rPr>
              <a:t>10</a:t>
            </a:r>
            <a:r>
              <a:rPr b="1" i="1" lang="en" sz="1000">
                <a:solidFill>
                  <a:srgbClr val="FF0000"/>
                </a:solidFill>
              </a:rPr>
              <a:t>G</a:t>
            </a:r>
            <a:r>
              <a:rPr lang="en" sz="1000"/>
              <a:t> with a total cost of </a:t>
            </a:r>
            <a:r>
              <a:rPr b="1" i="1" lang="en" sz="1000">
                <a:solidFill>
                  <a:srgbClr val="FF0000"/>
                </a:solidFill>
              </a:rPr>
              <a:t>31</a:t>
            </a:r>
            <a:r>
              <a:rPr lang="en" sz="1000"/>
              <a:t>.</a:t>
            </a:r>
            <a:endParaRPr sz="1000"/>
          </a:p>
          <a:p>
            <a:pPr indent="-304800" lvl="0" marL="457200" rtl="0" algn="l">
              <a:spcBef>
                <a:spcPts val="1000"/>
              </a:spcBef>
              <a:spcAft>
                <a:spcPts val="0"/>
              </a:spcAft>
              <a:buSzPts val="1200"/>
              <a:buChar char="●"/>
            </a:pPr>
            <a:r>
              <a:rPr b="1" i="1" lang="en" sz="1200">
                <a:solidFill>
                  <a:srgbClr val="FF0000"/>
                </a:solidFill>
              </a:rPr>
              <a:t>Nearest Neighbor</a:t>
            </a:r>
            <a:r>
              <a:rPr lang="en" sz="1200"/>
              <a:t> would find the path </a:t>
            </a:r>
            <a:r>
              <a:rPr b="1" i="1" lang="en" sz="1200">
                <a:solidFill>
                  <a:srgbClr val="FF0000"/>
                </a:solidFill>
              </a:rPr>
              <a:t>A</a:t>
            </a:r>
            <a:r>
              <a:rPr b="1" baseline="-25000" i="1" lang="en" sz="1200">
                <a:solidFill>
                  <a:srgbClr val="FF0000"/>
                </a:solidFill>
              </a:rPr>
              <a:t>4</a:t>
            </a:r>
            <a:r>
              <a:rPr b="1" i="1" lang="en" sz="1200">
                <a:solidFill>
                  <a:srgbClr val="FF0000"/>
                </a:solidFill>
              </a:rPr>
              <a:t>B</a:t>
            </a:r>
            <a:r>
              <a:rPr b="1" baseline="-25000" i="1" lang="en" sz="1200">
                <a:solidFill>
                  <a:srgbClr val="FF0000"/>
                </a:solidFill>
              </a:rPr>
              <a:t>1</a:t>
            </a:r>
            <a:r>
              <a:rPr b="1" i="1" lang="en" sz="1200">
                <a:solidFill>
                  <a:srgbClr val="FF0000"/>
                </a:solidFill>
              </a:rPr>
              <a:t>E</a:t>
            </a:r>
            <a:r>
              <a:rPr b="1" baseline="-25000" i="1" lang="en" sz="1200">
                <a:solidFill>
                  <a:srgbClr val="FF0000"/>
                </a:solidFill>
              </a:rPr>
              <a:t>1</a:t>
            </a:r>
            <a:r>
              <a:rPr b="1" i="1" lang="en" sz="1200">
                <a:solidFill>
                  <a:srgbClr val="FF0000"/>
                </a:solidFill>
              </a:rPr>
              <a:t>C</a:t>
            </a:r>
            <a:r>
              <a:rPr b="1" baseline="-25000" i="1" lang="en" sz="1200">
                <a:solidFill>
                  <a:srgbClr val="FF0000"/>
                </a:solidFill>
              </a:rPr>
              <a:t>12</a:t>
            </a:r>
            <a:r>
              <a:rPr b="1" i="1" lang="en" sz="1200">
                <a:solidFill>
                  <a:srgbClr val="FF0000"/>
                </a:solidFill>
              </a:rPr>
              <a:t>D</a:t>
            </a:r>
            <a:r>
              <a:rPr b="1" baseline="-25000" i="1" lang="en" sz="1200">
                <a:solidFill>
                  <a:srgbClr val="FF0000"/>
                </a:solidFill>
              </a:rPr>
              <a:t>7</a:t>
            </a:r>
            <a:r>
              <a:rPr b="1" i="1" lang="en" sz="1200">
                <a:solidFill>
                  <a:srgbClr val="FF0000"/>
                </a:solidFill>
              </a:rPr>
              <a:t>F</a:t>
            </a:r>
            <a:r>
              <a:rPr b="1" baseline="-25000" i="1" lang="en" sz="1200">
                <a:solidFill>
                  <a:srgbClr val="FF0000"/>
                </a:solidFill>
              </a:rPr>
              <a:t>10</a:t>
            </a:r>
            <a:r>
              <a:rPr b="1" i="1" lang="en" sz="1200">
                <a:solidFill>
                  <a:srgbClr val="FF0000"/>
                </a:solidFill>
              </a:rPr>
              <a:t>G</a:t>
            </a:r>
            <a:r>
              <a:rPr lang="en" sz="1200"/>
              <a:t> with a total cost of </a:t>
            </a:r>
            <a:r>
              <a:rPr b="1" i="1" lang="en" sz="1200">
                <a:solidFill>
                  <a:srgbClr val="FF0000"/>
                </a:solidFill>
              </a:rPr>
              <a:t>35</a:t>
            </a:r>
            <a:r>
              <a:rPr lang="en" sz="1200"/>
              <a:t>! </a:t>
            </a:r>
            <a:endParaRPr sz="1200"/>
          </a:p>
          <a:p>
            <a:pPr indent="-304800" lvl="0" marL="457200" rtl="0" algn="l">
              <a:spcBef>
                <a:spcPts val="1000"/>
              </a:spcBef>
              <a:spcAft>
                <a:spcPts val="0"/>
              </a:spcAft>
              <a:buSzPts val="1200"/>
              <a:buChar char="●"/>
            </a:pPr>
            <a:r>
              <a:rPr b="1" i="1" lang="en" sz="1200">
                <a:solidFill>
                  <a:srgbClr val="FF0000"/>
                </a:solidFill>
              </a:rPr>
              <a:t>None </a:t>
            </a:r>
            <a:r>
              <a:rPr lang="en" sz="1200"/>
              <a:t>of our algorithms find the optimal path, which is </a:t>
            </a:r>
            <a:r>
              <a:rPr b="1" i="1" lang="en" sz="1200">
                <a:solidFill>
                  <a:srgbClr val="FF0000"/>
                </a:solidFill>
              </a:rPr>
              <a:t>A</a:t>
            </a:r>
            <a:r>
              <a:rPr b="1" baseline="-25000" i="1" lang="en" sz="1200">
                <a:solidFill>
                  <a:srgbClr val="FF0000"/>
                </a:solidFill>
              </a:rPr>
              <a:t>4</a:t>
            </a:r>
            <a:r>
              <a:rPr b="1" i="1" lang="en" sz="1200">
                <a:solidFill>
                  <a:srgbClr val="FF0000"/>
                </a:solidFill>
              </a:rPr>
              <a:t>B</a:t>
            </a:r>
            <a:r>
              <a:rPr b="1" baseline="-25000" i="1" lang="en" sz="1200">
                <a:solidFill>
                  <a:srgbClr val="FF0000"/>
                </a:solidFill>
              </a:rPr>
              <a:t>1</a:t>
            </a:r>
            <a:r>
              <a:rPr b="1" i="1" lang="en" sz="1200">
                <a:solidFill>
                  <a:srgbClr val="FF0000"/>
                </a:solidFill>
              </a:rPr>
              <a:t>E</a:t>
            </a:r>
            <a:r>
              <a:rPr b="1" baseline="-25000" i="1" lang="en" sz="1200">
                <a:solidFill>
                  <a:srgbClr val="FF0000"/>
                </a:solidFill>
              </a:rPr>
              <a:t>2</a:t>
            </a:r>
            <a:r>
              <a:rPr b="1" i="1" lang="en" sz="1200">
                <a:solidFill>
                  <a:srgbClr val="FF0000"/>
                </a:solidFill>
              </a:rPr>
              <a:t>F</a:t>
            </a:r>
            <a:r>
              <a:rPr b="1" baseline="-25000" i="1" lang="en" sz="1200">
                <a:solidFill>
                  <a:srgbClr val="FF0000"/>
                </a:solidFill>
              </a:rPr>
              <a:t>10</a:t>
            </a:r>
            <a:r>
              <a:rPr b="1" i="1" lang="en" sz="1200">
                <a:solidFill>
                  <a:srgbClr val="FF0000"/>
                </a:solidFill>
              </a:rPr>
              <a:t>G</a:t>
            </a:r>
            <a:r>
              <a:rPr b="1" i="1" lang="en" sz="1200"/>
              <a:t> </a:t>
            </a:r>
            <a:r>
              <a:rPr lang="en" sz="1200"/>
              <a:t>with a total cost </a:t>
            </a:r>
            <a:r>
              <a:rPr lang="en" sz="1200"/>
              <a:t>of </a:t>
            </a:r>
            <a:r>
              <a:rPr b="1" i="1" lang="en" sz="1200">
                <a:solidFill>
                  <a:srgbClr val="FF0000"/>
                </a:solidFill>
              </a:rPr>
              <a:t>17</a:t>
            </a:r>
            <a:r>
              <a:rPr lang="en" sz="1200"/>
              <a:t>.</a:t>
            </a:r>
            <a:endParaRPr sz="1200"/>
          </a:p>
        </p:txBody>
      </p:sp>
      <p:sp>
        <p:nvSpPr>
          <p:cNvPr id="756" name="Google Shape;756;p54"/>
          <p:cNvSpPr txBox="1"/>
          <p:nvPr>
            <p:ph idx="12" type="sldNum"/>
          </p:nvPr>
        </p:nvSpPr>
        <p:spPr>
          <a:xfrm>
            <a:off x="8617100"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57" name="Google Shape;757;p54"/>
          <p:cNvPicPr preferRelativeResize="0"/>
          <p:nvPr/>
        </p:nvPicPr>
        <p:blipFill>
          <a:blip r:embed="rId3">
            <a:alphaModFix/>
          </a:blip>
          <a:stretch>
            <a:fillRect/>
          </a:stretch>
        </p:blipFill>
        <p:spPr>
          <a:xfrm>
            <a:off x="533400" y="834225"/>
            <a:ext cx="3290724" cy="4004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55"/>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63" name="Google Shape;763;p55"/>
          <p:cNvSpPr txBox="1"/>
          <p:nvPr>
            <p:ph type="title"/>
          </p:nvPr>
        </p:nvSpPr>
        <p:spPr>
          <a:xfrm>
            <a:off x="51885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Path Tuple</a:t>
            </a:r>
            <a:endParaRPr/>
          </a:p>
        </p:txBody>
      </p:sp>
      <p:sp>
        <p:nvSpPr>
          <p:cNvPr id="764" name="Google Shape;764;p55"/>
          <p:cNvSpPr txBox="1"/>
          <p:nvPr>
            <p:ph idx="1" type="body"/>
          </p:nvPr>
        </p:nvSpPr>
        <p:spPr>
          <a:xfrm>
            <a:off x="301275" y="196125"/>
            <a:ext cx="4388400" cy="4802400"/>
          </a:xfrm>
          <a:prstGeom prst="rect">
            <a:avLst/>
          </a:prstGeom>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When we implemented </a:t>
            </a:r>
            <a:r>
              <a:rPr b="1" i="1" lang="en">
                <a:solidFill>
                  <a:srgbClr val="FF0000"/>
                </a:solidFill>
              </a:rPr>
              <a:t>breadth-first search</a:t>
            </a:r>
            <a:r>
              <a:rPr lang="en"/>
              <a:t> we used a map to keep track of each vertex </a:t>
            </a:r>
            <a:r>
              <a:rPr b="1" i="1" lang="en">
                <a:solidFill>
                  <a:srgbClr val="FF0000"/>
                </a:solidFill>
              </a:rPr>
              <a:t>V</a:t>
            </a:r>
            <a:r>
              <a:rPr lang="en"/>
              <a:t> and its predecessor.</a:t>
            </a:r>
            <a:endParaRPr/>
          </a:p>
          <a:p>
            <a:pPr indent="-298450" lvl="1" marL="914400" rtl="0" algn="l">
              <a:lnSpc>
                <a:spcPct val="100000"/>
              </a:lnSpc>
              <a:spcBef>
                <a:spcPts val="0"/>
              </a:spcBef>
              <a:spcAft>
                <a:spcPts val="0"/>
              </a:spcAft>
              <a:buSzPts val="1100"/>
              <a:buChar char="○"/>
            </a:pPr>
            <a:r>
              <a:rPr lang="en"/>
              <a:t>The predecessor was </a:t>
            </a:r>
            <a:r>
              <a:rPr b="1" i="1" lang="en">
                <a:solidFill>
                  <a:srgbClr val="FF0000"/>
                </a:solidFill>
              </a:rPr>
              <a:t>always</a:t>
            </a:r>
            <a:r>
              <a:rPr lang="en"/>
              <a:t> the vertex through which we first discovered</a:t>
            </a:r>
            <a:r>
              <a:rPr lang="en">
                <a:solidFill>
                  <a:srgbClr val="FF0000"/>
                </a:solidFill>
              </a:rPr>
              <a:t> </a:t>
            </a:r>
            <a:r>
              <a:rPr b="1" i="1" lang="en">
                <a:solidFill>
                  <a:srgbClr val="FF0000"/>
                </a:solidFill>
              </a:rPr>
              <a:t>V</a:t>
            </a:r>
            <a:r>
              <a:rPr lang="en"/>
              <a:t> as a neighbor.</a:t>
            </a:r>
            <a:endParaRPr/>
          </a:p>
          <a:p>
            <a:pPr indent="-298450" lvl="1" marL="914400" rtl="0" algn="l">
              <a:lnSpc>
                <a:spcPct val="100000"/>
              </a:lnSpc>
              <a:spcBef>
                <a:spcPts val="0"/>
              </a:spcBef>
              <a:spcAft>
                <a:spcPts val="0"/>
              </a:spcAft>
              <a:buSzPts val="1100"/>
              <a:buChar char="○"/>
            </a:pPr>
            <a:r>
              <a:rPr lang="en"/>
              <a:t>This is one way that BFS ensures that the paths that it finds will have the fewest edges.</a:t>
            </a:r>
            <a:endParaRPr/>
          </a:p>
          <a:p>
            <a:pPr indent="-311150" lvl="0" marL="457200" rtl="0" algn="l">
              <a:lnSpc>
                <a:spcPct val="100000"/>
              </a:lnSpc>
              <a:spcBef>
                <a:spcPts val="1000"/>
              </a:spcBef>
              <a:spcAft>
                <a:spcPts val="0"/>
              </a:spcAft>
              <a:buSzPts val="1300"/>
              <a:buChar char="●"/>
            </a:pPr>
            <a:r>
              <a:rPr lang="en"/>
              <a:t>But BFS ignores the </a:t>
            </a:r>
            <a:r>
              <a:rPr b="1" i="1" lang="en">
                <a:solidFill>
                  <a:srgbClr val="FF0000"/>
                </a:solidFill>
              </a:rPr>
              <a:t>cost</a:t>
            </a:r>
            <a:r>
              <a:rPr lang="en">
                <a:solidFill>
                  <a:srgbClr val="FF0000"/>
                </a:solidFill>
              </a:rPr>
              <a:t> </a:t>
            </a:r>
            <a:r>
              <a:rPr lang="en"/>
              <a:t>of the edges between neighbors.</a:t>
            </a:r>
            <a:endParaRPr/>
          </a:p>
          <a:p>
            <a:pPr indent="-298450" lvl="1" marL="914400" rtl="0" algn="l">
              <a:lnSpc>
                <a:spcPct val="100000"/>
              </a:lnSpc>
              <a:spcBef>
                <a:spcPts val="0"/>
              </a:spcBef>
              <a:spcAft>
                <a:spcPts val="0"/>
              </a:spcAft>
              <a:buSzPts val="1100"/>
              <a:buChar char="○"/>
            </a:pPr>
            <a:r>
              <a:rPr lang="en"/>
              <a:t>We have already seen that it will not find the lowest cost path much of the time.</a:t>
            </a:r>
            <a:endParaRPr/>
          </a:p>
          <a:p>
            <a:pPr indent="-311150" lvl="0" marL="457200" rtl="0" algn="l">
              <a:lnSpc>
                <a:spcPct val="100000"/>
              </a:lnSpc>
              <a:spcBef>
                <a:spcPts val="1000"/>
              </a:spcBef>
              <a:spcAft>
                <a:spcPts val="0"/>
              </a:spcAft>
              <a:buSzPts val="1300"/>
              <a:buChar char="●"/>
            </a:pPr>
            <a:r>
              <a:rPr lang="en"/>
              <a:t>Simply keeping track of the predecessor vertex will not be sufficient; we </a:t>
            </a:r>
            <a:r>
              <a:rPr b="1" i="1" lang="en">
                <a:solidFill>
                  <a:srgbClr val="FF0000"/>
                </a:solidFill>
              </a:rPr>
              <a:t>also</a:t>
            </a:r>
            <a:r>
              <a:rPr lang="en">
                <a:solidFill>
                  <a:srgbClr val="FF0000"/>
                </a:solidFill>
              </a:rPr>
              <a:t> </a:t>
            </a:r>
            <a:r>
              <a:rPr lang="en"/>
              <a:t>need to know the </a:t>
            </a:r>
            <a:r>
              <a:rPr b="1" i="1" lang="en">
                <a:solidFill>
                  <a:srgbClr val="FF0000"/>
                </a:solidFill>
              </a:rPr>
              <a:t>total distance</a:t>
            </a:r>
            <a:r>
              <a:rPr lang="en"/>
              <a:t> from the </a:t>
            </a:r>
            <a:r>
              <a:rPr b="1" i="1" lang="en">
                <a:solidFill>
                  <a:srgbClr val="FF0000"/>
                </a:solidFill>
              </a:rPr>
              <a:t>starting vertex</a:t>
            </a:r>
            <a:r>
              <a:rPr lang="en"/>
              <a:t> through that predecessor.</a:t>
            </a:r>
            <a:endParaRPr/>
          </a:p>
          <a:p>
            <a:pPr indent="-311150" lvl="0" marL="457200" rtl="0" algn="l">
              <a:lnSpc>
                <a:spcPct val="100000"/>
              </a:lnSpc>
              <a:spcBef>
                <a:spcPts val="1000"/>
              </a:spcBef>
              <a:spcAft>
                <a:spcPts val="0"/>
              </a:spcAft>
              <a:buSzPts val="1300"/>
              <a:buChar char="●"/>
            </a:pPr>
            <a:r>
              <a:rPr lang="en"/>
              <a:t>This means that we will need a new class to store both pieces of information: a </a:t>
            </a:r>
            <a:r>
              <a:rPr b="1" i="1" lang="en">
                <a:solidFill>
                  <a:srgbClr val="FF0000"/>
                </a:solidFill>
              </a:rPr>
              <a:t>path tuple</a:t>
            </a:r>
            <a:r>
              <a:rPr lang="en"/>
              <a:t>.</a:t>
            </a:r>
            <a:endParaRPr/>
          </a:p>
          <a:p>
            <a:pPr indent="-298450" lvl="1" marL="914400" rtl="0" algn="l">
              <a:lnSpc>
                <a:spcPct val="100000"/>
              </a:lnSpc>
              <a:spcBef>
                <a:spcPts val="0"/>
              </a:spcBef>
              <a:spcAft>
                <a:spcPts val="0"/>
              </a:spcAft>
              <a:buSzPts val="1100"/>
              <a:buChar char="○"/>
            </a:pPr>
            <a:r>
              <a:rPr lang="en"/>
              <a:t>These tuples will be stored as the </a:t>
            </a:r>
            <a:r>
              <a:rPr b="1" i="1" lang="en">
                <a:solidFill>
                  <a:srgbClr val="FF0000"/>
                </a:solidFill>
              </a:rPr>
              <a:t>values</a:t>
            </a:r>
            <a:r>
              <a:rPr lang="en"/>
              <a:t> in a </a:t>
            </a:r>
            <a:r>
              <a:rPr b="1" i="1" lang="en">
                <a:solidFill>
                  <a:srgbClr val="FF0000"/>
                </a:solidFill>
              </a:rPr>
              <a:t>map</a:t>
            </a:r>
            <a:r>
              <a:rPr lang="en"/>
              <a:t> with each vertex as a </a:t>
            </a:r>
            <a:r>
              <a:rPr b="1" i="1" lang="en">
                <a:solidFill>
                  <a:srgbClr val="FF0000"/>
                </a:solidFill>
              </a:rPr>
              <a:t>key</a:t>
            </a:r>
            <a:r>
              <a:rPr lang="en"/>
              <a:t>.</a:t>
            </a:r>
            <a:endParaRPr/>
          </a:p>
          <a:p>
            <a:pPr indent="-298450" lvl="1" marL="914400" rtl="0" algn="l">
              <a:lnSpc>
                <a:spcPct val="100000"/>
              </a:lnSpc>
              <a:spcBef>
                <a:spcPts val="0"/>
              </a:spcBef>
              <a:spcAft>
                <a:spcPts val="0"/>
              </a:spcAft>
              <a:buSzPts val="1100"/>
              <a:buChar char="○"/>
            </a:pPr>
            <a:r>
              <a:rPr lang="en"/>
              <a:t>The starting vertex will begin with a </a:t>
            </a:r>
            <a:r>
              <a:rPr lang="en">
                <a:solidFill>
                  <a:srgbClr val="FF0000"/>
                </a:solidFill>
                <a:latin typeface="Courier New"/>
                <a:ea typeface="Courier New"/>
                <a:cs typeface="Courier New"/>
                <a:sym typeface="Courier New"/>
              </a:rPr>
              <a:t>null</a:t>
            </a:r>
            <a:r>
              <a:rPr lang="en"/>
              <a:t> predecessor and a </a:t>
            </a:r>
            <a:r>
              <a:rPr b="1" i="1" lang="en">
                <a:solidFill>
                  <a:srgbClr val="FF0000"/>
                </a:solidFill>
              </a:rPr>
              <a:t>distance</a:t>
            </a:r>
            <a:r>
              <a:rPr lang="en"/>
              <a:t> of </a:t>
            </a:r>
            <a:r>
              <a:rPr lang="en">
                <a:solidFill>
                  <a:srgbClr val="FF0000"/>
                </a:solidFill>
              </a:rPr>
              <a:t>0</a:t>
            </a:r>
            <a:r>
              <a:rPr lang="en"/>
              <a:t>, e.g. </a:t>
            </a:r>
            <a:r>
              <a:rPr lang="en">
                <a:solidFill>
                  <a:srgbClr val="FF0000"/>
                </a:solidFill>
                <a:latin typeface="Courier New"/>
                <a:ea typeface="Courier New"/>
                <a:cs typeface="Courier New"/>
                <a:sym typeface="Courier New"/>
              </a:rPr>
              <a:t>(null, 0)</a:t>
            </a:r>
            <a:endParaRPr>
              <a:solidFill>
                <a:srgbClr val="FF0000"/>
              </a:solidFill>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t>All other vertices will begin with a </a:t>
            </a:r>
            <a:r>
              <a:rPr lang="en">
                <a:solidFill>
                  <a:srgbClr val="FF0000"/>
                </a:solidFill>
                <a:latin typeface="Courier New"/>
                <a:ea typeface="Courier New"/>
                <a:cs typeface="Courier New"/>
                <a:sym typeface="Courier New"/>
              </a:rPr>
              <a:t>null</a:t>
            </a:r>
            <a:r>
              <a:rPr lang="en"/>
              <a:t> predecessor and a </a:t>
            </a:r>
            <a:r>
              <a:rPr b="1" i="1" lang="en">
                <a:solidFill>
                  <a:srgbClr val="FF0000"/>
                </a:solidFill>
              </a:rPr>
              <a:t>distance</a:t>
            </a:r>
            <a:r>
              <a:rPr lang="en"/>
              <a:t> of </a:t>
            </a:r>
            <a:r>
              <a:rPr b="1" i="1" lang="en">
                <a:solidFill>
                  <a:srgbClr val="FF0000"/>
                </a:solidFill>
              </a:rPr>
              <a:t>infinity</a:t>
            </a:r>
            <a:r>
              <a:rPr lang="en"/>
              <a:t>, e.g. </a:t>
            </a:r>
            <a:r>
              <a:rPr lang="en">
                <a:solidFill>
                  <a:srgbClr val="FF0000"/>
                </a:solidFill>
                <a:latin typeface="Courier New"/>
                <a:ea typeface="Courier New"/>
                <a:cs typeface="Courier New"/>
                <a:sym typeface="Courier New"/>
              </a:rPr>
              <a:t>(null, ∞)</a:t>
            </a:r>
            <a:endParaRPr>
              <a:solidFill>
                <a:srgbClr val="FF0000"/>
              </a:solidFill>
              <a:latin typeface="Courier New"/>
              <a:ea typeface="Courier New"/>
              <a:cs typeface="Courier New"/>
              <a:sym typeface="Courier New"/>
            </a:endParaRPr>
          </a:p>
        </p:txBody>
      </p:sp>
      <p:sp>
        <p:nvSpPr>
          <p:cNvPr id="765" name="Google Shape;765;p55"/>
          <p:cNvSpPr txBox="1"/>
          <p:nvPr>
            <p:ph idx="3" type="body"/>
          </p:nvPr>
        </p:nvSpPr>
        <p:spPr>
          <a:xfrm>
            <a:off x="5192225" y="4089650"/>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As the algorithm runs and each vertex is discovered (or </a:t>
            </a:r>
            <a:r>
              <a:rPr i="1" lang="en"/>
              <a:t>rediscovered</a:t>
            </a:r>
            <a:r>
              <a:rPr lang="en"/>
              <a:t>), the values in the path tuples will be updated to reflect the </a:t>
            </a:r>
            <a:r>
              <a:rPr b="1" i="1" lang="en">
                <a:solidFill>
                  <a:srgbClr val="FF0000"/>
                </a:solidFill>
              </a:rPr>
              <a:t>predecessor vertex</a:t>
            </a:r>
            <a:r>
              <a:rPr lang="en"/>
              <a:t> and </a:t>
            </a:r>
            <a:r>
              <a:rPr b="1" i="1" lang="en">
                <a:solidFill>
                  <a:srgbClr val="FF0000"/>
                </a:solidFill>
              </a:rPr>
              <a:t>shortest known distance</a:t>
            </a:r>
            <a:r>
              <a:rPr lang="en"/>
              <a:t> from start.</a:t>
            </a:r>
            <a:endParaRPr/>
          </a:p>
        </p:txBody>
      </p:sp>
      <p:graphicFrame>
        <p:nvGraphicFramePr>
          <p:cNvPr id="766" name="Google Shape;766;p55"/>
          <p:cNvGraphicFramePr/>
          <p:nvPr/>
        </p:nvGraphicFramePr>
        <p:xfrm>
          <a:off x="5192200" y="819150"/>
          <a:ext cx="3000000" cy="3000000"/>
        </p:xfrm>
        <a:graphic>
          <a:graphicData uri="http://schemas.openxmlformats.org/drawingml/2006/table">
            <a:tbl>
              <a:tblPr>
                <a:noFill/>
                <a:tableStyleId>{89CCAE03-A2B2-4379-B0C2-E101A7E113D6}</a:tableStyleId>
              </a:tblPr>
              <a:tblGrid>
                <a:gridCol w="1851425"/>
                <a:gridCol w="1851425"/>
              </a:tblGrid>
              <a:tr h="381000">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Vertex</a:t>
                      </a:r>
                      <a:endParaRPr>
                        <a:solidFill>
                          <a:srgbClr val="FFFFFF"/>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Path Tuple</a:t>
                      </a:r>
                      <a:endParaRPr>
                        <a:solidFill>
                          <a:srgbClr val="FFFFFF"/>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81000">
                <a:tc>
                  <a:txBody>
                    <a:bodyPr/>
                    <a:lstStyle/>
                    <a:p>
                      <a:pPr indent="0" lvl="0" marL="0" rtl="0" algn="ctr">
                        <a:spcBef>
                          <a:spcPts val="0"/>
                        </a:spcBef>
                        <a:spcAft>
                          <a:spcPts val="0"/>
                        </a:spcAft>
                        <a:buNone/>
                      </a:pPr>
                      <a:r>
                        <a:rPr lang="en">
                          <a:solidFill>
                            <a:srgbClr val="4A86E8"/>
                          </a:solidFill>
                          <a:latin typeface="Consolas"/>
                          <a:ea typeface="Consolas"/>
                          <a:cs typeface="Consolas"/>
                          <a:sym typeface="Consolas"/>
                        </a:rPr>
                        <a:t>A</a:t>
                      </a:r>
                      <a:endParaRPr>
                        <a:solidFill>
                          <a:srgbClr val="4A86E8"/>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4A86E8"/>
                          </a:solidFill>
                          <a:latin typeface="Consolas"/>
                          <a:ea typeface="Consolas"/>
                          <a:cs typeface="Consolas"/>
                          <a:sym typeface="Consolas"/>
                        </a:rPr>
                        <a:t>(null, 0)</a:t>
                      </a:r>
                      <a:endParaRPr>
                        <a:solidFill>
                          <a:srgbClr val="4A86E8"/>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B</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C</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D</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E</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F</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G</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1000"/>
                                        <p:tgtEl>
                                          <p:spTgt spid="765"/>
                                        </p:tgtEl>
                                      </p:cBhvr>
                                    </p:animEffect>
                                  </p:childTnLst>
                                </p:cTn>
                              </p:par>
                              <p:par>
                                <p:cTn fill="hold" nodeType="withEffect" presetClass="entr" presetID="10" presetSubtype="0">
                                  <p:stCondLst>
                                    <p:cond delay="0"/>
                                  </p:stCondLst>
                                  <p:childTnLst>
                                    <p:set>
                                      <p:cBhvr>
                                        <p:cTn dur="1" fill="hold">
                                          <p:stCondLst>
                                            <p:cond delay="0"/>
                                          </p:stCondLst>
                                        </p:cTn>
                                        <p:tgtEl>
                                          <p:spTgt spid="766"/>
                                        </p:tgtEl>
                                        <p:attrNameLst>
                                          <p:attrName>style.visibility</p:attrName>
                                        </p:attrNameLst>
                                      </p:cBhvr>
                                      <p:to>
                                        <p:strVal val="visible"/>
                                      </p:to>
                                    </p:set>
                                    <p:animEffect filter="fade" transition="in">
                                      <p:cBhvr>
                                        <p:cTn dur="1000"/>
                                        <p:tgtEl>
                                          <p:spTgt spid="7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5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a:t>
            </a:r>
            <a:r>
              <a:rPr lang="en"/>
              <a:t>he Path Tuple</a:t>
            </a:r>
            <a:endParaRPr/>
          </a:p>
        </p:txBody>
      </p:sp>
      <p:sp>
        <p:nvSpPr>
          <p:cNvPr id="772" name="Google Shape;772;p56"/>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In order to keep track of the shortest distance to each vertex, we will need a </a:t>
            </a:r>
            <a:r>
              <a:rPr i="1" lang="en"/>
              <a:t>path tuple</a:t>
            </a:r>
            <a:r>
              <a:rPr lang="en"/>
              <a:t> class. This class will keep track of a vertex, its predecessor, and the currently know shortest distance from the start vertex. We will update the predecessor and distance as we find new, shorter paths.</a:t>
            </a:r>
            <a:r>
              <a:rPr lang="en"/>
              <a:t> </a:t>
            </a:r>
            <a:endParaRPr/>
          </a:p>
        </p:txBody>
      </p:sp>
      <p:sp>
        <p:nvSpPr>
          <p:cNvPr id="773" name="Google Shape;773;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4" name="Google Shape;774;p5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.16</a:t>
            </a:r>
            <a:endParaRPr/>
          </a:p>
        </p:txBody>
      </p:sp>
      <p:sp>
        <p:nvSpPr>
          <p:cNvPr id="775" name="Google Shape;775;p56"/>
          <p:cNvSpPr txBox="1"/>
          <p:nvPr/>
        </p:nvSpPr>
        <p:spPr>
          <a:xfrm>
            <a:off x="2860000" y="1746725"/>
            <a:ext cx="5991900" cy="2847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Open the</a:t>
            </a:r>
            <a:r>
              <a:rPr lang="en">
                <a:solidFill>
                  <a:schemeClr val="dk2"/>
                </a:solidFill>
                <a:latin typeface="Roboto"/>
                <a:ea typeface="Roboto"/>
                <a:cs typeface="Roboto"/>
                <a:sym typeface="Roboto"/>
              </a:rPr>
              <a:t> </a:t>
            </a:r>
            <a:r>
              <a:rPr lang="en">
                <a:solidFill>
                  <a:srgbClr val="FF0000"/>
                </a:solidFill>
                <a:latin typeface="Courier New"/>
                <a:ea typeface="Courier New"/>
                <a:cs typeface="Courier New"/>
                <a:sym typeface="Courier New"/>
              </a:rPr>
              <a:t>PathTuple</a:t>
            </a:r>
            <a:r>
              <a:rPr lang="en">
                <a:solidFill>
                  <a:schemeClr val="dk2"/>
                </a:solidFill>
                <a:latin typeface="Roboto"/>
                <a:ea typeface="Roboto"/>
                <a:cs typeface="Roboto"/>
                <a:sym typeface="Roboto"/>
              </a:rPr>
              <a:t> class that has been provided to you in the </a:t>
            </a:r>
            <a:r>
              <a:rPr lang="en">
                <a:solidFill>
                  <a:schemeClr val="dk2"/>
                </a:solidFill>
                <a:latin typeface="Courier New"/>
                <a:ea typeface="Courier New"/>
                <a:cs typeface="Courier New"/>
                <a:sym typeface="Courier New"/>
              </a:rPr>
              <a:t>weighted</a:t>
            </a:r>
            <a:r>
              <a:rPr lang="en">
                <a:solidFill>
                  <a:schemeClr val="dk2"/>
                </a:solidFill>
                <a:latin typeface="Roboto"/>
                <a:ea typeface="Roboto"/>
                <a:cs typeface="Roboto"/>
                <a:sym typeface="Roboto"/>
              </a:rPr>
              <a:t> package. </a:t>
            </a:r>
            <a:endParaRPr>
              <a:solidFill>
                <a:schemeClr val="dk2"/>
              </a:solidFill>
              <a:latin typeface="Roboto"/>
              <a:ea typeface="Roboto"/>
              <a:cs typeface="Roboto"/>
              <a:sym typeface="Roboto"/>
            </a:endParaRPr>
          </a:p>
          <a:p>
            <a:pPr indent="-317500" lvl="0" marL="457200" rtl="0" algn="l">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A </a:t>
            </a:r>
            <a:r>
              <a:rPr lang="en">
                <a:solidFill>
                  <a:schemeClr val="dk2"/>
                </a:solidFill>
                <a:latin typeface="Courier New"/>
                <a:ea typeface="Courier New"/>
                <a:cs typeface="Courier New"/>
                <a:sym typeface="Courier New"/>
              </a:rPr>
              <a:t>PathTuple</a:t>
            </a:r>
            <a:r>
              <a:rPr lang="en">
                <a:solidFill>
                  <a:schemeClr val="dk2"/>
                </a:solidFill>
                <a:latin typeface="Roboto"/>
                <a:ea typeface="Roboto"/>
                <a:cs typeface="Roboto"/>
                <a:sym typeface="Roboto"/>
              </a:rPr>
              <a:t> has </a:t>
            </a:r>
            <a:r>
              <a:rPr b="1" i="1" lang="en">
                <a:solidFill>
                  <a:srgbClr val="FF0000"/>
                </a:solidFill>
                <a:latin typeface="Roboto"/>
                <a:ea typeface="Roboto"/>
                <a:cs typeface="Roboto"/>
                <a:sym typeface="Roboto"/>
              </a:rPr>
              <a:t>three</a:t>
            </a:r>
            <a:r>
              <a:rPr b="1" i="1" lang="en">
                <a:solidFill>
                  <a:schemeClr val="dk2"/>
                </a:solidFill>
                <a:latin typeface="Roboto"/>
                <a:ea typeface="Roboto"/>
                <a:cs typeface="Roboto"/>
                <a:sym typeface="Roboto"/>
              </a:rPr>
              <a:t> </a:t>
            </a:r>
            <a:r>
              <a:rPr lang="en">
                <a:solidFill>
                  <a:schemeClr val="dk2"/>
                </a:solidFill>
                <a:latin typeface="Roboto"/>
                <a:ea typeface="Roboto"/>
                <a:cs typeface="Roboto"/>
                <a:sym typeface="Roboto"/>
              </a:rPr>
              <a:t>essential pieces of information:</a:t>
            </a:r>
            <a:endParaRPr>
              <a:solidFill>
                <a:schemeClr val="dk2"/>
              </a:solidFill>
              <a:latin typeface="Roboto"/>
              <a:ea typeface="Roboto"/>
              <a:cs typeface="Roboto"/>
              <a:sym typeface="Roboto"/>
            </a:endParaRPr>
          </a:p>
          <a:p>
            <a:pPr indent="-304800" lvl="1" marL="9144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A </a:t>
            </a:r>
            <a:r>
              <a:rPr lang="en" sz="1200">
                <a:solidFill>
                  <a:srgbClr val="FF0000"/>
                </a:solidFill>
                <a:latin typeface="Courier New"/>
                <a:ea typeface="Courier New"/>
                <a:cs typeface="Courier New"/>
                <a:sym typeface="Courier New"/>
              </a:rPr>
              <a:t>vertex</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1" marL="9144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Its </a:t>
            </a:r>
            <a:r>
              <a:rPr lang="en" sz="1200">
                <a:solidFill>
                  <a:srgbClr val="FF0000"/>
                </a:solidFill>
                <a:latin typeface="Courier New"/>
                <a:ea typeface="Courier New"/>
                <a:cs typeface="Courier New"/>
                <a:sym typeface="Courier New"/>
              </a:rPr>
              <a:t>predecessor</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1" marL="9144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The </a:t>
            </a:r>
            <a:r>
              <a:rPr b="1" i="1" lang="en" sz="1200">
                <a:solidFill>
                  <a:srgbClr val="FF0000"/>
                </a:solidFill>
                <a:latin typeface="Roboto"/>
                <a:ea typeface="Roboto"/>
                <a:cs typeface="Roboto"/>
                <a:sym typeface="Roboto"/>
              </a:rPr>
              <a:t>currently known</a:t>
            </a:r>
            <a:r>
              <a:rPr lang="en" sz="1200">
                <a:solidFill>
                  <a:schemeClr val="dk2"/>
                </a:solidFill>
                <a:latin typeface="Roboto"/>
                <a:ea typeface="Roboto"/>
                <a:cs typeface="Roboto"/>
                <a:sym typeface="Roboto"/>
              </a:rPr>
              <a:t> shortest </a:t>
            </a:r>
            <a:r>
              <a:rPr lang="en" sz="1200">
                <a:solidFill>
                  <a:srgbClr val="FF0000"/>
                </a:solidFill>
                <a:latin typeface="Courier New"/>
                <a:ea typeface="Courier New"/>
                <a:cs typeface="Courier New"/>
                <a:sym typeface="Courier New"/>
              </a:rPr>
              <a:t>distance</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from the starting vertex.</a:t>
            </a:r>
            <a:endParaRPr sz="1200">
              <a:solidFill>
                <a:schemeClr val="dk2"/>
              </a:solidFill>
              <a:latin typeface="Roboto"/>
              <a:ea typeface="Roboto"/>
              <a:cs typeface="Roboto"/>
              <a:sym typeface="Roboto"/>
            </a:endParaRPr>
          </a:p>
          <a:p>
            <a:pPr indent="-317500" lvl="0" marL="457200" rtl="0" algn="l">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Note that </a:t>
            </a:r>
            <a:r>
              <a:rPr lang="en">
                <a:solidFill>
                  <a:schemeClr val="dk2"/>
                </a:solidFill>
                <a:latin typeface="Roboto"/>
                <a:ea typeface="Roboto"/>
                <a:cs typeface="Roboto"/>
                <a:sym typeface="Roboto"/>
              </a:rPr>
              <a:t>the </a:t>
            </a:r>
            <a:r>
              <a:rPr b="1" i="1" lang="en">
                <a:solidFill>
                  <a:srgbClr val="FF0000"/>
                </a:solidFill>
                <a:latin typeface="Roboto"/>
                <a:ea typeface="Roboto"/>
                <a:cs typeface="Roboto"/>
                <a:sym typeface="Roboto"/>
              </a:rPr>
              <a:t>constructor</a:t>
            </a:r>
            <a:r>
              <a:rPr lang="en">
                <a:solidFill>
                  <a:schemeClr val="dk2"/>
                </a:solidFill>
                <a:latin typeface="Roboto"/>
                <a:ea typeface="Roboto"/>
                <a:cs typeface="Roboto"/>
                <a:sym typeface="Roboto"/>
              </a:rPr>
              <a:t>:</a:t>
            </a:r>
            <a:endParaRPr>
              <a:solidFill>
                <a:schemeClr val="dk2"/>
              </a:solidFill>
              <a:latin typeface="Roboto"/>
              <a:ea typeface="Roboto"/>
              <a:cs typeface="Roboto"/>
              <a:sym typeface="Roboto"/>
            </a:endParaRPr>
          </a:p>
          <a:p>
            <a:pPr indent="-304800" lvl="1" marL="9144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Sets the </a:t>
            </a:r>
            <a:r>
              <a:rPr lang="en" sz="1200">
                <a:solidFill>
                  <a:schemeClr val="dk2"/>
                </a:solidFill>
                <a:latin typeface="Courier New"/>
                <a:ea typeface="Courier New"/>
                <a:cs typeface="Courier New"/>
                <a:sym typeface="Courier New"/>
              </a:rPr>
              <a:t>predecessor</a:t>
            </a:r>
            <a:r>
              <a:rPr lang="en" sz="1200">
                <a:solidFill>
                  <a:schemeClr val="dk2"/>
                </a:solidFill>
                <a:latin typeface="Roboto"/>
                <a:ea typeface="Roboto"/>
                <a:cs typeface="Roboto"/>
                <a:sym typeface="Roboto"/>
              </a:rPr>
              <a:t> to </a:t>
            </a:r>
            <a:r>
              <a:rPr lang="en" sz="1200">
                <a:solidFill>
                  <a:srgbClr val="FF0000"/>
                </a:solidFill>
                <a:latin typeface="Courier New"/>
                <a:ea typeface="Courier New"/>
                <a:cs typeface="Courier New"/>
                <a:sym typeface="Courier New"/>
              </a:rPr>
              <a:t>null</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1" marL="9144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Sets the </a:t>
            </a:r>
            <a:r>
              <a:rPr lang="en" sz="1200">
                <a:solidFill>
                  <a:schemeClr val="dk2"/>
                </a:solidFill>
                <a:latin typeface="Courier New"/>
                <a:ea typeface="Courier New"/>
                <a:cs typeface="Courier New"/>
                <a:sym typeface="Courier New"/>
              </a:rPr>
              <a:t>d</a:t>
            </a:r>
            <a:r>
              <a:rPr lang="en" sz="1200">
                <a:solidFill>
                  <a:schemeClr val="dk2"/>
                </a:solidFill>
                <a:latin typeface="Courier New"/>
                <a:ea typeface="Courier New"/>
                <a:cs typeface="Courier New"/>
                <a:sym typeface="Courier New"/>
              </a:rPr>
              <a:t>istance</a:t>
            </a:r>
            <a:r>
              <a:rPr lang="en" sz="1200">
                <a:solidFill>
                  <a:schemeClr val="dk2"/>
                </a:solidFill>
                <a:latin typeface="Roboto"/>
                <a:ea typeface="Roboto"/>
                <a:cs typeface="Roboto"/>
                <a:sym typeface="Roboto"/>
              </a:rPr>
              <a:t> </a:t>
            </a:r>
            <a:r>
              <a:rPr lang="en" sz="1200">
                <a:solidFill>
                  <a:schemeClr val="dk2"/>
                </a:solidFill>
                <a:latin typeface="Roboto"/>
                <a:ea typeface="Roboto"/>
                <a:cs typeface="Roboto"/>
                <a:sym typeface="Roboto"/>
              </a:rPr>
              <a:t>to</a:t>
            </a:r>
            <a:r>
              <a:rPr lang="en" sz="1200">
                <a:solidFill>
                  <a:srgbClr val="FF0000"/>
                </a:solidFill>
                <a:latin typeface="Roboto"/>
                <a:ea typeface="Roboto"/>
                <a:cs typeface="Roboto"/>
                <a:sym typeface="Roboto"/>
              </a:rPr>
              <a:t> </a:t>
            </a:r>
            <a:r>
              <a:rPr lang="en" sz="1200">
                <a:solidFill>
                  <a:srgbClr val="FF0000"/>
                </a:solidFill>
                <a:latin typeface="Courier New"/>
                <a:ea typeface="Courier New"/>
                <a:cs typeface="Courier New"/>
                <a:sym typeface="Courier New"/>
              </a:rPr>
              <a:t>Double.POSITIVE_INFINITY</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Note that the </a:t>
            </a:r>
            <a:r>
              <a:rPr lang="en" sz="1200">
                <a:solidFill>
                  <a:srgbClr val="FF0000"/>
                </a:solidFill>
                <a:latin typeface="Courier New"/>
                <a:ea typeface="Courier New"/>
                <a:cs typeface="Courier New"/>
                <a:sym typeface="Courier New"/>
              </a:rPr>
              <a:t>update</a:t>
            </a:r>
            <a:r>
              <a:rPr lang="en" sz="1200">
                <a:solidFill>
                  <a:schemeClr val="dk2"/>
                </a:solidFill>
                <a:latin typeface="Roboto"/>
                <a:ea typeface="Roboto"/>
                <a:cs typeface="Roboto"/>
                <a:sym typeface="Roboto"/>
              </a:rPr>
              <a:t> method will ignore the update if the updated distance is not less than the current distance.</a:t>
            </a:r>
            <a:endParaRPr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If you have any questions, </a:t>
            </a:r>
            <a:r>
              <a:rPr b="1" i="1" lang="en" sz="1200">
                <a:solidFill>
                  <a:srgbClr val="FF0000"/>
                </a:solidFill>
                <a:latin typeface="Roboto"/>
                <a:ea typeface="Roboto"/>
                <a:cs typeface="Roboto"/>
                <a:sym typeface="Roboto"/>
              </a:rPr>
              <a:t>raise your hand!</a:t>
            </a:r>
            <a:endParaRPr b="1" i="1" sz="1200">
              <a:solidFill>
                <a:srgbClr val="FF0000"/>
              </a:solidFill>
              <a:latin typeface="Roboto"/>
              <a:ea typeface="Roboto"/>
              <a:cs typeface="Roboto"/>
              <a:sym typeface="Roboto"/>
            </a:endParaRPr>
          </a:p>
        </p:txBody>
      </p:sp>
      <p:pic>
        <p:nvPicPr>
          <p:cNvPr id="776" name="Google Shape;776;p56"/>
          <p:cNvPicPr preferRelativeResize="0"/>
          <p:nvPr/>
        </p:nvPicPr>
        <p:blipFill>
          <a:blip r:embed="rId3">
            <a:alphaModFix/>
          </a:blip>
          <a:stretch>
            <a:fillRect/>
          </a:stretch>
        </p:blipFill>
        <p:spPr>
          <a:xfrm>
            <a:off x="152400" y="1805325"/>
            <a:ext cx="2707601" cy="257379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57"/>
          <p:cNvSpPr txBox="1"/>
          <p:nvPr>
            <p:ph type="title"/>
          </p:nvPr>
        </p:nvSpPr>
        <p:spPr>
          <a:xfrm>
            <a:off x="5188525" y="437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Priority Queue </a:t>
            </a:r>
            <a:endParaRPr/>
          </a:p>
        </p:txBody>
      </p:sp>
      <p:sp>
        <p:nvSpPr>
          <p:cNvPr id="782" name="Google Shape;782;p57"/>
          <p:cNvSpPr txBox="1"/>
          <p:nvPr>
            <p:ph idx="1" type="body"/>
          </p:nvPr>
        </p:nvSpPr>
        <p:spPr>
          <a:xfrm>
            <a:off x="453675" y="119925"/>
            <a:ext cx="4166400" cy="4858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The search algorithms that we have implemented so far all have different ways of choosing which vertex is </a:t>
            </a:r>
            <a:r>
              <a:rPr b="1" i="1" lang="en">
                <a:solidFill>
                  <a:srgbClr val="FF0000"/>
                </a:solidFill>
              </a:rPr>
              <a:t>next</a:t>
            </a:r>
            <a:r>
              <a:rPr lang="en"/>
              <a:t>.</a:t>
            </a:r>
            <a:endParaRPr/>
          </a:p>
          <a:p>
            <a:pPr indent="-298450" lvl="1" marL="914400" rtl="0" algn="l">
              <a:spcBef>
                <a:spcPts val="0"/>
              </a:spcBef>
              <a:spcAft>
                <a:spcPts val="0"/>
              </a:spcAft>
              <a:buSzPts val="1100"/>
              <a:buChar char="○"/>
            </a:pPr>
            <a:r>
              <a:rPr b="1" i="1" lang="en">
                <a:solidFill>
                  <a:srgbClr val="FF0000"/>
                </a:solidFill>
              </a:rPr>
              <a:t>BFS</a:t>
            </a:r>
            <a:r>
              <a:rPr lang="en">
                <a:solidFill>
                  <a:srgbClr val="FF0000"/>
                </a:solidFill>
              </a:rPr>
              <a:t> </a:t>
            </a:r>
            <a:r>
              <a:rPr lang="en"/>
              <a:t>chooses the next vertex from a </a:t>
            </a:r>
            <a:r>
              <a:rPr b="1" i="1" lang="en">
                <a:solidFill>
                  <a:srgbClr val="FF0000"/>
                </a:solidFill>
              </a:rPr>
              <a:t>queue</a:t>
            </a:r>
            <a:r>
              <a:rPr lang="en"/>
              <a:t>.</a:t>
            </a:r>
            <a:endParaRPr/>
          </a:p>
          <a:p>
            <a:pPr indent="-298450" lvl="1" marL="914400" rtl="0" algn="l">
              <a:spcBef>
                <a:spcPts val="0"/>
              </a:spcBef>
              <a:spcAft>
                <a:spcPts val="0"/>
              </a:spcAft>
              <a:buSzPts val="1100"/>
              <a:buChar char="○"/>
            </a:pPr>
            <a:r>
              <a:rPr b="1" i="1" lang="en">
                <a:solidFill>
                  <a:srgbClr val="FF0000"/>
                </a:solidFill>
              </a:rPr>
              <a:t>DFS</a:t>
            </a:r>
            <a:r>
              <a:rPr lang="en">
                <a:solidFill>
                  <a:srgbClr val="FF0000"/>
                </a:solidFill>
              </a:rPr>
              <a:t> </a:t>
            </a:r>
            <a:r>
              <a:rPr lang="en"/>
              <a:t>chooses </a:t>
            </a:r>
            <a:r>
              <a:rPr b="1" i="1" lang="en">
                <a:solidFill>
                  <a:srgbClr val="FF0000"/>
                </a:solidFill>
              </a:rPr>
              <a:t>any</a:t>
            </a:r>
            <a:r>
              <a:rPr lang="en">
                <a:solidFill>
                  <a:srgbClr val="FF0000"/>
                </a:solidFill>
              </a:rPr>
              <a:t> </a:t>
            </a:r>
            <a:r>
              <a:rPr lang="en"/>
              <a:t>unexplored neighbor of the </a:t>
            </a:r>
            <a:r>
              <a:rPr b="1" i="1" lang="en">
                <a:solidFill>
                  <a:srgbClr val="FF0000"/>
                </a:solidFill>
              </a:rPr>
              <a:t>current vertex</a:t>
            </a:r>
            <a:r>
              <a:rPr lang="en"/>
              <a:t>.</a:t>
            </a:r>
            <a:endParaRPr/>
          </a:p>
          <a:p>
            <a:pPr indent="-298450" lvl="1" marL="914400" rtl="0" algn="l">
              <a:spcBef>
                <a:spcPts val="0"/>
              </a:spcBef>
              <a:spcAft>
                <a:spcPts val="0"/>
              </a:spcAft>
              <a:buSzPts val="1100"/>
              <a:buChar char="○"/>
            </a:pPr>
            <a:r>
              <a:rPr b="1" i="1" lang="en">
                <a:solidFill>
                  <a:srgbClr val="FF0000"/>
                </a:solidFill>
              </a:rPr>
              <a:t>Nearest Neighbor</a:t>
            </a:r>
            <a:r>
              <a:rPr lang="en">
                <a:solidFill>
                  <a:srgbClr val="FF0000"/>
                </a:solidFill>
              </a:rPr>
              <a:t> </a:t>
            </a:r>
            <a:r>
              <a:rPr lang="en"/>
              <a:t>chooses the neighbor with the </a:t>
            </a:r>
            <a:r>
              <a:rPr b="1" i="1" lang="en">
                <a:solidFill>
                  <a:srgbClr val="FF0000"/>
                </a:solidFill>
              </a:rPr>
              <a:t>shortest distance</a:t>
            </a:r>
            <a:r>
              <a:rPr lang="en"/>
              <a:t> from the </a:t>
            </a:r>
            <a:r>
              <a:rPr b="1" i="1" lang="en">
                <a:solidFill>
                  <a:srgbClr val="FF0000"/>
                </a:solidFill>
              </a:rPr>
              <a:t>current vertex</a:t>
            </a:r>
            <a:r>
              <a:rPr lang="en"/>
              <a:t>.</a:t>
            </a:r>
            <a:endParaRPr/>
          </a:p>
          <a:p>
            <a:pPr indent="-311150" lvl="0" marL="457200" rtl="0" algn="l">
              <a:spcBef>
                <a:spcPts val="1000"/>
              </a:spcBef>
              <a:spcAft>
                <a:spcPts val="0"/>
              </a:spcAft>
              <a:buSzPts val="1300"/>
              <a:buChar char="●"/>
            </a:pPr>
            <a:r>
              <a:rPr lang="en"/>
              <a:t>Dijkstra's Algorithm has its own way of choosing the next vertex: it will always choose the vertex that has the </a:t>
            </a:r>
            <a:r>
              <a:rPr b="1" i="1" lang="en">
                <a:solidFill>
                  <a:srgbClr val="FF0000"/>
                </a:solidFill>
              </a:rPr>
              <a:t>shortest distance </a:t>
            </a:r>
            <a:r>
              <a:rPr lang="en"/>
              <a:t>from the</a:t>
            </a:r>
            <a:r>
              <a:rPr b="1" i="1" lang="en"/>
              <a:t> </a:t>
            </a:r>
            <a:r>
              <a:rPr b="1" i="1" lang="en">
                <a:solidFill>
                  <a:srgbClr val="FF0000"/>
                </a:solidFill>
              </a:rPr>
              <a:t>starting vertex</a:t>
            </a:r>
            <a:r>
              <a:rPr lang="en"/>
              <a:t>.</a:t>
            </a:r>
            <a:endParaRPr/>
          </a:p>
          <a:p>
            <a:pPr indent="-298450" lvl="1" marL="914400" rtl="0" algn="l">
              <a:spcBef>
                <a:spcPts val="0"/>
              </a:spcBef>
              <a:spcAft>
                <a:spcPts val="0"/>
              </a:spcAft>
              <a:buSzPts val="1100"/>
              <a:buChar char="○"/>
            </a:pPr>
            <a:r>
              <a:rPr lang="en"/>
              <a:t>Remember, each vertex has a </a:t>
            </a:r>
            <a:r>
              <a:rPr b="1" i="1" lang="en">
                <a:solidFill>
                  <a:srgbClr val="FF0000"/>
                </a:solidFill>
              </a:rPr>
              <a:t>path tuple</a:t>
            </a:r>
            <a:r>
              <a:rPr lang="en">
                <a:solidFill>
                  <a:srgbClr val="FF0000"/>
                </a:solidFill>
              </a:rPr>
              <a:t> </a:t>
            </a:r>
            <a:r>
              <a:rPr lang="en"/>
              <a:t>that keeps track of its </a:t>
            </a:r>
            <a:r>
              <a:rPr b="1" i="1" lang="en">
                <a:solidFill>
                  <a:srgbClr val="FF0000"/>
                </a:solidFill>
              </a:rPr>
              <a:t>predecessor</a:t>
            </a:r>
            <a:r>
              <a:rPr lang="en">
                <a:solidFill>
                  <a:srgbClr val="FF0000"/>
                </a:solidFill>
              </a:rPr>
              <a:t> </a:t>
            </a:r>
            <a:r>
              <a:rPr lang="en"/>
              <a:t>and the </a:t>
            </a:r>
            <a:r>
              <a:rPr b="1" i="1" lang="en">
                <a:solidFill>
                  <a:srgbClr val="FF0000"/>
                </a:solidFill>
              </a:rPr>
              <a:t>total distance </a:t>
            </a:r>
            <a:r>
              <a:rPr lang="en"/>
              <a:t>from the</a:t>
            </a:r>
            <a:r>
              <a:rPr b="1" i="1" lang="en"/>
              <a:t> </a:t>
            </a:r>
            <a:r>
              <a:rPr b="1" i="1" lang="en">
                <a:solidFill>
                  <a:srgbClr val="FF0000"/>
                </a:solidFill>
              </a:rPr>
              <a:t>starting vertex</a:t>
            </a:r>
            <a:r>
              <a:rPr lang="en"/>
              <a:t>.</a:t>
            </a:r>
            <a:endParaRPr/>
          </a:p>
          <a:p>
            <a:pPr indent="-298450" lvl="1" marL="914400" rtl="0" algn="l">
              <a:spcBef>
                <a:spcPts val="0"/>
              </a:spcBef>
              <a:spcAft>
                <a:spcPts val="0"/>
              </a:spcAft>
              <a:buSzPts val="1100"/>
              <a:buChar char="○"/>
            </a:pPr>
            <a:r>
              <a:rPr lang="en"/>
              <a:t>We'll use this information to pick the next closest vertex each time.</a:t>
            </a:r>
            <a:endParaRPr/>
          </a:p>
          <a:p>
            <a:pPr indent="-311150" lvl="0" marL="457200" rtl="0" algn="l">
              <a:spcBef>
                <a:spcPts val="1000"/>
              </a:spcBef>
              <a:spcAft>
                <a:spcPts val="0"/>
              </a:spcAft>
              <a:buSzPts val="1300"/>
              <a:buChar char="●"/>
            </a:pPr>
            <a:r>
              <a:rPr lang="en"/>
              <a:t>We will need a data structure to store the path tuples in such a way that we can find the next closest one.</a:t>
            </a:r>
            <a:endParaRPr/>
          </a:p>
          <a:p>
            <a:pPr indent="-298450" lvl="1" marL="914400" rtl="0" algn="l">
              <a:spcBef>
                <a:spcPts val="0"/>
              </a:spcBef>
              <a:spcAft>
                <a:spcPts val="0"/>
              </a:spcAft>
              <a:buSzPts val="1100"/>
              <a:buChar char="○"/>
            </a:pPr>
            <a:r>
              <a:rPr lang="en"/>
              <a:t>This sounds like a </a:t>
            </a:r>
            <a:r>
              <a:rPr b="1" i="1" lang="en">
                <a:solidFill>
                  <a:srgbClr val="FF0000"/>
                </a:solidFill>
              </a:rPr>
              <a:t>priority queue</a:t>
            </a:r>
            <a:r>
              <a:rPr lang="en"/>
              <a:t> of path tuples!</a:t>
            </a:r>
            <a:endParaRPr b="1" i="1"/>
          </a:p>
        </p:txBody>
      </p:sp>
      <p:sp>
        <p:nvSpPr>
          <p:cNvPr id="783" name="Google Shape;783;p5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84" name="Google Shape;784;p57"/>
          <p:cNvSpPr txBox="1"/>
          <p:nvPr>
            <p:ph idx="3" type="body"/>
          </p:nvPr>
        </p:nvSpPr>
        <p:spPr>
          <a:xfrm>
            <a:off x="5192225" y="4335950"/>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 begin with, the </a:t>
            </a:r>
            <a:r>
              <a:rPr b="1" i="1" lang="en">
                <a:solidFill>
                  <a:srgbClr val="FF0000"/>
                </a:solidFill>
              </a:rPr>
              <a:t>only vertex</a:t>
            </a:r>
            <a:r>
              <a:rPr lang="en"/>
              <a:t> with a distance that is less than </a:t>
            </a:r>
            <a:r>
              <a:rPr b="1" i="1" lang="en">
                <a:solidFill>
                  <a:srgbClr val="FF0000"/>
                </a:solidFill>
              </a:rPr>
              <a:t>infinity</a:t>
            </a:r>
            <a:r>
              <a:rPr lang="en">
                <a:solidFill>
                  <a:srgbClr val="FF0000"/>
                </a:solidFill>
              </a:rPr>
              <a:t> </a:t>
            </a:r>
            <a:r>
              <a:rPr lang="en"/>
              <a:t>is the </a:t>
            </a:r>
            <a:r>
              <a:rPr b="1" i="1" lang="en">
                <a:solidFill>
                  <a:srgbClr val="FF0000"/>
                </a:solidFill>
              </a:rPr>
              <a:t>starting vertex</a:t>
            </a:r>
            <a:r>
              <a:rPr lang="en"/>
              <a:t>, and so it will always be returned first.</a:t>
            </a:r>
            <a:endParaRPr/>
          </a:p>
        </p:txBody>
      </p:sp>
      <p:pic>
        <p:nvPicPr>
          <p:cNvPr id="785" name="Google Shape;785;p57"/>
          <p:cNvPicPr preferRelativeResize="0"/>
          <p:nvPr/>
        </p:nvPicPr>
        <p:blipFill>
          <a:blip r:embed="rId3">
            <a:alphaModFix/>
          </a:blip>
          <a:stretch>
            <a:fillRect/>
          </a:stretch>
        </p:blipFill>
        <p:spPr>
          <a:xfrm>
            <a:off x="6042225" y="681825"/>
            <a:ext cx="1935275" cy="2355025"/>
          </a:xfrm>
          <a:prstGeom prst="rect">
            <a:avLst/>
          </a:prstGeom>
          <a:noFill/>
          <a:ln>
            <a:noFill/>
          </a:ln>
        </p:spPr>
      </p:pic>
      <p:sp>
        <p:nvSpPr>
          <p:cNvPr id="786" name="Google Shape;786;p57"/>
          <p:cNvSpPr txBox="1"/>
          <p:nvPr/>
        </p:nvSpPr>
        <p:spPr>
          <a:xfrm>
            <a:off x="5192225" y="3058252"/>
            <a:ext cx="3706500" cy="1200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787" name="Google Shape;787;p57"/>
          <p:cNvSpPr txBox="1"/>
          <p:nvPr/>
        </p:nvSpPr>
        <p:spPr>
          <a:xfrm>
            <a:off x="5496475" y="3154475"/>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788" name="Google Shape;788;p57"/>
          <p:cNvSpPr txBox="1"/>
          <p:nvPr/>
        </p:nvSpPr>
        <p:spPr>
          <a:xfrm>
            <a:off x="7659850" y="3591518"/>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89" name="Google Shape;789;p57"/>
          <p:cNvSpPr txBox="1"/>
          <p:nvPr/>
        </p:nvSpPr>
        <p:spPr>
          <a:xfrm>
            <a:off x="7736050" y="33372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0" name="Google Shape;790;p57"/>
          <p:cNvSpPr txBox="1"/>
          <p:nvPr/>
        </p:nvSpPr>
        <p:spPr>
          <a:xfrm>
            <a:off x="5221450" y="3851312"/>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1" name="Google Shape;791;p57"/>
          <p:cNvSpPr txBox="1"/>
          <p:nvPr/>
        </p:nvSpPr>
        <p:spPr>
          <a:xfrm>
            <a:off x="7812250" y="3102171"/>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2" name="Google Shape;792;p57"/>
          <p:cNvSpPr txBox="1"/>
          <p:nvPr/>
        </p:nvSpPr>
        <p:spPr>
          <a:xfrm>
            <a:off x="6440650" y="3241712"/>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3" name="Google Shape;793;p57"/>
          <p:cNvSpPr txBox="1"/>
          <p:nvPr/>
        </p:nvSpPr>
        <p:spPr>
          <a:xfrm>
            <a:off x="6669250" y="3832024"/>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4" name="Google Shape;794;p57"/>
          <p:cNvSpPr txBox="1"/>
          <p:nvPr/>
        </p:nvSpPr>
        <p:spPr>
          <a:xfrm>
            <a:off x="6516850" y="3546512"/>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H:(null,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5" name="Google Shape;795;p57"/>
          <p:cNvSpPr txBox="1"/>
          <p:nvPr/>
        </p:nvSpPr>
        <p:spPr>
          <a:xfrm>
            <a:off x="7888450" y="3851312"/>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I:(null,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6" name="Google Shape;796;p57"/>
          <p:cNvSpPr txBox="1"/>
          <p:nvPr/>
        </p:nvSpPr>
        <p:spPr>
          <a:xfrm>
            <a:off x="5602450" y="3622712"/>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J:(null,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7" name="Google Shape;797;p57"/>
          <p:cNvSpPr txBox="1"/>
          <p:nvPr/>
        </p:nvSpPr>
        <p:spPr>
          <a:xfrm>
            <a:off x="5221450" y="3394112"/>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K:(null,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1000"/>
                                        <p:tgtEl>
                                          <p:spTgt spid="7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1000"/>
                                        <p:tgtEl>
                                          <p:spTgt spid="78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89"/>
                                        </p:tgtEl>
                                        <p:attrNameLst>
                                          <p:attrName>style.visibility</p:attrName>
                                        </p:attrNameLst>
                                      </p:cBhvr>
                                      <p:to>
                                        <p:strVal val="visible"/>
                                      </p:to>
                                    </p:set>
                                    <p:animEffect filter="fade" transition="in">
                                      <p:cBhvr>
                                        <p:cTn dur="1000"/>
                                        <p:tgtEl>
                                          <p:spTgt spid="78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1000"/>
                                        <p:tgtEl>
                                          <p:spTgt spid="78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790"/>
                                        </p:tgtEl>
                                        <p:attrNameLst>
                                          <p:attrName>style.visibility</p:attrName>
                                        </p:attrNameLst>
                                      </p:cBhvr>
                                      <p:to>
                                        <p:strVal val="visible"/>
                                      </p:to>
                                    </p:set>
                                    <p:animEffect filter="fade" transition="in">
                                      <p:cBhvr>
                                        <p:cTn dur="1000"/>
                                        <p:tgtEl>
                                          <p:spTgt spid="790"/>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1000"/>
                                        <p:tgtEl>
                                          <p:spTgt spid="791"/>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1000"/>
                                        <p:tgtEl>
                                          <p:spTgt spid="792"/>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1000"/>
                                        <p:tgtEl>
                                          <p:spTgt spid="793"/>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1000"/>
                                        <p:tgtEl>
                                          <p:spTgt spid="794"/>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1000"/>
                                        <p:tgtEl>
                                          <p:spTgt spid="795"/>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1000"/>
                                        <p:tgtEl>
                                          <p:spTgt spid="796"/>
                                        </p:tgtEl>
                                      </p:cBhvr>
                                    </p:animEffect>
                                  </p:childTnLst>
                                </p:cTn>
                              </p:par>
                            </p:childTnLst>
                          </p:cTn>
                        </p:par>
                        <p:par>
                          <p:cTn fill="hold">
                            <p:stCondLst>
                              <p:cond delay="11000"/>
                            </p:stCondLst>
                            <p:childTnLst>
                              <p:par>
                                <p:cTn fill="hold" nodeType="after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000"/>
                                        <p:tgtEl>
                                          <p:spTgt spid="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4"/>
                                        </p:tgtEl>
                                        <p:attrNameLst>
                                          <p:attrName>style.visibility</p:attrName>
                                        </p:attrNameLst>
                                      </p:cBhvr>
                                      <p:to>
                                        <p:strVal val="visible"/>
                                      </p:to>
                                    </p:set>
                                    <p:animEffect filter="fade" transition="in">
                                      <p:cBhvr>
                                        <p:cTn dur="1000"/>
                                        <p:tgtEl>
                                          <p:spTgt spid="7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graphicFrame>
        <p:nvGraphicFramePr>
          <p:cNvPr id="802" name="Google Shape;802;p58"/>
          <p:cNvGraphicFramePr/>
          <p:nvPr/>
        </p:nvGraphicFramePr>
        <p:xfrm>
          <a:off x="131500" y="4292424"/>
          <a:ext cx="3000000" cy="3000000"/>
        </p:xfrm>
        <a:graphic>
          <a:graphicData uri="http://schemas.openxmlformats.org/drawingml/2006/table">
            <a:tbl>
              <a:tblPr>
                <a:noFill/>
                <a:tableStyleId>{89CCAE03-A2B2-4379-B0C2-E101A7E113D6}</a:tableStyleId>
              </a:tblPr>
              <a:tblGrid>
                <a:gridCol w="802250"/>
                <a:gridCol w="802250"/>
                <a:gridCol w="802250"/>
                <a:gridCol w="802250"/>
                <a:gridCol w="802250"/>
                <a:gridCol w="802250"/>
                <a:gridCol w="802250"/>
                <a:gridCol w="802250"/>
                <a:gridCol w="802250"/>
                <a:gridCol w="802250"/>
                <a:gridCol w="802250"/>
              </a:tblGrid>
              <a:tr h="381000">
                <a:tc>
                  <a:txBody>
                    <a:bodyPr/>
                    <a:lstStyle/>
                    <a:p>
                      <a:pPr indent="0" lvl="0" marL="0" rtl="0" algn="ctr">
                        <a:spcBef>
                          <a:spcPts val="0"/>
                        </a:spcBef>
                        <a:spcAft>
                          <a:spcPts val="0"/>
                        </a:spcAft>
                        <a:buNone/>
                      </a:pPr>
                      <a:r>
                        <a:rPr lang="en" sz="1000">
                          <a:solidFill>
                            <a:srgbClr val="4A86E8"/>
                          </a:solidFill>
                        </a:rPr>
                        <a:t>A:(null, 0)</a:t>
                      </a:r>
                      <a:endParaRPr sz="1000">
                        <a:solidFill>
                          <a:srgbClr val="4A86E8"/>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F:(null,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H:(null,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D:(null,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J:(null,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C:(null,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G:(null,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B:(null,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I:(null,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E:(null,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K:(null,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03" name="Google Shape;803;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4" name="Google Shape;804;p5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Unfortunately...Java's Priority Queue Won't Work</a:t>
            </a:r>
            <a:endParaRPr sz="2700"/>
          </a:p>
        </p:txBody>
      </p:sp>
      <p:graphicFrame>
        <p:nvGraphicFramePr>
          <p:cNvPr id="805" name="Google Shape;805;p58"/>
          <p:cNvGraphicFramePr/>
          <p:nvPr/>
        </p:nvGraphicFramePr>
        <p:xfrm>
          <a:off x="131500" y="2349800"/>
          <a:ext cx="3000000" cy="3000000"/>
        </p:xfrm>
        <a:graphic>
          <a:graphicData uri="http://schemas.openxmlformats.org/drawingml/2006/table">
            <a:tbl>
              <a:tblPr>
                <a:noFill/>
                <a:tableStyleId>{89CCAE03-A2B2-4379-B0C2-E101A7E113D6}</a:tableStyleId>
              </a:tblPr>
              <a:tblGrid>
                <a:gridCol w="802250"/>
                <a:gridCol w="802250"/>
                <a:gridCol w="802250"/>
                <a:gridCol w="802250"/>
                <a:gridCol w="802250"/>
                <a:gridCol w="802250"/>
                <a:gridCol w="802250"/>
                <a:gridCol w="802250"/>
                <a:gridCol w="802250"/>
                <a:gridCol w="802250"/>
                <a:gridCol w="802250"/>
              </a:tblGrid>
              <a:tr h="381000">
                <a:tc>
                  <a:txBody>
                    <a:bodyPr/>
                    <a:lstStyle/>
                    <a:p>
                      <a:pPr indent="0" lvl="0" marL="0" rtl="0" algn="ctr">
                        <a:spcBef>
                          <a:spcPts val="0"/>
                        </a:spcBef>
                        <a:spcAft>
                          <a:spcPts val="0"/>
                        </a:spcAft>
                        <a:buNone/>
                      </a:pPr>
                      <a:r>
                        <a:rPr lang="en" sz="1000">
                          <a:solidFill>
                            <a:srgbClr val="4A86E8"/>
                          </a:solidFill>
                        </a:rPr>
                        <a:t>A:(null, 0)</a:t>
                      </a:r>
                      <a:endParaRPr sz="1000">
                        <a:solidFill>
                          <a:srgbClr val="4A86E8"/>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F:(null,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H:(null,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D:(null,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J:(null,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C:(null,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G:(null,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B:(null,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I:(null,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E:(null,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rgbClr val="FF0000"/>
                          </a:solidFill>
                        </a:rPr>
                        <a:t>K:(null, ∞)</a:t>
                      </a:r>
                      <a:endParaRPr sz="1000">
                        <a:solidFill>
                          <a:srgbClr val="FF0000"/>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06" name="Google Shape;806;p58"/>
          <p:cNvSpPr txBox="1"/>
          <p:nvPr>
            <p:ph idx="4294967295" type="body"/>
          </p:nvPr>
        </p:nvSpPr>
        <p:spPr>
          <a:xfrm>
            <a:off x="131450" y="1403200"/>
            <a:ext cx="2863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Java's </a:t>
            </a:r>
            <a:r>
              <a:rPr lang="en" sz="1200" u="sng">
                <a:solidFill>
                  <a:srgbClr val="4A86E8"/>
                </a:solidFill>
                <a:latin typeface="Courier New"/>
                <a:ea typeface="Courier New"/>
                <a:cs typeface="Courier New"/>
                <a:sym typeface="Courier New"/>
                <a:hlinkClick r:id="rId3">
                  <a:extLst>
                    <a:ext uri="{A12FA001-AC4F-418D-AE19-62706E023703}">
                      <ahyp:hlinkClr val="tx"/>
                    </a:ext>
                  </a:extLst>
                </a:hlinkClick>
              </a:rPr>
              <a:t>PriorityQueue</a:t>
            </a:r>
            <a:r>
              <a:rPr lang="en" sz="1200">
                <a:solidFill>
                  <a:srgbClr val="000000"/>
                </a:solidFill>
                <a:latin typeface="Arial"/>
                <a:ea typeface="Arial"/>
                <a:cs typeface="Arial"/>
                <a:sym typeface="Arial"/>
              </a:rPr>
              <a:t> internally uses an array-based </a:t>
            </a:r>
            <a:r>
              <a:rPr b="1" i="1" lang="en" sz="1200">
                <a:solidFill>
                  <a:srgbClr val="FF0000"/>
                </a:solidFill>
                <a:latin typeface="Arial"/>
                <a:ea typeface="Arial"/>
                <a:cs typeface="Arial"/>
                <a:sym typeface="Arial"/>
              </a:rPr>
              <a:t>heap</a:t>
            </a:r>
            <a:r>
              <a:rPr lang="en" sz="1200">
                <a:solidFill>
                  <a:srgbClr val="000000"/>
                </a:solidFill>
                <a:latin typeface="Arial"/>
                <a:ea typeface="Arial"/>
                <a:cs typeface="Arial"/>
                <a:sym typeface="Arial"/>
              </a:rPr>
              <a:t> to arrange the values in priority order. </a:t>
            </a:r>
            <a:endParaRPr sz="1200">
              <a:solidFill>
                <a:srgbClr val="000000"/>
              </a:solidFill>
              <a:latin typeface="Arial"/>
              <a:ea typeface="Arial"/>
              <a:cs typeface="Arial"/>
              <a:sym typeface="Arial"/>
            </a:endParaRPr>
          </a:p>
        </p:txBody>
      </p:sp>
      <p:sp>
        <p:nvSpPr>
          <p:cNvPr id="807" name="Google Shape;807;p58"/>
          <p:cNvSpPr txBox="1"/>
          <p:nvPr>
            <p:ph idx="4294967295" type="body"/>
          </p:nvPr>
        </p:nvSpPr>
        <p:spPr>
          <a:xfrm>
            <a:off x="3147440" y="1403200"/>
            <a:ext cx="2828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As you know, a heap arranges values into priority order </a:t>
            </a:r>
            <a:r>
              <a:rPr b="1" i="1" lang="en" sz="1200">
                <a:solidFill>
                  <a:srgbClr val="FF0000"/>
                </a:solidFill>
                <a:latin typeface="Arial"/>
                <a:ea typeface="Arial"/>
                <a:cs typeface="Arial"/>
                <a:sym typeface="Arial"/>
              </a:rPr>
              <a:t>as they are added</a:t>
            </a:r>
            <a:r>
              <a:rPr lang="en" sz="1200">
                <a:solidFill>
                  <a:srgbClr val="000000"/>
                </a:solidFill>
                <a:latin typeface="Arial"/>
                <a:ea typeface="Arial"/>
                <a:cs typeface="Arial"/>
                <a:sym typeface="Arial"/>
              </a:rPr>
              <a:t> to the heap.</a:t>
            </a:r>
            <a:endParaRPr sz="1200">
              <a:solidFill>
                <a:srgbClr val="000000"/>
              </a:solidFill>
              <a:latin typeface="Arial"/>
              <a:ea typeface="Arial"/>
              <a:cs typeface="Arial"/>
              <a:sym typeface="Arial"/>
            </a:endParaRPr>
          </a:p>
        </p:txBody>
      </p:sp>
      <p:sp>
        <p:nvSpPr>
          <p:cNvPr id="808" name="Google Shape;808;p58"/>
          <p:cNvSpPr txBox="1"/>
          <p:nvPr>
            <p:ph idx="4294967295" type="body"/>
          </p:nvPr>
        </p:nvSpPr>
        <p:spPr>
          <a:xfrm>
            <a:off x="6128154" y="1403200"/>
            <a:ext cx="2828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To start, all but one of the tuples has a distance of </a:t>
            </a:r>
            <a:r>
              <a:rPr b="1" i="1" lang="en" sz="1200">
                <a:solidFill>
                  <a:srgbClr val="FF0000"/>
                </a:solidFill>
                <a:latin typeface="Arial"/>
                <a:ea typeface="Arial"/>
                <a:cs typeface="Arial"/>
                <a:sym typeface="Arial"/>
              </a:rPr>
              <a:t>infinity</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meaning that they have the </a:t>
            </a:r>
            <a:r>
              <a:rPr b="1" i="1" lang="en" sz="1200">
                <a:solidFill>
                  <a:srgbClr val="FF0000"/>
                </a:solidFill>
                <a:latin typeface="Arial"/>
                <a:ea typeface="Arial"/>
                <a:cs typeface="Arial"/>
                <a:sym typeface="Arial"/>
              </a:rPr>
              <a:t>same priority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809" name="Google Shape;809;p58"/>
          <p:cNvSpPr txBox="1"/>
          <p:nvPr/>
        </p:nvSpPr>
        <p:spPr>
          <a:xfrm>
            <a:off x="4184171" y="4340774"/>
            <a:ext cx="733500" cy="278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A86E8"/>
                </a:solidFill>
              </a:rPr>
              <a:t>C:(A, 5)</a:t>
            </a:r>
            <a:endParaRPr sz="1000">
              <a:solidFill>
                <a:srgbClr val="4A86E8"/>
              </a:solidFill>
            </a:endParaRPr>
          </a:p>
        </p:txBody>
      </p:sp>
      <p:sp>
        <p:nvSpPr>
          <p:cNvPr id="810" name="Google Shape;810;p58"/>
          <p:cNvSpPr txBox="1"/>
          <p:nvPr>
            <p:ph idx="4294967295" type="body"/>
          </p:nvPr>
        </p:nvSpPr>
        <p:spPr>
          <a:xfrm>
            <a:off x="3147450" y="3251300"/>
            <a:ext cx="2828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...and others will be </a:t>
            </a:r>
            <a:r>
              <a:rPr b="1" i="1" lang="en" sz="1200">
                <a:solidFill>
                  <a:srgbClr val="FF0000"/>
                </a:solidFill>
                <a:latin typeface="Arial"/>
                <a:ea typeface="Arial"/>
                <a:cs typeface="Arial"/>
                <a:sym typeface="Arial"/>
              </a:rPr>
              <a:t>updated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with new values for the shortest known distance from the starting vertex.</a:t>
            </a:r>
            <a:endParaRPr sz="1200">
              <a:solidFill>
                <a:srgbClr val="000000"/>
              </a:solidFill>
              <a:latin typeface="Arial"/>
              <a:ea typeface="Arial"/>
              <a:cs typeface="Arial"/>
              <a:sym typeface="Arial"/>
            </a:endParaRPr>
          </a:p>
        </p:txBody>
      </p:sp>
      <p:sp>
        <p:nvSpPr>
          <p:cNvPr id="811" name="Google Shape;811;p58"/>
          <p:cNvSpPr txBox="1"/>
          <p:nvPr>
            <p:ph idx="4294967295" type="body"/>
          </p:nvPr>
        </p:nvSpPr>
        <p:spPr>
          <a:xfrm>
            <a:off x="131450" y="3251288"/>
            <a:ext cx="2863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As</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Dijkstra's Algorithm</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runs, the values of some of the tuples in the heap will be </a:t>
            </a:r>
            <a:r>
              <a:rPr b="1" i="1" lang="en" sz="1200">
                <a:solidFill>
                  <a:srgbClr val="FF0000"/>
                </a:solidFill>
                <a:latin typeface="Arial"/>
                <a:ea typeface="Arial"/>
                <a:cs typeface="Arial"/>
                <a:sym typeface="Arial"/>
              </a:rPr>
              <a:t>removed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812" name="Google Shape;812;p58"/>
          <p:cNvSpPr txBox="1"/>
          <p:nvPr/>
        </p:nvSpPr>
        <p:spPr>
          <a:xfrm>
            <a:off x="5778894" y="4340774"/>
            <a:ext cx="733500" cy="278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A86E8"/>
                </a:solidFill>
              </a:rPr>
              <a:t>B:(A, 4)</a:t>
            </a:r>
            <a:endParaRPr sz="1000">
              <a:solidFill>
                <a:srgbClr val="4A86E8"/>
              </a:solidFill>
            </a:endParaRPr>
          </a:p>
        </p:txBody>
      </p:sp>
      <p:sp>
        <p:nvSpPr>
          <p:cNvPr id="813" name="Google Shape;813;p58"/>
          <p:cNvSpPr txBox="1"/>
          <p:nvPr>
            <p:ph idx="4294967295" type="body"/>
          </p:nvPr>
        </p:nvSpPr>
        <p:spPr>
          <a:xfrm>
            <a:off x="6119250" y="3251288"/>
            <a:ext cx="28632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As the tuples change, the heap </a:t>
            </a:r>
            <a:r>
              <a:rPr b="1" i="1" lang="en" sz="1200">
                <a:solidFill>
                  <a:srgbClr val="FF0000"/>
                </a:solidFill>
                <a:latin typeface="Arial"/>
                <a:ea typeface="Arial"/>
                <a:cs typeface="Arial"/>
                <a:sym typeface="Arial"/>
              </a:rPr>
              <a:t>will not</a:t>
            </a:r>
            <a:r>
              <a:rPr lang="en" sz="1200">
                <a:solidFill>
                  <a:srgbClr val="000000"/>
                </a:solidFill>
                <a:latin typeface="Arial"/>
                <a:ea typeface="Arial"/>
                <a:cs typeface="Arial"/>
                <a:sym typeface="Arial"/>
              </a:rPr>
              <a:t> automatically rearrange them into priority order. And so they will dequeue in the </a:t>
            </a:r>
            <a:r>
              <a:rPr b="1" i="1" lang="en" sz="1200">
                <a:solidFill>
                  <a:srgbClr val="FF0000"/>
                </a:solidFill>
                <a:latin typeface="Arial"/>
                <a:ea typeface="Arial"/>
                <a:cs typeface="Arial"/>
                <a:sym typeface="Arial"/>
              </a:rPr>
              <a:t>wrong order</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814" name="Google Shape;814;p58"/>
          <p:cNvGrpSpPr/>
          <p:nvPr/>
        </p:nvGrpSpPr>
        <p:grpSpPr>
          <a:xfrm>
            <a:off x="230579" y="2765866"/>
            <a:ext cx="604500" cy="274012"/>
            <a:chOff x="147950" y="2854925"/>
            <a:chExt cx="604500" cy="274012"/>
          </a:xfrm>
        </p:grpSpPr>
        <p:sp>
          <p:nvSpPr>
            <p:cNvPr id="815" name="Google Shape;815;p58"/>
            <p:cNvSpPr txBox="1"/>
            <p:nvPr/>
          </p:nvSpPr>
          <p:spPr>
            <a:xfrm>
              <a:off x="147950" y="2892537"/>
              <a:ext cx="604500" cy="23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front</a:t>
              </a:r>
              <a:endParaRPr sz="1000">
                <a:latin typeface="Roboto"/>
                <a:ea typeface="Roboto"/>
                <a:cs typeface="Roboto"/>
                <a:sym typeface="Roboto"/>
              </a:endParaRPr>
            </a:p>
          </p:txBody>
        </p:sp>
        <p:sp>
          <p:nvSpPr>
            <p:cNvPr id="816" name="Google Shape;816;p58"/>
            <p:cNvSpPr/>
            <p:nvPr/>
          </p:nvSpPr>
          <p:spPr>
            <a:xfrm>
              <a:off x="405200" y="2854925"/>
              <a:ext cx="90000" cy="94200"/>
            </a:xfrm>
            <a:prstGeom prst="upArrow">
              <a:avLst>
                <a:gd fmla="val 50000" name="adj1"/>
                <a:gd fmla="val 50000" name="adj2"/>
              </a:avLst>
            </a:prstGeom>
            <a:solidFill>
              <a:srgbClr val="FF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grpSp>
      <p:grpSp>
        <p:nvGrpSpPr>
          <p:cNvPr id="817" name="Google Shape;817;p58"/>
          <p:cNvGrpSpPr/>
          <p:nvPr/>
        </p:nvGrpSpPr>
        <p:grpSpPr>
          <a:xfrm>
            <a:off x="230579" y="4722301"/>
            <a:ext cx="604500" cy="274012"/>
            <a:chOff x="147950" y="2854925"/>
            <a:chExt cx="604500" cy="274012"/>
          </a:xfrm>
        </p:grpSpPr>
        <p:sp>
          <p:nvSpPr>
            <p:cNvPr id="818" name="Google Shape;818;p58"/>
            <p:cNvSpPr txBox="1"/>
            <p:nvPr/>
          </p:nvSpPr>
          <p:spPr>
            <a:xfrm>
              <a:off x="147950" y="2892537"/>
              <a:ext cx="604500" cy="23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front</a:t>
              </a:r>
              <a:endParaRPr sz="1000">
                <a:latin typeface="Roboto"/>
                <a:ea typeface="Roboto"/>
                <a:cs typeface="Roboto"/>
                <a:sym typeface="Roboto"/>
              </a:endParaRPr>
            </a:p>
          </p:txBody>
        </p:sp>
        <p:sp>
          <p:nvSpPr>
            <p:cNvPr id="819" name="Google Shape;819;p58"/>
            <p:cNvSpPr/>
            <p:nvPr/>
          </p:nvSpPr>
          <p:spPr>
            <a:xfrm>
              <a:off x="405200" y="2854925"/>
              <a:ext cx="90000" cy="94200"/>
            </a:xfrm>
            <a:prstGeom prst="upArrow">
              <a:avLst>
                <a:gd fmla="val 50000" name="adj1"/>
                <a:gd fmla="val 50000" name="adj2"/>
              </a:avLst>
            </a:prstGeom>
            <a:solidFill>
              <a:srgbClr val="FF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grpSp>
      <p:grpSp>
        <p:nvGrpSpPr>
          <p:cNvPr id="820" name="Google Shape;820;p58"/>
          <p:cNvGrpSpPr/>
          <p:nvPr/>
        </p:nvGrpSpPr>
        <p:grpSpPr>
          <a:xfrm>
            <a:off x="992579" y="4722301"/>
            <a:ext cx="604500" cy="274012"/>
            <a:chOff x="147950" y="2854925"/>
            <a:chExt cx="604500" cy="274012"/>
          </a:xfrm>
        </p:grpSpPr>
        <p:sp>
          <p:nvSpPr>
            <p:cNvPr id="821" name="Google Shape;821;p58"/>
            <p:cNvSpPr txBox="1"/>
            <p:nvPr/>
          </p:nvSpPr>
          <p:spPr>
            <a:xfrm>
              <a:off x="147950" y="2892537"/>
              <a:ext cx="604500" cy="23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front</a:t>
              </a:r>
              <a:endParaRPr sz="1000">
                <a:latin typeface="Roboto"/>
                <a:ea typeface="Roboto"/>
                <a:cs typeface="Roboto"/>
                <a:sym typeface="Roboto"/>
              </a:endParaRPr>
            </a:p>
          </p:txBody>
        </p:sp>
        <p:sp>
          <p:nvSpPr>
            <p:cNvPr id="822" name="Google Shape;822;p58"/>
            <p:cNvSpPr/>
            <p:nvPr/>
          </p:nvSpPr>
          <p:spPr>
            <a:xfrm>
              <a:off x="405200" y="2854925"/>
              <a:ext cx="90000" cy="94200"/>
            </a:xfrm>
            <a:prstGeom prst="upArrow">
              <a:avLst>
                <a:gd fmla="val 50000" name="adj1"/>
                <a:gd fmla="val 50000" name="adj2"/>
              </a:avLst>
            </a:prstGeom>
            <a:solidFill>
              <a:srgbClr val="FF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grpSp>
      <p:sp>
        <p:nvSpPr>
          <p:cNvPr id="823" name="Google Shape;823;p58"/>
          <p:cNvSpPr txBox="1"/>
          <p:nvPr/>
        </p:nvSpPr>
        <p:spPr>
          <a:xfrm>
            <a:off x="70313" y="4207699"/>
            <a:ext cx="855600" cy="79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4A86E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1000"/>
                                        <p:tgtEl>
                                          <p:spTgt spid="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1000"/>
                                        <p:tgtEl>
                                          <p:spTgt spid="8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gtEl>
                                        <p:attrNameLst>
                                          <p:attrName>style.visibility</p:attrName>
                                        </p:attrNameLst>
                                      </p:cBhvr>
                                      <p:to>
                                        <p:strVal val="visible"/>
                                      </p:to>
                                    </p:set>
                                    <p:animEffect filter="fade" transition="in">
                                      <p:cBhvr>
                                        <p:cTn dur="1000"/>
                                        <p:tgtEl>
                                          <p:spTgt spid="808"/>
                                        </p:tgtEl>
                                      </p:cBhvr>
                                    </p:animEffect>
                                  </p:childTnLst>
                                </p:cTn>
                              </p:par>
                              <p:par>
                                <p:cTn fill="hold" nodeType="with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1000"/>
                                        <p:tgtEl>
                                          <p:spTgt spid="805"/>
                                        </p:tgtEl>
                                      </p:cBhvr>
                                    </p:animEffect>
                                  </p:childTnLst>
                                </p:cTn>
                              </p:par>
                              <p:par>
                                <p:cTn fill="hold" nodeType="with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1000"/>
                                        <p:tgtEl>
                                          <p:spTgt spid="8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1"/>
                                        </p:tgtEl>
                                        <p:attrNameLst>
                                          <p:attrName>style.visibility</p:attrName>
                                        </p:attrNameLst>
                                      </p:cBhvr>
                                      <p:to>
                                        <p:strVal val="visible"/>
                                      </p:to>
                                    </p:set>
                                    <p:animEffect filter="fade" transition="in">
                                      <p:cBhvr>
                                        <p:cTn dur="1000"/>
                                        <p:tgtEl>
                                          <p:spTgt spid="811"/>
                                        </p:tgtEl>
                                      </p:cBhvr>
                                    </p:animEffect>
                                  </p:childTnLst>
                                </p:cTn>
                              </p:par>
                              <p:par>
                                <p:cTn fill="hold" nodeType="with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1000"/>
                                        <p:tgtEl>
                                          <p:spTgt spid="802"/>
                                        </p:tgtEl>
                                      </p:cBhvr>
                                    </p:animEffect>
                                  </p:childTnLst>
                                </p:cTn>
                              </p:par>
                              <p:par>
                                <p:cTn fill="hold" nodeType="with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1000"/>
                                        <p:tgtEl>
                                          <p:spTgt spid="8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1000"/>
                                        <p:tgtEl>
                                          <p:spTgt spid="8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1000"/>
                                        <p:tgtEl>
                                          <p:spTgt spid="8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0"/>
                                        </p:tgtEl>
                                        <p:attrNameLst>
                                          <p:attrName>style.visibility</p:attrName>
                                        </p:attrNameLst>
                                      </p:cBhvr>
                                      <p:to>
                                        <p:strVal val="visible"/>
                                      </p:to>
                                    </p:set>
                                    <p:animEffect filter="fade" transition="in">
                                      <p:cBhvr>
                                        <p:cTn dur="1000"/>
                                        <p:tgtEl>
                                          <p:spTgt spid="8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1000"/>
                                        <p:tgtEl>
                                          <p:spTgt spid="81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09"/>
                                        </p:tgtEl>
                                        <p:attrNameLst>
                                          <p:attrName>style.visibility</p:attrName>
                                        </p:attrNameLst>
                                      </p:cBhvr>
                                      <p:to>
                                        <p:strVal val="visible"/>
                                      </p:to>
                                    </p:set>
                                    <p:animEffect filter="fade" transition="in">
                                      <p:cBhvr>
                                        <p:cTn dur="1000"/>
                                        <p:tgtEl>
                                          <p:spTgt spid="8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1000"/>
                                        <p:tgtEl>
                                          <p:spTgt spid="8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pic>
        <p:nvPicPr>
          <p:cNvPr id="828" name="Google Shape;828;p59"/>
          <p:cNvPicPr preferRelativeResize="0"/>
          <p:nvPr/>
        </p:nvPicPr>
        <p:blipFill>
          <a:blip r:embed="rId3">
            <a:alphaModFix/>
          </a:blip>
          <a:stretch>
            <a:fillRect/>
          </a:stretch>
        </p:blipFill>
        <p:spPr>
          <a:xfrm>
            <a:off x="16451" y="1767924"/>
            <a:ext cx="3128325" cy="2062800"/>
          </a:xfrm>
          <a:prstGeom prst="rect">
            <a:avLst/>
          </a:prstGeom>
          <a:noFill/>
          <a:ln>
            <a:noFill/>
          </a:ln>
        </p:spPr>
      </p:pic>
      <p:sp>
        <p:nvSpPr>
          <p:cNvPr id="829" name="Google Shape;829;p5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a:t>
            </a:r>
            <a:r>
              <a:rPr lang="en"/>
              <a:t> Tuple Queue</a:t>
            </a:r>
            <a:endParaRPr/>
          </a:p>
        </p:txBody>
      </p:sp>
      <p:sp>
        <p:nvSpPr>
          <p:cNvPr id="830" name="Google Shape;830;p5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Unfortunately</a:t>
            </a:r>
            <a:r>
              <a:rPr lang="en"/>
              <a:t>, Java's </a:t>
            </a:r>
            <a:r>
              <a:rPr lang="en">
                <a:latin typeface="Courier New"/>
                <a:ea typeface="Courier New"/>
                <a:cs typeface="Courier New"/>
                <a:sym typeface="Courier New"/>
              </a:rPr>
              <a:t>PriorityQueue</a:t>
            </a:r>
            <a:r>
              <a:rPr lang="en"/>
              <a:t> will not rearrange values if/when they change while already inside of the queue. We'll need to use our own (and find tuples using a linear search). Examine the code now.</a:t>
            </a:r>
            <a:endParaRPr/>
          </a:p>
        </p:txBody>
      </p:sp>
      <p:sp>
        <p:nvSpPr>
          <p:cNvPr id="831" name="Google Shape;831;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2" name="Google Shape;832;p5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.17</a:t>
            </a:r>
            <a:endParaRPr/>
          </a:p>
        </p:txBody>
      </p:sp>
      <p:sp>
        <p:nvSpPr>
          <p:cNvPr id="833" name="Google Shape;833;p59"/>
          <p:cNvSpPr txBox="1"/>
          <p:nvPr>
            <p:ph idx="2" type="body"/>
          </p:nvPr>
        </p:nvSpPr>
        <p:spPr>
          <a:xfrm>
            <a:off x="3038300" y="1926725"/>
            <a:ext cx="5715600" cy="23451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the</a:t>
            </a:r>
            <a:r>
              <a:rPr lang="en" sz="1700"/>
              <a:t> "</a:t>
            </a:r>
            <a:r>
              <a:rPr lang="en" sz="1700">
                <a:solidFill>
                  <a:srgbClr val="FF0000"/>
                </a:solidFill>
                <a:latin typeface="Courier New"/>
                <a:ea typeface="Courier New"/>
                <a:cs typeface="Courier New"/>
                <a:sym typeface="Courier New"/>
              </a:rPr>
              <a:t>TupleQueue</a:t>
            </a:r>
            <a:r>
              <a:rPr lang="en" sz="1700"/>
              <a:t>" class that has been provided to you in the </a:t>
            </a:r>
            <a:r>
              <a:rPr lang="en" sz="1700">
                <a:latin typeface="Courier New"/>
                <a:ea typeface="Courier New"/>
                <a:cs typeface="Courier New"/>
                <a:sym typeface="Courier New"/>
              </a:rPr>
              <a:t>weighted</a:t>
            </a:r>
            <a:r>
              <a:rPr lang="en" sz="1700"/>
              <a:t> package.</a:t>
            </a:r>
            <a:endParaRPr sz="1700"/>
          </a:p>
          <a:p>
            <a:pPr indent="-323850" lvl="1" marL="914400" rtl="0" algn="l">
              <a:spcBef>
                <a:spcPts val="0"/>
              </a:spcBef>
              <a:spcAft>
                <a:spcPts val="0"/>
              </a:spcAft>
              <a:buSzPts val="1500"/>
              <a:buChar char="○"/>
            </a:pPr>
            <a:r>
              <a:rPr lang="en" sz="1500">
                <a:latin typeface="Courier New"/>
                <a:ea typeface="Courier New"/>
                <a:cs typeface="Courier New"/>
                <a:sym typeface="Courier New"/>
              </a:rPr>
              <a:t>PathTuple</a:t>
            </a:r>
            <a:r>
              <a:rPr lang="en" sz="1500"/>
              <a:t> elements are stored in a linked list.</a:t>
            </a:r>
            <a:endParaRPr sz="1500"/>
          </a:p>
          <a:p>
            <a:pPr indent="-323850" lvl="1" marL="914400" rtl="0" algn="l">
              <a:spcBef>
                <a:spcPts val="0"/>
              </a:spcBef>
              <a:spcAft>
                <a:spcPts val="0"/>
              </a:spcAft>
              <a:buSzPts val="1500"/>
              <a:buChar char="○"/>
            </a:pPr>
            <a:r>
              <a:rPr lang="en" sz="1500"/>
              <a:t>The </a:t>
            </a:r>
            <a:r>
              <a:rPr lang="en" sz="1500">
                <a:latin typeface="Courier New"/>
                <a:ea typeface="Courier New"/>
                <a:cs typeface="Courier New"/>
                <a:sym typeface="Courier New"/>
              </a:rPr>
              <a:t>enqueue</a:t>
            </a:r>
            <a:r>
              <a:rPr lang="en" sz="1500"/>
              <a:t> method adds elements at the back.</a:t>
            </a:r>
            <a:endParaRPr sz="1500"/>
          </a:p>
          <a:p>
            <a:pPr indent="-323850" lvl="1" marL="914400" rtl="0" algn="l">
              <a:spcBef>
                <a:spcPts val="0"/>
              </a:spcBef>
              <a:spcAft>
                <a:spcPts val="0"/>
              </a:spcAft>
              <a:buSzPts val="1500"/>
              <a:buChar char="○"/>
            </a:pPr>
            <a:r>
              <a:rPr lang="en" sz="1500"/>
              <a:t>The </a:t>
            </a:r>
            <a:r>
              <a:rPr lang="en" sz="1500">
                <a:latin typeface="Courier New"/>
                <a:ea typeface="Courier New"/>
                <a:cs typeface="Courier New"/>
                <a:sym typeface="Courier New"/>
              </a:rPr>
              <a:t>dequeue</a:t>
            </a:r>
            <a:r>
              <a:rPr lang="en" sz="1500"/>
              <a:t> method performs a linear search for the </a:t>
            </a:r>
            <a:r>
              <a:rPr lang="en" sz="1500">
                <a:latin typeface="Courier New"/>
                <a:ea typeface="Courier New"/>
                <a:cs typeface="Courier New"/>
                <a:sym typeface="Courier New"/>
              </a:rPr>
              <a:t>PathTuple</a:t>
            </a:r>
            <a:r>
              <a:rPr lang="en" sz="1500"/>
              <a:t> with the shortest distance from the start vertex.</a:t>
            </a:r>
            <a:endParaRPr sz="1500"/>
          </a:p>
          <a:p>
            <a:pPr indent="-323850" lvl="1" marL="914400" rtl="0" algn="l">
              <a:spcBef>
                <a:spcPts val="0"/>
              </a:spcBef>
              <a:spcAft>
                <a:spcPts val="0"/>
              </a:spcAft>
              <a:buSzPts val="1500"/>
              <a:buChar char="○"/>
            </a:pPr>
            <a:r>
              <a:rPr lang="en" sz="1500"/>
              <a:t>If you have any questions, </a:t>
            </a:r>
            <a:r>
              <a:rPr b="1" i="1" lang="en" sz="1500">
                <a:solidFill>
                  <a:srgbClr val="FF0000"/>
                </a:solidFill>
              </a:rPr>
              <a:t>raise your hand!</a:t>
            </a:r>
            <a:endParaRPr sz="15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6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Setup</a:t>
            </a:r>
            <a:endParaRPr/>
          </a:p>
        </p:txBody>
      </p:sp>
      <p:sp>
        <p:nvSpPr>
          <p:cNvPr id="839" name="Google Shape;839;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840" name="Google Shape;840;p60"/>
          <p:cNvGrpSpPr/>
          <p:nvPr/>
        </p:nvGrpSpPr>
        <p:grpSpPr>
          <a:xfrm>
            <a:off x="3192110" y="4071628"/>
            <a:ext cx="2901250" cy="985200"/>
            <a:chOff x="3192110" y="4071628"/>
            <a:chExt cx="2901250" cy="985200"/>
          </a:xfrm>
        </p:grpSpPr>
        <p:sp>
          <p:nvSpPr>
            <p:cNvPr id="841" name="Google Shape;841;p60"/>
            <p:cNvSpPr txBox="1"/>
            <p:nvPr/>
          </p:nvSpPr>
          <p:spPr>
            <a:xfrm>
              <a:off x="3197475" y="4071628"/>
              <a:ext cx="2863200" cy="985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842" name="Google Shape;842;p60"/>
            <p:cNvSpPr txBox="1"/>
            <p:nvPr/>
          </p:nvSpPr>
          <p:spPr>
            <a:xfrm>
              <a:off x="3192110" y="4203235"/>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843" name="Google Shape;843;p60"/>
            <p:cNvSpPr txBox="1"/>
            <p:nvPr/>
          </p:nvSpPr>
          <p:spPr>
            <a:xfrm>
              <a:off x="5038260" y="42007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4" name="Google Shape;844;p60"/>
            <p:cNvSpPr txBox="1"/>
            <p:nvPr/>
          </p:nvSpPr>
          <p:spPr>
            <a:xfrm>
              <a:off x="4123860" y="4276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5" name="Google Shape;845;p60"/>
            <p:cNvSpPr txBox="1"/>
            <p:nvPr/>
          </p:nvSpPr>
          <p:spPr>
            <a:xfrm>
              <a:off x="3209460" y="44293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6" name="Google Shape;846;p60"/>
            <p:cNvSpPr txBox="1"/>
            <p:nvPr/>
          </p:nvSpPr>
          <p:spPr>
            <a:xfrm>
              <a:off x="32856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7" name="Google Shape;847;p60"/>
            <p:cNvSpPr txBox="1"/>
            <p:nvPr/>
          </p:nvSpPr>
          <p:spPr>
            <a:xfrm>
              <a:off x="5038260" y="45055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8" name="Google Shape;848;p60"/>
            <p:cNvSpPr txBox="1"/>
            <p:nvPr/>
          </p:nvSpPr>
          <p:spPr>
            <a:xfrm>
              <a:off x="45048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pSp>
      <p:graphicFrame>
        <p:nvGraphicFramePr>
          <p:cNvPr id="849" name="Google Shape;849;p60"/>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850" name="Google Shape;850;p60"/>
          <p:cNvSpPr txBox="1"/>
          <p:nvPr>
            <p:ph idx="4294967295" type="body"/>
          </p:nvPr>
        </p:nvSpPr>
        <p:spPr>
          <a:xfrm>
            <a:off x="131450" y="1366438"/>
            <a:ext cx="2863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 setup of Dijkstra's Algorithm requires two different data structures.</a:t>
            </a:r>
            <a:endParaRPr sz="1200">
              <a:solidFill>
                <a:srgbClr val="000000"/>
              </a:solidFill>
              <a:latin typeface="Arial"/>
              <a:ea typeface="Arial"/>
              <a:cs typeface="Arial"/>
              <a:sym typeface="Arial"/>
            </a:endParaRPr>
          </a:p>
        </p:txBody>
      </p:sp>
      <p:grpSp>
        <p:nvGrpSpPr>
          <p:cNvPr id="851" name="Google Shape;851;p60"/>
          <p:cNvGrpSpPr/>
          <p:nvPr/>
        </p:nvGrpSpPr>
        <p:grpSpPr>
          <a:xfrm>
            <a:off x="6244267" y="1458389"/>
            <a:ext cx="2587178" cy="2330671"/>
            <a:chOff x="338125" y="1610890"/>
            <a:chExt cx="3334852" cy="3004217"/>
          </a:xfrm>
        </p:grpSpPr>
        <p:sp>
          <p:nvSpPr>
            <p:cNvPr id="852" name="Google Shape;852;p60"/>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853" name="Google Shape;853;p60"/>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854" name="Google Shape;854;p60"/>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855" name="Google Shape;855;p60"/>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856" name="Google Shape;856;p60"/>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857" name="Google Shape;857;p60"/>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858" name="Google Shape;858;p60"/>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859" name="Google Shape;859;p60"/>
            <p:cNvCxnSpPr>
              <a:stCxn id="852" idx="3"/>
              <a:endCxn id="854"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860" name="Google Shape;860;p60"/>
            <p:cNvCxnSpPr>
              <a:stCxn id="852" idx="6"/>
              <a:endCxn id="855"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861" name="Google Shape;861;p60"/>
            <p:cNvCxnSpPr>
              <a:stCxn id="852" idx="5"/>
              <a:endCxn id="853"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862" name="Google Shape;862;p60"/>
            <p:cNvCxnSpPr>
              <a:stCxn id="853" idx="6"/>
              <a:endCxn id="857"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863" name="Google Shape;863;p60"/>
            <p:cNvCxnSpPr>
              <a:stCxn id="857" idx="4"/>
              <a:endCxn id="856"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864" name="Google Shape;864;p60"/>
            <p:cNvCxnSpPr>
              <a:stCxn id="853" idx="3"/>
              <a:endCxn id="858"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865" name="Google Shape;865;p60"/>
            <p:cNvCxnSpPr>
              <a:stCxn id="858" idx="6"/>
              <a:endCxn id="856"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866" name="Google Shape;866;p60"/>
            <p:cNvCxnSpPr>
              <a:stCxn id="854" idx="6"/>
              <a:endCxn id="853"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867" name="Google Shape;867;p60"/>
            <p:cNvCxnSpPr>
              <a:stCxn id="855" idx="5"/>
              <a:endCxn id="857"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868" name="Google Shape;868;p60"/>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869" name="Google Shape;869;p60"/>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870" name="Google Shape;870;p60"/>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871" name="Google Shape;871;p60"/>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872" name="Google Shape;872;p60"/>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873" name="Google Shape;873;p60"/>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874" name="Google Shape;874;p60"/>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875" name="Google Shape;875;p60"/>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876" name="Google Shape;876;p60"/>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877" name="Google Shape;877;p60"/>
            <p:cNvCxnSpPr>
              <a:stCxn id="854" idx="5"/>
              <a:endCxn id="858"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878" name="Google Shape;878;p60"/>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879" name="Google Shape;879;p60"/>
          <p:cNvSpPr txBox="1"/>
          <p:nvPr>
            <p:ph idx="4294967295" type="body"/>
          </p:nvPr>
        </p:nvSpPr>
        <p:spPr>
          <a:xfrm>
            <a:off x="131450" y="2013248"/>
            <a:ext cx="2863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 first is a </a:t>
            </a:r>
            <a:r>
              <a:rPr b="1" i="1" lang="en" sz="1200">
                <a:solidFill>
                  <a:srgbClr val="FF0000"/>
                </a:solidFill>
                <a:latin typeface="Arial"/>
                <a:ea typeface="Arial"/>
                <a:cs typeface="Arial"/>
                <a:sym typeface="Arial"/>
              </a:rPr>
              <a:t>map</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keep track of </a:t>
            </a:r>
            <a:r>
              <a:rPr b="1" i="1" lang="en" sz="1200">
                <a:solidFill>
                  <a:srgbClr val="FF0000"/>
                </a:solidFill>
                <a:latin typeface="Arial"/>
                <a:ea typeface="Arial"/>
                <a:cs typeface="Arial"/>
                <a:sym typeface="Arial"/>
              </a:rPr>
              <a:t>every</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vertex in the graph and its </a:t>
            </a:r>
            <a:r>
              <a:rPr b="1" i="1" lang="en" sz="1200">
                <a:solidFill>
                  <a:srgbClr val="FF0000"/>
                </a:solidFill>
                <a:latin typeface="Arial"/>
                <a:ea typeface="Arial"/>
                <a:cs typeface="Arial"/>
                <a:sym typeface="Arial"/>
              </a:rPr>
              <a:t>path tuple</a:t>
            </a:r>
            <a:r>
              <a:rPr lang="en" sz="1200">
                <a:solidFill>
                  <a:srgbClr val="000000"/>
                </a:solidFill>
                <a:latin typeface="Arial"/>
                <a:ea typeface="Arial"/>
                <a:cs typeface="Arial"/>
                <a:sym typeface="Arial"/>
              </a:rPr>
              <a:t>. The vertices are the keys.</a:t>
            </a:r>
            <a:endParaRPr sz="1200">
              <a:solidFill>
                <a:srgbClr val="000000"/>
              </a:solidFill>
              <a:latin typeface="Arial"/>
              <a:ea typeface="Arial"/>
              <a:cs typeface="Arial"/>
              <a:sym typeface="Arial"/>
            </a:endParaRPr>
          </a:p>
        </p:txBody>
      </p:sp>
      <p:sp>
        <p:nvSpPr>
          <p:cNvPr id="880" name="Google Shape;880;p60"/>
          <p:cNvSpPr txBox="1"/>
          <p:nvPr>
            <p:ph idx="4294967295" type="body"/>
          </p:nvPr>
        </p:nvSpPr>
        <p:spPr>
          <a:xfrm>
            <a:off x="131450" y="4461723"/>
            <a:ext cx="28632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All of the path tuples are also placed into a </a:t>
            </a:r>
            <a:r>
              <a:rPr b="1" i="1" lang="en" sz="1200">
                <a:solidFill>
                  <a:srgbClr val="FF0000"/>
                </a:solidFill>
                <a:latin typeface="Arial"/>
                <a:ea typeface="Arial"/>
                <a:cs typeface="Arial"/>
                <a:sym typeface="Arial"/>
              </a:rPr>
              <a:t>priority queue</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881" name="Google Shape;881;p60"/>
          <p:cNvSpPr/>
          <p:nvPr/>
        </p:nvSpPr>
        <p:spPr>
          <a:xfrm>
            <a:off x="2853775" y="1785935"/>
            <a:ext cx="715150" cy="1212450"/>
          </a:xfrm>
          <a:custGeom>
            <a:rect b="b" l="l" r="r" t="t"/>
            <a:pathLst>
              <a:path extrusionOk="0" h="48498" w="28606">
                <a:moveTo>
                  <a:pt x="0" y="48498"/>
                </a:moveTo>
                <a:cubicBezTo>
                  <a:pt x="2155" y="46664"/>
                  <a:pt x="11232" y="45106"/>
                  <a:pt x="12928" y="37496"/>
                </a:cubicBezTo>
                <a:cubicBezTo>
                  <a:pt x="14624" y="29886"/>
                  <a:pt x="7564" y="8753"/>
                  <a:pt x="10177" y="2839"/>
                </a:cubicBezTo>
                <a:cubicBezTo>
                  <a:pt x="12790" y="-3075"/>
                  <a:pt x="25535" y="2152"/>
                  <a:pt x="28606" y="2014"/>
                </a:cubicBezTo>
              </a:path>
            </a:pathLst>
          </a:custGeom>
          <a:noFill/>
          <a:ln cap="flat" cmpd="sng" w="19050">
            <a:solidFill>
              <a:srgbClr val="FF0000"/>
            </a:solidFill>
            <a:prstDash val="solid"/>
            <a:round/>
            <a:headEnd len="med" w="med" type="none"/>
            <a:tailEnd len="med" w="med" type="triangle"/>
          </a:ln>
        </p:spPr>
      </p:sp>
      <p:sp>
        <p:nvSpPr>
          <p:cNvPr id="882" name="Google Shape;882;p60"/>
          <p:cNvSpPr txBox="1"/>
          <p:nvPr>
            <p:ph idx="4294967295" type="body"/>
          </p:nvPr>
        </p:nvSpPr>
        <p:spPr>
          <a:xfrm>
            <a:off x="131450" y="2844855"/>
            <a:ext cx="28632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The path tuple for the </a:t>
            </a:r>
            <a:r>
              <a:rPr b="1" i="1" lang="en" sz="1100">
                <a:solidFill>
                  <a:srgbClr val="FF0000"/>
                </a:solidFill>
                <a:latin typeface="Arial"/>
                <a:ea typeface="Arial"/>
                <a:cs typeface="Arial"/>
                <a:sym typeface="Arial"/>
              </a:rPr>
              <a:t>start</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vertex has a </a:t>
            </a:r>
            <a:r>
              <a:rPr lang="en" sz="1100">
                <a:solidFill>
                  <a:srgbClr val="FF0000"/>
                </a:solidFill>
                <a:latin typeface="Courier New"/>
                <a:ea typeface="Courier New"/>
                <a:cs typeface="Courier New"/>
                <a:sym typeface="Courier New"/>
              </a:rPr>
              <a:t>null</a:t>
            </a:r>
            <a:r>
              <a:rPr lang="en" sz="1100">
                <a:solidFill>
                  <a:srgbClr val="FF0000"/>
                </a:solidFill>
                <a:latin typeface="Arial"/>
                <a:ea typeface="Arial"/>
                <a:cs typeface="Arial"/>
                <a:sym typeface="Arial"/>
              </a:rPr>
              <a:t> </a:t>
            </a:r>
            <a:r>
              <a:rPr b="1" i="1" lang="en" sz="1100">
                <a:solidFill>
                  <a:srgbClr val="FF0000"/>
                </a:solidFill>
                <a:latin typeface="Arial"/>
                <a:ea typeface="Arial"/>
                <a:cs typeface="Arial"/>
                <a:sym typeface="Arial"/>
              </a:rPr>
              <a:t>predecessor</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(because there isn't one) and a </a:t>
            </a:r>
            <a:r>
              <a:rPr b="1" i="1" lang="en" sz="1100">
                <a:solidFill>
                  <a:srgbClr val="FF0000"/>
                </a:solidFill>
                <a:latin typeface="Arial"/>
                <a:ea typeface="Arial"/>
                <a:cs typeface="Arial"/>
                <a:sym typeface="Arial"/>
              </a:rPr>
              <a:t>distance of 0</a:t>
            </a:r>
            <a:r>
              <a:rPr lang="en" sz="1100">
                <a:solidFill>
                  <a:srgbClr val="000000"/>
                </a:solidFill>
                <a:latin typeface="Arial"/>
                <a:ea typeface="Arial"/>
                <a:cs typeface="Arial"/>
                <a:sym typeface="Arial"/>
              </a:rPr>
              <a:t> (to itself).</a:t>
            </a:r>
            <a:endParaRPr sz="1100">
              <a:solidFill>
                <a:srgbClr val="000000"/>
              </a:solidFill>
              <a:latin typeface="Arial"/>
              <a:ea typeface="Arial"/>
              <a:cs typeface="Arial"/>
              <a:sym typeface="Arial"/>
            </a:endParaRPr>
          </a:p>
        </p:txBody>
      </p:sp>
      <p:grpSp>
        <p:nvGrpSpPr>
          <p:cNvPr id="883" name="Google Shape;883;p60"/>
          <p:cNvGrpSpPr/>
          <p:nvPr/>
        </p:nvGrpSpPr>
        <p:grpSpPr>
          <a:xfrm>
            <a:off x="2888150" y="2076950"/>
            <a:ext cx="667450" cy="2014775"/>
            <a:chOff x="2888150" y="2076950"/>
            <a:chExt cx="667450" cy="2014775"/>
          </a:xfrm>
        </p:grpSpPr>
        <p:sp>
          <p:nvSpPr>
            <p:cNvPr id="884" name="Google Shape;884;p60"/>
            <p:cNvSpPr/>
            <p:nvPr/>
          </p:nvSpPr>
          <p:spPr>
            <a:xfrm>
              <a:off x="3418200" y="2076950"/>
              <a:ext cx="137400" cy="1849800"/>
            </a:xfrm>
            <a:prstGeom prst="leftBrace">
              <a:avLst>
                <a:gd fmla="val 50000" name="adj1"/>
                <a:gd fmla="val 50000" name="adj2"/>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60"/>
            <p:cNvSpPr/>
            <p:nvPr/>
          </p:nvSpPr>
          <p:spPr>
            <a:xfrm>
              <a:off x="2888150" y="2991500"/>
              <a:ext cx="570750" cy="1100225"/>
            </a:xfrm>
            <a:custGeom>
              <a:rect b="b" l="l" r="r" t="t"/>
              <a:pathLst>
                <a:path extrusionOk="0" h="44009" w="22830">
                  <a:moveTo>
                    <a:pt x="0" y="44009"/>
                  </a:moveTo>
                  <a:cubicBezTo>
                    <a:pt x="2934" y="39471"/>
                    <a:pt x="15495" y="23700"/>
                    <a:pt x="17604" y="16778"/>
                  </a:cubicBezTo>
                  <a:cubicBezTo>
                    <a:pt x="19713" y="9856"/>
                    <a:pt x="11782" y="5272"/>
                    <a:pt x="12653" y="2476"/>
                  </a:cubicBezTo>
                  <a:cubicBezTo>
                    <a:pt x="13524" y="-320"/>
                    <a:pt x="21134" y="413"/>
                    <a:pt x="22830" y="0"/>
                  </a:cubicBezTo>
                </a:path>
              </a:pathLst>
            </a:custGeom>
            <a:noFill/>
            <a:ln cap="flat" cmpd="sng" w="19050">
              <a:solidFill>
                <a:srgbClr val="FF0000"/>
              </a:solidFill>
              <a:prstDash val="solid"/>
              <a:round/>
              <a:headEnd len="med" w="med" type="none"/>
              <a:tailEnd len="med" w="med" type="none"/>
            </a:ln>
          </p:spPr>
        </p:sp>
      </p:grpSp>
      <p:sp>
        <p:nvSpPr>
          <p:cNvPr id="886" name="Google Shape;886;p60"/>
          <p:cNvSpPr txBox="1"/>
          <p:nvPr>
            <p:ph idx="4294967295" type="body"/>
          </p:nvPr>
        </p:nvSpPr>
        <p:spPr>
          <a:xfrm>
            <a:off x="131450" y="3630176"/>
            <a:ext cx="2863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b="1" i="1" lang="en" sz="1200">
                <a:solidFill>
                  <a:srgbClr val="FF0000"/>
                </a:solidFill>
                <a:latin typeface="Arial"/>
                <a:ea typeface="Arial"/>
                <a:cs typeface="Arial"/>
                <a:sym typeface="Arial"/>
              </a:rPr>
              <a:t>Every other vertex</a:t>
            </a:r>
            <a:r>
              <a:rPr lang="en" sz="1200">
                <a:solidFill>
                  <a:srgbClr val="000000"/>
                </a:solidFill>
                <a:latin typeface="Arial"/>
                <a:ea typeface="Arial"/>
                <a:cs typeface="Arial"/>
                <a:sym typeface="Arial"/>
              </a:rPr>
              <a:t> in the graph has a </a:t>
            </a:r>
            <a:r>
              <a:rPr lang="en" sz="1200">
                <a:solidFill>
                  <a:srgbClr val="FF0000"/>
                </a:solidFill>
                <a:latin typeface="Courier New"/>
                <a:ea typeface="Courier New"/>
                <a:cs typeface="Courier New"/>
                <a:sym typeface="Courier New"/>
              </a:rPr>
              <a:t>null</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predecessor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a </a:t>
            </a:r>
            <a:r>
              <a:rPr b="1" i="1" lang="en" sz="1200">
                <a:solidFill>
                  <a:srgbClr val="FF0000"/>
                </a:solidFill>
                <a:latin typeface="Arial"/>
                <a:ea typeface="Arial"/>
                <a:cs typeface="Arial"/>
                <a:sym typeface="Arial"/>
              </a:rPr>
              <a:t>distance of infinity</a:t>
            </a:r>
            <a:r>
              <a:rPr lang="en" sz="1200">
                <a:solidFill>
                  <a:srgbClr val="000000"/>
                </a:solidFill>
                <a:latin typeface="Arial"/>
                <a:ea typeface="Arial"/>
                <a:cs typeface="Arial"/>
                <a:sym typeface="Arial"/>
              </a:rPr>
              <a:t> (because we don't know yet).</a:t>
            </a:r>
            <a:endParaRPr sz="12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1000"/>
                                        <p:tgtEl>
                                          <p:spTgt spid="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1000"/>
                                        <p:tgtEl>
                                          <p:spTgt spid="8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49"/>
                                        </p:tgtEl>
                                        <p:attrNameLst>
                                          <p:attrName>style.visibility</p:attrName>
                                        </p:attrNameLst>
                                      </p:cBhvr>
                                      <p:to>
                                        <p:strVal val="visible"/>
                                      </p:to>
                                    </p:set>
                                    <p:animEffect filter="fade" transition="in">
                                      <p:cBhvr>
                                        <p:cTn dur="1000"/>
                                        <p:tgtEl>
                                          <p:spTgt spid="8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1000"/>
                                        <p:tgtEl>
                                          <p:spTgt spid="8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1000"/>
                                        <p:tgtEl>
                                          <p:spTgt spid="8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1000"/>
                                        <p:tgtEl>
                                          <p:spTgt spid="8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1000"/>
                                        <p:tgtEl>
                                          <p:spTgt spid="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1000"/>
                                        <p:tgtEl>
                                          <p:spTgt spid="8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1000"/>
                                        <p:tgtEl>
                                          <p:spTgt spid="8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6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Step 1: Setup</a:t>
            </a:r>
            <a:endParaRPr b="0">
              <a:latin typeface="Courier New"/>
              <a:ea typeface="Courier New"/>
              <a:cs typeface="Courier New"/>
              <a:sym typeface="Courier New"/>
            </a:endParaRPr>
          </a:p>
        </p:txBody>
      </p:sp>
      <p:sp>
        <p:nvSpPr>
          <p:cNvPr id="892" name="Google Shape;892;p61"/>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Dijkstra's Shortest Path is probably the most complex algorithm that we will examine in this entire course. Let's take is slowly by examining it in relatively small pieces, one at a time. As </a:t>
            </a:r>
            <a:r>
              <a:rPr lang="en"/>
              <a:t>usual</a:t>
            </a:r>
            <a:r>
              <a:rPr lang="en"/>
              <a:t>, the algorithm begins by </a:t>
            </a:r>
            <a:r>
              <a:rPr lang="en"/>
              <a:t>creating</a:t>
            </a:r>
            <a:r>
              <a:rPr lang="en"/>
              <a:t> the necessary data structures.</a:t>
            </a:r>
            <a:endParaRPr/>
          </a:p>
        </p:txBody>
      </p:sp>
      <p:sp>
        <p:nvSpPr>
          <p:cNvPr id="893" name="Google Shape;893;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4" name="Google Shape;894;p6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.18</a:t>
            </a:r>
            <a:endParaRPr/>
          </a:p>
        </p:txBody>
      </p:sp>
      <p:pic>
        <p:nvPicPr>
          <p:cNvPr id="895" name="Google Shape;895;p61"/>
          <p:cNvPicPr preferRelativeResize="0"/>
          <p:nvPr/>
        </p:nvPicPr>
        <p:blipFill>
          <a:blip r:embed="rId3">
            <a:alphaModFix/>
          </a:blip>
          <a:stretch>
            <a:fillRect/>
          </a:stretch>
        </p:blipFill>
        <p:spPr>
          <a:xfrm flipH="1">
            <a:off x="224438" y="2529232"/>
            <a:ext cx="2152525" cy="2303200"/>
          </a:xfrm>
          <a:prstGeom prst="rect">
            <a:avLst/>
          </a:prstGeom>
          <a:noFill/>
          <a:ln cap="flat" cmpd="sng" w="19050">
            <a:solidFill>
              <a:srgbClr val="000000"/>
            </a:solidFill>
            <a:prstDash val="solid"/>
            <a:round/>
            <a:headEnd len="sm" w="sm" type="none"/>
            <a:tailEnd len="sm" w="sm" type="none"/>
          </a:ln>
        </p:spPr>
      </p:pic>
      <p:sp>
        <p:nvSpPr>
          <p:cNvPr id="896" name="Google Shape;896;p61"/>
          <p:cNvSpPr/>
          <p:nvPr/>
        </p:nvSpPr>
        <p:spPr>
          <a:xfrm>
            <a:off x="198925" y="1760075"/>
            <a:ext cx="2178300" cy="536400"/>
          </a:xfrm>
          <a:prstGeom prst="wedgeRoundRectCallout">
            <a:avLst>
              <a:gd fmla="val -11222" name="adj1"/>
              <a:gd fmla="val 126911"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And...</a:t>
            </a:r>
            <a:r>
              <a:rPr b="1" i="1" lang="en" sz="1600">
                <a:solidFill>
                  <a:srgbClr val="FF0000"/>
                </a:solidFill>
              </a:rPr>
              <a:t>we're off!</a:t>
            </a:r>
            <a:endParaRPr b="1" i="1" sz="1800">
              <a:solidFill>
                <a:srgbClr val="FF0000"/>
              </a:solidFill>
            </a:endParaRPr>
          </a:p>
        </p:txBody>
      </p:sp>
      <p:sp>
        <p:nvSpPr>
          <p:cNvPr id="897" name="Google Shape;897;p61"/>
          <p:cNvSpPr txBox="1"/>
          <p:nvPr>
            <p:ph idx="2" type="body"/>
          </p:nvPr>
        </p:nvSpPr>
        <p:spPr>
          <a:xfrm>
            <a:off x="2538050" y="1683875"/>
            <a:ext cx="6289200" cy="30555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WAdjacencyGraph</a:t>
            </a:r>
            <a:r>
              <a:rPr lang="en" sz="1400">
                <a:solidFill>
                  <a:srgbClr val="FF0000"/>
                </a:solidFill>
              </a:rPr>
              <a:t> </a:t>
            </a:r>
            <a:r>
              <a:rPr lang="en" sz="1400"/>
              <a:t>class and navigate to the </a:t>
            </a:r>
            <a:r>
              <a:rPr lang="en" sz="1400">
                <a:solidFill>
                  <a:srgbClr val="FF0000"/>
                </a:solidFill>
                <a:latin typeface="Courier New"/>
                <a:ea typeface="Courier New"/>
                <a:cs typeface="Courier New"/>
                <a:sym typeface="Courier New"/>
              </a:rPr>
              <a:t>dijkstrasPath</a:t>
            </a:r>
            <a:r>
              <a:rPr lang="en" sz="1400"/>
              <a:t> </a:t>
            </a:r>
            <a:r>
              <a:rPr lang="en" sz="1400"/>
              <a:t>method. Together with your instructor, examine the first part of the algorithm: </a:t>
            </a:r>
            <a:r>
              <a:rPr b="1" i="1" lang="en" sz="1400">
                <a:solidFill>
                  <a:srgbClr val="FF0000"/>
                </a:solidFill>
              </a:rPr>
              <a:t>step 1: setup</a:t>
            </a:r>
            <a:r>
              <a:rPr lang="en" sz="1400"/>
              <a:t>.</a:t>
            </a:r>
            <a:endParaRPr sz="1400"/>
          </a:p>
          <a:p>
            <a:pPr indent="-304800" lvl="1" marL="914400" rtl="0" algn="l">
              <a:spcBef>
                <a:spcPts val="0"/>
              </a:spcBef>
              <a:spcAft>
                <a:spcPts val="0"/>
              </a:spcAft>
              <a:buSzPts val="1200"/>
              <a:buChar char="○"/>
            </a:pPr>
            <a:r>
              <a:rPr lang="en" sz="1200"/>
              <a:t>It uses the </a:t>
            </a:r>
            <a:r>
              <a:rPr lang="en" sz="1200">
                <a:latin typeface="Courier New"/>
                <a:ea typeface="Courier New"/>
                <a:cs typeface="Courier New"/>
                <a:sym typeface="Courier New"/>
              </a:rPr>
              <a:t>start</a:t>
            </a:r>
            <a:r>
              <a:rPr lang="en" sz="1200"/>
              <a:t> and </a:t>
            </a:r>
            <a:r>
              <a:rPr lang="en" sz="1200">
                <a:latin typeface="Courier New"/>
                <a:ea typeface="Courier New"/>
                <a:cs typeface="Courier New"/>
                <a:sym typeface="Courier New"/>
              </a:rPr>
              <a:t>end</a:t>
            </a:r>
            <a:r>
              <a:rPr lang="en" sz="1200"/>
              <a:t> values to retrieve the corresponding vertices.</a:t>
            </a:r>
            <a:endParaRPr sz="1200"/>
          </a:p>
          <a:p>
            <a:pPr indent="-304800" lvl="1" marL="914400" rtl="0" algn="l">
              <a:spcBef>
                <a:spcPts val="0"/>
              </a:spcBef>
              <a:spcAft>
                <a:spcPts val="0"/>
              </a:spcAft>
              <a:buSzPts val="1200"/>
              <a:buChar char="○"/>
            </a:pPr>
            <a:r>
              <a:rPr lang="en" sz="1200"/>
              <a:t>It creates a </a:t>
            </a:r>
            <a:r>
              <a:rPr lang="en" sz="1200">
                <a:solidFill>
                  <a:srgbClr val="FF0000"/>
                </a:solidFill>
                <a:latin typeface="Courier New"/>
                <a:ea typeface="Courier New"/>
                <a:cs typeface="Courier New"/>
                <a:sym typeface="Courier New"/>
              </a:rPr>
              <a:t>Map</a:t>
            </a:r>
            <a:r>
              <a:rPr lang="en" sz="1200">
                <a:solidFill>
                  <a:srgbClr val="FF0000"/>
                </a:solidFill>
              </a:rPr>
              <a:t> </a:t>
            </a:r>
            <a:r>
              <a:rPr lang="en" sz="1200"/>
              <a:t>to store </a:t>
            </a:r>
            <a:r>
              <a:rPr lang="en" sz="1200">
                <a:latin typeface="Courier New"/>
                <a:ea typeface="Courier New"/>
                <a:cs typeface="Courier New"/>
                <a:sym typeface="Courier New"/>
              </a:rPr>
              <a:t>WVertex</a:t>
            </a:r>
            <a:r>
              <a:rPr lang="en" sz="1200"/>
              <a:t> keys and </a:t>
            </a:r>
            <a:r>
              <a:rPr lang="en" sz="1200">
                <a:latin typeface="Courier New"/>
                <a:ea typeface="Courier New"/>
                <a:cs typeface="Courier New"/>
                <a:sym typeface="Courier New"/>
              </a:rPr>
              <a:t>PathTuple</a:t>
            </a:r>
            <a:r>
              <a:rPr lang="en" sz="1200"/>
              <a:t> values.</a:t>
            </a:r>
            <a:endParaRPr sz="1200"/>
          </a:p>
          <a:p>
            <a:pPr indent="-304800" lvl="1" marL="914400" rtl="0" algn="l">
              <a:spcBef>
                <a:spcPts val="0"/>
              </a:spcBef>
              <a:spcAft>
                <a:spcPts val="0"/>
              </a:spcAft>
              <a:buSzPts val="1200"/>
              <a:buChar char="○"/>
            </a:pPr>
            <a:r>
              <a:rPr lang="en" sz="1200"/>
              <a:t>It creates a </a:t>
            </a:r>
            <a:r>
              <a:rPr lang="en" sz="1200">
                <a:solidFill>
                  <a:srgbClr val="FF0000"/>
                </a:solidFill>
                <a:latin typeface="Courier New"/>
                <a:ea typeface="Courier New"/>
                <a:cs typeface="Courier New"/>
                <a:sym typeface="Courier New"/>
              </a:rPr>
              <a:t>TupleQueue</a:t>
            </a:r>
            <a:r>
              <a:rPr lang="en" sz="1200"/>
              <a:t>.</a:t>
            </a:r>
            <a:endParaRPr sz="1200"/>
          </a:p>
          <a:p>
            <a:pPr indent="-304800" lvl="1" marL="914400" rtl="0" algn="l">
              <a:spcBef>
                <a:spcPts val="0"/>
              </a:spcBef>
              <a:spcAft>
                <a:spcPts val="0"/>
              </a:spcAft>
              <a:buSzPts val="1200"/>
              <a:buChar char="○"/>
            </a:pPr>
            <a:r>
              <a:rPr lang="en" sz="1200"/>
              <a:t>It iterates over the vertices in the graph (</a:t>
            </a:r>
            <a:r>
              <a:rPr b="1" i="1" lang="en" sz="1200">
                <a:solidFill>
                  <a:srgbClr val="FF0000"/>
                </a:solidFill>
              </a:rPr>
              <a:t>including the start vertex</a:t>
            </a:r>
            <a:r>
              <a:rPr lang="en" sz="1200"/>
              <a:t>):</a:t>
            </a:r>
            <a:endParaRPr sz="1200"/>
          </a:p>
          <a:p>
            <a:pPr indent="-304800" lvl="2" marL="1371600" rtl="0" algn="l">
              <a:spcBef>
                <a:spcPts val="0"/>
              </a:spcBef>
              <a:spcAft>
                <a:spcPts val="0"/>
              </a:spcAft>
              <a:buSzPts val="1200"/>
              <a:buChar char="■"/>
            </a:pPr>
            <a:r>
              <a:rPr b="1" i="1" lang="en" sz="1200">
                <a:solidFill>
                  <a:srgbClr val="FF0000"/>
                </a:solidFill>
              </a:rPr>
              <a:t>Makes</a:t>
            </a:r>
            <a:r>
              <a:rPr lang="en" sz="1200"/>
              <a:t> a new </a:t>
            </a:r>
            <a:r>
              <a:rPr lang="en" sz="1200">
                <a:solidFill>
                  <a:schemeClr val="lt2"/>
                </a:solidFill>
                <a:latin typeface="Courier New"/>
                <a:ea typeface="Courier New"/>
                <a:cs typeface="Courier New"/>
                <a:sym typeface="Courier New"/>
              </a:rPr>
              <a:t>PathTuple</a:t>
            </a:r>
            <a:r>
              <a:rPr lang="en" sz="1200">
                <a:solidFill>
                  <a:schemeClr val="lt2"/>
                </a:solidFill>
              </a:rPr>
              <a:t> </a:t>
            </a:r>
            <a:r>
              <a:rPr lang="en" sz="1200"/>
              <a:t>for the vertex.</a:t>
            </a:r>
            <a:endParaRPr sz="1200"/>
          </a:p>
          <a:p>
            <a:pPr indent="-304800" lvl="2" marL="1371600" rtl="0" algn="l">
              <a:spcBef>
                <a:spcPts val="0"/>
              </a:spcBef>
              <a:spcAft>
                <a:spcPts val="0"/>
              </a:spcAft>
              <a:buSzPts val="1200"/>
              <a:buChar char="■"/>
            </a:pPr>
            <a:r>
              <a:rPr b="1" i="1" lang="en" sz="1200">
                <a:solidFill>
                  <a:srgbClr val="FF0000"/>
                </a:solidFill>
              </a:rPr>
              <a:t>Adds both</a:t>
            </a:r>
            <a:r>
              <a:rPr lang="en" sz="1200"/>
              <a:t> to the </a:t>
            </a:r>
            <a:r>
              <a:rPr lang="en" sz="1200">
                <a:latin typeface="Courier New"/>
                <a:ea typeface="Courier New"/>
                <a:cs typeface="Courier New"/>
                <a:sym typeface="Courier New"/>
              </a:rPr>
              <a:t>Map</a:t>
            </a:r>
            <a:r>
              <a:rPr lang="en" sz="1200"/>
              <a:t>.</a:t>
            </a:r>
            <a:endParaRPr sz="1200"/>
          </a:p>
          <a:p>
            <a:pPr indent="-304800" lvl="2" marL="1371600" rtl="0" algn="l">
              <a:spcBef>
                <a:spcPts val="0"/>
              </a:spcBef>
              <a:spcAft>
                <a:spcPts val="0"/>
              </a:spcAft>
              <a:buSzPts val="1200"/>
              <a:buChar char="■"/>
            </a:pPr>
            <a:r>
              <a:rPr b="1" i="1" lang="en" sz="1200">
                <a:solidFill>
                  <a:srgbClr val="FF0000"/>
                </a:solidFill>
              </a:rPr>
              <a:t>Adds</a:t>
            </a:r>
            <a:r>
              <a:rPr lang="en" sz="1200"/>
              <a:t> the tuple to the </a:t>
            </a:r>
            <a:r>
              <a:rPr lang="en" sz="1200">
                <a:latin typeface="Courier New"/>
                <a:ea typeface="Courier New"/>
                <a:cs typeface="Courier New"/>
                <a:sym typeface="Courier New"/>
              </a:rPr>
              <a:t>TupleQueue</a:t>
            </a:r>
            <a:r>
              <a:rPr lang="en" sz="1200"/>
              <a:t>.</a:t>
            </a:r>
            <a:endParaRPr sz="1200"/>
          </a:p>
          <a:p>
            <a:pPr indent="-304800" lvl="1" marL="914400" rtl="0" algn="l">
              <a:spcBef>
                <a:spcPts val="0"/>
              </a:spcBef>
              <a:spcAft>
                <a:spcPts val="0"/>
              </a:spcAft>
              <a:buSzPts val="1200"/>
              <a:buChar char="○"/>
            </a:pPr>
            <a:r>
              <a:rPr b="1" i="1" lang="en" sz="1200">
                <a:solidFill>
                  <a:srgbClr val="FF0000"/>
                </a:solidFill>
              </a:rPr>
              <a:t>After</a:t>
            </a:r>
            <a:r>
              <a:rPr lang="en" sz="1200">
                <a:solidFill>
                  <a:srgbClr val="FF0000"/>
                </a:solidFill>
              </a:rPr>
              <a:t> </a:t>
            </a:r>
            <a:r>
              <a:rPr lang="en" sz="1200"/>
              <a:t>the initial setup is complete, it fetches the </a:t>
            </a:r>
            <a:r>
              <a:rPr lang="en" sz="1200">
                <a:latin typeface="Courier New"/>
                <a:ea typeface="Courier New"/>
                <a:cs typeface="Courier New"/>
                <a:sym typeface="Courier New"/>
              </a:rPr>
              <a:t>PathTuple</a:t>
            </a:r>
            <a:r>
              <a:rPr lang="en" sz="1200"/>
              <a:t> for the start vertex from the map and updates it to a </a:t>
            </a:r>
            <a:r>
              <a:rPr b="1" i="1" lang="en" sz="1200">
                <a:solidFill>
                  <a:srgbClr val="FF0000"/>
                </a:solidFill>
              </a:rPr>
              <a:t>distance of 0</a:t>
            </a:r>
            <a:r>
              <a:rPr lang="en" sz="1200"/>
              <a:t>.</a:t>
            </a:r>
            <a:endParaRPr sz="1200"/>
          </a:p>
          <a:p>
            <a:pPr indent="-317500" lvl="0" marL="457200" rtl="0" algn="l">
              <a:spcBef>
                <a:spcPts val="0"/>
              </a:spcBef>
              <a:spcAft>
                <a:spcPts val="0"/>
              </a:spcAft>
              <a:buSzPts val="1400"/>
              <a:buChar char="●"/>
            </a:pPr>
            <a:r>
              <a:rPr lang="en" sz="1400"/>
              <a:t>If you have any questions, </a:t>
            </a:r>
            <a:r>
              <a:rPr b="1" i="1" lang="en" sz="1400">
                <a:solidFill>
                  <a:srgbClr val="FF0000"/>
                </a:solidFill>
              </a:rPr>
              <a:t>raise your hand!</a:t>
            </a:r>
            <a:r>
              <a:rPr lang="en" sz="1400"/>
              <a:t>.</a:t>
            </a:r>
            <a:endParaRPr sz="14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6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The Main Loop</a:t>
            </a:r>
            <a:endParaRPr/>
          </a:p>
        </p:txBody>
      </p:sp>
      <p:sp>
        <p:nvSpPr>
          <p:cNvPr id="903" name="Google Shape;903;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4" name="Google Shape;904;p62"/>
          <p:cNvSpPr txBox="1"/>
          <p:nvPr/>
        </p:nvSpPr>
        <p:spPr>
          <a:xfrm>
            <a:off x="3197475" y="4071628"/>
            <a:ext cx="2863200" cy="985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905" name="Google Shape;905;p62"/>
          <p:cNvSpPr txBox="1"/>
          <p:nvPr/>
        </p:nvSpPr>
        <p:spPr>
          <a:xfrm>
            <a:off x="3192110" y="4203235"/>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906" name="Google Shape;906;p62"/>
          <p:cNvSpPr txBox="1"/>
          <p:nvPr/>
        </p:nvSpPr>
        <p:spPr>
          <a:xfrm>
            <a:off x="5038260" y="42007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07" name="Google Shape;907;p62"/>
          <p:cNvSpPr txBox="1"/>
          <p:nvPr/>
        </p:nvSpPr>
        <p:spPr>
          <a:xfrm>
            <a:off x="4123860" y="4276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08" name="Google Shape;908;p62"/>
          <p:cNvSpPr txBox="1"/>
          <p:nvPr/>
        </p:nvSpPr>
        <p:spPr>
          <a:xfrm>
            <a:off x="3209460" y="44293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09" name="Google Shape;909;p62"/>
          <p:cNvSpPr txBox="1"/>
          <p:nvPr/>
        </p:nvSpPr>
        <p:spPr>
          <a:xfrm>
            <a:off x="32856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10" name="Google Shape;910;p62"/>
          <p:cNvSpPr txBox="1"/>
          <p:nvPr/>
        </p:nvSpPr>
        <p:spPr>
          <a:xfrm>
            <a:off x="5038260" y="45055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11" name="Google Shape;911;p62"/>
          <p:cNvSpPr txBox="1"/>
          <p:nvPr/>
        </p:nvSpPr>
        <p:spPr>
          <a:xfrm>
            <a:off x="45048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aphicFrame>
        <p:nvGraphicFramePr>
          <p:cNvPr id="912" name="Google Shape;912;p62"/>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913" name="Google Shape;913;p62"/>
          <p:cNvSpPr txBox="1"/>
          <p:nvPr>
            <p:ph idx="4294967295" type="body"/>
          </p:nvPr>
        </p:nvSpPr>
        <p:spPr>
          <a:xfrm>
            <a:off x="131450" y="1366438"/>
            <a:ext cx="2863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Next, the main loop begins. The path tuple with the</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shortest distance</a:t>
            </a:r>
            <a:r>
              <a:rPr b="1" i="1" lang="en" sz="1200">
                <a:solidFill>
                  <a:srgbClr val="000000"/>
                </a:solidFill>
                <a:latin typeface="Arial"/>
                <a:ea typeface="Arial"/>
                <a:cs typeface="Arial"/>
                <a:sym typeface="Arial"/>
              </a:rPr>
              <a:t> </a:t>
            </a:r>
            <a:r>
              <a:rPr lang="en" sz="1200">
                <a:solidFill>
                  <a:srgbClr val="000000"/>
                </a:solidFill>
                <a:latin typeface="Arial"/>
                <a:ea typeface="Arial"/>
                <a:cs typeface="Arial"/>
                <a:sym typeface="Arial"/>
              </a:rPr>
              <a:t>from start is </a:t>
            </a:r>
            <a:r>
              <a:rPr b="1" i="1" lang="en" sz="1200">
                <a:solidFill>
                  <a:srgbClr val="FF0000"/>
                </a:solidFill>
                <a:latin typeface="Arial"/>
                <a:ea typeface="Arial"/>
                <a:cs typeface="Arial"/>
                <a:sym typeface="Arial"/>
              </a:rPr>
              <a:t>removed </a:t>
            </a:r>
            <a:r>
              <a:rPr lang="en" sz="1200">
                <a:solidFill>
                  <a:srgbClr val="000000"/>
                </a:solidFill>
                <a:latin typeface="Arial"/>
                <a:ea typeface="Arial"/>
                <a:cs typeface="Arial"/>
                <a:sym typeface="Arial"/>
              </a:rPr>
              <a:t>from the tuple queue.</a:t>
            </a:r>
            <a:endParaRPr sz="1200">
              <a:solidFill>
                <a:srgbClr val="000000"/>
              </a:solidFill>
              <a:latin typeface="Arial"/>
              <a:ea typeface="Arial"/>
              <a:cs typeface="Arial"/>
              <a:sym typeface="Arial"/>
            </a:endParaRPr>
          </a:p>
        </p:txBody>
      </p:sp>
      <p:sp>
        <p:nvSpPr>
          <p:cNvPr id="914" name="Google Shape;914;p62"/>
          <p:cNvSpPr txBox="1"/>
          <p:nvPr>
            <p:ph idx="4294967295" type="body"/>
          </p:nvPr>
        </p:nvSpPr>
        <p:spPr>
          <a:xfrm>
            <a:off x="131450" y="2204638"/>
            <a:ext cx="28632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i="1" lang="en" sz="1200">
                <a:solidFill>
                  <a:srgbClr val="000000"/>
                </a:solidFill>
                <a:latin typeface="Arial"/>
                <a:ea typeface="Arial"/>
                <a:cs typeface="Arial"/>
                <a:sym typeface="Arial"/>
              </a:rPr>
              <a:t>(this should be the </a:t>
            </a:r>
            <a:r>
              <a:rPr b="1" i="1" lang="en" sz="1200">
                <a:solidFill>
                  <a:srgbClr val="FF0000"/>
                </a:solidFill>
                <a:latin typeface="Arial"/>
                <a:ea typeface="Arial"/>
                <a:cs typeface="Arial"/>
                <a:sym typeface="Arial"/>
              </a:rPr>
              <a:t>start vertex</a:t>
            </a:r>
            <a:r>
              <a:rPr i="1" lang="en" sz="1200">
                <a:solidFill>
                  <a:srgbClr val="000000"/>
                </a:solidFill>
                <a:latin typeface="Arial"/>
                <a:ea typeface="Arial"/>
                <a:cs typeface="Arial"/>
                <a:sym typeface="Arial"/>
              </a:rPr>
              <a:t> first)</a:t>
            </a:r>
            <a:endParaRPr sz="1200">
              <a:solidFill>
                <a:srgbClr val="000000"/>
              </a:solidFill>
              <a:latin typeface="Arial"/>
              <a:ea typeface="Arial"/>
              <a:cs typeface="Arial"/>
              <a:sym typeface="Arial"/>
            </a:endParaRPr>
          </a:p>
        </p:txBody>
      </p:sp>
      <p:sp>
        <p:nvSpPr>
          <p:cNvPr id="915" name="Google Shape;915;p62"/>
          <p:cNvSpPr txBox="1"/>
          <p:nvPr/>
        </p:nvSpPr>
        <p:spPr>
          <a:xfrm>
            <a:off x="7130310" y="3928760"/>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916" name="Google Shape;916;p62"/>
          <p:cNvSpPr txBox="1"/>
          <p:nvPr>
            <p:ph idx="4294967295" type="body"/>
          </p:nvPr>
        </p:nvSpPr>
        <p:spPr>
          <a:xfrm>
            <a:off x="131450" y="2668714"/>
            <a:ext cx="28632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 idea is that, if </a:t>
            </a:r>
            <a:r>
              <a:rPr b="1" i="1" lang="en" sz="1200">
                <a:solidFill>
                  <a:srgbClr val="FF0000"/>
                </a:solidFill>
                <a:latin typeface="Arial"/>
                <a:ea typeface="Arial"/>
                <a:cs typeface="Arial"/>
                <a:sym typeface="Arial"/>
              </a:rPr>
              <a:t>every other </a:t>
            </a:r>
            <a:r>
              <a:rPr lang="en" sz="1200">
                <a:solidFill>
                  <a:srgbClr val="000000"/>
                </a:solidFill>
                <a:latin typeface="Arial"/>
                <a:ea typeface="Arial"/>
                <a:cs typeface="Arial"/>
                <a:sym typeface="Arial"/>
              </a:rPr>
              <a:t>vertex still in the queue is </a:t>
            </a:r>
            <a:r>
              <a:rPr b="1" i="1" lang="en" sz="1200">
                <a:solidFill>
                  <a:srgbClr val="FF0000"/>
                </a:solidFill>
                <a:latin typeface="Arial"/>
                <a:ea typeface="Arial"/>
                <a:cs typeface="Arial"/>
                <a:sym typeface="Arial"/>
              </a:rPr>
              <a:t>farther away</a:t>
            </a:r>
            <a:r>
              <a:rPr lang="en" sz="1200">
                <a:solidFill>
                  <a:srgbClr val="000000"/>
                </a:solidFill>
                <a:latin typeface="Arial"/>
                <a:ea typeface="Arial"/>
                <a:cs typeface="Arial"/>
                <a:sym typeface="Arial"/>
              </a:rPr>
              <a:t>, then we must already know the optimal path to </a:t>
            </a:r>
            <a:r>
              <a:rPr b="1" i="1" lang="en" sz="1200">
                <a:solidFill>
                  <a:srgbClr val="FF0000"/>
                </a:solidFill>
                <a:latin typeface="Arial"/>
                <a:ea typeface="Arial"/>
                <a:cs typeface="Arial"/>
                <a:sym typeface="Arial"/>
              </a:rPr>
              <a:t>this</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vertex.</a:t>
            </a:r>
            <a:endParaRPr sz="1200">
              <a:solidFill>
                <a:srgbClr val="000000"/>
              </a:solidFill>
              <a:latin typeface="Arial"/>
              <a:ea typeface="Arial"/>
              <a:cs typeface="Arial"/>
              <a:sym typeface="Arial"/>
            </a:endParaRPr>
          </a:p>
        </p:txBody>
      </p:sp>
      <p:sp>
        <p:nvSpPr>
          <p:cNvPr id="917" name="Google Shape;917;p62"/>
          <p:cNvSpPr txBox="1"/>
          <p:nvPr>
            <p:ph idx="4294967295" type="body"/>
          </p:nvPr>
        </p:nvSpPr>
        <p:spPr>
          <a:xfrm>
            <a:off x="131450" y="3694256"/>
            <a:ext cx="28632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In other words, there can't be a </a:t>
            </a:r>
            <a:r>
              <a:rPr b="1" i="1" lang="en" sz="1200">
                <a:solidFill>
                  <a:srgbClr val="FF0000"/>
                </a:solidFill>
                <a:latin typeface="Arial"/>
                <a:ea typeface="Arial"/>
                <a:cs typeface="Arial"/>
                <a:sym typeface="Arial"/>
              </a:rPr>
              <a:t>shorter path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through another vertex that is </a:t>
            </a:r>
            <a:r>
              <a:rPr b="1" i="1" lang="en" sz="1200">
                <a:solidFill>
                  <a:srgbClr val="FF0000"/>
                </a:solidFill>
                <a:latin typeface="Arial"/>
                <a:ea typeface="Arial"/>
                <a:cs typeface="Arial"/>
                <a:sym typeface="Arial"/>
              </a:rPr>
              <a:t>farther away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918" name="Google Shape;918;p62"/>
          <p:cNvGrpSpPr/>
          <p:nvPr/>
        </p:nvGrpSpPr>
        <p:grpSpPr>
          <a:xfrm>
            <a:off x="6244267" y="1458389"/>
            <a:ext cx="2587178" cy="2330671"/>
            <a:chOff x="338125" y="1610890"/>
            <a:chExt cx="3334852" cy="3004217"/>
          </a:xfrm>
        </p:grpSpPr>
        <p:sp>
          <p:nvSpPr>
            <p:cNvPr id="919" name="Google Shape;919;p62"/>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920" name="Google Shape;920;p62"/>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921" name="Google Shape;921;p62"/>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922" name="Google Shape;922;p62"/>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923" name="Google Shape;923;p62"/>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924" name="Google Shape;924;p62"/>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925" name="Google Shape;925;p62"/>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926" name="Google Shape;926;p62"/>
            <p:cNvCxnSpPr>
              <a:stCxn id="919" idx="3"/>
              <a:endCxn id="921"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927" name="Google Shape;927;p62"/>
            <p:cNvCxnSpPr>
              <a:stCxn id="919" idx="6"/>
              <a:endCxn id="922"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928" name="Google Shape;928;p62"/>
            <p:cNvCxnSpPr>
              <a:stCxn id="919" idx="5"/>
              <a:endCxn id="920"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929" name="Google Shape;929;p62"/>
            <p:cNvCxnSpPr>
              <a:stCxn id="920" idx="6"/>
              <a:endCxn id="924"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930" name="Google Shape;930;p62"/>
            <p:cNvCxnSpPr>
              <a:stCxn id="924" idx="4"/>
              <a:endCxn id="923"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931" name="Google Shape;931;p62"/>
            <p:cNvCxnSpPr>
              <a:stCxn id="920" idx="3"/>
              <a:endCxn id="925"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932" name="Google Shape;932;p62"/>
            <p:cNvCxnSpPr>
              <a:stCxn id="925" idx="6"/>
              <a:endCxn id="923"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933" name="Google Shape;933;p62"/>
            <p:cNvCxnSpPr>
              <a:stCxn id="921" idx="6"/>
              <a:endCxn id="920"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934" name="Google Shape;934;p62"/>
            <p:cNvCxnSpPr>
              <a:stCxn id="922" idx="5"/>
              <a:endCxn id="924"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935" name="Google Shape;935;p62"/>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936" name="Google Shape;936;p62"/>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937" name="Google Shape;937;p62"/>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38" name="Google Shape;938;p62"/>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939" name="Google Shape;939;p62"/>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940" name="Google Shape;940;p62"/>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41" name="Google Shape;941;p62"/>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42" name="Google Shape;942;p62"/>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943" name="Google Shape;943;p62"/>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944" name="Google Shape;944;p62"/>
            <p:cNvCxnSpPr>
              <a:stCxn id="921" idx="5"/>
              <a:endCxn id="925"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945" name="Google Shape;945;p62"/>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946" name="Google Shape;946;p62"/>
          <p:cNvSpPr txBox="1"/>
          <p:nvPr/>
        </p:nvSpPr>
        <p:spPr>
          <a:xfrm>
            <a:off x="3259475" y="4229250"/>
            <a:ext cx="818400" cy="31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947" name="Google Shape;947;p62"/>
          <p:cNvSpPr txBox="1"/>
          <p:nvPr>
            <p:ph idx="4294967295" type="body"/>
          </p:nvPr>
        </p:nvSpPr>
        <p:spPr>
          <a:xfrm>
            <a:off x="131450" y="4532456"/>
            <a:ext cx="28632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Let's call this vertex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1000"/>
                                        <p:tgtEl>
                                          <p:spTgt spid="9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1000"/>
                                        <p:tgtEl>
                                          <p:spTgt spid="91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46"/>
                                        </p:tgtEl>
                                        <p:attrNameLst>
                                          <p:attrName>style.visibility</p:attrName>
                                        </p:attrNameLst>
                                      </p:cBhvr>
                                      <p:to>
                                        <p:strVal val="visible"/>
                                      </p:to>
                                    </p:set>
                                    <p:animEffect filter="fade" transition="in">
                                      <p:cBhvr>
                                        <p:cTn dur="1000"/>
                                        <p:tgtEl>
                                          <p:spTgt spid="946"/>
                                        </p:tgtEl>
                                      </p:cBhvr>
                                    </p:animEffect>
                                  </p:childTnLst>
                                </p:cTn>
                              </p:par>
                              <p:par>
                                <p:cTn fill="hold" nodeType="with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1000"/>
                                        <p:tgtEl>
                                          <p:spTgt spid="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1000"/>
                                        <p:tgtEl>
                                          <p:spTgt spid="9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7"/>
                                        </p:tgtEl>
                                        <p:attrNameLst>
                                          <p:attrName>style.visibility</p:attrName>
                                        </p:attrNameLst>
                                      </p:cBhvr>
                                      <p:to>
                                        <p:strVal val="visible"/>
                                      </p:to>
                                    </p:set>
                                    <p:animEffect filter="fade" transition="in">
                                      <p:cBhvr>
                                        <p:cTn dur="1000"/>
                                        <p:tgtEl>
                                          <p:spTgt spid="9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7"/>
                                        </p:tgtEl>
                                        <p:attrNameLst>
                                          <p:attrName>style.visibility</p:attrName>
                                        </p:attrNameLst>
                                      </p:cBhvr>
                                      <p:to>
                                        <p:strVal val="visible"/>
                                      </p:to>
                                    </p:set>
                                    <p:animEffect filter="fade" transition="in">
                                      <p:cBhvr>
                                        <p:cTn dur="1000"/>
                                        <p:tgtEl>
                                          <p:spTgt spid="9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63"/>
          <p:cNvSpPr txBox="1"/>
          <p:nvPr/>
        </p:nvSpPr>
        <p:spPr>
          <a:xfrm>
            <a:off x="5038260" y="42007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3" name="Google Shape;953;p6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The Main Loop</a:t>
            </a:r>
            <a:endParaRPr/>
          </a:p>
        </p:txBody>
      </p:sp>
      <p:sp>
        <p:nvSpPr>
          <p:cNvPr id="954" name="Google Shape;954;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55" name="Google Shape;955;p63"/>
          <p:cNvSpPr txBox="1"/>
          <p:nvPr/>
        </p:nvSpPr>
        <p:spPr>
          <a:xfrm>
            <a:off x="4123860" y="4276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6" name="Google Shape;956;p63"/>
          <p:cNvSpPr txBox="1"/>
          <p:nvPr/>
        </p:nvSpPr>
        <p:spPr>
          <a:xfrm>
            <a:off x="3209460" y="44293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7" name="Google Shape;957;p63"/>
          <p:cNvSpPr txBox="1"/>
          <p:nvPr/>
        </p:nvSpPr>
        <p:spPr>
          <a:xfrm>
            <a:off x="32856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8" name="Google Shape;958;p63"/>
          <p:cNvSpPr txBox="1"/>
          <p:nvPr/>
        </p:nvSpPr>
        <p:spPr>
          <a:xfrm>
            <a:off x="5038260" y="45055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9" name="Google Shape;959;p63"/>
          <p:cNvSpPr txBox="1"/>
          <p:nvPr/>
        </p:nvSpPr>
        <p:spPr>
          <a:xfrm>
            <a:off x="45048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aphicFrame>
        <p:nvGraphicFramePr>
          <p:cNvPr id="960" name="Google Shape;960;p63"/>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961" name="Google Shape;961;p63"/>
          <p:cNvSpPr txBox="1"/>
          <p:nvPr>
            <p:ph idx="4294967295" type="body"/>
          </p:nvPr>
        </p:nvSpPr>
        <p:spPr>
          <a:xfrm>
            <a:off x="110821" y="1366450"/>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Next, we look at each of V's neighbors </a:t>
            </a:r>
            <a:r>
              <a:rPr b="1" i="1" lang="en" sz="1200">
                <a:solidFill>
                  <a:srgbClr val="FF0000"/>
                </a:solidFill>
                <a:latin typeface="Arial"/>
                <a:ea typeface="Arial"/>
                <a:cs typeface="Arial"/>
                <a:sym typeface="Arial"/>
              </a:rPr>
              <a:t>N</a:t>
            </a:r>
            <a:r>
              <a:rPr lang="en" sz="1200">
                <a:solidFill>
                  <a:srgbClr val="000000"/>
                </a:solidFill>
                <a:latin typeface="Arial"/>
                <a:ea typeface="Arial"/>
                <a:cs typeface="Arial"/>
                <a:sym typeface="Arial"/>
              </a:rPr>
              <a:t> and we compute the distance from the start to </a:t>
            </a:r>
            <a:r>
              <a:rPr b="1" i="1" lang="en" sz="1200">
                <a:solidFill>
                  <a:srgbClr val="FF0000"/>
                </a:solidFill>
                <a:latin typeface="Arial"/>
                <a:ea typeface="Arial"/>
                <a:cs typeface="Arial"/>
                <a:sym typeface="Arial"/>
              </a:rPr>
              <a:t>N</a:t>
            </a:r>
            <a:r>
              <a:rPr lang="en" sz="1200">
                <a:solidFill>
                  <a:srgbClr val="000000"/>
                </a:solidFill>
                <a:latin typeface="Arial"/>
                <a:ea typeface="Arial"/>
                <a:cs typeface="Arial"/>
                <a:sym typeface="Arial"/>
              </a:rPr>
              <a:t> through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962" name="Google Shape;962;p63"/>
          <p:cNvSpPr txBox="1"/>
          <p:nvPr/>
        </p:nvSpPr>
        <p:spPr>
          <a:xfrm>
            <a:off x="7130310" y="3928760"/>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grpSp>
        <p:nvGrpSpPr>
          <p:cNvPr id="963" name="Google Shape;963;p63"/>
          <p:cNvGrpSpPr/>
          <p:nvPr/>
        </p:nvGrpSpPr>
        <p:grpSpPr>
          <a:xfrm>
            <a:off x="6244267" y="1458389"/>
            <a:ext cx="2587178" cy="2330671"/>
            <a:chOff x="338125" y="1610890"/>
            <a:chExt cx="3334852" cy="3004217"/>
          </a:xfrm>
        </p:grpSpPr>
        <p:sp>
          <p:nvSpPr>
            <p:cNvPr id="964" name="Google Shape;964;p63"/>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965" name="Google Shape;965;p63"/>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966" name="Google Shape;966;p63"/>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967" name="Google Shape;967;p63"/>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968" name="Google Shape;968;p63"/>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969" name="Google Shape;969;p63"/>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970" name="Google Shape;970;p63"/>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971" name="Google Shape;971;p63"/>
            <p:cNvCxnSpPr>
              <a:stCxn id="964" idx="3"/>
              <a:endCxn id="966"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972" name="Google Shape;972;p63"/>
            <p:cNvCxnSpPr>
              <a:stCxn id="964" idx="6"/>
              <a:endCxn id="967"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973" name="Google Shape;973;p63"/>
            <p:cNvCxnSpPr>
              <a:stCxn id="964" idx="5"/>
              <a:endCxn id="965"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974" name="Google Shape;974;p63"/>
            <p:cNvCxnSpPr>
              <a:stCxn id="965" idx="6"/>
              <a:endCxn id="969"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975" name="Google Shape;975;p63"/>
            <p:cNvCxnSpPr>
              <a:stCxn id="969" idx="4"/>
              <a:endCxn id="968"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976" name="Google Shape;976;p63"/>
            <p:cNvCxnSpPr>
              <a:stCxn id="965" idx="3"/>
              <a:endCxn id="970"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977" name="Google Shape;977;p63"/>
            <p:cNvCxnSpPr>
              <a:stCxn id="970" idx="6"/>
              <a:endCxn id="968"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978" name="Google Shape;978;p63"/>
            <p:cNvCxnSpPr>
              <a:stCxn id="966" idx="6"/>
              <a:endCxn id="965"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979" name="Google Shape;979;p63"/>
            <p:cNvCxnSpPr>
              <a:stCxn id="967" idx="5"/>
              <a:endCxn id="969"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980" name="Google Shape;980;p63"/>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981" name="Google Shape;981;p63"/>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982" name="Google Shape;982;p63"/>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83" name="Google Shape;983;p63"/>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984" name="Google Shape;984;p63"/>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985" name="Google Shape;985;p63"/>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86" name="Google Shape;986;p63"/>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87" name="Google Shape;987;p63"/>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988" name="Google Shape;988;p63"/>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989" name="Google Shape;989;p63"/>
            <p:cNvCxnSpPr>
              <a:stCxn id="966" idx="5"/>
              <a:endCxn id="970"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990" name="Google Shape;990;p63"/>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991" name="Google Shape;991;p63"/>
          <p:cNvSpPr txBox="1"/>
          <p:nvPr>
            <p:ph idx="4294967295" type="body"/>
          </p:nvPr>
        </p:nvSpPr>
        <p:spPr>
          <a:xfrm>
            <a:off x="110821" y="2204649"/>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That distance is the </a:t>
            </a:r>
            <a:r>
              <a:rPr b="1" i="1" lang="en" sz="1200">
                <a:solidFill>
                  <a:srgbClr val="FF0000"/>
                </a:solidFill>
                <a:latin typeface="Arial"/>
                <a:ea typeface="Arial"/>
                <a:cs typeface="Arial"/>
                <a:sym typeface="Arial"/>
              </a:rPr>
              <a:t>sum</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distance in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's path tuple and the </a:t>
            </a:r>
            <a:r>
              <a:rPr b="1" i="1" lang="en" sz="1200">
                <a:solidFill>
                  <a:srgbClr val="FF0000"/>
                </a:solidFill>
                <a:latin typeface="Arial"/>
                <a:ea typeface="Arial"/>
                <a:cs typeface="Arial"/>
                <a:sym typeface="Arial"/>
              </a:rPr>
              <a:t>weight of the edge</a:t>
            </a:r>
            <a:r>
              <a:rPr lang="en" sz="1200">
                <a:solidFill>
                  <a:srgbClr val="000000"/>
                </a:solidFill>
                <a:latin typeface="Arial"/>
                <a:ea typeface="Arial"/>
                <a:cs typeface="Arial"/>
                <a:sym typeface="Arial"/>
              </a:rPr>
              <a:t> between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and </a:t>
            </a:r>
            <a:r>
              <a:rPr b="1" i="1" lang="en" sz="1200">
                <a:solidFill>
                  <a:srgbClr val="FF0000"/>
                </a:solidFill>
                <a:latin typeface="Arial"/>
                <a:ea typeface="Arial"/>
                <a:cs typeface="Arial"/>
                <a:sym typeface="Arial"/>
              </a:rPr>
              <a:t>N</a:t>
            </a:r>
            <a:r>
              <a:rPr lang="en" sz="1200">
                <a:solidFill>
                  <a:srgbClr val="000000"/>
                </a:solidFill>
                <a:latin typeface="Arial"/>
                <a:ea typeface="Arial"/>
                <a:cs typeface="Arial"/>
                <a:sym typeface="Arial"/>
              </a:rPr>
              <a:t>. </a:t>
            </a:r>
            <a:endParaRPr sz="1200">
              <a:solidFill>
                <a:srgbClr val="000000"/>
              </a:solidFill>
              <a:latin typeface="Arial"/>
              <a:ea typeface="Arial"/>
              <a:cs typeface="Arial"/>
              <a:sym typeface="Arial"/>
            </a:endParaRPr>
          </a:p>
        </p:txBody>
      </p:sp>
      <p:sp>
        <p:nvSpPr>
          <p:cNvPr id="992" name="Google Shape;992;p63"/>
          <p:cNvSpPr txBox="1"/>
          <p:nvPr>
            <p:ph idx="4294967295" type="body"/>
          </p:nvPr>
        </p:nvSpPr>
        <p:spPr>
          <a:xfrm>
            <a:off x="110821" y="3042848"/>
            <a:ext cx="299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For example, the distance from the </a:t>
            </a:r>
            <a:r>
              <a:rPr b="1" i="1" lang="en" sz="1200">
                <a:solidFill>
                  <a:srgbClr val="FF0000"/>
                </a:solidFill>
                <a:latin typeface="Arial"/>
                <a:ea typeface="Arial"/>
                <a:cs typeface="Arial"/>
                <a:sym typeface="Arial"/>
              </a:rPr>
              <a:t>start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a:t>
            </a:r>
            <a:r>
              <a:rPr b="1" i="1" lang="en" sz="1200">
                <a:solidFill>
                  <a:srgbClr val="FF0000"/>
                </a:solidFill>
                <a:latin typeface="Arial"/>
                <a:ea typeface="Arial"/>
                <a:cs typeface="Arial"/>
                <a:sym typeface="Arial"/>
              </a:rPr>
              <a:t>B</a:t>
            </a:r>
            <a:r>
              <a:rPr lang="en" sz="1200">
                <a:solidFill>
                  <a:srgbClr val="000000"/>
                </a:solidFill>
                <a:latin typeface="Arial"/>
                <a:ea typeface="Arial"/>
                <a:cs typeface="Arial"/>
                <a:sym typeface="Arial"/>
              </a:rPr>
              <a:t> through </a:t>
            </a:r>
            <a:r>
              <a:rPr b="1" i="1" lang="en" sz="1200">
                <a:solidFill>
                  <a:srgbClr val="FF0000"/>
                </a:solidFill>
                <a:latin typeface="Arial"/>
                <a:ea typeface="Arial"/>
                <a:cs typeface="Arial"/>
                <a:sym typeface="Arial"/>
              </a:rPr>
              <a:t>A</a:t>
            </a:r>
            <a:r>
              <a:rPr lang="en" sz="1200">
                <a:solidFill>
                  <a:srgbClr val="000000"/>
                </a:solidFill>
                <a:latin typeface="Arial"/>
                <a:ea typeface="Arial"/>
                <a:cs typeface="Arial"/>
                <a:sym typeface="Arial"/>
              </a:rPr>
              <a:t> is the </a:t>
            </a:r>
            <a:r>
              <a:rPr b="1" i="1" lang="en" sz="1200">
                <a:solidFill>
                  <a:srgbClr val="FF0000"/>
                </a:solidFill>
                <a:latin typeface="Arial"/>
                <a:ea typeface="Arial"/>
                <a:cs typeface="Arial"/>
                <a:sym typeface="Arial"/>
              </a:rPr>
              <a:t>distance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a:t>
            </a:r>
            <a:r>
              <a:rPr b="1" i="1" lang="en" sz="1200">
                <a:solidFill>
                  <a:srgbClr val="FF0000"/>
                </a:solidFill>
                <a:latin typeface="Arial"/>
                <a:ea typeface="Arial"/>
                <a:cs typeface="Arial"/>
                <a:sym typeface="Arial"/>
              </a:rPr>
              <a:t>A</a:t>
            </a:r>
            <a:r>
              <a:rPr lang="en" sz="1200">
                <a:solidFill>
                  <a:srgbClr val="000000"/>
                </a:solidFill>
                <a:latin typeface="Arial"/>
                <a:ea typeface="Arial"/>
                <a:cs typeface="Arial"/>
                <a:sym typeface="Arial"/>
              </a:rPr>
              <a:t>'s path tuple (</a:t>
            </a:r>
            <a:r>
              <a:rPr b="1" i="1" lang="en" sz="1200">
                <a:solidFill>
                  <a:srgbClr val="FF0000"/>
                </a:solidFill>
                <a:latin typeface="Arial"/>
                <a:ea typeface="Arial"/>
                <a:cs typeface="Arial"/>
                <a:sym typeface="Arial"/>
              </a:rPr>
              <a:t>0</a:t>
            </a:r>
            <a:r>
              <a:rPr lang="en" sz="1200">
                <a:solidFill>
                  <a:srgbClr val="000000"/>
                </a:solidFill>
                <a:latin typeface="Arial"/>
                <a:ea typeface="Arial"/>
                <a:cs typeface="Arial"/>
                <a:sym typeface="Arial"/>
              </a:rPr>
              <a:t>) plus the </a:t>
            </a:r>
            <a:r>
              <a:rPr b="1" i="1" lang="en" sz="1200">
                <a:solidFill>
                  <a:srgbClr val="FF0000"/>
                </a:solidFill>
                <a:latin typeface="Arial"/>
                <a:ea typeface="Arial"/>
                <a:cs typeface="Arial"/>
                <a:sym typeface="Arial"/>
              </a:rPr>
              <a:t>weight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edge between </a:t>
            </a:r>
            <a:r>
              <a:rPr b="1" i="1" lang="en" sz="1200">
                <a:solidFill>
                  <a:srgbClr val="FF0000"/>
                </a:solidFill>
                <a:latin typeface="Arial"/>
                <a:ea typeface="Arial"/>
                <a:cs typeface="Arial"/>
                <a:sym typeface="Arial"/>
              </a:rPr>
              <a:t>A</a:t>
            </a:r>
            <a:r>
              <a:rPr lang="en" sz="1200">
                <a:solidFill>
                  <a:srgbClr val="000000"/>
                </a:solidFill>
                <a:latin typeface="Arial"/>
                <a:ea typeface="Arial"/>
                <a:cs typeface="Arial"/>
                <a:sym typeface="Arial"/>
              </a:rPr>
              <a:t> and </a:t>
            </a:r>
            <a:r>
              <a:rPr b="1" i="1" lang="en" sz="1200">
                <a:solidFill>
                  <a:srgbClr val="FF0000"/>
                </a:solidFill>
                <a:latin typeface="Arial"/>
                <a:ea typeface="Arial"/>
                <a:cs typeface="Arial"/>
                <a:sym typeface="Arial"/>
              </a:rPr>
              <a:t>B</a:t>
            </a:r>
            <a:r>
              <a:rPr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6</a:t>
            </a:r>
            <a:r>
              <a:rPr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0 + 6 = 6</a:t>
            </a:r>
            <a:endParaRPr sz="1200">
              <a:solidFill>
                <a:srgbClr val="000000"/>
              </a:solidFill>
              <a:latin typeface="Arial"/>
              <a:ea typeface="Arial"/>
              <a:cs typeface="Arial"/>
              <a:sym typeface="Arial"/>
            </a:endParaRPr>
          </a:p>
        </p:txBody>
      </p:sp>
      <p:sp>
        <p:nvSpPr>
          <p:cNvPr id="993" name="Google Shape;993;p63"/>
          <p:cNvSpPr txBox="1"/>
          <p:nvPr>
            <p:ph idx="4294967295" type="body"/>
          </p:nvPr>
        </p:nvSpPr>
        <p:spPr>
          <a:xfrm>
            <a:off x="110821" y="4060951"/>
            <a:ext cx="299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If this distance is </a:t>
            </a:r>
            <a:r>
              <a:rPr b="1" i="1" lang="en" sz="1200">
                <a:solidFill>
                  <a:srgbClr val="FF0000"/>
                </a:solidFill>
                <a:latin typeface="Arial"/>
                <a:ea typeface="Arial"/>
                <a:cs typeface="Arial"/>
                <a:sym typeface="Arial"/>
              </a:rPr>
              <a:t>shorter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than the distance currently in </a:t>
            </a:r>
            <a:r>
              <a:rPr b="1" i="1" lang="en" sz="1200">
                <a:solidFill>
                  <a:srgbClr val="FF0000"/>
                </a:solidFill>
                <a:latin typeface="Arial"/>
                <a:ea typeface="Arial"/>
                <a:cs typeface="Arial"/>
                <a:sym typeface="Arial"/>
              </a:rPr>
              <a:t>N</a:t>
            </a:r>
            <a:r>
              <a:rPr lang="en" sz="1200">
                <a:solidFill>
                  <a:srgbClr val="000000"/>
                </a:solidFill>
                <a:latin typeface="Arial"/>
                <a:ea typeface="Arial"/>
                <a:cs typeface="Arial"/>
                <a:sym typeface="Arial"/>
              </a:rPr>
              <a:t>'s path tuple, then the path tuple is updated with the new distance and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as the predecessor of</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N</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994" name="Google Shape;994;p63"/>
          <p:cNvGrpSpPr/>
          <p:nvPr/>
        </p:nvGrpSpPr>
        <p:grpSpPr>
          <a:xfrm>
            <a:off x="4608575" y="2059658"/>
            <a:ext cx="1373950" cy="2507017"/>
            <a:chOff x="4608575" y="2059658"/>
            <a:chExt cx="1373950" cy="2507017"/>
          </a:xfrm>
        </p:grpSpPr>
        <p:sp>
          <p:nvSpPr>
            <p:cNvPr id="995" name="Google Shape;995;p63"/>
            <p:cNvSpPr txBox="1"/>
            <p:nvPr/>
          </p:nvSpPr>
          <p:spPr>
            <a:xfrm>
              <a:off x="5072625" y="4263075"/>
              <a:ext cx="909900" cy="30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B:(A, 6)</a:t>
              </a:r>
              <a:endParaRPr sz="1000">
                <a:solidFill>
                  <a:srgbClr val="FF9900"/>
                </a:solidFill>
                <a:latin typeface="Consolas"/>
                <a:ea typeface="Consolas"/>
                <a:cs typeface="Consolas"/>
                <a:sym typeface="Consolas"/>
              </a:endParaRPr>
            </a:p>
          </p:txBody>
        </p:sp>
        <p:sp>
          <p:nvSpPr>
            <p:cNvPr id="996" name="Google Shape;996;p63"/>
            <p:cNvSpPr txBox="1"/>
            <p:nvPr/>
          </p:nvSpPr>
          <p:spPr>
            <a:xfrm>
              <a:off x="4608575" y="2059658"/>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(A, 6)</a:t>
              </a:r>
              <a:endParaRPr sz="1000">
                <a:solidFill>
                  <a:srgbClr val="FF9900"/>
                </a:solidFill>
                <a:latin typeface="Consolas"/>
                <a:ea typeface="Consolas"/>
                <a:cs typeface="Consolas"/>
                <a:sym typeface="Consolas"/>
              </a:endParaRPr>
            </a:p>
          </p:txBody>
        </p:sp>
      </p:grpSp>
      <p:grpSp>
        <p:nvGrpSpPr>
          <p:cNvPr id="997" name="Google Shape;997;p63"/>
          <p:cNvGrpSpPr/>
          <p:nvPr/>
        </p:nvGrpSpPr>
        <p:grpSpPr>
          <a:xfrm>
            <a:off x="4220675" y="2391963"/>
            <a:ext cx="1443000" cy="2250912"/>
            <a:chOff x="4220675" y="2391963"/>
            <a:chExt cx="1443000" cy="2250912"/>
          </a:xfrm>
        </p:grpSpPr>
        <p:sp>
          <p:nvSpPr>
            <p:cNvPr id="998" name="Google Shape;998;p63"/>
            <p:cNvSpPr txBox="1"/>
            <p:nvPr/>
          </p:nvSpPr>
          <p:spPr>
            <a:xfrm>
              <a:off x="4608575" y="2391963"/>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(A, 1)</a:t>
              </a:r>
              <a:endParaRPr sz="1000">
                <a:solidFill>
                  <a:srgbClr val="FF9900"/>
                </a:solidFill>
                <a:latin typeface="Consolas"/>
                <a:ea typeface="Consolas"/>
                <a:cs typeface="Consolas"/>
                <a:sym typeface="Consolas"/>
              </a:endParaRPr>
            </a:p>
          </p:txBody>
        </p:sp>
        <p:sp>
          <p:nvSpPr>
            <p:cNvPr id="999" name="Google Shape;999;p63"/>
            <p:cNvSpPr txBox="1"/>
            <p:nvPr/>
          </p:nvSpPr>
          <p:spPr>
            <a:xfrm>
              <a:off x="4220675" y="4339275"/>
              <a:ext cx="867900" cy="30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C:(A, 1)</a:t>
              </a:r>
              <a:endParaRPr sz="1000">
                <a:solidFill>
                  <a:srgbClr val="FF9900"/>
                </a:solidFill>
                <a:latin typeface="Consolas"/>
                <a:ea typeface="Consolas"/>
                <a:cs typeface="Consolas"/>
                <a:sym typeface="Consolas"/>
              </a:endParaRPr>
            </a:p>
          </p:txBody>
        </p:sp>
      </p:grpSp>
      <p:grpSp>
        <p:nvGrpSpPr>
          <p:cNvPr id="1000" name="Google Shape;1000;p63"/>
          <p:cNvGrpSpPr/>
          <p:nvPr/>
        </p:nvGrpSpPr>
        <p:grpSpPr>
          <a:xfrm>
            <a:off x="3285646" y="2724829"/>
            <a:ext cx="2378029" cy="2070446"/>
            <a:chOff x="3285646" y="2724829"/>
            <a:chExt cx="2378029" cy="2070446"/>
          </a:xfrm>
        </p:grpSpPr>
        <p:sp>
          <p:nvSpPr>
            <p:cNvPr id="1001" name="Google Shape;1001;p63"/>
            <p:cNvSpPr txBox="1"/>
            <p:nvPr/>
          </p:nvSpPr>
          <p:spPr>
            <a:xfrm>
              <a:off x="4608575" y="2724829"/>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(A, 2)</a:t>
              </a:r>
              <a:endParaRPr sz="1000">
                <a:solidFill>
                  <a:srgbClr val="FF9900"/>
                </a:solidFill>
                <a:latin typeface="Consolas"/>
                <a:ea typeface="Consolas"/>
                <a:cs typeface="Consolas"/>
                <a:sym typeface="Consolas"/>
              </a:endParaRPr>
            </a:p>
          </p:txBody>
        </p:sp>
        <p:sp>
          <p:nvSpPr>
            <p:cNvPr id="1002" name="Google Shape;1002;p63"/>
            <p:cNvSpPr txBox="1"/>
            <p:nvPr/>
          </p:nvSpPr>
          <p:spPr>
            <a:xfrm>
              <a:off x="3285646" y="4491675"/>
              <a:ext cx="867900" cy="30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D:(A, 2)</a:t>
              </a:r>
              <a:endParaRPr sz="1000">
                <a:solidFill>
                  <a:srgbClr val="FF9900"/>
                </a:solidFill>
                <a:latin typeface="Consolas"/>
                <a:ea typeface="Consolas"/>
                <a:cs typeface="Consolas"/>
                <a:sym typeface="Consolas"/>
              </a:endParaRPr>
            </a:p>
          </p:txBody>
        </p:sp>
      </p:grpSp>
      <p:sp>
        <p:nvSpPr>
          <p:cNvPr id="1003" name="Google Shape;1003;p63"/>
          <p:cNvSpPr txBox="1"/>
          <p:nvPr/>
        </p:nvSpPr>
        <p:spPr>
          <a:xfrm>
            <a:off x="3197475" y="4071628"/>
            <a:ext cx="2863200" cy="9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1004" name="Google Shape;1004;p63"/>
          <p:cNvSpPr txBox="1"/>
          <p:nvPr/>
        </p:nvSpPr>
        <p:spPr>
          <a:xfrm>
            <a:off x="6753213" y="4216076"/>
            <a:ext cx="1569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A to B = 0 + 6 = 6</a:t>
            </a:r>
            <a:endParaRPr sz="1000">
              <a:solidFill>
                <a:srgbClr val="FF9900"/>
              </a:solidFill>
              <a:latin typeface="Consolas"/>
              <a:ea typeface="Consolas"/>
              <a:cs typeface="Consolas"/>
              <a:sym typeface="Consolas"/>
            </a:endParaRPr>
          </a:p>
          <a:p>
            <a:pPr indent="0" lvl="0" marL="0" rtl="0" algn="ctr">
              <a:spcBef>
                <a:spcPts val="0"/>
              </a:spcBef>
              <a:spcAft>
                <a:spcPts val="0"/>
              </a:spcAft>
              <a:buNone/>
            </a:pPr>
            <a:r>
              <a:rPr lang="en" sz="1000">
                <a:solidFill>
                  <a:srgbClr val="FF9900"/>
                </a:solidFill>
                <a:latin typeface="Consolas"/>
                <a:ea typeface="Consolas"/>
                <a:cs typeface="Consolas"/>
                <a:sym typeface="Consolas"/>
              </a:rPr>
              <a:t>A to C = 0 + 1 = 1</a:t>
            </a:r>
            <a:endParaRPr sz="1000">
              <a:solidFill>
                <a:srgbClr val="FF9900"/>
              </a:solidFill>
              <a:latin typeface="Consolas"/>
              <a:ea typeface="Consolas"/>
              <a:cs typeface="Consolas"/>
              <a:sym typeface="Consolas"/>
            </a:endParaRPr>
          </a:p>
          <a:p>
            <a:pPr indent="0" lvl="0" marL="0" rtl="0" algn="ctr">
              <a:spcBef>
                <a:spcPts val="0"/>
              </a:spcBef>
              <a:spcAft>
                <a:spcPts val="0"/>
              </a:spcAft>
              <a:buNone/>
            </a:pPr>
            <a:r>
              <a:rPr lang="en" sz="1000">
                <a:solidFill>
                  <a:srgbClr val="FF9900"/>
                </a:solidFill>
                <a:latin typeface="Consolas"/>
                <a:ea typeface="Consolas"/>
                <a:cs typeface="Consolas"/>
                <a:sym typeface="Consolas"/>
              </a:rPr>
              <a:t>A to D = 0 + 2 = 2</a:t>
            </a:r>
            <a:endParaRPr sz="1000">
              <a:solidFill>
                <a:srgbClr val="FF99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1000"/>
                                        <p:tgtEl>
                                          <p:spTgt spid="9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1000"/>
                                        <p:tgtEl>
                                          <p:spTgt spid="9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1000"/>
                                        <p:tgtEl>
                                          <p:spTgt spid="9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04"/>
                                        </p:tgtEl>
                                        <p:attrNameLst>
                                          <p:attrName>style.visibility</p:attrName>
                                        </p:attrNameLst>
                                      </p:cBhvr>
                                      <p:to>
                                        <p:strVal val="visible"/>
                                      </p:to>
                                    </p:set>
                                    <p:animEffect filter="fade" transition="in">
                                      <p:cBhvr>
                                        <p:cTn dur="1000"/>
                                        <p:tgtEl>
                                          <p:spTgt spid="10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1000"/>
                                        <p:tgtEl>
                                          <p:spTgt spid="9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1000"/>
                                        <p:tgtEl>
                                          <p:spTgt spid="99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1000"/>
                                        <p:tgtEl>
                                          <p:spTgt spid="99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00"/>
                                        </p:tgtEl>
                                        <p:attrNameLst>
                                          <p:attrName>style.visibility</p:attrName>
                                        </p:attrNameLst>
                                      </p:cBhvr>
                                      <p:to>
                                        <p:strVal val="visible"/>
                                      </p:to>
                                    </p:set>
                                    <p:animEffect filter="fade" transition="in">
                                      <p:cBhvr>
                                        <p:cTn dur="1000"/>
                                        <p:tgtEl>
                                          <p:spTgt spid="1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graphicFrame>
        <p:nvGraphicFramePr>
          <p:cNvPr id="1009" name="Google Shape;1009;p64"/>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(A, 6)</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(A, 2)</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010" name="Google Shape;1010;p64"/>
          <p:cNvSpPr txBox="1"/>
          <p:nvPr/>
        </p:nvSpPr>
        <p:spPr>
          <a:xfrm>
            <a:off x="3285646" y="4491675"/>
            <a:ext cx="867900" cy="30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D:(A, 2)</a:t>
            </a:r>
            <a:endParaRPr sz="1000">
              <a:solidFill>
                <a:srgbClr val="FF0000"/>
              </a:solidFill>
              <a:latin typeface="Consolas"/>
              <a:ea typeface="Consolas"/>
              <a:cs typeface="Consolas"/>
              <a:sym typeface="Consolas"/>
            </a:endParaRPr>
          </a:p>
        </p:txBody>
      </p:sp>
      <p:sp>
        <p:nvSpPr>
          <p:cNvPr id="1011" name="Google Shape;1011;p64"/>
          <p:cNvSpPr txBox="1"/>
          <p:nvPr/>
        </p:nvSpPr>
        <p:spPr>
          <a:xfrm>
            <a:off x="4220675" y="4339275"/>
            <a:ext cx="867900" cy="30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C:(A, 1)</a:t>
            </a:r>
            <a:endParaRPr sz="1000">
              <a:solidFill>
                <a:srgbClr val="4A86E8"/>
              </a:solidFill>
              <a:latin typeface="Consolas"/>
              <a:ea typeface="Consolas"/>
              <a:cs typeface="Consolas"/>
              <a:sym typeface="Consolas"/>
            </a:endParaRPr>
          </a:p>
        </p:txBody>
      </p:sp>
      <p:sp>
        <p:nvSpPr>
          <p:cNvPr id="1012" name="Google Shape;1012;p64"/>
          <p:cNvSpPr txBox="1"/>
          <p:nvPr/>
        </p:nvSpPr>
        <p:spPr>
          <a:xfrm>
            <a:off x="5072625" y="4263075"/>
            <a:ext cx="909900" cy="30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B:(A, 6)</a:t>
            </a:r>
            <a:endParaRPr sz="1000">
              <a:solidFill>
                <a:srgbClr val="FF0000"/>
              </a:solidFill>
              <a:latin typeface="Consolas"/>
              <a:ea typeface="Consolas"/>
              <a:cs typeface="Consolas"/>
              <a:sym typeface="Consolas"/>
            </a:endParaRPr>
          </a:p>
        </p:txBody>
      </p:sp>
      <p:sp>
        <p:nvSpPr>
          <p:cNvPr id="1013" name="Google Shape;1013;p6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The Main Loop</a:t>
            </a:r>
            <a:endParaRPr/>
          </a:p>
        </p:txBody>
      </p:sp>
      <p:sp>
        <p:nvSpPr>
          <p:cNvPr id="1014" name="Google Shape;1014;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15" name="Google Shape;1015;p64"/>
          <p:cNvSpPr txBox="1"/>
          <p:nvPr/>
        </p:nvSpPr>
        <p:spPr>
          <a:xfrm>
            <a:off x="32856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16" name="Google Shape;1016;p64"/>
          <p:cNvSpPr txBox="1"/>
          <p:nvPr/>
        </p:nvSpPr>
        <p:spPr>
          <a:xfrm>
            <a:off x="45048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17" name="Google Shape;1017;p64"/>
          <p:cNvSpPr txBox="1"/>
          <p:nvPr>
            <p:ph idx="4294967295" type="body"/>
          </p:nvPr>
        </p:nvSpPr>
        <p:spPr>
          <a:xfrm>
            <a:off x="110821" y="1518850"/>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We continue to repeat this process, removing the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 with the </a:t>
            </a:r>
            <a:r>
              <a:rPr b="1" i="1" lang="en" sz="1200">
                <a:solidFill>
                  <a:srgbClr val="FF0000"/>
                </a:solidFill>
                <a:latin typeface="Arial"/>
                <a:ea typeface="Arial"/>
                <a:cs typeface="Arial"/>
                <a:sym typeface="Arial"/>
              </a:rPr>
              <a:t>shortest distance</a:t>
            </a:r>
            <a:r>
              <a:rPr lang="en" sz="1200">
                <a:solidFill>
                  <a:srgbClr val="000000"/>
                </a:solidFill>
                <a:latin typeface="Arial"/>
                <a:ea typeface="Arial"/>
                <a:cs typeface="Arial"/>
                <a:sym typeface="Arial"/>
              </a:rPr>
              <a:t> from the tuple queue...</a:t>
            </a:r>
            <a:endParaRPr sz="1200">
              <a:solidFill>
                <a:srgbClr val="000000"/>
              </a:solidFill>
              <a:latin typeface="Arial"/>
              <a:ea typeface="Arial"/>
              <a:cs typeface="Arial"/>
              <a:sym typeface="Arial"/>
            </a:endParaRPr>
          </a:p>
        </p:txBody>
      </p:sp>
      <p:grpSp>
        <p:nvGrpSpPr>
          <p:cNvPr id="1018" name="Google Shape;1018;p64"/>
          <p:cNvGrpSpPr/>
          <p:nvPr/>
        </p:nvGrpSpPr>
        <p:grpSpPr>
          <a:xfrm>
            <a:off x="6244267" y="1458389"/>
            <a:ext cx="2587178" cy="2330671"/>
            <a:chOff x="338125" y="1610890"/>
            <a:chExt cx="3334852" cy="3004217"/>
          </a:xfrm>
        </p:grpSpPr>
        <p:sp>
          <p:nvSpPr>
            <p:cNvPr id="1019" name="Google Shape;1019;p64"/>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020" name="Google Shape;1020;p64"/>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021" name="Google Shape;1021;p64"/>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022" name="Google Shape;1022;p64"/>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023" name="Google Shape;1023;p64"/>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024" name="Google Shape;1024;p64"/>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025" name="Google Shape;1025;p64"/>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026" name="Google Shape;1026;p64"/>
            <p:cNvCxnSpPr>
              <a:stCxn id="1019" idx="3"/>
              <a:endCxn id="1021"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027" name="Google Shape;1027;p64"/>
            <p:cNvCxnSpPr>
              <a:stCxn id="1019" idx="6"/>
              <a:endCxn id="1022"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028" name="Google Shape;1028;p64"/>
            <p:cNvCxnSpPr>
              <a:stCxn id="1019" idx="5"/>
              <a:endCxn id="1020"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029" name="Google Shape;1029;p64"/>
            <p:cNvCxnSpPr>
              <a:stCxn id="1020" idx="6"/>
              <a:endCxn id="1024"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030" name="Google Shape;1030;p64"/>
            <p:cNvCxnSpPr>
              <a:stCxn id="1024" idx="4"/>
              <a:endCxn id="1023"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031" name="Google Shape;1031;p64"/>
            <p:cNvCxnSpPr>
              <a:stCxn id="1020" idx="3"/>
              <a:endCxn id="1025"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032" name="Google Shape;1032;p64"/>
            <p:cNvCxnSpPr>
              <a:stCxn id="1025" idx="6"/>
              <a:endCxn id="1023"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033" name="Google Shape;1033;p64"/>
            <p:cNvCxnSpPr>
              <a:stCxn id="1021" idx="6"/>
              <a:endCxn id="1020"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034" name="Google Shape;1034;p64"/>
            <p:cNvCxnSpPr>
              <a:stCxn id="1022" idx="5"/>
              <a:endCxn id="1024"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035" name="Google Shape;1035;p64"/>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036" name="Google Shape;1036;p64"/>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037" name="Google Shape;1037;p64"/>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38" name="Google Shape;1038;p64"/>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039" name="Google Shape;1039;p64"/>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040" name="Google Shape;1040;p64"/>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41" name="Google Shape;1041;p64"/>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42" name="Google Shape;1042;p64"/>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043" name="Google Shape;1043;p64"/>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044" name="Google Shape;1044;p64"/>
            <p:cNvCxnSpPr>
              <a:stCxn id="1021" idx="5"/>
              <a:endCxn id="1025"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045" name="Google Shape;1045;p64"/>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046" name="Google Shape;1046;p64"/>
          <p:cNvGrpSpPr/>
          <p:nvPr/>
        </p:nvGrpSpPr>
        <p:grpSpPr>
          <a:xfrm>
            <a:off x="4250075" y="3817618"/>
            <a:ext cx="3769010" cy="779728"/>
            <a:chOff x="4250075" y="3963142"/>
            <a:chExt cx="3769010" cy="779728"/>
          </a:xfrm>
        </p:grpSpPr>
        <p:sp>
          <p:nvSpPr>
            <p:cNvPr id="1047" name="Google Shape;1047;p64"/>
            <p:cNvSpPr txBox="1"/>
            <p:nvPr/>
          </p:nvSpPr>
          <p:spPr>
            <a:xfrm>
              <a:off x="7056685" y="3963142"/>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C:(A, 1)</a:t>
              </a:r>
              <a:endParaRPr sz="1000">
                <a:solidFill>
                  <a:srgbClr val="4A86E8"/>
                </a:solidFill>
                <a:latin typeface="Consolas"/>
                <a:ea typeface="Consolas"/>
                <a:cs typeface="Consolas"/>
                <a:sym typeface="Consolas"/>
              </a:endParaRPr>
            </a:p>
          </p:txBody>
        </p:sp>
        <p:sp>
          <p:nvSpPr>
            <p:cNvPr id="1048" name="Google Shape;1048;p64"/>
            <p:cNvSpPr txBox="1"/>
            <p:nvPr/>
          </p:nvSpPr>
          <p:spPr>
            <a:xfrm>
              <a:off x="4250075" y="4540370"/>
              <a:ext cx="818400" cy="202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1049" name="Google Shape;1049;p64"/>
          <p:cNvSpPr txBox="1"/>
          <p:nvPr>
            <p:ph idx="4294967295" type="body"/>
          </p:nvPr>
        </p:nvSpPr>
        <p:spPr>
          <a:xfrm>
            <a:off x="110821" y="2343297"/>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...computing the distance to each of its neighbors </a:t>
            </a:r>
            <a:r>
              <a:rPr b="1" i="1" lang="en" sz="1200">
                <a:solidFill>
                  <a:srgbClr val="FF0000"/>
                </a:solidFill>
                <a:latin typeface="Arial"/>
                <a:ea typeface="Arial"/>
                <a:cs typeface="Arial"/>
                <a:sym typeface="Arial"/>
              </a:rPr>
              <a:t>N</a:t>
            </a:r>
            <a:r>
              <a:rPr lang="en" sz="1200">
                <a:solidFill>
                  <a:srgbClr val="000000"/>
                </a:solidFill>
                <a:latin typeface="Arial"/>
                <a:ea typeface="Arial"/>
                <a:cs typeface="Arial"/>
                <a:sym typeface="Arial"/>
              </a:rPr>
              <a:t> through</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050" name="Google Shape;1050;p64"/>
          <p:cNvSpPr txBox="1"/>
          <p:nvPr>
            <p:ph idx="4294967295" type="body"/>
          </p:nvPr>
        </p:nvSpPr>
        <p:spPr>
          <a:xfrm>
            <a:off x="110821" y="2987279"/>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i="1" lang="en" sz="1200">
                <a:solidFill>
                  <a:srgbClr val="000000"/>
                </a:solidFill>
                <a:latin typeface="Arial"/>
                <a:ea typeface="Arial"/>
                <a:cs typeface="Arial"/>
                <a:sym typeface="Arial"/>
              </a:rPr>
              <a:t>(again, this is the distance in </a:t>
            </a:r>
            <a:r>
              <a:rPr b="1" i="1" lang="en" sz="1200">
                <a:solidFill>
                  <a:srgbClr val="FF0000"/>
                </a:solidFill>
                <a:latin typeface="Arial"/>
                <a:ea typeface="Arial"/>
                <a:cs typeface="Arial"/>
                <a:sym typeface="Arial"/>
              </a:rPr>
              <a:t>V</a:t>
            </a:r>
            <a:r>
              <a:rPr i="1" lang="en" sz="1200">
                <a:solidFill>
                  <a:srgbClr val="000000"/>
                </a:solidFill>
                <a:latin typeface="Arial"/>
                <a:ea typeface="Arial"/>
                <a:cs typeface="Arial"/>
                <a:sym typeface="Arial"/>
              </a:rPr>
              <a:t>'s path tuple plus the weight of the edge between </a:t>
            </a:r>
            <a:r>
              <a:rPr b="1" i="1" lang="en" sz="1200">
                <a:solidFill>
                  <a:srgbClr val="FF0000"/>
                </a:solidFill>
                <a:latin typeface="Arial"/>
                <a:ea typeface="Arial"/>
                <a:cs typeface="Arial"/>
                <a:sym typeface="Arial"/>
              </a:rPr>
              <a:t>V</a:t>
            </a:r>
            <a:r>
              <a:rPr i="1" lang="en" sz="1200">
                <a:solidFill>
                  <a:srgbClr val="000000"/>
                </a:solidFill>
                <a:latin typeface="Arial"/>
                <a:ea typeface="Arial"/>
                <a:cs typeface="Arial"/>
                <a:sym typeface="Arial"/>
              </a:rPr>
              <a:t> and </a:t>
            </a:r>
            <a:r>
              <a:rPr b="1" i="1" lang="en" sz="1200">
                <a:solidFill>
                  <a:srgbClr val="FF0000"/>
                </a:solidFill>
                <a:latin typeface="Arial"/>
                <a:ea typeface="Arial"/>
                <a:cs typeface="Arial"/>
                <a:sym typeface="Arial"/>
              </a:rPr>
              <a:t>N</a:t>
            </a:r>
            <a:r>
              <a:rPr i="1" lang="en" sz="1200">
                <a:solidFill>
                  <a:srgbClr val="000000"/>
                </a:solidFill>
                <a:latin typeface="Arial"/>
                <a:ea typeface="Arial"/>
                <a:cs typeface="Arial"/>
                <a:sym typeface="Arial"/>
              </a:rPr>
              <a:t>)</a:t>
            </a:r>
            <a:endParaRPr i="1" sz="1200">
              <a:solidFill>
                <a:srgbClr val="000000"/>
              </a:solidFill>
              <a:latin typeface="Arial"/>
              <a:ea typeface="Arial"/>
              <a:cs typeface="Arial"/>
              <a:sym typeface="Arial"/>
            </a:endParaRPr>
          </a:p>
        </p:txBody>
      </p:sp>
      <p:sp>
        <p:nvSpPr>
          <p:cNvPr id="1051" name="Google Shape;1051;p64"/>
          <p:cNvSpPr txBox="1"/>
          <p:nvPr/>
        </p:nvSpPr>
        <p:spPr>
          <a:xfrm>
            <a:off x="6753213" y="4216076"/>
            <a:ext cx="1569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C to A = 1 + 1 = 2</a:t>
            </a:r>
            <a:endParaRPr sz="1000">
              <a:solidFill>
                <a:srgbClr val="FF0000"/>
              </a:solidFill>
              <a:latin typeface="Consolas"/>
              <a:ea typeface="Consolas"/>
              <a:cs typeface="Consolas"/>
              <a:sym typeface="Consolas"/>
            </a:endParaRPr>
          </a:p>
          <a:p>
            <a:pPr indent="0" lvl="0" marL="0" rtl="0" algn="ctr">
              <a:spcBef>
                <a:spcPts val="0"/>
              </a:spcBef>
              <a:spcAft>
                <a:spcPts val="0"/>
              </a:spcAft>
              <a:buNone/>
            </a:pPr>
            <a:r>
              <a:rPr lang="en" sz="1000">
                <a:solidFill>
                  <a:srgbClr val="FF9900"/>
                </a:solidFill>
                <a:latin typeface="Consolas"/>
                <a:ea typeface="Consolas"/>
                <a:cs typeface="Consolas"/>
                <a:sym typeface="Consolas"/>
              </a:rPr>
              <a:t>C to B = 1 + 2 = 3</a:t>
            </a:r>
            <a:endParaRPr sz="1000">
              <a:solidFill>
                <a:srgbClr val="FF9900"/>
              </a:solidFill>
              <a:latin typeface="Consolas"/>
              <a:ea typeface="Consolas"/>
              <a:cs typeface="Consolas"/>
              <a:sym typeface="Consolas"/>
            </a:endParaRPr>
          </a:p>
          <a:p>
            <a:pPr indent="0" lvl="0" marL="0" rtl="0" algn="ctr">
              <a:spcBef>
                <a:spcPts val="0"/>
              </a:spcBef>
              <a:spcAft>
                <a:spcPts val="0"/>
              </a:spcAft>
              <a:buNone/>
            </a:pPr>
            <a:r>
              <a:rPr lang="en" sz="1000">
                <a:solidFill>
                  <a:srgbClr val="FF9900"/>
                </a:solidFill>
                <a:latin typeface="Consolas"/>
                <a:ea typeface="Consolas"/>
                <a:cs typeface="Consolas"/>
                <a:sym typeface="Consolas"/>
              </a:rPr>
              <a:t>C to G = 1 + 5 = 6</a:t>
            </a:r>
            <a:endParaRPr sz="1000">
              <a:solidFill>
                <a:srgbClr val="FF9900"/>
              </a:solidFill>
              <a:latin typeface="Consolas"/>
              <a:ea typeface="Consolas"/>
              <a:cs typeface="Consolas"/>
              <a:sym typeface="Consolas"/>
            </a:endParaRPr>
          </a:p>
        </p:txBody>
      </p:sp>
      <p:sp>
        <p:nvSpPr>
          <p:cNvPr id="1052" name="Google Shape;1052;p64"/>
          <p:cNvSpPr txBox="1"/>
          <p:nvPr>
            <p:ph idx="4294967295" type="body"/>
          </p:nvPr>
        </p:nvSpPr>
        <p:spPr>
          <a:xfrm>
            <a:off x="110821" y="3825479"/>
            <a:ext cx="299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If the computed distance is </a:t>
            </a:r>
            <a:r>
              <a:rPr b="1" i="1" lang="en" sz="1200">
                <a:solidFill>
                  <a:srgbClr val="FF0000"/>
                </a:solidFill>
                <a:latin typeface="Arial"/>
                <a:ea typeface="Arial"/>
                <a:cs typeface="Arial"/>
                <a:sym typeface="Arial"/>
              </a:rPr>
              <a:t>shorter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than the distance already in </a:t>
            </a:r>
            <a:r>
              <a:rPr b="1" i="1" lang="en" sz="1200">
                <a:solidFill>
                  <a:srgbClr val="FF0000"/>
                </a:solidFill>
                <a:latin typeface="Arial"/>
                <a:ea typeface="Arial"/>
                <a:cs typeface="Arial"/>
                <a:sym typeface="Arial"/>
              </a:rPr>
              <a:t>N</a:t>
            </a:r>
            <a:r>
              <a:rPr lang="en" sz="1200">
                <a:solidFill>
                  <a:srgbClr val="000000"/>
                </a:solidFill>
                <a:latin typeface="Arial"/>
                <a:ea typeface="Arial"/>
                <a:cs typeface="Arial"/>
                <a:sym typeface="Arial"/>
              </a:rPr>
              <a:t>'s path tuple, then the path tuple is updated with the new distance and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as the predecessor.</a:t>
            </a:r>
            <a:endParaRPr sz="1200">
              <a:solidFill>
                <a:srgbClr val="000000"/>
              </a:solidFill>
              <a:latin typeface="Arial"/>
              <a:ea typeface="Arial"/>
              <a:cs typeface="Arial"/>
              <a:sym typeface="Arial"/>
            </a:endParaRPr>
          </a:p>
        </p:txBody>
      </p:sp>
      <p:grpSp>
        <p:nvGrpSpPr>
          <p:cNvPr id="1053" name="Google Shape;1053;p64"/>
          <p:cNvGrpSpPr/>
          <p:nvPr/>
        </p:nvGrpSpPr>
        <p:grpSpPr>
          <a:xfrm>
            <a:off x="4567317" y="2059658"/>
            <a:ext cx="1415208" cy="2507017"/>
            <a:chOff x="4567317" y="2059658"/>
            <a:chExt cx="1415208" cy="2507017"/>
          </a:xfrm>
        </p:grpSpPr>
        <p:sp>
          <p:nvSpPr>
            <p:cNvPr id="1054" name="Google Shape;1054;p64"/>
            <p:cNvSpPr txBox="1"/>
            <p:nvPr/>
          </p:nvSpPr>
          <p:spPr>
            <a:xfrm>
              <a:off x="4567317" y="2059658"/>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(C, 3)</a:t>
              </a:r>
              <a:endParaRPr sz="1000">
                <a:solidFill>
                  <a:srgbClr val="FF9900"/>
                </a:solidFill>
                <a:latin typeface="Consolas"/>
                <a:ea typeface="Consolas"/>
                <a:cs typeface="Consolas"/>
                <a:sym typeface="Consolas"/>
              </a:endParaRPr>
            </a:p>
          </p:txBody>
        </p:sp>
        <p:sp>
          <p:nvSpPr>
            <p:cNvPr id="1055" name="Google Shape;1055;p64"/>
            <p:cNvSpPr txBox="1"/>
            <p:nvPr/>
          </p:nvSpPr>
          <p:spPr>
            <a:xfrm>
              <a:off x="5072625" y="4263075"/>
              <a:ext cx="909900" cy="30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B:(C, 3)</a:t>
              </a:r>
              <a:endParaRPr sz="1000">
                <a:solidFill>
                  <a:srgbClr val="FF9900"/>
                </a:solidFill>
                <a:latin typeface="Consolas"/>
                <a:ea typeface="Consolas"/>
                <a:cs typeface="Consolas"/>
                <a:sym typeface="Consolas"/>
              </a:endParaRPr>
            </a:p>
          </p:txBody>
        </p:sp>
      </p:grpSp>
      <p:grpSp>
        <p:nvGrpSpPr>
          <p:cNvPr id="1056" name="Google Shape;1056;p64"/>
          <p:cNvGrpSpPr/>
          <p:nvPr/>
        </p:nvGrpSpPr>
        <p:grpSpPr>
          <a:xfrm>
            <a:off x="4567317" y="3736058"/>
            <a:ext cx="1055100" cy="1287817"/>
            <a:chOff x="4567317" y="3736058"/>
            <a:chExt cx="1055100" cy="1287817"/>
          </a:xfrm>
        </p:grpSpPr>
        <p:sp>
          <p:nvSpPr>
            <p:cNvPr id="1057" name="Google Shape;1057;p64"/>
            <p:cNvSpPr txBox="1"/>
            <p:nvPr/>
          </p:nvSpPr>
          <p:spPr>
            <a:xfrm>
              <a:off x="4601672" y="4720275"/>
              <a:ext cx="909900" cy="30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G:(C, 6)</a:t>
              </a:r>
              <a:endParaRPr sz="1000">
                <a:solidFill>
                  <a:srgbClr val="FF9900"/>
                </a:solidFill>
                <a:latin typeface="Consolas"/>
                <a:ea typeface="Consolas"/>
                <a:cs typeface="Consolas"/>
                <a:sym typeface="Consolas"/>
              </a:endParaRPr>
            </a:p>
          </p:txBody>
        </p:sp>
        <p:sp>
          <p:nvSpPr>
            <p:cNvPr id="1058" name="Google Shape;1058;p64"/>
            <p:cNvSpPr txBox="1"/>
            <p:nvPr/>
          </p:nvSpPr>
          <p:spPr>
            <a:xfrm>
              <a:off x="4567317" y="3736058"/>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(C, 6)</a:t>
              </a:r>
              <a:endParaRPr sz="1000">
                <a:solidFill>
                  <a:srgbClr val="FF9900"/>
                </a:solidFill>
                <a:latin typeface="Consolas"/>
                <a:ea typeface="Consolas"/>
                <a:cs typeface="Consolas"/>
                <a:sym typeface="Consolas"/>
              </a:endParaRPr>
            </a:p>
          </p:txBody>
        </p:sp>
      </p:grpSp>
      <p:sp>
        <p:nvSpPr>
          <p:cNvPr id="1059" name="Google Shape;1059;p64"/>
          <p:cNvSpPr txBox="1"/>
          <p:nvPr/>
        </p:nvSpPr>
        <p:spPr>
          <a:xfrm>
            <a:off x="5038260" y="45055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60" name="Google Shape;1060;p64"/>
          <p:cNvSpPr txBox="1"/>
          <p:nvPr/>
        </p:nvSpPr>
        <p:spPr>
          <a:xfrm>
            <a:off x="3197475" y="4071628"/>
            <a:ext cx="2863200" cy="9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17"/>
                                        </p:tgtEl>
                                        <p:attrNameLst>
                                          <p:attrName>style.visibility</p:attrName>
                                        </p:attrNameLst>
                                      </p:cBhvr>
                                      <p:to>
                                        <p:strVal val="visible"/>
                                      </p:to>
                                    </p:set>
                                    <p:animEffect filter="fade" transition="in">
                                      <p:cBhvr>
                                        <p:cTn dur="1000"/>
                                        <p:tgtEl>
                                          <p:spTgt spid="10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1000"/>
                                        <p:tgtEl>
                                          <p:spTgt spid="10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1000"/>
                                        <p:tgtEl>
                                          <p:spTgt spid="104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1000"/>
                                        <p:tgtEl>
                                          <p:spTgt spid="105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1000"/>
                                        <p:tgtEl>
                                          <p:spTgt spid="10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2"/>
                                        </p:tgtEl>
                                        <p:attrNameLst>
                                          <p:attrName>style.visibility</p:attrName>
                                        </p:attrNameLst>
                                      </p:cBhvr>
                                      <p:to>
                                        <p:strVal val="visible"/>
                                      </p:to>
                                    </p:set>
                                    <p:animEffect filter="fade" transition="in">
                                      <p:cBhvr>
                                        <p:cTn dur="1000"/>
                                        <p:tgtEl>
                                          <p:spTgt spid="10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53"/>
                                        </p:tgtEl>
                                        <p:attrNameLst>
                                          <p:attrName>style.visibility</p:attrName>
                                        </p:attrNameLst>
                                      </p:cBhvr>
                                      <p:to>
                                        <p:strVal val="visible"/>
                                      </p:to>
                                    </p:set>
                                    <p:animEffect filter="fade" transition="in">
                                      <p:cBhvr>
                                        <p:cTn dur="1000"/>
                                        <p:tgtEl>
                                          <p:spTgt spid="105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56"/>
                                        </p:tgtEl>
                                        <p:attrNameLst>
                                          <p:attrName>style.visibility</p:attrName>
                                        </p:attrNameLst>
                                      </p:cBhvr>
                                      <p:to>
                                        <p:strVal val="visible"/>
                                      </p:to>
                                    </p:set>
                                    <p:animEffect filter="fade" transition="in">
                                      <p:cBhvr>
                                        <p:cTn dur="1000"/>
                                        <p:tgtEl>
                                          <p:spTgt spid="10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65"/>
          <p:cNvSpPr txBox="1"/>
          <p:nvPr/>
        </p:nvSpPr>
        <p:spPr>
          <a:xfrm>
            <a:off x="3197475" y="4071628"/>
            <a:ext cx="2863200" cy="9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graphicFrame>
        <p:nvGraphicFramePr>
          <p:cNvPr id="1066" name="Google Shape;1066;p65"/>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(C, 3)</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(C, 6)</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067" name="Google Shape;1067;p65"/>
          <p:cNvSpPr txBox="1"/>
          <p:nvPr/>
        </p:nvSpPr>
        <p:spPr>
          <a:xfrm>
            <a:off x="3285646" y="4491675"/>
            <a:ext cx="867900" cy="30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D:(A, 2)</a:t>
            </a:r>
            <a:endParaRPr sz="1000">
              <a:solidFill>
                <a:srgbClr val="4A86E8"/>
              </a:solidFill>
              <a:latin typeface="Consolas"/>
              <a:ea typeface="Consolas"/>
              <a:cs typeface="Consolas"/>
              <a:sym typeface="Consolas"/>
            </a:endParaRPr>
          </a:p>
        </p:txBody>
      </p:sp>
      <p:sp>
        <p:nvSpPr>
          <p:cNvPr id="1068" name="Google Shape;1068;p65"/>
          <p:cNvSpPr txBox="1"/>
          <p:nvPr/>
        </p:nvSpPr>
        <p:spPr>
          <a:xfrm>
            <a:off x="5072625" y="4263075"/>
            <a:ext cx="909900" cy="30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B:(C, 3)</a:t>
            </a:r>
            <a:endParaRPr sz="1000">
              <a:solidFill>
                <a:srgbClr val="FF0000"/>
              </a:solidFill>
              <a:latin typeface="Consolas"/>
              <a:ea typeface="Consolas"/>
              <a:cs typeface="Consolas"/>
              <a:sym typeface="Consolas"/>
            </a:endParaRPr>
          </a:p>
        </p:txBody>
      </p:sp>
      <p:sp>
        <p:nvSpPr>
          <p:cNvPr id="1069" name="Google Shape;1069;p6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The Main Loop</a:t>
            </a:r>
            <a:endParaRPr/>
          </a:p>
        </p:txBody>
      </p:sp>
      <p:sp>
        <p:nvSpPr>
          <p:cNvPr id="1070" name="Google Shape;1070;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1" name="Google Shape;1071;p65"/>
          <p:cNvSpPr txBox="1"/>
          <p:nvPr/>
        </p:nvSpPr>
        <p:spPr>
          <a:xfrm>
            <a:off x="32856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72" name="Google Shape;1072;p65"/>
          <p:cNvSpPr txBox="1"/>
          <p:nvPr>
            <p:ph idx="4294967295" type="body"/>
          </p:nvPr>
        </p:nvSpPr>
        <p:spPr>
          <a:xfrm>
            <a:off x="110821" y="1518850"/>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b="1" i="1" lang="en" sz="1200">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073" name="Google Shape;1073;p65"/>
          <p:cNvGrpSpPr/>
          <p:nvPr/>
        </p:nvGrpSpPr>
        <p:grpSpPr>
          <a:xfrm>
            <a:off x="6244267" y="1458389"/>
            <a:ext cx="2587178" cy="2330671"/>
            <a:chOff x="338125" y="1610890"/>
            <a:chExt cx="3334852" cy="3004217"/>
          </a:xfrm>
        </p:grpSpPr>
        <p:sp>
          <p:nvSpPr>
            <p:cNvPr id="1074" name="Google Shape;1074;p65"/>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075" name="Google Shape;1075;p65"/>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076" name="Google Shape;1076;p65"/>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077" name="Google Shape;1077;p65"/>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078" name="Google Shape;1078;p65"/>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079" name="Google Shape;1079;p65"/>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080" name="Google Shape;1080;p65"/>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081" name="Google Shape;1081;p65"/>
            <p:cNvCxnSpPr>
              <a:stCxn id="1074" idx="3"/>
              <a:endCxn id="1076"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082" name="Google Shape;1082;p65"/>
            <p:cNvCxnSpPr>
              <a:stCxn id="1074" idx="6"/>
              <a:endCxn id="1077"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083" name="Google Shape;1083;p65"/>
            <p:cNvCxnSpPr>
              <a:stCxn id="1074" idx="5"/>
              <a:endCxn id="1075"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084" name="Google Shape;1084;p65"/>
            <p:cNvCxnSpPr>
              <a:stCxn id="1075" idx="6"/>
              <a:endCxn id="1079"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085" name="Google Shape;1085;p65"/>
            <p:cNvCxnSpPr>
              <a:stCxn id="1079" idx="4"/>
              <a:endCxn id="1078"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086" name="Google Shape;1086;p65"/>
            <p:cNvCxnSpPr>
              <a:stCxn id="1075" idx="3"/>
              <a:endCxn id="1080"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087" name="Google Shape;1087;p65"/>
            <p:cNvCxnSpPr>
              <a:stCxn id="1080" idx="6"/>
              <a:endCxn id="1078"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088" name="Google Shape;1088;p65"/>
            <p:cNvCxnSpPr>
              <a:stCxn id="1076" idx="6"/>
              <a:endCxn id="1075"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089" name="Google Shape;1089;p65"/>
            <p:cNvCxnSpPr>
              <a:stCxn id="1077" idx="5"/>
              <a:endCxn id="1079"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090" name="Google Shape;1090;p65"/>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091" name="Google Shape;1091;p65"/>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092" name="Google Shape;1092;p65"/>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93" name="Google Shape;1093;p65"/>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094" name="Google Shape;1094;p65"/>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095" name="Google Shape;1095;p65"/>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96" name="Google Shape;1096;p65"/>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97" name="Google Shape;1097;p65"/>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098" name="Google Shape;1098;p65"/>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099" name="Google Shape;1099;p65"/>
            <p:cNvCxnSpPr>
              <a:stCxn id="1076" idx="5"/>
              <a:endCxn id="1080"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100" name="Google Shape;1100;p65"/>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101" name="Google Shape;1101;p65"/>
          <p:cNvGrpSpPr/>
          <p:nvPr/>
        </p:nvGrpSpPr>
        <p:grpSpPr>
          <a:xfrm>
            <a:off x="3349428" y="4046218"/>
            <a:ext cx="4669657" cy="703528"/>
            <a:chOff x="3349428" y="3963142"/>
            <a:chExt cx="4669657" cy="703528"/>
          </a:xfrm>
        </p:grpSpPr>
        <p:sp>
          <p:nvSpPr>
            <p:cNvPr id="1102" name="Google Shape;1102;p65"/>
            <p:cNvSpPr txBox="1"/>
            <p:nvPr/>
          </p:nvSpPr>
          <p:spPr>
            <a:xfrm>
              <a:off x="7056685" y="3963142"/>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D:(A, 2)</a:t>
              </a:r>
              <a:endParaRPr sz="1000">
                <a:solidFill>
                  <a:srgbClr val="4A86E8"/>
                </a:solidFill>
                <a:latin typeface="Consolas"/>
                <a:ea typeface="Consolas"/>
                <a:cs typeface="Consolas"/>
                <a:sym typeface="Consolas"/>
              </a:endParaRPr>
            </a:p>
          </p:txBody>
        </p:sp>
        <p:sp>
          <p:nvSpPr>
            <p:cNvPr id="1103" name="Google Shape;1103;p65"/>
            <p:cNvSpPr txBox="1"/>
            <p:nvPr/>
          </p:nvSpPr>
          <p:spPr>
            <a:xfrm>
              <a:off x="3349428" y="4464170"/>
              <a:ext cx="818400" cy="202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1104" name="Google Shape;1104;p65"/>
          <p:cNvSpPr txBox="1"/>
          <p:nvPr/>
        </p:nvSpPr>
        <p:spPr>
          <a:xfrm>
            <a:off x="6753213" y="4292276"/>
            <a:ext cx="1569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D to A = 2 + 2 = 4</a:t>
            </a:r>
            <a:endParaRPr sz="1000">
              <a:solidFill>
                <a:srgbClr val="FF0000"/>
              </a:solidFill>
              <a:latin typeface="Consolas"/>
              <a:ea typeface="Consolas"/>
              <a:cs typeface="Consolas"/>
              <a:sym typeface="Consolas"/>
            </a:endParaRPr>
          </a:p>
          <a:p>
            <a:pPr indent="0" lvl="0" marL="0" rtl="0" algn="ctr">
              <a:spcBef>
                <a:spcPts val="0"/>
              </a:spcBef>
              <a:spcAft>
                <a:spcPts val="0"/>
              </a:spcAft>
              <a:buNone/>
            </a:pPr>
            <a:r>
              <a:rPr lang="en" sz="1000">
                <a:solidFill>
                  <a:srgbClr val="FF9900"/>
                </a:solidFill>
                <a:latin typeface="Consolas"/>
                <a:ea typeface="Consolas"/>
                <a:cs typeface="Consolas"/>
                <a:sym typeface="Consolas"/>
              </a:rPr>
              <a:t>D to F = 2 + 7 = 9</a:t>
            </a:r>
            <a:endParaRPr sz="1000">
              <a:solidFill>
                <a:srgbClr val="FF9900"/>
              </a:solidFill>
              <a:latin typeface="Consolas"/>
              <a:ea typeface="Consolas"/>
              <a:cs typeface="Consolas"/>
              <a:sym typeface="Consolas"/>
            </a:endParaRPr>
          </a:p>
        </p:txBody>
      </p:sp>
      <p:sp>
        <p:nvSpPr>
          <p:cNvPr id="1105" name="Google Shape;1105;p65"/>
          <p:cNvSpPr txBox="1"/>
          <p:nvPr/>
        </p:nvSpPr>
        <p:spPr>
          <a:xfrm>
            <a:off x="5038260" y="45055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pSp>
        <p:nvGrpSpPr>
          <p:cNvPr id="1106" name="Google Shape;1106;p65"/>
          <p:cNvGrpSpPr/>
          <p:nvPr/>
        </p:nvGrpSpPr>
        <p:grpSpPr>
          <a:xfrm>
            <a:off x="4567317" y="3396876"/>
            <a:ext cx="1436100" cy="1447247"/>
            <a:chOff x="4567317" y="3396876"/>
            <a:chExt cx="1436100" cy="1447247"/>
          </a:xfrm>
        </p:grpSpPr>
        <p:sp>
          <p:nvSpPr>
            <p:cNvPr id="1107" name="Google Shape;1107;p65"/>
            <p:cNvSpPr txBox="1"/>
            <p:nvPr/>
          </p:nvSpPr>
          <p:spPr>
            <a:xfrm>
              <a:off x="4567317" y="3396876"/>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(D, 9)</a:t>
              </a:r>
              <a:endParaRPr sz="1000">
                <a:solidFill>
                  <a:srgbClr val="FF9900"/>
                </a:solidFill>
                <a:latin typeface="Consolas"/>
                <a:ea typeface="Consolas"/>
                <a:cs typeface="Consolas"/>
                <a:sym typeface="Consolas"/>
              </a:endParaRPr>
            </a:p>
          </p:txBody>
        </p:sp>
        <p:sp>
          <p:nvSpPr>
            <p:cNvPr id="1108" name="Google Shape;1108;p65"/>
            <p:cNvSpPr txBox="1"/>
            <p:nvPr/>
          </p:nvSpPr>
          <p:spPr>
            <a:xfrm>
              <a:off x="4948317" y="4602324"/>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F:(D, 9)</a:t>
              </a:r>
              <a:endParaRPr sz="1000">
                <a:solidFill>
                  <a:srgbClr val="FF9900"/>
                </a:solidFill>
                <a:latin typeface="Consolas"/>
                <a:ea typeface="Consolas"/>
                <a:cs typeface="Consolas"/>
                <a:sym typeface="Consolas"/>
              </a:endParaRPr>
            </a:p>
          </p:txBody>
        </p:sp>
      </p:grpSp>
      <p:sp>
        <p:nvSpPr>
          <p:cNvPr id="1109" name="Google Shape;1109;p65"/>
          <p:cNvSpPr txBox="1"/>
          <p:nvPr/>
        </p:nvSpPr>
        <p:spPr>
          <a:xfrm>
            <a:off x="45048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G:(C, 6)</a:t>
            </a:r>
            <a:endParaRPr sz="1000">
              <a:solidFill>
                <a:srgbClr val="FF00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1000"/>
                                        <p:tgtEl>
                                          <p:spTgt spid="10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1000"/>
                                        <p:tgtEl>
                                          <p:spTgt spid="1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1000"/>
                                        <p:tgtEl>
                                          <p:spTgt spid="11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06"/>
                                        </p:tgtEl>
                                        <p:attrNameLst>
                                          <p:attrName>style.visibility</p:attrName>
                                        </p:attrNameLst>
                                      </p:cBhvr>
                                      <p:to>
                                        <p:strVal val="visible"/>
                                      </p:to>
                                    </p:set>
                                    <p:animEffect filter="fade" transition="in">
                                      <p:cBhvr>
                                        <p:cTn dur="1000"/>
                                        <p:tgtEl>
                                          <p:spTgt spid="1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66"/>
          <p:cNvSpPr txBox="1"/>
          <p:nvPr/>
        </p:nvSpPr>
        <p:spPr>
          <a:xfrm>
            <a:off x="3197475" y="4071628"/>
            <a:ext cx="2863200" cy="9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graphicFrame>
        <p:nvGraphicFramePr>
          <p:cNvPr id="1115" name="Google Shape;1115;p66"/>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(D, 9)</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(C, 6)</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116" name="Google Shape;1116;p66"/>
          <p:cNvSpPr txBox="1"/>
          <p:nvPr/>
        </p:nvSpPr>
        <p:spPr>
          <a:xfrm>
            <a:off x="5072625" y="4263075"/>
            <a:ext cx="909900" cy="30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B:(C, 3)</a:t>
            </a:r>
            <a:endParaRPr sz="1000">
              <a:solidFill>
                <a:srgbClr val="4A86E8"/>
              </a:solidFill>
              <a:latin typeface="Consolas"/>
              <a:ea typeface="Consolas"/>
              <a:cs typeface="Consolas"/>
              <a:sym typeface="Consolas"/>
            </a:endParaRPr>
          </a:p>
        </p:txBody>
      </p:sp>
      <p:sp>
        <p:nvSpPr>
          <p:cNvPr id="1117" name="Google Shape;1117;p6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The Main Loop</a:t>
            </a:r>
            <a:endParaRPr/>
          </a:p>
        </p:txBody>
      </p:sp>
      <p:sp>
        <p:nvSpPr>
          <p:cNvPr id="1118" name="Google Shape;1118;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9" name="Google Shape;1119;p66"/>
          <p:cNvSpPr txBox="1"/>
          <p:nvPr/>
        </p:nvSpPr>
        <p:spPr>
          <a:xfrm>
            <a:off x="32856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120" name="Google Shape;1120;p66"/>
          <p:cNvSpPr txBox="1"/>
          <p:nvPr>
            <p:ph idx="4294967295" type="body"/>
          </p:nvPr>
        </p:nvSpPr>
        <p:spPr>
          <a:xfrm>
            <a:off x="110821" y="1518850"/>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b="1" i="1" lang="en" sz="1200">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121" name="Google Shape;1121;p66"/>
          <p:cNvGrpSpPr/>
          <p:nvPr/>
        </p:nvGrpSpPr>
        <p:grpSpPr>
          <a:xfrm>
            <a:off x="6244267" y="1458389"/>
            <a:ext cx="2587178" cy="2330671"/>
            <a:chOff x="338125" y="1610890"/>
            <a:chExt cx="3334852" cy="3004217"/>
          </a:xfrm>
        </p:grpSpPr>
        <p:sp>
          <p:nvSpPr>
            <p:cNvPr id="1122" name="Google Shape;1122;p66"/>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123" name="Google Shape;1123;p66"/>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124" name="Google Shape;1124;p66"/>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125" name="Google Shape;1125;p66"/>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126" name="Google Shape;1126;p66"/>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127" name="Google Shape;1127;p66"/>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128" name="Google Shape;1128;p66"/>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129" name="Google Shape;1129;p66"/>
            <p:cNvCxnSpPr>
              <a:stCxn id="1122" idx="3"/>
              <a:endCxn id="1124"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130" name="Google Shape;1130;p66"/>
            <p:cNvCxnSpPr>
              <a:stCxn id="1122" idx="6"/>
              <a:endCxn id="1125"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131" name="Google Shape;1131;p66"/>
            <p:cNvCxnSpPr>
              <a:stCxn id="1122" idx="5"/>
              <a:endCxn id="1123"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132" name="Google Shape;1132;p66"/>
            <p:cNvCxnSpPr>
              <a:stCxn id="1123" idx="6"/>
              <a:endCxn id="1127"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133" name="Google Shape;1133;p66"/>
            <p:cNvCxnSpPr>
              <a:stCxn id="1127" idx="4"/>
              <a:endCxn id="1126"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134" name="Google Shape;1134;p66"/>
            <p:cNvCxnSpPr>
              <a:stCxn id="1123" idx="3"/>
              <a:endCxn id="1128"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135" name="Google Shape;1135;p66"/>
            <p:cNvCxnSpPr>
              <a:stCxn id="1128" idx="6"/>
              <a:endCxn id="1126"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136" name="Google Shape;1136;p66"/>
            <p:cNvCxnSpPr>
              <a:stCxn id="1124" idx="6"/>
              <a:endCxn id="1123"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137" name="Google Shape;1137;p66"/>
            <p:cNvCxnSpPr>
              <a:stCxn id="1125" idx="5"/>
              <a:endCxn id="1127"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138" name="Google Shape;1138;p66"/>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139" name="Google Shape;1139;p66"/>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140" name="Google Shape;1140;p66"/>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41" name="Google Shape;1141;p66"/>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142" name="Google Shape;1142;p66"/>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143" name="Google Shape;1143;p66"/>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44" name="Google Shape;1144;p66"/>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45" name="Google Shape;1145;p66"/>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146" name="Google Shape;1146;p66"/>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147" name="Google Shape;1147;p66"/>
            <p:cNvCxnSpPr>
              <a:stCxn id="1124" idx="5"/>
              <a:endCxn id="1128"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148" name="Google Shape;1148;p66"/>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149" name="Google Shape;1149;p66"/>
          <p:cNvGrpSpPr/>
          <p:nvPr/>
        </p:nvGrpSpPr>
        <p:grpSpPr>
          <a:xfrm>
            <a:off x="5115780" y="4046218"/>
            <a:ext cx="2903304" cy="468051"/>
            <a:chOff x="5115780" y="3963142"/>
            <a:chExt cx="2903304" cy="468051"/>
          </a:xfrm>
        </p:grpSpPr>
        <p:sp>
          <p:nvSpPr>
            <p:cNvPr id="1150" name="Google Shape;1150;p66"/>
            <p:cNvSpPr txBox="1"/>
            <p:nvPr/>
          </p:nvSpPr>
          <p:spPr>
            <a:xfrm>
              <a:off x="7056685" y="3963142"/>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B:(C, 3)</a:t>
              </a:r>
              <a:endParaRPr sz="1000">
                <a:solidFill>
                  <a:srgbClr val="4A86E8"/>
                </a:solidFill>
                <a:latin typeface="Consolas"/>
                <a:ea typeface="Consolas"/>
                <a:cs typeface="Consolas"/>
                <a:sym typeface="Consolas"/>
              </a:endParaRPr>
            </a:p>
          </p:txBody>
        </p:sp>
        <p:sp>
          <p:nvSpPr>
            <p:cNvPr id="1151" name="Google Shape;1151;p66"/>
            <p:cNvSpPr txBox="1"/>
            <p:nvPr/>
          </p:nvSpPr>
          <p:spPr>
            <a:xfrm>
              <a:off x="5115780" y="4228693"/>
              <a:ext cx="818400" cy="20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1152" name="Google Shape;1152;p66"/>
          <p:cNvSpPr txBox="1"/>
          <p:nvPr/>
        </p:nvSpPr>
        <p:spPr>
          <a:xfrm>
            <a:off x="6753213" y="4292276"/>
            <a:ext cx="15693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B to A = 3 + 6 = 9</a:t>
            </a:r>
            <a:endParaRPr sz="1000">
              <a:solidFill>
                <a:srgbClr val="FF0000"/>
              </a:solidFill>
              <a:latin typeface="Consolas"/>
              <a:ea typeface="Consolas"/>
              <a:cs typeface="Consolas"/>
              <a:sym typeface="Consolas"/>
            </a:endParaRPr>
          </a:p>
          <a:p>
            <a:pPr indent="0" lvl="0" marL="0" rtl="0" algn="ctr">
              <a:spcBef>
                <a:spcPts val="0"/>
              </a:spcBef>
              <a:spcAft>
                <a:spcPts val="0"/>
              </a:spcAft>
              <a:buNone/>
            </a:pPr>
            <a:r>
              <a:rPr lang="en" sz="1000">
                <a:solidFill>
                  <a:srgbClr val="FF0000"/>
                </a:solidFill>
                <a:latin typeface="Consolas"/>
                <a:ea typeface="Consolas"/>
                <a:cs typeface="Consolas"/>
                <a:sym typeface="Consolas"/>
              </a:rPr>
              <a:t>B to C = 3 + 2 = 5</a:t>
            </a:r>
            <a:endParaRPr sz="1000">
              <a:solidFill>
                <a:srgbClr val="FF0000"/>
              </a:solidFill>
              <a:latin typeface="Consolas"/>
              <a:ea typeface="Consolas"/>
              <a:cs typeface="Consolas"/>
              <a:sym typeface="Consolas"/>
            </a:endParaRPr>
          </a:p>
          <a:p>
            <a:pPr indent="0" lvl="0" marL="0" rtl="0" algn="ctr">
              <a:spcBef>
                <a:spcPts val="0"/>
              </a:spcBef>
              <a:spcAft>
                <a:spcPts val="0"/>
              </a:spcAft>
              <a:buNone/>
            </a:pPr>
            <a:r>
              <a:rPr lang="en" sz="1000">
                <a:solidFill>
                  <a:srgbClr val="FF9900"/>
                </a:solidFill>
                <a:latin typeface="Consolas"/>
                <a:ea typeface="Consolas"/>
                <a:cs typeface="Consolas"/>
                <a:sym typeface="Consolas"/>
              </a:rPr>
              <a:t>B to F = 3 + 5 = 8</a:t>
            </a:r>
            <a:endParaRPr sz="1000">
              <a:solidFill>
                <a:srgbClr val="FF9900"/>
              </a:solidFill>
              <a:latin typeface="Consolas"/>
              <a:ea typeface="Consolas"/>
              <a:cs typeface="Consolas"/>
              <a:sym typeface="Consolas"/>
            </a:endParaRPr>
          </a:p>
          <a:p>
            <a:pPr indent="0" lvl="0" marL="0" rtl="0" algn="ctr">
              <a:spcBef>
                <a:spcPts val="0"/>
              </a:spcBef>
              <a:spcAft>
                <a:spcPts val="0"/>
              </a:spcAft>
              <a:buNone/>
            </a:pPr>
            <a:r>
              <a:rPr lang="en" sz="1000">
                <a:solidFill>
                  <a:srgbClr val="FF0000"/>
                </a:solidFill>
                <a:latin typeface="Consolas"/>
                <a:ea typeface="Consolas"/>
                <a:cs typeface="Consolas"/>
                <a:sym typeface="Consolas"/>
              </a:rPr>
              <a:t>B to G = 3 + 4 = 7</a:t>
            </a:r>
            <a:endParaRPr sz="1000">
              <a:solidFill>
                <a:srgbClr val="FF0000"/>
              </a:solidFill>
              <a:latin typeface="Consolas"/>
              <a:ea typeface="Consolas"/>
              <a:cs typeface="Consolas"/>
              <a:sym typeface="Consolas"/>
            </a:endParaRPr>
          </a:p>
        </p:txBody>
      </p:sp>
      <p:sp>
        <p:nvSpPr>
          <p:cNvPr id="1153" name="Google Shape;1153;p66"/>
          <p:cNvSpPr txBox="1"/>
          <p:nvPr/>
        </p:nvSpPr>
        <p:spPr>
          <a:xfrm>
            <a:off x="5038260" y="45055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F:(D, 9)</a:t>
            </a:r>
            <a:endParaRPr sz="1000">
              <a:solidFill>
                <a:srgbClr val="FF0000"/>
              </a:solidFill>
              <a:latin typeface="Consolas"/>
              <a:ea typeface="Consolas"/>
              <a:cs typeface="Consolas"/>
              <a:sym typeface="Consolas"/>
            </a:endParaRPr>
          </a:p>
        </p:txBody>
      </p:sp>
      <p:sp>
        <p:nvSpPr>
          <p:cNvPr id="1154" name="Google Shape;1154;p66"/>
          <p:cNvSpPr txBox="1"/>
          <p:nvPr/>
        </p:nvSpPr>
        <p:spPr>
          <a:xfrm>
            <a:off x="45048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G:(C, 6)</a:t>
            </a:r>
            <a:endParaRPr sz="1000">
              <a:solidFill>
                <a:srgbClr val="FF0000"/>
              </a:solidFill>
              <a:latin typeface="Consolas"/>
              <a:ea typeface="Consolas"/>
              <a:cs typeface="Consolas"/>
              <a:sym typeface="Consolas"/>
            </a:endParaRPr>
          </a:p>
        </p:txBody>
      </p:sp>
      <p:grpSp>
        <p:nvGrpSpPr>
          <p:cNvPr id="1155" name="Google Shape;1155;p66"/>
          <p:cNvGrpSpPr/>
          <p:nvPr/>
        </p:nvGrpSpPr>
        <p:grpSpPr>
          <a:xfrm>
            <a:off x="4567317" y="3396876"/>
            <a:ext cx="1436100" cy="1447247"/>
            <a:chOff x="4567317" y="3396876"/>
            <a:chExt cx="1436100" cy="1447247"/>
          </a:xfrm>
        </p:grpSpPr>
        <p:sp>
          <p:nvSpPr>
            <p:cNvPr id="1156" name="Google Shape;1156;p66"/>
            <p:cNvSpPr txBox="1"/>
            <p:nvPr/>
          </p:nvSpPr>
          <p:spPr>
            <a:xfrm>
              <a:off x="4948317" y="4602324"/>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F:(B, 8)</a:t>
              </a:r>
              <a:endParaRPr sz="1000">
                <a:solidFill>
                  <a:srgbClr val="FF9900"/>
                </a:solidFill>
                <a:latin typeface="Consolas"/>
                <a:ea typeface="Consolas"/>
                <a:cs typeface="Consolas"/>
                <a:sym typeface="Consolas"/>
              </a:endParaRPr>
            </a:p>
          </p:txBody>
        </p:sp>
        <p:sp>
          <p:nvSpPr>
            <p:cNvPr id="1157" name="Google Shape;1157;p66"/>
            <p:cNvSpPr txBox="1"/>
            <p:nvPr/>
          </p:nvSpPr>
          <p:spPr>
            <a:xfrm>
              <a:off x="4567317" y="3396876"/>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(B, 8)</a:t>
              </a:r>
              <a:endParaRPr sz="1000">
                <a:solidFill>
                  <a:srgbClr val="FF9900"/>
                </a:solidFill>
                <a:latin typeface="Consolas"/>
                <a:ea typeface="Consolas"/>
                <a:cs typeface="Consolas"/>
                <a:sym typeface="Consola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49"/>
                                        </p:tgtEl>
                                        <p:attrNameLst>
                                          <p:attrName>style.visibility</p:attrName>
                                        </p:attrNameLst>
                                      </p:cBhvr>
                                      <p:to>
                                        <p:strVal val="visible"/>
                                      </p:to>
                                    </p:set>
                                    <p:animEffect filter="fade" transition="in">
                                      <p:cBhvr>
                                        <p:cTn dur="1000"/>
                                        <p:tgtEl>
                                          <p:spTgt spid="1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gtEl>
                                        <p:attrNameLst>
                                          <p:attrName>style.visibility</p:attrName>
                                        </p:attrNameLst>
                                      </p:cBhvr>
                                      <p:to>
                                        <p:strVal val="visible"/>
                                      </p:to>
                                    </p:set>
                                    <p:animEffect filter="fade" transition="in">
                                      <p:cBhvr>
                                        <p:cTn dur="1000"/>
                                        <p:tgtEl>
                                          <p:spTgt spid="11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55"/>
                                        </p:tgtEl>
                                        <p:attrNameLst>
                                          <p:attrName>style.visibility</p:attrName>
                                        </p:attrNameLst>
                                      </p:cBhvr>
                                      <p:to>
                                        <p:strVal val="visible"/>
                                      </p:to>
                                    </p:set>
                                    <p:animEffect filter="fade" transition="in">
                                      <p:cBhvr>
                                        <p:cTn dur="1000"/>
                                        <p:tgtEl>
                                          <p:spTgt spid="1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67"/>
          <p:cNvSpPr txBox="1"/>
          <p:nvPr/>
        </p:nvSpPr>
        <p:spPr>
          <a:xfrm>
            <a:off x="3197475" y="4071628"/>
            <a:ext cx="2863200" cy="9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1163" name="Google Shape;1163;p67"/>
          <p:cNvSpPr txBox="1"/>
          <p:nvPr/>
        </p:nvSpPr>
        <p:spPr>
          <a:xfrm>
            <a:off x="45048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G:(C, 6)</a:t>
            </a:r>
            <a:endParaRPr sz="1000">
              <a:solidFill>
                <a:srgbClr val="4A86E8"/>
              </a:solidFill>
              <a:latin typeface="Consolas"/>
              <a:ea typeface="Consolas"/>
              <a:cs typeface="Consolas"/>
              <a:sym typeface="Consolas"/>
            </a:endParaRPr>
          </a:p>
        </p:txBody>
      </p:sp>
      <p:graphicFrame>
        <p:nvGraphicFramePr>
          <p:cNvPr id="1164" name="Google Shape;1164;p67"/>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(B, 8)</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165" name="Google Shape;1165;p6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The Main Loop</a:t>
            </a:r>
            <a:endParaRPr/>
          </a:p>
        </p:txBody>
      </p:sp>
      <p:sp>
        <p:nvSpPr>
          <p:cNvPr id="1166" name="Google Shape;1166;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67" name="Google Shape;1167;p67"/>
          <p:cNvSpPr txBox="1"/>
          <p:nvPr/>
        </p:nvSpPr>
        <p:spPr>
          <a:xfrm>
            <a:off x="32856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168" name="Google Shape;1168;p67"/>
          <p:cNvSpPr txBox="1"/>
          <p:nvPr>
            <p:ph idx="4294967295" type="body"/>
          </p:nvPr>
        </p:nvSpPr>
        <p:spPr>
          <a:xfrm>
            <a:off x="110821" y="1518850"/>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b="1" i="1" lang="en" sz="1200">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169" name="Google Shape;1169;p67"/>
          <p:cNvGrpSpPr/>
          <p:nvPr/>
        </p:nvGrpSpPr>
        <p:grpSpPr>
          <a:xfrm>
            <a:off x="6244267" y="1458389"/>
            <a:ext cx="2587178" cy="2330671"/>
            <a:chOff x="338125" y="1610890"/>
            <a:chExt cx="3334852" cy="3004217"/>
          </a:xfrm>
        </p:grpSpPr>
        <p:sp>
          <p:nvSpPr>
            <p:cNvPr id="1170" name="Google Shape;1170;p67"/>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171" name="Google Shape;1171;p67"/>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172" name="Google Shape;1172;p67"/>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173" name="Google Shape;1173;p67"/>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174" name="Google Shape;1174;p67"/>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175" name="Google Shape;1175;p67"/>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176" name="Google Shape;1176;p67"/>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177" name="Google Shape;1177;p67"/>
            <p:cNvCxnSpPr>
              <a:stCxn id="1170" idx="3"/>
              <a:endCxn id="1172"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178" name="Google Shape;1178;p67"/>
            <p:cNvCxnSpPr>
              <a:stCxn id="1170" idx="6"/>
              <a:endCxn id="1173"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179" name="Google Shape;1179;p67"/>
            <p:cNvCxnSpPr>
              <a:stCxn id="1170" idx="5"/>
              <a:endCxn id="1171"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180" name="Google Shape;1180;p67"/>
            <p:cNvCxnSpPr>
              <a:stCxn id="1171" idx="6"/>
              <a:endCxn id="1175"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181" name="Google Shape;1181;p67"/>
            <p:cNvCxnSpPr>
              <a:stCxn id="1175" idx="4"/>
              <a:endCxn id="1174"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182" name="Google Shape;1182;p67"/>
            <p:cNvCxnSpPr>
              <a:stCxn id="1171" idx="3"/>
              <a:endCxn id="1176"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183" name="Google Shape;1183;p67"/>
            <p:cNvCxnSpPr>
              <a:stCxn id="1176" idx="6"/>
              <a:endCxn id="1174"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184" name="Google Shape;1184;p67"/>
            <p:cNvCxnSpPr>
              <a:stCxn id="1172" idx="6"/>
              <a:endCxn id="1171"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185" name="Google Shape;1185;p67"/>
            <p:cNvCxnSpPr>
              <a:stCxn id="1173" idx="5"/>
              <a:endCxn id="1175"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186" name="Google Shape;1186;p67"/>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187" name="Google Shape;1187;p67"/>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188" name="Google Shape;1188;p67"/>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89" name="Google Shape;1189;p67"/>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190" name="Google Shape;1190;p67"/>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191" name="Google Shape;1191;p67"/>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92" name="Google Shape;1192;p67"/>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93" name="Google Shape;1193;p67"/>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194" name="Google Shape;1194;p67"/>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195" name="Google Shape;1195;p67"/>
            <p:cNvCxnSpPr>
              <a:stCxn id="1172" idx="5"/>
              <a:endCxn id="1176"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196" name="Google Shape;1196;p67"/>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197" name="Google Shape;1197;p67"/>
          <p:cNvGrpSpPr/>
          <p:nvPr/>
        </p:nvGrpSpPr>
        <p:grpSpPr>
          <a:xfrm>
            <a:off x="4658580" y="4046218"/>
            <a:ext cx="3360504" cy="959633"/>
            <a:chOff x="4658580" y="3963142"/>
            <a:chExt cx="3360504" cy="959633"/>
          </a:xfrm>
        </p:grpSpPr>
        <p:sp>
          <p:nvSpPr>
            <p:cNvPr id="1198" name="Google Shape;1198;p67"/>
            <p:cNvSpPr txBox="1"/>
            <p:nvPr/>
          </p:nvSpPr>
          <p:spPr>
            <a:xfrm>
              <a:off x="7056685" y="3963142"/>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G:(C, 6)</a:t>
              </a:r>
              <a:endParaRPr sz="1000">
                <a:solidFill>
                  <a:srgbClr val="4A86E8"/>
                </a:solidFill>
                <a:latin typeface="Consolas"/>
                <a:ea typeface="Consolas"/>
                <a:cs typeface="Consolas"/>
                <a:sym typeface="Consolas"/>
              </a:endParaRPr>
            </a:p>
          </p:txBody>
        </p:sp>
        <p:sp>
          <p:nvSpPr>
            <p:cNvPr id="1199" name="Google Shape;1199;p67"/>
            <p:cNvSpPr txBox="1"/>
            <p:nvPr/>
          </p:nvSpPr>
          <p:spPr>
            <a:xfrm>
              <a:off x="4658580" y="4720275"/>
              <a:ext cx="818400" cy="202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1200" name="Google Shape;1200;p67"/>
          <p:cNvSpPr txBox="1"/>
          <p:nvPr/>
        </p:nvSpPr>
        <p:spPr>
          <a:xfrm>
            <a:off x="6753213" y="4292276"/>
            <a:ext cx="1569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0000"/>
                </a:solidFill>
                <a:latin typeface="Consolas"/>
                <a:ea typeface="Consolas"/>
                <a:cs typeface="Consolas"/>
                <a:sym typeface="Consolas"/>
              </a:rPr>
              <a:t>G to B = 6 + 4 = 10</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G to C = 6 + 5 = 11</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9900"/>
                </a:solidFill>
                <a:latin typeface="Consolas"/>
                <a:ea typeface="Consolas"/>
                <a:cs typeface="Consolas"/>
                <a:sym typeface="Consolas"/>
              </a:rPr>
              <a:t>G to E = 6 + 4 = 10</a:t>
            </a:r>
            <a:endParaRPr sz="1000">
              <a:solidFill>
                <a:srgbClr val="FF0000"/>
              </a:solidFill>
              <a:latin typeface="Consolas"/>
              <a:ea typeface="Consolas"/>
              <a:cs typeface="Consolas"/>
              <a:sym typeface="Consolas"/>
            </a:endParaRPr>
          </a:p>
        </p:txBody>
      </p:sp>
      <p:sp>
        <p:nvSpPr>
          <p:cNvPr id="1201" name="Google Shape;1201;p67"/>
          <p:cNvSpPr txBox="1"/>
          <p:nvPr/>
        </p:nvSpPr>
        <p:spPr>
          <a:xfrm>
            <a:off x="5038260" y="45055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F:(B, 8)</a:t>
            </a:r>
            <a:endParaRPr sz="1000">
              <a:solidFill>
                <a:srgbClr val="FF0000"/>
              </a:solidFill>
              <a:latin typeface="Consolas"/>
              <a:ea typeface="Consolas"/>
              <a:cs typeface="Consolas"/>
              <a:sym typeface="Consolas"/>
            </a:endParaRPr>
          </a:p>
        </p:txBody>
      </p:sp>
      <p:grpSp>
        <p:nvGrpSpPr>
          <p:cNvPr id="1202" name="Google Shape;1202;p67"/>
          <p:cNvGrpSpPr/>
          <p:nvPr/>
        </p:nvGrpSpPr>
        <p:grpSpPr>
          <a:xfrm>
            <a:off x="3271917" y="3064011"/>
            <a:ext cx="2350500" cy="1932513"/>
            <a:chOff x="3271917" y="3064011"/>
            <a:chExt cx="2350500" cy="1932513"/>
          </a:xfrm>
        </p:grpSpPr>
        <p:sp>
          <p:nvSpPr>
            <p:cNvPr id="1203" name="Google Shape;1203;p67"/>
            <p:cNvSpPr txBox="1"/>
            <p:nvPr/>
          </p:nvSpPr>
          <p:spPr>
            <a:xfrm>
              <a:off x="3271917" y="4754724"/>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E:(G, 10)</a:t>
              </a:r>
              <a:endParaRPr sz="1000">
                <a:solidFill>
                  <a:srgbClr val="FF9900"/>
                </a:solidFill>
                <a:latin typeface="Consolas"/>
                <a:ea typeface="Consolas"/>
                <a:cs typeface="Consolas"/>
                <a:sym typeface="Consolas"/>
              </a:endParaRPr>
            </a:p>
          </p:txBody>
        </p:sp>
        <p:sp>
          <p:nvSpPr>
            <p:cNvPr id="1204" name="Google Shape;1204;p67"/>
            <p:cNvSpPr txBox="1"/>
            <p:nvPr/>
          </p:nvSpPr>
          <p:spPr>
            <a:xfrm>
              <a:off x="4567317" y="3064011"/>
              <a:ext cx="1055100" cy="241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9900"/>
                  </a:solidFill>
                  <a:latin typeface="Consolas"/>
                  <a:ea typeface="Consolas"/>
                  <a:cs typeface="Consolas"/>
                  <a:sym typeface="Consolas"/>
                </a:rPr>
                <a:t>(G, 10)</a:t>
              </a:r>
              <a:endParaRPr sz="1000">
                <a:solidFill>
                  <a:srgbClr val="FF9900"/>
                </a:solidFill>
                <a:latin typeface="Consolas"/>
                <a:ea typeface="Consolas"/>
                <a:cs typeface="Consolas"/>
                <a:sym typeface="Consola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97"/>
                                        </p:tgtEl>
                                        <p:attrNameLst>
                                          <p:attrName>style.visibility</p:attrName>
                                        </p:attrNameLst>
                                      </p:cBhvr>
                                      <p:to>
                                        <p:strVal val="visible"/>
                                      </p:to>
                                    </p:set>
                                    <p:animEffect filter="fade" transition="in">
                                      <p:cBhvr>
                                        <p:cTn dur="1000"/>
                                        <p:tgtEl>
                                          <p:spTgt spid="1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1000"/>
                                        <p:tgtEl>
                                          <p:spTgt spid="12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1000"/>
                                        <p:tgtEl>
                                          <p:spTgt spid="1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68"/>
          <p:cNvSpPr txBox="1"/>
          <p:nvPr/>
        </p:nvSpPr>
        <p:spPr>
          <a:xfrm>
            <a:off x="5038260" y="45055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F:(B, 8)</a:t>
            </a:r>
            <a:endParaRPr sz="1000">
              <a:solidFill>
                <a:srgbClr val="4A86E8"/>
              </a:solidFill>
              <a:latin typeface="Consolas"/>
              <a:ea typeface="Consolas"/>
              <a:cs typeface="Consolas"/>
              <a:sym typeface="Consolas"/>
            </a:endParaRPr>
          </a:p>
        </p:txBody>
      </p:sp>
      <p:sp>
        <p:nvSpPr>
          <p:cNvPr id="1210" name="Google Shape;1210;p68"/>
          <p:cNvSpPr txBox="1"/>
          <p:nvPr/>
        </p:nvSpPr>
        <p:spPr>
          <a:xfrm>
            <a:off x="3197475" y="4071628"/>
            <a:ext cx="2863200" cy="9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graphicFrame>
        <p:nvGraphicFramePr>
          <p:cNvPr id="1211" name="Google Shape;1211;p68"/>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(G, 10)</a:t>
                      </a:r>
                      <a:endParaRPr sz="10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212" name="Google Shape;1212;p6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The Main Loop</a:t>
            </a:r>
            <a:endParaRPr/>
          </a:p>
        </p:txBody>
      </p:sp>
      <p:sp>
        <p:nvSpPr>
          <p:cNvPr id="1213" name="Google Shape;1213;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4" name="Google Shape;1214;p68"/>
          <p:cNvSpPr txBox="1"/>
          <p:nvPr/>
        </p:nvSpPr>
        <p:spPr>
          <a:xfrm>
            <a:off x="32856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E:(G, 10)</a:t>
            </a:r>
            <a:endParaRPr sz="1000">
              <a:solidFill>
                <a:srgbClr val="FF0000"/>
              </a:solidFill>
              <a:latin typeface="Consolas"/>
              <a:ea typeface="Consolas"/>
              <a:cs typeface="Consolas"/>
              <a:sym typeface="Consolas"/>
            </a:endParaRPr>
          </a:p>
        </p:txBody>
      </p:sp>
      <p:sp>
        <p:nvSpPr>
          <p:cNvPr id="1215" name="Google Shape;1215;p68"/>
          <p:cNvSpPr txBox="1"/>
          <p:nvPr>
            <p:ph idx="4294967295" type="body"/>
          </p:nvPr>
        </p:nvSpPr>
        <p:spPr>
          <a:xfrm>
            <a:off x="110821" y="1518850"/>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b="1" i="1" lang="en" sz="1200">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216" name="Google Shape;1216;p68"/>
          <p:cNvGrpSpPr/>
          <p:nvPr/>
        </p:nvGrpSpPr>
        <p:grpSpPr>
          <a:xfrm>
            <a:off x="6244267" y="1458389"/>
            <a:ext cx="2587178" cy="2330671"/>
            <a:chOff x="338125" y="1610890"/>
            <a:chExt cx="3334852" cy="3004217"/>
          </a:xfrm>
        </p:grpSpPr>
        <p:sp>
          <p:nvSpPr>
            <p:cNvPr id="1217" name="Google Shape;1217;p68"/>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218" name="Google Shape;1218;p68"/>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219" name="Google Shape;1219;p68"/>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220" name="Google Shape;1220;p68"/>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221" name="Google Shape;1221;p68"/>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222" name="Google Shape;1222;p68"/>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223" name="Google Shape;1223;p68"/>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224" name="Google Shape;1224;p68"/>
            <p:cNvCxnSpPr>
              <a:stCxn id="1217" idx="3"/>
              <a:endCxn id="1219"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225" name="Google Shape;1225;p68"/>
            <p:cNvCxnSpPr>
              <a:stCxn id="1217" idx="6"/>
              <a:endCxn id="1220"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226" name="Google Shape;1226;p68"/>
            <p:cNvCxnSpPr>
              <a:stCxn id="1217" idx="5"/>
              <a:endCxn id="1218"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227" name="Google Shape;1227;p68"/>
            <p:cNvCxnSpPr>
              <a:stCxn id="1218" idx="6"/>
              <a:endCxn id="1222"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228" name="Google Shape;1228;p68"/>
            <p:cNvCxnSpPr>
              <a:stCxn id="1222" idx="4"/>
              <a:endCxn id="1221"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229" name="Google Shape;1229;p68"/>
            <p:cNvCxnSpPr>
              <a:stCxn id="1218" idx="3"/>
              <a:endCxn id="1223"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230" name="Google Shape;1230;p68"/>
            <p:cNvCxnSpPr>
              <a:stCxn id="1223" idx="6"/>
              <a:endCxn id="1221"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231" name="Google Shape;1231;p68"/>
            <p:cNvCxnSpPr>
              <a:stCxn id="1219" idx="6"/>
              <a:endCxn id="1218"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232" name="Google Shape;1232;p68"/>
            <p:cNvCxnSpPr>
              <a:stCxn id="1220" idx="5"/>
              <a:endCxn id="1222"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233" name="Google Shape;1233;p68"/>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234" name="Google Shape;1234;p68"/>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235" name="Google Shape;1235;p68"/>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36" name="Google Shape;1236;p68"/>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237" name="Google Shape;1237;p68"/>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238" name="Google Shape;1238;p68"/>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39" name="Google Shape;1239;p68"/>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40" name="Google Shape;1240;p68"/>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241" name="Google Shape;1241;p68"/>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242" name="Google Shape;1242;p68"/>
            <p:cNvCxnSpPr>
              <a:stCxn id="1219" idx="5"/>
              <a:endCxn id="1223"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243" name="Google Shape;1243;p68"/>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244" name="Google Shape;1244;p68"/>
          <p:cNvGrpSpPr/>
          <p:nvPr/>
        </p:nvGrpSpPr>
        <p:grpSpPr>
          <a:xfrm>
            <a:off x="5115780" y="4046218"/>
            <a:ext cx="2903304" cy="807233"/>
            <a:chOff x="5115780" y="3963142"/>
            <a:chExt cx="2903304" cy="807233"/>
          </a:xfrm>
        </p:grpSpPr>
        <p:sp>
          <p:nvSpPr>
            <p:cNvPr id="1245" name="Google Shape;1245;p68"/>
            <p:cNvSpPr txBox="1"/>
            <p:nvPr/>
          </p:nvSpPr>
          <p:spPr>
            <a:xfrm>
              <a:off x="7056685" y="3963142"/>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F:(B, 8)</a:t>
              </a:r>
              <a:endParaRPr sz="1000">
                <a:solidFill>
                  <a:srgbClr val="4A86E8"/>
                </a:solidFill>
                <a:latin typeface="Consolas"/>
                <a:ea typeface="Consolas"/>
                <a:cs typeface="Consolas"/>
                <a:sym typeface="Consolas"/>
              </a:endParaRPr>
            </a:p>
          </p:txBody>
        </p:sp>
        <p:sp>
          <p:nvSpPr>
            <p:cNvPr id="1246" name="Google Shape;1246;p68"/>
            <p:cNvSpPr txBox="1"/>
            <p:nvPr/>
          </p:nvSpPr>
          <p:spPr>
            <a:xfrm>
              <a:off x="5115780" y="4567875"/>
              <a:ext cx="818400" cy="202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1247" name="Google Shape;1247;p68"/>
          <p:cNvSpPr txBox="1"/>
          <p:nvPr/>
        </p:nvSpPr>
        <p:spPr>
          <a:xfrm>
            <a:off x="6753213" y="4292276"/>
            <a:ext cx="1569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0000"/>
                </a:solidFill>
                <a:latin typeface="Consolas"/>
                <a:ea typeface="Consolas"/>
                <a:cs typeface="Consolas"/>
                <a:sym typeface="Consolas"/>
              </a:rPr>
              <a:t>F to B = 8 + 5 = 13</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F to D = 8 + 7 = 15</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F to E = 8 + 4 = 12</a:t>
            </a:r>
            <a:endParaRPr sz="1000">
              <a:solidFill>
                <a:srgbClr val="FF0000"/>
              </a:solidFill>
              <a:latin typeface="Consolas"/>
              <a:ea typeface="Consolas"/>
              <a:cs typeface="Consolas"/>
              <a:sym typeface="Consolas"/>
            </a:endParaRPr>
          </a:p>
        </p:txBody>
      </p:sp>
      <p:sp>
        <p:nvSpPr>
          <p:cNvPr id="1248" name="Google Shape;1248;p68"/>
          <p:cNvSpPr txBox="1"/>
          <p:nvPr>
            <p:ph idx="4294967295" type="body"/>
          </p:nvPr>
        </p:nvSpPr>
        <p:spPr>
          <a:xfrm>
            <a:off x="110821" y="2357050"/>
            <a:ext cx="299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Sometimes, none of the neighbor vertices are updated, because the path through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 is longer than the currently known </a:t>
            </a:r>
            <a:r>
              <a:rPr b="1" i="1" lang="en" sz="1200">
                <a:solidFill>
                  <a:srgbClr val="FF0000"/>
                </a:solidFill>
                <a:latin typeface="Arial"/>
                <a:ea typeface="Arial"/>
                <a:cs typeface="Arial"/>
                <a:sym typeface="Arial"/>
              </a:rPr>
              <a:t>shortest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path.</a:t>
            </a:r>
            <a:endParaRPr b="1" i="1" sz="12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44"/>
                                        </p:tgtEl>
                                        <p:attrNameLst>
                                          <p:attrName>style.visibility</p:attrName>
                                        </p:attrNameLst>
                                      </p:cBhvr>
                                      <p:to>
                                        <p:strVal val="visible"/>
                                      </p:to>
                                    </p:set>
                                    <p:animEffect filter="fade" transition="in">
                                      <p:cBhvr>
                                        <p:cTn dur="1000"/>
                                        <p:tgtEl>
                                          <p:spTgt spid="1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7"/>
                                        </p:tgtEl>
                                        <p:attrNameLst>
                                          <p:attrName>style.visibility</p:attrName>
                                        </p:attrNameLst>
                                      </p:cBhvr>
                                      <p:to>
                                        <p:strVal val="visible"/>
                                      </p:to>
                                    </p:set>
                                    <p:animEffect filter="fade" transition="in">
                                      <p:cBhvr>
                                        <p:cTn dur="1000"/>
                                        <p:tgtEl>
                                          <p:spTgt spid="1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8"/>
                                        </p:tgtEl>
                                        <p:attrNameLst>
                                          <p:attrName>style.visibility</p:attrName>
                                        </p:attrNameLst>
                                      </p:cBhvr>
                                      <p:to>
                                        <p:strVal val="visible"/>
                                      </p:to>
                                    </p:set>
                                    <p:animEffect filter="fade" transition="in">
                                      <p:cBhvr>
                                        <p:cTn dur="1000"/>
                                        <p:tgtEl>
                                          <p:spTgt spid="1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69"/>
          <p:cNvSpPr txBox="1"/>
          <p:nvPr/>
        </p:nvSpPr>
        <p:spPr>
          <a:xfrm>
            <a:off x="3197475" y="4071628"/>
            <a:ext cx="2863200" cy="9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graphicFrame>
        <p:nvGraphicFramePr>
          <p:cNvPr id="1254" name="Google Shape;1254;p69"/>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255" name="Google Shape;1255;p6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The Main Loop</a:t>
            </a:r>
            <a:endParaRPr/>
          </a:p>
        </p:txBody>
      </p:sp>
      <p:sp>
        <p:nvSpPr>
          <p:cNvPr id="1256" name="Google Shape;1256;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57" name="Google Shape;1257;p69"/>
          <p:cNvSpPr txBox="1"/>
          <p:nvPr/>
        </p:nvSpPr>
        <p:spPr>
          <a:xfrm>
            <a:off x="3285660" y="4657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E:(G, 10)</a:t>
            </a:r>
            <a:endParaRPr sz="1000">
              <a:solidFill>
                <a:srgbClr val="4A86E8"/>
              </a:solidFill>
              <a:latin typeface="Consolas"/>
              <a:ea typeface="Consolas"/>
              <a:cs typeface="Consolas"/>
              <a:sym typeface="Consolas"/>
            </a:endParaRPr>
          </a:p>
        </p:txBody>
      </p:sp>
      <p:sp>
        <p:nvSpPr>
          <p:cNvPr id="1258" name="Google Shape;1258;p69"/>
          <p:cNvSpPr txBox="1"/>
          <p:nvPr>
            <p:ph idx="4294967295" type="body"/>
          </p:nvPr>
        </p:nvSpPr>
        <p:spPr>
          <a:xfrm>
            <a:off x="110821" y="1518850"/>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b="1" i="1" lang="en" sz="1200">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259" name="Google Shape;1259;p69"/>
          <p:cNvGrpSpPr/>
          <p:nvPr/>
        </p:nvGrpSpPr>
        <p:grpSpPr>
          <a:xfrm>
            <a:off x="6244267" y="1458389"/>
            <a:ext cx="2587178" cy="2330671"/>
            <a:chOff x="338125" y="1610890"/>
            <a:chExt cx="3334852" cy="3004217"/>
          </a:xfrm>
        </p:grpSpPr>
        <p:sp>
          <p:nvSpPr>
            <p:cNvPr id="1260" name="Google Shape;1260;p69"/>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261" name="Google Shape;1261;p69"/>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262" name="Google Shape;1262;p69"/>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263" name="Google Shape;1263;p69"/>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264" name="Google Shape;1264;p69"/>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265" name="Google Shape;1265;p69"/>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266" name="Google Shape;1266;p69"/>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267" name="Google Shape;1267;p69"/>
            <p:cNvCxnSpPr>
              <a:stCxn id="1260" idx="3"/>
              <a:endCxn id="1262"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268" name="Google Shape;1268;p69"/>
            <p:cNvCxnSpPr>
              <a:stCxn id="1260" idx="6"/>
              <a:endCxn id="1263"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269" name="Google Shape;1269;p69"/>
            <p:cNvCxnSpPr>
              <a:stCxn id="1260" idx="5"/>
              <a:endCxn id="1261"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270" name="Google Shape;1270;p69"/>
            <p:cNvCxnSpPr>
              <a:stCxn id="1261" idx="6"/>
              <a:endCxn id="1265"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271" name="Google Shape;1271;p69"/>
            <p:cNvCxnSpPr>
              <a:stCxn id="1265" idx="4"/>
              <a:endCxn id="1264"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272" name="Google Shape;1272;p69"/>
            <p:cNvCxnSpPr>
              <a:stCxn id="1261" idx="3"/>
              <a:endCxn id="1266"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273" name="Google Shape;1273;p69"/>
            <p:cNvCxnSpPr>
              <a:stCxn id="1266" idx="6"/>
              <a:endCxn id="1264"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274" name="Google Shape;1274;p69"/>
            <p:cNvCxnSpPr>
              <a:stCxn id="1262" idx="6"/>
              <a:endCxn id="1261"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275" name="Google Shape;1275;p69"/>
            <p:cNvCxnSpPr>
              <a:stCxn id="1263" idx="5"/>
              <a:endCxn id="1265"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276" name="Google Shape;1276;p69"/>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277" name="Google Shape;1277;p69"/>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278" name="Google Shape;1278;p69"/>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79" name="Google Shape;1279;p69"/>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280" name="Google Shape;1280;p69"/>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281" name="Google Shape;1281;p69"/>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82" name="Google Shape;1282;p69"/>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83" name="Google Shape;1283;p69"/>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284" name="Google Shape;1284;p69"/>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285" name="Google Shape;1285;p69"/>
            <p:cNvCxnSpPr>
              <a:stCxn id="1262" idx="5"/>
              <a:endCxn id="1266"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286" name="Google Shape;1286;p69"/>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287" name="Google Shape;1287;p69"/>
          <p:cNvGrpSpPr/>
          <p:nvPr/>
        </p:nvGrpSpPr>
        <p:grpSpPr>
          <a:xfrm>
            <a:off x="3363180" y="4046218"/>
            <a:ext cx="4655904" cy="959633"/>
            <a:chOff x="3363180" y="3963142"/>
            <a:chExt cx="4655904" cy="959633"/>
          </a:xfrm>
        </p:grpSpPr>
        <p:sp>
          <p:nvSpPr>
            <p:cNvPr id="1288" name="Google Shape;1288;p69"/>
            <p:cNvSpPr txBox="1"/>
            <p:nvPr/>
          </p:nvSpPr>
          <p:spPr>
            <a:xfrm>
              <a:off x="7056685" y="3963142"/>
              <a:ext cx="96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E:(G, 10)</a:t>
              </a:r>
              <a:endParaRPr sz="1000">
                <a:solidFill>
                  <a:srgbClr val="4A86E8"/>
                </a:solidFill>
                <a:latin typeface="Consolas"/>
                <a:ea typeface="Consolas"/>
                <a:cs typeface="Consolas"/>
                <a:sym typeface="Consolas"/>
              </a:endParaRPr>
            </a:p>
          </p:txBody>
        </p:sp>
        <p:sp>
          <p:nvSpPr>
            <p:cNvPr id="1289" name="Google Shape;1289;p69"/>
            <p:cNvSpPr txBox="1"/>
            <p:nvPr/>
          </p:nvSpPr>
          <p:spPr>
            <a:xfrm>
              <a:off x="3363180" y="4720275"/>
              <a:ext cx="818400" cy="202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1290" name="Google Shape;1290;p69"/>
          <p:cNvSpPr txBox="1"/>
          <p:nvPr/>
        </p:nvSpPr>
        <p:spPr>
          <a:xfrm>
            <a:off x="6753227" y="4292275"/>
            <a:ext cx="178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0000"/>
                </a:solidFill>
                <a:latin typeface="Consolas"/>
                <a:ea typeface="Consolas"/>
                <a:cs typeface="Consolas"/>
                <a:sym typeface="Consolas"/>
              </a:rPr>
              <a:t>E to F = 10 + 4 = 14</a:t>
            </a:r>
            <a:endParaRPr sz="1000">
              <a:solidFill>
                <a:srgbClr val="FF0000"/>
              </a:solidFill>
              <a:latin typeface="Consolas"/>
              <a:ea typeface="Consolas"/>
              <a:cs typeface="Consolas"/>
              <a:sym typeface="Consolas"/>
            </a:endParaRPr>
          </a:p>
          <a:p>
            <a:pPr indent="0" lvl="0" marL="0" rtl="0" algn="l">
              <a:spcBef>
                <a:spcPts val="0"/>
              </a:spcBef>
              <a:spcAft>
                <a:spcPts val="0"/>
              </a:spcAft>
              <a:buNone/>
            </a:pPr>
            <a:r>
              <a:rPr lang="en" sz="1000">
                <a:solidFill>
                  <a:srgbClr val="FF0000"/>
                </a:solidFill>
                <a:latin typeface="Consolas"/>
                <a:ea typeface="Consolas"/>
                <a:cs typeface="Consolas"/>
                <a:sym typeface="Consolas"/>
              </a:rPr>
              <a:t>E to G = 10 + 4 = 14</a:t>
            </a:r>
            <a:endParaRPr sz="1000">
              <a:solidFill>
                <a:srgbClr val="FF0000"/>
              </a:solidFill>
              <a:latin typeface="Consolas"/>
              <a:ea typeface="Consolas"/>
              <a:cs typeface="Consolas"/>
              <a:sym typeface="Consolas"/>
            </a:endParaRPr>
          </a:p>
        </p:txBody>
      </p:sp>
      <p:sp>
        <p:nvSpPr>
          <p:cNvPr id="1291" name="Google Shape;1291;p69"/>
          <p:cNvSpPr txBox="1"/>
          <p:nvPr>
            <p:ph idx="4294967295" type="body"/>
          </p:nvPr>
        </p:nvSpPr>
        <p:spPr>
          <a:xfrm>
            <a:off x="110821" y="2357050"/>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Once the </a:t>
            </a:r>
            <a:r>
              <a:rPr b="1" i="1" lang="en" sz="1200">
                <a:solidFill>
                  <a:srgbClr val="FF0000"/>
                </a:solidFill>
                <a:latin typeface="Arial"/>
                <a:ea typeface="Arial"/>
                <a:cs typeface="Arial"/>
                <a:sym typeface="Arial"/>
              </a:rPr>
              <a:t>tuple queue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empty, the main loop is complete. Unless...</a:t>
            </a:r>
            <a:endParaRPr sz="12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87"/>
                                        </p:tgtEl>
                                        <p:attrNameLst>
                                          <p:attrName>style.visibility</p:attrName>
                                        </p:attrNameLst>
                                      </p:cBhvr>
                                      <p:to>
                                        <p:strVal val="visible"/>
                                      </p:to>
                                    </p:set>
                                    <p:animEffect filter="fade" transition="in">
                                      <p:cBhvr>
                                        <p:cTn dur="1000"/>
                                        <p:tgtEl>
                                          <p:spTgt spid="1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gtEl>
                                        <p:attrNameLst>
                                          <p:attrName>style.visibility</p:attrName>
                                        </p:attrNameLst>
                                      </p:cBhvr>
                                      <p:to>
                                        <p:strVal val="visible"/>
                                      </p:to>
                                    </p:set>
                                    <p:animEffect filter="fade" transition="in">
                                      <p:cBhvr>
                                        <p:cTn dur="1000"/>
                                        <p:tgtEl>
                                          <p:spTgt spid="1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1"/>
                                        </p:tgtEl>
                                        <p:attrNameLst>
                                          <p:attrName>style.visibility</p:attrName>
                                        </p:attrNameLst>
                                      </p:cBhvr>
                                      <p:to>
                                        <p:strVal val="visible"/>
                                      </p:to>
                                    </p:set>
                                    <p:animEffect filter="fade" transition="in">
                                      <p:cBhvr>
                                        <p:cTn dur="1000"/>
                                        <p:tgtEl>
                                          <p:spTgt spid="1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70"/>
          <p:cNvSpPr txBox="1"/>
          <p:nvPr/>
        </p:nvSpPr>
        <p:spPr>
          <a:xfrm>
            <a:off x="3197475" y="4071628"/>
            <a:ext cx="2863200" cy="9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graphicFrame>
        <p:nvGraphicFramePr>
          <p:cNvPr id="1297" name="Google Shape;1297;p70"/>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X</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Y</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Z</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298" name="Google Shape;1298;p7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The Main Loop</a:t>
            </a:r>
            <a:endParaRPr/>
          </a:p>
        </p:txBody>
      </p:sp>
      <p:sp>
        <p:nvSpPr>
          <p:cNvPr id="1299" name="Google Shape;1299;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00" name="Google Shape;1300;p70"/>
          <p:cNvSpPr txBox="1"/>
          <p:nvPr/>
        </p:nvSpPr>
        <p:spPr>
          <a:xfrm>
            <a:off x="3285660" y="43531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x:(null, ∞)</a:t>
            </a:r>
            <a:endParaRPr sz="1000">
              <a:solidFill>
                <a:srgbClr val="FF0000"/>
              </a:solidFill>
              <a:latin typeface="Consolas"/>
              <a:ea typeface="Consolas"/>
              <a:cs typeface="Consolas"/>
              <a:sym typeface="Consolas"/>
            </a:endParaRPr>
          </a:p>
        </p:txBody>
      </p:sp>
      <p:sp>
        <p:nvSpPr>
          <p:cNvPr id="1301" name="Google Shape;1301;p70"/>
          <p:cNvSpPr txBox="1"/>
          <p:nvPr>
            <p:ph idx="4294967295" type="body"/>
          </p:nvPr>
        </p:nvSpPr>
        <p:spPr>
          <a:xfrm>
            <a:off x="110821" y="1518850"/>
            <a:ext cx="299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Consider this hypothetical scenario where the tuple queue </a:t>
            </a:r>
            <a:r>
              <a:rPr b="1" i="1" lang="en" sz="1200">
                <a:solidFill>
                  <a:srgbClr val="FF0000"/>
                </a:solidFill>
                <a:latin typeface="Arial"/>
                <a:ea typeface="Arial"/>
                <a:cs typeface="Arial"/>
                <a:sym typeface="Arial"/>
              </a:rPr>
              <a:t>is not empty</a:t>
            </a:r>
            <a:r>
              <a:rPr lang="en" sz="1200">
                <a:solidFill>
                  <a:srgbClr val="000000"/>
                </a:solidFill>
                <a:latin typeface="Arial"/>
                <a:ea typeface="Arial"/>
                <a:cs typeface="Arial"/>
                <a:sym typeface="Arial"/>
              </a:rPr>
              <a:t>, but the vertex that is </a:t>
            </a:r>
            <a:r>
              <a:rPr b="1" i="1" lang="en" sz="1200">
                <a:solidFill>
                  <a:srgbClr val="FF0000"/>
                </a:solidFill>
                <a:latin typeface="Arial"/>
                <a:ea typeface="Arial"/>
                <a:cs typeface="Arial"/>
                <a:sym typeface="Arial"/>
              </a:rPr>
              <a:t>closest </a:t>
            </a:r>
            <a:r>
              <a:rPr lang="en" sz="1200">
                <a:solidFill>
                  <a:srgbClr val="000000"/>
                </a:solidFill>
                <a:latin typeface="Arial"/>
                <a:ea typeface="Arial"/>
                <a:cs typeface="Arial"/>
                <a:sym typeface="Arial"/>
              </a:rPr>
              <a:t>to start has a distance of </a:t>
            </a:r>
            <a:r>
              <a:rPr b="1" i="1" lang="en" sz="1200">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302" name="Google Shape;1302;p70"/>
          <p:cNvGrpSpPr/>
          <p:nvPr/>
        </p:nvGrpSpPr>
        <p:grpSpPr>
          <a:xfrm>
            <a:off x="6244267" y="1458389"/>
            <a:ext cx="2587178" cy="2330671"/>
            <a:chOff x="338125" y="1610890"/>
            <a:chExt cx="3334852" cy="3004217"/>
          </a:xfrm>
        </p:grpSpPr>
        <p:sp>
          <p:nvSpPr>
            <p:cNvPr id="1303" name="Google Shape;1303;p70"/>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304" name="Google Shape;1304;p70"/>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305" name="Google Shape;1305;p70"/>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306" name="Google Shape;1306;p70"/>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307" name="Google Shape;1307;p70"/>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308" name="Google Shape;1308;p70"/>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309" name="Google Shape;1309;p70"/>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310" name="Google Shape;1310;p70"/>
            <p:cNvCxnSpPr>
              <a:stCxn id="1303" idx="3"/>
              <a:endCxn id="1305"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311" name="Google Shape;1311;p70"/>
            <p:cNvCxnSpPr>
              <a:stCxn id="1303" idx="6"/>
              <a:endCxn id="1306"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312" name="Google Shape;1312;p70"/>
            <p:cNvCxnSpPr>
              <a:stCxn id="1303" idx="5"/>
              <a:endCxn id="1304"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313" name="Google Shape;1313;p70"/>
            <p:cNvCxnSpPr>
              <a:stCxn id="1304" idx="6"/>
              <a:endCxn id="1308"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314" name="Google Shape;1314;p70"/>
            <p:cNvCxnSpPr>
              <a:stCxn id="1308" idx="4"/>
              <a:endCxn id="1307"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315" name="Google Shape;1315;p70"/>
            <p:cNvCxnSpPr>
              <a:stCxn id="1304" idx="3"/>
              <a:endCxn id="1309"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316" name="Google Shape;1316;p70"/>
            <p:cNvCxnSpPr>
              <a:stCxn id="1309" idx="6"/>
              <a:endCxn id="1307"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317" name="Google Shape;1317;p70"/>
            <p:cNvCxnSpPr>
              <a:stCxn id="1305" idx="6"/>
              <a:endCxn id="1304"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318" name="Google Shape;1318;p70"/>
            <p:cNvCxnSpPr>
              <a:stCxn id="1306" idx="5"/>
              <a:endCxn id="1308"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319" name="Google Shape;1319;p70"/>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320" name="Google Shape;1320;p70"/>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321" name="Google Shape;1321;p70"/>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22" name="Google Shape;1322;p70"/>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323" name="Google Shape;1323;p70"/>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324" name="Google Shape;1324;p70"/>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25" name="Google Shape;1325;p70"/>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26" name="Google Shape;1326;p70"/>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327" name="Google Shape;1327;p70"/>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328" name="Google Shape;1328;p70"/>
            <p:cNvCxnSpPr>
              <a:stCxn id="1305" idx="5"/>
              <a:endCxn id="1309"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329" name="Google Shape;1329;p70"/>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330" name="Google Shape;1330;p70"/>
          <p:cNvSpPr txBox="1"/>
          <p:nvPr>
            <p:ph idx="4294967295" type="body"/>
          </p:nvPr>
        </p:nvSpPr>
        <p:spPr>
          <a:xfrm>
            <a:off x="110821" y="2530079"/>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This means that any vertex still left in the tuple queue has never been updated.</a:t>
            </a:r>
            <a:endParaRPr sz="1200">
              <a:solidFill>
                <a:srgbClr val="000000"/>
              </a:solidFill>
              <a:latin typeface="Arial"/>
              <a:ea typeface="Arial"/>
              <a:cs typeface="Arial"/>
              <a:sym typeface="Arial"/>
            </a:endParaRPr>
          </a:p>
        </p:txBody>
      </p:sp>
      <p:sp>
        <p:nvSpPr>
          <p:cNvPr id="1331" name="Google Shape;1331;p70"/>
          <p:cNvSpPr txBox="1"/>
          <p:nvPr/>
        </p:nvSpPr>
        <p:spPr>
          <a:xfrm>
            <a:off x="4733460" y="45817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y:(null, ∞)</a:t>
            </a:r>
            <a:endParaRPr sz="1000">
              <a:solidFill>
                <a:srgbClr val="FF0000"/>
              </a:solidFill>
              <a:latin typeface="Consolas"/>
              <a:ea typeface="Consolas"/>
              <a:cs typeface="Consolas"/>
              <a:sym typeface="Consolas"/>
            </a:endParaRPr>
          </a:p>
        </p:txBody>
      </p:sp>
      <p:sp>
        <p:nvSpPr>
          <p:cNvPr id="1332" name="Google Shape;1332;p70"/>
          <p:cNvSpPr txBox="1"/>
          <p:nvPr/>
        </p:nvSpPr>
        <p:spPr>
          <a:xfrm>
            <a:off x="4352460" y="4276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z:(null, ∞)</a:t>
            </a:r>
            <a:endParaRPr sz="1000">
              <a:solidFill>
                <a:srgbClr val="FF0000"/>
              </a:solidFill>
              <a:latin typeface="Consolas"/>
              <a:ea typeface="Consolas"/>
              <a:cs typeface="Consolas"/>
              <a:sym typeface="Consolas"/>
            </a:endParaRPr>
          </a:p>
        </p:txBody>
      </p:sp>
      <p:sp>
        <p:nvSpPr>
          <p:cNvPr id="1333" name="Google Shape;1333;p70"/>
          <p:cNvSpPr/>
          <p:nvPr/>
        </p:nvSpPr>
        <p:spPr>
          <a:xfrm>
            <a:off x="6838242" y="43588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X</a:t>
            </a:r>
            <a:endParaRPr/>
          </a:p>
        </p:txBody>
      </p:sp>
      <p:sp>
        <p:nvSpPr>
          <p:cNvPr id="1334" name="Google Shape;1334;p70"/>
          <p:cNvSpPr/>
          <p:nvPr/>
        </p:nvSpPr>
        <p:spPr>
          <a:xfrm>
            <a:off x="7676442" y="44350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Y</a:t>
            </a:r>
            <a:endParaRPr/>
          </a:p>
        </p:txBody>
      </p:sp>
      <p:sp>
        <p:nvSpPr>
          <p:cNvPr id="1335" name="Google Shape;1335;p70"/>
          <p:cNvSpPr/>
          <p:nvPr/>
        </p:nvSpPr>
        <p:spPr>
          <a:xfrm>
            <a:off x="7371642" y="38254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Z</a:t>
            </a:r>
            <a:endParaRPr/>
          </a:p>
        </p:txBody>
      </p:sp>
      <p:cxnSp>
        <p:nvCxnSpPr>
          <p:cNvPr id="1336" name="Google Shape;1336;p70"/>
          <p:cNvCxnSpPr>
            <a:stCxn id="1333" idx="7"/>
            <a:endCxn id="1335" idx="3"/>
          </p:cNvCxnSpPr>
          <p:nvPr/>
        </p:nvCxnSpPr>
        <p:spPr>
          <a:xfrm flipH="1" rot="10800000">
            <a:off x="7197502" y="4184706"/>
            <a:ext cx="235800" cy="235800"/>
          </a:xfrm>
          <a:prstGeom prst="straightConnector1">
            <a:avLst/>
          </a:prstGeom>
          <a:noFill/>
          <a:ln cap="flat" cmpd="sng" w="19050">
            <a:solidFill>
              <a:srgbClr val="000000"/>
            </a:solidFill>
            <a:prstDash val="solid"/>
            <a:round/>
            <a:headEnd len="med" w="med" type="none"/>
            <a:tailEnd len="med" w="med" type="none"/>
          </a:ln>
        </p:spPr>
      </p:cxnSp>
      <p:cxnSp>
        <p:nvCxnSpPr>
          <p:cNvPr id="1337" name="Google Shape;1337;p70"/>
          <p:cNvCxnSpPr>
            <a:stCxn id="1335" idx="5"/>
            <a:endCxn id="1334" idx="0"/>
          </p:cNvCxnSpPr>
          <p:nvPr/>
        </p:nvCxnSpPr>
        <p:spPr>
          <a:xfrm>
            <a:off x="7730902" y="4184727"/>
            <a:ext cx="156000" cy="250200"/>
          </a:xfrm>
          <a:prstGeom prst="straightConnector1">
            <a:avLst/>
          </a:prstGeom>
          <a:noFill/>
          <a:ln cap="flat" cmpd="sng" w="19050">
            <a:solidFill>
              <a:srgbClr val="000000"/>
            </a:solidFill>
            <a:prstDash val="solid"/>
            <a:round/>
            <a:headEnd len="med" w="med" type="none"/>
            <a:tailEnd len="med" w="med" type="none"/>
          </a:ln>
        </p:spPr>
      </p:cxnSp>
      <p:cxnSp>
        <p:nvCxnSpPr>
          <p:cNvPr id="1338" name="Google Shape;1338;p70"/>
          <p:cNvCxnSpPr>
            <a:stCxn id="1333" idx="6"/>
            <a:endCxn id="1334" idx="2"/>
          </p:cNvCxnSpPr>
          <p:nvPr/>
        </p:nvCxnSpPr>
        <p:spPr>
          <a:xfrm>
            <a:off x="7259142" y="4569316"/>
            <a:ext cx="417300" cy="76200"/>
          </a:xfrm>
          <a:prstGeom prst="straightConnector1">
            <a:avLst/>
          </a:prstGeom>
          <a:noFill/>
          <a:ln cap="flat" cmpd="sng" w="19050">
            <a:solidFill>
              <a:srgbClr val="000000"/>
            </a:solidFill>
            <a:prstDash val="solid"/>
            <a:round/>
            <a:headEnd len="med" w="med" type="none"/>
            <a:tailEnd len="med" w="med" type="none"/>
          </a:ln>
        </p:spPr>
      </p:cxnSp>
      <p:sp>
        <p:nvSpPr>
          <p:cNvPr id="1339" name="Google Shape;1339;p70"/>
          <p:cNvSpPr txBox="1"/>
          <p:nvPr/>
        </p:nvSpPr>
        <p:spPr>
          <a:xfrm>
            <a:off x="7063236" y="403595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340" name="Google Shape;1340;p70"/>
          <p:cNvSpPr txBox="1"/>
          <p:nvPr/>
        </p:nvSpPr>
        <p:spPr>
          <a:xfrm>
            <a:off x="7291836" y="456935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341" name="Google Shape;1341;p70"/>
          <p:cNvSpPr txBox="1"/>
          <p:nvPr/>
        </p:nvSpPr>
        <p:spPr>
          <a:xfrm>
            <a:off x="7783978" y="4140223"/>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342" name="Google Shape;1342;p70"/>
          <p:cNvSpPr txBox="1"/>
          <p:nvPr>
            <p:ph idx="4294967295" type="body"/>
          </p:nvPr>
        </p:nvSpPr>
        <p:spPr>
          <a:xfrm>
            <a:off x="110821" y="3181497"/>
            <a:ext cx="29901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This means that there is </a:t>
            </a:r>
            <a:r>
              <a:rPr b="1" i="1" lang="en" sz="1200">
                <a:solidFill>
                  <a:srgbClr val="FF0000"/>
                </a:solidFill>
                <a:latin typeface="Arial"/>
                <a:ea typeface="Arial"/>
                <a:cs typeface="Arial"/>
                <a:sym typeface="Arial"/>
              </a:rPr>
              <a:t>no path</a:t>
            </a:r>
            <a:r>
              <a:rPr lang="en" sz="1200">
                <a:solidFill>
                  <a:srgbClr val="000000"/>
                </a:solidFill>
                <a:latin typeface="Arial"/>
                <a:ea typeface="Arial"/>
                <a:cs typeface="Arial"/>
                <a:sym typeface="Arial"/>
              </a:rPr>
              <a:t> from start to any vertex left in the tuple queue. The main loop should </a:t>
            </a:r>
            <a:r>
              <a:rPr b="1" i="1" lang="en" sz="1200">
                <a:solidFill>
                  <a:srgbClr val="FF0000"/>
                </a:solidFill>
                <a:latin typeface="Arial"/>
                <a:ea typeface="Arial"/>
                <a:cs typeface="Arial"/>
                <a:sym typeface="Arial"/>
              </a:rPr>
              <a:t>stop</a:t>
            </a:r>
            <a:r>
              <a:rPr lang="en" sz="1200">
                <a:solidFill>
                  <a:srgbClr val="000000"/>
                </a:solidFill>
                <a:latin typeface="Arial"/>
                <a:ea typeface="Arial"/>
                <a:cs typeface="Arial"/>
                <a:sym typeface="Arial"/>
              </a:rPr>
              <a:t> even though the queue is not empty.</a:t>
            </a:r>
            <a:endParaRPr sz="12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1000"/>
                                        <p:tgtEl>
                                          <p:spTgt spid="1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0"/>
                                        </p:tgtEl>
                                        <p:attrNameLst>
                                          <p:attrName>style.visibility</p:attrName>
                                        </p:attrNameLst>
                                      </p:cBhvr>
                                      <p:to>
                                        <p:strVal val="visible"/>
                                      </p:to>
                                    </p:set>
                                    <p:animEffect filter="fade" transition="in">
                                      <p:cBhvr>
                                        <p:cTn dur="1000"/>
                                        <p:tgtEl>
                                          <p:spTgt spid="1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2"/>
                                        </p:tgtEl>
                                        <p:attrNameLst>
                                          <p:attrName>style.visibility</p:attrName>
                                        </p:attrNameLst>
                                      </p:cBhvr>
                                      <p:to>
                                        <p:strVal val="visible"/>
                                      </p:to>
                                    </p:set>
                                    <p:animEffect filter="fade" transition="in">
                                      <p:cBhvr>
                                        <p:cTn dur="1000"/>
                                        <p:tgtEl>
                                          <p:spTgt spid="1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7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Step 2: The Main Loop</a:t>
            </a:r>
            <a:endParaRPr/>
          </a:p>
        </p:txBody>
      </p:sp>
      <p:sp>
        <p:nvSpPr>
          <p:cNvPr id="1348" name="Google Shape;1348;p71"/>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The goal of the main loop in Dijkstra's Shortest Path algorithm is to update the path tuple for </a:t>
            </a:r>
            <a:r>
              <a:rPr i="1" lang="en"/>
              <a:t>every</a:t>
            </a:r>
            <a:r>
              <a:rPr lang="en"/>
              <a:t> vertex that is reachable from the starting vertex. If a vertex is not reachable, its distance will remain set to infinity (and its predecessor will be null). Examine the main loop now.</a:t>
            </a:r>
            <a:endParaRPr/>
          </a:p>
        </p:txBody>
      </p:sp>
      <p:sp>
        <p:nvSpPr>
          <p:cNvPr id="1349" name="Google Shape;1349;p7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0" name="Google Shape;1350;p7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.19</a:t>
            </a:r>
            <a:endParaRPr/>
          </a:p>
        </p:txBody>
      </p:sp>
      <p:pic>
        <p:nvPicPr>
          <p:cNvPr id="1351" name="Google Shape;1351;p71"/>
          <p:cNvPicPr preferRelativeResize="0"/>
          <p:nvPr/>
        </p:nvPicPr>
        <p:blipFill>
          <a:blip r:embed="rId3">
            <a:alphaModFix/>
          </a:blip>
          <a:stretch>
            <a:fillRect/>
          </a:stretch>
        </p:blipFill>
        <p:spPr>
          <a:xfrm>
            <a:off x="228600" y="1773175"/>
            <a:ext cx="2371300" cy="2371300"/>
          </a:xfrm>
          <a:prstGeom prst="rect">
            <a:avLst/>
          </a:prstGeom>
          <a:noFill/>
          <a:ln cap="flat" cmpd="sng" w="19050">
            <a:solidFill>
              <a:schemeClr val="dk2"/>
            </a:solidFill>
            <a:prstDash val="solid"/>
            <a:round/>
            <a:headEnd len="sm" w="sm" type="none"/>
            <a:tailEnd len="sm" w="sm" type="none"/>
          </a:ln>
        </p:spPr>
      </p:pic>
      <p:sp>
        <p:nvSpPr>
          <p:cNvPr id="1352" name="Google Shape;1352;p71"/>
          <p:cNvSpPr txBox="1"/>
          <p:nvPr/>
        </p:nvSpPr>
        <p:spPr>
          <a:xfrm>
            <a:off x="2560525" y="1581125"/>
            <a:ext cx="6460500" cy="3414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Open the </a:t>
            </a:r>
            <a:r>
              <a:rPr lang="en">
                <a:solidFill>
                  <a:schemeClr val="dk2"/>
                </a:solidFill>
                <a:latin typeface="Courier New"/>
                <a:ea typeface="Courier New"/>
                <a:cs typeface="Courier New"/>
                <a:sym typeface="Courier New"/>
              </a:rPr>
              <a:t>WAdjacencyGraph</a:t>
            </a:r>
            <a:r>
              <a:rPr lang="en">
                <a:solidFill>
                  <a:schemeClr val="dk2"/>
                </a:solidFill>
                <a:latin typeface="Roboto"/>
                <a:ea typeface="Roboto"/>
                <a:cs typeface="Roboto"/>
                <a:sym typeface="Roboto"/>
              </a:rPr>
              <a:t> class, navigate to the </a:t>
            </a:r>
            <a:r>
              <a:rPr lang="en">
                <a:solidFill>
                  <a:schemeClr val="dk2"/>
                </a:solidFill>
                <a:latin typeface="Courier New"/>
                <a:ea typeface="Courier New"/>
                <a:cs typeface="Courier New"/>
                <a:sym typeface="Courier New"/>
              </a:rPr>
              <a:t>dijkstrasPath</a:t>
            </a:r>
            <a:r>
              <a:rPr lang="en">
                <a:solidFill>
                  <a:schemeClr val="dk2"/>
                </a:solidFill>
                <a:latin typeface="Roboto"/>
                <a:ea typeface="Roboto"/>
                <a:cs typeface="Roboto"/>
                <a:sym typeface="Roboto"/>
              </a:rPr>
              <a:t> method, and examine </a:t>
            </a:r>
            <a:r>
              <a:rPr b="1" i="1" lang="en">
                <a:solidFill>
                  <a:srgbClr val="FF0000"/>
                </a:solidFill>
                <a:latin typeface="Roboto"/>
                <a:ea typeface="Roboto"/>
                <a:cs typeface="Roboto"/>
                <a:sym typeface="Roboto"/>
              </a:rPr>
              <a:t>step 2: main loop</a:t>
            </a:r>
            <a:r>
              <a:rPr lang="en">
                <a:solidFill>
                  <a:schemeClr val="dk2"/>
                </a:solidFill>
                <a:latin typeface="Roboto"/>
                <a:ea typeface="Roboto"/>
                <a:cs typeface="Roboto"/>
                <a:sym typeface="Roboto"/>
              </a:rPr>
              <a:t>.</a:t>
            </a:r>
            <a:endParaRPr>
              <a:solidFill>
                <a:schemeClr val="dk2"/>
              </a:solidFill>
              <a:latin typeface="Roboto"/>
              <a:ea typeface="Roboto"/>
              <a:cs typeface="Roboto"/>
              <a:sym typeface="Roboto"/>
            </a:endParaRPr>
          </a:p>
          <a:p>
            <a:pPr indent="-304800" lvl="1" marL="9144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As long as the </a:t>
            </a:r>
            <a:r>
              <a:rPr lang="en" sz="1200">
                <a:solidFill>
                  <a:srgbClr val="FF0000"/>
                </a:solidFill>
                <a:latin typeface="Courier New"/>
                <a:ea typeface="Courier New"/>
                <a:cs typeface="Courier New"/>
                <a:sym typeface="Courier New"/>
              </a:rPr>
              <a:t>TupleQueue</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created in step 1 is </a:t>
            </a:r>
            <a:r>
              <a:rPr lang="en" sz="1200">
                <a:solidFill>
                  <a:srgbClr val="FF0000"/>
                </a:solidFill>
                <a:latin typeface="Roboto"/>
                <a:ea typeface="Roboto"/>
                <a:cs typeface="Roboto"/>
                <a:sym typeface="Roboto"/>
              </a:rPr>
              <a:t>not empty</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2" marL="1371600" rtl="0" algn="l">
              <a:lnSpc>
                <a:spcPct val="115000"/>
              </a:lnSpc>
              <a:spcBef>
                <a:spcPts val="0"/>
              </a:spcBef>
              <a:spcAft>
                <a:spcPts val="0"/>
              </a:spcAft>
              <a:buClr>
                <a:schemeClr val="dk2"/>
              </a:buClr>
              <a:buSzPts val="1200"/>
              <a:buFont typeface="Roboto"/>
              <a:buChar char="■"/>
            </a:pPr>
            <a:r>
              <a:rPr lang="en" sz="1200">
                <a:solidFill>
                  <a:schemeClr val="lt2"/>
                </a:solidFill>
                <a:latin typeface="Roboto"/>
                <a:ea typeface="Roboto"/>
                <a:cs typeface="Roboto"/>
                <a:sym typeface="Roboto"/>
              </a:rPr>
              <a:t>It </a:t>
            </a:r>
            <a:r>
              <a:rPr lang="en" sz="1200">
                <a:solidFill>
                  <a:srgbClr val="FF0000"/>
                </a:solidFill>
                <a:latin typeface="Roboto"/>
                <a:ea typeface="Roboto"/>
                <a:cs typeface="Roboto"/>
                <a:sym typeface="Roboto"/>
              </a:rPr>
              <a:t>d</a:t>
            </a:r>
            <a:r>
              <a:rPr lang="en" sz="1200">
                <a:solidFill>
                  <a:srgbClr val="FF0000"/>
                </a:solidFill>
                <a:latin typeface="Roboto"/>
                <a:ea typeface="Roboto"/>
                <a:cs typeface="Roboto"/>
                <a:sym typeface="Roboto"/>
              </a:rPr>
              <a:t>equeues </a:t>
            </a:r>
            <a:r>
              <a:rPr lang="en" sz="1200">
                <a:solidFill>
                  <a:schemeClr val="dk2"/>
                </a:solidFill>
                <a:latin typeface="Roboto"/>
                <a:ea typeface="Roboto"/>
                <a:cs typeface="Roboto"/>
                <a:sym typeface="Roboto"/>
              </a:rPr>
              <a:t>the </a:t>
            </a:r>
            <a:r>
              <a:rPr lang="en" sz="1200">
                <a:solidFill>
                  <a:schemeClr val="dk2"/>
                </a:solidFill>
                <a:latin typeface="Courier New"/>
                <a:ea typeface="Courier New"/>
                <a:cs typeface="Courier New"/>
                <a:sym typeface="Courier New"/>
              </a:rPr>
              <a:t>PathTuple</a:t>
            </a:r>
            <a:r>
              <a:rPr lang="en" sz="1200">
                <a:solidFill>
                  <a:schemeClr val="dk2"/>
                </a:solidFill>
                <a:latin typeface="Roboto"/>
                <a:ea typeface="Roboto"/>
                <a:cs typeface="Roboto"/>
                <a:sym typeface="Roboto"/>
              </a:rPr>
              <a:t> with the next shortest distance from start.</a:t>
            </a:r>
            <a:endParaRPr sz="1200">
              <a:solidFill>
                <a:schemeClr val="dk2"/>
              </a:solidFill>
              <a:latin typeface="Roboto"/>
              <a:ea typeface="Roboto"/>
              <a:cs typeface="Roboto"/>
              <a:sym typeface="Roboto"/>
            </a:endParaRPr>
          </a:p>
          <a:p>
            <a:pPr indent="-304800" lvl="2" marL="13716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If the distance in the tuple is </a:t>
            </a:r>
            <a:r>
              <a:rPr b="1" i="1" lang="en" sz="1200">
                <a:solidFill>
                  <a:srgbClr val="FF0000"/>
                </a:solidFill>
                <a:latin typeface="Roboto"/>
                <a:ea typeface="Roboto"/>
                <a:cs typeface="Roboto"/>
                <a:sym typeface="Roboto"/>
              </a:rPr>
              <a:t>infinity</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a:t>
            </a:r>
            <a:r>
              <a:rPr lang="en" sz="1200">
                <a:solidFill>
                  <a:srgbClr val="FF0000"/>
                </a:solidFill>
                <a:latin typeface="Courier New"/>
                <a:ea typeface="Courier New"/>
                <a:cs typeface="Courier New"/>
                <a:sym typeface="Courier New"/>
              </a:rPr>
              <a:t>Double.POSITIVE_INFINITY</a:t>
            </a:r>
            <a:r>
              <a:rPr lang="en" sz="1200">
                <a:solidFill>
                  <a:schemeClr val="dk2"/>
                </a:solidFill>
                <a:latin typeface="Roboto"/>
                <a:ea typeface="Roboto"/>
                <a:cs typeface="Roboto"/>
                <a:sym typeface="Roboto"/>
              </a:rPr>
              <a:t>), the algorithm </a:t>
            </a:r>
            <a:r>
              <a:rPr lang="en" sz="1200">
                <a:solidFill>
                  <a:srgbClr val="FF0000"/>
                </a:solidFill>
                <a:latin typeface="Roboto"/>
                <a:ea typeface="Roboto"/>
                <a:cs typeface="Roboto"/>
                <a:sym typeface="Roboto"/>
              </a:rPr>
              <a:t>stops</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2" marL="13716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Otherwise, it gets the vertex </a:t>
            </a:r>
            <a:r>
              <a:rPr b="1" i="1" lang="en" sz="1200">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from the tuple.</a:t>
            </a:r>
            <a:endParaRPr sz="1200">
              <a:solidFill>
                <a:schemeClr val="dk2"/>
              </a:solidFill>
              <a:latin typeface="Roboto"/>
              <a:ea typeface="Roboto"/>
              <a:cs typeface="Roboto"/>
              <a:sym typeface="Roboto"/>
            </a:endParaRPr>
          </a:p>
          <a:p>
            <a:pPr indent="-304800" lvl="2" marL="13716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 gets the </a:t>
            </a:r>
            <a:r>
              <a:rPr b="1" i="1" lang="en" sz="1200">
                <a:solidFill>
                  <a:srgbClr val="FF0000"/>
                </a:solidFill>
                <a:latin typeface="Roboto"/>
                <a:ea typeface="Roboto"/>
                <a:cs typeface="Roboto"/>
                <a:sym typeface="Roboto"/>
              </a:rPr>
              <a:t>neighbors </a:t>
            </a:r>
            <a:r>
              <a:rPr lang="en" sz="1200">
                <a:solidFill>
                  <a:schemeClr val="dk2"/>
                </a:solidFill>
                <a:latin typeface="Roboto"/>
                <a:ea typeface="Roboto"/>
                <a:cs typeface="Roboto"/>
                <a:sym typeface="Roboto"/>
              </a:rPr>
              <a:t>map from </a:t>
            </a:r>
            <a:r>
              <a:rPr b="1" i="1" lang="en" sz="1200">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2" marL="13716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For each neighbor </a:t>
            </a:r>
            <a:r>
              <a:rPr b="1" i="1" lang="en" sz="1200">
                <a:solidFill>
                  <a:srgbClr val="FF0000"/>
                </a:solidFill>
                <a:latin typeface="Roboto"/>
                <a:ea typeface="Roboto"/>
                <a:cs typeface="Roboto"/>
                <a:sym typeface="Roboto"/>
              </a:rPr>
              <a:t>N</a:t>
            </a:r>
            <a:r>
              <a:rPr b="1" i="1" lang="en" sz="1200">
                <a:solidFill>
                  <a:schemeClr val="dk2"/>
                </a:solidFill>
                <a:latin typeface="Roboto"/>
                <a:ea typeface="Roboto"/>
                <a:cs typeface="Roboto"/>
                <a:sym typeface="Roboto"/>
              </a:rPr>
              <a:t> </a:t>
            </a:r>
            <a:r>
              <a:rPr lang="en" sz="1200">
                <a:solidFill>
                  <a:schemeClr val="dk2"/>
                </a:solidFill>
                <a:latin typeface="Roboto"/>
                <a:ea typeface="Roboto"/>
                <a:cs typeface="Roboto"/>
                <a:sym typeface="Roboto"/>
              </a:rPr>
              <a:t>in </a:t>
            </a:r>
            <a:r>
              <a:rPr b="1" i="1" lang="en" sz="1200">
                <a:solidFill>
                  <a:srgbClr val="FF0000"/>
                </a:solidFill>
                <a:latin typeface="Roboto"/>
                <a:ea typeface="Roboto"/>
                <a:cs typeface="Roboto"/>
                <a:sym typeface="Roboto"/>
              </a:rPr>
              <a:t>neighbors</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3" marL="18288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 gets the </a:t>
            </a:r>
            <a:r>
              <a:rPr b="1" i="1" lang="en" sz="1200">
                <a:solidFill>
                  <a:srgbClr val="FF0000"/>
                </a:solidFill>
                <a:latin typeface="Roboto"/>
                <a:ea typeface="Roboto"/>
                <a:cs typeface="Roboto"/>
                <a:sym typeface="Roboto"/>
              </a:rPr>
              <a:t>distance</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from </a:t>
            </a:r>
            <a:r>
              <a:rPr b="1" i="1" lang="en" sz="1200">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to </a:t>
            </a:r>
            <a:r>
              <a:rPr b="1" i="1" lang="en" sz="1200">
                <a:solidFill>
                  <a:srgbClr val="FF0000"/>
                </a:solidFill>
                <a:latin typeface="Roboto"/>
                <a:ea typeface="Roboto"/>
                <a:cs typeface="Roboto"/>
                <a:sym typeface="Roboto"/>
              </a:rPr>
              <a:t>N</a:t>
            </a:r>
            <a:r>
              <a:rPr lang="en" sz="1200">
                <a:solidFill>
                  <a:schemeClr val="dk2"/>
                </a:solidFill>
                <a:latin typeface="Roboto"/>
                <a:ea typeface="Roboto"/>
                <a:cs typeface="Roboto"/>
                <a:sym typeface="Roboto"/>
              </a:rPr>
              <a:t> from </a:t>
            </a:r>
            <a:r>
              <a:rPr b="1" i="1" lang="en" sz="1200">
                <a:solidFill>
                  <a:srgbClr val="FF0000"/>
                </a:solidFill>
                <a:latin typeface="Roboto"/>
                <a:ea typeface="Roboto"/>
                <a:cs typeface="Roboto"/>
                <a:sym typeface="Roboto"/>
              </a:rPr>
              <a:t>neighbors</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3" marL="18288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Let</a:t>
            </a:r>
            <a:r>
              <a:rPr lang="en" sz="1200">
                <a:solidFill>
                  <a:srgbClr val="FF0000"/>
                </a:solidFill>
                <a:latin typeface="Roboto"/>
                <a:ea typeface="Roboto"/>
                <a:cs typeface="Roboto"/>
                <a:sym typeface="Roboto"/>
              </a:rPr>
              <a:t> </a:t>
            </a:r>
            <a:r>
              <a:rPr b="1" i="1" lang="en" sz="1200">
                <a:solidFill>
                  <a:srgbClr val="FF0000"/>
                </a:solidFill>
                <a:latin typeface="Roboto"/>
                <a:ea typeface="Roboto"/>
                <a:cs typeface="Roboto"/>
                <a:sym typeface="Roboto"/>
              </a:rPr>
              <a:t>DV</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be the</a:t>
            </a:r>
            <a:r>
              <a:rPr lang="en" sz="1200">
                <a:solidFill>
                  <a:srgbClr val="FF0000"/>
                </a:solidFill>
                <a:latin typeface="Roboto"/>
                <a:ea typeface="Roboto"/>
                <a:cs typeface="Roboto"/>
                <a:sym typeface="Roboto"/>
              </a:rPr>
              <a:t> </a:t>
            </a:r>
            <a:r>
              <a:rPr i="1" lang="en" sz="1200">
                <a:solidFill>
                  <a:schemeClr val="dk2"/>
                </a:solidFill>
                <a:latin typeface="Roboto"/>
                <a:ea typeface="Roboto"/>
                <a:cs typeface="Roboto"/>
                <a:sym typeface="Roboto"/>
              </a:rPr>
              <a:t>distance from start to </a:t>
            </a:r>
            <a:r>
              <a:rPr b="1" i="1" lang="en" sz="1200">
                <a:solidFill>
                  <a:srgbClr val="FF0000"/>
                </a:solidFill>
                <a:latin typeface="Roboto"/>
                <a:ea typeface="Roboto"/>
                <a:cs typeface="Roboto"/>
                <a:sym typeface="Roboto"/>
              </a:rPr>
              <a:t>N</a:t>
            </a:r>
            <a:r>
              <a:rPr lang="en" sz="1200">
                <a:solidFill>
                  <a:schemeClr val="dk2"/>
                </a:solidFill>
                <a:latin typeface="Roboto"/>
                <a:ea typeface="Roboto"/>
                <a:cs typeface="Roboto"/>
                <a:sym typeface="Roboto"/>
              </a:rPr>
              <a:t> through </a:t>
            </a:r>
            <a:r>
              <a:rPr b="1" i="1" lang="en" sz="1200">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a:t>
            </a:r>
            <a:r>
              <a:rPr b="1" i="1" lang="en" sz="1200">
                <a:solidFill>
                  <a:srgbClr val="FF0000"/>
                </a:solidFill>
                <a:latin typeface="Roboto"/>
                <a:ea typeface="Roboto"/>
                <a:cs typeface="Roboto"/>
                <a:sym typeface="Roboto"/>
              </a:rPr>
              <a:t>Hint</a:t>
            </a:r>
            <a:r>
              <a:rPr lang="en" sz="1200">
                <a:solidFill>
                  <a:schemeClr val="dk2"/>
                </a:solidFill>
                <a:latin typeface="Roboto"/>
                <a:ea typeface="Roboto"/>
                <a:cs typeface="Roboto"/>
                <a:sym typeface="Roboto"/>
              </a:rPr>
              <a:t>: this is the distance in </a:t>
            </a:r>
            <a:r>
              <a:rPr b="1" i="1" lang="en" sz="1200">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's path tuple plus the </a:t>
            </a:r>
            <a:r>
              <a:rPr b="1" i="1" lang="en" sz="1200">
                <a:solidFill>
                  <a:srgbClr val="FF0000"/>
                </a:solidFill>
                <a:latin typeface="Roboto"/>
                <a:ea typeface="Roboto"/>
                <a:cs typeface="Roboto"/>
                <a:sym typeface="Roboto"/>
              </a:rPr>
              <a:t>distance</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from </a:t>
            </a:r>
            <a:r>
              <a:rPr b="1" i="1" lang="en" sz="1200">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to</a:t>
            </a:r>
            <a:r>
              <a:rPr lang="en" sz="1200">
                <a:solidFill>
                  <a:srgbClr val="FF0000"/>
                </a:solidFill>
                <a:latin typeface="Roboto"/>
                <a:ea typeface="Roboto"/>
                <a:cs typeface="Roboto"/>
                <a:sym typeface="Roboto"/>
              </a:rPr>
              <a:t> </a:t>
            </a:r>
            <a:r>
              <a:rPr b="1" i="1" lang="en" sz="1200">
                <a:solidFill>
                  <a:srgbClr val="FF0000"/>
                </a:solidFill>
                <a:latin typeface="Roboto"/>
                <a:ea typeface="Roboto"/>
                <a:cs typeface="Roboto"/>
                <a:sym typeface="Roboto"/>
              </a:rPr>
              <a:t>N</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indent="-304800" lvl="3" marL="18288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 uses </a:t>
            </a:r>
            <a:r>
              <a:rPr b="1" i="1" lang="en" sz="1200">
                <a:solidFill>
                  <a:srgbClr val="FF0000"/>
                </a:solidFill>
                <a:latin typeface="Roboto"/>
                <a:ea typeface="Roboto"/>
                <a:cs typeface="Roboto"/>
                <a:sym typeface="Roboto"/>
              </a:rPr>
              <a:t>N</a:t>
            </a:r>
            <a:r>
              <a:rPr lang="en" sz="1200">
                <a:solidFill>
                  <a:schemeClr val="dk2"/>
                </a:solidFill>
                <a:latin typeface="Roboto"/>
                <a:ea typeface="Roboto"/>
                <a:cs typeface="Roboto"/>
                <a:sym typeface="Roboto"/>
              </a:rPr>
              <a:t> to get its tuple from the </a:t>
            </a:r>
            <a:r>
              <a:rPr b="1" i="1" lang="en" sz="1200">
                <a:solidFill>
                  <a:srgbClr val="FF0000"/>
                </a:solidFill>
                <a:latin typeface="Roboto"/>
                <a:ea typeface="Roboto"/>
                <a:cs typeface="Roboto"/>
                <a:sym typeface="Roboto"/>
              </a:rPr>
              <a:t>map</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created in step 1.</a:t>
            </a:r>
            <a:endParaRPr sz="1200">
              <a:solidFill>
                <a:schemeClr val="dk2"/>
              </a:solidFill>
              <a:latin typeface="Roboto"/>
              <a:ea typeface="Roboto"/>
              <a:cs typeface="Roboto"/>
              <a:sym typeface="Roboto"/>
            </a:endParaRPr>
          </a:p>
          <a:p>
            <a:pPr indent="-304800" lvl="3" marL="18288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 </a:t>
            </a:r>
            <a:r>
              <a:rPr b="1" i="1" lang="en" sz="1200">
                <a:solidFill>
                  <a:srgbClr val="FF0000"/>
                </a:solidFill>
                <a:latin typeface="Roboto"/>
                <a:ea typeface="Roboto"/>
                <a:cs typeface="Roboto"/>
                <a:sym typeface="Roboto"/>
              </a:rPr>
              <a:t>updates</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the tuple with</a:t>
            </a:r>
            <a:r>
              <a:rPr lang="en" sz="1200">
                <a:solidFill>
                  <a:srgbClr val="FF0000"/>
                </a:solidFill>
                <a:latin typeface="Roboto"/>
                <a:ea typeface="Roboto"/>
                <a:cs typeface="Roboto"/>
                <a:sym typeface="Roboto"/>
              </a:rPr>
              <a:t> </a:t>
            </a:r>
            <a:r>
              <a:rPr b="1" i="1" lang="en" sz="1200">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and </a:t>
            </a:r>
            <a:r>
              <a:rPr b="1" i="1" lang="en" sz="1200">
                <a:solidFill>
                  <a:srgbClr val="FF0000"/>
                </a:solidFill>
                <a:latin typeface="Roboto"/>
                <a:ea typeface="Roboto"/>
                <a:cs typeface="Roboto"/>
                <a:sym typeface="Roboto"/>
              </a:rPr>
              <a:t>DV</a:t>
            </a:r>
            <a:r>
              <a:rPr lang="en" sz="1200">
                <a:solidFill>
                  <a:schemeClr val="dk2"/>
                </a:solidFill>
                <a:latin typeface="Roboto"/>
                <a:ea typeface="Roboto"/>
                <a:cs typeface="Roboto"/>
                <a:sym typeface="Roboto"/>
              </a:rPr>
              <a:t>.</a:t>
            </a:r>
            <a:r>
              <a:rPr lang="en" sz="1200">
                <a:solidFill>
                  <a:schemeClr val="dk2"/>
                </a:solidFill>
                <a:latin typeface="Roboto"/>
                <a:ea typeface="Roboto"/>
                <a:cs typeface="Roboto"/>
                <a:sym typeface="Roboto"/>
              </a:rPr>
              <a:t> Remember, the update will be ignored if the new distance is not less than the current distance.</a:t>
            </a:r>
            <a:endParaRPr sz="15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7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a:t>
            </a:r>
            <a:r>
              <a:rPr lang="en"/>
              <a:t>Building the Path</a:t>
            </a:r>
            <a:endParaRPr/>
          </a:p>
        </p:txBody>
      </p:sp>
      <p:sp>
        <p:nvSpPr>
          <p:cNvPr id="1358" name="Google Shape;1358;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359" name="Google Shape;1359;p72"/>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1360" name="Google Shape;1360;p72"/>
          <p:cNvGrpSpPr/>
          <p:nvPr/>
        </p:nvGrpSpPr>
        <p:grpSpPr>
          <a:xfrm>
            <a:off x="6244267" y="1458389"/>
            <a:ext cx="2587178" cy="2330671"/>
            <a:chOff x="338125" y="1610890"/>
            <a:chExt cx="3334852" cy="3004217"/>
          </a:xfrm>
        </p:grpSpPr>
        <p:sp>
          <p:nvSpPr>
            <p:cNvPr id="1361" name="Google Shape;1361;p72"/>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362" name="Google Shape;1362;p72"/>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363" name="Google Shape;1363;p72"/>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364" name="Google Shape;1364;p72"/>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365" name="Google Shape;1365;p72"/>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366" name="Google Shape;1366;p72"/>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367" name="Google Shape;1367;p72"/>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368" name="Google Shape;1368;p72"/>
            <p:cNvCxnSpPr>
              <a:stCxn id="1361" idx="3"/>
              <a:endCxn id="1363"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369" name="Google Shape;1369;p72"/>
            <p:cNvCxnSpPr>
              <a:stCxn id="1361" idx="6"/>
              <a:endCxn id="1364"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370" name="Google Shape;1370;p72"/>
            <p:cNvCxnSpPr>
              <a:stCxn id="1361" idx="5"/>
              <a:endCxn id="1362"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371" name="Google Shape;1371;p72"/>
            <p:cNvCxnSpPr>
              <a:stCxn id="1362" idx="6"/>
              <a:endCxn id="1366"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372" name="Google Shape;1372;p72"/>
            <p:cNvCxnSpPr>
              <a:stCxn id="1366" idx="4"/>
              <a:endCxn id="1365"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373" name="Google Shape;1373;p72"/>
            <p:cNvCxnSpPr>
              <a:stCxn id="1362" idx="3"/>
              <a:endCxn id="1367"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374" name="Google Shape;1374;p72"/>
            <p:cNvCxnSpPr>
              <a:stCxn id="1367" idx="6"/>
              <a:endCxn id="1365"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375" name="Google Shape;1375;p72"/>
            <p:cNvCxnSpPr>
              <a:stCxn id="1363" idx="6"/>
              <a:endCxn id="1362"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376" name="Google Shape;1376;p72"/>
            <p:cNvCxnSpPr>
              <a:stCxn id="1364" idx="5"/>
              <a:endCxn id="1366"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377" name="Google Shape;1377;p72"/>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378" name="Google Shape;1378;p72"/>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379" name="Google Shape;1379;p72"/>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80" name="Google Shape;1380;p72"/>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381" name="Google Shape;1381;p72"/>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382" name="Google Shape;1382;p72"/>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83" name="Google Shape;1383;p72"/>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84" name="Google Shape;1384;p72"/>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385" name="Google Shape;1385;p72"/>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386" name="Google Shape;1386;p72"/>
            <p:cNvCxnSpPr>
              <a:stCxn id="1363" idx="5"/>
              <a:endCxn id="1367"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387" name="Google Shape;1387;p72"/>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388" name="Google Shape;1388;p72"/>
          <p:cNvSpPr txBox="1"/>
          <p:nvPr>
            <p:ph idx="4294967295" type="body"/>
          </p:nvPr>
        </p:nvSpPr>
        <p:spPr>
          <a:xfrm>
            <a:off x="110821" y="1366450"/>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If there are any vertices left in the priority queue, you can </a:t>
            </a:r>
            <a:r>
              <a:rPr b="1" i="1" lang="en" sz="1200">
                <a:solidFill>
                  <a:srgbClr val="FF0000"/>
                </a:solidFill>
                <a:latin typeface="Arial"/>
                <a:ea typeface="Arial"/>
                <a:cs typeface="Arial"/>
                <a:sym typeface="Arial"/>
              </a:rPr>
              <a:t>forget them</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(they are unreachable from the start).</a:t>
            </a:r>
            <a:endParaRPr sz="1200">
              <a:solidFill>
                <a:srgbClr val="000000"/>
              </a:solidFill>
              <a:latin typeface="Arial"/>
              <a:ea typeface="Arial"/>
              <a:cs typeface="Arial"/>
              <a:sym typeface="Arial"/>
            </a:endParaRPr>
          </a:p>
        </p:txBody>
      </p:sp>
      <p:grpSp>
        <p:nvGrpSpPr>
          <p:cNvPr id="1389" name="Google Shape;1389;p72"/>
          <p:cNvGrpSpPr/>
          <p:nvPr/>
        </p:nvGrpSpPr>
        <p:grpSpPr>
          <a:xfrm>
            <a:off x="3197475" y="4071628"/>
            <a:ext cx="2863200" cy="985200"/>
            <a:chOff x="3197475" y="4071628"/>
            <a:chExt cx="2863200" cy="985200"/>
          </a:xfrm>
        </p:grpSpPr>
        <p:sp>
          <p:nvSpPr>
            <p:cNvPr id="1390" name="Google Shape;1390;p72"/>
            <p:cNvSpPr txBox="1"/>
            <p:nvPr/>
          </p:nvSpPr>
          <p:spPr>
            <a:xfrm>
              <a:off x="3197475" y="4071628"/>
              <a:ext cx="2863200" cy="985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1391" name="Google Shape;1391;p72"/>
            <p:cNvSpPr txBox="1"/>
            <p:nvPr/>
          </p:nvSpPr>
          <p:spPr>
            <a:xfrm>
              <a:off x="3285660" y="43531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x:(null, ∞)</a:t>
              </a:r>
              <a:endParaRPr sz="1000">
                <a:solidFill>
                  <a:srgbClr val="FF0000"/>
                </a:solidFill>
                <a:latin typeface="Consolas"/>
                <a:ea typeface="Consolas"/>
                <a:cs typeface="Consolas"/>
                <a:sym typeface="Consolas"/>
              </a:endParaRPr>
            </a:p>
          </p:txBody>
        </p:sp>
        <p:sp>
          <p:nvSpPr>
            <p:cNvPr id="1392" name="Google Shape;1392;p72"/>
            <p:cNvSpPr txBox="1"/>
            <p:nvPr/>
          </p:nvSpPr>
          <p:spPr>
            <a:xfrm>
              <a:off x="4733460" y="45817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y:(null, ∞)</a:t>
              </a:r>
              <a:endParaRPr sz="1000">
                <a:solidFill>
                  <a:srgbClr val="FF0000"/>
                </a:solidFill>
                <a:latin typeface="Consolas"/>
                <a:ea typeface="Consolas"/>
                <a:cs typeface="Consolas"/>
                <a:sym typeface="Consolas"/>
              </a:endParaRPr>
            </a:p>
          </p:txBody>
        </p:sp>
        <p:sp>
          <p:nvSpPr>
            <p:cNvPr id="1393" name="Google Shape;1393;p72"/>
            <p:cNvSpPr txBox="1"/>
            <p:nvPr/>
          </p:nvSpPr>
          <p:spPr>
            <a:xfrm>
              <a:off x="4352460" y="4276900"/>
              <a:ext cx="1055100" cy="393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Consolas"/>
                  <a:ea typeface="Consolas"/>
                  <a:cs typeface="Consolas"/>
                  <a:sym typeface="Consolas"/>
                </a:rPr>
                <a:t>z:(null, ∞)</a:t>
              </a:r>
              <a:endParaRPr sz="1000">
                <a:solidFill>
                  <a:srgbClr val="FF0000"/>
                </a:solidFill>
                <a:latin typeface="Consolas"/>
                <a:ea typeface="Consolas"/>
                <a:cs typeface="Consolas"/>
                <a:sym typeface="Consolas"/>
              </a:endParaRPr>
            </a:p>
          </p:txBody>
        </p:sp>
      </p:grpSp>
      <p:grpSp>
        <p:nvGrpSpPr>
          <p:cNvPr id="1394" name="Google Shape;1394;p72"/>
          <p:cNvGrpSpPr/>
          <p:nvPr/>
        </p:nvGrpSpPr>
        <p:grpSpPr>
          <a:xfrm>
            <a:off x="6838242" y="3825466"/>
            <a:ext cx="1259100" cy="1030500"/>
            <a:chOff x="6838242" y="3825466"/>
            <a:chExt cx="1259100" cy="1030500"/>
          </a:xfrm>
        </p:grpSpPr>
        <p:sp>
          <p:nvSpPr>
            <p:cNvPr id="1395" name="Google Shape;1395;p72"/>
            <p:cNvSpPr/>
            <p:nvPr/>
          </p:nvSpPr>
          <p:spPr>
            <a:xfrm>
              <a:off x="6838242" y="43588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X</a:t>
              </a:r>
              <a:endParaRPr/>
            </a:p>
          </p:txBody>
        </p:sp>
        <p:sp>
          <p:nvSpPr>
            <p:cNvPr id="1396" name="Google Shape;1396;p72"/>
            <p:cNvSpPr/>
            <p:nvPr/>
          </p:nvSpPr>
          <p:spPr>
            <a:xfrm>
              <a:off x="7676442" y="44350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Y</a:t>
              </a:r>
              <a:endParaRPr/>
            </a:p>
          </p:txBody>
        </p:sp>
        <p:sp>
          <p:nvSpPr>
            <p:cNvPr id="1397" name="Google Shape;1397;p72"/>
            <p:cNvSpPr/>
            <p:nvPr/>
          </p:nvSpPr>
          <p:spPr>
            <a:xfrm>
              <a:off x="7371642" y="38254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Z</a:t>
              </a:r>
              <a:endParaRPr/>
            </a:p>
          </p:txBody>
        </p:sp>
        <p:cxnSp>
          <p:nvCxnSpPr>
            <p:cNvPr id="1398" name="Google Shape;1398;p72"/>
            <p:cNvCxnSpPr>
              <a:stCxn id="1395" idx="7"/>
              <a:endCxn id="1397" idx="3"/>
            </p:cNvCxnSpPr>
            <p:nvPr/>
          </p:nvCxnSpPr>
          <p:spPr>
            <a:xfrm flipH="1" rot="10800000">
              <a:off x="7197502" y="4184706"/>
              <a:ext cx="235800" cy="235800"/>
            </a:xfrm>
            <a:prstGeom prst="straightConnector1">
              <a:avLst/>
            </a:prstGeom>
            <a:noFill/>
            <a:ln cap="flat" cmpd="sng" w="19050">
              <a:solidFill>
                <a:srgbClr val="000000"/>
              </a:solidFill>
              <a:prstDash val="solid"/>
              <a:round/>
              <a:headEnd len="med" w="med" type="none"/>
              <a:tailEnd len="med" w="med" type="none"/>
            </a:ln>
          </p:spPr>
        </p:cxnSp>
        <p:cxnSp>
          <p:nvCxnSpPr>
            <p:cNvPr id="1399" name="Google Shape;1399;p72"/>
            <p:cNvCxnSpPr>
              <a:stCxn id="1397" idx="5"/>
              <a:endCxn id="1396" idx="0"/>
            </p:cNvCxnSpPr>
            <p:nvPr/>
          </p:nvCxnSpPr>
          <p:spPr>
            <a:xfrm>
              <a:off x="7730902" y="4184727"/>
              <a:ext cx="156000" cy="250200"/>
            </a:xfrm>
            <a:prstGeom prst="straightConnector1">
              <a:avLst/>
            </a:prstGeom>
            <a:noFill/>
            <a:ln cap="flat" cmpd="sng" w="19050">
              <a:solidFill>
                <a:srgbClr val="000000"/>
              </a:solidFill>
              <a:prstDash val="solid"/>
              <a:round/>
              <a:headEnd len="med" w="med" type="none"/>
              <a:tailEnd len="med" w="med" type="none"/>
            </a:ln>
          </p:spPr>
        </p:cxnSp>
        <p:cxnSp>
          <p:nvCxnSpPr>
            <p:cNvPr id="1400" name="Google Shape;1400;p72"/>
            <p:cNvCxnSpPr>
              <a:stCxn id="1395" idx="6"/>
              <a:endCxn id="1396" idx="2"/>
            </p:cNvCxnSpPr>
            <p:nvPr/>
          </p:nvCxnSpPr>
          <p:spPr>
            <a:xfrm>
              <a:off x="7259142" y="4569316"/>
              <a:ext cx="417300" cy="76200"/>
            </a:xfrm>
            <a:prstGeom prst="straightConnector1">
              <a:avLst/>
            </a:prstGeom>
            <a:noFill/>
            <a:ln cap="flat" cmpd="sng" w="19050">
              <a:solidFill>
                <a:srgbClr val="000000"/>
              </a:solidFill>
              <a:prstDash val="solid"/>
              <a:round/>
              <a:headEnd len="med" w="med" type="none"/>
              <a:tailEnd len="med" w="med" type="none"/>
            </a:ln>
          </p:spPr>
        </p:cxnSp>
        <p:sp>
          <p:nvSpPr>
            <p:cNvPr id="1401" name="Google Shape;1401;p72"/>
            <p:cNvSpPr txBox="1"/>
            <p:nvPr/>
          </p:nvSpPr>
          <p:spPr>
            <a:xfrm>
              <a:off x="7063236" y="403595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402" name="Google Shape;1402;p72"/>
            <p:cNvSpPr txBox="1"/>
            <p:nvPr/>
          </p:nvSpPr>
          <p:spPr>
            <a:xfrm>
              <a:off x="7291836" y="456935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403" name="Google Shape;1403;p72"/>
            <p:cNvSpPr txBox="1"/>
            <p:nvPr/>
          </p:nvSpPr>
          <p:spPr>
            <a:xfrm>
              <a:off x="7783978" y="4140223"/>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8"/>
                                        </p:tgtEl>
                                        <p:attrNameLst>
                                          <p:attrName>style.visibility</p:attrName>
                                        </p:attrNameLst>
                                      </p:cBhvr>
                                      <p:to>
                                        <p:strVal val="visible"/>
                                      </p:to>
                                    </p:set>
                                    <p:animEffect filter="fade" transition="in">
                                      <p:cBhvr>
                                        <p:cTn dur="1000"/>
                                        <p:tgtEl>
                                          <p:spTgt spid="1388"/>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389"/>
                                        </p:tgtEl>
                                      </p:cBhvr>
                                    </p:animEffect>
                                    <p:set>
                                      <p:cBhvr>
                                        <p:cTn dur="1" fill="hold">
                                          <p:stCondLst>
                                            <p:cond delay="1000"/>
                                          </p:stCondLst>
                                        </p:cTn>
                                        <p:tgtEl>
                                          <p:spTgt spid="138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394"/>
                                        </p:tgtEl>
                                      </p:cBhvr>
                                    </p:animEffect>
                                    <p:set>
                                      <p:cBhvr>
                                        <p:cTn dur="1" fill="hold">
                                          <p:stCondLst>
                                            <p:cond delay="1000"/>
                                          </p:stCondLst>
                                        </p:cTn>
                                        <p:tgtEl>
                                          <p:spTgt spid="139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7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Building the Path</a:t>
            </a:r>
            <a:endParaRPr/>
          </a:p>
        </p:txBody>
      </p:sp>
      <p:sp>
        <p:nvSpPr>
          <p:cNvPr id="1409" name="Google Shape;1409;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410" name="Google Shape;1410;p73"/>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1411" name="Google Shape;1411;p73"/>
          <p:cNvGrpSpPr/>
          <p:nvPr/>
        </p:nvGrpSpPr>
        <p:grpSpPr>
          <a:xfrm>
            <a:off x="6244267" y="1458389"/>
            <a:ext cx="2587178" cy="2330671"/>
            <a:chOff x="338125" y="1610890"/>
            <a:chExt cx="3334852" cy="3004217"/>
          </a:xfrm>
        </p:grpSpPr>
        <p:sp>
          <p:nvSpPr>
            <p:cNvPr id="1412" name="Google Shape;1412;p73"/>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413" name="Google Shape;1413;p73"/>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414" name="Google Shape;1414;p73"/>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415" name="Google Shape;1415;p73"/>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416" name="Google Shape;1416;p73"/>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417" name="Google Shape;1417;p73"/>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418" name="Google Shape;1418;p73"/>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419" name="Google Shape;1419;p73"/>
            <p:cNvCxnSpPr>
              <a:stCxn id="1412" idx="3"/>
              <a:endCxn id="1414"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420" name="Google Shape;1420;p73"/>
            <p:cNvCxnSpPr>
              <a:stCxn id="1412" idx="6"/>
              <a:endCxn id="1415"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421" name="Google Shape;1421;p73"/>
            <p:cNvCxnSpPr>
              <a:stCxn id="1412" idx="5"/>
              <a:endCxn id="1413"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422" name="Google Shape;1422;p73"/>
            <p:cNvCxnSpPr>
              <a:stCxn id="1413" idx="6"/>
              <a:endCxn id="1417"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423" name="Google Shape;1423;p73"/>
            <p:cNvCxnSpPr>
              <a:stCxn id="1417" idx="4"/>
              <a:endCxn id="1416"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424" name="Google Shape;1424;p73"/>
            <p:cNvCxnSpPr>
              <a:stCxn id="1413" idx="3"/>
              <a:endCxn id="1418"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425" name="Google Shape;1425;p73"/>
            <p:cNvCxnSpPr>
              <a:stCxn id="1418" idx="6"/>
              <a:endCxn id="1416"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426" name="Google Shape;1426;p73"/>
            <p:cNvCxnSpPr>
              <a:stCxn id="1414" idx="6"/>
              <a:endCxn id="1413"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427" name="Google Shape;1427;p73"/>
            <p:cNvCxnSpPr>
              <a:stCxn id="1415" idx="5"/>
              <a:endCxn id="1417"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428" name="Google Shape;1428;p73"/>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429" name="Google Shape;1429;p73"/>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430" name="Google Shape;1430;p73"/>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31" name="Google Shape;1431;p73"/>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432" name="Google Shape;1432;p73"/>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433" name="Google Shape;1433;p73"/>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34" name="Google Shape;1434;p73"/>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35" name="Google Shape;1435;p73"/>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436" name="Google Shape;1436;p73"/>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437" name="Google Shape;1437;p73"/>
            <p:cNvCxnSpPr>
              <a:stCxn id="1414" idx="5"/>
              <a:endCxn id="1418"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438" name="Google Shape;1438;p73"/>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439" name="Google Shape;1439;p73"/>
          <p:cNvSpPr txBox="1"/>
          <p:nvPr>
            <p:ph idx="4294967295" type="body"/>
          </p:nvPr>
        </p:nvSpPr>
        <p:spPr>
          <a:xfrm>
            <a:off x="110821" y="1352697"/>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Building a path from the start vertex to </a:t>
            </a:r>
            <a:r>
              <a:rPr b="1" i="1" lang="en" sz="1200">
                <a:solidFill>
                  <a:srgbClr val="FF0000"/>
                </a:solidFill>
                <a:latin typeface="Arial"/>
                <a:ea typeface="Arial"/>
                <a:cs typeface="Arial"/>
                <a:sym typeface="Arial"/>
              </a:rPr>
              <a:t>any reachable vertex</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works a lot like it does in BFS.</a:t>
            </a:r>
            <a:endParaRPr sz="1200">
              <a:solidFill>
                <a:srgbClr val="000000"/>
              </a:solidFill>
              <a:latin typeface="Arial"/>
              <a:ea typeface="Arial"/>
              <a:cs typeface="Arial"/>
              <a:sym typeface="Arial"/>
            </a:endParaRPr>
          </a:p>
        </p:txBody>
      </p:sp>
      <p:sp>
        <p:nvSpPr>
          <p:cNvPr id="1440" name="Google Shape;1440;p73"/>
          <p:cNvSpPr txBox="1"/>
          <p:nvPr>
            <p:ph idx="4294967295" type="body"/>
          </p:nvPr>
        </p:nvSpPr>
        <p:spPr>
          <a:xfrm>
            <a:off x="110821" y="2190897"/>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Start by using the </a:t>
            </a:r>
            <a:r>
              <a:rPr b="1" i="1" lang="en" sz="1200">
                <a:solidFill>
                  <a:srgbClr val="FF0000"/>
                </a:solidFill>
                <a:latin typeface="Arial"/>
                <a:ea typeface="Arial"/>
                <a:cs typeface="Arial"/>
                <a:sym typeface="Arial"/>
              </a:rPr>
              <a:t>end vertex</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t>
            </a:r>
            <a:r>
              <a:rPr b="1" i="1" lang="en" sz="1200">
                <a:solidFill>
                  <a:srgbClr val="FF0000"/>
                </a:solidFill>
                <a:latin typeface="Arial"/>
                <a:ea typeface="Arial"/>
                <a:cs typeface="Arial"/>
                <a:sym typeface="Arial"/>
              </a:rPr>
              <a:t>E</a:t>
            </a:r>
            <a:r>
              <a:rPr lang="en" sz="1200">
                <a:solidFill>
                  <a:srgbClr val="000000"/>
                </a:solidFill>
                <a:latin typeface="Arial"/>
                <a:ea typeface="Arial"/>
                <a:cs typeface="Arial"/>
                <a:sym typeface="Arial"/>
              </a:rPr>
              <a:t>) to retrieve its </a:t>
            </a:r>
            <a:r>
              <a:rPr b="1" i="1" lang="en" sz="1200">
                <a:solidFill>
                  <a:srgbClr val="FF0000"/>
                </a:solidFill>
                <a:latin typeface="Arial"/>
                <a:ea typeface="Arial"/>
                <a:cs typeface="Arial"/>
                <a:sym typeface="Arial"/>
              </a:rPr>
              <a:t>path tuple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from the </a:t>
            </a:r>
            <a:r>
              <a:rPr b="1" i="1" lang="en" sz="1200">
                <a:solidFill>
                  <a:srgbClr val="FF0000"/>
                </a:solidFill>
                <a:latin typeface="Arial"/>
                <a:ea typeface="Arial"/>
                <a:cs typeface="Arial"/>
                <a:sym typeface="Arial"/>
              </a:rPr>
              <a:t>map</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aphicFrame>
        <p:nvGraphicFramePr>
          <p:cNvPr id="1441" name="Google Shape;1441;p73"/>
          <p:cNvGraphicFramePr/>
          <p:nvPr/>
        </p:nvGraphicFramePr>
        <p:xfrm>
          <a:off x="3197475" y="4189725"/>
          <a:ext cx="3000000" cy="3000000"/>
        </p:xfrm>
        <a:graphic>
          <a:graphicData uri="http://schemas.openxmlformats.org/drawingml/2006/table">
            <a:tbl>
              <a:tblPr>
                <a:noFill/>
                <a:tableStyleId>{89CCAE03-A2B2-4379-B0C2-E101A7E113D6}</a:tableStyleId>
              </a:tblPr>
              <a:tblGrid>
                <a:gridCol w="715800"/>
                <a:gridCol w="715800"/>
                <a:gridCol w="715800"/>
                <a:gridCol w="715800"/>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442" name="Google Shape;1442;p73"/>
          <p:cNvSpPr txBox="1"/>
          <p:nvPr>
            <p:ph idx="4294967295" type="body"/>
          </p:nvPr>
        </p:nvSpPr>
        <p:spPr>
          <a:xfrm>
            <a:off x="110821" y="2841728"/>
            <a:ext cx="2990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If the distance in the path tuple is </a:t>
            </a:r>
            <a:r>
              <a:rPr b="1" i="1" lang="en" sz="1200">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 then </a:t>
            </a:r>
            <a:r>
              <a:rPr b="1" i="1" lang="en" sz="1200">
                <a:solidFill>
                  <a:srgbClr val="FF0000"/>
                </a:solidFill>
                <a:latin typeface="Arial"/>
                <a:ea typeface="Arial"/>
                <a:cs typeface="Arial"/>
                <a:sym typeface="Arial"/>
              </a:rPr>
              <a:t>there is no path</a:t>
            </a:r>
            <a:r>
              <a:rPr lang="en" sz="1200">
                <a:solidFill>
                  <a:srgbClr val="000000"/>
                </a:solidFill>
                <a:latin typeface="Arial"/>
                <a:ea typeface="Arial"/>
                <a:cs typeface="Arial"/>
                <a:sym typeface="Arial"/>
              </a:rPr>
              <a:t> from start. </a:t>
            </a:r>
            <a:r>
              <a:rPr b="1" i="1" lang="en" sz="1200">
                <a:solidFill>
                  <a:srgbClr val="FF0000"/>
                </a:solidFill>
                <a:latin typeface="Arial"/>
                <a:ea typeface="Arial"/>
                <a:cs typeface="Arial"/>
                <a:sym typeface="Arial"/>
              </a:rPr>
              <a:t>Return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443" name="Google Shape;1443;p73"/>
          <p:cNvSpPr txBox="1"/>
          <p:nvPr/>
        </p:nvSpPr>
        <p:spPr>
          <a:xfrm>
            <a:off x="4737854" y="4652075"/>
            <a:ext cx="1313400" cy="369300"/>
          </a:xfrm>
          <a:prstGeom prst="rect">
            <a:avLst/>
          </a:prstGeom>
          <a:noFill/>
          <a:ln>
            <a:noFill/>
          </a:ln>
        </p:spPr>
        <p:txBody>
          <a:bodyPr anchorCtr="0" anchor="ctr" bIns="91425" lIns="91425" spcFirstLastPara="1" rIns="91425" wrap="square" tIns="91425">
            <a:spAutoFit/>
          </a:bodyPr>
          <a:lstStyle/>
          <a:p>
            <a:pPr indent="0" lvl="0" marL="0" rtl="0" algn="r">
              <a:spcBef>
                <a:spcPts val="0"/>
              </a:spcBef>
              <a:spcAft>
                <a:spcPts val="0"/>
              </a:spcAft>
              <a:buNone/>
            </a:pPr>
            <a:r>
              <a:rPr lang="en" sz="1200">
                <a:solidFill>
                  <a:srgbClr val="4A86E8"/>
                </a:solidFill>
                <a:latin typeface="Consolas"/>
                <a:ea typeface="Consolas"/>
                <a:cs typeface="Consolas"/>
                <a:sym typeface="Consolas"/>
              </a:rPr>
              <a:t>distance = 10</a:t>
            </a:r>
            <a:endParaRPr sz="1200">
              <a:solidFill>
                <a:srgbClr val="4A86E8"/>
              </a:solidFill>
              <a:latin typeface="Consolas"/>
              <a:ea typeface="Consolas"/>
              <a:cs typeface="Consolas"/>
              <a:sym typeface="Consolas"/>
            </a:endParaRPr>
          </a:p>
        </p:txBody>
      </p:sp>
      <p:cxnSp>
        <p:nvCxnSpPr>
          <p:cNvPr id="1444" name="Google Shape;1444;p73"/>
          <p:cNvCxnSpPr/>
          <p:nvPr/>
        </p:nvCxnSpPr>
        <p:spPr>
          <a:xfrm>
            <a:off x="3781525" y="3185882"/>
            <a:ext cx="976500" cy="0"/>
          </a:xfrm>
          <a:prstGeom prst="straightConnector1">
            <a:avLst/>
          </a:prstGeom>
          <a:noFill/>
          <a:ln cap="flat" cmpd="sng" w="28575">
            <a:solidFill>
              <a:srgbClr val="FF0000"/>
            </a:solidFill>
            <a:prstDash val="solid"/>
            <a:round/>
            <a:headEnd len="med" w="med" type="none"/>
            <a:tailEnd len="med" w="med" type="triangle"/>
          </a:ln>
        </p:spPr>
      </p:cxnSp>
      <p:sp>
        <p:nvSpPr>
          <p:cNvPr id="1445" name="Google Shape;1445;p73"/>
          <p:cNvSpPr txBox="1"/>
          <p:nvPr>
            <p:ph idx="4294967295" type="body"/>
          </p:nvPr>
        </p:nvSpPr>
        <p:spPr>
          <a:xfrm>
            <a:off x="110821" y="3679928"/>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Otherwise,</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create a path</a:t>
            </a:r>
            <a:r>
              <a:rPr lang="en" sz="1200">
                <a:solidFill>
                  <a:srgbClr val="000000"/>
                </a:solidFill>
                <a:latin typeface="Arial"/>
                <a:ea typeface="Arial"/>
                <a:cs typeface="Arial"/>
                <a:sym typeface="Arial"/>
              </a:rPr>
              <a:t> with the vertex's </a:t>
            </a:r>
            <a:r>
              <a:rPr b="1" i="1" lang="en" sz="1200">
                <a:solidFill>
                  <a:srgbClr val="FF0000"/>
                </a:solidFill>
                <a:latin typeface="Arial"/>
                <a:ea typeface="Arial"/>
                <a:cs typeface="Arial"/>
                <a:sym typeface="Arial"/>
              </a:rPr>
              <a:t>value </a:t>
            </a:r>
            <a:r>
              <a:rPr lang="en" sz="1200">
                <a:solidFill>
                  <a:srgbClr val="000000"/>
                </a:solidFill>
                <a:latin typeface="Arial"/>
                <a:ea typeface="Arial"/>
                <a:cs typeface="Arial"/>
                <a:sym typeface="Arial"/>
              </a:rPr>
              <a:t>and </a:t>
            </a:r>
            <a:r>
              <a:rPr b="1" i="1" lang="en" sz="1200">
                <a:solidFill>
                  <a:srgbClr val="FF0000"/>
                </a:solidFill>
                <a:latin typeface="Arial"/>
                <a:ea typeface="Arial"/>
                <a:cs typeface="Arial"/>
                <a:sym typeface="Arial"/>
              </a:rPr>
              <a:t>distance</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446" name="Google Shape;1446;p73"/>
          <p:cNvSpPr txBox="1"/>
          <p:nvPr/>
        </p:nvSpPr>
        <p:spPr>
          <a:xfrm>
            <a:off x="5377350" y="4271070"/>
            <a:ext cx="653400" cy="24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rgbClr val="4A86E8"/>
                </a:solidFill>
                <a:latin typeface="Consolas"/>
                <a:ea typeface="Consolas"/>
                <a:cs typeface="Consolas"/>
                <a:sym typeface="Consolas"/>
              </a:rPr>
              <a:t>E</a:t>
            </a:r>
            <a:endParaRPr sz="2200">
              <a:solidFill>
                <a:srgbClr val="4A86E8"/>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9"/>
                                        </p:tgtEl>
                                        <p:attrNameLst>
                                          <p:attrName>style.visibility</p:attrName>
                                        </p:attrNameLst>
                                      </p:cBhvr>
                                      <p:to>
                                        <p:strVal val="visible"/>
                                      </p:to>
                                    </p:set>
                                    <p:animEffect filter="fade" transition="in">
                                      <p:cBhvr>
                                        <p:cTn dur="1000"/>
                                        <p:tgtEl>
                                          <p:spTgt spid="1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0"/>
                                        </p:tgtEl>
                                        <p:attrNameLst>
                                          <p:attrName>style.visibility</p:attrName>
                                        </p:attrNameLst>
                                      </p:cBhvr>
                                      <p:to>
                                        <p:strVal val="visible"/>
                                      </p:to>
                                    </p:set>
                                    <p:animEffect filter="fade" transition="in">
                                      <p:cBhvr>
                                        <p:cTn dur="1000"/>
                                        <p:tgtEl>
                                          <p:spTgt spid="14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44"/>
                                        </p:tgtEl>
                                        <p:attrNameLst>
                                          <p:attrName>style.visibility</p:attrName>
                                        </p:attrNameLst>
                                      </p:cBhvr>
                                      <p:to>
                                        <p:strVal val="visible"/>
                                      </p:to>
                                    </p:set>
                                    <p:animEffect filter="fade" transition="in">
                                      <p:cBhvr>
                                        <p:cTn dur="1000"/>
                                        <p:tgtEl>
                                          <p:spTgt spid="1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2"/>
                                        </p:tgtEl>
                                        <p:attrNameLst>
                                          <p:attrName>style.visibility</p:attrName>
                                        </p:attrNameLst>
                                      </p:cBhvr>
                                      <p:to>
                                        <p:strVal val="visible"/>
                                      </p:to>
                                    </p:set>
                                    <p:animEffect filter="fade" transition="in">
                                      <p:cBhvr>
                                        <p:cTn dur="1000"/>
                                        <p:tgtEl>
                                          <p:spTgt spid="14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5"/>
                                        </p:tgtEl>
                                        <p:attrNameLst>
                                          <p:attrName>style.visibility</p:attrName>
                                        </p:attrNameLst>
                                      </p:cBhvr>
                                      <p:to>
                                        <p:strVal val="visible"/>
                                      </p:to>
                                    </p:set>
                                    <p:animEffect filter="fade" transition="in">
                                      <p:cBhvr>
                                        <p:cTn dur="1000"/>
                                        <p:tgtEl>
                                          <p:spTgt spid="14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41"/>
                                        </p:tgtEl>
                                        <p:attrNameLst>
                                          <p:attrName>style.visibility</p:attrName>
                                        </p:attrNameLst>
                                      </p:cBhvr>
                                      <p:to>
                                        <p:strVal val="visible"/>
                                      </p:to>
                                    </p:set>
                                    <p:animEffect filter="fade" transition="in">
                                      <p:cBhvr>
                                        <p:cTn dur="1000"/>
                                        <p:tgtEl>
                                          <p:spTgt spid="1441"/>
                                        </p:tgtEl>
                                      </p:cBhvr>
                                    </p:animEffect>
                                  </p:childTnLst>
                                </p:cTn>
                              </p:par>
                              <p:par>
                                <p:cTn fill="hold" nodeType="withEffect" presetClass="entr" presetID="10" presetSubtype="0">
                                  <p:stCondLst>
                                    <p:cond delay="0"/>
                                  </p:stCondLst>
                                  <p:childTnLst>
                                    <p:set>
                                      <p:cBhvr>
                                        <p:cTn dur="1" fill="hold">
                                          <p:stCondLst>
                                            <p:cond delay="0"/>
                                          </p:stCondLst>
                                        </p:cTn>
                                        <p:tgtEl>
                                          <p:spTgt spid="1446"/>
                                        </p:tgtEl>
                                        <p:attrNameLst>
                                          <p:attrName>style.visibility</p:attrName>
                                        </p:attrNameLst>
                                      </p:cBhvr>
                                      <p:to>
                                        <p:strVal val="visible"/>
                                      </p:to>
                                    </p:set>
                                    <p:animEffect filter="fade" transition="in">
                                      <p:cBhvr>
                                        <p:cTn dur="1000"/>
                                        <p:tgtEl>
                                          <p:spTgt spid="144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43"/>
                                        </p:tgtEl>
                                        <p:attrNameLst>
                                          <p:attrName>style.visibility</p:attrName>
                                        </p:attrNameLst>
                                      </p:cBhvr>
                                      <p:to>
                                        <p:strVal val="visible"/>
                                      </p:to>
                                    </p:set>
                                    <p:animEffect filter="fade" transition="in">
                                      <p:cBhvr>
                                        <p:cTn dur="1000"/>
                                        <p:tgtEl>
                                          <p:spTgt spid="1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7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Building the Path</a:t>
            </a:r>
            <a:endParaRPr/>
          </a:p>
        </p:txBody>
      </p:sp>
      <p:sp>
        <p:nvSpPr>
          <p:cNvPr id="1452" name="Google Shape;1452;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453" name="Google Shape;1453;p74"/>
          <p:cNvGraphicFramePr/>
          <p:nvPr/>
        </p:nvGraphicFramePr>
        <p:xfrm>
          <a:off x="3197475" y="1338125"/>
          <a:ext cx="3000000" cy="3000000"/>
        </p:xfrm>
        <a:graphic>
          <a:graphicData uri="http://schemas.openxmlformats.org/drawingml/2006/table">
            <a:tbl>
              <a:tblPr>
                <a:noFill/>
                <a:tableStyleId>{89CCAE03-A2B2-4379-B0C2-E101A7E113D6}</a:tableStyleId>
              </a:tblPr>
              <a:tblGrid>
                <a:gridCol w="961400"/>
                <a:gridCol w="1901800"/>
              </a:tblGrid>
              <a:tr h="120750">
                <a:tc>
                  <a:txBody>
                    <a:bodyPr/>
                    <a:lstStyle/>
                    <a:p>
                      <a:pPr indent="0" lvl="0" marL="0" rtl="0" algn="ctr">
                        <a:spcBef>
                          <a:spcPts val="0"/>
                        </a:spcBef>
                        <a:spcAft>
                          <a:spcPts val="0"/>
                        </a:spcAft>
                        <a:buNone/>
                      </a:pPr>
                      <a:r>
                        <a:rPr lang="en" sz="1000">
                          <a:solidFill>
                            <a:srgbClr val="FFFFFF"/>
                          </a:solidFill>
                        </a:rPr>
                        <a:t>Vertex</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Path Tuple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0750">
                <a:tc>
                  <a:txBody>
                    <a:bodyPr/>
                    <a:lstStyle/>
                    <a:p>
                      <a:pPr indent="0" lvl="0" marL="0" rtl="0" algn="ctr">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1454" name="Google Shape;1454;p74"/>
          <p:cNvGrpSpPr/>
          <p:nvPr/>
        </p:nvGrpSpPr>
        <p:grpSpPr>
          <a:xfrm>
            <a:off x="6244267" y="1458389"/>
            <a:ext cx="2587178" cy="2330671"/>
            <a:chOff x="338125" y="1610890"/>
            <a:chExt cx="3334852" cy="3004217"/>
          </a:xfrm>
        </p:grpSpPr>
        <p:sp>
          <p:nvSpPr>
            <p:cNvPr id="1455" name="Google Shape;1455;p74"/>
            <p:cNvSpPr/>
            <p:nvPr/>
          </p:nvSpPr>
          <p:spPr>
            <a:xfrm>
              <a:off x="679459"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456" name="Google Shape;1456;p74"/>
            <p:cNvSpPr/>
            <p:nvPr/>
          </p:nvSpPr>
          <p:spPr>
            <a:xfrm>
              <a:off x="1772863" y="2900772"/>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457" name="Google Shape;1457;p74"/>
            <p:cNvSpPr/>
            <p:nvPr/>
          </p:nvSpPr>
          <p:spPr>
            <a:xfrm>
              <a:off x="338125" y="295099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458" name="Google Shape;1458;p74"/>
            <p:cNvSpPr/>
            <p:nvPr/>
          </p:nvSpPr>
          <p:spPr>
            <a:xfrm>
              <a:off x="2380788" y="1694600"/>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459" name="Google Shape;1459;p74"/>
            <p:cNvSpPr/>
            <p:nvPr/>
          </p:nvSpPr>
          <p:spPr>
            <a:xfrm>
              <a:off x="2863270"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460" name="Google Shape;1460;p74"/>
            <p:cNvSpPr/>
            <p:nvPr/>
          </p:nvSpPr>
          <p:spPr>
            <a:xfrm>
              <a:off x="3110849" y="2857201"/>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461" name="Google Shape;1461;p74"/>
            <p:cNvSpPr/>
            <p:nvPr/>
          </p:nvSpPr>
          <p:spPr>
            <a:xfrm>
              <a:off x="1300197" y="4072707"/>
              <a:ext cx="542400" cy="5424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462" name="Google Shape;1462;p74"/>
            <p:cNvCxnSpPr>
              <a:stCxn id="1455" idx="3"/>
              <a:endCxn id="1457" idx="0"/>
            </p:cNvCxnSpPr>
            <p:nvPr/>
          </p:nvCxnSpPr>
          <p:spPr>
            <a:xfrm flipH="1">
              <a:off x="609191" y="2157567"/>
              <a:ext cx="149700" cy="793500"/>
            </a:xfrm>
            <a:prstGeom prst="straightConnector1">
              <a:avLst/>
            </a:prstGeom>
            <a:noFill/>
            <a:ln cap="flat" cmpd="sng" w="19050">
              <a:solidFill>
                <a:srgbClr val="000000"/>
              </a:solidFill>
              <a:prstDash val="solid"/>
              <a:round/>
              <a:headEnd len="med" w="med" type="none"/>
              <a:tailEnd len="med" w="med" type="none"/>
            </a:ln>
          </p:spPr>
        </p:cxnSp>
        <p:cxnSp>
          <p:nvCxnSpPr>
            <p:cNvPr id="1463" name="Google Shape;1463;p74"/>
            <p:cNvCxnSpPr>
              <a:stCxn id="1455" idx="6"/>
              <a:endCxn id="1458" idx="2"/>
            </p:cNvCxnSpPr>
            <p:nvPr/>
          </p:nvCxnSpPr>
          <p:spPr>
            <a:xfrm>
              <a:off x="1221859" y="1965800"/>
              <a:ext cx="1158900" cy="0"/>
            </a:xfrm>
            <a:prstGeom prst="straightConnector1">
              <a:avLst/>
            </a:prstGeom>
            <a:noFill/>
            <a:ln cap="flat" cmpd="sng" w="19050">
              <a:solidFill>
                <a:srgbClr val="000000"/>
              </a:solidFill>
              <a:prstDash val="solid"/>
              <a:round/>
              <a:headEnd len="med" w="med" type="none"/>
              <a:tailEnd len="med" w="med" type="none"/>
            </a:ln>
          </p:spPr>
        </p:cxnSp>
        <p:cxnSp>
          <p:nvCxnSpPr>
            <p:cNvPr id="1464" name="Google Shape;1464;p74"/>
            <p:cNvCxnSpPr>
              <a:stCxn id="1455" idx="5"/>
              <a:endCxn id="1456" idx="1"/>
            </p:cNvCxnSpPr>
            <p:nvPr/>
          </p:nvCxnSpPr>
          <p:spPr>
            <a:xfrm>
              <a:off x="1142426" y="2157567"/>
              <a:ext cx="709800" cy="822600"/>
            </a:xfrm>
            <a:prstGeom prst="straightConnector1">
              <a:avLst/>
            </a:prstGeom>
            <a:noFill/>
            <a:ln cap="flat" cmpd="sng" w="19050">
              <a:solidFill>
                <a:srgbClr val="000000"/>
              </a:solidFill>
              <a:prstDash val="solid"/>
              <a:round/>
              <a:headEnd len="med" w="med" type="none"/>
              <a:tailEnd len="med" w="med" type="none"/>
            </a:ln>
          </p:spPr>
        </p:cxnSp>
        <p:cxnSp>
          <p:nvCxnSpPr>
            <p:cNvPr id="1465" name="Google Shape;1465;p74"/>
            <p:cNvCxnSpPr>
              <a:stCxn id="1456" idx="6"/>
              <a:endCxn id="1460" idx="2"/>
            </p:cNvCxnSpPr>
            <p:nvPr/>
          </p:nvCxnSpPr>
          <p:spPr>
            <a:xfrm flipH="1" rot="10800000">
              <a:off x="2315263" y="3128472"/>
              <a:ext cx="795600" cy="43500"/>
            </a:xfrm>
            <a:prstGeom prst="straightConnector1">
              <a:avLst/>
            </a:prstGeom>
            <a:noFill/>
            <a:ln cap="flat" cmpd="sng" w="19050">
              <a:solidFill>
                <a:srgbClr val="000000"/>
              </a:solidFill>
              <a:prstDash val="solid"/>
              <a:round/>
              <a:headEnd len="med" w="med" type="none"/>
              <a:tailEnd len="med" w="med" type="none"/>
            </a:ln>
          </p:spPr>
        </p:cxnSp>
        <p:cxnSp>
          <p:nvCxnSpPr>
            <p:cNvPr id="1466" name="Google Shape;1466;p74"/>
            <p:cNvCxnSpPr>
              <a:stCxn id="1460" idx="4"/>
              <a:endCxn id="1459" idx="7"/>
            </p:cNvCxnSpPr>
            <p:nvPr/>
          </p:nvCxnSpPr>
          <p:spPr>
            <a:xfrm flipH="1">
              <a:off x="3326249" y="3399601"/>
              <a:ext cx="55800" cy="752400"/>
            </a:xfrm>
            <a:prstGeom prst="straightConnector1">
              <a:avLst/>
            </a:prstGeom>
            <a:noFill/>
            <a:ln cap="flat" cmpd="sng" w="19050">
              <a:solidFill>
                <a:srgbClr val="000000"/>
              </a:solidFill>
              <a:prstDash val="solid"/>
              <a:round/>
              <a:headEnd len="med" w="med" type="none"/>
              <a:tailEnd len="med" w="med" type="none"/>
            </a:ln>
          </p:spPr>
        </p:cxnSp>
        <p:cxnSp>
          <p:nvCxnSpPr>
            <p:cNvPr id="1467" name="Google Shape;1467;p74"/>
            <p:cNvCxnSpPr>
              <a:stCxn id="1456" idx="3"/>
              <a:endCxn id="1461" idx="0"/>
            </p:cNvCxnSpPr>
            <p:nvPr/>
          </p:nvCxnSpPr>
          <p:spPr>
            <a:xfrm flipH="1">
              <a:off x="1571495" y="3363739"/>
              <a:ext cx="280800" cy="708900"/>
            </a:xfrm>
            <a:prstGeom prst="straightConnector1">
              <a:avLst/>
            </a:prstGeom>
            <a:noFill/>
            <a:ln cap="flat" cmpd="sng" w="19050">
              <a:solidFill>
                <a:srgbClr val="000000"/>
              </a:solidFill>
              <a:prstDash val="solid"/>
              <a:round/>
              <a:headEnd len="med" w="med" type="none"/>
              <a:tailEnd len="med" w="med" type="none"/>
            </a:ln>
          </p:spPr>
        </p:cxnSp>
        <p:cxnSp>
          <p:nvCxnSpPr>
            <p:cNvPr id="1468" name="Google Shape;1468;p74"/>
            <p:cNvCxnSpPr>
              <a:stCxn id="1461" idx="6"/>
              <a:endCxn id="1459" idx="2"/>
            </p:cNvCxnSpPr>
            <p:nvPr/>
          </p:nvCxnSpPr>
          <p:spPr>
            <a:xfrm>
              <a:off x="1842597" y="4343907"/>
              <a:ext cx="1020600" cy="0"/>
            </a:xfrm>
            <a:prstGeom prst="straightConnector1">
              <a:avLst/>
            </a:prstGeom>
            <a:noFill/>
            <a:ln cap="flat" cmpd="sng" w="19050">
              <a:solidFill>
                <a:srgbClr val="000000"/>
              </a:solidFill>
              <a:prstDash val="solid"/>
              <a:round/>
              <a:headEnd len="med" w="med" type="none"/>
              <a:tailEnd len="med" w="med" type="none"/>
            </a:ln>
          </p:spPr>
        </p:cxnSp>
        <p:cxnSp>
          <p:nvCxnSpPr>
            <p:cNvPr id="1469" name="Google Shape;1469;p74"/>
            <p:cNvCxnSpPr>
              <a:stCxn id="1457" idx="6"/>
              <a:endCxn id="1456" idx="2"/>
            </p:cNvCxnSpPr>
            <p:nvPr/>
          </p:nvCxnSpPr>
          <p:spPr>
            <a:xfrm flipH="1" rot="10800000">
              <a:off x="880525" y="3172090"/>
              <a:ext cx="892200" cy="50100"/>
            </a:xfrm>
            <a:prstGeom prst="straightConnector1">
              <a:avLst/>
            </a:prstGeom>
            <a:noFill/>
            <a:ln cap="flat" cmpd="sng" w="19050">
              <a:solidFill>
                <a:srgbClr val="000000"/>
              </a:solidFill>
              <a:prstDash val="solid"/>
              <a:round/>
              <a:headEnd len="med" w="med" type="none"/>
              <a:tailEnd len="med" w="med" type="none"/>
            </a:ln>
          </p:spPr>
        </p:cxnSp>
        <p:cxnSp>
          <p:nvCxnSpPr>
            <p:cNvPr id="1470" name="Google Shape;1470;p74"/>
            <p:cNvCxnSpPr>
              <a:stCxn id="1458" idx="5"/>
              <a:endCxn id="1460" idx="1"/>
            </p:cNvCxnSpPr>
            <p:nvPr/>
          </p:nvCxnSpPr>
          <p:spPr>
            <a:xfrm>
              <a:off x="2843755" y="2157567"/>
              <a:ext cx="346500" cy="779100"/>
            </a:xfrm>
            <a:prstGeom prst="straightConnector1">
              <a:avLst/>
            </a:prstGeom>
            <a:noFill/>
            <a:ln cap="flat" cmpd="sng" w="19050">
              <a:solidFill>
                <a:srgbClr val="000000"/>
              </a:solidFill>
              <a:prstDash val="solid"/>
              <a:round/>
              <a:headEnd len="med" w="med" type="none"/>
              <a:tailEnd len="med" w="med" type="none"/>
            </a:ln>
          </p:spPr>
        </p:cxnSp>
        <p:sp>
          <p:nvSpPr>
            <p:cNvPr id="1471" name="Google Shape;1471;p74"/>
            <p:cNvSpPr txBox="1"/>
            <p:nvPr/>
          </p:nvSpPr>
          <p:spPr>
            <a:xfrm>
              <a:off x="1483752" y="23494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472" name="Google Shape;1472;p74"/>
            <p:cNvSpPr txBox="1"/>
            <p:nvPr/>
          </p:nvSpPr>
          <p:spPr>
            <a:xfrm>
              <a:off x="2523266" y="286924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473" name="Google Shape;1473;p74"/>
            <p:cNvSpPr txBox="1"/>
            <p:nvPr/>
          </p:nvSpPr>
          <p:spPr>
            <a:xfrm>
              <a:off x="3326177" y="361891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74" name="Google Shape;1474;p74"/>
            <p:cNvSpPr txBox="1"/>
            <p:nvPr/>
          </p:nvSpPr>
          <p:spPr>
            <a:xfrm>
              <a:off x="338127" y="23972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475" name="Google Shape;1475;p74"/>
            <p:cNvSpPr txBox="1"/>
            <p:nvPr/>
          </p:nvSpPr>
          <p:spPr>
            <a:xfrm>
              <a:off x="1092477" y="29007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476" name="Google Shape;1476;p74"/>
            <p:cNvSpPr txBox="1"/>
            <p:nvPr/>
          </p:nvSpPr>
          <p:spPr>
            <a:xfrm>
              <a:off x="1428302" y="34867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77" name="Google Shape;1477;p74"/>
            <p:cNvSpPr txBox="1"/>
            <p:nvPr/>
          </p:nvSpPr>
          <p:spPr>
            <a:xfrm>
              <a:off x="2179540" y="4049365"/>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78" name="Google Shape;1478;p74"/>
            <p:cNvSpPr txBox="1"/>
            <p:nvPr/>
          </p:nvSpPr>
          <p:spPr>
            <a:xfrm>
              <a:off x="2979377" y="224324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479" name="Google Shape;1479;p74"/>
            <p:cNvSpPr txBox="1"/>
            <p:nvPr/>
          </p:nvSpPr>
          <p:spPr>
            <a:xfrm>
              <a:off x="1673552" y="1610890"/>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480" name="Google Shape;1480;p74"/>
            <p:cNvCxnSpPr>
              <a:stCxn id="1457" idx="5"/>
              <a:endCxn id="1461" idx="1"/>
            </p:cNvCxnSpPr>
            <p:nvPr/>
          </p:nvCxnSpPr>
          <p:spPr>
            <a:xfrm>
              <a:off x="801092" y="3413957"/>
              <a:ext cx="578400" cy="738300"/>
            </a:xfrm>
            <a:prstGeom prst="straightConnector1">
              <a:avLst/>
            </a:prstGeom>
            <a:noFill/>
            <a:ln cap="flat" cmpd="sng" w="19050">
              <a:solidFill>
                <a:srgbClr val="000000"/>
              </a:solidFill>
              <a:prstDash val="solid"/>
              <a:round/>
              <a:headEnd len="med" w="med" type="none"/>
              <a:tailEnd len="med" w="med" type="none"/>
            </a:ln>
          </p:spPr>
        </p:cxnSp>
        <p:sp>
          <p:nvSpPr>
            <p:cNvPr id="1481" name="Google Shape;1481;p74"/>
            <p:cNvSpPr txBox="1"/>
            <p:nvPr/>
          </p:nvSpPr>
          <p:spPr>
            <a:xfrm>
              <a:off x="818702" y="3715327"/>
              <a:ext cx="346800" cy="3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482" name="Google Shape;1482;p74"/>
          <p:cNvSpPr txBox="1"/>
          <p:nvPr>
            <p:ph idx="4294967295" type="body"/>
          </p:nvPr>
        </p:nvSpPr>
        <p:spPr>
          <a:xfrm>
            <a:off x="110821" y="1366450"/>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Now, we will build the path </a:t>
            </a:r>
            <a:r>
              <a:rPr b="1" i="1" lang="en" sz="1200">
                <a:solidFill>
                  <a:srgbClr val="FF0000"/>
                </a:solidFill>
                <a:latin typeface="Arial"/>
                <a:ea typeface="Arial"/>
                <a:cs typeface="Arial"/>
                <a:sym typeface="Arial"/>
              </a:rPr>
              <a:t>backward</a:t>
            </a:r>
            <a:r>
              <a:rPr lang="en" sz="1200">
                <a:solidFill>
                  <a:srgbClr val="000000"/>
                </a:solidFill>
                <a:latin typeface="Arial"/>
                <a:ea typeface="Arial"/>
                <a:cs typeface="Arial"/>
                <a:sym typeface="Arial"/>
              </a:rPr>
              <a:t>, just like the BF Path algorithm does.</a:t>
            </a:r>
            <a:endParaRPr sz="1200">
              <a:solidFill>
                <a:srgbClr val="000000"/>
              </a:solidFill>
              <a:latin typeface="Arial"/>
              <a:ea typeface="Arial"/>
              <a:cs typeface="Arial"/>
              <a:sym typeface="Arial"/>
            </a:endParaRPr>
          </a:p>
        </p:txBody>
      </p:sp>
      <p:graphicFrame>
        <p:nvGraphicFramePr>
          <p:cNvPr id="1483" name="Google Shape;1483;p74"/>
          <p:cNvGraphicFramePr/>
          <p:nvPr/>
        </p:nvGraphicFramePr>
        <p:xfrm>
          <a:off x="3197475" y="4189725"/>
          <a:ext cx="3000000" cy="3000000"/>
        </p:xfrm>
        <a:graphic>
          <a:graphicData uri="http://schemas.openxmlformats.org/drawingml/2006/table">
            <a:tbl>
              <a:tblPr>
                <a:noFill/>
                <a:tableStyleId>{89CCAE03-A2B2-4379-B0C2-E101A7E113D6}</a:tableStyleId>
              </a:tblPr>
              <a:tblGrid>
                <a:gridCol w="715800"/>
                <a:gridCol w="715800"/>
                <a:gridCol w="715800"/>
                <a:gridCol w="715800"/>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484" name="Google Shape;1484;p74"/>
          <p:cNvSpPr txBox="1"/>
          <p:nvPr/>
        </p:nvSpPr>
        <p:spPr>
          <a:xfrm>
            <a:off x="5377350" y="4271070"/>
            <a:ext cx="653400" cy="24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rgbClr val="4A86E8"/>
                </a:solidFill>
                <a:latin typeface="Consolas"/>
                <a:ea typeface="Consolas"/>
                <a:cs typeface="Consolas"/>
                <a:sym typeface="Consolas"/>
              </a:rPr>
              <a:t>E</a:t>
            </a:r>
            <a:endParaRPr sz="2200">
              <a:solidFill>
                <a:srgbClr val="4A86E8"/>
              </a:solidFill>
              <a:latin typeface="Consolas"/>
              <a:ea typeface="Consolas"/>
              <a:cs typeface="Consolas"/>
              <a:sym typeface="Consolas"/>
            </a:endParaRPr>
          </a:p>
        </p:txBody>
      </p:sp>
      <p:cxnSp>
        <p:nvCxnSpPr>
          <p:cNvPr id="1485" name="Google Shape;1485;p74"/>
          <p:cNvCxnSpPr/>
          <p:nvPr/>
        </p:nvCxnSpPr>
        <p:spPr>
          <a:xfrm>
            <a:off x="3781525" y="3185882"/>
            <a:ext cx="976500" cy="0"/>
          </a:xfrm>
          <a:prstGeom prst="straightConnector1">
            <a:avLst/>
          </a:prstGeom>
          <a:noFill/>
          <a:ln cap="flat" cmpd="sng" w="28575">
            <a:solidFill>
              <a:srgbClr val="FF0000"/>
            </a:solidFill>
            <a:prstDash val="solid"/>
            <a:round/>
            <a:headEnd len="med" w="med" type="none"/>
            <a:tailEnd len="med" w="med" type="triangle"/>
          </a:ln>
        </p:spPr>
      </p:cxnSp>
      <p:sp>
        <p:nvSpPr>
          <p:cNvPr id="1486" name="Google Shape;1486;p74"/>
          <p:cNvSpPr txBox="1"/>
          <p:nvPr>
            <p:ph idx="4294967295" type="body"/>
          </p:nvPr>
        </p:nvSpPr>
        <p:spPr>
          <a:xfrm>
            <a:off x="110821" y="1996679"/>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Set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 to the end vertex's </a:t>
            </a:r>
            <a:r>
              <a:rPr b="1" i="1" lang="en" sz="1200">
                <a:solidFill>
                  <a:srgbClr val="FF0000"/>
                </a:solidFill>
                <a:latin typeface="Arial"/>
                <a:ea typeface="Arial"/>
                <a:cs typeface="Arial"/>
                <a:sym typeface="Arial"/>
              </a:rPr>
              <a:t>predecessor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(get it from the tuple).</a:t>
            </a:r>
            <a:endParaRPr sz="1200">
              <a:solidFill>
                <a:srgbClr val="000000"/>
              </a:solidFill>
              <a:latin typeface="Arial"/>
              <a:ea typeface="Arial"/>
              <a:cs typeface="Arial"/>
              <a:sym typeface="Arial"/>
            </a:endParaRPr>
          </a:p>
        </p:txBody>
      </p:sp>
      <p:cxnSp>
        <p:nvCxnSpPr>
          <p:cNvPr id="1487" name="Google Shape;1487;p74"/>
          <p:cNvCxnSpPr/>
          <p:nvPr/>
        </p:nvCxnSpPr>
        <p:spPr>
          <a:xfrm>
            <a:off x="3781525" y="3871682"/>
            <a:ext cx="976500" cy="0"/>
          </a:xfrm>
          <a:prstGeom prst="straightConnector1">
            <a:avLst/>
          </a:prstGeom>
          <a:noFill/>
          <a:ln cap="flat" cmpd="sng" w="28575">
            <a:solidFill>
              <a:srgbClr val="FF0000"/>
            </a:solidFill>
            <a:prstDash val="solid"/>
            <a:round/>
            <a:headEnd len="med" w="med" type="none"/>
            <a:tailEnd len="med" w="med" type="triangle"/>
          </a:ln>
        </p:spPr>
      </p:cxnSp>
      <p:sp>
        <p:nvSpPr>
          <p:cNvPr id="1488" name="Google Shape;1488;p74"/>
          <p:cNvSpPr txBox="1"/>
          <p:nvPr/>
        </p:nvSpPr>
        <p:spPr>
          <a:xfrm>
            <a:off x="4649732" y="4271070"/>
            <a:ext cx="653400" cy="24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rgbClr val="4A86E8"/>
                </a:solidFill>
                <a:latin typeface="Consolas"/>
                <a:ea typeface="Consolas"/>
                <a:cs typeface="Consolas"/>
                <a:sym typeface="Consolas"/>
              </a:rPr>
              <a:t>G</a:t>
            </a:r>
            <a:endParaRPr sz="2200">
              <a:solidFill>
                <a:srgbClr val="4A86E8"/>
              </a:solidFill>
              <a:latin typeface="Consolas"/>
              <a:ea typeface="Consolas"/>
              <a:cs typeface="Consolas"/>
              <a:sym typeface="Consolas"/>
            </a:endParaRPr>
          </a:p>
        </p:txBody>
      </p:sp>
      <p:sp>
        <p:nvSpPr>
          <p:cNvPr id="1489" name="Google Shape;1489;p74"/>
          <p:cNvSpPr txBox="1"/>
          <p:nvPr>
            <p:ph idx="4294967295" type="body"/>
          </p:nvPr>
        </p:nvSpPr>
        <p:spPr>
          <a:xfrm>
            <a:off x="110821" y="2633748"/>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b="1" i="1" lang="en" sz="1200">
                <a:solidFill>
                  <a:srgbClr val="FF0000"/>
                </a:solidFill>
                <a:latin typeface="Arial"/>
                <a:ea typeface="Arial"/>
                <a:cs typeface="Arial"/>
                <a:sym typeface="Arial"/>
              </a:rPr>
              <a:t>Loop</a:t>
            </a:r>
            <a:r>
              <a:rPr lang="en" sz="1200">
                <a:solidFill>
                  <a:srgbClr val="000000"/>
                </a:solidFill>
                <a:latin typeface="Arial"/>
                <a:ea typeface="Arial"/>
                <a:cs typeface="Arial"/>
                <a:sym typeface="Arial"/>
              </a:rPr>
              <a:t> as long as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is</a:t>
            </a:r>
            <a:r>
              <a:rPr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not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add its </a:t>
            </a:r>
            <a:r>
              <a:rPr b="1" i="1" lang="en" sz="1200">
                <a:solidFill>
                  <a:srgbClr val="FF0000"/>
                </a:solidFill>
                <a:latin typeface="Arial"/>
                <a:ea typeface="Arial"/>
                <a:cs typeface="Arial"/>
                <a:sym typeface="Arial"/>
              </a:rPr>
              <a:t>value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the </a:t>
            </a:r>
            <a:r>
              <a:rPr b="1" i="1" lang="en" sz="1200">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path</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490" name="Google Shape;1490;p74"/>
          <p:cNvSpPr txBox="1"/>
          <p:nvPr>
            <p:ph idx="4294967295" type="body"/>
          </p:nvPr>
        </p:nvSpPr>
        <p:spPr>
          <a:xfrm>
            <a:off x="110821" y="3278381"/>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Then get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's tuple from the </a:t>
            </a:r>
            <a:r>
              <a:rPr b="1" i="1" lang="en" sz="1200">
                <a:solidFill>
                  <a:srgbClr val="FF0000"/>
                </a:solidFill>
                <a:latin typeface="Arial"/>
                <a:ea typeface="Arial"/>
                <a:cs typeface="Arial"/>
                <a:sym typeface="Arial"/>
              </a:rPr>
              <a:t>map</a:t>
            </a:r>
            <a:r>
              <a:rPr lang="en" sz="1200">
                <a:solidFill>
                  <a:srgbClr val="000000"/>
                </a:solidFill>
                <a:latin typeface="Arial"/>
                <a:ea typeface="Arial"/>
                <a:cs typeface="Arial"/>
                <a:sym typeface="Arial"/>
              </a:rPr>
              <a:t> and set </a:t>
            </a:r>
            <a:r>
              <a:rPr b="1" i="1" lang="en" sz="1200">
                <a:solidFill>
                  <a:srgbClr val="FF0000"/>
                </a:solidFill>
                <a:latin typeface="Arial"/>
                <a:ea typeface="Arial"/>
                <a:cs typeface="Arial"/>
                <a:sym typeface="Arial"/>
              </a:rPr>
              <a:t>V</a:t>
            </a:r>
            <a:r>
              <a:rPr lang="en" sz="1200">
                <a:solidFill>
                  <a:srgbClr val="000000"/>
                </a:solidFill>
                <a:latin typeface="Arial"/>
                <a:ea typeface="Arial"/>
                <a:cs typeface="Arial"/>
                <a:sym typeface="Arial"/>
              </a:rPr>
              <a:t> to </a:t>
            </a:r>
            <a:r>
              <a:rPr b="1" i="1" lang="en" sz="1200">
                <a:solidFill>
                  <a:srgbClr val="FF0000"/>
                </a:solidFill>
                <a:latin typeface="Arial"/>
                <a:ea typeface="Arial"/>
                <a:cs typeface="Arial"/>
                <a:sym typeface="Arial"/>
              </a:rPr>
              <a:t>its own predecessor</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cxnSp>
        <p:nvCxnSpPr>
          <p:cNvPr id="1491" name="Google Shape;1491;p74"/>
          <p:cNvCxnSpPr/>
          <p:nvPr/>
        </p:nvCxnSpPr>
        <p:spPr>
          <a:xfrm>
            <a:off x="3781525" y="2535024"/>
            <a:ext cx="976500" cy="0"/>
          </a:xfrm>
          <a:prstGeom prst="straightConnector1">
            <a:avLst/>
          </a:prstGeom>
          <a:noFill/>
          <a:ln cap="flat" cmpd="sng" w="28575">
            <a:solidFill>
              <a:srgbClr val="FF0000"/>
            </a:solidFill>
            <a:prstDash val="solid"/>
            <a:round/>
            <a:headEnd len="med" w="med" type="none"/>
            <a:tailEnd len="med" w="med" type="triangle"/>
          </a:ln>
        </p:spPr>
      </p:cxnSp>
      <p:cxnSp>
        <p:nvCxnSpPr>
          <p:cNvPr id="1492" name="Google Shape;1492;p74"/>
          <p:cNvCxnSpPr/>
          <p:nvPr/>
        </p:nvCxnSpPr>
        <p:spPr>
          <a:xfrm>
            <a:off x="3781525" y="1849224"/>
            <a:ext cx="976500" cy="0"/>
          </a:xfrm>
          <a:prstGeom prst="straightConnector1">
            <a:avLst/>
          </a:prstGeom>
          <a:noFill/>
          <a:ln cap="flat" cmpd="sng" w="28575">
            <a:solidFill>
              <a:srgbClr val="FF0000"/>
            </a:solidFill>
            <a:prstDash val="solid"/>
            <a:round/>
            <a:headEnd len="med" w="med" type="none"/>
            <a:tailEnd len="med" w="med" type="triangle"/>
          </a:ln>
        </p:spPr>
      </p:cxnSp>
      <p:sp>
        <p:nvSpPr>
          <p:cNvPr id="1493" name="Google Shape;1493;p74"/>
          <p:cNvSpPr/>
          <p:nvPr/>
        </p:nvSpPr>
        <p:spPr>
          <a:xfrm>
            <a:off x="4751657" y="1691872"/>
            <a:ext cx="548700" cy="2910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74"/>
          <p:cNvSpPr txBox="1"/>
          <p:nvPr/>
        </p:nvSpPr>
        <p:spPr>
          <a:xfrm>
            <a:off x="3935866" y="4271070"/>
            <a:ext cx="653400" cy="24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rgbClr val="4A86E8"/>
                </a:solidFill>
                <a:latin typeface="Consolas"/>
                <a:ea typeface="Consolas"/>
                <a:cs typeface="Consolas"/>
                <a:sym typeface="Consolas"/>
              </a:rPr>
              <a:t>C</a:t>
            </a:r>
            <a:endParaRPr sz="2200">
              <a:solidFill>
                <a:srgbClr val="4A86E8"/>
              </a:solidFill>
              <a:latin typeface="Consolas"/>
              <a:ea typeface="Consolas"/>
              <a:cs typeface="Consolas"/>
              <a:sym typeface="Consolas"/>
            </a:endParaRPr>
          </a:p>
        </p:txBody>
      </p:sp>
      <p:sp>
        <p:nvSpPr>
          <p:cNvPr id="1495" name="Google Shape;1495;p74"/>
          <p:cNvSpPr txBox="1"/>
          <p:nvPr/>
        </p:nvSpPr>
        <p:spPr>
          <a:xfrm>
            <a:off x="3229437" y="4271070"/>
            <a:ext cx="653400" cy="24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rgbClr val="4A86E8"/>
                </a:solidFill>
                <a:latin typeface="Consolas"/>
                <a:ea typeface="Consolas"/>
                <a:cs typeface="Consolas"/>
                <a:sym typeface="Consolas"/>
              </a:rPr>
              <a:t>A</a:t>
            </a:r>
            <a:endParaRPr sz="2200">
              <a:solidFill>
                <a:srgbClr val="4A86E8"/>
              </a:solidFill>
              <a:latin typeface="Consolas"/>
              <a:ea typeface="Consolas"/>
              <a:cs typeface="Consolas"/>
              <a:sym typeface="Consolas"/>
            </a:endParaRPr>
          </a:p>
        </p:txBody>
      </p:sp>
      <p:sp>
        <p:nvSpPr>
          <p:cNvPr id="1496" name="Google Shape;1496;p74"/>
          <p:cNvSpPr txBox="1"/>
          <p:nvPr>
            <p:ph idx="4294967295" type="body"/>
          </p:nvPr>
        </p:nvSpPr>
        <p:spPr>
          <a:xfrm>
            <a:off x="110821" y="3916111"/>
            <a:ext cx="2990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000000"/>
                </a:solidFill>
                <a:latin typeface="Arial"/>
                <a:ea typeface="Arial"/>
                <a:cs typeface="Arial"/>
                <a:sym typeface="Arial"/>
              </a:rPr>
              <a:t>The loop should </a:t>
            </a:r>
            <a:r>
              <a:rPr b="1" i="1" lang="en" sz="1200">
                <a:solidFill>
                  <a:srgbClr val="FF0000"/>
                </a:solidFill>
                <a:latin typeface="Arial"/>
                <a:ea typeface="Arial"/>
                <a:cs typeface="Arial"/>
                <a:sym typeface="Arial"/>
              </a:rPr>
              <a:t>stop </a:t>
            </a:r>
            <a:r>
              <a:rPr lang="en" sz="1200">
                <a:solidFill>
                  <a:srgbClr val="000000"/>
                </a:solidFill>
                <a:latin typeface="Arial"/>
                <a:ea typeface="Arial"/>
                <a:cs typeface="Arial"/>
                <a:sym typeface="Arial"/>
              </a:rPr>
              <a:t>when you reach a </a:t>
            </a:r>
            <a:r>
              <a:rPr lang="en" sz="1200">
                <a:solidFill>
                  <a:srgbClr val="FF0000"/>
                </a:solidFill>
                <a:latin typeface="Courier New"/>
                <a:ea typeface="Courier New"/>
                <a:cs typeface="Courier New"/>
                <a:sym typeface="Courier New"/>
              </a:rPr>
              <a:t>null</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predecessor</a:t>
            </a:r>
            <a:r>
              <a:rPr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return</a:t>
            </a:r>
            <a:r>
              <a:rPr lang="en" sz="1200">
                <a:solidFill>
                  <a:srgbClr val="000000"/>
                </a:solidFill>
                <a:latin typeface="Arial"/>
                <a:ea typeface="Arial"/>
                <a:cs typeface="Arial"/>
                <a:sym typeface="Arial"/>
              </a:rPr>
              <a:t> the path.</a:t>
            </a:r>
            <a:endParaRPr sz="1200">
              <a:solidFill>
                <a:srgbClr val="000000"/>
              </a:solidFill>
              <a:latin typeface="Arial"/>
              <a:ea typeface="Arial"/>
              <a:cs typeface="Arial"/>
              <a:sym typeface="Arial"/>
            </a:endParaRPr>
          </a:p>
        </p:txBody>
      </p:sp>
      <p:sp>
        <p:nvSpPr>
          <p:cNvPr id="1497" name="Google Shape;1497;p74"/>
          <p:cNvSpPr txBox="1"/>
          <p:nvPr/>
        </p:nvSpPr>
        <p:spPr>
          <a:xfrm>
            <a:off x="4737854" y="4652075"/>
            <a:ext cx="1313400" cy="369300"/>
          </a:xfrm>
          <a:prstGeom prst="rect">
            <a:avLst/>
          </a:prstGeom>
          <a:noFill/>
          <a:ln>
            <a:noFill/>
          </a:ln>
        </p:spPr>
        <p:txBody>
          <a:bodyPr anchorCtr="0" anchor="ctr" bIns="91425" lIns="91425" spcFirstLastPara="1" rIns="91425" wrap="square" tIns="91425">
            <a:spAutoFit/>
          </a:bodyPr>
          <a:lstStyle/>
          <a:p>
            <a:pPr indent="0" lvl="0" marL="0" rtl="0" algn="r">
              <a:spcBef>
                <a:spcPts val="0"/>
              </a:spcBef>
              <a:spcAft>
                <a:spcPts val="0"/>
              </a:spcAft>
              <a:buNone/>
            </a:pPr>
            <a:r>
              <a:rPr lang="en" sz="1200">
                <a:solidFill>
                  <a:srgbClr val="4A86E8"/>
                </a:solidFill>
                <a:latin typeface="Consolas"/>
                <a:ea typeface="Consolas"/>
                <a:cs typeface="Consolas"/>
                <a:sym typeface="Consolas"/>
              </a:rPr>
              <a:t>distance = 10</a:t>
            </a:r>
            <a:endParaRPr sz="1200">
              <a:solidFill>
                <a:srgbClr val="4A86E8"/>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2"/>
                                        </p:tgtEl>
                                        <p:attrNameLst>
                                          <p:attrName>style.visibility</p:attrName>
                                        </p:attrNameLst>
                                      </p:cBhvr>
                                      <p:to>
                                        <p:strVal val="visible"/>
                                      </p:to>
                                    </p:set>
                                    <p:animEffect filter="fade" transition="in">
                                      <p:cBhvr>
                                        <p:cTn dur="1000"/>
                                        <p:tgtEl>
                                          <p:spTgt spid="14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6"/>
                                        </p:tgtEl>
                                        <p:attrNameLst>
                                          <p:attrName>style.visibility</p:attrName>
                                        </p:attrNameLst>
                                      </p:cBhvr>
                                      <p:to>
                                        <p:strVal val="visible"/>
                                      </p:to>
                                    </p:set>
                                    <p:animEffect filter="fade" transition="in">
                                      <p:cBhvr>
                                        <p:cTn dur="1000"/>
                                        <p:tgtEl>
                                          <p:spTgt spid="1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9"/>
                                        </p:tgtEl>
                                        <p:attrNameLst>
                                          <p:attrName>style.visibility</p:attrName>
                                        </p:attrNameLst>
                                      </p:cBhvr>
                                      <p:to>
                                        <p:strVal val="visible"/>
                                      </p:to>
                                    </p:set>
                                    <p:animEffect filter="fade" transition="in">
                                      <p:cBhvr>
                                        <p:cTn dur="1000"/>
                                        <p:tgtEl>
                                          <p:spTgt spid="148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88"/>
                                        </p:tgtEl>
                                        <p:attrNameLst>
                                          <p:attrName>style.visibility</p:attrName>
                                        </p:attrNameLst>
                                      </p:cBhvr>
                                      <p:to>
                                        <p:strVal val="visible"/>
                                      </p:to>
                                    </p:set>
                                    <p:animEffect filter="fade" transition="in">
                                      <p:cBhvr>
                                        <p:cTn dur="1000"/>
                                        <p:tgtEl>
                                          <p:spTgt spid="1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0"/>
                                        </p:tgtEl>
                                        <p:attrNameLst>
                                          <p:attrName>style.visibility</p:attrName>
                                        </p:attrNameLst>
                                      </p:cBhvr>
                                      <p:to>
                                        <p:strVal val="visible"/>
                                      </p:to>
                                    </p:set>
                                    <p:animEffect filter="fade" transition="in">
                                      <p:cBhvr>
                                        <p:cTn dur="1000"/>
                                        <p:tgtEl>
                                          <p:spTgt spid="149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87"/>
                                        </p:tgtEl>
                                        <p:attrNameLst>
                                          <p:attrName>style.visibility</p:attrName>
                                        </p:attrNameLst>
                                      </p:cBhvr>
                                      <p:to>
                                        <p:strVal val="visible"/>
                                      </p:to>
                                    </p:set>
                                    <p:animEffect filter="fade" transition="in">
                                      <p:cBhvr>
                                        <p:cTn dur="1000"/>
                                        <p:tgtEl>
                                          <p:spTgt spid="1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4"/>
                                        </p:tgtEl>
                                        <p:attrNameLst>
                                          <p:attrName>style.visibility</p:attrName>
                                        </p:attrNameLst>
                                      </p:cBhvr>
                                      <p:to>
                                        <p:strVal val="visible"/>
                                      </p:to>
                                    </p:set>
                                    <p:animEffect filter="fade" transition="in">
                                      <p:cBhvr>
                                        <p:cTn dur="1000"/>
                                        <p:tgtEl>
                                          <p:spTgt spid="14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91"/>
                                        </p:tgtEl>
                                        <p:attrNameLst>
                                          <p:attrName>style.visibility</p:attrName>
                                        </p:attrNameLst>
                                      </p:cBhvr>
                                      <p:to>
                                        <p:strVal val="visible"/>
                                      </p:to>
                                    </p:set>
                                    <p:animEffect filter="fade" transition="in">
                                      <p:cBhvr>
                                        <p:cTn dur="1000"/>
                                        <p:tgtEl>
                                          <p:spTgt spid="1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5"/>
                                        </p:tgtEl>
                                        <p:attrNameLst>
                                          <p:attrName>style.visibility</p:attrName>
                                        </p:attrNameLst>
                                      </p:cBhvr>
                                      <p:to>
                                        <p:strVal val="visible"/>
                                      </p:to>
                                    </p:set>
                                    <p:animEffect filter="fade" transition="in">
                                      <p:cBhvr>
                                        <p:cTn dur="1000"/>
                                        <p:tgtEl>
                                          <p:spTgt spid="1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6"/>
                                        </p:tgtEl>
                                        <p:attrNameLst>
                                          <p:attrName>style.visibility</p:attrName>
                                        </p:attrNameLst>
                                      </p:cBhvr>
                                      <p:to>
                                        <p:strVal val="visible"/>
                                      </p:to>
                                    </p:set>
                                    <p:animEffect filter="fade" transition="in">
                                      <p:cBhvr>
                                        <p:cTn dur="1000"/>
                                        <p:tgtEl>
                                          <p:spTgt spid="149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92"/>
                                        </p:tgtEl>
                                        <p:attrNameLst>
                                          <p:attrName>style.visibility</p:attrName>
                                        </p:attrNameLst>
                                      </p:cBhvr>
                                      <p:to>
                                        <p:strVal val="visible"/>
                                      </p:to>
                                    </p:set>
                                    <p:animEffect filter="fade" transition="in">
                                      <p:cBhvr>
                                        <p:cTn dur="1000"/>
                                        <p:tgtEl>
                                          <p:spTgt spid="149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93"/>
                                        </p:tgtEl>
                                        <p:attrNameLst>
                                          <p:attrName>style.visibility</p:attrName>
                                        </p:attrNameLst>
                                      </p:cBhvr>
                                      <p:to>
                                        <p:strVal val="visible"/>
                                      </p:to>
                                    </p:set>
                                    <p:animEffect filter="fade" transition="in">
                                      <p:cBhvr>
                                        <p:cTn dur="1000"/>
                                        <p:tgtEl>
                                          <p:spTgt spid="1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7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Step 3: Build the Path</a:t>
            </a:r>
            <a:endParaRPr/>
          </a:p>
        </p:txBody>
      </p:sp>
      <p:sp>
        <p:nvSpPr>
          <p:cNvPr id="1503" name="Google Shape;1503;p75"/>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The final step of </a:t>
            </a:r>
            <a:r>
              <a:rPr lang="en"/>
              <a:t>Dijkstra's Shortest Path algorithm is to build the weighted path using the path tuples stored in the map. Let's examine that now.</a:t>
            </a:r>
            <a:endParaRPr/>
          </a:p>
        </p:txBody>
      </p:sp>
      <p:sp>
        <p:nvSpPr>
          <p:cNvPr id="1504" name="Google Shape;1504;p75"/>
          <p:cNvSpPr txBox="1"/>
          <p:nvPr>
            <p:ph idx="12" type="sldNum"/>
          </p:nvPr>
        </p:nvSpPr>
        <p:spPr>
          <a:xfrm>
            <a:off x="31858" y="470976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505" name="Google Shape;1505;p7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.20</a:t>
            </a:r>
            <a:endParaRPr/>
          </a:p>
        </p:txBody>
      </p:sp>
      <p:pic>
        <p:nvPicPr>
          <p:cNvPr id="1506" name="Google Shape;1506;p75"/>
          <p:cNvPicPr preferRelativeResize="0"/>
          <p:nvPr/>
        </p:nvPicPr>
        <p:blipFill rotWithShape="1">
          <a:blip r:embed="rId3">
            <a:alphaModFix/>
          </a:blip>
          <a:srcRect b="0" l="0" r="18100" t="0"/>
          <a:stretch/>
        </p:blipFill>
        <p:spPr>
          <a:xfrm>
            <a:off x="217725" y="1616200"/>
            <a:ext cx="2941900" cy="2155200"/>
          </a:xfrm>
          <a:prstGeom prst="rect">
            <a:avLst/>
          </a:prstGeom>
          <a:noFill/>
          <a:ln cap="flat" cmpd="sng" w="19050">
            <a:solidFill>
              <a:schemeClr val="dk2"/>
            </a:solidFill>
            <a:prstDash val="solid"/>
            <a:round/>
            <a:headEnd len="sm" w="sm" type="none"/>
            <a:tailEnd len="sm" w="sm" type="none"/>
          </a:ln>
        </p:spPr>
      </p:pic>
      <p:sp>
        <p:nvSpPr>
          <p:cNvPr id="1507" name="Google Shape;1507;p75"/>
          <p:cNvSpPr txBox="1"/>
          <p:nvPr>
            <p:ph idx="2" type="body"/>
          </p:nvPr>
        </p:nvSpPr>
        <p:spPr>
          <a:xfrm>
            <a:off x="3218025" y="1479725"/>
            <a:ext cx="5646900" cy="3570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WAdjacencyGraph</a:t>
            </a:r>
            <a:r>
              <a:rPr lang="en"/>
              <a:t> class, navigate to the </a:t>
            </a:r>
            <a:r>
              <a:rPr lang="en">
                <a:latin typeface="Courier New"/>
                <a:ea typeface="Courier New"/>
                <a:cs typeface="Courier New"/>
                <a:sym typeface="Courier New"/>
              </a:rPr>
              <a:t>diskstrasPath</a:t>
            </a:r>
            <a:r>
              <a:rPr lang="en"/>
              <a:t> method, and examine </a:t>
            </a:r>
            <a:r>
              <a:rPr b="1" i="1" lang="en">
                <a:solidFill>
                  <a:srgbClr val="FF0000"/>
                </a:solidFill>
              </a:rPr>
              <a:t>step 3: build the path</a:t>
            </a:r>
            <a:r>
              <a:rPr lang="en"/>
              <a:t>.</a:t>
            </a:r>
            <a:endParaRPr/>
          </a:p>
          <a:p>
            <a:pPr indent="-298450" lvl="1" marL="914400" rtl="0" algn="l">
              <a:spcBef>
                <a:spcPts val="0"/>
              </a:spcBef>
              <a:spcAft>
                <a:spcPts val="0"/>
              </a:spcAft>
              <a:buSzPts val="1100"/>
              <a:buChar char="○"/>
            </a:pPr>
            <a:r>
              <a:rPr lang="en"/>
              <a:t>It uses the </a:t>
            </a:r>
            <a:r>
              <a:rPr b="1" i="1" lang="en">
                <a:solidFill>
                  <a:srgbClr val="FF0000"/>
                </a:solidFill>
              </a:rPr>
              <a:t>end vertex</a:t>
            </a:r>
            <a:r>
              <a:rPr i="1" lang="en">
                <a:solidFill>
                  <a:srgbClr val="FF0000"/>
                </a:solidFill>
              </a:rPr>
              <a:t> </a:t>
            </a:r>
            <a:r>
              <a:rPr lang="en"/>
              <a:t>to retrieve its </a:t>
            </a:r>
            <a:r>
              <a:rPr lang="en">
                <a:solidFill>
                  <a:srgbClr val="FF0000"/>
                </a:solidFill>
                <a:latin typeface="Courier New"/>
                <a:ea typeface="Courier New"/>
                <a:cs typeface="Courier New"/>
                <a:sym typeface="Courier New"/>
              </a:rPr>
              <a:t>PathTuple</a:t>
            </a:r>
            <a:r>
              <a:rPr lang="en">
                <a:solidFill>
                  <a:srgbClr val="FF0000"/>
                </a:solidFill>
              </a:rPr>
              <a:t> </a:t>
            </a:r>
            <a:r>
              <a:rPr lang="en"/>
              <a:t>from the </a:t>
            </a:r>
            <a:r>
              <a:rPr b="1" i="1" lang="en">
                <a:solidFill>
                  <a:srgbClr val="FF0000"/>
                </a:solidFill>
              </a:rPr>
              <a:t>map</a:t>
            </a:r>
            <a:r>
              <a:rPr lang="en">
                <a:solidFill>
                  <a:srgbClr val="FF0000"/>
                </a:solidFill>
              </a:rPr>
              <a:t> </a:t>
            </a:r>
            <a:r>
              <a:rPr lang="en"/>
              <a:t>created in step 1 and save the </a:t>
            </a:r>
            <a:r>
              <a:rPr lang="en">
                <a:solidFill>
                  <a:srgbClr val="FF0000"/>
                </a:solidFill>
                <a:latin typeface="Courier New"/>
                <a:ea typeface="Courier New"/>
                <a:cs typeface="Courier New"/>
                <a:sym typeface="Courier New"/>
              </a:rPr>
              <a:t>distance</a:t>
            </a:r>
            <a:r>
              <a:rPr lang="en">
                <a:solidFill>
                  <a:srgbClr val="FF0000"/>
                </a:solidFill>
              </a:rPr>
              <a:t> </a:t>
            </a:r>
            <a:r>
              <a:rPr lang="en"/>
              <a:t>in a temporary variable.</a:t>
            </a:r>
            <a:endParaRPr/>
          </a:p>
          <a:p>
            <a:pPr indent="-298450" lvl="1" marL="914400" rtl="0" algn="l">
              <a:spcBef>
                <a:spcPts val="0"/>
              </a:spcBef>
              <a:spcAft>
                <a:spcPts val="0"/>
              </a:spcAft>
              <a:buSzPts val="1100"/>
              <a:buChar char="○"/>
            </a:pPr>
            <a:r>
              <a:rPr lang="en"/>
              <a:t>If the </a:t>
            </a:r>
            <a:r>
              <a:rPr lang="en">
                <a:latin typeface="Courier New"/>
                <a:ea typeface="Courier New"/>
                <a:cs typeface="Courier New"/>
                <a:sym typeface="Courier New"/>
              </a:rPr>
              <a:t>distance</a:t>
            </a:r>
            <a:r>
              <a:rPr lang="en"/>
              <a:t> in the tuple is </a:t>
            </a:r>
            <a:r>
              <a:rPr b="1" i="1" lang="en">
                <a:solidFill>
                  <a:srgbClr val="FF0000"/>
                </a:solidFill>
              </a:rPr>
              <a:t>infinity </a:t>
            </a:r>
            <a:r>
              <a:rPr lang="en"/>
              <a:t>(</a:t>
            </a:r>
            <a:r>
              <a:rPr lang="en">
                <a:solidFill>
                  <a:srgbClr val="FF0000"/>
                </a:solidFill>
                <a:latin typeface="Courier New"/>
                <a:ea typeface="Courier New"/>
                <a:cs typeface="Courier New"/>
                <a:sym typeface="Courier New"/>
              </a:rPr>
              <a:t>Double.POSITIVE_INFINITY</a:t>
            </a:r>
            <a:r>
              <a:rPr lang="en"/>
              <a:t>), there is no path. The algorithm </a:t>
            </a:r>
            <a:r>
              <a:rPr b="1" i="1" lang="en">
                <a:solidFill>
                  <a:srgbClr val="FF0000"/>
                </a:solidFill>
              </a:rPr>
              <a:t>returns </a:t>
            </a:r>
            <a:r>
              <a:rPr lang="en">
                <a:solidFill>
                  <a:srgbClr val="FF0000"/>
                </a:solidFill>
                <a:latin typeface="Courier New"/>
                <a:ea typeface="Courier New"/>
                <a:cs typeface="Courier New"/>
                <a:sym typeface="Courier New"/>
              </a:rPr>
              <a:t>null</a:t>
            </a:r>
            <a:r>
              <a:rPr lang="en"/>
              <a:t>.</a:t>
            </a:r>
            <a:endParaRPr/>
          </a:p>
          <a:p>
            <a:pPr indent="-298450" lvl="1" marL="914400" rtl="0" algn="l">
              <a:spcBef>
                <a:spcPts val="0"/>
              </a:spcBef>
              <a:spcAft>
                <a:spcPts val="0"/>
              </a:spcAft>
              <a:buSzPts val="1100"/>
              <a:buChar char="○"/>
            </a:pPr>
            <a:r>
              <a:rPr lang="en"/>
              <a:t>Otherwise, it </a:t>
            </a:r>
            <a:r>
              <a:rPr b="1" i="1" lang="en">
                <a:solidFill>
                  <a:srgbClr val="FF0000"/>
                </a:solidFill>
              </a:rPr>
              <a:t>creates a new</a:t>
            </a:r>
            <a:r>
              <a:rPr lang="en">
                <a:solidFill>
                  <a:srgbClr val="FF0000"/>
                </a:solidFill>
              </a:rPr>
              <a:t> </a:t>
            </a:r>
            <a:r>
              <a:rPr lang="en">
                <a:solidFill>
                  <a:srgbClr val="FF0000"/>
                </a:solidFill>
                <a:latin typeface="Courier New"/>
                <a:ea typeface="Courier New"/>
                <a:cs typeface="Courier New"/>
                <a:sym typeface="Courier New"/>
              </a:rPr>
              <a:t>WPath</a:t>
            </a:r>
            <a:r>
              <a:rPr lang="en"/>
              <a:t> with the end vertex's </a:t>
            </a:r>
            <a:r>
              <a:rPr b="1" i="1" lang="en">
                <a:solidFill>
                  <a:srgbClr val="FF0000"/>
                </a:solidFill>
              </a:rPr>
              <a:t>value</a:t>
            </a:r>
            <a:r>
              <a:rPr lang="en">
                <a:solidFill>
                  <a:srgbClr val="FF0000"/>
                </a:solidFill>
              </a:rPr>
              <a:t> </a:t>
            </a:r>
            <a:r>
              <a:rPr lang="en">
                <a:solidFill>
                  <a:srgbClr val="666666"/>
                </a:solidFill>
              </a:rPr>
              <a:t>and </a:t>
            </a:r>
            <a:r>
              <a:rPr b="1" i="1" lang="en">
                <a:solidFill>
                  <a:srgbClr val="FF0000"/>
                </a:solidFill>
              </a:rPr>
              <a:t>distance</a:t>
            </a:r>
            <a:r>
              <a:rPr lang="en"/>
              <a:t>. Remember that this is the </a:t>
            </a:r>
            <a:r>
              <a:rPr i="1" lang="en"/>
              <a:t>total distance from start</a:t>
            </a:r>
            <a:r>
              <a:rPr lang="en"/>
              <a:t>, so there is no need to add any additional distance later.</a:t>
            </a:r>
            <a:endParaRPr/>
          </a:p>
          <a:p>
            <a:pPr indent="-298450" lvl="1" marL="914400" rtl="0" algn="l">
              <a:spcBef>
                <a:spcPts val="0"/>
              </a:spcBef>
              <a:spcAft>
                <a:spcPts val="0"/>
              </a:spcAft>
              <a:buSzPts val="1100"/>
              <a:buChar char="○"/>
            </a:pPr>
            <a:r>
              <a:rPr lang="en"/>
              <a:t>Let</a:t>
            </a:r>
            <a:r>
              <a:rPr lang="en">
                <a:solidFill>
                  <a:srgbClr val="FF0000"/>
                </a:solidFill>
              </a:rPr>
              <a:t> </a:t>
            </a:r>
            <a:r>
              <a:rPr b="1" i="1" lang="en">
                <a:solidFill>
                  <a:srgbClr val="FF0000"/>
                </a:solidFill>
              </a:rPr>
              <a:t>V</a:t>
            </a:r>
            <a:r>
              <a:rPr lang="en"/>
              <a:t> be the end vertex's </a:t>
            </a:r>
            <a:r>
              <a:rPr b="1" i="1" lang="en">
                <a:solidFill>
                  <a:srgbClr val="FF0000"/>
                </a:solidFill>
              </a:rPr>
              <a:t>predecessor</a:t>
            </a:r>
            <a:r>
              <a:rPr lang="en">
                <a:solidFill>
                  <a:srgbClr val="FF0000"/>
                </a:solidFill>
              </a:rPr>
              <a:t> </a:t>
            </a:r>
            <a:r>
              <a:rPr lang="en"/>
              <a:t>(get it from the tuple).</a:t>
            </a:r>
            <a:endParaRPr/>
          </a:p>
          <a:p>
            <a:pPr indent="-298450" lvl="1" marL="914400" rtl="0" algn="l">
              <a:spcBef>
                <a:spcPts val="0"/>
              </a:spcBef>
              <a:spcAft>
                <a:spcPts val="0"/>
              </a:spcAft>
              <a:buSzPts val="1100"/>
              <a:buChar char="○"/>
            </a:pPr>
            <a:r>
              <a:rPr lang="en"/>
              <a:t>As long as </a:t>
            </a:r>
            <a:r>
              <a:rPr b="1" i="1" lang="en">
                <a:solidFill>
                  <a:srgbClr val="FF0000"/>
                </a:solidFill>
              </a:rPr>
              <a:t>V</a:t>
            </a:r>
            <a:r>
              <a:rPr lang="en">
                <a:solidFill>
                  <a:srgbClr val="FF0000"/>
                </a:solidFill>
              </a:rPr>
              <a:t> </a:t>
            </a:r>
            <a:r>
              <a:rPr b="1" i="1" lang="en">
                <a:solidFill>
                  <a:srgbClr val="FF0000"/>
                </a:solidFill>
              </a:rPr>
              <a:t>is not</a:t>
            </a:r>
            <a:r>
              <a:rPr lang="en">
                <a:solidFill>
                  <a:srgbClr val="FF0000"/>
                </a:solidFill>
              </a:rPr>
              <a:t> </a:t>
            </a:r>
            <a:r>
              <a:rPr lang="en">
                <a:solidFill>
                  <a:srgbClr val="FF0000"/>
                </a:solidFill>
                <a:latin typeface="Courier New"/>
                <a:ea typeface="Courier New"/>
                <a:cs typeface="Courier New"/>
                <a:sym typeface="Courier New"/>
              </a:rPr>
              <a:t>null</a:t>
            </a:r>
            <a:r>
              <a:rPr lang="en"/>
              <a:t>:</a:t>
            </a:r>
            <a:endParaRPr/>
          </a:p>
          <a:p>
            <a:pPr indent="-298450" lvl="2" marL="1371600" rtl="0" algn="l">
              <a:spcBef>
                <a:spcPts val="0"/>
              </a:spcBef>
              <a:spcAft>
                <a:spcPts val="0"/>
              </a:spcAft>
              <a:buSzPts val="1100"/>
              <a:buChar char="■"/>
            </a:pPr>
            <a:r>
              <a:rPr lang="en"/>
              <a:t>It adds </a:t>
            </a:r>
            <a:r>
              <a:rPr b="1" i="1" lang="en">
                <a:solidFill>
                  <a:srgbClr val="FF0000"/>
                </a:solidFill>
              </a:rPr>
              <a:t>V</a:t>
            </a:r>
            <a:r>
              <a:rPr lang="en"/>
              <a:t>'s value to the </a:t>
            </a:r>
            <a:r>
              <a:rPr b="1" i="1" lang="en">
                <a:solidFill>
                  <a:srgbClr val="FF0000"/>
                </a:solidFill>
              </a:rPr>
              <a:t>front</a:t>
            </a:r>
            <a:r>
              <a:rPr lang="en">
                <a:solidFill>
                  <a:srgbClr val="FF0000"/>
                </a:solidFill>
              </a:rPr>
              <a:t> </a:t>
            </a:r>
            <a:r>
              <a:rPr lang="en"/>
              <a:t>of the path.</a:t>
            </a:r>
            <a:endParaRPr/>
          </a:p>
          <a:p>
            <a:pPr indent="-298450" lvl="2" marL="1371600" rtl="0" algn="l">
              <a:spcBef>
                <a:spcPts val="0"/>
              </a:spcBef>
              <a:spcAft>
                <a:spcPts val="0"/>
              </a:spcAft>
              <a:buSzPts val="1100"/>
              <a:buChar char="■"/>
            </a:pPr>
            <a:r>
              <a:rPr lang="en"/>
              <a:t>It gets </a:t>
            </a:r>
            <a:r>
              <a:rPr b="1" i="1" lang="en">
                <a:solidFill>
                  <a:srgbClr val="FF0000"/>
                </a:solidFill>
              </a:rPr>
              <a:t>V</a:t>
            </a:r>
            <a:r>
              <a:rPr lang="en"/>
              <a:t>'s tuple from the map.</a:t>
            </a:r>
            <a:endParaRPr/>
          </a:p>
          <a:p>
            <a:pPr indent="-298450" lvl="2" marL="1371600" rtl="0" algn="l">
              <a:spcBef>
                <a:spcPts val="0"/>
              </a:spcBef>
              <a:spcAft>
                <a:spcPts val="0"/>
              </a:spcAft>
              <a:buSzPts val="1100"/>
              <a:buChar char="■"/>
            </a:pPr>
            <a:r>
              <a:rPr lang="en"/>
              <a:t>It sets </a:t>
            </a:r>
            <a:r>
              <a:rPr b="1" i="1" lang="en">
                <a:solidFill>
                  <a:srgbClr val="FF0000"/>
                </a:solidFill>
              </a:rPr>
              <a:t>V</a:t>
            </a:r>
            <a:r>
              <a:rPr lang="en"/>
              <a:t> to </a:t>
            </a:r>
            <a:r>
              <a:rPr b="1" i="1" lang="en">
                <a:solidFill>
                  <a:srgbClr val="FF0000"/>
                </a:solidFill>
              </a:rPr>
              <a:t>its own</a:t>
            </a:r>
            <a:r>
              <a:rPr lang="en">
                <a:solidFill>
                  <a:srgbClr val="FF0000"/>
                </a:solidFill>
              </a:rPr>
              <a:t> </a:t>
            </a:r>
            <a:r>
              <a:rPr b="1" i="1" lang="en">
                <a:solidFill>
                  <a:srgbClr val="FF0000"/>
                </a:solidFill>
              </a:rPr>
              <a:t>predecessor</a:t>
            </a:r>
            <a:r>
              <a:rPr lang="en"/>
              <a:t>.</a:t>
            </a:r>
            <a:endParaRPr/>
          </a:p>
          <a:p>
            <a:pPr indent="-298450" lvl="1" marL="914400" rtl="0" algn="l">
              <a:spcBef>
                <a:spcPts val="0"/>
              </a:spcBef>
              <a:spcAft>
                <a:spcPts val="0"/>
              </a:spcAft>
              <a:buSzPts val="1100"/>
              <a:buChar char="○"/>
            </a:pPr>
            <a:r>
              <a:rPr lang="en"/>
              <a:t>When </a:t>
            </a:r>
            <a:r>
              <a:rPr b="1" i="1" lang="en">
                <a:solidFill>
                  <a:srgbClr val="FF0000"/>
                </a:solidFill>
              </a:rPr>
              <a:t>V</a:t>
            </a:r>
            <a:r>
              <a:rPr lang="en"/>
              <a:t> is </a:t>
            </a:r>
            <a:r>
              <a:rPr lang="en">
                <a:latin typeface="Courier New"/>
                <a:ea typeface="Courier New"/>
                <a:cs typeface="Courier New"/>
                <a:sym typeface="Courier New"/>
              </a:rPr>
              <a:t>null</a:t>
            </a:r>
            <a:r>
              <a:rPr lang="en"/>
              <a:t>, it has reached the start vertex. The algorithm </a:t>
            </a:r>
            <a:r>
              <a:rPr b="1" i="1" lang="en">
                <a:solidFill>
                  <a:srgbClr val="FF0000"/>
                </a:solidFill>
              </a:rPr>
              <a:t>returns </a:t>
            </a:r>
            <a:r>
              <a:rPr lang="en"/>
              <a:t>the path.</a:t>
            </a:r>
            <a:endParaRPr/>
          </a:p>
          <a:p>
            <a:pPr indent="-311150" lvl="0" marL="457200" rtl="0" algn="l">
              <a:spcBef>
                <a:spcPts val="0"/>
              </a:spcBef>
              <a:spcAft>
                <a:spcPts val="0"/>
              </a:spcAft>
              <a:buSzPts val="1300"/>
              <a:buChar char="●"/>
            </a:pPr>
            <a:r>
              <a:rPr b="1" i="1" lang="en">
                <a:solidFill>
                  <a:srgbClr val="FF0000"/>
                </a:solidFill>
              </a:rPr>
              <a:t>Test</a:t>
            </a:r>
            <a:r>
              <a:rPr lang="en">
                <a:solidFill>
                  <a:srgbClr val="FF0000"/>
                </a:solidFill>
              </a:rPr>
              <a:t> </a:t>
            </a:r>
            <a:r>
              <a:rPr lang="en"/>
              <a:t>the implementation using the provided </a:t>
            </a:r>
            <a:r>
              <a:rPr lang="en">
                <a:solidFill>
                  <a:srgbClr val="FF0000"/>
                </a:solidFill>
                <a:latin typeface="Courier New"/>
                <a:ea typeface="Courier New"/>
                <a:cs typeface="Courier New"/>
                <a:sym typeface="Courier New"/>
              </a:rPr>
              <a:t>DijkstrasPathTest</a:t>
            </a:r>
            <a:r>
              <a:rPr lang="en"/>
              <a: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sp>
        <p:nvSpPr>
          <p:cNvPr id="1512" name="Google Shape;1512;p7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see how Dijkstra compares to Nearest Neighbor when finding a path through the cities in the contiguous United States.</a:t>
            </a:r>
            <a:endParaRPr/>
          </a:p>
        </p:txBody>
      </p:sp>
      <p:sp>
        <p:nvSpPr>
          <p:cNvPr id="1513" name="Google Shape;1513;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4" name="Google Shape;1514;p76"/>
          <p:cNvSpPr txBox="1"/>
          <p:nvPr>
            <p:ph idx="2" type="body"/>
          </p:nvPr>
        </p:nvSpPr>
        <p:spPr>
          <a:xfrm>
            <a:off x="3311000" y="1729125"/>
            <a:ext cx="5478600" cy="16500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the </a:t>
            </a:r>
            <a:r>
              <a:rPr lang="en" sz="1700">
                <a:latin typeface="Courier New"/>
                <a:ea typeface="Courier New"/>
                <a:cs typeface="Courier New"/>
                <a:sym typeface="Courier New"/>
              </a:rPr>
              <a:t>MapMaker</a:t>
            </a:r>
            <a:r>
              <a:rPr lang="en" sz="1700"/>
              <a:t> and navigate to the </a:t>
            </a:r>
            <a:r>
              <a:rPr lang="en" sz="1700">
                <a:latin typeface="Courier New"/>
                <a:ea typeface="Courier New"/>
                <a:cs typeface="Courier New"/>
                <a:sym typeface="Courier New"/>
              </a:rPr>
              <a:t>main</a:t>
            </a:r>
            <a:r>
              <a:rPr lang="en" sz="1700"/>
              <a:t> method.</a:t>
            </a:r>
            <a:endParaRPr sz="1700"/>
          </a:p>
          <a:p>
            <a:pPr indent="-336550" lvl="0" marL="457200" rtl="0" algn="l">
              <a:spcBef>
                <a:spcPts val="0"/>
              </a:spcBef>
              <a:spcAft>
                <a:spcPts val="0"/>
              </a:spcAft>
              <a:buSzPts val="1700"/>
              <a:buChar char="●"/>
            </a:pPr>
            <a:r>
              <a:rPr lang="en" sz="1700"/>
              <a:t>Use </a:t>
            </a:r>
            <a:r>
              <a:rPr i="1" lang="en" sz="1700"/>
              <a:t>Dijkstra's Shortest Path</a:t>
            </a:r>
            <a:r>
              <a:rPr lang="en" sz="1700"/>
              <a:t> algorithm to find a path from </a:t>
            </a:r>
            <a:r>
              <a:rPr i="1" lang="en" sz="1700"/>
              <a:t>Boston, </a:t>
            </a:r>
            <a:r>
              <a:rPr i="1" lang="en" sz="1700"/>
              <a:t>Massachusetts</a:t>
            </a:r>
            <a:r>
              <a:rPr lang="en" sz="1700"/>
              <a:t> to </a:t>
            </a:r>
            <a:r>
              <a:rPr i="1" lang="en" sz="1700"/>
              <a:t>Los Angeles, California</a:t>
            </a:r>
            <a:r>
              <a:rPr lang="en" sz="1700"/>
              <a:t> and print it to standard output.</a:t>
            </a:r>
            <a:endParaRPr sz="1700"/>
          </a:p>
        </p:txBody>
      </p:sp>
      <p:sp>
        <p:nvSpPr>
          <p:cNvPr id="1515" name="Google Shape;1515;p7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Traveling Dijkstra</a:t>
            </a:r>
            <a:endParaRPr/>
          </a:p>
        </p:txBody>
      </p:sp>
      <p:sp>
        <p:nvSpPr>
          <p:cNvPr id="1516" name="Google Shape;1516;p7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13.21</a:t>
            </a:r>
            <a:endParaRPr/>
          </a:p>
        </p:txBody>
      </p:sp>
      <p:sp>
        <p:nvSpPr>
          <p:cNvPr id="1517" name="Google Shape;1517;p76"/>
          <p:cNvSpPr txBox="1"/>
          <p:nvPr>
            <p:ph idx="4" type="body"/>
          </p:nvPr>
        </p:nvSpPr>
        <p:spPr>
          <a:xfrm>
            <a:off x="141600" y="3753500"/>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How does </a:t>
            </a:r>
            <a:r>
              <a:rPr i="1" lang="en"/>
              <a:t>Dijkstra's Shortest Path</a:t>
            </a:r>
            <a:r>
              <a:rPr lang="en"/>
              <a:t> compare to the path found by </a:t>
            </a:r>
            <a:r>
              <a:rPr i="1" lang="en"/>
              <a:t>Nearest Neighbor</a:t>
            </a:r>
            <a:r>
              <a:rPr lang="en"/>
              <a:t>?</a:t>
            </a:r>
            <a:endParaRPr/>
          </a:p>
        </p:txBody>
      </p:sp>
      <p:pic>
        <p:nvPicPr>
          <p:cNvPr id="1518" name="Google Shape;1518;p76"/>
          <p:cNvPicPr preferRelativeResize="0"/>
          <p:nvPr/>
        </p:nvPicPr>
        <p:blipFill>
          <a:blip r:embed="rId3">
            <a:alphaModFix/>
          </a:blip>
          <a:stretch>
            <a:fillRect/>
          </a:stretch>
        </p:blipFill>
        <p:spPr>
          <a:xfrm>
            <a:off x="141600" y="1729124"/>
            <a:ext cx="3023700" cy="1886498"/>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sp>
        <p:nvSpPr>
          <p:cNvPr id="1523" name="Google Shape;1523;p77"/>
          <p:cNvSpPr txBox="1"/>
          <p:nvPr/>
        </p:nvSpPr>
        <p:spPr>
          <a:xfrm>
            <a:off x="6182472" y="4718817"/>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524" name="Google Shape;1524;p7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Dijkstra’s Shortest Path Diagram</a:t>
            </a:r>
            <a:endParaRPr/>
          </a:p>
        </p:txBody>
      </p:sp>
      <p:sp>
        <p:nvSpPr>
          <p:cNvPr id="1525" name="Google Shape;1525;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526" name="Google Shape;1526;p77"/>
          <p:cNvGraphicFramePr/>
          <p:nvPr/>
        </p:nvGraphicFramePr>
        <p:xfrm>
          <a:off x="130800" y="1351167"/>
          <a:ext cx="3000000" cy="3000000"/>
        </p:xfrm>
        <a:graphic>
          <a:graphicData uri="http://schemas.openxmlformats.org/drawingml/2006/table">
            <a:tbl>
              <a:tblPr>
                <a:noFill/>
                <a:tableStyleId>{89CCAE03-A2B2-4379-B0C2-E101A7E113D6}</a:tableStyleId>
              </a:tblPr>
              <a:tblGrid>
                <a:gridCol w="654950"/>
                <a:gridCol w="654950"/>
                <a:gridCol w="654950"/>
                <a:gridCol w="654950"/>
                <a:gridCol w="654950"/>
                <a:gridCol w="654950"/>
                <a:gridCol w="654950"/>
                <a:gridCol w="654950"/>
                <a:gridCol w="654950"/>
              </a:tblGrid>
              <a:tr h="409125">
                <a:tc>
                  <a:txBody>
                    <a:bodyPr/>
                    <a:lstStyle/>
                    <a:p>
                      <a:pPr indent="0" lvl="0" marL="0" rtl="0" algn="ctr">
                        <a:spcBef>
                          <a:spcPts val="0"/>
                        </a:spcBef>
                        <a:spcAft>
                          <a:spcPts val="0"/>
                        </a:spcAft>
                        <a:buNone/>
                      </a:pPr>
                      <a:r>
                        <a:rPr lang="en" sz="1000">
                          <a:solidFill>
                            <a:srgbClr val="FFFFFF"/>
                          </a:solidFill>
                        </a:rPr>
                        <a:t>Iteration</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900">
                          <a:solidFill>
                            <a:srgbClr val="FFFFFF"/>
                          </a:solidFill>
                        </a:rPr>
                        <a:t>Finalized Vertex</a:t>
                      </a:r>
                      <a:endParaRPr sz="9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A</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B</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C</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D</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F</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G</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t>0,null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7</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1527" name="Google Shape;1527;p77"/>
          <p:cNvGrpSpPr/>
          <p:nvPr/>
        </p:nvGrpSpPr>
        <p:grpSpPr>
          <a:xfrm>
            <a:off x="6320467" y="1450631"/>
            <a:ext cx="2587231" cy="2330777"/>
            <a:chOff x="6244267" y="1458389"/>
            <a:chExt cx="2587231" cy="2330777"/>
          </a:xfrm>
        </p:grpSpPr>
        <p:sp>
          <p:nvSpPr>
            <p:cNvPr id="1528" name="Google Shape;1528;p77"/>
            <p:cNvSpPr/>
            <p:nvPr/>
          </p:nvSpPr>
          <p:spPr>
            <a:xfrm>
              <a:off x="6509073" y="1523331"/>
              <a:ext cx="420900" cy="420900"/>
            </a:xfrm>
            <a:prstGeom prst="ellipse">
              <a:avLst/>
            </a:prstGeom>
            <a:solidFill>
              <a:srgbClr val="FF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529" name="Google Shape;1529;p77"/>
            <p:cNvSpPr/>
            <p:nvPr/>
          </p:nvSpPr>
          <p:spPr>
            <a:xfrm>
              <a:off x="7357336" y="245907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530" name="Google Shape;1530;p77"/>
            <p:cNvSpPr/>
            <p:nvPr/>
          </p:nvSpPr>
          <p:spPr>
            <a:xfrm>
              <a:off x="6244267" y="249803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531" name="Google Shape;1531;p77"/>
            <p:cNvSpPr/>
            <p:nvPr/>
          </p:nvSpPr>
          <p:spPr>
            <a:xfrm>
              <a:off x="7828964" y="1523331"/>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532" name="Google Shape;1532;p77"/>
            <p:cNvSpPr/>
            <p:nvPr/>
          </p:nvSpPr>
          <p:spPr>
            <a:xfrm>
              <a:off x="8203274" y="3368266"/>
              <a:ext cx="420900" cy="420900"/>
            </a:xfrm>
            <a:prstGeom prst="ellipse">
              <a:avLst/>
            </a:prstGeom>
            <a:solidFill>
              <a:srgbClr val="00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533" name="Google Shape;1533;p77"/>
            <p:cNvSpPr/>
            <p:nvPr/>
          </p:nvSpPr>
          <p:spPr>
            <a:xfrm>
              <a:off x="8395346" y="2425277"/>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534" name="Google Shape;1534;p77"/>
            <p:cNvSpPr/>
            <p:nvPr/>
          </p:nvSpPr>
          <p:spPr>
            <a:xfrm>
              <a:off x="6990642" y="33682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535" name="Google Shape;1535;p77"/>
            <p:cNvCxnSpPr>
              <a:stCxn id="1528" idx="3"/>
              <a:endCxn id="1530" idx="0"/>
            </p:cNvCxnSpPr>
            <p:nvPr/>
          </p:nvCxnSpPr>
          <p:spPr>
            <a:xfrm flipH="1">
              <a:off x="6454613" y="1882592"/>
              <a:ext cx="116100" cy="615300"/>
            </a:xfrm>
            <a:prstGeom prst="straightConnector1">
              <a:avLst/>
            </a:prstGeom>
            <a:noFill/>
            <a:ln cap="flat" cmpd="sng" w="19050">
              <a:solidFill>
                <a:srgbClr val="000000"/>
              </a:solidFill>
              <a:prstDash val="solid"/>
              <a:round/>
              <a:headEnd len="med" w="med" type="none"/>
              <a:tailEnd len="med" w="med" type="none"/>
            </a:ln>
          </p:spPr>
        </p:cxnSp>
        <p:cxnSp>
          <p:nvCxnSpPr>
            <p:cNvPr id="1536" name="Google Shape;1536;p77"/>
            <p:cNvCxnSpPr>
              <a:stCxn id="1528" idx="6"/>
              <a:endCxn id="1531" idx="2"/>
            </p:cNvCxnSpPr>
            <p:nvPr/>
          </p:nvCxnSpPr>
          <p:spPr>
            <a:xfrm>
              <a:off x="6929973" y="1733781"/>
              <a:ext cx="899100" cy="0"/>
            </a:xfrm>
            <a:prstGeom prst="straightConnector1">
              <a:avLst/>
            </a:prstGeom>
            <a:noFill/>
            <a:ln cap="flat" cmpd="sng" w="19050">
              <a:solidFill>
                <a:srgbClr val="000000"/>
              </a:solidFill>
              <a:prstDash val="solid"/>
              <a:round/>
              <a:headEnd len="med" w="med" type="none"/>
              <a:tailEnd len="med" w="med" type="none"/>
            </a:ln>
          </p:spPr>
        </p:cxnSp>
        <p:cxnSp>
          <p:nvCxnSpPr>
            <p:cNvPr id="1537" name="Google Shape;1537;p77"/>
            <p:cNvCxnSpPr>
              <a:stCxn id="1528" idx="5"/>
              <a:endCxn id="1529" idx="1"/>
            </p:cNvCxnSpPr>
            <p:nvPr/>
          </p:nvCxnSpPr>
          <p:spPr>
            <a:xfrm>
              <a:off x="6868334" y="1882592"/>
              <a:ext cx="550500" cy="638100"/>
            </a:xfrm>
            <a:prstGeom prst="straightConnector1">
              <a:avLst/>
            </a:prstGeom>
            <a:noFill/>
            <a:ln cap="flat" cmpd="sng" w="19050">
              <a:solidFill>
                <a:srgbClr val="000000"/>
              </a:solidFill>
              <a:prstDash val="solid"/>
              <a:round/>
              <a:headEnd len="med" w="med" type="none"/>
              <a:tailEnd len="med" w="med" type="none"/>
            </a:ln>
          </p:spPr>
        </p:cxnSp>
        <p:cxnSp>
          <p:nvCxnSpPr>
            <p:cNvPr id="1538" name="Google Shape;1538;p77"/>
            <p:cNvCxnSpPr>
              <a:stCxn id="1529" idx="6"/>
              <a:endCxn id="1533" idx="2"/>
            </p:cNvCxnSpPr>
            <p:nvPr/>
          </p:nvCxnSpPr>
          <p:spPr>
            <a:xfrm flipH="1" rot="10800000">
              <a:off x="7778236" y="2635629"/>
              <a:ext cx="617100" cy="33900"/>
            </a:xfrm>
            <a:prstGeom prst="straightConnector1">
              <a:avLst/>
            </a:prstGeom>
            <a:noFill/>
            <a:ln cap="flat" cmpd="sng" w="19050">
              <a:solidFill>
                <a:srgbClr val="000000"/>
              </a:solidFill>
              <a:prstDash val="solid"/>
              <a:round/>
              <a:headEnd len="med" w="med" type="none"/>
              <a:tailEnd len="med" w="med" type="none"/>
            </a:ln>
          </p:spPr>
        </p:cxnSp>
        <p:cxnSp>
          <p:nvCxnSpPr>
            <p:cNvPr id="1539" name="Google Shape;1539;p77"/>
            <p:cNvCxnSpPr>
              <a:stCxn id="1533" idx="4"/>
              <a:endCxn id="1532" idx="7"/>
            </p:cNvCxnSpPr>
            <p:nvPr/>
          </p:nvCxnSpPr>
          <p:spPr>
            <a:xfrm flipH="1">
              <a:off x="8562596" y="2846177"/>
              <a:ext cx="43200" cy="583800"/>
            </a:xfrm>
            <a:prstGeom prst="straightConnector1">
              <a:avLst/>
            </a:prstGeom>
            <a:noFill/>
            <a:ln cap="flat" cmpd="sng" w="19050">
              <a:solidFill>
                <a:srgbClr val="000000"/>
              </a:solidFill>
              <a:prstDash val="solid"/>
              <a:round/>
              <a:headEnd len="med" w="med" type="none"/>
              <a:tailEnd len="med" w="med" type="none"/>
            </a:ln>
          </p:spPr>
        </p:cxnSp>
        <p:cxnSp>
          <p:nvCxnSpPr>
            <p:cNvPr id="1540" name="Google Shape;1540;p77"/>
            <p:cNvCxnSpPr>
              <a:stCxn id="1529" idx="3"/>
              <a:endCxn id="1534" idx="0"/>
            </p:cNvCxnSpPr>
            <p:nvPr/>
          </p:nvCxnSpPr>
          <p:spPr>
            <a:xfrm flipH="1">
              <a:off x="7201176" y="2818340"/>
              <a:ext cx="217800" cy="549900"/>
            </a:xfrm>
            <a:prstGeom prst="straightConnector1">
              <a:avLst/>
            </a:prstGeom>
            <a:noFill/>
            <a:ln cap="flat" cmpd="sng" w="19050">
              <a:solidFill>
                <a:srgbClr val="000000"/>
              </a:solidFill>
              <a:prstDash val="solid"/>
              <a:round/>
              <a:headEnd len="med" w="med" type="none"/>
              <a:tailEnd len="med" w="med" type="none"/>
            </a:ln>
          </p:spPr>
        </p:cxnSp>
        <p:cxnSp>
          <p:nvCxnSpPr>
            <p:cNvPr id="1541" name="Google Shape;1541;p77"/>
            <p:cNvCxnSpPr>
              <a:stCxn id="1534" idx="6"/>
              <a:endCxn id="1532" idx="2"/>
            </p:cNvCxnSpPr>
            <p:nvPr/>
          </p:nvCxnSpPr>
          <p:spPr>
            <a:xfrm>
              <a:off x="7411542" y="3578716"/>
              <a:ext cx="791700" cy="0"/>
            </a:xfrm>
            <a:prstGeom prst="straightConnector1">
              <a:avLst/>
            </a:prstGeom>
            <a:noFill/>
            <a:ln cap="flat" cmpd="sng" w="19050">
              <a:solidFill>
                <a:srgbClr val="000000"/>
              </a:solidFill>
              <a:prstDash val="solid"/>
              <a:round/>
              <a:headEnd len="med" w="med" type="none"/>
              <a:tailEnd len="med" w="med" type="none"/>
            </a:ln>
          </p:spPr>
        </p:cxnSp>
        <p:cxnSp>
          <p:nvCxnSpPr>
            <p:cNvPr id="1542" name="Google Shape;1542;p77"/>
            <p:cNvCxnSpPr>
              <a:stCxn id="1530" idx="6"/>
              <a:endCxn id="1529" idx="2"/>
            </p:cNvCxnSpPr>
            <p:nvPr/>
          </p:nvCxnSpPr>
          <p:spPr>
            <a:xfrm flipH="1" rot="10800000">
              <a:off x="6665167" y="2669489"/>
              <a:ext cx="692100" cy="39000"/>
            </a:xfrm>
            <a:prstGeom prst="straightConnector1">
              <a:avLst/>
            </a:prstGeom>
            <a:noFill/>
            <a:ln cap="flat" cmpd="sng" w="19050">
              <a:solidFill>
                <a:srgbClr val="000000"/>
              </a:solidFill>
              <a:prstDash val="solid"/>
              <a:round/>
              <a:headEnd len="med" w="med" type="none"/>
              <a:tailEnd len="med" w="med" type="none"/>
            </a:ln>
          </p:spPr>
        </p:cxnSp>
        <p:cxnSp>
          <p:nvCxnSpPr>
            <p:cNvPr id="1543" name="Google Shape;1543;p77"/>
            <p:cNvCxnSpPr>
              <a:stCxn id="1531" idx="5"/>
              <a:endCxn id="1533" idx="1"/>
            </p:cNvCxnSpPr>
            <p:nvPr/>
          </p:nvCxnSpPr>
          <p:spPr>
            <a:xfrm>
              <a:off x="8188225" y="1882592"/>
              <a:ext cx="268800" cy="604200"/>
            </a:xfrm>
            <a:prstGeom prst="straightConnector1">
              <a:avLst/>
            </a:prstGeom>
            <a:noFill/>
            <a:ln cap="flat" cmpd="sng" w="19050">
              <a:solidFill>
                <a:srgbClr val="000000"/>
              </a:solidFill>
              <a:prstDash val="solid"/>
              <a:round/>
              <a:headEnd len="med" w="med" type="none"/>
              <a:tailEnd len="med" w="med" type="none"/>
            </a:ln>
          </p:spPr>
        </p:cxnSp>
        <p:sp>
          <p:nvSpPr>
            <p:cNvPr id="1544" name="Google Shape;1544;p77"/>
            <p:cNvSpPr txBox="1"/>
            <p:nvPr/>
          </p:nvSpPr>
          <p:spPr>
            <a:xfrm>
              <a:off x="7133044" y="2031395"/>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545" name="Google Shape;1545;p77"/>
            <p:cNvSpPr txBox="1"/>
            <p:nvPr/>
          </p:nvSpPr>
          <p:spPr>
            <a:xfrm>
              <a:off x="7939499" y="2434622"/>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546" name="Google Shape;1546;p77"/>
            <p:cNvSpPr txBox="1"/>
            <p:nvPr/>
          </p:nvSpPr>
          <p:spPr>
            <a:xfrm>
              <a:off x="8562397" y="3016215"/>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47" name="Google Shape;1547;p77"/>
            <p:cNvSpPr txBox="1"/>
            <p:nvPr/>
          </p:nvSpPr>
          <p:spPr>
            <a:xfrm>
              <a:off x="6244268" y="206847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548" name="Google Shape;1548;p77"/>
            <p:cNvSpPr txBox="1"/>
            <p:nvPr/>
          </p:nvSpPr>
          <p:spPr>
            <a:xfrm>
              <a:off x="6829493" y="245907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549" name="Google Shape;1549;p77"/>
            <p:cNvSpPr txBox="1"/>
            <p:nvPr/>
          </p:nvSpPr>
          <p:spPr>
            <a:xfrm>
              <a:off x="7090026" y="291366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50" name="Google Shape;1550;p77"/>
            <p:cNvSpPr txBox="1"/>
            <p:nvPr/>
          </p:nvSpPr>
          <p:spPr>
            <a:xfrm>
              <a:off x="7672836" y="335015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51" name="Google Shape;1551;p77"/>
            <p:cNvSpPr txBox="1"/>
            <p:nvPr/>
          </p:nvSpPr>
          <p:spPr>
            <a:xfrm>
              <a:off x="8293350" y="1948966"/>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552" name="Google Shape;1552;p77"/>
            <p:cNvSpPr txBox="1"/>
            <p:nvPr/>
          </p:nvSpPr>
          <p:spPr>
            <a:xfrm>
              <a:off x="7280291" y="1458389"/>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553" name="Google Shape;1553;p77"/>
            <p:cNvCxnSpPr>
              <a:stCxn id="1530" idx="5"/>
              <a:endCxn id="1534" idx="1"/>
            </p:cNvCxnSpPr>
            <p:nvPr/>
          </p:nvCxnSpPr>
          <p:spPr>
            <a:xfrm>
              <a:off x="6603527" y="2857299"/>
              <a:ext cx="448800" cy="572700"/>
            </a:xfrm>
            <a:prstGeom prst="straightConnector1">
              <a:avLst/>
            </a:prstGeom>
            <a:noFill/>
            <a:ln cap="flat" cmpd="sng" w="19050">
              <a:solidFill>
                <a:srgbClr val="000000"/>
              </a:solidFill>
              <a:prstDash val="solid"/>
              <a:round/>
              <a:headEnd len="med" w="med" type="none"/>
              <a:tailEnd len="med" w="med" type="none"/>
            </a:ln>
          </p:spPr>
        </p:cxnSp>
        <p:sp>
          <p:nvSpPr>
            <p:cNvPr id="1554" name="Google Shape;1554;p77"/>
            <p:cNvSpPr txBox="1"/>
            <p:nvPr/>
          </p:nvSpPr>
          <p:spPr>
            <a:xfrm>
              <a:off x="6617098" y="3091012"/>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aphicFrame>
        <p:nvGraphicFramePr>
          <p:cNvPr id="1555" name="Google Shape;1555;p77"/>
          <p:cNvGraphicFramePr/>
          <p:nvPr/>
        </p:nvGraphicFramePr>
        <p:xfrm>
          <a:off x="6182463" y="4322617"/>
          <a:ext cx="3000000" cy="3000000"/>
        </p:xfrm>
        <a:graphic>
          <a:graphicData uri="http://schemas.openxmlformats.org/drawingml/2006/table">
            <a:tbl>
              <a:tblPr>
                <a:noFill/>
                <a:tableStyleId>{89CCAE03-A2B2-4379-B0C2-E101A7E113D6}</a:tableStyleId>
              </a:tblPr>
              <a:tblGrid>
                <a:gridCol w="715800"/>
                <a:gridCol w="715800"/>
                <a:gridCol w="715800"/>
                <a:gridCol w="715800"/>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556" name="Google Shape;1556;p77"/>
          <p:cNvSpPr txBox="1"/>
          <p:nvPr/>
        </p:nvSpPr>
        <p:spPr>
          <a:xfrm>
            <a:off x="6182472" y="3922417"/>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Path A -&gt; E</a:t>
            </a:r>
            <a:endParaRPr>
              <a:solidFill>
                <a:srgbClr val="4A86E8"/>
              </a:solidFill>
              <a:latin typeface="Consolas"/>
              <a:ea typeface="Consolas"/>
              <a:cs typeface="Consolas"/>
              <a:sym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
        <p:nvSpPr>
          <p:cNvPr id="1561" name="Google Shape;1561;p78"/>
          <p:cNvSpPr txBox="1"/>
          <p:nvPr/>
        </p:nvSpPr>
        <p:spPr>
          <a:xfrm>
            <a:off x="6182472" y="4718817"/>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562" name="Google Shape;1562;p7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Dijkstra’s Shortest Path Diagram</a:t>
            </a:r>
            <a:endParaRPr/>
          </a:p>
        </p:txBody>
      </p:sp>
      <p:sp>
        <p:nvSpPr>
          <p:cNvPr id="1563" name="Google Shape;1563;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564" name="Google Shape;1564;p78"/>
          <p:cNvGraphicFramePr/>
          <p:nvPr/>
        </p:nvGraphicFramePr>
        <p:xfrm>
          <a:off x="130800" y="1351167"/>
          <a:ext cx="3000000" cy="3000000"/>
        </p:xfrm>
        <a:graphic>
          <a:graphicData uri="http://schemas.openxmlformats.org/drawingml/2006/table">
            <a:tbl>
              <a:tblPr>
                <a:noFill/>
                <a:tableStyleId>{89CCAE03-A2B2-4379-B0C2-E101A7E113D6}</a:tableStyleId>
              </a:tblPr>
              <a:tblGrid>
                <a:gridCol w="654950"/>
                <a:gridCol w="654950"/>
                <a:gridCol w="654950"/>
                <a:gridCol w="654950"/>
                <a:gridCol w="654950"/>
                <a:gridCol w="654950"/>
                <a:gridCol w="654950"/>
                <a:gridCol w="654950"/>
                <a:gridCol w="654950"/>
              </a:tblGrid>
              <a:tr h="409125">
                <a:tc>
                  <a:txBody>
                    <a:bodyPr/>
                    <a:lstStyle/>
                    <a:p>
                      <a:pPr indent="0" lvl="0" marL="0" rtl="0" algn="ctr">
                        <a:spcBef>
                          <a:spcPts val="0"/>
                        </a:spcBef>
                        <a:spcAft>
                          <a:spcPts val="0"/>
                        </a:spcAft>
                        <a:buNone/>
                      </a:pPr>
                      <a:r>
                        <a:rPr lang="en" sz="1000">
                          <a:solidFill>
                            <a:srgbClr val="FFFFFF"/>
                          </a:solidFill>
                        </a:rPr>
                        <a:t>Iteration</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900">
                          <a:solidFill>
                            <a:srgbClr val="FFFFFF"/>
                          </a:solidFill>
                        </a:rPr>
                        <a:t>Finalized Vertex</a:t>
                      </a:r>
                      <a:endParaRPr sz="9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A</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B</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C</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D</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F</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G</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t>0,null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7</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1565" name="Google Shape;1565;p78"/>
          <p:cNvGrpSpPr/>
          <p:nvPr/>
        </p:nvGrpSpPr>
        <p:grpSpPr>
          <a:xfrm>
            <a:off x="6320467" y="1450631"/>
            <a:ext cx="2587231" cy="2330777"/>
            <a:chOff x="6244267" y="1458389"/>
            <a:chExt cx="2587231" cy="2330777"/>
          </a:xfrm>
        </p:grpSpPr>
        <p:sp>
          <p:nvSpPr>
            <p:cNvPr id="1566" name="Google Shape;1566;p78"/>
            <p:cNvSpPr/>
            <p:nvPr/>
          </p:nvSpPr>
          <p:spPr>
            <a:xfrm>
              <a:off x="6509073" y="1523331"/>
              <a:ext cx="420900" cy="420900"/>
            </a:xfrm>
            <a:prstGeom prst="ellipse">
              <a:avLst/>
            </a:prstGeom>
            <a:solidFill>
              <a:srgbClr val="FF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567" name="Google Shape;1567;p78"/>
            <p:cNvSpPr/>
            <p:nvPr/>
          </p:nvSpPr>
          <p:spPr>
            <a:xfrm>
              <a:off x="7357336" y="245907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568" name="Google Shape;1568;p78"/>
            <p:cNvSpPr/>
            <p:nvPr/>
          </p:nvSpPr>
          <p:spPr>
            <a:xfrm>
              <a:off x="6244267" y="249803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569" name="Google Shape;1569;p78"/>
            <p:cNvSpPr/>
            <p:nvPr/>
          </p:nvSpPr>
          <p:spPr>
            <a:xfrm>
              <a:off x="7828964" y="1523331"/>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570" name="Google Shape;1570;p78"/>
            <p:cNvSpPr/>
            <p:nvPr/>
          </p:nvSpPr>
          <p:spPr>
            <a:xfrm>
              <a:off x="8203274" y="3368266"/>
              <a:ext cx="420900" cy="420900"/>
            </a:xfrm>
            <a:prstGeom prst="ellipse">
              <a:avLst/>
            </a:prstGeom>
            <a:solidFill>
              <a:srgbClr val="00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571" name="Google Shape;1571;p78"/>
            <p:cNvSpPr/>
            <p:nvPr/>
          </p:nvSpPr>
          <p:spPr>
            <a:xfrm>
              <a:off x="8395346" y="2425277"/>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572" name="Google Shape;1572;p78"/>
            <p:cNvSpPr/>
            <p:nvPr/>
          </p:nvSpPr>
          <p:spPr>
            <a:xfrm>
              <a:off x="6990642" y="33682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573" name="Google Shape;1573;p78"/>
            <p:cNvCxnSpPr>
              <a:stCxn id="1566" idx="3"/>
              <a:endCxn id="1568" idx="0"/>
            </p:cNvCxnSpPr>
            <p:nvPr/>
          </p:nvCxnSpPr>
          <p:spPr>
            <a:xfrm flipH="1">
              <a:off x="6454613" y="1882592"/>
              <a:ext cx="116100" cy="615300"/>
            </a:xfrm>
            <a:prstGeom prst="straightConnector1">
              <a:avLst/>
            </a:prstGeom>
            <a:noFill/>
            <a:ln cap="flat" cmpd="sng" w="19050">
              <a:solidFill>
                <a:srgbClr val="000000"/>
              </a:solidFill>
              <a:prstDash val="solid"/>
              <a:round/>
              <a:headEnd len="med" w="med" type="none"/>
              <a:tailEnd len="med" w="med" type="none"/>
            </a:ln>
          </p:spPr>
        </p:cxnSp>
        <p:cxnSp>
          <p:nvCxnSpPr>
            <p:cNvPr id="1574" name="Google Shape;1574;p78"/>
            <p:cNvCxnSpPr>
              <a:stCxn id="1566" idx="6"/>
              <a:endCxn id="1569" idx="2"/>
            </p:cNvCxnSpPr>
            <p:nvPr/>
          </p:nvCxnSpPr>
          <p:spPr>
            <a:xfrm>
              <a:off x="6929973" y="1733781"/>
              <a:ext cx="899100" cy="0"/>
            </a:xfrm>
            <a:prstGeom prst="straightConnector1">
              <a:avLst/>
            </a:prstGeom>
            <a:noFill/>
            <a:ln cap="flat" cmpd="sng" w="19050">
              <a:solidFill>
                <a:srgbClr val="000000"/>
              </a:solidFill>
              <a:prstDash val="solid"/>
              <a:round/>
              <a:headEnd len="med" w="med" type="none"/>
              <a:tailEnd len="med" w="med" type="none"/>
            </a:ln>
          </p:spPr>
        </p:cxnSp>
        <p:cxnSp>
          <p:nvCxnSpPr>
            <p:cNvPr id="1575" name="Google Shape;1575;p78"/>
            <p:cNvCxnSpPr>
              <a:stCxn id="1566" idx="5"/>
              <a:endCxn id="1567" idx="1"/>
            </p:cNvCxnSpPr>
            <p:nvPr/>
          </p:nvCxnSpPr>
          <p:spPr>
            <a:xfrm>
              <a:off x="6868334" y="1882592"/>
              <a:ext cx="550500" cy="638100"/>
            </a:xfrm>
            <a:prstGeom prst="straightConnector1">
              <a:avLst/>
            </a:prstGeom>
            <a:noFill/>
            <a:ln cap="flat" cmpd="sng" w="19050">
              <a:solidFill>
                <a:srgbClr val="000000"/>
              </a:solidFill>
              <a:prstDash val="solid"/>
              <a:round/>
              <a:headEnd len="med" w="med" type="none"/>
              <a:tailEnd len="med" w="med" type="none"/>
            </a:ln>
          </p:spPr>
        </p:cxnSp>
        <p:cxnSp>
          <p:nvCxnSpPr>
            <p:cNvPr id="1576" name="Google Shape;1576;p78"/>
            <p:cNvCxnSpPr>
              <a:stCxn id="1567" idx="6"/>
              <a:endCxn id="1571" idx="2"/>
            </p:cNvCxnSpPr>
            <p:nvPr/>
          </p:nvCxnSpPr>
          <p:spPr>
            <a:xfrm flipH="1" rot="10800000">
              <a:off x="7778236" y="2635629"/>
              <a:ext cx="617100" cy="33900"/>
            </a:xfrm>
            <a:prstGeom prst="straightConnector1">
              <a:avLst/>
            </a:prstGeom>
            <a:noFill/>
            <a:ln cap="flat" cmpd="sng" w="19050">
              <a:solidFill>
                <a:srgbClr val="000000"/>
              </a:solidFill>
              <a:prstDash val="solid"/>
              <a:round/>
              <a:headEnd len="med" w="med" type="none"/>
              <a:tailEnd len="med" w="med" type="none"/>
            </a:ln>
          </p:spPr>
        </p:cxnSp>
        <p:cxnSp>
          <p:nvCxnSpPr>
            <p:cNvPr id="1577" name="Google Shape;1577;p78"/>
            <p:cNvCxnSpPr>
              <a:stCxn id="1571" idx="4"/>
              <a:endCxn id="1570" idx="7"/>
            </p:cNvCxnSpPr>
            <p:nvPr/>
          </p:nvCxnSpPr>
          <p:spPr>
            <a:xfrm flipH="1">
              <a:off x="8562596" y="2846177"/>
              <a:ext cx="43200" cy="583800"/>
            </a:xfrm>
            <a:prstGeom prst="straightConnector1">
              <a:avLst/>
            </a:prstGeom>
            <a:noFill/>
            <a:ln cap="flat" cmpd="sng" w="19050">
              <a:solidFill>
                <a:srgbClr val="000000"/>
              </a:solidFill>
              <a:prstDash val="solid"/>
              <a:round/>
              <a:headEnd len="med" w="med" type="none"/>
              <a:tailEnd len="med" w="med" type="none"/>
            </a:ln>
          </p:spPr>
        </p:cxnSp>
        <p:cxnSp>
          <p:nvCxnSpPr>
            <p:cNvPr id="1578" name="Google Shape;1578;p78"/>
            <p:cNvCxnSpPr>
              <a:stCxn id="1567" idx="3"/>
              <a:endCxn id="1572" idx="0"/>
            </p:cNvCxnSpPr>
            <p:nvPr/>
          </p:nvCxnSpPr>
          <p:spPr>
            <a:xfrm flipH="1">
              <a:off x="7201176" y="2818340"/>
              <a:ext cx="217800" cy="549900"/>
            </a:xfrm>
            <a:prstGeom prst="straightConnector1">
              <a:avLst/>
            </a:prstGeom>
            <a:noFill/>
            <a:ln cap="flat" cmpd="sng" w="19050">
              <a:solidFill>
                <a:srgbClr val="000000"/>
              </a:solidFill>
              <a:prstDash val="solid"/>
              <a:round/>
              <a:headEnd len="med" w="med" type="none"/>
              <a:tailEnd len="med" w="med" type="none"/>
            </a:ln>
          </p:spPr>
        </p:cxnSp>
        <p:cxnSp>
          <p:nvCxnSpPr>
            <p:cNvPr id="1579" name="Google Shape;1579;p78"/>
            <p:cNvCxnSpPr>
              <a:stCxn id="1572" idx="6"/>
              <a:endCxn id="1570" idx="2"/>
            </p:cNvCxnSpPr>
            <p:nvPr/>
          </p:nvCxnSpPr>
          <p:spPr>
            <a:xfrm>
              <a:off x="7411542" y="3578716"/>
              <a:ext cx="791700" cy="0"/>
            </a:xfrm>
            <a:prstGeom prst="straightConnector1">
              <a:avLst/>
            </a:prstGeom>
            <a:noFill/>
            <a:ln cap="flat" cmpd="sng" w="19050">
              <a:solidFill>
                <a:srgbClr val="000000"/>
              </a:solidFill>
              <a:prstDash val="solid"/>
              <a:round/>
              <a:headEnd len="med" w="med" type="none"/>
              <a:tailEnd len="med" w="med" type="none"/>
            </a:ln>
          </p:spPr>
        </p:cxnSp>
        <p:cxnSp>
          <p:nvCxnSpPr>
            <p:cNvPr id="1580" name="Google Shape;1580;p78"/>
            <p:cNvCxnSpPr>
              <a:stCxn id="1568" idx="6"/>
              <a:endCxn id="1567" idx="2"/>
            </p:cNvCxnSpPr>
            <p:nvPr/>
          </p:nvCxnSpPr>
          <p:spPr>
            <a:xfrm flipH="1" rot="10800000">
              <a:off x="6665167" y="2669489"/>
              <a:ext cx="692100" cy="39000"/>
            </a:xfrm>
            <a:prstGeom prst="straightConnector1">
              <a:avLst/>
            </a:prstGeom>
            <a:noFill/>
            <a:ln cap="flat" cmpd="sng" w="19050">
              <a:solidFill>
                <a:srgbClr val="000000"/>
              </a:solidFill>
              <a:prstDash val="solid"/>
              <a:round/>
              <a:headEnd len="med" w="med" type="none"/>
              <a:tailEnd len="med" w="med" type="none"/>
            </a:ln>
          </p:spPr>
        </p:cxnSp>
        <p:cxnSp>
          <p:nvCxnSpPr>
            <p:cNvPr id="1581" name="Google Shape;1581;p78"/>
            <p:cNvCxnSpPr>
              <a:stCxn id="1569" idx="5"/>
              <a:endCxn id="1571" idx="1"/>
            </p:cNvCxnSpPr>
            <p:nvPr/>
          </p:nvCxnSpPr>
          <p:spPr>
            <a:xfrm>
              <a:off x="8188225" y="1882592"/>
              <a:ext cx="268800" cy="604200"/>
            </a:xfrm>
            <a:prstGeom prst="straightConnector1">
              <a:avLst/>
            </a:prstGeom>
            <a:noFill/>
            <a:ln cap="flat" cmpd="sng" w="19050">
              <a:solidFill>
                <a:srgbClr val="000000"/>
              </a:solidFill>
              <a:prstDash val="solid"/>
              <a:round/>
              <a:headEnd len="med" w="med" type="none"/>
              <a:tailEnd len="med" w="med" type="none"/>
            </a:ln>
          </p:spPr>
        </p:cxnSp>
        <p:sp>
          <p:nvSpPr>
            <p:cNvPr id="1582" name="Google Shape;1582;p78"/>
            <p:cNvSpPr txBox="1"/>
            <p:nvPr/>
          </p:nvSpPr>
          <p:spPr>
            <a:xfrm>
              <a:off x="7133044" y="2031395"/>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583" name="Google Shape;1583;p78"/>
            <p:cNvSpPr txBox="1"/>
            <p:nvPr/>
          </p:nvSpPr>
          <p:spPr>
            <a:xfrm>
              <a:off x="7939499" y="2434622"/>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584" name="Google Shape;1584;p78"/>
            <p:cNvSpPr txBox="1"/>
            <p:nvPr/>
          </p:nvSpPr>
          <p:spPr>
            <a:xfrm>
              <a:off x="8562397" y="3016215"/>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85" name="Google Shape;1585;p78"/>
            <p:cNvSpPr txBox="1"/>
            <p:nvPr/>
          </p:nvSpPr>
          <p:spPr>
            <a:xfrm>
              <a:off x="6244268" y="206847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586" name="Google Shape;1586;p78"/>
            <p:cNvSpPr txBox="1"/>
            <p:nvPr/>
          </p:nvSpPr>
          <p:spPr>
            <a:xfrm>
              <a:off x="6829493" y="245907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587" name="Google Shape;1587;p78"/>
            <p:cNvSpPr txBox="1"/>
            <p:nvPr/>
          </p:nvSpPr>
          <p:spPr>
            <a:xfrm>
              <a:off x="7090026" y="291366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88" name="Google Shape;1588;p78"/>
            <p:cNvSpPr txBox="1"/>
            <p:nvPr/>
          </p:nvSpPr>
          <p:spPr>
            <a:xfrm>
              <a:off x="7672836" y="335015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89" name="Google Shape;1589;p78"/>
            <p:cNvSpPr txBox="1"/>
            <p:nvPr/>
          </p:nvSpPr>
          <p:spPr>
            <a:xfrm>
              <a:off x="8293350" y="1948966"/>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590" name="Google Shape;1590;p78"/>
            <p:cNvSpPr txBox="1"/>
            <p:nvPr/>
          </p:nvSpPr>
          <p:spPr>
            <a:xfrm>
              <a:off x="7280291" y="1458389"/>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591" name="Google Shape;1591;p78"/>
            <p:cNvCxnSpPr>
              <a:stCxn id="1568" idx="5"/>
              <a:endCxn id="1572" idx="1"/>
            </p:cNvCxnSpPr>
            <p:nvPr/>
          </p:nvCxnSpPr>
          <p:spPr>
            <a:xfrm>
              <a:off x="6603527" y="2857299"/>
              <a:ext cx="448800" cy="572700"/>
            </a:xfrm>
            <a:prstGeom prst="straightConnector1">
              <a:avLst/>
            </a:prstGeom>
            <a:noFill/>
            <a:ln cap="flat" cmpd="sng" w="19050">
              <a:solidFill>
                <a:srgbClr val="000000"/>
              </a:solidFill>
              <a:prstDash val="solid"/>
              <a:round/>
              <a:headEnd len="med" w="med" type="none"/>
              <a:tailEnd len="med" w="med" type="none"/>
            </a:ln>
          </p:spPr>
        </p:cxnSp>
        <p:sp>
          <p:nvSpPr>
            <p:cNvPr id="1592" name="Google Shape;1592;p78"/>
            <p:cNvSpPr txBox="1"/>
            <p:nvPr/>
          </p:nvSpPr>
          <p:spPr>
            <a:xfrm>
              <a:off x="6617098" y="3091012"/>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aphicFrame>
        <p:nvGraphicFramePr>
          <p:cNvPr id="1593" name="Google Shape;1593;p78"/>
          <p:cNvGraphicFramePr/>
          <p:nvPr/>
        </p:nvGraphicFramePr>
        <p:xfrm>
          <a:off x="6182463" y="4322617"/>
          <a:ext cx="3000000" cy="3000000"/>
        </p:xfrm>
        <a:graphic>
          <a:graphicData uri="http://schemas.openxmlformats.org/drawingml/2006/table">
            <a:tbl>
              <a:tblPr>
                <a:noFill/>
                <a:tableStyleId>{89CCAE03-A2B2-4379-B0C2-E101A7E113D6}</a:tableStyleId>
              </a:tblPr>
              <a:tblGrid>
                <a:gridCol w="715800"/>
                <a:gridCol w="715800"/>
                <a:gridCol w="715800"/>
                <a:gridCol w="715800"/>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594" name="Google Shape;1594;p78"/>
          <p:cNvSpPr txBox="1"/>
          <p:nvPr/>
        </p:nvSpPr>
        <p:spPr>
          <a:xfrm>
            <a:off x="6182472" y="3922417"/>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Path A -&gt; E</a:t>
            </a:r>
            <a:endParaRPr>
              <a:solidFill>
                <a:srgbClr val="4A86E8"/>
              </a:solidFill>
              <a:latin typeface="Consolas"/>
              <a:ea typeface="Consolas"/>
              <a:cs typeface="Consolas"/>
              <a:sym typeface="Consolas"/>
            </a:endParaRPr>
          </a:p>
        </p:txBody>
      </p:sp>
      <p:sp>
        <p:nvSpPr>
          <p:cNvPr id="1595" name="Google Shape;1595;p78"/>
          <p:cNvSpPr txBox="1"/>
          <p:nvPr/>
        </p:nvSpPr>
        <p:spPr>
          <a:xfrm>
            <a:off x="1620025" y="2249092"/>
            <a:ext cx="339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596" name="Google Shape;1596;p78"/>
          <p:cNvSpPr txBox="1"/>
          <p:nvPr/>
        </p:nvSpPr>
        <p:spPr>
          <a:xfrm>
            <a:off x="2201976" y="2256167"/>
            <a:ext cx="418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Shadows Into Light"/>
                <a:ea typeface="Shadows Into Light"/>
                <a:cs typeface="Shadows Into Light"/>
                <a:sym typeface="Shadows Into Light"/>
              </a:rPr>
              <a:t>6, A</a:t>
            </a:r>
            <a:endParaRPr sz="2000">
              <a:solidFill>
                <a:srgbClr val="FF0000"/>
              </a:solidFill>
              <a:latin typeface="Shadows Into Light"/>
              <a:ea typeface="Shadows Into Light"/>
              <a:cs typeface="Shadows Into Light"/>
              <a:sym typeface="Shadows Into Light"/>
            </a:endParaRPr>
          </a:p>
        </p:txBody>
      </p:sp>
      <p:sp>
        <p:nvSpPr>
          <p:cNvPr id="1597" name="Google Shape;1597;p78"/>
          <p:cNvSpPr txBox="1"/>
          <p:nvPr/>
        </p:nvSpPr>
        <p:spPr>
          <a:xfrm>
            <a:off x="2902797" y="2249092"/>
            <a:ext cx="339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Shadows Into Light"/>
                <a:ea typeface="Shadows Into Light"/>
                <a:cs typeface="Shadows Into Light"/>
                <a:sym typeface="Shadows Into Light"/>
              </a:rPr>
              <a:t>1, A</a:t>
            </a:r>
            <a:endParaRPr sz="2000">
              <a:solidFill>
                <a:srgbClr val="FF0000"/>
              </a:solidFill>
              <a:latin typeface="Shadows Into Light"/>
              <a:ea typeface="Shadows Into Light"/>
              <a:cs typeface="Shadows Into Light"/>
              <a:sym typeface="Shadows Into Light"/>
            </a:endParaRPr>
          </a:p>
        </p:txBody>
      </p:sp>
      <p:sp>
        <p:nvSpPr>
          <p:cNvPr id="1598" name="Google Shape;1598;p78"/>
          <p:cNvSpPr txBox="1"/>
          <p:nvPr/>
        </p:nvSpPr>
        <p:spPr>
          <a:xfrm>
            <a:off x="3524425" y="2249092"/>
            <a:ext cx="418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Shadows Into Light"/>
                <a:ea typeface="Shadows Into Light"/>
                <a:cs typeface="Shadows Into Light"/>
                <a:sym typeface="Shadows Into Light"/>
              </a:rPr>
              <a:t>2, A</a:t>
            </a:r>
            <a:endParaRPr sz="2000">
              <a:solidFill>
                <a:srgbClr val="FF0000"/>
              </a:solidFill>
              <a:latin typeface="Shadows Into Light"/>
              <a:ea typeface="Shadows Into Light"/>
              <a:cs typeface="Shadows Into Light"/>
              <a:sym typeface="Shadows Into Light"/>
            </a:endParaRPr>
          </a:p>
        </p:txBody>
      </p:sp>
      <p:sp>
        <p:nvSpPr>
          <p:cNvPr id="1599" name="Google Shape;1599;p78"/>
          <p:cNvSpPr txBox="1"/>
          <p:nvPr/>
        </p:nvSpPr>
        <p:spPr>
          <a:xfrm>
            <a:off x="2201976" y="2637167"/>
            <a:ext cx="418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Shadows Into Light"/>
                <a:ea typeface="Shadows Into Light"/>
                <a:cs typeface="Shadows Into Light"/>
                <a:sym typeface="Shadows Into Light"/>
              </a:rPr>
              <a:t>3, C</a:t>
            </a:r>
            <a:endParaRPr sz="2000">
              <a:solidFill>
                <a:srgbClr val="FF0000"/>
              </a:solidFill>
              <a:latin typeface="Shadows Into Light"/>
              <a:ea typeface="Shadows Into Light"/>
              <a:cs typeface="Shadows Into Light"/>
              <a:sym typeface="Shadows Into Light"/>
            </a:endParaRPr>
          </a:p>
        </p:txBody>
      </p:sp>
      <p:sp>
        <p:nvSpPr>
          <p:cNvPr id="1600" name="Google Shape;1600;p78"/>
          <p:cNvSpPr txBox="1"/>
          <p:nvPr/>
        </p:nvSpPr>
        <p:spPr>
          <a:xfrm>
            <a:off x="5494092" y="2644925"/>
            <a:ext cx="418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Shadows Into Light"/>
                <a:ea typeface="Shadows Into Light"/>
                <a:cs typeface="Shadows Into Light"/>
                <a:sym typeface="Shadows Into Light"/>
              </a:rPr>
              <a:t>6, C</a:t>
            </a:r>
            <a:endParaRPr sz="2000">
              <a:solidFill>
                <a:srgbClr val="FF0000"/>
              </a:solidFill>
              <a:latin typeface="Shadows Into Light"/>
              <a:ea typeface="Shadows Into Light"/>
              <a:cs typeface="Shadows Into Light"/>
              <a:sym typeface="Shadows Into Light"/>
            </a:endParaRPr>
          </a:p>
        </p:txBody>
      </p:sp>
      <p:sp>
        <p:nvSpPr>
          <p:cNvPr id="1601" name="Google Shape;1601;p78"/>
          <p:cNvSpPr txBox="1"/>
          <p:nvPr/>
        </p:nvSpPr>
        <p:spPr>
          <a:xfrm>
            <a:off x="2923183" y="2644229"/>
            <a:ext cx="339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2" name="Google Shape;1602;p78"/>
          <p:cNvSpPr txBox="1"/>
          <p:nvPr/>
        </p:nvSpPr>
        <p:spPr>
          <a:xfrm>
            <a:off x="3602815" y="3033916"/>
            <a:ext cx="339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3" name="Google Shape;1603;p78"/>
          <p:cNvSpPr txBox="1"/>
          <p:nvPr/>
        </p:nvSpPr>
        <p:spPr>
          <a:xfrm>
            <a:off x="4868983" y="3033917"/>
            <a:ext cx="418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Shadows Into Light"/>
                <a:ea typeface="Shadows Into Light"/>
                <a:cs typeface="Shadows Into Light"/>
                <a:sym typeface="Shadows Into Light"/>
              </a:rPr>
              <a:t>9, D</a:t>
            </a:r>
            <a:endParaRPr sz="2000">
              <a:solidFill>
                <a:srgbClr val="FF0000"/>
              </a:solidFill>
              <a:latin typeface="Shadows Into Light"/>
              <a:ea typeface="Shadows Into Light"/>
              <a:cs typeface="Shadows Into Light"/>
              <a:sym typeface="Shadows Into Light"/>
            </a:endParaRPr>
          </a:p>
        </p:txBody>
      </p:sp>
      <p:sp>
        <p:nvSpPr>
          <p:cNvPr id="1604" name="Google Shape;1604;p78"/>
          <p:cNvSpPr txBox="1"/>
          <p:nvPr/>
        </p:nvSpPr>
        <p:spPr>
          <a:xfrm>
            <a:off x="4868975" y="3422441"/>
            <a:ext cx="418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Shadows Into Light"/>
                <a:ea typeface="Shadows Into Light"/>
                <a:cs typeface="Shadows Into Light"/>
                <a:sym typeface="Shadows Into Light"/>
              </a:rPr>
              <a:t>8, B</a:t>
            </a:r>
            <a:endParaRPr sz="2000">
              <a:solidFill>
                <a:srgbClr val="FF0000"/>
              </a:solidFill>
              <a:latin typeface="Shadows Into Light"/>
              <a:ea typeface="Shadows Into Light"/>
              <a:cs typeface="Shadows Into Light"/>
              <a:sym typeface="Shadows Into Light"/>
            </a:endParaRPr>
          </a:p>
        </p:txBody>
      </p:sp>
      <p:sp>
        <p:nvSpPr>
          <p:cNvPr id="1605" name="Google Shape;1605;p78"/>
          <p:cNvSpPr txBox="1"/>
          <p:nvPr/>
        </p:nvSpPr>
        <p:spPr>
          <a:xfrm>
            <a:off x="2288923" y="3422441"/>
            <a:ext cx="339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6" name="Google Shape;1606;p78"/>
          <p:cNvSpPr txBox="1"/>
          <p:nvPr/>
        </p:nvSpPr>
        <p:spPr>
          <a:xfrm>
            <a:off x="4190941" y="3834707"/>
            <a:ext cx="418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Shadows Into Light"/>
                <a:ea typeface="Shadows Into Light"/>
                <a:cs typeface="Shadows Into Light"/>
                <a:sym typeface="Shadows Into Light"/>
              </a:rPr>
              <a:t>10, G</a:t>
            </a:r>
            <a:endParaRPr sz="2000">
              <a:solidFill>
                <a:srgbClr val="FF0000"/>
              </a:solidFill>
              <a:latin typeface="Shadows Into Light"/>
              <a:ea typeface="Shadows Into Light"/>
              <a:cs typeface="Shadows Into Light"/>
              <a:sym typeface="Shadows Into Light"/>
            </a:endParaRPr>
          </a:p>
        </p:txBody>
      </p:sp>
      <p:sp>
        <p:nvSpPr>
          <p:cNvPr id="1607" name="Google Shape;1607;p78"/>
          <p:cNvSpPr txBox="1"/>
          <p:nvPr/>
        </p:nvSpPr>
        <p:spPr>
          <a:xfrm>
            <a:off x="5533698" y="3834716"/>
            <a:ext cx="339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8" name="Google Shape;1608;p78"/>
          <p:cNvSpPr txBox="1"/>
          <p:nvPr/>
        </p:nvSpPr>
        <p:spPr>
          <a:xfrm>
            <a:off x="4894445" y="4231232"/>
            <a:ext cx="339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9" name="Google Shape;1609;p78"/>
          <p:cNvSpPr txBox="1"/>
          <p:nvPr/>
        </p:nvSpPr>
        <p:spPr>
          <a:xfrm>
            <a:off x="4231919" y="4635505"/>
            <a:ext cx="339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10" name="Google Shape;1610;p78"/>
          <p:cNvSpPr txBox="1"/>
          <p:nvPr/>
        </p:nvSpPr>
        <p:spPr>
          <a:xfrm>
            <a:off x="8431766" y="437456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611" name="Google Shape;1611;p78"/>
          <p:cNvSpPr txBox="1"/>
          <p:nvPr/>
        </p:nvSpPr>
        <p:spPr>
          <a:xfrm>
            <a:off x="7745966" y="436680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612" name="Google Shape;1612;p78"/>
          <p:cNvSpPr txBox="1"/>
          <p:nvPr/>
        </p:nvSpPr>
        <p:spPr>
          <a:xfrm>
            <a:off x="7060166" y="436680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613" name="Google Shape;1613;p78"/>
          <p:cNvSpPr txBox="1"/>
          <p:nvPr/>
        </p:nvSpPr>
        <p:spPr>
          <a:xfrm>
            <a:off x="6374366" y="436680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614" name="Google Shape;1614;p78"/>
          <p:cNvSpPr txBox="1"/>
          <p:nvPr/>
        </p:nvSpPr>
        <p:spPr>
          <a:xfrm>
            <a:off x="7327166" y="476500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10</a:t>
            </a:r>
            <a:endParaRPr sz="2000">
              <a:solidFill>
                <a:srgbClr val="FF0000"/>
              </a:solidFill>
              <a:latin typeface="Shadows Into Light"/>
              <a:ea typeface="Shadows Into Light"/>
              <a:cs typeface="Shadows Into Light"/>
              <a:sym typeface="Shadows Into Light"/>
            </a:endParaRPr>
          </a:p>
        </p:txBody>
      </p:sp>
      <p:sp>
        <p:nvSpPr>
          <p:cNvPr id="1615" name="Google Shape;1615;p78"/>
          <p:cNvSpPr txBox="1"/>
          <p:nvPr/>
        </p:nvSpPr>
        <p:spPr>
          <a:xfrm>
            <a:off x="906576" y="225616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616" name="Google Shape;1616;p78"/>
          <p:cNvSpPr txBox="1"/>
          <p:nvPr/>
        </p:nvSpPr>
        <p:spPr>
          <a:xfrm>
            <a:off x="906576" y="263716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617" name="Google Shape;1617;p78"/>
          <p:cNvSpPr txBox="1"/>
          <p:nvPr/>
        </p:nvSpPr>
        <p:spPr>
          <a:xfrm>
            <a:off x="906576" y="305557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618" name="Google Shape;1618;p78"/>
          <p:cNvSpPr txBox="1"/>
          <p:nvPr/>
        </p:nvSpPr>
        <p:spPr>
          <a:xfrm>
            <a:off x="906576" y="343657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619" name="Google Shape;1619;p78"/>
          <p:cNvSpPr txBox="1"/>
          <p:nvPr/>
        </p:nvSpPr>
        <p:spPr>
          <a:xfrm>
            <a:off x="906576" y="381757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620" name="Google Shape;1620;p78"/>
          <p:cNvSpPr txBox="1"/>
          <p:nvPr/>
        </p:nvSpPr>
        <p:spPr>
          <a:xfrm>
            <a:off x="906576" y="4243746"/>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621" name="Google Shape;1621;p78"/>
          <p:cNvSpPr txBox="1"/>
          <p:nvPr/>
        </p:nvSpPr>
        <p:spPr>
          <a:xfrm>
            <a:off x="906576" y="4624746"/>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15"/>
                                        </p:tgtEl>
                                        <p:attrNameLst>
                                          <p:attrName>style.visibility</p:attrName>
                                        </p:attrNameLst>
                                      </p:cBhvr>
                                      <p:to>
                                        <p:strVal val="visible"/>
                                      </p:to>
                                    </p:set>
                                    <p:animEffect filter="fade" transition="in">
                                      <p:cBhvr>
                                        <p:cTn dur="1000"/>
                                        <p:tgtEl>
                                          <p:spTgt spid="161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96"/>
                                        </p:tgtEl>
                                        <p:attrNameLst>
                                          <p:attrName>style.visibility</p:attrName>
                                        </p:attrNameLst>
                                      </p:cBhvr>
                                      <p:to>
                                        <p:strVal val="visible"/>
                                      </p:to>
                                    </p:set>
                                    <p:animEffect filter="fade" transition="in">
                                      <p:cBhvr>
                                        <p:cTn dur="1000"/>
                                        <p:tgtEl>
                                          <p:spTgt spid="159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97"/>
                                        </p:tgtEl>
                                        <p:attrNameLst>
                                          <p:attrName>style.visibility</p:attrName>
                                        </p:attrNameLst>
                                      </p:cBhvr>
                                      <p:to>
                                        <p:strVal val="visible"/>
                                      </p:to>
                                    </p:set>
                                    <p:animEffect filter="fade" transition="in">
                                      <p:cBhvr>
                                        <p:cTn dur="1000"/>
                                        <p:tgtEl>
                                          <p:spTgt spid="159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98"/>
                                        </p:tgtEl>
                                        <p:attrNameLst>
                                          <p:attrName>style.visibility</p:attrName>
                                        </p:attrNameLst>
                                      </p:cBhvr>
                                      <p:to>
                                        <p:strVal val="visible"/>
                                      </p:to>
                                    </p:set>
                                    <p:animEffect filter="fade" transition="in">
                                      <p:cBhvr>
                                        <p:cTn dur="1000"/>
                                        <p:tgtEl>
                                          <p:spTgt spid="159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595"/>
                                        </p:tgtEl>
                                        <p:attrNameLst>
                                          <p:attrName>style.visibility</p:attrName>
                                        </p:attrNameLst>
                                      </p:cBhvr>
                                      <p:to>
                                        <p:strVal val="visible"/>
                                      </p:to>
                                    </p:set>
                                    <p:animEffect filter="fade" transition="in">
                                      <p:cBhvr>
                                        <p:cTn dur="1000"/>
                                        <p:tgtEl>
                                          <p:spTgt spid="1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6"/>
                                        </p:tgtEl>
                                        <p:attrNameLst>
                                          <p:attrName>style.visibility</p:attrName>
                                        </p:attrNameLst>
                                      </p:cBhvr>
                                      <p:to>
                                        <p:strVal val="visible"/>
                                      </p:to>
                                    </p:set>
                                    <p:animEffect filter="fade" transition="in">
                                      <p:cBhvr>
                                        <p:cTn dur="1000"/>
                                        <p:tgtEl>
                                          <p:spTgt spid="16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99"/>
                                        </p:tgtEl>
                                        <p:attrNameLst>
                                          <p:attrName>style.visibility</p:attrName>
                                        </p:attrNameLst>
                                      </p:cBhvr>
                                      <p:to>
                                        <p:strVal val="visible"/>
                                      </p:to>
                                    </p:set>
                                    <p:animEffect filter="fade" transition="in">
                                      <p:cBhvr>
                                        <p:cTn dur="1000"/>
                                        <p:tgtEl>
                                          <p:spTgt spid="159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00"/>
                                        </p:tgtEl>
                                        <p:attrNameLst>
                                          <p:attrName>style.visibility</p:attrName>
                                        </p:attrNameLst>
                                      </p:cBhvr>
                                      <p:to>
                                        <p:strVal val="visible"/>
                                      </p:to>
                                    </p:set>
                                    <p:animEffect filter="fade" transition="in">
                                      <p:cBhvr>
                                        <p:cTn dur="1000"/>
                                        <p:tgtEl>
                                          <p:spTgt spid="160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601"/>
                                        </p:tgtEl>
                                        <p:attrNameLst>
                                          <p:attrName>style.visibility</p:attrName>
                                        </p:attrNameLst>
                                      </p:cBhvr>
                                      <p:to>
                                        <p:strVal val="visible"/>
                                      </p:to>
                                    </p:set>
                                    <p:animEffect filter="fade" transition="in">
                                      <p:cBhvr>
                                        <p:cTn dur="1000"/>
                                        <p:tgtEl>
                                          <p:spTgt spid="1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1000"/>
                                        <p:tgtEl>
                                          <p:spTgt spid="16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3"/>
                                        </p:tgtEl>
                                        <p:attrNameLst>
                                          <p:attrName>style.visibility</p:attrName>
                                        </p:attrNameLst>
                                      </p:cBhvr>
                                      <p:to>
                                        <p:strVal val="visible"/>
                                      </p:to>
                                    </p:set>
                                    <p:animEffect filter="fade" transition="in">
                                      <p:cBhvr>
                                        <p:cTn dur="1000"/>
                                        <p:tgtEl>
                                          <p:spTgt spid="160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02"/>
                                        </p:tgtEl>
                                        <p:attrNameLst>
                                          <p:attrName>style.visibility</p:attrName>
                                        </p:attrNameLst>
                                      </p:cBhvr>
                                      <p:to>
                                        <p:strVal val="visible"/>
                                      </p:to>
                                    </p:set>
                                    <p:animEffect filter="fade" transition="in">
                                      <p:cBhvr>
                                        <p:cTn dur="1000"/>
                                        <p:tgtEl>
                                          <p:spTgt spid="1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1000"/>
                                        <p:tgtEl>
                                          <p:spTgt spid="16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4"/>
                                        </p:tgtEl>
                                        <p:attrNameLst>
                                          <p:attrName>style.visibility</p:attrName>
                                        </p:attrNameLst>
                                      </p:cBhvr>
                                      <p:to>
                                        <p:strVal val="visible"/>
                                      </p:to>
                                    </p:set>
                                    <p:animEffect filter="fade" transition="in">
                                      <p:cBhvr>
                                        <p:cTn dur="1000"/>
                                        <p:tgtEl>
                                          <p:spTgt spid="160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05"/>
                                        </p:tgtEl>
                                        <p:attrNameLst>
                                          <p:attrName>style.visibility</p:attrName>
                                        </p:attrNameLst>
                                      </p:cBhvr>
                                      <p:to>
                                        <p:strVal val="visible"/>
                                      </p:to>
                                    </p:set>
                                    <p:animEffect filter="fade" transition="in">
                                      <p:cBhvr>
                                        <p:cTn dur="1000"/>
                                        <p:tgtEl>
                                          <p:spTgt spid="1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9"/>
                                        </p:tgtEl>
                                        <p:attrNameLst>
                                          <p:attrName>style.visibility</p:attrName>
                                        </p:attrNameLst>
                                      </p:cBhvr>
                                      <p:to>
                                        <p:strVal val="visible"/>
                                      </p:to>
                                    </p:set>
                                    <p:animEffect filter="fade" transition="in">
                                      <p:cBhvr>
                                        <p:cTn dur="1000"/>
                                        <p:tgtEl>
                                          <p:spTgt spid="16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6"/>
                                        </p:tgtEl>
                                        <p:attrNameLst>
                                          <p:attrName>style.visibility</p:attrName>
                                        </p:attrNameLst>
                                      </p:cBhvr>
                                      <p:to>
                                        <p:strVal val="visible"/>
                                      </p:to>
                                    </p:set>
                                    <p:animEffect filter="fade" transition="in">
                                      <p:cBhvr>
                                        <p:cTn dur="1000"/>
                                        <p:tgtEl>
                                          <p:spTgt spid="160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07"/>
                                        </p:tgtEl>
                                        <p:attrNameLst>
                                          <p:attrName>style.visibility</p:attrName>
                                        </p:attrNameLst>
                                      </p:cBhvr>
                                      <p:to>
                                        <p:strVal val="visible"/>
                                      </p:to>
                                    </p:set>
                                    <p:animEffect filter="fade" transition="in">
                                      <p:cBhvr>
                                        <p:cTn dur="1000"/>
                                        <p:tgtEl>
                                          <p:spTgt spid="1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0"/>
                                        </p:tgtEl>
                                        <p:attrNameLst>
                                          <p:attrName>style.visibility</p:attrName>
                                        </p:attrNameLst>
                                      </p:cBhvr>
                                      <p:to>
                                        <p:strVal val="visible"/>
                                      </p:to>
                                    </p:set>
                                    <p:animEffect filter="fade" transition="in">
                                      <p:cBhvr>
                                        <p:cTn dur="1000"/>
                                        <p:tgtEl>
                                          <p:spTgt spid="162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8"/>
                                        </p:tgtEl>
                                        <p:attrNameLst>
                                          <p:attrName>style.visibility</p:attrName>
                                        </p:attrNameLst>
                                      </p:cBhvr>
                                      <p:to>
                                        <p:strVal val="visible"/>
                                      </p:to>
                                    </p:set>
                                    <p:animEffect filter="fade" transition="in">
                                      <p:cBhvr>
                                        <p:cTn dur="1000"/>
                                        <p:tgtEl>
                                          <p:spTgt spid="1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1000"/>
                                        <p:tgtEl>
                                          <p:spTgt spid="16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9"/>
                                        </p:tgtEl>
                                        <p:attrNameLst>
                                          <p:attrName>style.visibility</p:attrName>
                                        </p:attrNameLst>
                                      </p:cBhvr>
                                      <p:to>
                                        <p:strVal val="visible"/>
                                      </p:to>
                                    </p:set>
                                    <p:animEffect filter="fade" transition="in">
                                      <p:cBhvr>
                                        <p:cTn dur="1000"/>
                                        <p:tgtEl>
                                          <p:spTgt spid="16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0"/>
                                        </p:tgtEl>
                                        <p:attrNameLst>
                                          <p:attrName>style.visibility</p:attrName>
                                        </p:attrNameLst>
                                      </p:cBhvr>
                                      <p:to>
                                        <p:strVal val="visible"/>
                                      </p:to>
                                    </p:set>
                                    <p:animEffect filter="fade" transition="in">
                                      <p:cBhvr>
                                        <p:cTn dur="1000"/>
                                        <p:tgtEl>
                                          <p:spTgt spid="16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14"/>
                                        </p:tgtEl>
                                        <p:attrNameLst>
                                          <p:attrName>style.visibility</p:attrName>
                                        </p:attrNameLst>
                                      </p:cBhvr>
                                      <p:to>
                                        <p:strVal val="visible"/>
                                      </p:to>
                                    </p:set>
                                    <p:animEffect filter="fade" transition="in">
                                      <p:cBhvr>
                                        <p:cTn dur="1000"/>
                                        <p:tgtEl>
                                          <p:spTgt spid="1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1"/>
                                        </p:tgtEl>
                                        <p:attrNameLst>
                                          <p:attrName>style.visibility</p:attrName>
                                        </p:attrNameLst>
                                      </p:cBhvr>
                                      <p:to>
                                        <p:strVal val="visible"/>
                                      </p:to>
                                    </p:set>
                                    <p:animEffect filter="fade" transition="in">
                                      <p:cBhvr>
                                        <p:cTn dur="1000"/>
                                        <p:tgtEl>
                                          <p:spTgt spid="16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12"/>
                                        </p:tgtEl>
                                        <p:attrNameLst>
                                          <p:attrName>style.visibility</p:attrName>
                                        </p:attrNameLst>
                                      </p:cBhvr>
                                      <p:to>
                                        <p:strVal val="visible"/>
                                      </p:to>
                                    </p:set>
                                    <p:animEffect filter="fade" transition="in">
                                      <p:cBhvr>
                                        <p:cTn dur="1000"/>
                                        <p:tgtEl>
                                          <p:spTgt spid="161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13"/>
                                        </p:tgtEl>
                                        <p:attrNameLst>
                                          <p:attrName>style.visibility</p:attrName>
                                        </p:attrNameLst>
                                      </p:cBhvr>
                                      <p:to>
                                        <p:strVal val="visible"/>
                                      </p:to>
                                    </p:set>
                                    <p:animEffect filter="fade" transition="in">
                                      <p:cBhvr>
                                        <p:cTn dur="1000"/>
                                        <p:tgtEl>
                                          <p:spTgt spid="16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5" name="Shape 1625"/>
        <p:cNvGrpSpPr/>
        <p:nvPr/>
      </p:nvGrpSpPr>
      <p:grpSpPr>
        <a:xfrm>
          <a:off x="0" y="0"/>
          <a:ext cx="0" cy="0"/>
          <a:chOff x="0" y="0"/>
          <a:chExt cx="0" cy="0"/>
        </a:xfrm>
      </p:grpSpPr>
      <p:sp>
        <p:nvSpPr>
          <p:cNvPr id="1626" name="Google Shape;1626;p79"/>
          <p:cNvSpPr txBox="1"/>
          <p:nvPr/>
        </p:nvSpPr>
        <p:spPr>
          <a:xfrm>
            <a:off x="5953872" y="4345575"/>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627" name="Google Shape;1627;p7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Dijkstra’s Shortest Path Diagram</a:t>
            </a:r>
            <a:endParaRPr/>
          </a:p>
        </p:txBody>
      </p:sp>
      <p:sp>
        <p:nvSpPr>
          <p:cNvPr id="1628" name="Google Shape;1628;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629" name="Google Shape;1629;p79"/>
          <p:cNvGraphicFramePr/>
          <p:nvPr/>
        </p:nvGraphicFramePr>
        <p:xfrm>
          <a:off x="354350" y="1019050"/>
          <a:ext cx="3000000" cy="3000000"/>
        </p:xfrm>
        <a:graphic>
          <a:graphicData uri="http://schemas.openxmlformats.org/drawingml/2006/table">
            <a:tbl>
              <a:tblPr>
                <a:noFill/>
                <a:tableStyleId>{89CCAE03-A2B2-4379-B0C2-E101A7E113D6}</a:tableStyleId>
              </a:tblPr>
              <a:tblGrid>
                <a:gridCol w="654950"/>
                <a:gridCol w="654950"/>
                <a:gridCol w="654950"/>
                <a:gridCol w="654950"/>
                <a:gridCol w="654950"/>
                <a:gridCol w="654950"/>
                <a:gridCol w="654950"/>
                <a:gridCol w="654950"/>
              </a:tblGrid>
              <a:tr h="409125">
                <a:tc>
                  <a:txBody>
                    <a:bodyPr/>
                    <a:lstStyle/>
                    <a:p>
                      <a:pPr indent="0" lvl="0" marL="0" rtl="0" algn="ctr">
                        <a:spcBef>
                          <a:spcPts val="0"/>
                        </a:spcBef>
                        <a:spcAft>
                          <a:spcPts val="0"/>
                        </a:spcAft>
                        <a:buNone/>
                      </a:pPr>
                      <a:r>
                        <a:rPr lang="en" sz="1000">
                          <a:solidFill>
                            <a:srgbClr val="FFFFFF"/>
                          </a:solidFill>
                        </a:rPr>
                        <a:t>Iteration</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900">
                          <a:solidFill>
                            <a:srgbClr val="FFFFFF"/>
                          </a:solidFill>
                        </a:rPr>
                        <a:t>Finalized Vertex</a:t>
                      </a:r>
                      <a:endParaRPr sz="9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A</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B</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C</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D</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F</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t>0/null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7</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630" name="Google Shape;1630;p79"/>
          <p:cNvGraphicFramePr/>
          <p:nvPr/>
        </p:nvGraphicFramePr>
        <p:xfrm>
          <a:off x="5953863" y="3949375"/>
          <a:ext cx="3000000" cy="3000000"/>
        </p:xfrm>
        <a:graphic>
          <a:graphicData uri="http://schemas.openxmlformats.org/drawingml/2006/table">
            <a:tbl>
              <a:tblPr>
                <a:noFill/>
                <a:tableStyleId>{89CCAE03-A2B2-4379-B0C2-E101A7E113D6}</a:tableStyleId>
              </a:tblPr>
              <a:tblGrid>
                <a:gridCol w="715800"/>
                <a:gridCol w="715800"/>
                <a:gridCol w="715800"/>
                <a:gridCol w="715800"/>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631" name="Google Shape;1631;p79"/>
          <p:cNvSpPr txBox="1"/>
          <p:nvPr/>
        </p:nvSpPr>
        <p:spPr>
          <a:xfrm>
            <a:off x="5953872" y="3549175"/>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Path A -&gt; D</a:t>
            </a:r>
            <a:endParaRPr>
              <a:solidFill>
                <a:srgbClr val="4A86E8"/>
              </a:solidFill>
              <a:latin typeface="Consolas"/>
              <a:ea typeface="Consolas"/>
              <a:cs typeface="Consolas"/>
              <a:sym typeface="Consolas"/>
            </a:endParaRPr>
          </a:p>
        </p:txBody>
      </p:sp>
      <p:grpSp>
        <p:nvGrpSpPr>
          <p:cNvPr id="1632" name="Google Shape;1632;p79"/>
          <p:cNvGrpSpPr/>
          <p:nvPr/>
        </p:nvGrpSpPr>
        <p:grpSpPr>
          <a:xfrm>
            <a:off x="6091867" y="1077400"/>
            <a:ext cx="2571979" cy="2246554"/>
            <a:chOff x="6244267" y="1458400"/>
            <a:chExt cx="2571979" cy="2246554"/>
          </a:xfrm>
        </p:grpSpPr>
        <p:sp>
          <p:nvSpPr>
            <p:cNvPr id="1633" name="Google Shape;1633;p79"/>
            <p:cNvSpPr/>
            <p:nvPr/>
          </p:nvSpPr>
          <p:spPr>
            <a:xfrm>
              <a:off x="6509073" y="1523331"/>
              <a:ext cx="420900" cy="420900"/>
            </a:xfrm>
            <a:prstGeom prst="ellipse">
              <a:avLst/>
            </a:prstGeom>
            <a:solidFill>
              <a:srgbClr val="FF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634" name="Google Shape;1634;p79"/>
            <p:cNvSpPr/>
            <p:nvPr/>
          </p:nvSpPr>
          <p:spPr>
            <a:xfrm>
              <a:off x="7357336" y="245907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635" name="Google Shape;1635;p79"/>
            <p:cNvSpPr/>
            <p:nvPr/>
          </p:nvSpPr>
          <p:spPr>
            <a:xfrm>
              <a:off x="6244267" y="249803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636" name="Google Shape;1636;p79"/>
            <p:cNvSpPr/>
            <p:nvPr/>
          </p:nvSpPr>
          <p:spPr>
            <a:xfrm>
              <a:off x="7828964" y="1523331"/>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637" name="Google Shape;1637;p79"/>
            <p:cNvSpPr/>
            <p:nvPr/>
          </p:nvSpPr>
          <p:spPr>
            <a:xfrm>
              <a:off x="7621762" y="328405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638" name="Google Shape;1638;p79"/>
            <p:cNvSpPr/>
            <p:nvPr/>
          </p:nvSpPr>
          <p:spPr>
            <a:xfrm>
              <a:off x="8395346" y="2425277"/>
              <a:ext cx="420900" cy="420900"/>
            </a:xfrm>
            <a:prstGeom prst="ellipse">
              <a:avLst/>
            </a:prstGeom>
            <a:solidFill>
              <a:srgbClr val="00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t>D</a:t>
              </a:r>
              <a:endParaRPr/>
            </a:p>
          </p:txBody>
        </p:sp>
        <p:cxnSp>
          <p:nvCxnSpPr>
            <p:cNvPr id="1639" name="Google Shape;1639;p79"/>
            <p:cNvCxnSpPr>
              <a:stCxn id="1633" idx="3"/>
              <a:endCxn id="1635" idx="0"/>
            </p:cNvCxnSpPr>
            <p:nvPr/>
          </p:nvCxnSpPr>
          <p:spPr>
            <a:xfrm flipH="1">
              <a:off x="6454613" y="1882592"/>
              <a:ext cx="116100" cy="615300"/>
            </a:xfrm>
            <a:prstGeom prst="straightConnector1">
              <a:avLst/>
            </a:prstGeom>
            <a:noFill/>
            <a:ln cap="flat" cmpd="sng" w="19050">
              <a:solidFill>
                <a:srgbClr val="000000"/>
              </a:solidFill>
              <a:prstDash val="solid"/>
              <a:round/>
              <a:headEnd len="med" w="med" type="none"/>
              <a:tailEnd len="med" w="med" type="none"/>
            </a:ln>
          </p:spPr>
        </p:cxnSp>
        <p:cxnSp>
          <p:nvCxnSpPr>
            <p:cNvPr id="1640" name="Google Shape;1640;p79"/>
            <p:cNvCxnSpPr>
              <a:stCxn id="1633" idx="6"/>
              <a:endCxn id="1636" idx="2"/>
            </p:cNvCxnSpPr>
            <p:nvPr/>
          </p:nvCxnSpPr>
          <p:spPr>
            <a:xfrm>
              <a:off x="6929973" y="1733781"/>
              <a:ext cx="899100" cy="0"/>
            </a:xfrm>
            <a:prstGeom prst="straightConnector1">
              <a:avLst/>
            </a:prstGeom>
            <a:noFill/>
            <a:ln cap="flat" cmpd="sng" w="19050">
              <a:solidFill>
                <a:srgbClr val="000000"/>
              </a:solidFill>
              <a:prstDash val="solid"/>
              <a:round/>
              <a:headEnd len="med" w="med" type="none"/>
              <a:tailEnd len="med" w="med" type="none"/>
            </a:ln>
          </p:spPr>
        </p:cxnSp>
        <p:cxnSp>
          <p:nvCxnSpPr>
            <p:cNvPr id="1641" name="Google Shape;1641;p79"/>
            <p:cNvCxnSpPr>
              <a:stCxn id="1633" idx="5"/>
              <a:endCxn id="1634" idx="1"/>
            </p:cNvCxnSpPr>
            <p:nvPr/>
          </p:nvCxnSpPr>
          <p:spPr>
            <a:xfrm>
              <a:off x="6868334" y="1882592"/>
              <a:ext cx="550500" cy="638100"/>
            </a:xfrm>
            <a:prstGeom prst="straightConnector1">
              <a:avLst/>
            </a:prstGeom>
            <a:noFill/>
            <a:ln cap="flat" cmpd="sng" w="19050">
              <a:solidFill>
                <a:srgbClr val="000000"/>
              </a:solidFill>
              <a:prstDash val="solid"/>
              <a:round/>
              <a:headEnd len="med" w="med" type="none"/>
              <a:tailEnd len="med" w="med" type="none"/>
            </a:ln>
          </p:spPr>
        </p:cxnSp>
        <p:cxnSp>
          <p:nvCxnSpPr>
            <p:cNvPr id="1642" name="Google Shape;1642;p79"/>
            <p:cNvCxnSpPr>
              <a:stCxn id="1634" idx="4"/>
              <a:endCxn id="1637" idx="0"/>
            </p:cNvCxnSpPr>
            <p:nvPr/>
          </p:nvCxnSpPr>
          <p:spPr>
            <a:xfrm>
              <a:off x="7567786" y="2879979"/>
              <a:ext cx="264300" cy="404100"/>
            </a:xfrm>
            <a:prstGeom prst="straightConnector1">
              <a:avLst/>
            </a:prstGeom>
            <a:noFill/>
            <a:ln cap="flat" cmpd="sng" w="19050">
              <a:solidFill>
                <a:srgbClr val="000000"/>
              </a:solidFill>
              <a:prstDash val="solid"/>
              <a:round/>
              <a:headEnd len="med" w="med" type="none"/>
              <a:tailEnd len="med" w="med" type="none"/>
            </a:ln>
          </p:spPr>
        </p:cxnSp>
        <p:cxnSp>
          <p:nvCxnSpPr>
            <p:cNvPr id="1643" name="Google Shape;1643;p79"/>
            <p:cNvCxnSpPr>
              <a:stCxn id="1638" idx="4"/>
              <a:endCxn id="1637" idx="7"/>
            </p:cNvCxnSpPr>
            <p:nvPr/>
          </p:nvCxnSpPr>
          <p:spPr>
            <a:xfrm flipH="1">
              <a:off x="7980896" y="2846177"/>
              <a:ext cx="624900" cy="499500"/>
            </a:xfrm>
            <a:prstGeom prst="straightConnector1">
              <a:avLst/>
            </a:prstGeom>
            <a:noFill/>
            <a:ln cap="flat" cmpd="sng" w="19050">
              <a:solidFill>
                <a:srgbClr val="000000"/>
              </a:solidFill>
              <a:prstDash val="solid"/>
              <a:round/>
              <a:headEnd len="med" w="med" type="none"/>
              <a:tailEnd len="med" w="med" type="none"/>
            </a:ln>
          </p:spPr>
        </p:cxnSp>
        <p:cxnSp>
          <p:nvCxnSpPr>
            <p:cNvPr id="1644" name="Google Shape;1644;p79"/>
            <p:cNvCxnSpPr>
              <a:stCxn id="1635" idx="6"/>
              <a:endCxn id="1634" idx="2"/>
            </p:cNvCxnSpPr>
            <p:nvPr/>
          </p:nvCxnSpPr>
          <p:spPr>
            <a:xfrm flipH="1" rot="10800000">
              <a:off x="6665167" y="2669489"/>
              <a:ext cx="692100" cy="39000"/>
            </a:xfrm>
            <a:prstGeom prst="straightConnector1">
              <a:avLst/>
            </a:prstGeom>
            <a:noFill/>
            <a:ln cap="flat" cmpd="sng" w="19050">
              <a:solidFill>
                <a:srgbClr val="000000"/>
              </a:solidFill>
              <a:prstDash val="solid"/>
              <a:round/>
              <a:headEnd len="med" w="med" type="none"/>
              <a:tailEnd len="med" w="med" type="none"/>
            </a:ln>
          </p:spPr>
        </p:cxnSp>
        <p:cxnSp>
          <p:nvCxnSpPr>
            <p:cNvPr id="1645" name="Google Shape;1645;p79"/>
            <p:cNvCxnSpPr>
              <a:stCxn id="1636" idx="5"/>
              <a:endCxn id="1638" idx="0"/>
            </p:cNvCxnSpPr>
            <p:nvPr/>
          </p:nvCxnSpPr>
          <p:spPr>
            <a:xfrm>
              <a:off x="8188225" y="1882592"/>
              <a:ext cx="417600" cy="542700"/>
            </a:xfrm>
            <a:prstGeom prst="straightConnector1">
              <a:avLst/>
            </a:prstGeom>
            <a:noFill/>
            <a:ln cap="flat" cmpd="sng" w="19050">
              <a:solidFill>
                <a:srgbClr val="000000"/>
              </a:solidFill>
              <a:prstDash val="solid"/>
              <a:round/>
              <a:headEnd len="med" w="med" type="none"/>
              <a:tailEnd len="med" w="med" type="none"/>
            </a:ln>
          </p:spPr>
        </p:cxnSp>
        <p:sp>
          <p:nvSpPr>
            <p:cNvPr id="1646" name="Google Shape;1646;p79"/>
            <p:cNvSpPr txBox="1"/>
            <p:nvPr/>
          </p:nvSpPr>
          <p:spPr>
            <a:xfrm>
              <a:off x="7133044" y="2031395"/>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47" name="Google Shape;1647;p79"/>
            <p:cNvSpPr txBox="1"/>
            <p:nvPr/>
          </p:nvSpPr>
          <p:spPr>
            <a:xfrm>
              <a:off x="8276097" y="3050640"/>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648" name="Google Shape;1648;p79"/>
            <p:cNvSpPr txBox="1"/>
            <p:nvPr/>
          </p:nvSpPr>
          <p:spPr>
            <a:xfrm>
              <a:off x="6244268" y="206847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649" name="Google Shape;1649;p79"/>
            <p:cNvSpPr txBox="1"/>
            <p:nvPr/>
          </p:nvSpPr>
          <p:spPr>
            <a:xfrm>
              <a:off x="6829493" y="245907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650" name="Google Shape;1650;p79"/>
            <p:cNvSpPr txBox="1"/>
            <p:nvPr/>
          </p:nvSpPr>
          <p:spPr>
            <a:xfrm>
              <a:off x="7666774" y="2910433"/>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651" name="Google Shape;1651;p79"/>
            <p:cNvSpPr txBox="1"/>
            <p:nvPr/>
          </p:nvSpPr>
          <p:spPr>
            <a:xfrm>
              <a:off x="8337225" y="1965988"/>
              <a:ext cx="3228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52" name="Google Shape;1652;p79"/>
            <p:cNvSpPr txBox="1"/>
            <p:nvPr/>
          </p:nvSpPr>
          <p:spPr>
            <a:xfrm>
              <a:off x="7123999" y="1458400"/>
              <a:ext cx="5487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14</a:t>
              </a:r>
              <a:endParaRPr>
                <a:latin typeface="Source Code Pro"/>
                <a:ea typeface="Source Code Pro"/>
                <a:cs typeface="Source Code Pro"/>
                <a:sym typeface="Source Code Pro"/>
              </a:endParaRPr>
            </a:p>
          </p:txBody>
        </p:sp>
        <p:cxnSp>
          <p:nvCxnSpPr>
            <p:cNvPr id="1653" name="Google Shape;1653;p79"/>
            <p:cNvCxnSpPr>
              <a:stCxn id="1635" idx="5"/>
              <a:endCxn id="1637" idx="2"/>
            </p:cNvCxnSpPr>
            <p:nvPr/>
          </p:nvCxnSpPr>
          <p:spPr>
            <a:xfrm>
              <a:off x="6603527" y="2857299"/>
              <a:ext cx="1018200" cy="637200"/>
            </a:xfrm>
            <a:prstGeom prst="straightConnector1">
              <a:avLst/>
            </a:prstGeom>
            <a:noFill/>
            <a:ln cap="flat" cmpd="sng" w="19050">
              <a:solidFill>
                <a:srgbClr val="000000"/>
              </a:solidFill>
              <a:prstDash val="solid"/>
              <a:round/>
              <a:headEnd len="med" w="med" type="none"/>
              <a:tailEnd len="med" w="med" type="none"/>
            </a:ln>
          </p:spPr>
        </p:cxnSp>
        <p:sp>
          <p:nvSpPr>
            <p:cNvPr id="1654" name="Google Shape;1654;p79"/>
            <p:cNvSpPr txBox="1"/>
            <p:nvPr/>
          </p:nvSpPr>
          <p:spPr>
            <a:xfrm>
              <a:off x="6790876" y="3153713"/>
              <a:ext cx="4407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15</a:t>
              </a:r>
              <a:endParaRPr>
                <a:latin typeface="Source Code Pro"/>
                <a:ea typeface="Source Code Pro"/>
                <a:cs typeface="Source Code Pro"/>
                <a:sym typeface="Source Code Pro"/>
              </a:endParaRPr>
            </a:p>
          </p:txBody>
        </p:sp>
        <p:cxnSp>
          <p:nvCxnSpPr>
            <p:cNvPr id="1655" name="Google Shape;1655;p79"/>
            <p:cNvCxnSpPr>
              <a:stCxn id="1636" idx="4"/>
              <a:endCxn id="1634" idx="7"/>
            </p:cNvCxnSpPr>
            <p:nvPr/>
          </p:nvCxnSpPr>
          <p:spPr>
            <a:xfrm flipH="1">
              <a:off x="7716614" y="1944231"/>
              <a:ext cx="322800" cy="576600"/>
            </a:xfrm>
            <a:prstGeom prst="straightConnector1">
              <a:avLst/>
            </a:prstGeom>
            <a:noFill/>
            <a:ln cap="flat" cmpd="sng" w="19050">
              <a:solidFill>
                <a:srgbClr val="000000"/>
              </a:solidFill>
              <a:prstDash val="solid"/>
              <a:round/>
              <a:headEnd len="med" w="med" type="none"/>
              <a:tailEnd len="med" w="med" type="none"/>
            </a:ln>
          </p:spPr>
        </p:cxnSp>
        <p:sp>
          <p:nvSpPr>
            <p:cNvPr id="1656" name="Google Shape;1656;p79"/>
            <p:cNvSpPr txBox="1"/>
            <p:nvPr/>
          </p:nvSpPr>
          <p:spPr>
            <a:xfrm>
              <a:off x="7772538" y="227910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657" name="Google Shape;1657;p7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13.22</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80"/>
          <p:cNvSpPr txBox="1"/>
          <p:nvPr/>
        </p:nvSpPr>
        <p:spPr>
          <a:xfrm>
            <a:off x="5953872" y="4345575"/>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663" name="Google Shape;1663;p8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Dijkstra’s Shortest Path Diagram</a:t>
            </a:r>
            <a:endParaRPr/>
          </a:p>
        </p:txBody>
      </p:sp>
      <p:sp>
        <p:nvSpPr>
          <p:cNvPr id="1664" name="Google Shape;1664;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665" name="Google Shape;1665;p80"/>
          <p:cNvGraphicFramePr/>
          <p:nvPr/>
        </p:nvGraphicFramePr>
        <p:xfrm>
          <a:off x="354350" y="1019050"/>
          <a:ext cx="3000000" cy="3000000"/>
        </p:xfrm>
        <a:graphic>
          <a:graphicData uri="http://schemas.openxmlformats.org/drawingml/2006/table">
            <a:tbl>
              <a:tblPr>
                <a:noFill/>
                <a:tableStyleId>{89CCAE03-A2B2-4379-B0C2-E101A7E113D6}</a:tableStyleId>
              </a:tblPr>
              <a:tblGrid>
                <a:gridCol w="654950"/>
                <a:gridCol w="654950"/>
                <a:gridCol w="654950"/>
                <a:gridCol w="654950"/>
                <a:gridCol w="654950"/>
                <a:gridCol w="654950"/>
                <a:gridCol w="654950"/>
                <a:gridCol w="654950"/>
              </a:tblGrid>
              <a:tr h="409125">
                <a:tc>
                  <a:txBody>
                    <a:bodyPr/>
                    <a:lstStyle/>
                    <a:p>
                      <a:pPr indent="0" lvl="0" marL="0" rtl="0" algn="ctr">
                        <a:spcBef>
                          <a:spcPts val="0"/>
                        </a:spcBef>
                        <a:spcAft>
                          <a:spcPts val="0"/>
                        </a:spcAft>
                        <a:buNone/>
                      </a:pPr>
                      <a:r>
                        <a:rPr lang="en" sz="1000">
                          <a:solidFill>
                            <a:srgbClr val="FFFFFF"/>
                          </a:solidFill>
                        </a:rPr>
                        <a:t>Iteration</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900">
                          <a:solidFill>
                            <a:srgbClr val="FFFFFF"/>
                          </a:solidFill>
                        </a:rPr>
                        <a:t>Finalized Vertex</a:t>
                      </a:r>
                      <a:endParaRPr sz="9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A</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B</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C</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D</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E</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000">
                          <a:solidFill>
                            <a:srgbClr val="FFFFFF"/>
                          </a:solidFill>
                        </a:rPr>
                        <a:t>F</a:t>
                      </a:r>
                      <a:endParaRPr sz="10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t>0/null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∞,null</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1000">
                          <a:latin typeface="Consolas"/>
                          <a:ea typeface="Consolas"/>
                          <a:cs typeface="Consolas"/>
                          <a:sym typeface="Consolas"/>
                        </a:rPr>
                        <a:t>7</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666" name="Google Shape;1666;p80"/>
          <p:cNvGraphicFramePr/>
          <p:nvPr/>
        </p:nvGraphicFramePr>
        <p:xfrm>
          <a:off x="5953863" y="3949375"/>
          <a:ext cx="3000000" cy="3000000"/>
        </p:xfrm>
        <a:graphic>
          <a:graphicData uri="http://schemas.openxmlformats.org/drawingml/2006/table">
            <a:tbl>
              <a:tblPr>
                <a:noFill/>
                <a:tableStyleId>{89CCAE03-A2B2-4379-B0C2-E101A7E113D6}</a:tableStyleId>
              </a:tblPr>
              <a:tblGrid>
                <a:gridCol w="715800"/>
                <a:gridCol w="715800"/>
                <a:gridCol w="715800"/>
                <a:gridCol w="715800"/>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667" name="Google Shape;1667;p80"/>
          <p:cNvSpPr txBox="1"/>
          <p:nvPr/>
        </p:nvSpPr>
        <p:spPr>
          <a:xfrm>
            <a:off x="5953872" y="3549175"/>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Path A -&gt; D</a:t>
            </a:r>
            <a:endParaRPr>
              <a:solidFill>
                <a:srgbClr val="4A86E8"/>
              </a:solidFill>
              <a:latin typeface="Consolas"/>
              <a:ea typeface="Consolas"/>
              <a:cs typeface="Consolas"/>
              <a:sym typeface="Consolas"/>
            </a:endParaRPr>
          </a:p>
        </p:txBody>
      </p:sp>
      <p:grpSp>
        <p:nvGrpSpPr>
          <p:cNvPr id="1668" name="Google Shape;1668;p80"/>
          <p:cNvGrpSpPr/>
          <p:nvPr/>
        </p:nvGrpSpPr>
        <p:grpSpPr>
          <a:xfrm>
            <a:off x="6091867" y="1077400"/>
            <a:ext cx="2571979" cy="2246554"/>
            <a:chOff x="6244267" y="1458400"/>
            <a:chExt cx="2571979" cy="2246554"/>
          </a:xfrm>
        </p:grpSpPr>
        <p:sp>
          <p:nvSpPr>
            <p:cNvPr id="1669" name="Google Shape;1669;p80"/>
            <p:cNvSpPr/>
            <p:nvPr/>
          </p:nvSpPr>
          <p:spPr>
            <a:xfrm>
              <a:off x="6509073" y="1523331"/>
              <a:ext cx="420900" cy="420900"/>
            </a:xfrm>
            <a:prstGeom prst="ellipse">
              <a:avLst/>
            </a:prstGeom>
            <a:solidFill>
              <a:srgbClr val="FF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670" name="Google Shape;1670;p80"/>
            <p:cNvSpPr/>
            <p:nvPr/>
          </p:nvSpPr>
          <p:spPr>
            <a:xfrm>
              <a:off x="7357336" y="245907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671" name="Google Shape;1671;p80"/>
            <p:cNvSpPr/>
            <p:nvPr/>
          </p:nvSpPr>
          <p:spPr>
            <a:xfrm>
              <a:off x="6244267" y="249803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672" name="Google Shape;1672;p80"/>
            <p:cNvSpPr/>
            <p:nvPr/>
          </p:nvSpPr>
          <p:spPr>
            <a:xfrm>
              <a:off x="7828964" y="1523331"/>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1673" name="Google Shape;1673;p80"/>
            <p:cNvSpPr/>
            <p:nvPr/>
          </p:nvSpPr>
          <p:spPr>
            <a:xfrm>
              <a:off x="7621762" y="328405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674" name="Google Shape;1674;p80"/>
            <p:cNvSpPr/>
            <p:nvPr/>
          </p:nvSpPr>
          <p:spPr>
            <a:xfrm>
              <a:off x="8395346" y="2425277"/>
              <a:ext cx="420900" cy="420900"/>
            </a:xfrm>
            <a:prstGeom prst="ellipse">
              <a:avLst/>
            </a:prstGeom>
            <a:solidFill>
              <a:srgbClr val="00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t>D</a:t>
              </a:r>
              <a:endParaRPr/>
            </a:p>
          </p:txBody>
        </p:sp>
        <p:cxnSp>
          <p:nvCxnSpPr>
            <p:cNvPr id="1675" name="Google Shape;1675;p80"/>
            <p:cNvCxnSpPr>
              <a:stCxn id="1669" idx="3"/>
              <a:endCxn id="1671" idx="0"/>
            </p:cNvCxnSpPr>
            <p:nvPr/>
          </p:nvCxnSpPr>
          <p:spPr>
            <a:xfrm flipH="1">
              <a:off x="6454613" y="1882592"/>
              <a:ext cx="116100" cy="615300"/>
            </a:xfrm>
            <a:prstGeom prst="straightConnector1">
              <a:avLst/>
            </a:prstGeom>
            <a:noFill/>
            <a:ln cap="flat" cmpd="sng" w="19050">
              <a:solidFill>
                <a:srgbClr val="000000"/>
              </a:solidFill>
              <a:prstDash val="solid"/>
              <a:round/>
              <a:headEnd len="med" w="med" type="none"/>
              <a:tailEnd len="med" w="med" type="none"/>
            </a:ln>
          </p:spPr>
        </p:cxnSp>
        <p:cxnSp>
          <p:nvCxnSpPr>
            <p:cNvPr id="1676" name="Google Shape;1676;p80"/>
            <p:cNvCxnSpPr>
              <a:stCxn id="1669" idx="6"/>
              <a:endCxn id="1672" idx="2"/>
            </p:cNvCxnSpPr>
            <p:nvPr/>
          </p:nvCxnSpPr>
          <p:spPr>
            <a:xfrm>
              <a:off x="6929973" y="1733781"/>
              <a:ext cx="899100" cy="0"/>
            </a:xfrm>
            <a:prstGeom prst="straightConnector1">
              <a:avLst/>
            </a:prstGeom>
            <a:noFill/>
            <a:ln cap="flat" cmpd="sng" w="19050">
              <a:solidFill>
                <a:srgbClr val="000000"/>
              </a:solidFill>
              <a:prstDash val="solid"/>
              <a:round/>
              <a:headEnd len="med" w="med" type="none"/>
              <a:tailEnd len="med" w="med" type="none"/>
            </a:ln>
          </p:spPr>
        </p:cxnSp>
        <p:cxnSp>
          <p:nvCxnSpPr>
            <p:cNvPr id="1677" name="Google Shape;1677;p80"/>
            <p:cNvCxnSpPr>
              <a:stCxn id="1669" idx="5"/>
              <a:endCxn id="1670" idx="1"/>
            </p:cNvCxnSpPr>
            <p:nvPr/>
          </p:nvCxnSpPr>
          <p:spPr>
            <a:xfrm>
              <a:off x="6868334" y="1882592"/>
              <a:ext cx="550500" cy="638100"/>
            </a:xfrm>
            <a:prstGeom prst="straightConnector1">
              <a:avLst/>
            </a:prstGeom>
            <a:noFill/>
            <a:ln cap="flat" cmpd="sng" w="19050">
              <a:solidFill>
                <a:srgbClr val="000000"/>
              </a:solidFill>
              <a:prstDash val="solid"/>
              <a:round/>
              <a:headEnd len="med" w="med" type="none"/>
              <a:tailEnd len="med" w="med" type="none"/>
            </a:ln>
          </p:spPr>
        </p:cxnSp>
        <p:cxnSp>
          <p:nvCxnSpPr>
            <p:cNvPr id="1678" name="Google Shape;1678;p80"/>
            <p:cNvCxnSpPr>
              <a:stCxn id="1670" idx="4"/>
              <a:endCxn id="1673" idx="0"/>
            </p:cNvCxnSpPr>
            <p:nvPr/>
          </p:nvCxnSpPr>
          <p:spPr>
            <a:xfrm>
              <a:off x="7567786" y="2879979"/>
              <a:ext cx="264300" cy="404100"/>
            </a:xfrm>
            <a:prstGeom prst="straightConnector1">
              <a:avLst/>
            </a:prstGeom>
            <a:noFill/>
            <a:ln cap="flat" cmpd="sng" w="19050">
              <a:solidFill>
                <a:srgbClr val="000000"/>
              </a:solidFill>
              <a:prstDash val="solid"/>
              <a:round/>
              <a:headEnd len="med" w="med" type="none"/>
              <a:tailEnd len="med" w="med" type="none"/>
            </a:ln>
          </p:spPr>
        </p:cxnSp>
        <p:cxnSp>
          <p:nvCxnSpPr>
            <p:cNvPr id="1679" name="Google Shape;1679;p80"/>
            <p:cNvCxnSpPr>
              <a:stCxn id="1674" idx="4"/>
              <a:endCxn id="1673" idx="7"/>
            </p:cNvCxnSpPr>
            <p:nvPr/>
          </p:nvCxnSpPr>
          <p:spPr>
            <a:xfrm flipH="1">
              <a:off x="7980896" y="2846177"/>
              <a:ext cx="624900" cy="499500"/>
            </a:xfrm>
            <a:prstGeom prst="straightConnector1">
              <a:avLst/>
            </a:prstGeom>
            <a:noFill/>
            <a:ln cap="flat" cmpd="sng" w="19050">
              <a:solidFill>
                <a:srgbClr val="000000"/>
              </a:solidFill>
              <a:prstDash val="solid"/>
              <a:round/>
              <a:headEnd len="med" w="med" type="none"/>
              <a:tailEnd len="med" w="med" type="none"/>
            </a:ln>
          </p:spPr>
        </p:cxnSp>
        <p:cxnSp>
          <p:nvCxnSpPr>
            <p:cNvPr id="1680" name="Google Shape;1680;p80"/>
            <p:cNvCxnSpPr>
              <a:stCxn id="1671" idx="6"/>
              <a:endCxn id="1670" idx="2"/>
            </p:cNvCxnSpPr>
            <p:nvPr/>
          </p:nvCxnSpPr>
          <p:spPr>
            <a:xfrm flipH="1" rot="10800000">
              <a:off x="6665167" y="2669489"/>
              <a:ext cx="692100" cy="39000"/>
            </a:xfrm>
            <a:prstGeom prst="straightConnector1">
              <a:avLst/>
            </a:prstGeom>
            <a:noFill/>
            <a:ln cap="flat" cmpd="sng" w="19050">
              <a:solidFill>
                <a:srgbClr val="000000"/>
              </a:solidFill>
              <a:prstDash val="solid"/>
              <a:round/>
              <a:headEnd len="med" w="med" type="none"/>
              <a:tailEnd len="med" w="med" type="none"/>
            </a:ln>
          </p:spPr>
        </p:cxnSp>
        <p:cxnSp>
          <p:nvCxnSpPr>
            <p:cNvPr id="1681" name="Google Shape;1681;p80"/>
            <p:cNvCxnSpPr>
              <a:stCxn id="1672" idx="5"/>
              <a:endCxn id="1674" idx="0"/>
            </p:cNvCxnSpPr>
            <p:nvPr/>
          </p:nvCxnSpPr>
          <p:spPr>
            <a:xfrm>
              <a:off x="8188225" y="1882592"/>
              <a:ext cx="417600" cy="542700"/>
            </a:xfrm>
            <a:prstGeom prst="straightConnector1">
              <a:avLst/>
            </a:prstGeom>
            <a:noFill/>
            <a:ln cap="flat" cmpd="sng" w="19050">
              <a:solidFill>
                <a:srgbClr val="000000"/>
              </a:solidFill>
              <a:prstDash val="solid"/>
              <a:round/>
              <a:headEnd len="med" w="med" type="none"/>
              <a:tailEnd len="med" w="med" type="none"/>
            </a:ln>
          </p:spPr>
        </p:cxnSp>
        <p:sp>
          <p:nvSpPr>
            <p:cNvPr id="1682" name="Google Shape;1682;p80"/>
            <p:cNvSpPr txBox="1"/>
            <p:nvPr/>
          </p:nvSpPr>
          <p:spPr>
            <a:xfrm>
              <a:off x="7133044" y="2031395"/>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83" name="Google Shape;1683;p80"/>
            <p:cNvSpPr txBox="1"/>
            <p:nvPr/>
          </p:nvSpPr>
          <p:spPr>
            <a:xfrm>
              <a:off x="8276097" y="3050640"/>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684" name="Google Shape;1684;p80"/>
            <p:cNvSpPr txBox="1"/>
            <p:nvPr/>
          </p:nvSpPr>
          <p:spPr>
            <a:xfrm>
              <a:off x="6244268" y="206847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685" name="Google Shape;1685;p80"/>
            <p:cNvSpPr txBox="1"/>
            <p:nvPr/>
          </p:nvSpPr>
          <p:spPr>
            <a:xfrm>
              <a:off x="6829493" y="245907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686" name="Google Shape;1686;p80"/>
            <p:cNvSpPr txBox="1"/>
            <p:nvPr/>
          </p:nvSpPr>
          <p:spPr>
            <a:xfrm>
              <a:off x="7666774" y="2910433"/>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687" name="Google Shape;1687;p80"/>
            <p:cNvSpPr txBox="1"/>
            <p:nvPr/>
          </p:nvSpPr>
          <p:spPr>
            <a:xfrm>
              <a:off x="8337225" y="1965988"/>
              <a:ext cx="3228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88" name="Google Shape;1688;p80"/>
            <p:cNvSpPr txBox="1"/>
            <p:nvPr/>
          </p:nvSpPr>
          <p:spPr>
            <a:xfrm>
              <a:off x="7123999" y="1458400"/>
              <a:ext cx="5487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14</a:t>
              </a:r>
              <a:endParaRPr>
                <a:latin typeface="Source Code Pro"/>
                <a:ea typeface="Source Code Pro"/>
                <a:cs typeface="Source Code Pro"/>
                <a:sym typeface="Source Code Pro"/>
              </a:endParaRPr>
            </a:p>
          </p:txBody>
        </p:sp>
        <p:cxnSp>
          <p:nvCxnSpPr>
            <p:cNvPr id="1689" name="Google Shape;1689;p80"/>
            <p:cNvCxnSpPr>
              <a:stCxn id="1671" idx="5"/>
              <a:endCxn id="1673" idx="2"/>
            </p:cNvCxnSpPr>
            <p:nvPr/>
          </p:nvCxnSpPr>
          <p:spPr>
            <a:xfrm>
              <a:off x="6603527" y="2857299"/>
              <a:ext cx="1018200" cy="637200"/>
            </a:xfrm>
            <a:prstGeom prst="straightConnector1">
              <a:avLst/>
            </a:prstGeom>
            <a:noFill/>
            <a:ln cap="flat" cmpd="sng" w="19050">
              <a:solidFill>
                <a:srgbClr val="000000"/>
              </a:solidFill>
              <a:prstDash val="solid"/>
              <a:round/>
              <a:headEnd len="med" w="med" type="none"/>
              <a:tailEnd len="med" w="med" type="none"/>
            </a:ln>
          </p:spPr>
        </p:cxnSp>
        <p:sp>
          <p:nvSpPr>
            <p:cNvPr id="1690" name="Google Shape;1690;p80"/>
            <p:cNvSpPr txBox="1"/>
            <p:nvPr/>
          </p:nvSpPr>
          <p:spPr>
            <a:xfrm>
              <a:off x="6790876" y="3153713"/>
              <a:ext cx="4407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15</a:t>
              </a:r>
              <a:endParaRPr>
                <a:latin typeface="Source Code Pro"/>
                <a:ea typeface="Source Code Pro"/>
                <a:cs typeface="Source Code Pro"/>
                <a:sym typeface="Source Code Pro"/>
              </a:endParaRPr>
            </a:p>
          </p:txBody>
        </p:sp>
        <p:cxnSp>
          <p:nvCxnSpPr>
            <p:cNvPr id="1691" name="Google Shape;1691;p80"/>
            <p:cNvCxnSpPr>
              <a:stCxn id="1672" idx="4"/>
              <a:endCxn id="1670" idx="7"/>
            </p:cNvCxnSpPr>
            <p:nvPr/>
          </p:nvCxnSpPr>
          <p:spPr>
            <a:xfrm flipH="1">
              <a:off x="7716614" y="1944231"/>
              <a:ext cx="322800" cy="576600"/>
            </a:xfrm>
            <a:prstGeom prst="straightConnector1">
              <a:avLst/>
            </a:prstGeom>
            <a:noFill/>
            <a:ln cap="flat" cmpd="sng" w="19050">
              <a:solidFill>
                <a:srgbClr val="000000"/>
              </a:solidFill>
              <a:prstDash val="solid"/>
              <a:round/>
              <a:headEnd len="med" w="med" type="none"/>
              <a:tailEnd len="med" w="med" type="none"/>
            </a:ln>
          </p:spPr>
        </p:cxnSp>
        <p:sp>
          <p:nvSpPr>
            <p:cNvPr id="1692" name="Google Shape;1692;p80"/>
            <p:cNvSpPr txBox="1"/>
            <p:nvPr/>
          </p:nvSpPr>
          <p:spPr>
            <a:xfrm>
              <a:off x="7772538" y="227910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693" name="Google Shape;1693;p80"/>
          <p:cNvSpPr txBox="1"/>
          <p:nvPr/>
        </p:nvSpPr>
        <p:spPr>
          <a:xfrm>
            <a:off x="1135176" y="191395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694" name="Google Shape;1694;p80"/>
          <p:cNvSpPr txBox="1"/>
          <p:nvPr/>
        </p:nvSpPr>
        <p:spPr>
          <a:xfrm>
            <a:off x="1135176" y="229495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695" name="Google Shape;1695;p80"/>
          <p:cNvSpPr txBox="1"/>
          <p:nvPr/>
        </p:nvSpPr>
        <p:spPr>
          <a:xfrm>
            <a:off x="1135176" y="271336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696" name="Google Shape;1696;p80"/>
          <p:cNvSpPr txBox="1"/>
          <p:nvPr/>
        </p:nvSpPr>
        <p:spPr>
          <a:xfrm>
            <a:off x="1135176" y="309436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697" name="Google Shape;1697;p80"/>
          <p:cNvSpPr txBox="1"/>
          <p:nvPr/>
        </p:nvSpPr>
        <p:spPr>
          <a:xfrm>
            <a:off x="1135176" y="347536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698" name="Google Shape;1698;p80"/>
          <p:cNvSpPr txBox="1"/>
          <p:nvPr/>
        </p:nvSpPr>
        <p:spPr>
          <a:xfrm>
            <a:off x="1135176" y="390153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699" name="Google Shape;1699;p80"/>
          <p:cNvSpPr txBox="1"/>
          <p:nvPr/>
        </p:nvSpPr>
        <p:spPr>
          <a:xfrm>
            <a:off x="1901551" y="1899124"/>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0" name="Google Shape;1700;p80"/>
          <p:cNvSpPr txBox="1"/>
          <p:nvPr/>
        </p:nvSpPr>
        <p:spPr>
          <a:xfrm>
            <a:off x="2438334" y="192171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7, A</a:t>
            </a:r>
            <a:endParaRPr sz="2000">
              <a:solidFill>
                <a:srgbClr val="FF0000"/>
              </a:solidFill>
              <a:latin typeface="Shadows Into Light"/>
              <a:ea typeface="Shadows Into Light"/>
              <a:cs typeface="Shadows Into Light"/>
              <a:sym typeface="Shadows Into Light"/>
            </a:endParaRPr>
          </a:p>
        </p:txBody>
      </p:sp>
      <p:sp>
        <p:nvSpPr>
          <p:cNvPr id="1701" name="Google Shape;1701;p80"/>
          <p:cNvSpPr txBox="1"/>
          <p:nvPr/>
        </p:nvSpPr>
        <p:spPr>
          <a:xfrm>
            <a:off x="4395768" y="1914641"/>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14, A</a:t>
            </a:r>
            <a:endParaRPr sz="2000">
              <a:solidFill>
                <a:srgbClr val="FF0000"/>
              </a:solidFill>
              <a:latin typeface="Shadows Into Light"/>
              <a:ea typeface="Shadows Into Light"/>
              <a:cs typeface="Shadows Into Light"/>
              <a:sym typeface="Shadows Into Light"/>
            </a:endParaRPr>
          </a:p>
        </p:txBody>
      </p:sp>
      <p:sp>
        <p:nvSpPr>
          <p:cNvPr id="1702" name="Google Shape;1702;p80"/>
          <p:cNvSpPr txBox="1"/>
          <p:nvPr/>
        </p:nvSpPr>
        <p:spPr>
          <a:xfrm>
            <a:off x="5017393" y="1914640"/>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9, A</a:t>
            </a:r>
            <a:endParaRPr sz="2000">
              <a:solidFill>
                <a:srgbClr val="FF0000"/>
              </a:solidFill>
              <a:latin typeface="Shadows Into Light"/>
              <a:ea typeface="Shadows Into Light"/>
              <a:cs typeface="Shadows Into Light"/>
              <a:sym typeface="Shadows Into Light"/>
            </a:endParaRPr>
          </a:p>
        </p:txBody>
      </p:sp>
      <p:sp>
        <p:nvSpPr>
          <p:cNvPr id="1703" name="Google Shape;1703;p80"/>
          <p:cNvSpPr txBox="1"/>
          <p:nvPr/>
        </p:nvSpPr>
        <p:spPr>
          <a:xfrm>
            <a:off x="2511151" y="2303398"/>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4" name="Google Shape;1704;p80"/>
          <p:cNvSpPr txBox="1"/>
          <p:nvPr/>
        </p:nvSpPr>
        <p:spPr>
          <a:xfrm>
            <a:off x="3016900" y="2318233"/>
            <a:ext cx="548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22, B</a:t>
            </a:r>
            <a:endParaRPr sz="2000">
              <a:solidFill>
                <a:srgbClr val="FF0000"/>
              </a:solidFill>
              <a:latin typeface="Shadows Into Light"/>
              <a:ea typeface="Shadows Into Light"/>
              <a:cs typeface="Shadows Into Light"/>
              <a:sym typeface="Shadows Into Light"/>
            </a:endParaRPr>
          </a:p>
        </p:txBody>
      </p:sp>
      <p:sp>
        <p:nvSpPr>
          <p:cNvPr id="1705" name="Google Shape;1705;p80"/>
          <p:cNvSpPr txBox="1"/>
          <p:nvPr/>
        </p:nvSpPr>
        <p:spPr>
          <a:xfrm>
            <a:off x="5134012" y="2715429"/>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6" name="Google Shape;1706;p80"/>
          <p:cNvSpPr txBox="1"/>
          <p:nvPr/>
        </p:nvSpPr>
        <p:spPr>
          <a:xfrm>
            <a:off x="3093102" y="271336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15, F</a:t>
            </a:r>
            <a:endParaRPr sz="2000">
              <a:solidFill>
                <a:srgbClr val="FF0000"/>
              </a:solidFill>
              <a:latin typeface="Shadows Into Light"/>
              <a:ea typeface="Shadows Into Light"/>
              <a:cs typeface="Shadows Into Light"/>
              <a:sym typeface="Shadows Into Light"/>
            </a:endParaRPr>
          </a:p>
        </p:txBody>
      </p:sp>
      <p:sp>
        <p:nvSpPr>
          <p:cNvPr id="1707" name="Google Shape;1707;p80"/>
          <p:cNvSpPr txBox="1"/>
          <p:nvPr/>
        </p:nvSpPr>
        <p:spPr>
          <a:xfrm>
            <a:off x="4411284" y="2714051"/>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11, F</a:t>
            </a:r>
            <a:endParaRPr sz="2000">
              <a:solidFill>
                <a:srgbClr val="FF0000"/>
              </a:solidFill>
              <a:latin typeface="Shadows Into Light"/>
              <a:ea typeface="Shadows Into Light"/>
              <a:cs typeface="Shadows Into Light"/>
              <a:sym typeface="Shadows Into Light"/>
            </a:endParaRPr>
          </a:p>
        </p:txBody>
      </p:sp>
      <p:sp>
        <p:nvSpPr>
          <p:cNvPr id="1708" name="Google Shape;1708;p80"/>
          <p:cNvSpPr txBox="1"/>
          <p:nvPr/>
        </p:nvSpPr>
        <p:spPr>
          <a:xfrm>
            <a:off x="4448212" y="3096429"/>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9" name="Google Shape;1709;p80"/>
          <p:cNvSpPr txBox="1"/>
          <p:nvPr/>
        </p:nvSpPr>
        <p:spPr>
          <a:xfrm>
            <a:off x="3725484" y="3095051"/>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20, E</a:t>
            </a:r>
            <a:endParaRPr sz="2000">
              <a:solidFill>
                <a:srgbClr val="FF0000"/>
              </a:solidFill>
              <a:latin typeface="Shadows Into Light"/>
              <a:ea typeface="Shadows Into Light"/>
              <a:cs typeface="Shadows Into Light"/>
              <a:sym typeface="Shadows Into Light"/>
            </a:endParaRPr>
          </a:p>
        </p:txBody>
      </p:sp>
      <p:sp>
        <p:nvSpPr>
          <p:cNvPr id="1710" name="Google Shape;1710;p80"/>
          <p:cNvSpPr txBox="1"/>
          <p:nvPr/>
        </p:nvSpPr>
        <p:spPr>
          <a:xfrm>
            <a:off x="3189193" y="3491566"/>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11" name="Google Shape;1711;p80"/>
          <p:cNvSpPr txBox="1"/>
          <p:nvPr/>
        </p:nvSpPr>
        <p:spPr>
          <a:xfrm>
            <a:off x="3694942" y="3506401"/>
            <a:ext cx="548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19, C</a:t>
            </a:r>
            <a:endParaRPr sz="2000">
              <a:solidFill>
                <a:srgbClr val="FF0000"/>
              </a:solidFill>
              <a:latin typeface="Shadows Into Light"/>
              <a:ea typeface="Shadows Into Light"/>
              <a:cs typeface="Shadows Into Light"/>
              <a:sym typeface="Shadows Into Light"/>
            </a:endParaRPr>
          </a:p>
        </p:txBody>
      </p:sp>
      <p:sp>
        <p:nvSpPr>
          <p:cNvPr id="1712" name="Google Shape;1712;p80"/>
          <p:cNvSpPr txBox="1"/>
          <p:nvPr/>
        </p:nvSpPr>
        <p:spPr>
          <a:xfrm>
            <a:off x="3798793" y="3888082"/>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13" name="Google Shape;1713;p80"/>
          <p:cNvSpPr txBox="1"/>
          <p:nvPr/>
        </p:nvSpPr>
        <p:spPr>
          <a:xfrm>
            <a:off x="8203166" y="399356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714" name="Google Shape;1714;p80"/>
          <p:cNvSpPr txBox="1"/>
          <p:nvPr/>
        </p:nvSpPr>
        <p:spPr>
          <a:xfrm>
            <a:off x="7517366" y="399356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715" name="Google Shape;1715;p80"/>
          <p:cNvSpPr txBox="1"/>
          <p:nvPr/>
        </p:nvSpPr>
        <p:spPr>
          <a:xfrm>
            <a:off x="6831566" y="399356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716" name="Google Shape;1716;p80"/>
          <p:cNvSpPr txBox="1"/>
          <p:nvPr/>
        </p:nvSpPr>
        <p:spPr>
          <a:xfrm>
            <a:off x="6145766" y="399356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717" name="Google Shape;1717;p80"/>
          <p:cNvSpPr txBox="1"/>
          <p:nvPr/>
        </p:nvSpPr>
        <p:spPr>
          <a:xfrm>
            <a:off x="7022366" y="439176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19</a:t>
            </a:r>
            <a:endParaRPr sz="2000">
              <a:solidFill>
                <a:srgbClr val="FF0000"/>
              </a:solidFill>
              <a:latin typeface="Shadows Into Light"/>
              <a:ea typeface="Shadows Into Light"/>
              <a:cs typeface="Shadows Into Light"/>
              <a:sym typeface="Shadows Into Light"/>
            </a:endParaRPr>
          </a:p>
        </p:txBody>
      </p:sp>
      <p:sp>
        <p:nvSpPr>
          <p:cNvPr id="1718" name="Google Shape;1718;p8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13.22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93"/>
                                        </p:tgtEl>
                                        <p:attrNameLst>
                                          <p:attrName>style.visibility</p:attrName>
                                        </p:attrNameLst>
                                      </p:cBhvr>
                                      <p:to>
                                        <p:strVal val="visible"/>
                                      </p:to>
                                    </p:set>
                                    <p:animEffect filter="fade" transition="in">
                                      <p:cBhvr>
                                        <p:cTn dur="1000"/>
                                        <p:tgtEl>
                                          <p:spTgt spid="16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00"/>
                                        </p:tgtEl>
                                        <p:attrNameLst>
                                          <p:attrName>style.visibility</p:attrName>
                                        </p:attrNameLst>
                                      </p:cBhvr>
                                      <p:to>
                                        <p:strVal val="visible"/>
                                      </p:to>
                                    </p:set>
                                    <p:animEffect filter="fade" transition="in">
                                      <p:cBhvr>
                                        <p:cTn dur="1000"/>
                                        <p:tgtEl>
                                          <p:spTgt spid="170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01"/>
                                        </p:tgtEl>
                                        <p:attrNameLst>
                                          <p:attrName>style.visibility</p:attrName>
                                        </p:attrNameLst>
                                      </p:cBhvr>
                                      <p:to>
                                        <p:strVal val="visible"/>
                                      </p:to>
                                    </p:set>
                                    <p:animEffect filter="fade" transition="in">
                                      <p:cBhvr>
                                        <p:cTn dur="1100"/>
                                        <p:tgtEl>
                                          <p:spTgt spid="1701"/>
                                        </p:tgtEl>
                                      </p:cBhvr>
                                    </p:animEffect>
                                  </p:childTnLst>
                                </p:cTn>
                              </p:par>
                            </p:childTnLst>
                          </p:cTn>
                        </p:par>
                        <p:par>
                          <p:cTn fill="hold">
                            <p:stCondLst>
                              <p:cond delay="3100"/>
                            </p:stCondLst>
                            <p:childTnLst>
                              <p:par>
                                <p:cTn fill="hold" nodeType="afterEffect" presetClass="entr" presetID="10" presetSubtype="0">
                                  <p:stCondLst>
                                    <p:cond delay="0"/>
                                  </p:stCondLst>
                                  <p:childTnLst>
                                    <p:set>
                                      <p:cBhvr>
                                        <p:cTn dur="1" fill="hold">
                                          <p:stCondLst>
                                            <p:cond delay="0"/>
                                          </p:stCondLst>
                                        </p:cTn>
                                        <p:tgtEl>
                                          <p:spTgt spid="1702"/>
                                        </p:tgtEl>
                                        <p:attrNameLst>
                                          <p:attrName>style.visibility</p:attrName>
                                        </p:attrNameLst>
                                      </p:cBhvr>
                                      <p:to>
                                        <p:strVal val="visible"/>
                                      </p:to>
                                    </p:set>
                                    <p:animEffect filter="fade" transition="in">
                                      <p:cBhvr>
                                        <p:cTn dur="1000"/>
                                        <p:tgtEl>
                                          <p:spTgt spid="1702"/>
                                        </p:tgtEl>
                                      </p:cBhvr>
                                    </p:animEffect>
                                  </p:childTnLst>
                                </p:cTn>
                              </p:par>
                            </p:childTnLst>
                          </p:cTn>
                        </p:par>
                        <p:par>
                          <p:cTn fill="hold">
                            <p:stCondLst>
                              <p:cond delay="4100"/>
                            </p:stCondLst>
                            <p:childTnLst>
                              <p:par>
                                <p:cTn fill="hold" nodeType="afterEffect" presetClass="entr" presetID="10" presetSubtype="0">
                                  <p:stCondLst>
                                    <p:cond delay="0"/>
                                  </p:stCondLst>
                                  <p:childTnLst>
                                    <p:set>
                                      <p:cBhvr>
                                        <p:cTn dur="1" fill="hold">
                                          <p:stCondLst>
                                            <p:cond delay="0"/>
                                          </p:stCondLst>
                                        </p:cTn>
                                        <p:tgtEl>
                                          <p:spTgt spid="1699"/>
                                        </p:tgtEl>
                                        <p:attrNameLst>
                                          <p:attrName>style.visibility</p:attrName>
                                        </p:attrNameLst>
                                      </p:cBhvr>
                                      <p:to>
                                        <p:strVal val="visible"/>
                                      </p:to>
                                    </p:set>
                                    <p:animEffect filter="fade" transition="in">
                                      <p:cBhvr>
                                        <p:cTn dur="1000"/>
                                        <p:tgtEl>
                                          <p:spTgt spid="1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4"/>
                                        </p:tgtEl>
                                        <p:attrNameLst>
                                          <p:attrName>style.visibility</p:attrName>
                                        </p:attrNameLst>
                                      </p:cBhvr>
                                      <p:to>
                                        <p:strVal val="visible"/>
                                      </p:to>
                                    </p:set>
                                    <p:animEffect filter="fade" transition="in">
                                      <p:cBhvr>
                                        <p:cTn dur="1000"/>
                                        <p:tgtEl>
                                          <p:spTgt spid="16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04"/>
                                        </p:tgtEl>
                                        <p:attrNameLst>
                                          <p:attrName>style.visibility</p:attrName>
                                        </p:attrNameLst>
                                      </p:cBhvr>
                                      <p:to>
                                        <p:strVal val="visible"/>
                                      </p:to>
                                    </p:set>
                                    <p:animEffect filter="fade" transition="in">
                                      <p:cBhvr>
                                        <p:cTn dur="1000"/>
                                        <p:tgtEl>
                                          <p:spTgt spid="170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03"/>
                                        </p:tgtEl>
                                        <p:attrNameLst>
                                          <p:attrName>style.visibility</p:attrName>
                                        </p:attrNameLst>
                                      </p:cBhvr>
                                      <p:to>
                                        <p:strVal val="visible"/>
                                      </p:to>
                                    </p:set>
                                    <p:animEffect filter="fade" transition="in">
                                      <p:cBhvr>
                                        <p:cTn dur="1000"/>
                                        <p:tgtEl>
                                          <p:spTgt spid="1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5"/>
                                        </p:tgtEl>
                                        <p:attrNameLst>
                                          <p:attrName>style.visibility</p:attrName>
                                        </p:attrNameLst>
                                      </p:cBhvr>
                                      <p:to>
                                        <p:strVal val="visible"/>
                                      </p:to>
                                    </p:set>
                                    <p:animEffect filter="fade" transition="in">
                                      <p:cBhvr>
                                        <p:cTn dur="1000"/>
                                        <p:tgtEl>
                                          <p:spTgt spid="169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06"/>
                                        </p:tgtEl>
                                        <p:attrNameLst>
                                          <p:attrName>style.visibility</p:attrName>
                                        </p:attrNameLst>
                                      </p:cBhvr>
                                      <p:to>
                                        <p:strVal val="visible"/>
                                      </p:to>
                                    </p:set>
                                    <p:animEffect filter="fade" transition="in">
                                      <p:cBhvr>
                                        <p:cTn dur="1000"/>
                                        <p:tgtEl>
                                          <p:spTgt spid="170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07"/>
                                        </p:tgtEl>
                                        <p:attrNameLst>
                                          <p:attrName>style.visibility</p:attrName>
                                        </p:attrNameLst>
                                      </p:cBhvr>
                                      <p:to>
                                        <p:strVal val="visible"/>
                                      </p:to>
                                    </p:set>
                                    <p:animEffect filter="fade" transition="in">
                                      <p:cBhvr>
                                        <p:cTn dur="1000"/>
                                        <p:tgtEl>
                                          <p:spTgt spid="170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705"/>
                                        </p:tgtEl>
                                        <p:attrNameLst>
                                          <p:attrName>style.visibility</p:attrName>
                                        </p:attrNameLst>
                                      </p:cBhvr>
                                      <p:to>
                                        <p:strVal val="visible"/>
                                      </p:to>
                                    </p:set>
                                    <p:animEffect filter="fade" transition="in">
                                      <p:cBhvr>
                                        <p:cTn dur="1000"/>
                                        <p:tgtEl>
                                          <p:spTgt spid="1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6"/>
                                        </p:tgtEl>
                                        <p:attrNameLst>
                                          <p:attrName>style.visibility</p:attrName>
                                        </p:attrNameLst>
                                      </p:cBhvr>
                                      <p:to>
                                        <p:strVal val="visible"/>
                                      </p:to>
                                    </p:set>
                                    <p:animEffect filter="fade" transition="in">
                                      <p:cBhvr>
                                        <p:cTn dur="1000"/>
                                        <p:tgtEl>
                                          <p:spTgt spid="169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09"/>
                                        </p:tgtEl>
                                        <p:attrNameLst>
                                          <p:attrName>style.visibility</p:attrName>
                                        </p:attrNameLst>
                                      </p:cBhvr>
                                      <p:to>
                                        <p:strVal val="visible"/>
                                      </p:to>
                                    </p:set>
                                    <p:animEffect filter="fade" transition="in">
                                      <p:cBhvr>
                                        <p:cTn dur="1000"/>
                                        <p:tgtEl>
                                          <p:spTgt spid="170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08"/>
                                        </p:tgtEl>
                                        <p:attrNameLst>
                                          <p:attrName>style.visibility</p:attrName>
                                        </p:attrNameLst>
                                      </p:cBhvr>
                                      <p:to>
                                        <p:strVal val="visible"/>
                                      </p:to>
                                    </p:set>
                                    <p:animEffect filter="fade" transition="in">
                                      <p:cBhvr>
                                        <p:cTn dur="1000"/>
                                        <p:tgtEl>
                                          <p:spTgt spid="17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7"/>
                                        </p:tgtEl>
                                        <p:attrNameLst>
                                          <p:attrName>style.visibility</p:attrName>
                                        </p:attrNameLst>
                                      </p:cBhvr>
                                      <p:to>
                                        <p:strVal val="visible"/>
                                      </p:to>
                                    </p:set>
                                    <p:animEffect filter="fade" transition="in">
                                      <p:cBhvr>
                                        <p:cTn dur="1000"/>
                                        <p:tgtEl>
                                          <p:spTgt spid="16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11"/>
                                        </p:tgtEl>
                                        <p:attrNameLst>
                                          <p:attrName>style.visibility</p:attrName>
                                        </p:attrNameLst>
                                      </p:cBhvr>
                                      <p:to>
                                        <p:strVal val="visible"/>
                                      </p:to>
                                    </p:set>
                                    <p:animEffect filter="fade" transition="in">
                                      <p:cBhvr>
                                        <p:cTn dur="1000"/>
                                        <p:tgtEl>
                                          <p:spTgt spid="171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10"/>
                                        </p:tgtEl>
                                        <p:attrNameLst>
                                          <p:attrName>style.visibility</p:attrName>
                                        </p:attrNameLst>
                                      </p:cBhvr>
                                      <p:to>
                                        <p:strVal val="visible"/>
                                      </p:to>
                                    </p:set>
                                    <p:animEffect filter="fade" transition="in">
                                      <p:cBhvr>
                                        <p:cTn dur="1000"/>
                                        <p:tgtEl>
                                          <p:spTgt spid="17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8"/>
                                        </p:tgtEl>
                                        <p:attrNameLst>
                                          <p:attrName>style.visibility</p:attrName>
                                        </p:attrNameLst>
                                      </p:cBhvr>
                                      <p:to>
                                        <p:strVal val="visible"/>
                                      </p:to>
                                    </p:set>
                                    <p:animEffect filter="fade" transition="in">
                                      <p:cBhvr>
                                        <p:cTn dur="1000"/>
                                        <p:tgtEl>
                                          <p:spTgt spid="169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12"/>
                                        </p:tgtEl>
                                        <p:attrNameLst>
                                          <p:attrName>style.visibility</p:attrName>
                                        </p:attrNameLst>
                                      </p:cBhvr>
                                      <p:to>
                                        <p:strVal val="visible"/>
                                      </p:to>
                                    </p:set>
                                    <p:animEffect filter="fade" transition="in">
                                      <p:cBhvr>
                                        <p:cTn dur="1000"/>
                                        <p:tgtEl>
                                          <p:spTgt spid="17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3"/>
                                        </p:tgtEl>
                                        <p:attrNameLst>
                                          <p:attrName>style.visibility</p:attrName>
                                        </p:attrNameLst>
                                      </p:cBhvr>
                                      <p:to>
                                        <p:strVal val="visible"/>
                                      </p:to>
                                    </p:set>
                                    <p:animEffect filter="fade" transition="in">
                                      <p:cBhvr>
                                        <p:cTn dur="1000"/>
                                        <p:tgtEl>
                                          <p:spTgt spid="17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17"/>
                                        </p:tgtEl>
                                        <p:attrNameLst>
                                          <p:attrName>style.visibility</p:attrName>
                                        </p:attrNameLst>
                                      </p:cBhvr>
                                      <p:to>
                                        <p:strVal val="visible"/>
                                      </p:to>
                                    </p:set>
                                    <p:animEffect filter="fade" transition="in">
                                      <p:cBhvr>
                                        <p:cTn dur="1000"/>
                                        <p:tgtEl>
                                          <p:spTgt spid="17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4"/>
                                        </p:tgtEl>
                                        <p:attrNameLst>
                                          <p:attrName>style.visibility</p:attrName>
                                        </p:attrNameLst>
                                      </p:cBhvr>
                                      <p:to>
                                        <p:strVal val="visible"/>
                                      </p:to>
                                    </p:set>
                                    <p:animEffect filter="fade" transition="in">
                                      <p:cBhvr>
                                        <p:cTn dur="1000"/>
                                        <p:tgtEl>
                                          <p:spTgt spid="171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15"/>
                                        </p:tgtEl>
                                        <p:attrNameLst>
                                          <p:attrName>style.visibility</p:attrName>
                                        </p:attrNameLst>
                                      </p:cBhvr>
                                      <p:to>
                                        <p:strVal val="visible"/>
                                      </p:to>
                                    </p:set>
                                    <p:animEffect filter="fade" transition="in">
                                      <p:cBhvr>
                                        <p:cTn dur="1000"/>
                                        <p:tgtEl>
                                          <p:spTgt spid="171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16"/>
                                        </p:tgtEl>
                                        <p:attrNameLst>
                                          <p:attrName>style.visibility</p:attrName>
                                        </p:attrNameLst>
                                      </p:cBhvr>
                                      <p:to>
                                        <p:strVal val="visible"/>
                                      </p:to>
                                    </p:set>
                                    <p:animEffect filter="fade" transition="in">
                                      <p:cBhvr>
                                        <p:cTn dur="1000"/>
                                        <p:tgtEl>
                                          <p:spTgt spid="17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sp>
        <p:nvSpPr>
          <p:cNvPr id="1723" name="Google Shape;1723;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24" name="Google Shape;1724;p8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Dijkstra’s Shortest Path Diagram</a:t>
            </a:r>
            <a:endParaRPr/>
          </a:p>
        </p:txBody>
      </p:sp>
      <p:graphicFrame>
        <p:nvGraphicFramePr>
          <p:cNvPr id="1725" name="Google Shape;1725;p81"/>
          <p:cNvGraphicFramePr/>
          <p:nvPr/>
        </p:nvGraphicFramePr>
        <p:xfrm>
          <a:off x="6204357" y="4002301"/>
          <a:ext cx="3000000" cy="3000000"/>
        </p:xfrm>
        <a:graphic>
          <a:graphicData uri="http://schemas.openxmlformats.org/drawingml/2006/table">
            <a:tbl>
              <a:tblPr>
                <a:noFill/>
                <a:tableStyleId>{89CCAE03-A2B2-4379-B0C2-E101A7E113D6}</a:tableStyleId>
              </a:tblPr>
              <a:tblGrid>
                <a:gridCol w="563950"/>
                <a:gridCol w="563950"/>
                <a:gridCol w="563950"/>
                <a:gridCol w="563950"/>
                <a:gridCol w="563950"/>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726" name="Google Shape;1726;p81"/>
          <p:cNvSpPr txBox="1"/>
          <p:nvPr/>
        </p:nvSpPr>
        <p:spPr>
          <a:xfrm>
            <a:off x="6204367" y="4398501"/>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graphicFrame>
        <p:nvGraphicFramePr>
          <p:cNvPr id="1727" name="Google Shape;1727;p81"/>
          <p:cNvGraphicFramePr/>
          <p:nvPr/>
        </p:nvGraphicFramePr>
        <p:xfrm>
          <a:off x="152695" y="1028101"/>
          <a:ext cx="3000000" cy="3000000"/>
        </p:xfrm>
        <a:graphic>
          <a:graphicData uri="http://schemas.openxmlformats.org/drawingml/2006/table">
            <a:tbl>
              <a:tblPr>
                <a:noFill/>
                <a:tableStyleId>{89CCAE03-A2B2-4379-B0C2-E101A7E113D6}</a:tableStyleId>
              </a:tblPr>
              <a:tblGrid>
                <a:gridCol w="589450"/>
                <a:gridCol w="589450"/>
                <a:gridCol w="589450"/>
                <a:gridCol w="589450"/>
                <a:gridCol w="589450"/>
                <a:gridCol w="589450"/>
                <a:gridCol w="589450"/>
                <a:gridCol w="589450"/>
                <a:gridCol w="589450"/>
                <a:gridCol w="589450"/>
              </a:tblGrid>
              <a:tr h="409125">
                <a:tc>
                  <a:txBody>
                    <a:bodyPr/>
                    <a:lstStyle/>
                    <a:p>
                      <a:pPr indent="0" lvl="0" marL="0" rtl="0" algn="ctr">
                        <a:spcBef>
                          <a:spcPts val="0"/>
                        </a:spcBef>
                        <a:spcAft>
                          <a:spcPts val="0"/>
                        </a:spcAft>
                        <a:buNone/>
                      </a:pPr>
                      <a:r>
                        <a:rPr lang="en" sz="800">
                          <a:solidFill>
                            <a:srgbClr val="FFFFFF"/>
                          </a:solidFill>
                        </a:rPr>
                        <a:t>Iteration</a:t>
                      </a:r>
                      <a:endParaRPr sz="8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700">
                          <a:solidFill>
                            <a:srgbClr val="FFFFFF"/>
                          </a:solidFill>
                        </a:rPr>
                        <a:t>Finalized Vertex</a:t>
                      </a:r>
                      <a:endParaRPr sz="7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A</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B</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C</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D</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E</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F</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G</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H</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595959"/>
                    </a:solidFill>
                  </a:tcPr>
                </a:tc>
                <a:tc>
                  <a:txBody>
                    <a:bodyPr/>
                    <a:lstStyle/>
                    <a:p>
                      <a:pPr indent="0" lvl="0" marL="0" rtl="0" algn="ctr">
                        <a:spcBef>
                          <a:spcPts val="0"/>
                        </a:spcBef>
                        <a:spcAft>
                          <a:spcPts val="0"/>
                        </a:spcAft>
                        <a:buNone/>
                      </a:pPr>
                      <a:r>
                        <a:rPr lang="en" sz="1200"/>
                        <a:t>0,null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7</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728" name="Google Shape;1728;p81"/>
          <p:cNvSpPr txBox="1"/>
          <p:nvPr/>
        </p:nvSpPr>
        <p:spPr>
          <a:xfrm>
            <a:off x="6204367" y="3602101"/>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grpSp>
        <p:nvGrpSpPr>
          <p:cNvPr id="1729" name="Google Shape;1729;p81"/>
          <p:cNvGrpSpPr/>
          <p:nvPr/>
        </p:nvGrpSpPr>
        <p:grpSpPr>
          <a:xfrm>
            <a:off x="6173204" y="1068352"/>
            <a:ext cx="2819709" cy="2625031"/>
            <a:chOff x="6128035" y="1373152"/>
            <a:chExt cx="2819709" cy="2625031"/>
          </a:xfrm>
        </p:grpSpPr>
        <p:sp>
          <p:nvSpPr>
            <p:cNvPr id="1730" name="Google Shape;1730;p81"/>
            <p:cNvSpPr/>
            <p:nvPr/>
          </p:nvSpPr>
          <p:spPr>
            <a:xfrm>
              <a:off x="6339634" y="1410609"/>
              <a:ext cx="420900" cy="420900"/>
            </a:xfrm>
            <a:prstGeom prst="ellipse">
              <a:avLst/>
            </a:prstGeom>
            <a:solidFill>
              <a:srgbClr val="FF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731" name="Google Shape;1731;p81"/>
            <p:cNvSpPr/>
            <p:nvPr/>
          </p:nvSpPr>
          <p:spPr>
            <a:xfrm>
              <a:off x="6236777" y="22315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732" name="Google Shape;1732;p81"/>
            <p:cNvSpPr/>
            <p:nvPr/>
          </p:nvSpPr>
          <p:spPr>
            <a:xfrm>
              <a:off x="7251100" y="137315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cxnSp>
          <p:nvCxnSpPr>
            <p:cNvPr id="1733" name="Google Shape;1733;p81"/>
            <p:cNvCxnSpPr>
              <a:stCxn id="1730" idx="6"/>
              <a:endCxn id="1732" idx="2"/>
            </p:cNvCxnSpPr>
            <p:nvPr/>
          </p:nvCxnSpPr>
          <p:spPr>
            <a:xfrm flipH="1" rot="10800000">
              <a:off x="6760534" y="1583559"/>
              <a:ext cx="490500" cy="37500"/>
            </a:xfrm>
            <a:prstGeom prst="straightConnector1">
              <a:avLst/>
            </a:prstGeom>
            <a:noFill/>
            <a:ln cap="flat" cmpd="sng" w="19050">
              <a:solidFill>
                <a:srgbClr val="000000"/>
              </a:solidFill>
              <a:prstDash val="solid"/>
              <a:round/>
              <a:headEnd len="med" w="med" type="none"/>
              <a:tailEnd len="med" w="med" type="none"/>
            </a:ln>
          </p:spPr>
        </p:cxnSp>
        <p:cxnSp>
          <p:nvCxnSpPr>
            <p:cNvPr id="1734" name="Google Shape;1734;p81"/>
            <p:cNvCxnSpPr>
              <a:stCxn id="1730" idx="4"/>
              <a:endCxn id="1731" idx="0"/>
            </p:cNvCxnSpPr>
            <p:nvPr/>
          </p:nvCxnSpPr>
          <p:spPr>
            <a:xfrm flipH="1">
              <a:off x="6447184" y="1831509"/>
              <a:ext cx="102900" cy="400200"/>
            </a:xfrm>
            <a:prstGeom prst="straightConnector1">
              <a:avLst/>
            </a:prstGeom>
            <a:noFill/>
            <a:ln cap="flat" cmpd="sng" w="19050">
              <a:solidFill>
                <a:srgbClr val="000000"/>
              </a:solidFill>
              <a:prstDash val="solid"/>
              <a:round/>
              <a:headEnd len="med" w="med" type="none"/>
              <a:tailEnd len="med" w="med" type="none"/>
            </a:ln>
          </p:spPr>
        </p:cxnSp>
        <p:cxnSp>
          <p:nvCxnSpPr>
            <p:cNvPr id="1735" name="Google Shape;1735;p81"/>
            <p:cNvCxnSpPr>
              <a:endCxn id="1732" idx="3"/>
            </p:cNvCxnSpPr>
            <p:nvPr/>
          </p:nvCxnSpPr>
          <p:spPr>
            <a:xfrm flipH="1" rot="10800000">
              <a:off x="6596039" y="1732419"/>
              <a:ext cx="716700" cy="560700"/>
            </a:xfrm>
            <a:prstGeom prst="straightConnector1">
              <a:avLst/>
            </a:prstGeom>
            <a:noFill/>
            <a:ln cap="flat" cmpd="sng" w="19050">
              <a:solidFill>
                <a:srgbClr val="000000"/>
              </a:solidFill>
              <a:prstDash val="solid"/>
              <a:round/>
              <a:headEnd len="med" w="med" type="none"/>
              <a:tailEnd len="med" w="med" type="none"/>
            </a:ln>
          </p:spPr>
        </p:cxnSp>
        <p:sp>
          <p:nvSpPr>
            <p:cNvPr id="1736" name="Google Shape;1736;p81"/>
            <p:cNvSpPr/>
            <p:nvPr/>
          </p:nvSpPr>
          <p:spPr>
            <a:xfrm>
              <a:off x="7837950" y="197063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737" name="Google Shape;1737;p81"/>
            <p:cNvSpPr/>
            <p:nvPr/>
          </p:nvSpPr>
          <p:spPr>
            <a:xfrm>
              <a:off x="8169900" y="265248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738" name="Google Shape;1738;p81"/>
            <p:cNvSpPr/>
            <p:nvPr/>
          </p:nvSpPr>
          <p:spPr>
            <a:xfrm>
              <a:off x="6568225" y="3003871"/>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1739" name="Google Shape;1739;p81"/>
            <p:cNvCxnSpPr>
              <a:stCxn id="1732" idx="5"/>
              <a:endCxn id="1736" idx="1"/>
            </p:cNvCxnSpPr>
            <p:nvPr/>
          </p:nvCxnSpPr>
          <p:spPr>
            <a:xfrm>
              <a:off x="7610360" y="1732419"/>
              <a:ext cx="289200" cy="300000"/>
            </a:xfrm>
            <a:prstGeom prst="straightConnector1">
              <a:avLst/>
            </a:prstGeom>
            <a:noFill/>
            <a:ln cap="flat" cmpd="sng" w="19050">
              <a:solidFill>
                <a:srgbClr val="000000"/>
              </a:solidFill>
              <a:prstDash val="solid"/>
              <a:round/>
              <a:headEnd len="med" w="med" type="none"/>
              <a:tailEnd len="med" w="med" type="none"/>
            </a:ln>
          </p:spPr>
        </p:cxnSp>
        <p:cxnSp>
          <p:nvCxnSpPr>
            <p:cNvPr id="1740" name="Google Shape;1740;p81"/>
            <p:cNvCxnSpPr>
              <a:stCxn id="1731" idx="4"/>
              <a:endCxn id="1738" idx="1"/>
            </p:cNvCxnSpPr>
            <p:nvPr/>
          </p:nvCxnSpPr>
          <p:spPr>
            <a:xfrm>
              <a:off x="6447227" y="2652466"/>
              <a:ext cx="182700" cy="413100"/>
            </a:xfrm>
            <a:prstGeom prst="straightConnector1">
              <a:avLst/>
            </a:prstGeom>
            <a:noFill/>
            <a:ln cap="flat" cmpd="sng" w="19050">
              <a:solidFill>
                <a:srgbClr val="000000"/>
              </a:solidFill>
              <a:prstDash val="solid"/>
              <a:round/>
              <a:headEnd len="med" w="med" type="none"/>
              <a:tailEnd len="med" w="med" type="none"/>
            </a:ln>
          </p:spPr>
        </p:cxnSp>
        <p:cxnSp>
          <p:nvCxnSpPr>
            <p:cNvPr id="1741" name="Google Shape;1741;p81"/>
            <p:cNvCxnSpPr>
              <a:stCxn id="1738" idx="6"/>
              <a:endCxn id="1737" idx="2"/>
            </p:cNvCxnSpPr>
            <p:nvPr/>
          </p:nvCxnSpPr>
          <p:spPr>
            <a:xfrm flipH="1" rot="10800000">
              <a:off x="6989125" y="2863021"/>
              <a:ext cx="1180800" cy="351300"/>
            </a:xfrm>
            <a:prstGeom prst="straightConnector1">
              <a:avLst/>
            </a:prstGeom>
            <a:noFill/>
            <a:ln cap="flat" cmpd="sng" w="19050">
              <a:solidFill>
                <a:srgbClr val="000000"/>
              </a:solidFill>
              <a:prstDash val="solid"/>
              <a:round/>
              <a:headEnd len="med" w="med" type="none"/>
              <a:tailEnd len="med" w="med" type="none"/>
            </a:ln>
          </p:spPr>
        </p:cxnSp>
        <p:cxnSp>
          <p:nvCxnSpPr>
            <p:cNvPr id="1742" name="Google Shape;1742;p81"/>
            <p:cNvCxnSpPr>
              <a:stCxn id="1738" idx="7"/>
              <a:endCxn id="1736" idx="3"/>
            </p:cNvCxnSpPr>
            <p:nvPr/>
          </p:nvCxnSpPr>
          <p:spPr>
            <a:xfrm flipH="1" rot="10800000">
              <a:off x="6927485" y="2329911"/>
              <a:ext cx="972000" cy="735600"/>
            </a:xfrm>
            <a:prstGeom prst="straightConnector1">
              <a:avLst/>
            </a:prstGeom>
            <a:noFill/>
            <a:ln cap="flat" cmpd="sng" w="19050">
              <a:solidFill>
                <a:srgbClr val="000000"/>
              </a:solidFill>
              <a:prstDash val="solid"/>
              <a:round/>
              <a:headEnd len="med" w="med" type="none"/>
              <a:tailEnd len="med" w="med" type="none"/>
            </a:ln>
          </p:spPr>
        </p:cxnSp>
        <p:cxnSp>
          <p:nvCxnSpPr>
            <p:cNvPr id="1743" name="Google Shape;1743;p81"/>
            <p:cNvCxnSpPr>
              <a:stCxn id="1736" idx="5"/>
              <a:endCxn id="1737" idx="0"/>
            </p:cNvCxnSpPr>
            <p:nvPr/>
          </p:nvCxnSpPr>
          <p:spPr>
            <a:xfrm>
              <a:off x="8197210" y="2329894"/>
              <a:ext cx="183000" cy="322500"/>
            </a:xfrm>
            <a:prstGeom prst="straightConnector1">
              <a:avLst/>
            </a:prstGeom>
            <a:noFill/>
            <a:ln cap="flat" cmpd="sng" w="19050">
              <a:solidFill>
                <a:srgbClr val="000000"/>
              </a:solidFill>
              <a:prstDash val="solid"/>
              <a:round/>
              <a:headEnd len="med" w="med" type="none"/>
              <a:tailEnd len="med" w="med" type="none"/>
            </a:ln>
          </p:spPr>
        </p:cxnSp>
        <p:sp>
          <p:nvSpPr>
            <p:cNvPr id="1744" name="Google Shape;1744;p81"/>
            <p:cNvSpPr/>
            <p:nvPr/>
          </p:nvSpPr>
          <p:spPr>
            <a:xfrm>
              <a:off x="8380225" y="3471909"/>
              <a:ext cx="420900" cy="420900"/>
            </a:xfrm>
            <a:prstGeom prst="ellipse">
              <a:avLst/>
            </a:prstGeom>
            <a:solidFill>
              <a:srgbClr val="00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a:t>
              </a:r>
              <a:endParaRPr/>
            </a:p>
          </p:txBody>
        </p:sp>
        <p:sp>
          <p:nvSpPr>
            <p:cNvPr id="1745" name="Google Shape;1745;p81"/>
            <p:cNvSpPr/>
            <p:nvPr/>
          </p:nvSpPr>
          <p:spPr>
            <a:xfrm>
              <a:off x="7312750" y="357728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746" name="Google Shape;1746;p81"/>
            <p:cNvCxnSpPr>
              <a:stCxn id="1738" idx="5"/>
              <a:endCxn id="1745" idx="1"/>
            </p:cNvCxnSpPr>
            <p:nvPr/>
          </p:nvCxnSpPr>
          <p:spPr>
            <a:xfrm>
              <a:off x="6927485" y="3363132"/>
              <a:ext cx="447000" cy="275700"/>
            </a:xfrm>
            <a:prstGeom prst="straightConnector1">
              <a:avLst/>
            </a:prstGeom>
            <a:noFill/>
            <a:ln cap="flat" cmpd="sng" w="19050">
              <a:solidFill>
                <a:srgbClr val="000000"/>
              </a:solidFill>
              <a:prstDash val="solid"/>
              <a:round/>
              <a:headEnd len="med" w="med" type="none"/>
              <a:tailEnd len="med" w="med" type="none"/>
            </a:ln>
          </p:spPr>
        </p:cxnSp>
        <p:cxnSp>
          <p:nvCxnSpPr>
            <p:cNvPr id="1747" name="Google Shape;1747;p81"/>
            <p:cNvCxnSpPr>
              <a:stCxn id="1745" idx="6"/>
              <a:endCxn id="1744" idx="2"/>
            </p:cNvCxnSpPr>
            <p:nvPr/>
          </p:nvCxnSpPr>
          <p:spPr>
            <a:xfrm flipH="1" rot="10800000">
              <a:off x="7733650" y="3682434"/>
              <a:ext cx="646500" cy="105300"/>
            </a:xfrm>
            <a:prstGeom prst="straightConnector1">
              <a:avLst/>
            </a:prstGeom>
            <a:noFill/>
            <a:ln cap="flat" cmpd="sng" w="19050">
              <a:solidFill>
                <a:srgbClr val="000000"/>
              </a:solidFill>
              <a:prstDash val="solid"/>
              <a:round/>
              <a:headEnd len="med" w="med" type="none"/>
              <a:tailEnd len="med" w="med" type="none"/>
            </a:ln>
          </p:spPr>
        </p:cxnSp>
        <p:cxnSp>
          <p:nvCxnSpPr>
            <p:cNvPr id="1748" name="Google Shape;1748;p81"/>
            <p:cNvCxnSpPr>
              <a:stCxn id="1737" idx="5"/>
              <a:endCxn id="1744" idx="0"/>
            </p:cNvCxnSpPr>
            <p:nvPr/>
          </p:nvCxnSpPr>
          <p:spPr>
            <a:xfrm>
              <a:off x="8529160" y="3011744"/>
              <a:ext cx="61500" cy="460200"/>
            </a:xfrm>
            <a:prstGeom prst="straightConnector1">
              <a:avLst/>
            </a:prstGeom>
            <a:noFill/>
            <a:ln cap="flat" cmpd="sng" w="19050">
              <a:solidFill>
                <a:srgbClr val="000000"/>
              </a:solidFill>
              <a:prstDash val="solid"/>
              <a:round/>
              <a:headEnd len="med" w="med" type="none"/>
              <a:tailEnd len="med" w="med" type="none"/>
            </a:ln>
          </p:spPr>
        </p:cxnSp>
        <p:sp>
          <p:nvSpPr>
            <p:cNvPr id="1749" name="Google Shape;1749;p81"/>
            <p:cNvSpPr txBox="1"/>
            <p:nvPr/>
          </p:nvSpPr>
          <p:spPr>
            <a:xfrm>
              <a:off x="6754835" y="13731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750" name="Google Shape;1750;p81"/>
            <p:cNvSpPr txBox="1"/>
            <p:nvPr/>
          </p:nvSpPr>
          <p:spPr>
            <a:xfrm>
              <a:off x="6128035" y="1891127"/>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751" name="Google Shape;1751;p81"/>
            <p:cNvSpPr txBox="1"/>
            <p:nvPr/>
          </p:nvSpPr>
          <p:spPr>
            <a:xfrm>
              <a:off x="6869198" y="1940327"/>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752" name="Google Shape;1752;p81"/>
            <p:cNvSpPr txBox="1"/>
            <p:nvPr/>
          </p:nvSpPr>
          <p:spPr>
            <a:xfrm>
              <a:off x="7690223" y="16985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753" name="Google Shape;1753;p81"/>
            <p:cNvSpPr txBox="1"/>
            <p:nvPr/>
          </p:nvSpPr>
          <p:spPr>
            <a:xfrm>
              <a:off x="6166223" y="27653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754" name="Google Shape;1754;p81"/>
            <p:cNvSpPr txBox="1"/>
            <p:nvPr/>
          </p:nvSpPr>
          <p:spPr>
            <a:xfrm>
              <a:off x="7080623" y="24605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755" name="Google Shape;1755;p81"/>
            <p:cNvSpPr txBox="1"/>
            <p:nvPr/>
          </p:nvSpPr>
          <p:spPr>
            <a:xfrm>
              <a:off x="7379044" y="2788626"/>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756" name="Google Shape;1756;p81"/>
            <p:cNvSpPr txBox="1"/>
            <p:nvPr/>
          </p:nvSpPr>
          <p:spPr>
            <a:xfrm>
              <a:off x="8445844" y="3093426"/>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757" name="Google Shape;1757;p81"/>
            <p:cNvSpPr txBox="1"/>
            <p:nvPr/>
          </p:nvSpPr>
          <p:spPr>
            <a:xfrm>
              <a:off x="7760044" y="3703026"/>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758" name="Google Shape;1758;p81"/>
            <p:cNvSpPr txBox="1"/>
            <p:nvPr/>
          </p:nvSpPr>
          <p:spPr>
            <a:xfrm>
              <a:off x="6837886" y="3474426"/>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759" name="Google Shape;1759;p81"/>
            <p:cNvSpPr txBox="1"/>
            <p:nvPr/>
          </p:nvSpPr>
          <p:spPr>
            <a:xfrm>
              <a:off x="8223623" y="23081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p:txBody>
        </p:sp>
      </p:grpSp>
      <p:sp>
        <p:nvSpPr>
          <p:cNvPr id="1760" name="Google Shape;1760;p8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13.23</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4" name="Shape 1764"/>
        <p:cNvGrpSpPr/>
        <p:nvPr/>
      </p:nvGrpSpPr>
      <p:grpSpPr>
        <a:xfrm>
          <a:off x="0" y="0"/>
          <a:ext cx="0" cy="0"/>
          <a:chOff x="0" y="0"/>
          <a:chExt cx="0" cy="0"/>
        </a:xfrm>
      </p:grpSpPr>
      <p:sp>
        <p:nvSpPr>
          <p:cNvPr id="1765" name="Google Shape;1765;p82"/>
          <p:cNvSpPr txBox="1"/>
          <p:nvPr/>
        </p:nvSpPr>
        <p:spPr>
          <a:xfrm>
            <a:off x="8510636" y="4046492"/>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766" name="Google Shape;1766;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67" name="Google Shape;1767;p8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Dijkstra’s Shortest Path Diagram</a:t>
            </a:r>
            <a:endParaRPr/>
          </a:p>
        </p:txBody>
      </p:sp>
      <p:graphicFrame>
        <p:nvGraphicFramePr>
          <p:cNvPr id="1768" name="Google Shape;1768;p82"/>
          <p:cNvGraphicFramePr/>
          <p:nvPr/>
        </p:nvGraphicFramePr>
        <p:xfrm>
          <a:off x="6204357" y="4002301"/>
          <a:ext cx="3000000" cy="3000000"/>
        </p:xfrm>
        <a:graphic>
          <a:graphicData uri="http://schemas.openxmlformats.org/drawingml/2006/table">
            <a:tbl>
              <a:tblPr>
                <a:noFill/>
                <a:tableStyleId>{89CCAE03-A2B2-4379-B0C2-E101A7E113D6}</a:tableStyleId>
              </a:tblPr>
              <a:tblGrid>
                <a:gridCol w="563950"/>
                <a:gridCol w="563950"/>
                <a:gridCol w="563950"/>
                <a:gridCol w="563950"/>
                <a:gridCol w="563950"/>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769" name="Google Shape;1769;p82"/>
          <p:cNvSpPr txBox="1"/>
          <p:nvPr/>
        </p:nvSpPr>
        <p:spPr>
          <a:xfrm>
            <a:off x="6204367" y="4398501"/>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graphicFrame>
        <p:nvGraphicFramePr>
          <p:cNvPr id="1770" name="Google Shape;1770;p82"/>
          <p:cNvGraphicFramePr/>
          <p:nvPr/>
        </p:nvGraphicFramePr>
        <p:xfrm>
          <a:off x="152695" y="1028101"/>
          <a:ext cx="3000000" cy="3000000"/>
        </p:xfrm>
        <a:graphic>
          <a:graphicData uri="http://schemas.openxmlformats.org/drawingml/2006/table">
            <a:tbl>
              <a:tblPr>
                <a:noFill/>
                <a:tableStyleId>{89CCAE03-A2B2-4379-B0C2-E101A7E113D6}</a:tableStyleId>
              </a:tblPr>
              <a:tblGrid>
                <a:gridCol w="589450"/>
                <a:gridCol w="589450"/>
                <a:gridCol w="589450"/>
                <a:gridCol w="589450"/>
                <a:gridCol w="589450"/>
                <a:gridCol w="589450"/>
                <a:gridCol w="589450"/>
                <a:gridCol w="589450"/>
                <a:gridCol w="589450"/>
                <a:gridCol w="589450"/>
              </a:tblGrid>
              <a:tr h="409125">
                <a:tc>
                  <a:txBody>
                    <a:bodyPr/>
                    <a:lstStyle/>
                    <a:p>
                      <a:pPr indent="0" lvl="0" marL="0" rtl="0" algn="ctr">
                        <a:spcBef>
                          <a:spcPts val="0"/>
                        </a:spcBef>
                        <a:spcAft>
                          <a:spcPts val="0"/>
                        </a:spcAft>
                        <a:buNone/>
                      </a:pPr>
                      <a:r>
                        <a:rPr lang="en" sz="800">
                          <a:solidFill>
                            <a:srgbClr val="FFFFFF"/>
                          </a:solidFill>
                        </a:rPr>
                        <a:t>Iteration</a:t>
                      </a:r>
                      <a:endParaRPr sz="8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700">
                          <a:solidFill>
                            <a:srgbClr val="FFFFFF"/>
                          </a:solidFill>
                        </a:rPr>
                        <a:t>Finalized Vertex</a:t>
                      </a:r>
                      <a:endParaRPr sz="7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A</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B</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C</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D</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E</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F</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G</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H</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595959"/>
                    </a:solidFill>
                  </a:tcPr>
                </a:tc>
                <a:tc>
                  <a:txBody>
                    <a:bodyPr/>
                    <a:lstStyle/>
                    <a:p>
                      <a:pPr indent="0" lvl="0" marL="0" rtl="0" algn="ctr">
                        <a:spcBef>
                          <a:spcPts val="0"/>
                        </a:spcBef>
                        <a:spcAft>
                          <a:spcPts val="0"/>
                        </a:spcAft>
                        <a:buNone/>
                      </a:pPr>
                      <a:r>
                        <a:rPr lang="en" sz="1200"/>
                        <a:t>0,null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7</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771" name="Google Shape;1771;p82"/>
          <p:cNvSpPr txBox="1"/>
          <p:nvPr/>
        </p:nvSpPr>
        <p:spPr>
          <a:xfrm>
            <a:off x="6204367" y="3602101"/>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sp>
        <p:nvSpPr>
          <p:cNvPr id="1772" name="Google Shape;1772;p82"/>
          <p:cNvSpPr txBox="1"/>
          <p:nvPr/>
        </p:nvSpPr>
        <p:spPr>
          <a:xfrm>
            <a:off x="828997" y="1853273"/>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773" name="Google Shape;1773;p82"/>
          <p:cNvSpPr txBox="1"/>
          <p:nvPr/>
        </p:nvSpPr>
        <p:spPr>
          <a:xfrm>
            <a:off x="783828" y="221875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774" name="Google Shape;1774;p82"/>
          <p:cNvSpPr txBox="1"/>
          <p:nvPr/>
        </p:nvSpPr>
        <p:spPr>
          <a:xfrm>
            <a:off x="791586" y="2584241"/>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775" name="Google Shape;1775;p82"/>
          <p:cNvSpPr txBox="1"/>
          <p:nvPr/>
        </p:nvSpPr>
        <p:spPr>
          <a:xfrm>
            <a:off x="783828" y="2965241"/>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776" name="Google Shape;1776;p82"/>
          <p:cNvSpPr txBox="1"/>
          <p:nvPr/>
        </p:nvSpPr>
        <p:spPr>
          <a:xfrm>
            <a:off x="783828" y="332296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777" name="Google Shape;1777;p82"/>
          <p:cNvSpPr txBox="1"/>
          <p:nvPr/>
        </p:nvSpPr>
        <p:spPr>
          <a:xfrm>
            <a:off x="783828" y="3688451"/>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778" name="Google Shape;1778;p82"/>
          <p:cNvSpPr txBox="1"/>
          <p:nvPr/>
        </p:nvSpPr>
        <p:spPr>
          <a:xfrm>
            <a:off x="776070" y="4024283"/>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779" name="Google Shape;1779;p82"/>
          <p:cNvSpPr txBox="1"/>
          <p:nvPr/>
        </p:nvSpPr>
        <p:spPr>
          <a:xfrm>
            <a:off x="776070" y="438976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780" name="Google Shape;1780;p82"/>
          <p:cNvSpPr txBox="1"/>
          <p:nvPr/>
        </p:nvSpPr>
        <p:spPr>
          <a:xfrm>
            <a:off x="1413320" y="1853955"/>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81" name="Google Shape;1781;p82"/>
          <p:cNvSpPr txBox="1"/>
          <p:nvPr/>
        </p:nvSpPr>
        <p:spPr>
          <a:xfrm>
            <a:off x="1957860" y="1853273"/>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4, A</a:t>
            </a:r>
            <a:endParaRPr sz="2000">
              <a:solidFill>
                <a:srgbClr val="FF0000"/>
              </a:solidFill>
              <a:latin typeface="Shadows Into Light"/>
              <a:ea typeface="Shadows Into Light"/>
              <a:cs typeface="Shadows Into Light"/>
              <a:sym typeface="Shadows Into Light"/>
            </a:endParaRPr>
          </a:p>
        </p:txBody>
      </p:sp>
      <p:sp>
        <p:nvSpPr>
          <p:cNvPr id="1782" name="Google Shape;1782;p82"/>
          <p:cNvSpPr txBox="1"/>
          <p:nvPr/>
        </p:nvSpPr>
        <p:spPr>
          <a:xfrm>
            <a:off x="2512662" y="1853957"/>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2, A</a:t>
            </a:r>
            <a:endParaRPr sz="2000">
              <a:solidFill>
                <a:srgbClr val="FF0000"/>
              </a:solidFill>
              <a:latin typeface="Shadows Into Light"/>
              <a:ea typeface="Shadows Into Light"/>
              <a:cs typeface="Shadows Into Light"/>
              <a:sym typeface="Shadows Into Light"/>
            </a:endParaRPr>
          </a:p>
        </p:txBody>
      </p:sp>
      <p:sp>
        <p:nvSpPr>
          <p:cNvPr id="1783" name="Google Shape;1783;p82"/>
          <p:cNvSpPr txBox="1"/>
          <p:nvPr/>
        </p:nvSpPr>
        <p:spPr>
          <a:xfrm>
            <a:off x="3731862" y="2197546"/>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5, C</a:t>
            </a:r>
            <a:endParaRPr sz="2000">
              <a:solidFill>
                <a:srgbClr val="FF0000"/>
              </a:solidFill>
              <a:latin typeface="Shadows Into Light"/>
              <a:ea typeface="Shadows Into Light"/>
              <a:cs typeface="Shadows Into Light"/>
              <a:sym typeface="Shadows Into Light"/>
            </a:endParaRPr>
          </a:p>
        </p:txBody>
      </p:sp>
      <p:sp>
        <p:nvSpPr>
          <p:cNvPr id="1784" name="Google Shape;1784;p82"/>
          <p:cNvSpPr txBox="1"/>
          <p:nvPr/>
        </p:nvSpPr>
        <p:spPr>
          <a:xfrm>
            <a:off x="2623382" y="2203924"/>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85" name="Google Shape;1785;p82"/>
          <p:cNvSpPr txBox="1"/>
          <p:nvPr/>
        </p:nvSpPr>
        <p:spPr>
          <a:xfrm>
            <a:off x="3167431" y="2578546"/>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14, B</a:t>
            </a:r>
            <a:endParaRPr sz="2000">
              <a:solidFill>
                <a:srgbClr val="FF0000"/>
              </a:solidFill>
              <a:latin typeface="Shadows Into Light"/>
              <a:ea typeface="Shadows Into Light"/>
              <a:cs typeface="Shadows Into Light"/>
              <a:sym typeface="Shadows Into Light"/>
            </a:endParaRPr>
          </a:p>
        </p:txBody>
      </p:sp>
      <p:sp>
        <p:nvSpPr>
          <p:cNvPr id="1786" name="Google Shape;1786;p82"/>
          <p:cNvSpPr txBox="1"/>
          <p:nvPr/>
        </p:nvSpPr>
        <p:spPr>
          <a:xfrm>
            <a:off x="2021540" y="2561650"/>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87" name="Google Shape;1787;p82"/>
          <p:cNvSpPr txBox="1"/>
          <p:nvPr/>
        </p:nvSpPr>
        <p:spPr>
          <a:xfrm>
            <a:off x="3167431" y="2928515"/>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9, E</a:t>
            </a:r>
            <a:endParaRPr sz="2000">
              <a:solidFill>
                <a:srgbClr val="FF0000"/>
              </a:solidFill>
              <a:latin typeface="Shadows Into Light"/>
              <a:ea typeface="Shadows Into Light"/>
              <a:cs typeface="Shadows Into Light"/>
              <a:sym typeface="Shadows Into Light"/>
            </a:endParaRPr>
          </a:p>
        </p:txBody>
      </p:sp>
      <p:sp>
        <p:nvSpPr>
          <p:cNvPr id="1788" name="Google Shape;1788;p82"/>
          <p:cNvSpPr txBox="1"/>
          <p:nvPr/>
        </p:nvSpPr>
        <p:spPr>
          <a:xfrm>
            <a:off x="4310431" y="2928515"/>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13, E</a:t>
            </a:r>
            <a:endParaRPr sz="2000">
              <a:solidFill>
                <a:srgbClr val="FF0000"/>
              </a:solidFill>
              <a:latin typeface="Shadows Into Light"/>
              <a:ea typeface="Shadows Into Light"/>
              <a:cs typeface="Shadows Into Light"/>
              <a:sym typeface="Shadows Into Light"/>
            </a:endParaRPr>
          </a:p>
        </p:txBody>
      </p:sp>
      <p:sp>
        <p:nvSpPr>
          <p:cNvPr id="1789" name="Google Shape;1789;p82"/>
          <p:cNvSpPr txBox="1"/>
          <p:nvPr/>
        </p:nvSpPr>
        <p:spPr>
          <a:xfrm>
            <a:off x="4920031" y="2928515"/>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7, E</a:t>
            </a:r>
            <a:endParaRPr sz="2000">
              <a:solidFill>
                <a:srgbClr val="FF0000"/>
              </a:solidFill>
              <a:latin typeface="Shadows Into Light"/>
              <a:ea typeface="Shadows Into Light"/>
              <a:cs typeface="Shadows Into Light"/>
              <a:sym typeface="Shadows Into Light"/>
            </a:endParaRPr>
          </a:p>
        </p:txBody>
      </p:sp>
      <p:sp>
        <p:nvSpPr>
          <p:cNvPr id="1790" name="Google Shape;1790;p82"/>
          <p:cNvSpPr txBox="1"/>
          <p:nvPr/>
        </p:nvSpPr>
        <p:spPr>
          <a:xfrm>
            <a:off x="3812930" y="2942650"/>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91" name="Google Shape;1791;p82"/>
          <p:cNvSpPr txBox="1"/>
          <p:nvPr/>
        </p:nvSpPr>
        <p:spPr>
          <a:xfrm>
            <a:off x="5514115" y="3309515"/>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13, G</a:t>
            </a:r>
            <a:endParaRPr sz="2000">
              <a:solidFill>
                <a:srgbClr val="FF0000"/>
              </a:solidFill>
              <a:latin typeface="Shadows Into Light"/>
              <a:ea typeface="Shadows Into Light"/>
              <a:cs typeface="Shadows Into Light"/>
              <a:sym typeface="Shadows Into Light"/>
            </a:endParaRPr>
          </a:p>
        </p:txBody>
      </p:sp>
      <p:sp>
        <p:nvSpPr>
          <p:cNvPr id="1792" name="Google Shape;1792;p82"/>
          <p:cNvSpPr txBox="1"/>
          <p:nvPr/>
        </p:nvSpPr>
        <p:spPr>
          <a:xfrm>
            <a:off x="5010235" y="3292618"/>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grpSp>
        <p:nvGrpSpPr>
          <p:cNvPr id="1793" name="Google Shape;1793;p82"/>
          <p:cNvGrpSpPr/>
          <p:nvPr/>
        </p:nvGrpSpPr>
        <p:grpSpPr>
          <a:xfrm>
            <a:off x="6173204" y="1068352"/>
            <a:ext cx="2819709" cy="2625031"/>
            <a:chOff x="6128035" y="1373152"/>
            <a:chExt cx="2819709" cy="2625031"/>
          </a:xfrm>
        </p:grpSpPr>
        <p:sp>
          <p:nvSpPr>
            <p:cNvPr id="1794" name="Google Shape;1794;p82"/>
            <p:cNvSpPr/>
            <p:nvPr/>
          </p:nvSpPr>
          <p:spPr>
            <a:xfrm>
              <a:off x="6339634" y="1410609"/>
              <a:ext cx="420900" cy="420900"/>
            </a:xfrm>
            <a:prstGeom prst="ellipse">
              <a:avLst/>
            </a:prstGeom>
            <a:solidFill>
              <a:srgbClr val="FF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795" name="Google Shape;1795;p82"/>
            <p:cNvSpPr/>
            <p:nvPr/>
          </p:nvSpPr>
          <p:spPr>
            <a:xfrm>
              <a:off x="6236777" y="22315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796" name="Google Shape;1796;p82"/>
            <p:cNvSpPr/>
            <p:nvPr/>
          </p:nvSpPr>
          <p:spPr>
            <a:xfrm>
              <a:off x="7251100" y="137315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cxnSp>
          <p:nvCxnSpPr>
            <p:cNvPr id="1797" name="Google Shape;1797;p82"/>
            <p:cNvCxnSpPr>
              <a:stCxn id="1794" idx="6"/>
              <a:endCxn id="1796" idx="2"/>
            </p:cNvCxnSpPr>
            <p:nvPr/>
          </p:nvCxnSpPr>
          <p:spPr>
            <a:xfrm flipH="1" rot="10800000">
              <a:off x="6760534" y="1583559"/>
              <a:ext cx="490500" cy="37500"/>
            </a:xfrm>
            <a:prstGeom prst="straightConnector1">
              <a:avLst/>
            </a:prstGeom>
            <a:noFill/>
            <a:ln cap="flat" cmpd="sng" w="19050">
              <a:solidFill>
                <a:srgbClr val="000000"/>
              </a:solidFill>
              <a:prstDash val="solid"/>
              <a:round/>
              <a:headEnd len="med" w="med" type="none"/>
              <a:tailEnd len="med" w="med" type="none"/>
            </a:ln>
          </p:spPr>
        </p:cxnSp>
        <p:cxnSp>
          <p:nvCxnSpPr>
            <p:cNvPr id="1798" name="Google Shape;1798;p82"/>
            <p:cNvCxnSpPr>
              <a:stCxn id="1794" idx="4"/>
              <a:endCxn id="1795" idx="0"/>
            </p:cNvCxnSpPr>
            <p:nvPr/>
          </p:nvCxnSpPr>
          <p:spPr>
            <a:xfrm flipH="1">
              <a:off x="6447184" y="1831509"/>
              <a:ext cx="102900" cy="400200"/>
            </a:xfrm>
            <a:prstGeom prst="straightConnector1">
              <a:avLst/>
            </a:prstGeom>
            <a:noFill/>
            <a:ln cap="flat" cmpd="sng" w="19050">
              <a:solidFill>
                <a:srgbClr val="000000"/>
              </a:solidFill>
              <a:prstDash val="solid"/>
              <a:round/>
              <a:headEnd len="med" w="med" type="none"/>
              <a:tailEnd len="med" w="med" type="none"/>
            </a:ln>
          </p:spPr>
        </p:cxnSp>
        <p:cxnSp>
          <p:nvCxnSpPr>
            <p:cNvPr id="1799" name="Google Shape;1799;p82"/>
            <p:cNvCxnSpPr>
              <a:endCxn id="1796" idx="3"/>
            </p:cNvCxnSpPr>
            <p:nvPr/>
          </p:nvCxnSpPr>
          <p:spPr>
            <a:xfrm flipH="1" rot="10800000">
              <a:off x="6596039" y="1732419"/>
              <a:ext cx="716700" cy="560700"/>
            </a:xfrm>
            <a:prstGeom prst="straightConnector1">
              <a:avLst/>
            </a:prstGeom>
            <a:noFill/>
            <a:ln cap="flat" cmpd="sng" w="19050">
              <a:solidFill>
                <a:srgbClr val="000000"/>
              </a:solidFill>
              <a:prstDash val="solid"/>
              <a:round/>
              <a:headEnd len="med" w="med" type="none"/>
              <a:tailEnd len="med" w="med" type="none"/>
            </a:ln>
          </p:spPr>
        </p:cxnSp>
        <p:sp>
          <p:nvSpPr>
            <p:cNvPr id="1800" name="Google Shape;1800;p82"/>
            <p:cNvSpPr/>
            <p:nvPr/>
          </p:nvSpPr>
          <p:spPr>
            <a:xfrm>
              <a:off x="7837950" y="197063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801" name="Google Shape;1801;p82"/>
            <p:cNvSpPr/>
            <p:nvPr/>
          </p:nvSpPr>
          <p:spPr>
            <a:xfrm>
              <a:off x="8169900" y="265248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802" name="Google Shape;1802;p82"/>
            <p:cNvSpPr/>
            <p:nvPr/>
          </p:nvSpPr>
          <p:spPr>
            <a:xfrm>
              <a:off x="6568225" y="3003871"/>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1803" name="Google Shape;1803;p82"/>
            <p:cNvCxnSpPr>
              <a:stCxn id="1796" idx="5"/>
              <a:endCxn id="1800" idx="1"/>
            </p:cNvCxnSpPr>
            <p:nvPr/>
          </p:nvCxnSpPr>
          <p:spPr>
            <a:xfrm>
              <a:off x="7610360" y="1732419"/>
              <a:ext cx="289200" cy="300000"/>
            </a:xfrm>
            <a:prstGeom prst="straightConnector1">
              <a:avLst/>
            </a:prstGeom>
            <a:noFill/>
            <a:ln cap="flat" cmpd="sng" w="19050">
              <a:solidFill>
                <a:srgbClr val="000000"/>
              </a:solidFill>
              <a:prstDash val="solid"/>
              <a:round/>
              <a:headEnd len="med" w="med" type="none"/>
              <a:tailEnd len="med" w="med" type="none"/>
            </a:ln>
          </p:spPr>
        </p:cxnSp>
        <p:cxnSp>
          <p:nvCxnSpPr>
            <p:cNvPr id="1804" name="Google Shape;1804;p82"/>
            <p:cNvCxnSpPr>
              <a:stCxn id="1795" idx="4"/>
              <a:endCxn id="1802" idx="1"/>
            </p:cNvCxnSpPr>
            <p:nvPr/>
          </p:nvCxnSpPr>
          <p:spPr>
            <a:xfrm>
              <a:off x="6447227" y="2652466"/>
              <a:ext cx="182700" cy="413100"/>
            </a:xfrm>
            <a:prstGeom prst="straightConnector1">
              <a:avLst/>
            </a:prstGeom>
            <a:noFill/>
            <a:ln cap="flat" cmpd="sng" w="19050">
              <a:solidFill>
                <a:srgbClr val="000000"/>
              </a:solidFill>
              <a:prstDash val="solid"/>
              <a:round/>
              <a:headEnd len="med" w="med" type="none"/>
              <a:tailEnd len="med" w="med" type="none"/>
            </a:ln>
          </p:spPr>
        </p:cxnSp>
        <p:cxnSp>
          <p:nvCxnSpPr>
            <p:cNvPr id="1805" name="Google Shape;1805;p82"/>
            <p:cNvCxnSpPr>
              <a:stCxn id="1802" idx="6"/>
              <a:endCxn id="1801" idx="2"/>
            </p:cNvCxnSpPr>
            <p:nvPr/>
          </p:nvCxnSpPr>
          <p:spPr>
            <a:xfrm flipH="1" rot="10800000">
              <a:off x="6989125" y="2863021"/>
              <a:ext cx="1180800" cy="351300"/>
            </a:xfrm>
            <a:prstGeom prst="straightConnector1">
              <a:avLst/>
            </a:prstGeom>
            <a:noFill/>
            <a:ln cap="flat" cmpd="sng" w="19050">
              <a:solidFill>
                <a:srgbClr val="000000"/>
              </a:solidFill>
              <a:prstDash val="solid"/>
              <a:round/>
              <a:headEnd len="med" w="med" type="none"/>
              <a:tailEnd len="med" w="med" type="none"/>
            </a:ln>
          </p:spPr>
        </p:cxnSp>
        <p:cxnSp>
          <p:nvCxnSpPr>
            <p:cNvPr id="1806" name="Google Shape;1806;p82"/>
            <p:cNvCxnSpPr>
              <a:stCxn id="1802" idx="7"/>
              <a:endCxn id="1800" idx="3"/>
            </p:cNvCxnSpPr>
            <p:nvPr/>
          </p:nvCxnSpPr>
          <p:spPr>
            <a:xfrm flipH="1" rot="10800000">
              <a:off x="6927485" y="2329911"/>
              <a:ext cx="972000" cy="735600"/>
            </a:xfrm>
            <a:prstGeom prst="straightConnector1">
              <a:avLst/>
            </a:prstGeom>
            <a:noFill/>
            <a:ln cap="flat" cmpd="sng" w="19050">
              <a:solidFill>
                <a:srgbClr val="000000"/>
              </a:solidFill>
              <a:prstDash val="solid"/>
              <a:round/>
              <a:headEnd len="med" w="med" type="none"/>
              <a:tailEnd len="med" w="med" type="none"/>
            </a:ln>
          </p:spPr>
        </p:cxnSp>
        <p:cxnSp>
          <p:nvCxnSpPr>
            <p:cNvPr id="1807" name="Google Shape;1807;p82"/>
            <p:cNvCxnSpPr>
              <a:stCxn id="1800" idx="5"/>
              <a:endCxn id="1801" idx="0"/>
            </p:cNvCxnSpPr>
            <p:nvPr/>
          </p:nvCxnSpPr>
          <p:spPr>
            <a:xfrm>
              <a:off x="8197210" y="2329894"/>
              <a:ext cx="183000" cy="322500"/>
            </a:xfrm>
            <a:prstGeom prst="straightConnector1">
              <a:avLst/>
            </a:prstGeom>
            <a:noFill/>
            <a:ln cap="flat" cmpd="sng" w="19050">
              <a:solidFill>
                <a:srgbClr val="000000"/>
              </a:solidFill>
              <a:prstDash val="solid"/>
              <a:round/>
              <a:headEnd len="med" w="med" type="none"/>
              <a:tailEnd len="med" w="med" type="none"/>
            </a:ln>
          </p:spPr>
        </p:cxnSp>
        <p:sp>
          <p:nvSpPr>
            <p:cNvPr id="1808" name="Google Shape;1808;p82"/>
            <p:cNvSpPr/>
            <p:nvPr/>
          </p:nvSpPr>
          <p:spPr>
            <a:xfrm>
              <a:off x="8380225" y="3471909"/>
              <a:ext cx="420900" cy="420900"/>
            </a:xfrm>
            <a:prstGeom prst="ellipse">
              <a:avLst/>
            </a:prstGeom>
            <a:solidFill>
              <a:srgbClr val="00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a:t>
              </a:r>
              <a:endParaRPr/>
            </a:p>
          </p:txBody>
        </p:sp>
        <p:sp>
          <p:nvSpPr>
            <p:cNvPr id="1809" name="Google Shape;1809;p82"/>
            <p:cNvSpPr/>
            <p:nvPr/>
          </p:nvSpPr>
          <p:spPr>
            <a:xfrm>
              <a:off x="7312750" y="357728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810" name="Google Shape;1810;p82"/>
            <p:cNvCxnSpPr>
              <a:stCxn id="1802" idx="5"/>
              <a:endCxn id="1809" idx="1"/>
            </p:cNvCxnSpPr>
            <p:nvPr/>
          </p:nvCxnSpPr>
          <p:spPr>
            <a:xfrm>
              <a:off x="6927485" y="3363132"/>
              <a:ext cx="447000" cy="275700"/>
            </a:xfrm>
            <a:prstGeom prst="straightConnector1">
              <a:avLst/>
            </a:prstGeom>
            <a:noFill/>
            <a:ln cap="flat" cmpd="sng" w="19050">
              <a:solidFill>
                <a:srgbClr val="000000"/>
              </a:solidFill>
              <a:prstDash val="solid"/>
              <a:round/>
              <a:headEnd len="med" w="med" type="none"/>
              <a:tailEnd len="med" w="med" type="none"/>
            </a:ln>
          </p:spPr>
        </p:cxnSp>
        <p:cxnSp>
          <p:nvCxnSpPr>
            <p:cNvPr id="1811" name="Google Shape;1811;p82"/>
            <p:cNvCxnSpPr>
              <a:stCxn id="1809" idx="6"/>
              <a:endCxn id="1808" idx="2"/>
            </p:cNvCxnSpPr>
            <p:nvPr/>
          </p:nvCxnSpPr>
          <p:spPr>
            <a:xfrm flipH="1" rot="10800000">
              <a:off x="7733650" y="3682434"/>
              <a:ext cx="646500" cy="105300"/>
            </a:xfrm>
            <a:prstGeom prst="straightConnector1">
              <a:avLst/>
            </a:prstGeom>
            <a:noFill/>
            <a:ln cap="flat" cmpd="sng" w="19050">
              <a:solidFill>
                <a:srgbClr val="000000"/>
              </a:solidFill>
              <a:prstDash val="solid"/>
              <a:round/>
              <a:headEnd len="med" w="med" type="none"/>
              <a:tailEnd len="med" w="med" type="none"/>
            </a:ln>
          </p:spPr>
        </p:cxnSp>
        <p:cxnSp>
          <p:nvCxnSpPr>
            <p:cNvPr id="1812" name="Google Shape;1812;p82"/>
            <p:cNvCxnSpPr>
              <a:stCxn id="1801" idx="5"/>
              <a:endCxn id="1808" idx="0"/>
            </p:cNvCxnSpPr>
            <p:nvPr/>
          </p:nvCxnSpPr>
          <p:spPr>
            <a:xfrm>
              <a:off x="8529160" y="3011744"/>
              <a:ext cx="61500" cy="460200"/>
            </a:xfrm>
            <a:prstGeom prst="straightConnector1">
              <a:avLst/>
            </a:prstGeom>
            <a:noFill/>
            <a:ln cap="flat" cmpd="sng" w="19050">
              <a:solidFill>
                <a:srgbClr val="000000"/>
              </a:solidFill>
              <a:prstDash val="solid"/>
              <a:round/>
              <a:headEnd len="med" w="med" type="none"/>
              <a:tailEnd len="med" w="med" type="none"/>
            </a:ln>
          </p:spPr>
        </p:cxnSp>
        <p:sp>
          <p:nvSpPr>
            <p:cNvPr id="1813" name="Google Shape;1813;p82"/>
            <p:cNvSpPr txBox="1"/>
            <p:nvPr/>
          </p:nvSpPr>
          <p:spPr>
            <a:xfrm>
              <a:off x="6754835" y="13731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814" name="Google Shape;1814;p82"/>
            <p:cNvSpPr txBox="1"/>
            <p:nvPr/>
          </p:nvSpPr>
          <p:spPr>
            <a:xfrm>
              <a:off x="6128035" y="1891127"/>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15" name="Google Shape;1815;p82"/>
            <p:cNvSpPr txBox="1"/>
            <p:nvPr/>
          </p:nvSpPr>
          <p:spPr>
            <a:xfrm>
              <a:off x="6869198" y="1940327"/>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816" name="Google Shape;1816;p82"/>
            <p:cNvSpPr txBox="1"/>
            <p:nvPr/>
          </p:nvSpPr>
          <p:spPr>
            <a:xfrm>
              <a:off x="7690223" y="16985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817" name="Google Shape;1817;p82"/>
            <p:cNvSpPr txBox="1"/>
            <p:nvPr/>
          </p:nvSpPr>
          <p:spPr>
            <a:xfrm>
              <a:off x="6166223" y="27653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818" name="Google Shape;1818;p82"/>
            <p:cNvSpPr txBox="1"/>
            <p:nvPr/>
          </p:nvSpPr>
          <p:spPr>
            <a:xfrm>
              <a:off x="7080623" y="24605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819" name="Google Shape;1819;p82"/>
            <p:cNvSpPr txBox="1"/>
            <p:nvPr/>
          </p:nvSpPr>
          <p:spPr>
            <a:xfrm>
              <a:off x="7379044" y="2788626"/>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820" name="Google Shape;1820;p82"/>
            <p:cNvSpPr txBox="1"/>
            <p:nvPr/>
          </p:nvSpPr>
          <p:spPr>
            <a:xfrm>
              <a:off x="8445844" y="3093426"/>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821" name="Google Shape;1821;p82"/>
            <p:cNvSpPr txBox="1"/>
            <p:nvPr/>
          </p:nvSpPr>
          <p:spPr>
            <a:xfrm>
              <a:off x="7760044" y="3703026"/>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822" name="Google Shape;1822;p82"/>
            <p:cNvSpPr txBox="1"/>
            <p:nvPr/>
          </p:nvSpPr>
          <p:spPr>
            <a:xfrm>
              <a:off x="6837886" y="3474426"/>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23" name="Google Shape;1823;p82"/>
            <p:cNvSpPr txBox="1"/>
            <p:nvPr/>
          </p:nvSpPr>
          <p:spPr>
            <a:xfrm>
              <a:off x="8223623" y="2308152"/>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p:txBody>
        </p:sp>
      </p:grpSp>
      <p:sp>
        <p:nvSpPr>
          <p:cNvPr id="1824" name="Google Shape;1824;p82"/>
          <p:cNvSpPr txBox="1"/>
          <p:nvPr/>
        </p:nvSpPr>
        <p:spPr>
          <a:xfrm>
            <a:off x="3235741" y="3665860"/>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825" name="Google Shape;1825;p82"/>
          <p:cNvSpPr txBox="1"/>
          <p:nvPr/>
        </p:nvSpPr>
        <p:spPr>
          <a:xfrm>
            <a:off x="4447366" y="4024285"/>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826" name="Google Shape;1826;p82"/>
          <p:cNvSpPr txBox="1"/>
          <p:nvPr/>
        </p:nvSpPr>
        <p:spPr>
          <a:xfrm>
            <a:off x="5584466" y="4389785"/>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827" name="Google Shape;1827;p82"/>
          <p:cNvSpPr txBox="1"/>
          <p:nvPr/>
        </p:nvSpPr>
        <p:spPr>
          <a:xfrm>
            <a:off x="7188465" y="4444690"/>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13</a:t>
            </a:r>
            <a:endParaRPr sz="2000">
              <a:solidFill>
                <a:srgbClr val="FF0000"/>
              </a:solidFill>
              <a:latin typeface="Shadows Into Light"/>
              <a:ea typeface="Shadows Into Light"/>
              <a:cs typeface="Shadows Into Light"/>
              <a:sym typeface="Shadows Into Light"/>
            </a:endParaRPr>
          </a:p>
        </p:txBody>
      </p:sp>
      <p:sp>
        <p:nvSpPr>
          <p:cNvPr id="1828" name="Google Shape;1828;p82"/>
          <p:cNvSpPr txBox="1"/>
          <p:nvPr/>
        </p:nvSpPr>
        <p:spPr>
          <a:xfrm>
            <a:off x="7977236" y="4046492"/>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829" name="Google Shape;1829;p82"/>
          <p:cNvSpPr txBox="1"/>
          <p:nvPr/>
        </p:nvSpPr>
        <p:spPr>
          <a:xfrm>
            <a:off x="7412804" y="4046492"/>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830" name="Google Shape;1830;p82"/>
          <p:cNvSpPr txBox="1"/>
          <p:nvPr/>
        </p:nvSpPr>
        <p:spPr>
          <a:xfrm>
            <a:off x="6841994" y="4046492"/>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831" name="Google Shape;1831;p82"/>
          <p:cNvSpPr txBox="1"/>
          <p:nvPr/>
        </p:nvSpPr>
        <p:spPr>
          <a:xfrm>
            <a:off x="6216878" y="4054250"/>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832" name="Google Shape;1832;p8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13.23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772"/>
                                        </p:tgtEl>
                                        <p:attrNameLst>
                                          <p:attrName>style.visibility</p:attrName>
                                        </p:attrNameLst>
                                      </p:cBhvr>
                                      <p:to>
                                        <p:strVal val="visible"/>
                                      </p:to>
                                    </p:set>
                                    <p:animEffect filter="fade" transition="in">
                                      <p:cBhvr>
                                        <p:cTn dur="1000"/>
                                        <p:tgtEl>
                                          <p:spTgt spid="17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81"/>
                                        </p:tgtEl>
                                        <p:attrNameLst>
                                          <p:attrName>style.visibility</p:attrName>
                                        </p:attrNameLst>
                                      </p:cBhvr>
                                      <p:to>
                                        <p:strVal val="visible"/>
                                      </p:to>
                                    </p:set>
                                    <p:animEffect filter="fade" transition="in">
                                      <p:cBhvr>
                                        <p:cTn dur="1000"/>
                                        <p:tgtEl>
                                          <p:spTgt spid="178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82"/>
                                        </p:tgtEl>
                                        <p:attrNameLst>
                                          <p:attrName>style.visibility</p:attrName>
                                        </p:attrNameLst>
                                      </p:cBhvr>
                                      <p:to>
                                        <p:strVal val="visible"/>
                                      </p:to>
                                    </p:set>
                                    <p:animEffect filter="fade" transition="in">
                                      <p:cBhvr>
                                        <p:cTn dur="1000"/>
                                        <p:tgtEl>
                                          <p:spTgt spid="178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780"/>
                                        </p:tgtEl>
                                        <p:attrNameLst>
                                          <p:attrName>style.visibility</p:attrName>
                                        </p:attrNameLst>
                                      </p:cBhvr>
                                      <p:to>
                                        <p:strVal val="visible"/>
                                      </p:to>
                                    </p:set>
                                    <p:animEffect filter="fade" transition="in">
                                      <p:cBhvr>
                                        <p:cTn dur="1000"/>
                                        <p:tgtEl>
                                          <p:spTgt spid="17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3"/>
                                        </p:tgtEl>
                                        <p:attrNameLst>
                                          <p:attrName>style.visibility</p:attrName>
                                        </p:attrNameLst>
                                      </p:cBhvr>
                                      <p:to>
                                        <p:strVal val="visible"/>
                                      </p:to>
                                    </p:set>
                                    <p:animEffect filter="fade" transition="in">
                                      <p:cBhvr>
                                        <p:cTn dur="1000"/>
                                        <p:tgtEl>
                                          <p:spTgt spid="17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83"/>
                                        </p:tgtEl>
                                        <p:attrNameLst>
                                          <p:attrName>style.visibility</p:attrName>
                                        </p:attrNameLst>
                                      </p:cBhvr>
                                      <p:to>
                                        <p:strVal val="visible"/>
                                      </p:to>
                                    </p:set>
                                    <p:animEffect filter="fade" transition="in">
                                      <p:cBhvr>
                                        <p:cTn dur="1000"/>
                                        <p:tgtEl>
                                          <p:spTgt spid="178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84"/>
                                        </p:tgtEl>
                                        <p:attrNameLst>
                                          <p:attrName>style.visibility</p:attrName>
                                        </p:attrNameLst>
                                      </p:cBhvr>
                                      <p:to>
                                        <p:strVal val="visible"/>
                                      </p:to>
                                    </p:set>
                                    <p:animEffect filter="fade" transition="in">
                                      <p:cBhvr>
                                        <p:cTn dur="1000"/>
                                        <p:tgtEl>
                                          <p:spTgt spid="17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4"/>
                                        </p:tgtEl>
                                        <p:attrNameLst>
                                          <p:attrName>style.visibility</p:attrName>
                                        </p:attrNameLst>
                                      </p:cBhvr>
                                      <p:to>
                                        <p:strVal val="visible"/>
                                      </p:to>
                                    </p:set>
                                    <p:animEffect filter="fade" transition="in">
                                      <p:cBhvr>
                                        <p:cTn dur="1000"/>
                                        <p:tgtEl>
                                          <p:spTgt spid="17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85"/>
                                        </p:tgtEl>
                                        <p:attrNameLst>
                                          <p:attrName>style.visibility</p:attrName>
                                        </p:attrNameLst>
                                      </p:cBhvr>
                                      <p:to>
                                        <p:strVal val="visible"/>
                                      </p:to>
                                    </p:set>
                                    <p:animEffect filter="fade" transition="in">
                                      <p:cBhvr>
                                        <p:cTn dur="1000"/>
                                        <p:tgtEl>
                                          <p:spTgt spid="178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86"/>
                                        </p:tgtEl>
                                        <p:attrNameLst>
                                          <p:attrName>style.visibility</p:attrName>
                                        </p:attrNameLst>
                                      </p:cBhvr>
                                      <p:to>
                                        <p:strVal val="visible"/>
                                      </p:to>
                                    </p:set>
                                    <p:animEffect filter="fade" transition="in">
                                      <p:cBhvr>
                                        <p:cTn dur="1000"/>
                                        <p:tgtEl>
                                          <p:spTgt spid="17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5"/>
                                        </p:tgtEl>
                                        <p:attrNameLst>
                                          <p:attrName>style.visibility</p:attrName>
                                        </p:attrNameLst>
                                      </p:cBhvr>
                                      <p:to>
                                        <p:strVal val="visible"/>
                                      </p:to>
                                    </p:set>
                                    <p:animEffect filter="fade" transition="in">
                                      <p:cBhvr>
                                        <p:cTn dur="1000"/>
                                        <p:tgtEl>
                                          <p:spTgt spid="17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87"/>
                                        </p:tgtEl>
                                        <p:attrNameLst>
                                          <p:attrName>style.visibility</p:attrName>
                                        </p:attrNameLst>
                                      </p:cBhvr>
                                      <p:to>
                                        <p:strVal val="visible"/>
                                      </p:to>
                                    </p:set>
                                    <p:animEffect filter="fade" transition="in">
                                      <p:cBhvr>
                                        <p:cTn dur="1000"/>
                                        <p:tgtEl>
                                          <p:spTgt spid="178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88"/>
                                        </p:tgtEl>
                                        <p:attrNameLst>
                                          <p:attrName>style.visibility</p:attrName>
                                        </p:attrNameLst>
                                      </p:cBhvr>
                                      <p:to>
                                        <p:strVal val="visible"/>
                                      </p:to>
                                    </p:set>
                                    <p:animEffect filter="fade" transition="in">
                                      <p:cBhvr>
                                        <p:cTn dur="1000"/>
                                        <p:tgtEl>
                                          <p:spTgt spid="1788"/>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789"/>
                                        </p:tgtEl>
                                        <p:attrNameLst>
                                          <p:attrName>style.visibility</p:attrName>
                                        </p:attrNameLst>
                                      </p:cBhvr>
                                      <p:to>
                                        <p:strVal val="visible"/>
                                      </p:to>
                                    </p:set>
                                    <p:animEffect filter="fade" transition="in">
                                      <p:cBhvr>
                                        <p:cTn dur="1000"/>
                                        <p:tgtEl>
                                          <p:spTgt spid="178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790"/>
                                        </p:tgtEl>
                                        <p:attrNameLst>
                                          <p:attrName>style.visibility</p:attrName>
                                        </p:attrNameLst>
                                      </p:cBhvr>
                                      <p:to>
                                        <p:strVal val="visible"/>
                                      </p:to>
                                    </p:set>
                                    <p:animEffect filter="fade" transition="in">
                                      <p:cBhvr>
                                        <p:cTn dur="1000"/>
                                        <p:tgtEl>
                                          <p:spTgt spid="17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6"/>
                                        </p:tgtEl>
                                        <p:attrNameLst>
                                          <p:attrName>style.visibility</p:attrName>
                                        </p:attrNameLst>
                                      </p:cBhvr>
                                      <p:to>
                                        <p:strVal val="visible"/>
                                      </p:to>
                                    </p:set>
                                    <p:animEffect filter="fade" transition="in">
                                      <p:cBhvr>
                                        <p:cTn dur="1000"/>
                                        <p:tgtEl>
                                          <p:spTgt spid="17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91"/>
                                        </p:tgtEl>
                                        <p:attrNameLst>
                                          <p:attrName>style.visibility</p:attrName>
                                        </p:attrNameLst>
                                      </p:cBhvr>
                                      <p:to>
                                        <p:strVal val="visible"/>
                                      </p:to>
                                    </p:set>
                                    <p:animEffect filter="fade" transition="in">
                                      <p:cBhvr>
                                        <p:cTn dur="1000"/>
                                        <p:tgtEl>
                                          <p:spTgt spid="179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92"/>
                                        </p:tgtEl>
                                        <p:attrNameLst>
                                          <p:attrName>style.visibility</p:attrName>
                                        </p:attrNameLst>
                                      </p:cBhvr>
                                      <p:to>
                                        <p:strVal val="visible"/>
                                      </p:to>
                                    </p:set>
                                    <p:animEffect filter="fade" transition="in">
                                      <p:cBhvr>
                                        <p:cTn dur="1000"/>
                                        <p:tgtEl>
                                          <p:spTgt spid="17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7"/>
                                        </p:tgtEl>
                                        <p:attrNameLst>
                                          <p:attrName>style.visibility</p:attrName>
                                        </p:attrNameLst>
                                      </p:cBhvr>
                                      <p:to>
                                        <p:strVal val="visible"/>
                                      </p:to>
                                    </p:set>
                                    <p:animEffect filter="fade" transition="in">
                                      <p:cBhvr>
                                        <p:cTn dur="1000"/>
                                        <p:tgtEl>
                                          <p:spTgt spid="177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24"/>
                                        </p:tgtEl>
                                        <p:attrNameLst>
                                          <p:attrName>style.visibility</p:attrName>
                                        </p:attrNameLst>
                                      </p:cBhvr>
                                      <p:to>
                                        <p:strVal val="visible"/>
                                      </p:to>
                                    </p:set>
                                    <p:animEffect filter="fade" transition="in">
                                      <p:cBhvr>
                                        <p:cTn dur="1000"/>
                                        <p:tgtEl>
                                          <p:spTgt spid="18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8"/>
                                        </p:tgtEl>
                                        <p:attrNameLst>
                                          <p:attrName>style.visibility</p:attrName>
                                        </p:attrNameLst>
                                      </p:cBhvr>
                                      <p:to>
                                        <p:strVal val="visible"/>
                                      </p:to>
                                    </p:set>
                                    <p:animEffect filter="fade" transition="in">
                                      <p:cBhvr>
                                        <p:cTn dur="1000"/>
                                        <p:tgtEl>
                                          <p:spTgt spid="17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25"/>
                                        </p:tgtEl>
                                        <p:attrNameLst>
                                          <p:attrName>style.visibility</p:attrName>
                                        </p:attrNameLst>
                                      </p:cBhvr>
                                      <p:to>
                                        <p:strVal val="visible"/>
                                      </p:to>
                                    </p:set>
                                    <p:animEffect filter="fade" transition="in">
                                      <p:cBhvr>
                                        <p:cTn dur="1000"/>
                                        <p:tgtEl>
                                          <p:spTgt spid="1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gtEl>
                                        <p:attrNameLst>
                                          <p:attrName>style.visibility</p:attrName>
                                        </p:attrNameLst>
                                      </p:cBhvr>
                                      <p:to>
                                        <p:strVal val="visible"/>
                                      </p:to>
                                    </p:set>
                                    <p:animEffect filter="fade" transition="in">
                                      <p:cBhvr>
                                        <p:cTn dur="1000"/>
                                        <p:tgtEl>
                                          <p:spTgt spid="17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26"/>
                                        </p:tgtEl>
                                        <p:attrNameLst>
                                          <p:attrName>style.visibility</p:attrName>
                                        </p:attrNameLst>
                                      </p:cBhvr>
                                      <p:to>
                                        <p:strVal val="visible"/>
                                      </p:to>
                                    </p:set>
                                    <p:animEffect filter="fade" transition="in">
                                      <p:cBhvr>
                                        <p:cTn dur="1000"/>
                                        <p:tgtEl>
                                          <p:spTgt spid="1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5"/>
                                        </p:tgtEl>
                                        <p:attrNameLst>
                                          <p:attrName>style.visibility</p:attrName>
                                        </p:attrNameLst>
                                      </p:cBhvr>
                                      <p:to>
                                        <p:strVal val="visible"/>
                                      </p:to>
                                    </p:set>
                                    <p:animEffect filter="fade" transition="in">
                                      <p:cBhvr>
                                        <p:cTn dur="1000"/>
                                        <p:tgtEl>
                                          <p:spTgt spid="17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27"/>
                                        </p:tgtEl>
                                        <p:attrNameLst>
                                          <p:attrName>style.visibility</p:attrName>
                                        </p:attrNameLst>
                                      </p:cBhvr>
                                      <p:to>
                                        <p:strVal val="visible"/>
                                      </p:to>
                                    </p:set>
                                    <p:animEffect filter="fade" transition="in">
                                      <p:cBhvr>
                                        <p:cTn dur="1000"/>
                                        <p:tgtEl>
                                          <p:spTgt spid="18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8"/>
                                        </p:tgtEl>
                                        <p:attrNameLst>
                                          <p:attrName>style.visibility</p:attrName>
                                        </p:attrNameLst>
                                      </p:cBhvr>
                                      <p:to>
                                        <p:strVal val="visible"/>
                                      </p:to>
                                    </p:set>
                                    <p:animEffect filter="fade" transition="in">
                                      <p:cBhvr>
                                        <p:cTn dur="1000"/>
                                        <p:tgtEl>
                                          <p:spTgt spid="18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29"/>
                                        </p:tgtEl>
                                        <p:attrNameLst>
                                          <p:attrName>style.visibility</p:attrName>
                                        </p:attrNameLst>
                                      </p:cBhvr>
                                      <p:to>
                                        <p:strVal val="visible"/>
                                      </p:to>
                                    </p:set>
                                    <p:animEffect filter="fade" transition="in">
                                      <p:cBhvr>
                                        <p:cTn dur="1000"/>
                                        <p:tgtEl>
                                          <p:spTgt spid="182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830"/>
                                        </p:tgtEl>
                                        <p:attrNameLst>
                                          <p:attrName>style.visibility</p:attrName>
                                        </p:attrNameLst>
                                      </p:cBhvr>
                                      <p:to>
                                        <p:strVal val="visible"/>
                                      </p:to>
                                    </p:set>
                                    <p:animEffect filter="fade" transition="in">
                                      <p:cBhvr>
                                        <p:cTn dur="1000"/>
                                        <p:tgtEl>
                                          <p:spTgt spid="183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831"/>
                                        </p:tgtEl>
                                        <p:attrNameLst>
                                          <p:attrName>style.visibility</p:attrName>
                                        </p:attrNameLst>
                                      </p:cBhvr>
                                      <p:to>
                                        <p:strVal val="visible"/>
                                      </p:to>
                                    </p:set>
                                    <p:animEffect filter="fade" transition="in">
                                      <p:cBhvr>
                                        <p:cTn dur="1000"/>
                                        <p:tgtEl>
                                          <p:spTgt spid="18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6" name="Shape 1836"/>
        <p:cNvGrpSpPr/>
        <p:nvPr/>
      </p:nvGrpSpPr>
      <p:grpSpPr>
        <a:xfrm>
          <a:off x="0" y="0"/>
          <a:ext cx="0" cy="0"/>
          <a:chOff x="0" y="0"/>
          <a:chExt cx="0" cy="0"/>
        </a:xfrm>
      </p:grpSpPr>
      <p:graphicFrame>
        <p:nvGraphicFramePr>
          <p:cNvPr id="1837" name="Google Shape;1837;p83"/>
          <p:cNvGraphicFramePr/>
          <p:nvPr/>
        </p:nvGraphicFramePr>
        <p:xfrm>
          <a:off x="6135915" y="3865417"/>
          <a:ext cx="3000000" cy="3000000"/>
        </p:xfrm>
        <a:graphic>
          <a:graphicData uri="http://schemas.openxmlformats.org/drawingml/2006/table">
            <a:tbl>
              <a:tblPr>
                <a:noFill/>
                <a:tableStyleId>{89CCAE03-A2B2-4379-B0C2-E101A7E113D6}</a:tableStyleId>
              </a:tblPr>
              <a:tblGrid>
                <a:gridCol w="409025"/>
                <a:gridCol w="409025"/>
                <a:gridCol w="409025"/>
                <a:gridCol w="409025"/>
                <a:gridCol w="409025"/>
                <a:gridCol w="409025"/>
                <a:gridCol w="409025"/>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838" name="Google Shape;1838;p83"/>
          <p:cNvSpPr txBox="1"/>
          <p:nvPr/>
        </p:nvSpPr>
        <p:spPr>
          <a:xfrm>
            <a:off x="6135925" y="4261617"/>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839" name="Google Shape;1839;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840" name="Google Shape;1840;p83"/>
          <p:cNvGraphicFramePr/>
          <p:nvPr/>
        </p:nvGraphicFramePr>
        <p:xfrm>
          <a:off x="84252" y="891217"/>
          <a:ext cx="3000000" cy="3000000"/>
        </p:xfrm>
        <a:graphic>
          <a:graphicData uri="http://schemas.openxmlformats.org/drawingml/2006/table">
            <a:tbl>
              <a:tblPr>
                <a:noFill/>
                <a:tableStyleId>{89CCAE03-A2B2-4379-B0C2-E101A7E113D6}</a:tableStyleId>
              </a:tblPr>
              <a:tblGrid>
                <a:gridCol w="589450"/>
                <a:gridCol w="589450"/>
                <a:gridCol w="589450"/>
                <a:gridCol w="589450"/>
                <a:gridCol w="589450"/>
                <a:gridCol w="589450"/>
                <a:gridCol w="589450"/>
                <a:gridCol w="589450"/>
                <a:gridCol w="589450"/>
                <a:gridCol w="589450"/>
              </a:tblGrid>
              <a:tr h="409125">
                <a:tc>
                  <a:txBody>
                    <a:bodyPr/>
                    <a:lstStyle/>
                    <a:p>
                      <a:pPr indent="0" lvl="0" marL="0" rtl="0" algn="ctr">
                        <a:spcBef>
                          <a:spcPts val="0"/>
                        </a:spcBef>
                        <a:spcAft>
                          <a:spcPts val="0"/>
                        </a:spcAft>
                        <a:buNone/>
                      </a:pPr>
                      <a:r>
                        <a:rPr lang="en" sz="800">
                          <a:solidFill>
                            <a:srgbClr val="FFFFFF"/>
                          </a:solidFill>
                        </a:rPr>
                        <a:t>Iteration</a:t>
                      </a:r>
                      <a:endParaRPr sz="8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700">
                          <a:solidFill>
                            <a:srgbClr val="FFFFFF"/>
                          </a:solidFill>
                        </a:rPr>
                        <a:t>Finalized Vertex</a:t>
                      </a:r>
                      <a:endParaRPr sz="7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A</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B</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C</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D</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E</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F</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G</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H</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t>0,null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7</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841" name="Google Shape;1841;p83"/>
          <p:cNvSpPr txBox="1"/>
          <p:nvPr/>
        </p:nvSpPr>
        <p:spPr>
          <a:xfrm>
            <a:off x="6135925" y="3465217"/>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grpSp>
        <p:nvGrpSpPr>
          <p:cNvPr id="1842" name="Google Shape;1842;p83"/>
          <p:cNvGrpSpPr/>
          <p:nvPr/>
        </p:nvGrpSpPr>
        <p:grpSpPr>
          <a:xfrm>
            <a:off x="6273919" y="1025531"/>
            <a:ext cx="2787283" cy="2434444"/>
            <a:chOff x="6244267" y="1490489"/>
            <a:chExt cx="2787283" cy="2434444"/>
          </a:xfrm>
        </p:grpSpPr>
        <p:sp>
          <p:nvSpPr>
            <p:cNvPr id="1843" name="Google Shape;1843;p83"/>
            <p:cNvSpPr/>
            <p:nvPr/>
          </p:nvSpPr>
          <p:spPr>
            <a:xfrm>
              <a:off x="6509073" y="1523331"/>
              <a:ext cx="420900" cy="420900"/>
            </a:xfrm>
            <a:prstGeom prst="ellipse">
              <a:avLst/>
            </a:prstGeom>
            <a:solidFill>
              <a:srgbClr val="FF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844" name="Google Shape;1844;p83"/>
            <p:cNvSpPr/>
            <p:nvPr/>
          </p:nvSpPr>
          <p:spPr>
            <a:xfrm>
              <a:off x="7308611" y="228147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845" name="Google Shape;1845;p83"/>
            <p:cNvSpPr/>
            <p:nvPr/>
          </p:nvSpPr>
          <p:spPr>
            <a:xfrm>
              <a:off x="6244267" y="249803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846" name="Google Shape;1846;p83"/>
            <p:cNvSpPr/>
            <p:nvPr/>
          </p:nvSpPr>
          <p:spPr>
            <a:xfrm>
              <a:off x="7537864" y="1523331"/>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847" name="Google Shape;1847;p83"/>
            <p:cNvSpPr/>
            <p:nvPr/>
          </p:nvSpPr>
          <p:spPr>
            <a:xfrm>
              <a:off x="8610649" y="3126141"/>
              <a:ext cx="420900" cy="420900"/>
            </a:xfrm>
            <a:prstGeom prst="ellipse">
              <a:avLst/>
            </a:prstGeom>
            <a:solidFill>
              <a:srgbClr val="00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a:t>
              </a:r>
              <a:endParaRPr/>
            </a:p>
          </p:txBody>
        </p:sp>
        <p:sp>
          <p:nvSpPr>
            <p:cNvPr id="1848" name="Google Shape;1848;p83"/>
            <p:cNvSpPr/>
            <p:nvPr/>
          </p:nvSpPr>
          <p:spPr>
            <a:xfrm>
              <a:off x="8470371" y="214598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849" name="Google Shape;1849;p83"/>
            <p:cNvSpPr/>
            <p:nvPr/>
          </p:nvSpPr>
          <p:spPr>
            <a:xfrm>
              <a:off x="6990642" y="33682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1850" name="Google Shape;1850;p83"/>
            <p:cNvCxnSpPr>
              <a:stCxn id="1843" idx="3"/>
              <a:endCxn id="1845" idx="0"/>
            </p:cNvCxnSpPr>
            <p:nvPr/>
          </p:nvCxnSpPr>
          <p:spPr>
            <a:xfrm flipH="1">
              <a:off x="6454613" y="1882592"/>
              <a:ext cx="116100" cy="615300"/>
            </a:xfrm>
            <a:prstGeom prst="straightConnector1">
              <a:avLst/>
            </a:prstGeom>
            <a:noFill/>
            <a:ln cap="flat" cmpd="sng" w="19050">
              <a:solidFill>
                <a:srgbClr val="000000"/>
              </a:solidFill>
              <a:prstDash val="solid"/>
              <a:round/>
              <a:headEnd len="med" w="med" type="none"/>
              <a:tailEnd len="med" w="med" type="none"/>
            </a:ln>
          </p:spPr>
        </p:cxnSp>
        <p:cxnSp>
          <p:nvCxnSpPr>
            <p:cNvPr id="1851" name="Google Shape;1851;p83"/>
            <p:cNvCxnSpPr>
              <a:stCxn id="1843" idx="6"/>
              <a:endCxn id="1846" idx="2"/>
            </p:cNvCxnSpPr>
            <p:nvPr/>
          </p:nvCxnSpPr>
          <p:spPr>
            <a:xfrm>
              <a:off x="6929973" y="1733781"/>
              <a:ext cx="607800" cy="0"/>
            </a:xfrm>
            <a:prstGeom prst="straightConnector1">
              <a:avLst/>
            </a:prstGeom>
            <a:noFill/>
            <a:ln cap="flat" cmpd="sng" w="19050">
              <a:solidFill>
                <a:srgbClr val="000000"/>
              </a:solidFill>
              <a:prstDash val="solid"/>
              <a:round/>
              <a:headEnd len="med" w="med" type="none"/>
              <a:tailEnd len="med" w="med" type="none"/>
            </a:ln>
          </p:spPr>
        </p:cxnSp>
        <p:cxnSp>
          <p:nvCxnSpPr>
            <p:cNvPr id="1852" name="Google Shape;1852;p83"/>
            <p:cNvCxnSpPr>
              <a:stCxn id="1843" idx="5"/>
              <a:endCxn id="1844" idx="1"/>
            </p:cNvCxnSpPr>
            <p:nvPr/>
          </p:nvCxnSpPr>
          <p:spPr>
            <a:xfrm>
              <a:off x="6868334" y="1882592"/>
              <a:ext cx="501900" cy="460500"/>
            </a:xfrm>
            <a:prstGeom prst="straightConnector1">
              <a:avLst/>
            </a:prstGeom>
            <a:noFill/>
            <a:ln cap="flat" cmpd="sng" w="19050">
              <a:solidFill>
                <a:srgbClr val="000000"/>
              </a:solidFill>
              <a:prstDash val="solid"/>
              <a:round/>
              <a:headEnd len="med" w="med" type="none"/>
              <a:tailEnd len="med" w="med" type="none"/>
            </a:ln>
          </p:spPr>
        </p:cxnSp>
        <p:cxnSp>
          <p:nvCxnSpPr>
            <p:cNvPr id="1853" name="Google Shape;1853;p83"/>
            <p:cNvCxnSpPr>
              <a:stCxn id="1844" idx="6"/>
              <a:endCxn id="1848" idx="2"/>
            </p:cNvCxnSpPr>
            <p:nvPr/>
          </p:nvCxnSpPr>
          <p:spPr>
            <a:xfrm flipH="1" rot="10800000">
              <a:off x="7729511" y="2356329"/>
              <a:ext cx="741000" cy="135600"/>
            </a:xfrm>
            <a:prstGeom prst="straightConnector1">
              <a:avLst/>
            </a:prstGeom>
            <a:noFill/>
            <a:ln cap="flat" cmpd="sng" w="19050">
              <a:solidFill>
                <a:srgbClr val="000000"/>
              </a:solidFill>
              <a:prstDash val="solid"/>
              <a:round/>
              <a:headEnd len="med" w="med" type="none"/>
              <a:tailEnd len="med" w="med" type="none"/>
            </a:ln>
          </p:spPr>
        </p:cxnSp>
        <p:cxnSp>
          <p:nvCxnSpPr>
            <p:cNvPr id="1854" name="Google Shape;1854;p83"/>
            <p:cNvCxnSpPr>
              <a:stCxn id="1848" idx="4"/>
              <a:endCxn id="1847" idx="0"/>
            </p:cNvCxnSpPr>
            <p:nvPr/>
          </p:nvCxnSpPr>
          <p:spPr>
            <a:xfrm>
              <a:off x="8680821" y="2566889"/>
              <a:ext cx="140400" cy="559200"/>
            </a:xfrm>
            <a:prstGeom prst="straightConnector1">
              <a:avLst/>
            </a:prstGeom>
            <a:noFill/>
            <a:ln cap="flat" cmpd="sng" w="19050">
              <a:solidFill>
                <a:srgbClr val="000000"/>
              </a:solidFill>
              <a:prstDash val="solid"/>
              <a:round/>
              <a:headEnd len="med" w="med" type="none"/>
              <a:tailEnd len="med" w="med" type="none"/>
            </a:ln>
          </p:spPr>
        </p:cxnSp>
        <p:cxnSp>
          <p:nvCxnSpPr>
            <p:cNvPr id="1855" name="Google Shape;1855;p83"/>
            <p:cNvCxnSpPr>
              <a:stCxn id="1844" idx="3"/>
              <a:endCxn id="1849" idx="0"/>
            </p:cNvCxnSpPr>
            <p:nvPr/>
          </p:nvCxnSpPr>
          <p:spPr>
            <a:xfrm flipH="1">
              <a:off x="7201051" y="2640740"/>
              <a:ext cx="169200" cy="727500"/>
            </a:xfrm>
            <a:prstGeom prst="straightConnector1">
              <a:avLst/>
            </a:prstGeom>
            <a:noFill/>
            <a:ln cap="flat" cmpd="sng" w="19050">
              <a:solidFill>
                <a:srgbClr val="000000"/>
              </a:solidFill>
              <a:prstDash val="solid"/>
              <a:round/>
              <a:headEnd len="med" w="med" type="none"/>
              <a:tailEnd len="med" w="med" type="none"/>
            </a:ln>
          </p:spPr>
        </p:cxnSp>
        <p:cxnSp>
          <p:nvCxnSpPr>
            <p:cNvPr id="1856" name="Google Shape;1856;p83"/>
            <p:cNvCxnSpPr>
              <a:stCxn id="1849" idx="6"/>
              <a:endCxn id="1857" idx="2"/>
            </p:cNvCxnSpPr>
            <p:nvPr/>
          </p:nvCxnSpPr>
          <p:spPr>
            <a:xfrm>
              <a:off x="7411542" y="3578716"/>
              <a:ext cx="355800" cy="123600"/>
            </a:xfrm>
            <a:prstGeom prst="straightConnector1">
              <a:avLst/>
            </a:prstGeom>
            <a:noFill/>
            <a:ln cap="flat" cmpd="sng" w="19050">
              <a:solidFill>
                <a:srgbClr val="000000"/>
              </a:solidFill>
              <a:prstDash val="solid"/>
              <a:round/>
              <a:headEnd len="med" w="med" type="none"/>
              <a:tailEnd len="med" w="med" type="none"/>
            </a:ln>
          </p:spPr>
        </p:cxnSp>
        <p:cxnSp>
          <p:nvCxnSpPr>
            <p:cNvPr id="1858" name="Google Shape;1858;p83"/>
            <p:cNvCxnSpPr>
              <a:stCxn id="1845" idx="6"/>
              <a:endCxn id="1844" idx="2"/>
            </p:cNvCxnSpPr>
            <p:nvPr/>
          </p:nvCxnSpPr>
          <p:spPr>
            <a:xfrm flipH="1" rot="10800000">
              <a:off x="6665167" y="2491889"/>
              <a:ext cx="643500" cy="216600"/>
            </a:xfrm>
            <a:prstGeom prst="straightConnector1">
              <a:avLst/>
            </a:prstGeom>
            <a:noFill/>
            <a:ln cap="flat" cmpd="sng" w="19050">
              <a:solidFill>
                <a:srgbClr val="000000"/>
              </a:solidFill>
              <a:prstDash val="solid"/>
              <a:round/>
              <a:headEnd len="med" w="med" type="none"/>
              <a:tailEnd len="med" w="med" type="none"/>
            </a:ln>
          </p:spPr>
        </p:cxnSp>
        <p:cxnSp>
          <p:nvCxnSpPr>
            <p:cNvPr id="1859" name="Google Shape;1859;p83"/>
            <p:cNvCxnSpPr>
              <a:stCxn id="1846" idx="5"/>
              <a:endCxn id="1848" idx="1"/>
            </p:cNvCxnSpPr>
            <p:nvPr/>
          </p:nvCxnSpPr>
          <p:spPr>
            <a:xfrm>
              <a:off x="7897125" y="1882592"/>
              <a:ext cx="634800" cy="324900"/>
            </a:xfrm>
            <a:prstGeom prst="straightConnector1">
              <a:avLst/>
            </a:prstGeom>
            <a:noFill/>
            <a:ln cap="flat" cmpd="sng" w="19050">
              <a:solidFill>
                <a:srgbClr val="000000"/>
              </a:solidFill>
              <a:prstDash val="solid"/>
              <a:round/>
              <a:headEnd len="med" w="med" type="none"/>
              <a:tailEnd len="med" w="med" type="none"/>
            </a:ln>
          </p:spPr>
        </p:cxnSp>
        <p:sp>
          <p:nvSpPr>
            <p:cNvPr id="1860" name="Google Shape;1860;p83"/>
            <p:cNvSpPr txBox="1"/>
            <p:nvPr/>
          </p:nvSpPr>
          <p:spPr>
            <a:xfrm>
              <a:off x="7070694" y="1923407"/>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861" name="Google Shape;1861;p83"/>
            <p:cNvSpPr txBox="1"/>
            <p:nvPr/>
          </p:nvSpPr>
          <p:spPr>
            <a:xfrm>
              <a:off x="7939499" y="2434622"/>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862" name="Google Shape;1862;p83"/>
            <p:cNvSpPr txBox="1"/>
            <p:nvPr/>
          </p:nvSpPr>
          <p:spPr>
            <a:xfrm>
              <a:off x="8700372" y="2724865"/>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863" name="Google Shape;1863;p83"/>
            <p:cNvSpPr txBox="1"/>
            <p:nvPr/>
          </p:nvSpPr>
          <p:spPr>
            <a:xfrm>
              <a:off x="6244268" y="206847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64" name="Google Shape;1864;p83"/>
            <p:cNvSpPr txBox="1"/>
            <p:nvPr/>
          </p:nvSpPr>
          <p:spPr>
            <a:xfrm>
              <a:off x="6805118" y="235632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65" name="Google Shape;1865;p83"/>
            <p:cNvSpPr txBox="1"/>
            <p:nvPr/>
          </p:nvSpPr>
          <p:spPr>
            <a:xfrm>
              <a:off x="7070701" y="2857289"/>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866" name="Google Shape;1866;p83"/>
            <p:cNvSpPr txBox="1"/>
            <p:nvPr/>
          </p:nvSpPr>
          <p:spPr>
            <a:xfrm>
              <a:off x="7454899" y="3681633"/>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867" name="Google Shape;1867;p83"/>
            <p:cNvSpPr txBox="1"/>
            <p:nvPr/>
          </p:nvSpPr>
          <p:spPr>
            <a:xfrm>
              <a:off x="8060525" y="1823725"/>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13</a:t>
              </a:r>
              <a:endParaRPr>
                <a:latin typeface="Source Code Pro"/>
                <a:ea typeface="Source Code Pro"/>
                <a:cs typeface="Source Code Pro"/>
                <a:sym typeface="Source Code Pro"/>
              </a:endParaRPr>
            </a:p>
          </p:txBody>
        </p:sp>
        <p:sp>
          <p:nvSpPr>
            <p:cNvPr id="1868" name="Google Shape;1868;p83"/>
            <p:cNvSpPr txBox="1"/>
            <p:nvPr/>
          </p:nvSpPr>
          <p:spPr>
            <a:xfrm>
              <a:off x="7099366" y="1490489"/>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cxnSp>
          <p:nvCxnSpPr>
            <p:cNvPr id="1869" name="Google Shape;1869;p83"/>
            <p:cNvCxnSpPr>
              <a:stCxn id="1845" idx="5"/>
              <a:endCxn id="1849" idx="1"/>
            </p:cNvCxnSpPr>
            <p:nvPr/>
          </p:nvCxnSpPr>
          <p:spPr>
            <a:xfrm>
              <a:off x="6603527" y="2857299"/>
              <a:ext cx="448800" cy="572700"/>
            </a:xfrm>
            <a:prstGeom prst="straightConnector1">
              <a:avLst/>
            </a:prstGeom>
            <a:noFill/>
            <a:ln cap="flat" cmpd="sng" w="19050">
              <a:solidFill>
                <a:srgbClr val="000000"/>
              </a:solidFill>
              <a:prstDash val="solid"/>
              <a:round/>
              <a:headEnd len="med" w="med" type="none"/>
              <a:tailEnd len="med" w="med" type="none"/>
            </a:ln>
          </p:spPr>
        </p:cxnSp>
        <p:sp>
          <p:nvSpPr>
            <p:cNvPr id="1870" name="Google Shape;1870;p83"/>
            <p:cNvSpPr txBox="1"/>
            <p:nvPr/>
          </p:nvSpPr>
          <p:spPr>
            <a:xfrm>
              <a:off x="6617098" y="3091012"/>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857" name="Google Shape;1857;p83"/>
            <p:cNvSpPr/>
            <p:nvPr/>
          </p:nvSpPr>
          <p:spPr>
            <a:xfrm>
              <a:off x="7767317" y="349180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871" name="Google Shape;1871;p83"/>
            <p:cNvCxnSpPr>
              <a:stCxn id="1847" idx="2"/>
              <a:endCxn id="1857" idx="6"/>
            </p:cNvCxnSpPr>
            <p:nvPr/>
          </p:nvCxnSpPr>
          <p:spPr>
            <a:xfrm flipH="1">
              <a:off x="8188249" y="3336591"/>
              <a:ext cx="422400" cy="365700"/>
            </a:xfrm>
            <a:prstGeom prst="straightConnector1">
              <a:avLst/>
            </a:prstGeom>
            <a:noFill/>
            <a:ln cap="flat" cmpd="sng" w="19050">
              <a:solidFill>
                <a:srgbClr val="000000"/>
              </a:solidFill>
              <a:prstDash val="solid"/>
              <a:round/>
              <a:headEnd len="med" w="med" type="none"/>
              <a:tailEnd len="med" w="med" type="none"/>
            </a:ln>
          </p:spPr>
        </p:cxnSp>
        <p:cxnSp>
          <p:nvCxnSpPr>
            <p:cNvPr id="1872" name="Google Shape;1872;p83"/>
            <p:cNvCxnSpPr>
              <a:stCxn id="1848" idx="3"/>
              <a:endCxn id="1857" idx="0"/>
            </p:cNvCxnSpPr>
            <p:nvPr/>
          </p:nvCxnSpPr>
          <p:spPr>
            <a:xfrm flipH="1">
              <a:off x="7977910" y="2505250"/>
              <a:ext cx="554100" cy="986700"/>
            </a:xfrm>
            <a:prstGeom prst="straightConnector1">
              <a:avLst/>
            </a:prstGeom>
            <a:noFill/>
            <a:ln cap="flat" cmpd="sng" w="19050">
              <a:solidFill>
                <a:srgbClr val="000000"/>
              </a:solidFill>
              <a:prstDash val="solid"/>
              <a:round/>
              <a:headEnd len="med" w="med" type="none"/>
              <a:tailEnd len="med" w="med" type="none"/>
            </a:ln>
          </p:spPr>
        </p:cxnSp>
        <p:cxnSp>
          <p:nvCxnSpPr>
            <p:cNvPr id="1873" name="Google Shape;1873;p83"/>
            <p:cNvCxnSpPr>
              <a:stCxn id="1844" idx="5"/>
              <a:endCxn id="1857" idx="1"/>
            </p:cNvCxnSpPr>
            <p:nvPr/>
          </p:nvCxnSpPr>
          <p:spPr>
            <a:xfrm>
              <a:off x="7667872" y="2640740"/>
              <a:ext cx="161100" cy="912600"/>
            </a:xfrm>
            <a:prstGeom prst="straightConnector1">
              <a:avLst/>
            </a:prstGeom>
            <a:noFill/>
            <a:ln cap="flat" cmpd="sng" w="19050">
              <a:solidFill>
                <a:srgbClr val="000000"/>
              </a:solidFill>
              <a:prstDash val="solid"/>
              <a:round/>
              <a:headEnd len="med" w="med" type="none"/>
              <a:tailEnd len="med" w="med" type="none"/>
            </a:ln>
          </p:spPr>
        </p:cxnSp>
        <p:sp>
          <p:nvSpPr>
            <p:cNvPr id="1874" name="Google Shape;1874;p83"/>
            <p:cNvSpPr txBox="1"/>
            <p:nvPr/>
          </p:nvSpPr>
          <p:spPr>
            <a:xfrm>
              <a:off x="7685099" y="2870210"/>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875" name="Google Shape;1875;p83"/>
            <p:cNvSpPr txBox="1"/>
            <p:nvPr/>
          </p:nvSpPr>
          <p:spPr>
            <a:xfrm>
              <a:off x="8182961" y="3021997"/>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76" name="Google Shape;1876;p83"/>
            <p:cNvSpPr txBox="1"/>
            <p:nvPr/>
          </p:nvSpPr>
          <p:spPr>
            <a:xfrm>
              <a:off x="8341549" y="3493410"/>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cxnSp>
          <p:nvCxnSpPr>
            <p:cNvPr id="1877" name="Google Shape;1877;p83"/>
            <p:cNvCxnSpPr>
              <a:stCxn id="1846" idx="4"/>
              <a:endCxn id="1844" idx="0"/>
            </p:cNvCxnSpPr>
            <p:nvPr/>
          </p:nvCxnSpPr>
          <p:spPr>
            <a:xfrm flipH="1">
              <a:off x="7519114" y="1944231"/>
              <a:ext cx="229200" cy="337200"/>
            </a:xfrm>
            <a:prstGeom prst="straightConnector1">
              <a:avLst/>
            </a:prstGeom>
            <a:noFill/>
            <a:ln cap="flat" cmpd="sng" w="19050">
              <a:solidFill>
                <a:srgbClr val="000000"/>
              </a:solidFill>
              <a:prstDash val="solid"/>
              <a:round/>
              <a:headEnd len="med" w="med" type="none"/>
              <a:tailEnd len="med" w="med" type="none"/>
            </a:ln>
          </p:spPr>
        </p:cxnSp>
        <p:sp>
          <p:nvSpPr>
            <p:cNvPr id="1878" name="Google Shape;1878;p83"/>
            <p:cNvSpPr txBox="1"/>
            <p:nvPr/>
          </p:nvSpPr>
          <p:spPr>
            <a:xfrm>
              <a:off x="7613786" y="1991197"/>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879" name="Google Shape;1879;p8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Dijkstra’s Shortest Path Diagram</a:t>
            </a:r>
            <a:endParaRPr/>
          </a:p>
        </p:txBody>
      </p:sp>
      <p:sp>
        <p:nvSpPr>
          <p:cNvPr id="1880" name="Google Shape;1880;p8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13.24</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4" name="Shape 1884"/>
        <p:cNvGrpSpPr/>
        <p:nvPr/>
      </p:nvGrpSpPr>
      <p:grpSpPr>
        <a:xfrm>
          <a:off x="0" y="0"/>
          <a:ext cx="0" cy="0"/>
          <a:chOff x="0" y="0"/>
          <a:chExt cx="0" cy="0"/>
        </a:xfrm>
      </p:grpSpPr>
      <p:graphicFrame>
        <p:nvGraphicFramePr>
          <p:cNvPr id="1885" name="Google Shape;1885;p84"/>
          <p:cNvGraphicFramePr/>
          <p:nvPr/>
        </p:nvGraphicFramePr>
        <p:xfrm>
          <a:off x="6135915" y="3865417"/>
          <a:ext cx="3000000" cy="3000000"/>
        </p:xfrm>
        <a:graphic>
          <a:graphicData uri="http://schemas.openxmlformats.org/drawingml/2006/table">
            <a:tbl>
              <a:tblPr>
                <a:noFill/>
                <a:tableStyleId>{89CCAE03-A2B2-4379-B0C2-E101A7E113D6}</a:tableStyleId>
              </a:tblPr>
              <a:tblGrid>
                <a:gridCol w="409025"/>
                <a:gridCol w="409025"/>
                <a:gridCol w="409025"/>
                <a:gridCol w="409025"/>
                <a:gridCol w="409025"/>
                <a:gridCol w="409025"/>
                <a:gridCol w="409025"/>
              </a:tblGrid>
              <a:tr h="381000">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886" name="Google Shape;1886;p84"/>
          <p:cNvSpPr txBox="1"/>
          <p:nvPr/>
        </p:nvSpPr>
        <p:spPr>
          <a:xfrm>
            <a:off x="8598303" y="390960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887" name="Google Shape;1887;p84"/>
          <p:cNvSpPr txBox="1"/>
          <p:nvPr/>
        </p:nvSpPr>
        <p:spPr>
          <a:xfrm>
            <a:off x="6135925" y="4261617"/>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888" name="Google Shape;1888;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889" name="Google Shape;1889;p84"/>
          <p:cNvGraphicFramePr/>
          <p:nvPr/>
        </p:nvGraphicFramePr>
        <p:xfrm>
          <a:off x="84252" y="891217"/>
          <a:ext cx="3000000" cy="3000000"/>
        </p:xfrm>
        <a:graphic>
          <a:graphicData uri="http://schemas.openxmlformats.org/drawingml/2006/table">
            <a:tbl>
              <a:tblPr>
                <a:noFill/>
                <a:tableStyleId>{89CCAE03-A2B2-4379-B0C2-E101A7E113D6}</a:tableStyleId>
              </a:tblPr>
              <a:tblGrid>
                <a:gridCol w="589450"/>
                <a:gridCol w="589450"/>
                <a:gridCol w="589450"/>
                <a:gridCol w="589450"/>
                <a:gridCol w="589450"/>
                <a:gridCol w="589450"/>
                <a:gridCol w="589450"/>
                <a:gridCol w="589450"/>
                <a:gridCol w="589450"/>
                <a:gridCol w="589450"/>
              </a:tblGrid>
              <a:tr h="409125">
                <a:tc>
                  <a:txBody>
                    <a:bodyPr/>
                    <a:lstStyle/>
                    <a:p>
                      <a:pPr indent="0" lvl="0" marL="0" rtl="0" algn="ctr">
                        <a:spcBef>
                          <a:spcPts val="0"/>
                        </a:spcBef>
                        <a:spcAft>
                          <a:spcPts val="0"/>
                        </a:spcAft>
                        <a:buNone/>
                      </a:pPr>
                      <a:r>
                        <a:rPr lang="en" sz="800">
                          <a:solidFill>
                            <a:srgbClr val="FFFFFF"/>
                          </a:solidFill>
                        </a:rPr>
                        <a:t>Iteration</a:t>
                      </a:r>
                      <a:endParaRPr sz="8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700">
                          <a:solidFill>
                            <a:srgbClr val="FFFFFF"/>
                          </a:solidFill>
                        </a:rPr>
                        <a:t>Finalized Vertex</a:t>
                      </a:r>
                      <a:endParaRPr sz="7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A</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B</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C</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D</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E</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F</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G</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200">
                          <a:solidFill>
                            <a:srgbClr val="FFFFFF"/>
                          </a:solidFill>
                        </a:rPr>
                        <a:t>H</a:t>
                      </a:r>
                      <a:endParaRPr sz="1200">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t>0,null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200"/>
                        <a:t>∞,null</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7</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54600">
                <a:tc>
                  <a:txBody>
                    <a:bodyPr/>
                    <a:lstStyle/>
                    <a:p>
                      <a:pPr indent="0" lvl="0" marL="0" rtl="0" algn="ctr">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2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890" name="Google Shape;1890;p84"/>
          <p:cNvSpPr txBox="1"/>
          <p:nvPr/>
        </p:nvSpPr>
        <p:spPr>
          <a:xfrm>
            <a:off x="6135925" y="3465217"/>
            <a:ext cx="2147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grpSp>
        <p:nvGrpSpPr>
          <p:cNvPr id="1891" name="Google Shape;1891;p84"/>
          <p:cNvGrpSpPr/>
          <p:nvPr/>
        </p:nvGrpSpPr>
        <p:grpSpPr>
          <a:xfrm>
            <a:off x="6273919" y="1025531"/>
            <a:ext cx="2787283" cy="2434444"/>
            <a:chOff x="6244267" y="1490489"/>
            <a:chExt cx="2787283" cy="2434444"/>
          </a:xfrm>
        </p:grpSpPr>
        <p:sp>
          <p:nvSpPr>
            <p:cNvPr id="1892" name="Google Shape;1892;p84"/>
            <p:cNvSpPr/>
            <p:nvPr/>
          </p:nvSpPr>
          <p:spPr>
            <a:xfrm>
              <a:off x="6509073" y="1523331"/>
              <a:ext cx="420900" cy="420900"/>
            </a:xfrm>
            <a:prstGeom prst="ellipse">
              <a:avLst/>
            </a:prstGeom>
            <a:solidFill>
              <a:srgbClr val="FF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sp>
          <p:nvSpPr>
            <p:cNvPr id="1893" name="Google Shape;1893;p84"/>
            <p:cNvSpPr/>
            <p:nvPr/>
          </p:nvSpPr>
          <p:spPr>
            <a:xfrm>
              <a:off x="7308611" y="228147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1894" name="Google Shape;1894;p84"/>
            <p:cNvSpPr/>
            <p:nvPr/>
          </p:nvSpPr>
          <p:spPr>
            <a:xfrm>
              <a:off x="6244267" y="249803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1895" name="Google Shape;1895;p84"/>
            <p:cNvSpPr/>
            <p:nvPr/>
          </p:nvSpPr>
          <p:spPr>
            <a:xfrm>
              <a:off x="7537864" y="1523331"/>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1896" name="Google Shape;1896;p84"/>
            <p:cNvSpPr/>
            <p:nvPr/>
          </p:nvSpPr>
          <p:spPr>
            <a:xfrm>
              <a:off x="8610649" y="3126141"/>
              <a:ext cx="420900" cy="420900"/>
            </a:xfrm>
            <a:prstGeom prst="ellipse">
              <a:avLst/>
            </a:prstGeom>
            <a:solidFill>
              <a:srgbClr val="00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a:t>
              </a:r>
              <a:endParaRPr/>
            </a:p>
          </p:txBody>
        </p:sp>
        <p:sp>
          <p:nvSpPr>
            <p:cNvPr id="1897" name="Google Shape;1897;p84"/>
            <p:cNvSpPr/>
            <p:nvPr/>
          </p:nvSpPr>
          <p:spPr>
            <a:xfrm>
              <a:off x="8470371" y="2145989"/>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1898" name="Google Shape;1898;p84"/>
            <p:cNvSpPr/>
            <p:nvPr/>
          </p:nvSpPr>
          <p:spPr>
            <a:xfrm>
              <a:off x="6990642" y="3368266"/>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1899" name="Google Shape;1899;p84"/>
            <p:cNvCxnSpPr>
              <a:stCxn id="1892" idx="3"/>
              <a:endCxn id="1894" idx="0"/>
            </p:cNvCxnSpPr>
            <p:nvPr/>
          </p:nvCxnSpPr>
          <p:spPr>
            <a:xfrm flipH="1">
              <a:off x="6454613" y="1882592"/>
              <a:ext cx="116100" cy="615300"/>
            </a:xfrm>
            <a:prstGeom prst="straightConnector1">
              <a:avLst/>
            </a:prstGeom>
            <a:noFill/>
            <a:ln cap="flat" cmpd="sng" w="19050">
              <a:solidFill>
                <a:srgbClr val="000000"/>
              </a:solidFill>
              <a:prstDash val="solid"/>
              <a:round/>
              <a:headEnd len="med" w="med" type="none"/>
              <a:tailEnd len="med" w="med" type="none"/>
            </a:ln>
          </p:spPr>
        </p:cxnSp>
        <p:cxnSp>
          <p:nvCxnSpPr>
            <p:cNvPr id="1900" name="Google Shape;1900;p84"/>
            <p:cNvCxnSpPr>
              <a:stCxn id="1892" idx="6"/>
              <a:endCxn id="1895" idx="2"/>
            </p:cNvCxnSpPr>
            <p:nvPr/>
          </p:nvCxnSpPr>
          <p:spPr>
            <a:xfrm>
              <a:off x="6929973" y="1733781"/>
              <a:ext cx="607800" cy="0"/>
            </a:xfrm>
            <a:prstGeom prst="straightConnector1">
              <a:avLst/>
            </a:prstGeom>
            <a:noFill/>
            <a:ln cap="flat" cmpd="sng" w="19050">
              <a:solidFill>
                <a:srgbClr val="000000"/>
              </a:solidFill>
              <a:prstDash val="solid"/>
              <a:round/>
              <a:headEnd len="med" w="med" type="none"/>
              <a:tailEnd len="med" w="med" type="none"/>
            </a:ln>
          </p:spPr>
        </p:cxnSp>
        <p:cxnSp>
          <p:nvCxnSpPr>
            <p:cNvPr id="1901" name="Google Shape;1901;p84"/>
            <p:cNvCxnSpPr>
              <a:stCxn id="1892" idx="5"/>
              <a:endCxn id="1893" idx="1"/>
            </p:cNvCxnSpPr>
            <p:nvPr/>
          </p:nvCxnSpPr>
          <p:spPr>
            <a:xfrm>
              <a:off x="6868334" y="1882592"/>
              <a:ext cx="501900" cy="460500"/>
            </a:xfrm>
            <a:prstGeom prst="straightConnector1">
              <a:avLst/>
            </a:prstGeom>
            <a:noFill/>
            <a:ln cap="flat" cmpd="sng" w="19050">
              <a:solidFill>
                <a:srgbClr val="000000"/>
              </a:solidFill>
              <a:prstDash val="solid"/>
              <a:round/>
              <a:headEnd len="med" w="med" type="none"/>
              <a:tailEnd len="med" w="med" type="none"/>
            </a:ln>
          </p:spPr>
        </p:cxnSp>
        <p:cxnSp>
          <p:nvCxnSpPr>
            <p:cNvPr id="1902" name="Google Shape;1902;p84"/>
            <p:cNvCxnSpPr>
              <a:stCxn id="1893" idx="6"/>
              <a:endCxn id="1897" idx="2"/>
            </p:cNvCxnSpPr>
            <p:nvPr/>
          </p:nvCxnSpPr>
          <p:spPr>
            <a:xfrm flipH="1" rot="10800000">
              <a:off x="7729511" y="2356329"/>
              <a:ext cx="741000" cy="135600"/>
            </a:xfrm>
            <a:prstGeom prst="straightConnector1">
              <a:avLst/>
            </a:prstGeom>
            <a:noFill/>
            <a:ln cap="flat" cmpd="sng" w="19050">
              <a:solidFill>
                <a:srgbClr val="000000"/>
              </a:solidFill>
              <a:prstDash val="solid"/>
              <a:round/>
              <a:headEnd len="med" w="med" type="none"/>
              <a:tailEnd len="med" w="med" type="none"/>
            </a:ln>
          </p:spPr>
        </p:cxnSp>
        <p:cxnSp>
          <p:nvCxnSpPr>
            <p:cNvPr id="1903" name="Google Shape;1903;p84"/>
            <p:cNvCxnSpPr>
              <a:stCxn id="1897" idx="4"/>
              <a:endCxn id="1896" idx="0"/>
            </p:cNvCxnSpPr>
            <p:nvPr/>
          </p:nvCxnSpPr>
          <p:spPr>
            <a:xfrm>
              <a:off x="8680821" y="2566889"/>
              <a:ext cx="140400" cy="559200"/>
            </a:xfrm>
            <a:prstGeom prst="straightConnector1">
              <a:avLst/>
            </a:prstGeom>
            <a:noFill/>
            <a:ln cap="flat" cmpd="sng" w="19050">
              <a:solidFill>
                <a:srgbClr val="000000"/>
              </a:solidFill>
              <a:prstDash val="solid"/>
              <a:round/>
              <a:headEnd len="med" w="med" type="none"/>
              <a:tailEnd len="med" w="med" type="none"/>
            </a:ln>
          </p:spPr>
        </p:cxnSp>
        <p:cxnSp>
          <p:nvCxnSpPr>
            <p:cNvPr id="1904" name="Google Shape;1904;p84"/>
            <p:cNvCxnSpPr>
              <a:stCxn id="1893" idx="3"/>
              <a:endCxn id="1898" idx="0"/>
            </p:cNvCxnSpPr>
            <p:nvPr/>
          </p:nvCxnSpPr>
          <p:spPr>
            <a:xfrm flipH="1">
              <a:off x="7201051" y="2640740"/>
              <a:ext cx="169200" cy="727500"/>
            </a:xfrm>
            <a:prstGeom prst="straightConnector1">
              <a:avLst/>
            </a:prstGeom>
            <a:noFill/>
            <a:ln cap="flat" cmpd="sng" w="19050">
              <a:solidFill>
                <a:srgbClr val="000000"/>
              </a:solidFill>
              <a:prstDash val="solid"/>
              <a:round/>
              <a:headEnd len="med" w="med" type="none"/>
              <a:tailEnd len="med" w="med" type="none"/>
            </a:ln>
          </p:spPr>
        </p:cxnSp>
        <p:cxnSp>
          <p:nvCxnSpPr>
            <p:cNvPr id="1905" name="Google Shape;1905;p84"/>
            <p:cNvCxnSpPr>
              <a:stCxn id="1898" idx="6"/>
              <a:endCxn id="1906" idx="2"/>
            </p:cNvCxnSpPr>
            <p:nvPr/>
          </p:nvCxnSpPr>
          <p:spPr>
            <a:xfrm>
              <a:off x="7411542" y="3578716"/>
              <a:ext cx="355800" cy="123600"/>
            </a:xfrm>
            <a:prstGeom prst="straightConnector1">
              <a:avLst/>
            </a:prstGeom>
            <a:noFill/>
            <a:ln cap="flat" cmpd="sng" w="19050">
              <a:solidFill>
                <a:srgbClr val="000000"/>
              </a:solidFill>
              <a:prstDash val="solid"/>
              <a:round/>
              <a:headEnd len="med" w="med" type="none"/>
              <a:tailEnd len="med" w="med" type="none"/>
            </a:ln>
          </p:spPr>
        </p:cxnSp>
        <p:cxnSp>
          <p:nvCxnSpPr>
            <p:cNvPr id="1907" name="Google Shape;1907;p84"/>
            <p:cNvCxnSpPr>
              <a:stCxn id="1894" idx="6"/>
              <a:endCxn id="1893" idx="2"/>
            </p:cNvCxnSpPr>
            <p:nvPr/>
          </p:nvCxnSpPr>
          <p:spPr>
            <a:xfrm flipH="1" rot="10800000">
              <a:off x="6665167" y="2491889"/>
              <a:ext cx="643500" cy="216600"/>
            </a:xfrm>
            <a:prstGeom prst="straightConnector1">
              <a:avLst/>
            </a:prstGeom>
            <a:noFill/>
            <a:ln cap="flat" cmpd="sng" w="19050">
              <a:solidFill>
                <a:srgbClr val="000000"/>
              </a:solidFill>
              <a:prstDash val="solid"/>
              <a:round/>
              <a:headEnd len="med" w="med" type="none"/>
              <a:tailEnd len="med" w="med" type="none"/>
            </a:ln>
          </p:spPr>
        </p:cxnSp>
        <p:cxnSp>
          <p:nvCxnSpPr>
            <p:cNvPr id="1908" name="Google Shape;1908;p84"/>
            <p:cNvCxnSpPr>
              <a:stCxn id="1895" idx="5"/>
              <a:endCxn id="1897" idx="1"/>
            </p:cNvCxnSpPr>
            <p:nvPr/>
          </p:nvCxnSpPr>
          <p:spPr>
            <a:xfrm>
              <a:off x="7897125" y="1882592"/>
              <a:ext cx="634800" cy="324900"/>
            </a:xfrm>
            <a:prstGeom prst="straightConnector1">
              <a:avLst/>
            </a:prstGeom>
            <a:noFill/>
            <a:ln cap="flat" cmpd="sng" w="19050">
              <a:solidFill>
                <a:srgbClr val="000000"/>
              </a:solidFill>
              <a:prstDash val="solid"/>
              <a:round/>
              <a:headEnd len="med" w="med" type="none"/>
              <a:tailEnd len="med" w="med" type="none"/>
            </a:ln>
          </p:spPr>
        </p:cxnSp>
        <p:sp>
          <p:nvSpPr>
            <p:cNvPr id="1909" name="Google Shape;1909;p84"/>
            <p:cNvSpPr txBox="1"/>
            <p:nvPr/>
          </p:nvSpPr>
          <p:spPr>
            <a:xfrm>
              <a:off x="7070694" y="1923407"/>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910" name="Google Shape;1910;p84"/>
            <p:cNvSpPr txBox="1"/>
            <p:nvPr/>
          </p:nvSpPr>
          <p:spPr>
            <a:xfrm>
              <a:off x="7939499" y="2434622"/>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911" name="Google Shape;1911;p84"/>
            <p:cNvSpPr txBox="1"/>
            <p:nvPr/>
          </p:nvSpPr>
          <p:spPr>
            <a:xfrm>
              <a:off x="8700372" y="2724865"/>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912" name="Google Shape;1912;p84"/>
            <p:cNvSpPr txBox="1"/>
            <p:nvPr/>
          </p:nvSpPr>
          <p:spPr>
            <a:xfrm>
              <a:off x="6244268" y="2068478"/>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913" name="Google Shape;1913;p84"/>
            <p:cNvSpPr txBox="1"/>
            <p:nvPr/>
          </p:nvSpPr>
          <p:spPr>
            <a:xfrm>
              <a:off x="6805118" y="2356324"/>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914" name="Google Shape;1914;p84"/>
            <p:cNvSpPr txBox="1"/>
            <p:nvPr/>
          </p:nvSpPr>
          <p:spPr>
            <a:xfrm>
              <a:off x="7070701" y="2857289"/>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915" name="Google Shape;1915;p84"/>
            <p:cNvSpPr txBox="1"/>
            <p:nvPr/>
          </p:nvSpPr>
          <p:spPr>
            <a:xfrm>
              <a:off x="7454899" y="3681633"/>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916" name="Google Shape;1916;p84"/>
            <p:cNvSpPr txBox="1"/>
            <p:nvPr/>
          </p:nvSpPr>
          <p:spPr>
            <a:xfrm>
              <a:off x="8060525" y="1823725"/>
              <a:ext cx="5019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13</a:t>
              </a:r>
              <a:endParaRPr>
                <a:latin typeface="Source Code Pro"/>
                <a:ea typeface="Source Code Pro"/>
                <a:cs typeface="Source Code Pro"/>
                <a:sym typeface="Source Code Pro"/>
              </a:endParaRPr>
            </a:p>
          </p:txBody>
        </p:sp>
        <p:sp>
          <p:nvSpPr>
            <p:cNvPr id="1917" name="Google Shape;1917;p84"/>
            <p:cNvSpPr txBox="1"/>
            <p:nvPr/>
          </p:nvSpPr>
          <p:spPr>
            <a:xfrm>
              <a:off x="7099366" y="1490489"/>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cxnSp>
          <p:nvCxnSpPr>
            <p:cNvPr id="1918" name="Google Shape;1918;p84"/>
            <p:cNvCxnSpPr>
              <a:stCxn id="1894" idx="5"/>
              <a:endCxn id="1898" idx="1"/>
            </p:cNvCxnSpPr>
            <p:nvPr/>
          </p:nvCxnSpPr>
          <p:spPr>
            <a:xfrm>
              <a:off x="6603527" y="2857299"/>
              <a:ext cx="448800" cy="572700"/>
            </a:xfrm>
            <a:prstGeom prst="straightConnector1">
              <a:avLst/>
            </a:prstGeom>
            <a:noFill/>
            <a:ln cap="flat" cmpd="sng" w="19050">
              <a:solidFill>
                <a:srgbClr val="000000"/>
              </a:solidFill>
              <a:prstDash val="solid"/>
              <a:round/>
              <a:headEnd len="med" w="med" type="none"/>
              <a:tailEnd len="med" w="med" type="none"/>
            </a:ln>
          </p:spPr>
        </p:cxnSp>
        <p:sp>
          <p:nvSpPr>
            <p:cNvPr id="1919" name="Google Shape;1919;p84"/>
            <p:cNvSpPr txBox="1"/>
            <p:nvPr/>
          </p:nvSpPr>
          <p:spPr>
            <a:xfrm>
              <a:off x="6617098" y="3091012"/>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906" name="Google Shape;1906;p84"/>
            <p:cNvSpPr/>
            <p:nvPr/>
          </p:nvSpPr>
          <p:spPr>
            <a:xfrm>
              <a:off x="7767317" y="3491804"/>
              <a:ext cx="420900" cy="420900"/>
            </a:xfrm>
            <a:prstGeom prst="ellipse">
              <a:avLst/>
            </a:prstGeom>
            <a:solidFill>
              <a:srgbClr val="63D29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a:t>
              </a:r>
              <a:endParaRPr/>
            </a:p>
          </p:txBody>
        </p:sp>
        <p:cxnSp>
          <p:nvCxnSpPr>
            <p:cNvPr id="1920" name="Google Shape;1920;p84"/>
            <p:cNvCxnSpPr>
              <a:stCxn id="1896" idx="2"/>
              <a:endCxn id="1906" idx="6"/>
            </p:cNvCxnSpPr>
            <p:nvPr/>
          </p:nvCxnSpPr>
          <p:spPr>
            <a:xfrm flipH="1">
              <a:off x="8188249" y="3336591"/>
              <a:ext cx="422400" cy="365700"/>
            </a:xfrm>
            <a:prstGeom prst="straightConnector1">
              <a:avLst/>
            </a:prstGeom>
            <a:noFill/>
            <a:ln cap="flat" cmpd="sng" w="19050">
              <a:solidFill>
                <a:srgbClr val="000000"/>
              </a:solidFill>
              <a:prstDash val="solid"/>
              <a:round/>
              <a:headEnd len="med" w="med" type="none"/>
              <a:tailEnd len="med" w="med" type="none"/>
            </a:ln>
          </p:spPr>
        </p:cxnSp>
        <p:cxnSp>
          <p:nvCxnSpPr>
            <p:cNvPr id="1921" name="Google Shape;1921;p84"/>
            <p:cNvCxnSpPr>
              <a:stCxn id="1897" idx="3"/>
              <a:endCxn id="1906" idx="0"/>
            </p:cNvCxnSpPr>
            <p:nvPr/>
          </p:nvCxnSpPr>
          <p:spPr>
            <a:xfrm flipH="1">
              <a:off x="7977910" y="2505250"/>
              <a:ext cx="554100" cy="986700"/>
            </a:xfrm>
            <a:prstGeom prst="straightConnector1">
              <a:avLst/>
            </a:prstGeom>
            <a:noFill/>
            <a:ln cap="flat" cmpd="sng" w="19050">
              <a:solidFill>
                <a:srgbClr val="000000"/>
              </a:solidFill>
              <a:prstDash val="solid"/>
              <a:round/>
              <a:headEnd len="med" w="med" type="none"/>
              <a:tailEnd len="med" w="med" type="none"/>
            </a:ln>
          </p:spPr>
        </p:cxnSp>
        <p:cxnSp>
          <p:nvCxnSpPr>
            <p:cNvPr id="1922" name="Google Shape;1922;p84"/>
            <p:cNvCxnSpPr>
              <a:stCxn id="1893" idx="5"/>
              <a:endCxn id="1906" idx="1"/>
            </p:cNvCxnSpPr>
            <p:nvPr/>
          </p:nvCxnSpPr>
          <p:spPr>
            <a:xfrm>
              <a:off x="7667872" y="2640740"/>
              <a:ext cx="161100" cy="912600"/>
            </a:xfrm>
            <a:prstGeom prst="straightConnector1">
              <a:avLst/>
            </a:prstGeom>
            <a:noFill/>
            <a:ln cap="flat" cmpd="sng" w="19050">
              <a:solidFill>
                <a:srgbClr val="000000"/>
              </a:solidFill>
              <a:prstDash val="solid"/>
              <a:round/>
              <a:headEnd len="med" w="med" type="none"/>
              <a:tailEnd len="med" w="med" type="none"/>
            </a:ln>
          </p:spPr>
        </p:cxnSp>
        <p:sp>
          <p:nvSpPr>
            <p:cNvPr id="1923" name="Google Shape;1923;p84"/>
            <p:cNvSpPr txBox="1"/>
            <p:nvPr/>
          </p:nvSpPr>
          <p:spPr>
            <a:xfrm>
              <a:off x="7685099" y="2870210"/>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924" name="Google Shape;1924;p84"/>
            <p:cNvSpPr txBox="1"/>
            <p:nvPr/>
          </p:nvSpPr>
          <p:spPr>
            <a:xfrm>
              <a:off x="8182961" y="3021997"/>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925" name="Google Shape;1925;p84"/>
            <p:cNvSpPr txBox="1"/>
            <p:nvPr/>
          </p:nvSpPr>
          <p:spPr>
            <a:xfrm>
              <a:off x="8341549" y="3493410"/>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cxnSp>
          <p:nvCxnSpPr>
            <p:cNvPr id="1926" name="Google Shape;1926;p84"/>
            <p:cNvCxnSpPr>
              <a:stCxn id="1895" idx="4"/>
              <a:endCxn id="1893" idx="0"/>
            </p:cNvCxnSpPr>
            <p:nvPr/>
          </p:nvCxnSpPr>
          <p:spPr>
            <a:xfrm flipH="1">
              <a:off x="7519114" y="1944231"/>
              <a:ext cx="229200" cy="337200"/>
            </a:xfrm>
            <a:prstGeom prst="straightConnector1">
              <a:avLst/>
            </a:prstGeom>
            <a:noFill/>
            <a:ln cap="flat" cmpd="sng" w="19050">
              <a:solidFill>
                <a:srgbClr val="000000"/>
              </a:solidFill>
              <a:prstDash val="solid"/>
              <a:round/>
              <a:headEnd len="med" w="med" type="none"/>
              <a:tailEnd len="med" w="med" type="none"/>
            </a:ln>
          </p:spPr>
        </p:cxnSp>
        <p:sp>
          <p:nvSpPr>
            <p:cNvPr id="1927" name="Google Shape;1927;p84"/>
            <p:cNvSpPr txBox="1"/>
            <p:nvPr/>
          </p:nvSpPr>
          <p:spPr>
            <a:xfrm>
              <a:off x="7613786" y="1991197"/>
              <a:ext cx="269100" cy="24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928" name="Google Shape;1928;p8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Dijkstra’s Shortest Path Diagram</a:t>
            </a:r>
            <a:endParaRPr/>
          </a:p>
        </p:txBody>
      </p:sp>
      <p:sp>
        <p:nvSpPr>
          <p:cNvPr id="1929" name="Google Shape;1929;p84"/>
          <p:cNvSpPr txBox="1"/>
          <p:nvPr/>
        </p:nvSpPr>
        <p:spPr>
          <a:xfrm>
            <a:off x="760554" y="1700873"/>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930" name="Google Shape;1930;p84"/>
          <p:cNvSpPr txBox="1"/>
          <p:nvPr/>
        </p:nvSpPr>
        <p:spPr>
          <a:xfrm>
            <a:off x="768312" y="2058599"/>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931" name="Google Shape;1931;p84"/>
          <p:cNvSpPr txBox="1"/>
          <p:nvPr/>
        </p:nvSpPr>
        <p:spPr>
          <a:xfrm>
            <a:off x="776070" y="2424083"/>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932" name="Google Shape;1932;p84"/>
          <p:cNvSpPr txBox="1"/>
          <p:nvPr/>
        </p:nvSpPr>
        <p:spPr>
          <a:xfrm>
            <a:off x="768312" y="2805083"/>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933" name="Google Shape;1933;p84"/>
          <p:cNvSpPr txBox="1"/>
          <p:nvPr/>
        </p:nvSpPr>
        <p:spPr>
          <a:xfrm>
            <a:off x="768312" y="3162809"/>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934" name="Google Shape;1934;p84"/>
          <p:cNvSpPr txBox="1"/>
          <p:nvPr/>
        </p:nvSpPr>
        <p:spPr>
          <a:xfrm>
            <a:off x="768312" y="3528293"/>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935" name="Google Shape;1935;p84"/>
          <p:cNvSpPr txBox="1"/>
          <p:nvPr/>
        </p:nvSpPr>
        <p:spPr>
          <a:xfrm>
            <a:off x="760554" y="386412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936" name="Google Shape;1936;p84"/>
          <p:cNvSpPr txBox="1"/>
          <p:nvPr/>
        </p:nvSpPr>
        <p:spPr>
          <a:xfrm>
            <a:off x="760554" y="4229609"/>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937" name="Google Shape;1937;p84"/>
          <p:cNvSpPr txBox="1"/>
          <p:nvPr/>
        </p:nvSpPr>
        <p:spPr>
          <a:xfrm>
            <a:off x="1397804" y="1693798"/>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38" name="Google Shape;1938;p84"/>
          <p:cNvSpPr txBox="1"/>
          <p:nvPr/>
        </p:nvSpPr>
        <p:spPr>
          <a:xfrm>
            <a:off x="1942344" y="169311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8, A</a:t>
            </a:r>
            <a:endParaRPr sz="2000">
              <a:solidFill>
                <a:srgbClr val="FF0000"/>
              </a:solidFill>
              <a:latin typeface="Shadows Into Light"/>
              <a:ea typeface="Shadows Into Light"/>
              <a:cs typeface="Shadows Into Light"/>
              <a:sym typeface="Shadows Into Light"/>
            </a:endParaRPr>
          </a:p>
        </p:txBody>
      </p:sp>
      <p:sp>
        <p:nvSpPr>
          <p:cNvPr id="1939" name="Google Shape;1939;p84"/>
          <p:cNvSpPr txBox="1"/>
          <p:nvPr/>
        </p:nvSpPr>
        <p:spPr>
          <a:xfrm>
            <a:off x="2497146" y="1693799"/>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2, A</a:t>
            </a:r>
            <a:endParaRPr sz="2000">
              <a:solidFill>
                <a:srgbClr val="FF0000"/>
              </a:solidFill>
              <a:latin typeface="Shadows Into Light"/>
              <a:ea typeface="Shadows Into Light"/>
              <a:cs typeface="Shadows Into Light"/>
              <a:sym typeface="Shadows Into Light"/>
            </a:endParaRPr>
          </a:p>
        </p:txBody>
      </p:sp>
      <p:sp>
        <p:nvSpPr>
          <p:cNvPr id="1940" name="Google Shape;1940;p84"/>
          <p:cNvSpPr txBox="1"/>
          <p:nvPr/>
        </p:nvSpPr>
        <p:spPr>
          <a:xfrm>
            <a:off x="3118772" y="1693798"/>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5, A</a:t>
            </a:r>
            <a:endParaRPr sz="2000">
              <a:solidFill>
                <a:srgbClr val="FF0000"/>
              </a:solidFill>
              <a:latin typeface="Shadows Into Light"/>
              <a:ea typeface="Shadows Into Light"/>
              <a:cs typeface="Shadows Into Light"/>
              <a:sym typeface="Shadows Into Light"/>
            </a:endParaRPr>
          </a:p>
        </p:txBody>
      </p:sp>
      <p:sp>
        <p:nvSpPr>
          <p:cNvPr id="1941" name="Google Shape;1941;p84"/>
          <p:cNvSpPr txBox="1"/>
          <p:nvPr/>
        </p:nvSpPr>
        <p:spPr>
          <a:xfrm>
            <a:off x="2564077" y="2074798"/>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42" name="Google Shape;1942;p84"/>
          <p:cNvSpPr txBox="1"/>
          <p:nvPr/>
        </p:nvSpPr>
        <p:spPr>
          <a:xfrm>
            <a:off x="3108618" y="207411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4, C</a:t>
            </a:r>
            <a:endParaRPr sz="2000">
              <a:solidFill>
                <a:srgbClr val="FF0000"/>
              </a:solidFill>
              <a:latin typeface="Shadows Into Light"/>
              <a:ea typeface="Shadows Into Light"/>
              <a:cs typeface="Shadows Into Light"/>
              <a:sym typeface="Shadows Into Light"/>
            </a:endParaRPr>
          </a:p>
        </p:txBody>
      </p:sp>
      <p:sp>
        <p:nvSpPr>
          <p:cNvPr id="1943" name="Google Shape;1943;p84"/>
          <p:cNvSpPr txBox="1"/>
          <p:nvPr/>
        </p:nvSpPr>
        <p:spPr>
          <a:xfrm>
            <a:off x="3663420" y="2074799"/>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7, C</a:t>
            </a:r>
            <a:endParaRPr sz="2000">
              <a:solidFill>
                <a:srgbClr val="FF0000"/>
              </a:solidFill>
              <a:latin typeface="Shadows Into Light"/>
              <a:ea typeface="Shadows Into Light"/>
              <a:cs typeface="Shadows Into Light"/>
              <a:sym typeface="Shadows Into Light"/>
            </a:endParaRPr>
          </a:p>
        </p:txBody>
      </p:sp>
      <p:sp>
        <p:nvSpPr>
          <p:cNvPr id="1944" name="Google Shape;1944;p84"/>
          <p:cNvSpPr txBox="1"/>
          <p:nvPr/>
        </p:nvSpPr>
        <p:spPr>
          <a:xfrm>
            <a:off x="3158162" y="2426145"/>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45" name="Google Shape;1945;p84"/>
          <p:cNvSpPr txBox="1"/>
          <p:nvPr/>
        </p:nvSpPr>
        <p:spPr>
          <a:xfrm>
            <a:off x="1942344" y="2425462"/>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6, D</a:t>
            </a:r>
            <a:endParaRPr sz="2000">
              <a:solidFill>
                <a:srgbClr val="FF0000"/>
              </a:solidFill>
              <a:latin typeface="Shadows Into Light"/>
              <a:ea typeface="Shadows Into Light"/>
              <a:cs typeface="Shadows Into Light"/>
              <a:sym typeface="Shadows Into Light"/>
            </a:endParaRPr>
          </a:p>
        </p:txBody>
      </p:sp>
      <p:sp>
        <p:nvSpPr>
          <p:cNvPr id="1946" name="Google Shape;1946;p84"/>
          <p:cNvSpPr txBox="1"/>
          <p:nvPr/>
        </p:nvSpPr>
        <p:spPr>
          <a:xfrm>
            <a:off x="3685315" y="2432525"/>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5, D</a:t>
            </a:r>
            <a:endParaRPr sz="2000">
              <a:solidFill>
                <a:srgbClr val="FF0000"/>
              </a:solidFill>
              <a:latin typeface="Shadows Into Light"/>
              <a:ea typeface="Shadows Into Light"/>
              <a:cs typeface="Shadows Into Light"/>
              <a:sym typeface="Shadows Into Light"/>
            </a:endParaRPr>
          </a:p>
        </p:txBody>
      </p:sp>
      <p:sp>
        <p:nvSpPr>
          <p:cNvPr id="1947" name="Google Shape;1947;p84"/>
          <p:cNvSpPr txBox="1"/>
          <p:nvPr/>
        </p:nvSpPr>
        <p:spPr>
          <a:xfrm>
            <a:off x="4299182" y="242614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10, D</a:t>
            </a:r>
            <a:endParaRPr sz="2000">
              <a:solidFill>
                <a:srgbClr val="FF0000"/>
              </a:solidFill>
              <a:latin typeface="Shadows Into Light"/>
              <a:ea typeface="Shadows Into Light"/>
              <a:cs typeface="Shadows Into Light"/>
              <a:sym typeface="Shadows Into Light"/>
            </a:endParaRPr>
          </a:p>
        </p:txBody>
      </p:sp>
      <p:sp>
        <p:nvSpPr>
          <p:cNvPr id="1948" name="Google Shape;1948;p84"/>
          <p:cNvSpPr txBox="1"/>
          <p:nvPr/>
        </p:nvSpPr>
        <p:spPr>
          <a:xfrm>
            <a:off x="4885509" y="242614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7, D</a:t>
            </a:r>
            <a:endParaRPr sz="2000">
              <a:solidFill>
                <a:srgbClr val="FF0000"/>
              </a:solidFill>
              <a:latin typeface="Shadows Into Light"/>
              <a:ea typeface="Shadows Into Light"/>
              <a:cs typeface="Shadows Into Light"/>
              <a:sym typeface="Shadows Into Light"/>
            </a:endParaRPr>
          </a:p>
        </p:txBody>
      </p:sp>
      <p:sp>
        <p:nvSpPr>
          <p:cNvPr id="1949" name="Google Shape;1949;p84"/>
          <p:cNvSpPr txBox="1"/>
          <p:nvPr/>
        </p:nvSpPr>
        <p:spPr>
          <a:xfrm>
            <a:off x="3752246" y="2798008"/>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0" name="Google Shape;1950;p84"/>
          <p:cNvSpPr txBox="1"/>
          <p:nvPr/>
        </p:nvSpPr>
        <p:spPr>
          <a:xfrm>
            <a:off x="4876734" y="2790946"/>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6, E</a:t>
            </a:r>
            <a:endParaRPr sz="2000">
              <a:solidFill>
                <a:srgbClr val="FF0000"/>
              </a:solidFill>
              <a:latin typeface="Shadows Into Light"/>
              <a:ea typeface="Shadows Into Light"/>
              <a:cs typeface="Shadows Into Light"/>
              <a:sym typeface="Shadows Into Light"/>
            </a:endParaRPr>
          </a:p>
        </p:txBody>
      </p:sp>
      <p:sp>
        <p:nvSpPr>
          <p:cNvPr id="1951" name="Google Shape;1951;p84"/>
          <p:cNvSpPr txBox="1"/>
          <p:nvPr/>
        </p:nvSpPr>
        <p:spPr>
          <a:xfrm>
            <a:off x="1984130" y="3155734"/>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2" name="Google Shape;1952;p84"/>
          <p:cNvSpPr txBox="1"/>
          <p:nvPr/>
        </p:nvSpPr>
        <p:spPr>
          <a:xfrm>
            <a:off x="4926277" y="3522598"/>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3" name="Google Shape;1953;p84"/>
          <p:cNvSpPr txBox="1"/>
          <p:nvPr/>
        </p:nvSpPr>
        <p:spPr>
          <a:xfrm>
            <a:off x="4304544" y="352191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8, G</a:t>
            </a:r>
            <a:endParaRPr sz="2000">
              <a:solidFill>
                <a:srgbClr val="FF0000"/>
              </a:solidFill>
              <a:latin typeface="Shadows Into Light"/>
              <a:ea typeface="Shadows Into Light"/>
              <a:cs typeface="Shadows Into Light"/>
              <a:sym typeface="Shadows Into Light"/>
            </a:endParaRPr>
          </a:p>
        </p:txBody>
      </p:sp>
      <p:sp>
        <p:nvSpPr>
          <p:cNvPr id="1954" name="Google Shape;1954;p84"/>
          <p:cNvSpPr txBox="1"/>
          <p:nvPr/>
        </p:nvSpPr>
        <p:spPr>
          <a:xfrm>
            <a:off x="5468946" y="3522599"/>
            <a:ext cx="4803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12, G</a:t>
            </a:r>
            <a:endParaRPr sz="2000">
              <a:solidFill>
                <a:srgbClr val="FF0000"/>
              </a:solidFill>
              <a:latin typeface="Shadows Into Light"/>
              <a:ea typeface="Shadows Into Light"/>
              <a:cs typeface="Shadows Into Light"/>
              <a:sym typeface="Shadows Into Light"/>
            </a:endParaRPr>
          </a:p>
        </p:txBody>
      </p:sp>
      <p:sp>
        <p:nvSpPr>
          <p:cNvPr id="1955" name="Google Shape;1955;p84"/>
          <p:cNvSpPr txBox="1"/>
          <p:nvPr/>
        </p:nvSpPr>
        <p:spPr>
          <a:xfrm>
            <a:off x="4316677" y="3888082"/>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6" name="Google Shape;1956;p84"/>
          <p:cNvSpPr txBox="1"/>
          <p:nvPr/>
        </p:nvSpPr>
        <p:spPr>
          <a:xfrm>
            <a:off x="5470818" y="389515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11, F</a:t>
            </a:r>
            <a:endParaRPr sz="2000">
              <a:solidFill>
                <a:srgbClr val="FF0000"/>
              </a:solidFill>
              <a:latin typeface="Shadows Into Light"/>
              <a:ea typeface="Shadows Into Light"/>
              <a:cs typeface="Shadows Into Light"/>
              <a:sym typeface="Shadows Into Light"/>
            </a:endParaRPr>
          </a:p>
        </p:txBody>
      </p:sp>
      <p:sp>
        <p:nvSpPr>
          <p:cNvPr id="1957" name="Google Shape;1957;p84"/>
          <p:cNvSpPr txBox="1"/>
          <p:nvPr/>
        </p:nvSpPr>
        <p:spPr>
          <a:xfrm>
            <a:off x="5528120" y="4245808"/>
            <a:ext cx="3396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8" name="Google Shape;1958;p84"/>
          <p:cNvSpPr txBox="1"/>
          <p:nvPr/>
        </p:nvSpPr>
        <p:spPr>
          <a:xfrm>
            <a:off x="8172134" y="390960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959" name="Google Shape;1959;p84"/>
          <p:cNvSpPr txBox="1"/>
          <p:nvPr/>
        </p:nvSpPr>
        <p:spPr>
          <a:xfrm>
            <a:off x="7775618" y="390960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960" name="Google Shape;1960;p84"/>
          <p:cNvSpPr txBox="1"/>
          <p:nvPr/>
        </p:nvSpPr>
        <p:spPr>
          <a:xfrm>
            <a:off x="7363587" y="390960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961" name="Google Shape;1961;p84"/>
          <p:cNvSpPr txBox="1"/>
          <p:nvPr/>
        </p:nvSpPr>
        <p:spPr>
          <a:xfrm>
            <a:off x="7204418" y="4307807"/>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11</a:t>
            </a:r>
            <a:endParaRPr sz="2000">
              <a:solidFill>
                <a:srgbClr val="FF0000"/>
              </a:solidFill>
              <a:latin typeface="Shadows Into Light"/>
              <a:ea typeface="Shadows Into Light"/>
              <a:cs typeface="Shadows Into Light"/>
              <a:sym typeface="Shadows Into Light"/>
            </a:endParaRPr>
          </a:p>
        </p:txBody>
      </p:sp>
      <p:sp>
        <p:nvSpPr>
          <p:cNvPr id="1962" name="Google Shape;1962;p84"/>
          <p:cNvSpPr txBox="1"/>
          <p:nvPr/>
        </p:nvSpPr>
        <p:spPr>
          <a:xfrm>
            <a:off x="6952934" y="391736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963" name="Google Shape;1963;p84"/>
          <p:cNvSpPr txBox="1"/>
          <p:nvPr/>
        </p:nvSpPr>
        <p:spPr>
          <a:xfrm>
            <a:off x="6556418" y="391736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964" name="Google Shape;1964;p84"/>
          <p:cNvSpPr txBox="1"/>
          <p:nvPr/>
        </p:nvSpPr>
        <p:spPr>
          <a:xfrm>
            <a:off x="6144387" y="3917365"/>
            <a:ext cx="418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965" name="Google Shape;1965;p8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13.24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929"/>
                                        </p:tgtEl>
                                        <p:attrNameLst>
                                          <p:attrName>style.visibility</p:attrName>
                                        </p:attrNameLst>
                                      </p:cBhvr>
                                      <p:to>
                                        <p:strVal val="visible"/>
                                      </p:to>
                                    </p:set>
                                    <p:animEffect filter="fade" transition="in">
                                      <p:cBhvr>
                                        <p:cTn dur="1000"/>
                                        <p:tgtEl>
                                          <p:spTgt spid="19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38"/>
                                        </p:tgtEl>
                                        <p:attrNameLst>
                                          <p:attrName>style.visibility</p:attrName>
                                        </p:attrNameLst>
                                      </p:cBhvr>
                                      <p:to>
                                        <p:strVal val="visible"/>
                                      </p:to>
                                    </p:set>
                                    <p:animEffect filter="fade" transition="in">
                                      <p:cBhvr>
                                        <p:cTn dur="1000"/>
                                        <p:tgtEl>
                                          <p:spTgt spid="193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39"/>
                                        </p:tgtEl>
                                        <p:attrNameLst>
                                          <p:attrName>style.visibility</p:attrName>
                                        </p:attrNameLst>
                                      </p:cBhvr>
                                      <p:to>
                                        <p:strVal val="visible"/>
                                      </p:to>
                                    </p:set>
                                    <p:animEffect filter="fade" transition="in">
                                      <p:cBhvr>
                                        <p:cTn dur="1000"/>
                                        <p:tgtEl>
                                          <p:spTgt spid="193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40"/>
                                        </p:tgtEl>
                                        <p:attrNameLst>
                                          <p:attrName>style.visibility</p:attrName>
                                        </p:attrNameLst>
                                      </p:cBhvr>
                                      <p:to>
                                        <p:strVal val="visible"/>
                                      </p:to>
                                    </p:set>
                                    <p:animEffect filter="fade" transition="in">
                                      <p:cBhvr>
                                        <p:cTn dur="1000"/>
                                        <p:tgtEl>
                                          <p:spTgt spid="194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937"/>
                                        </p:tgtEl>
                                        <p:attrNameLst>
                                          <p:attrName>style.visibility</p:attrName>
                                        </p:attrNameLst>
                                      </p:cBhvr>
                                      <p:to>
                                        <p:strVal val="visible"/>
                                      </p:to>
                                    </p:set>
                                    <p:animEffect filter="fade" transition="in">
                                      <p:cBhvr>
                                        <p:cTn dur="1000"/>
                                        <p:tgtEl>
                                          <p:spTgt spid="1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0"/>
                                        </p:tgtEl>
                                        <p:attrNameLst>
                                          <p:attrName>style.visibility</p:attrName>
                                        </p:attrNameLst>
                                      </p:cBhvr>
                                      <p:to>
                                        <p:strVal val="visible"/>
                                      </p:to>
                                    </p:set>
                                    <p:animEffect filter="fade" transition="in">
                                      <p:cBhvr>
                                        <p:cTn dur="1000"/>
                                        <p:tgtEl>
                                          <p:spTgt spid="19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42"/>
                                        </p:tgtEl>
                                        <p:attrNameLst>
                                          <p:attrName>style.visibility</p:attrName>
                                        </p:attrNameLst>
                                      </p:cBhvr>
                                      <p:to>
                                        <p:strVal val="visible"/>
                                      </p:to>
                                    </p:set>
                                    <p:animEffect filter="fade" transition="in">
                                      <p:cBhvr>
                                        <p:cTn dur="1400"/>
                                        <p:tgtEl>
                                          <p:spTgt spid="1942"/>
                                        </p:tgtEl>
                                      </p:cBhvr>
                                    </p:animEffect>
                                  </p:childTnLst>
                                </p:cTn>
                              </p:par>
                            </p:childTnLst>
                          </p:cTn>
                        </p:par>
                        <p:par>
                          <p:cTn fill="hold">
                            <p:stCondLst>
                              <p:cond delay="2400"/>
                            </p:stCondLst>
                            <p:childTnLst>
                              <p:par>
                                <p:cTn fill="hold" nodeType="afterEffect" presetClass="entr" presetID="10" presetSubtype="0">
                                  <p:stCondLst>
                                    <p:cond delay="0"/>
                                  </p:stCondLst>
                                  <p:childTnLst>
                                    <p:set>
                                      <p:cBhvr>
                                        <p:cTn dur="1" fill="hold">
                                          <p:stCondLst>
                                            <p:cond delay="0"/>
                                          </p:stCondLst>
                                        </p:cTn>
                                        <p:tgtEl>
                                          <p:spTgt spid="1943"/>
                                        </p:tgtEl>
                                        <p:attrNameLst>
                                          <p:attrName>style.visibility</p:attrName>
                                        </p:attrNameLst>
                                      </p:cBhvr>
                                      <p:to>
                                        <p:strVal val="visible"/>
                                      </p:to>
                                    </p:set>
                                    <p:animEffect filter="fade" transition="in">
                                      <p:cBhvr>
                                        <p:cTn dur="1000"/>
                                        <p:tgtEl>
                                          <p:spTgt spid="1943"/>
                                        </p:tgtEl>
                                      </p:cBhvr>
                                    </p:animEffect>
                                  </p:childTnLst>
                                </p:cTn>
                              </p:par>
                            </p:childTnLst>
                          </p:cTn>
                        </p:par>
                        <p:par>
                          <p:cTn fill="hold">
                            <p:stCondLst>
                              <p:cond delay="3400"/>
                            </p:stCondLst>
                            <p:childTnLst>
                              <p:par>
                                <p:cTn fill="hold" nodeType="afterEffect" presetClass="entr" presetID="10" presetSubtype="0">
                                  <p:stCondLst>
                                    <p:cond delay="0"/>
                                  </p:stCondLst>
                                  <p:childTnLst>
                                    <p:set>
                                      <p:cBhvr>
                                        <p:cTn dur="1" fill="hold">
                                          <p:stCondLst>
                                            <p:cond delay="0"/>
                                          </p:stCondLst>
                                        </p:cTn>
                                        <p:tgtEl>
                                          <p:spTgt spid="1941"/>
                                        </p:tgtEl>
                                        <p:attrNameLst>
                                          <p:attrName>style.visibility</p:attrName>
                                        </p:attrNameLst>
                                      </p:cBhvr>
                                      <p:to>
                                        <p:strVal val="visible"/>
                                      </p:to>
                                    </p:set>
                                    <p:animEffect filter="fade" transition="in">
                                      <p:cBhvr>
                                        <p:cTn dur="1000"/>
                                        <p:tgtEl>
                                          <p:spTgt spid="19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1"/>
                                        </p:tgtEl>
                                        <p:attrNameLst>
                                          <p:attrName>style.visibility</p:attrName>
                                        </p:attrNameLst>
                                      </p:cBhvr>
                                      <p:to>
                                        <p:strVal val="visible"/>
                                      </p:to>
                                    </p:set>
                                    <p:animEffect filter="fade" transition="in">
                                      <p:cBhvr>
                                        <p:cTn dur="1000"/>
                                        <p:tgtEl>
                                          <p:spTgt spid="19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45"/>
                                        </p:tgtEl>
                                        <p:attrNameLst>
                                          <p:attrName>style.visibility</p:attrName>
                                        </p:attrNameLst>
                                      </p:cBhvr>
                                      <p:to>
                                        <p:strVal val="visible"/>
                                      </p:to>
                                    </p:set>
                                    <p:animEffect filter="fade" transition="in">
                                      <p:cBhvr>
                                        <p:cTn dur="1000"/>
                                        <p:tgtEl>
                                          <p:spTgt spid="194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46"/>
                                        </p:tgtEl>
                                        <p:attrNameLst>
                                          <p:attrName>style.visibility</p:attrName>
                                        </p:attrNameLst>
                                      </p:cBhvr>
                                      <p:to>
                                        <p:strVal val="visible"/>
                                      </p:to>
                                    </p:set>
                                    <p:animEffect filter="fade" transition="in">
                                      <p:cBhvr>
                                        <p:cTn dur="1000"/>
                                        <p:tgtEl>
                                          <p:spTgt spid="194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47"/>
                                        </p:tgtEl>
                                        <p:attrNameLst>
                                          <p:attrName>style.visibility</p:attrName>
                                        </p:attrNameLst>
                                      </p:cBhvr>
                                      <p:to>
                                        <p:strVal val="visible"/>
                                      </p:to>
                                    </p:set>
                                    <p:animEffect filter="fade" transition="in">
                                      <p:cBhvr>
                                        <p:cTn dur="1000"/>
                                        <p:tgtEl>
                                          <p:spTgt spid="194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948"/>
                                        </p:tgtEl>
                                        <p:attrNameLst>
                                          <p:attrName>style.visibility</p:attrName>
                                        </p:attrNameLst>
                                      </p:cBhvr>
                                      <p:to>
                                        <p:strVal val="visible"/>
                                      </p:to>
                                    </p:set>
                                    <p:animEffect filter="fade" transition="in">
                                      <p:cBhvr>
                                        <p:cTn dur="1000"/>
                                        <p:tgtEl>
                                          <p:spTgt spid="1948"/>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944"/>
                                        </p:tgtEl>
                                        <p:attrNameLst>
                                          <p:attrName>style.visibility</p:attrName>
                                        </p:attrNameLst>
                                      </p:cBhvr>
                                      <p:to>
                                        <p:strVal val="visible"/>
                                      </p:to>
                                    </p:set>
                                    <p:animEffect filter="fade" transition="in">
                                      <p:cBhvr>
                                        <p:cTn dur="1000"/>
                                        <p:tgtEl>
                                          <p:spTgt spid="1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2"/>
                                        </p:tgtEl>
                                        <p:attrNameLst>
                                          <p:attrName>style.visibility</p:attrName>
                                        </p:attrNameLst>
                                      </p:cBhvr>
                                      <p:to>
                                        <p:strVal val="visible"/>
                                      </p:to>
                                    </p:set>
                                    <p:animEffect filter="fade" transition="in">
                                      <p:cBhvr>
                                        <p:cTn dur="1000"/>
                                        <p:tgtEl>
                                          <p:spTgt spid="19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0"/>
                                        </p:tgtEl>
                                        <p:attrNameLst>
                                          <p:attrName>style.visibility</p:attrName>
                                        </p:attrNameLst>
                                      </p:cBhvr>
                                      <p:to>
                                        <p:strVal val="visible"/>
                                      </p:to>
                                    </p:set>
                                    <p:animEffect filter="fade" transition="in">
                                      <p:cBhvr>
                                        <p:cTn dur="1000"/>
                                        <p:tgtEl>
                                          <p:spTgt spid="195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49"/>
                                        </p:tgtEl>
                                        <p:attrNameLst>
                                          <p:attrName>style.visibility</p:attrName>
                                        </p:attrNameLst>
                                      </p:cBhvr>
                                      <p:to>
                                        <p:strVal val="visible"/>
                                      </p:to>
                                    </p:set>
                                    <p:animEffect filter="fade" transition="in">
                                      <p:cBhvr>
                                        <p:cTn dur="1000"/>
                                        <p:tgtEl>
                                          <p:spTgt spid="19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3"/>
                                        </p:tgtEl>
                                        <p:attrNameLst>
                                          <p:attrName>style.visibility</p:attrName>
                                        </p:attrNameLst>
                                      </p:cBhvr>
                                      <p:to>
                                        <p:strVal val="visible"/>
                                      </p:to>
                                    </p:set>
                                    <p:animEffect filter="fade" transition="in">
                                      <p:cBhvr>
                                        <p:cTn dur="1000"/>
                                        <p:tgtEl>
                                          <p:spTgt spid="19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1"/>
                                        </p:tgtEl>
                                        <p:attrNameLst>
                                          <p:attrName>style.visibility</p:attrName>
                                        </p:attrNameLst>
                                      </p:cBhvr>
                                      <p:to>
                                        <p:strVal val="visible"/>
                                      </p:to>
                                    </p:set>
                                    <p:animEffect filter="fade" transition="in">
                                      <p:cBhvr>
                                        <p:cTn dur="1000"/>
                                        <p:tgtEl>
                                          <p:spTgt spid="19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4"/>
                                        </p:tgtEl>
                                        <p:attrNameLst>
                                          <p:attrName>style.visibility</p:attrName>
                                        </p:attrNameLst>
                                      </p:cBhvr>
                                      <p:to>
                                        <p:strVal val="visible"/>
                                      </p:to>
                                    </p:set>
                                    <p:animEffect filter="fade" transition="in">
                                      <p:cBhvr>
                                        <p:cTn dur="1000"/>
                                        <p:tgtEl>
                                          <p:spTgt spid="19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3"/>
                                        </p:tgtEl>
                                        <p:attrNameLst>
                                          <p:attrName>style.visibility</p:attrName>
                                        </p:attrNameLst>
                                      </p:cBhvr>
                                      <p:to>
                                        <p:strVal val="visible"/>
                                      </p:to>
                                    </p:set>
                                    <p:animEffect filter="fade" transition="in">
                                      <p:cBhvr>
                                        <p:cTn dur="1000"/>
                                        <p:tgtEl>
                                          <p:spTgt spid="195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1000"/>
                                        <p:tgtEl>
                                          <p:spTgt spid="195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52"/>
                                        </p:tgtEl>
                                        <p:attrNameLst>
                                          <p:attrName>style.visibility</p:attrName>
                                        </p:attrNameLst>
                                      </p:cBhvr>
                                      <p:to>
                                        <p:strVal val="visible"/>
                                      </p:to>
                                    </p:set>
                                    <p:animEffect filter="fade" transition="in">
                                      <p:cBhvr>
                                        <p:cTn dur="1000"/>
                                        <p:tgtEl>
                                          <p:spTgt spid="19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5"/>
                                        </p:tgtEl>
                                        <p:attrNameLst>
                                          <p:attrName>style.visibility</p:attrName>
                                        </p:attrNameLst>
                                      </p:cBhvr>
                                      <p:to>
                                        <p:strVal val="visible"/>
                                      </p:to>
                                    </p:set>
                                    <p:animEffect filter="fade" transition="in">
                                      <p:cBhvr>
                                        <p:cTn dur="1300"/>
                                        <p:tgtEl>
                                          <p:spTgt spid="1935"/>
                                        </p:tgtEl>
                                      </p:cBhvr>
                                    </p:animEffect>
                                  </p:childTnLst>
                                </p:cTn>
                              </p:par>
                            </p:childTnLst>
                          </p:cTn>
                        </p:par>
                        <p:par>
                          <p:cTn fill="hold">
                            <p:stCondLst>
                              <p:cond delay="1300"/>
                            </p:stCondLst>
                            <p:childTnLst>
                              <p:par>
                                <p:cTn fill="hold" nodeType="afterEffect" presetClass="entr" presetID="10" presetSubtype="0">
                                  <p:stCondLst>
                                    <p:cond delay="0"/>
                                  </p:stCondLst>
                                  <p:childTnLst>
                                    <p:set>
                                      <p:cBhvr>
                                        <p:cTn dur="1" fill="hold">
                                          <p:stCondLst>
                                            <p:cond delay="0"/>
                                          </p:stCondLst>
                                        </p:cTn>
                                        <p:tgtEl>
                                          <p:spTgt spid="1956"/>
                                        </p:tgtEl>
                                        <p:attrNameLst>
                                          <p:attrName>style.visibility</p:attrName>
                                        </p:attrNameLst>
                                      </p:cBhvr>
                                      <p:to>
                                        <p:strVal val="visible"/>
                                      </p:to>
                                    </p:set>
                                    <p:animEffect filter="fade" transition="in">
                                      <p:cBhvr>
                                        <p:cTn dur="1000"/>
                                        <p:tgtEl>
                                          <p:spTgt spid="1956"/>
                                        </p:tgtEl>
                                      </p:cBhvr>
                                    </p:animEffect>
                                  </p:childTnLst>
                                </p:cTn>
                              </p:par>
                            </p:childTnLst>
                          </p:cTn>
                        </p:par>
                        <p:par>
                          <p:cTn fill="hold">
                            <p:stCondLst>
                              <p:cond delay="2300"/>
                            </p:stCondLst>
                            <p:childTnLst>
                              <p:par>
                                <p:cTn fill="hold" nodeType="afterEffect" presetClass="entr" presetID="10" presetSubtype="0">
                                  <p:stCondLst>
                                    <p:cond delay="0"/>
                                  </p:stCondLst>
                                  <p:childTnLst>
                                    <p:set>
                                      <p:cBhvr>
                                        <p:cTn dur="1" fill="hold">
                                          <p:stCondLst>
                                            <p:cond delay="0"/>
                                          </p:stCondLst>
                                        </p:cTn>
                                        <p:tgtEl>
                                          <p:spTgt spid="1955"/>
                                        </p:tgtEl>
                                        <p:attrNameLst>
                                          <p:attrName>style.visibility</p:attrName>
                                        </p:attrNameLst>
                                      </p:cBhvr>
                                      <p:to>
                                        <p:strVal val="visible"/>
                                      </p:to>
                                    </p:set>
                                    <p:animEffect filter="fade" transition="in">
                                      <p:cBhvr>
                                        <p:cTn dur="1000"/>
                                        <p:tgtEl>
                                          <p:spTgt spid="19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6"/>
                                        </p:tgtEl>
                                        <p:attrNameLst>
                                          <p:attrName>style.visibility</p:attrName>
                                        </p:attrNameLst>
                                      </p:cBhvr>
                                      <p:to>
                                        <p:strVal val="visible"/>
                                      </p:to>
                                    </p:set>
                                    <p:animEffect filter="fade" transition="in">
                                      <p:cBhvr>
                                        <p:cTn dur="1000"/>
                                        <p:tgtEl>
                                          <p:spTgt spid="19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7"/>
                                        </p:tgtEl>
                                        <p:attrNameLst>
                                          <p:attrName>style.visibility</p:attrName>
                                        </p:attrNameLst>
                                      </p:cBhvr>
                                      <p:to>
                                        <p:strVal val="visible"/>
                                      </p:to>
                                    </p:set>
                                    <p:animEffect filter="fade" transition="in">
                                      <p:cBhvr>
                                        <p:cTn dur="1000"/>
                                        <p:tgtEl>
                                          <p:spTgt spid="19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6"/>
                                        </p:tgtEl>
                                        <p:attrNameLst>
                                          <p:attrName>style.visibility</p:attrName>
                                        </p:attrNameLst>
                                      </p:cBhvr>
                                      <p:to>
                                        <p:strVal val="visible"/>
                                      </p:to>
                                    </p:set>
                                    <p:animEffect filter="fade" transition="in">
                                      <p:cBhvr>
                                        <p:cTn dur="1000"/>
                                        <p:tgtEl>
                                          <p:spTgt spid="18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61"/>
                                        </p:tgtEl>
                                        <p:attrNameLst>
                                          <p:attrName>style.visibility</p:attrName>
                                        </p:attrNameLst>
                                      </p:cBhvr>
                                      <p:to>
                                        <p:strVal val="visible"/>
                                      </p:to>
                                    </p:set>
                                    <p:animEffect filter="fade" transition="in">
                                      <p:cBhvr>
                                        <p:cTn dur="1000"/>
                                        <p:tgtEl>
                                          <p:spTgt spid="19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8"/>
                                        </p:tgtEl>
                                        <p:attrNameLst>
                                          <p:attrName>style.visibility</p:attrName>
                                        </p:attrNameLst>
                                      </p:cBhvr>
                                      <p:to>
                                        <p:strVal val="visible"/>
                                      </p:to>
                                    </p:set>
                                    <p:animEffect filter="fade" transition="in">
                                      <p:cBhvr>
                                        <p:cTn dur="1000"/>
                                        <p:tgtEl>
                                          <p:spTgt spid="195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9"/>
                                        </p:tgtEl>
                                        <p:attrNameLst>
                                          <p:attrName>style.visibility</p:attrName>
                                        </p:attrNameLst>
                                      </p:cBhvr>
                                      <p:to>
                                        <p:strVal val="visible"/>
                                      </p:to>
                                    </p:set>
                                    <p:animEffect filter="fade" transition="in">
                                      <p:cBhvr>
                                        <p:cTn dur="1000"/>
                                        <p:tgtEl>
                                          <p:spTgt spid="195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60"/>
                                        </p:tgtEl>
                                        <p:attrNameLst>
                                          <p:attrName>style.visibility</p:attrName>
                                        </p:attrNameLst>
                                      </p:cBhvr>
                                      <p:to>
                                        <p:strVal val="visible"/>
                                      </p:to>
                                    </p:set>
                                    <p:animEffect filter="fade" transition="in">
                                      <p:cBhvr>
                                        <p:cTn dur="1000"/>
                                        <p:tgtEl>
                                          <p:spTgt spid="196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62"/>
                                        </p:tgtEl>
                                        <p:attrNameLst>
                                          <p:attrName>style.visibility</p:attrName>
                                        </p:attrNameLst>
                                      </p:cBhvr>
                                      <p:to>
                                        <p:strVal val="visible"/>
                                      </p:to>
                                    </p:set>
                                    <p:animEffect filter="fade" transition="in">
                                      <p:cBhvr>
                                        <p:cTn dur="1000"/>
                                        <p:tgtEl>
                                          <p:spTgt spid="196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963"/>
                                        </p:tgtEl>
                                        <p:attrNameLst>
                                          <p:attrName>style.visibility</p:attrName>
                                        </p:attrNameLst>
                                      </p:cBhvr>
                                      <p:to>
                                        <p:strVal val="visible"/>
                                      </p:to>
                                    </p:set>
                                    <p:animEffect filter="fade" transition="in">
                                      <p:cBhvr>
                                        <p:cTn dur="1000"/>
                                        <p:tgtEl>
                                          <p:spTgt spid="1963"/>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964"/>
                                        </p:tgtEl>
                                        <p:attrNameLst>
                                          <p:attrName>style.visibility</p:attrName>
                                        </p:attrNameLst>
                                      </p:cBhvr>
                                      <p:to>
                                        <p:strVal val="visible"/>
                                      </p:to>
                                    </p:set>
                                    <p:animEffect filter="fade" transition="in">
                                      <p:cBhvr>
                                        <p:cTn dur="1000"/>
                                        <p:tgtEl>
                                          <p:spTgt spid="19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9" name="Shape 1969"/>
        <p:cNvGrpSpPr/>
        <p:nvPr/>
      </p:nvGrpSpPr>
      <p:grpSpPr>
        <a:xfrm>
          <a:off x="0" y="0"/>
          <a:ext cx="0" cy="0"/>
          <a:chOff x="0" y="0"/>
          <a:chExt cx="0" cy="0"/>
        </a:xfrm>
      </p:grpSpPr>
      <p:sp>
        <p:nvSpPr>
          <p:cNvPr id="1970" name="Google Shape;1970;p85"/>
          <p:cNvSpPr txBox="1"/>
          <p:nvPr>
            <p:ph type="title"/>
          </p:nvPr>
        </p:nvSpPr>
        <p:spPr>
          <a:xfrm>
            <a:off x="4989275" y="196125"/>
            <a:ext cx="40956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The 8-Queens Problem </a:t>
            </a:r>
            <a:endParaRPr sz="2500"/>
          </a:p>
        </p:txBody>
      </p:sp>
      <p:sp>
        <p:nvSpPr>
          <p:cNvPr id="1971" name="Google Shape;1971;p85"/>
          <p:cNvSpPr txBox="1"/>
          <p:nvPr>
            <p:ph idx="1" type="body"/>
          </p:nvPr>
        </p:nvSpPr>
        <p:spPr>
          <a:xfrm>
            <a:off x="72675" y="43725"/>
            <a:ext cx="4645500" cy="50025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In chess, the </a:t>
            </a:r>
            <a:r>
              <a:rPr b="1" i="1" lang="en">
                <a:solidFill>
                  <a:srgbClr val="FF0000"/>
                </a:solidFill>
              </a:rPr>
              <a:t>queen </a:t>
            </a:r>
            <a:r>
              <a:rPr lang="en"/>
              <a:t>may move an unlimited number of squares in any direction: </a:t>
            </a:r>
            <a:r>
              <a:rPr b="1" i="1" lang="en">
                <a:solidFill>
                  <a:srgbClr val="FF0000"/>
                </a:solidFill>
              </a:rPr>
              <a:t>up</a:t>
            </a:r>
            <a:r>
              <a:rPr lang="en"/>
              <a:t>, </a:t>
            </a:r>
            <a:r>
              <a:rPr b="1" i="1" lang="en">
                <a:solidFill>
                  <a:srgbClr val="FF0000"/>
                </a:solidFill>
              </a:rPr>
              <a:t>down</a:t>
            </a:r>
            <a:r>
              <a:rPr lang="en"/>
              <a:t>, or </a:t>
            </a:r>
            <a:r>
              <a:rPr b="1" i="1" lang="en">
                <a:solidFill>
                  <a:srgbClr val="FF0000"/>
                </a:solidFill>
              </a:rPr>
              <a:t>diagonally</a:t>
            </a:r>
            <a:r>
              <a:rPr lang="en"/>
              <a:t>.</a:t>
            </a:r>
            <a:endParaRPr/>
          </a:p>
          <a:p>
            <a:pPr indent="-311150" lvl="0" marL="457200" rtl="0" algn="l">
              <a:lnSpc>
                <a:spcPct val="100000"/>
              </a:lnSpc>
              <a:spcBef>
                <a:spcPts val="1000"/>
              </a:spcBef>
              <a:spcAft>
                <a:spcPts val="0"/>
              </a:spcAft>
              <a:buSzPts val="1300"/>
              <a:buChar char="●"/>
            </a:pPr>
            <a:r>
              <a:rPr lang="en"/>
              <a:t>Imagine that you are given a standard 8x8 chessboard with 64 squares, and 8 queen pieces. You are challenged to </a:t>
            </a:r>
            <a:r>
              <a:rPr b="1" i="1" lang="en">
                <a:solidFill>
                  <a:srgbClr val="FF0000"/>
                </a:solidFill>
              </a:rPr>
              <a:t>place all 8 queens</a:t>
            </a:r>
            <a:r>
              <a:rPr lang="en"/>
              <a:t> on the board in a </a:t>
            </a:r>
            <a:r>
              <a:rPr b="1" i="1" lang="en">
                <a:solidFill>
                  <a:srgbClr val="FF0000"/>
                </a:solidFill>
              </a:rPr>
              <a:t>configuration </a:t>
            </a:r>
            <a:r>
              <a:rPr lang="en"/>
              <a:t>such that no two queens can attack each other.</a:t>
            </a:r>
            <a:endParaRPr/>
          </a:p>
          <a:p>
            <a:pPr indent="-298450" lvl="1" marL="914400" rtl="0" algn="l">
              <a:lnSpc>
                <a:spcPct val="100000"/>
              </a:lnSpc>
              <a:spcBef>
                <a:spcPts val="0"/>
              </a:spcBef>
              <a:spcAft>
                <a:spcPts val="0"/>
              </a:spcAft>
              <a:buSzPts val="1100"/>
              <a:buChar char="○"/>
            </a:pPr>
            <a:r>
              <a:rPr lang="en"/>
              <a:t>This means that no two queens can be in the same </a:t>
            </a:r>
            <a:r>
              <a:rPr b="1" i="1" lang="en">
                <a:solidFill>
                  <a:srgbClr val="FF0000"/>
                </a:solidFill>
              </a:rPr>
              <a:t>row</a:t>
            </a:r>
            <a:r>
              <a:rPr lang="en"/>
              <a:t>, </a:t>
            </a:r>
            <a:r>
              <a:rPr b="1" i="1" lang="en">
                <a:solidFill>
                  <a:srgbClr val="FF0000"/>
                </a:solidFill>
              </a:rPr>
              <a:t>column</a:t>
            </a:r>
            <a:r>
              <a:rPr lang="en"/>
              <a:t>, or </a:t>
            </a:r>
            <a:r>
              <a:rPr b="1" i="1" lang="en">
                <a:solidFill>
                  <a:srgbClr val="FF0000"/>
                </a:solidFill>
              </a:rPr>
              <a:t>diagonal</a:t>
            </a:r>
            <a:r>
              <a:rPr lang="en">
                <a:solidFill>
                  <a:srgbClr val="FF0000"/>
                </a:solidFill>
              </a:rPr>
              <a:t> </a:t>
            </a:r>
            <a:r>
              <a:rPr lang="en"/>
              <a:t>on the board.</a:t>
            </a:r>
            <a:endParaRPr/>
          </a:p>
          <a:p>
            <a:pPr indent="-298450" lvl="1" marL="914400" rtl="0" algn="l">
              <a:lnSpc>
                <a:spcPct val="100000"/>
              </a:lnSpc>
              <a:spcBef>
                <a:spcPts val="0"/>
              </a:spcBef>
              <a:spcAft>
                <a:spcPts val="0"/>
              </a:spcAft>
              <a:buSzPts val="1100"/>
              <a:buChar char="○"/>
            </a:pPr>
            <a:r>
              <a:rPr lang="en"/>
              <a:t>Is this even possible? </a:t>
            </a:r>
            <a:endParaRPr/>
          </a:p>
          <a:p>
            <a:pPr indent="-298450" lvl="1" marL="914400" rtl="0" algn="l">
              <a:lnSpc>
                <a:spcPct val="100000"/>
              </a:lnSpc>
              <a:spcBef>
                <a:spcPts val="0"/>
              </a:spcBef>
              <a:spcAft>
                <a:spcPts val="0"/>
              </a:spcAft>
              <a:buSzPts val="1100"/>
              <a:buChar char="○"/>
            </a:pPr>
            <a:r>
              <a:rPr lang="en"/>
              <a:t>How would you go about trying to find if a solution to the problem even exists?</a:t>
            </a:r>
            <a:endParaRPr/>
          </a:p>
          <a:p>
            <a:pPr indent="-311150" lvl="0" marL="457200" rtl="0" algn="l">
              <a:lnSpc>
                <a:spcPct val="100000"/>
              </a:lnSpc>
              <a:spcBef>
                <a:spcPts val="1000"/>
              </a:spcBef>
              <a:spcAft>
                <a:spcPts val="0"/>
              </a:spcAft>
              <a:buSzPts val="1300"/>
              <a:buChar char="●"/>
            </a:pPr>
            <a:r>
              <a:rPr lang="en"/>
              <a:t>You might start by placing the first queen on any square on the board, e.g. the top left square.</a:t>
            </a:r>
            <a:endParaRPr/>
          </a:p>
          <a:p>
            <a:pPr indent="-298450" lvl="1" marL="914400" rtl="0" algn="l">
              <a:lnSpc>
                <a:spcPct val="100000"/>
              </a:lnSpc>
              <a:spcBef>
                <a:spcPts val="0"/>
              </a:spcBef>
              <a:spcAft>
                <a:spcPts val="0"/>
              </a:spcAft>
              <a:buSzPts val="1100"/>
              <a:buChar char="○"/>
            </a:pPr>
            <a:r>
              <a:rPr lang="en"/>
              <a:t>For each subsequent queen, you would choose a square that cannot be attacked by any previously placed queen.</a:t>
            </a:r>
            <a:endParaRPr/>
          </a:p>
          <a:p>
            <a:pPr indent="-311150" lvl="0" marL="457200" rtl="0" algn="l">
              <a:lnSpc>
                <a:spcPct val="100000"/>
              </a:lnSpc>
              <a:spcBef>
                <a:spcPts val="1000"/>
              </a:spcBef>
              <a:spcAft>
                <a:spcPts val="0"/>
              </a:spcAft>
              <a:buSzPts val="1300"/>
              <a:buChar char="●"/>
            </a:pPr>
            <a:r>
              <a:rPr lang="en"/>
              <a:t>What would you do if you'd placed fewer than 8 queens on the board, but none of the remaining squares is safe?</a:t>
            </a:r>
            <a:endParaRPr/>
          </a:p>
          <a:p>
            <a:pPr indent="-298450" lvl="1" marL="914400" rtl="0" algn="l">
              <a:lnSpc>
                <a:spcPct val="100000"/>
              </a:lnSpc>
              <a:spcBef>
                <a:spcPts val="0"/>
              </a:spcBef>
              <a:spcAft>
                <a:spcPts val="0"/>
              </a:spcAft>
              <a:buSzPts val="1100"/>
              <a:buChar char="○"/>
            </a:pPr>
            <a:r>
              <a:rPr lang="en"/>
              <a:t>You will have reached a </a:t>
            </a:r>
            <a:r>
              <a:rPr b="1" i="1" lang="en">
                <a:solidFill>
                  <a:srgbClr val="FF0000"/>
                </a:solidFill>
              </a:rPr>
              <a:t>dead end</a:t>
            </a:r>
            <a:r>
              <a:rPr lang="en"/>
              <a:t>.</a:t>
            </a:r>
            <a:endParaRPr/>
          </a:p>
          <a:p>
            <a:pPr indent="-298450" lvl="1" marL="914400" rtl="0" algn="l">
              <a:lnSpc>
                <a:spcPct val="100000"/>
              </a:lnSpc>
              <a:spcBef>
                <a:spcPts val="0"/>
              </a:spcBef>
              <a:spcAft>
                <a:spcPts val="0"/>
              </a:spcAft>
              <a:buSzPts val="1100"/>
              <a:buChar char="○"/>
            </a:pPr>
            <a:r>
              <a:rPr lang="en"/>
              <a:t>You would need to </a:t>
            </a:r>
            <a:r>
              <a:rPr b="1" i="1" lang="en">
                <a:solidFill>
                  <a:srgbClr val="FF0000"/>
                </a:solidFill>
              </a:rPr>
              <a:t>backtrack</a:t>
            </a:r>
            <a:r>
              <a:rPr lang="en">
                <a:solidFill>
                  <a:srgbClr val="FF0000"/>
                </a:solidFill>
              </a:rPr>
              <a:t> </a:t>
            </a:r>
            <a:r>
              <a:rPr lang="en"/>
              <a:t>by picking up the last queen you played and trying it in a different square.</a:t>
            </a:r>
            <a:endParaRPr/>
          </a:p>
          <a:p>
            <a:pPr indent="-298450" lvl="1" marL="914400" rtl="0" algn="l">
              <a:lnSpc>
                <a:spcPct val="100000"/>
              </a:lnSpc>
              <a:spcBef>
                <a:spcPts val="0"/>
              </a:spcBef>
              <a:spcAft>
                <a:spcPts val="0"/>
              </a:spcAft>
              <a:buSzPts val="1100"/>
              <a:buChar char="○"/>
            </a:pPr>
            <a:r>
              <a:rPr lang="en"/>
              <a:t>You may need to </a:t>
            </a:r>
            <a:r>
              <a:rPr b="1" i="1" lang="en">
                <a:solidFill>
                  <a:srgbClr val="FF0000"/>
                </a:solidFill>
              </a:rPr>
              <a:t>backtrack</a:t>
            </a:r>
            <a:r>
              <a:rPr lang="en">
                <a:solidFill>
                  <a:srgbClr val="FF0000"/>
                </a:solidFill>
              </a:rPr>
              <a:t> </a:t>
            </a:r>
            <a:r>
              <a:rPr lang="en"/>
              <a:t>further and pick up two or more queens.</a:t>
            </a:r>
            <a:endParaRPr/>
          </a:p>
        </p:txBody>
      </p:sp>
      <p:sp>
        <p:nvSpPr>
          <p:cNvPr id="1972" name="Google Shape;1972;p85"/>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3" name="Google Shape;1973;p85"/>
          <p:cNvSpPr txBox="1"/>
          <p:nvPr>
            <p:ph idx="3" type="body"/>
          </p:nvPr>
        </p:nvSpPr>
        <p:spPr>
          <a:xfrm>
            <a:off x="5192225"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Today we will implement an algorithm that keeps trying, and backtracking, until it finds a solution (or tries every possible combination).</a:t>
            </a:r>
            <a:endParaRPr/>
          </a:p>
        </p:txBody>
      </p:sp>
      <p:graphicFrame>
        <p:nvGraphicFramePr>
          <p:cNvPr id="1974" name="Google Shape;1974;p85"/>
          <p:cNvGraphicFramePr/>
          <p:nvPr/>
        </p:nvGraphicFramePr>
        <p:xfrm>
          <a:off x="5333700" y="80717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pic>
        <p:nvPicPr>
          <p:cNvPr id="1975" name="Google Shape;1975;p85"/>
          <p:cNvPicPr preferRelativeResize="0"/>
          <p:nvPr/>
        </p:nvPicPr>
        <p:blipFill>
          <a:blip r:embed="rId3">
            <a:alphaModFix/>
          </a:blip>
          <a:stretch>
            <a:fillRect/>
          </a:stretch>
        </p:blipFill>
        <p:spPr>
          <a:xfrm>
            <a:off x="5431350" y="807025"/>
            <a:ext cx="232954" cy="393601"/>
          </a:xfrm>
          <a:prstGeom prst="rect">
            <a:avLst/>
          </a:prstGeom>
          <a:noFill/>
          <a:ln>
            <a:noFill/>
          </a:ln>
        </p:spPr>
      </p:pic>
      <p:pic>
        <p:nvPicPr>
          <p:cNvPr id="1976" name="Google Shape;1976;p85"/>
          <p:cNvPicPr preferRelativeResize="0"/>
          <p:nvPr/>
        </p:nvPicPr>
        <p:blipFill>
          <a:blip r:embed="rId3">
            <a:alphaModFix/>
          </a:blip>
          <a:stretch>
            <a:fillRect/>
          </a:stretch>
        </p:blipFill>
        <p:spPr>
          <a:xfrm>
            <a:off x="6275979" y="1200884"/>
            <a:ext cx="232954" cy="393601"/>
          </a:xfrm>
          <a:prstGeom prst="rect">
            <a:avLst/>
          </a:prstGeom>
          <a:noFill/>
          <a:ln>
            <a:noFill/>
          </a:ln>
        </p:spPr>
      </p:pic>
      <p:pic>
        <p:nvPicPr>
          <p:cNvPr id="1977" name="Google Shape;1977;p85"/>
          <p:cNvPicPr preferRelativeResize="0"/>
          <p:nvPr/>
        </p:nvPicPr>
        <p:blipFill>
          <a:blip r:embed="rId3">
            <a:alphaModFix/>
          </a:blip>
          <a:stretch>
            <a:fillRect/>
          </a:stretch>
        </p:blipFill>
        <p:spPr>
          <a:xfrm>
            <a:off x="7114179" y="1601172"/>
            <a:ext cx="232954" cy="393601"/>
          </a:xfrm>
          <a:prstGeom prst="rect">
            <a:avLst/>
          </a:prstGeom>
          <a:noFill/>
          <a:ln>
            <a:noFill/>
          </a:ln>
        </p:spPr>
      </p:pic>
      <p:pic>
        <p:nvPicPr>
          <p:cNvPr id="1978" name="Google Shape;1978;p85"/>
          <p:cNvPicPr preferRelativeResize="0"/>
          <p:nvPr/>
        </p:nvPicPr>
        <p:blipFill>
          <a:blip r:embed="rId3">
            <a:alphaModFix/>
          </a:blip>
          <a:stretch>
            <a:fillRect/>
          </a:stretch>
        </p:blipFill>
        <p:spPr>
          <a:xfrm>
            <a:off x="7971668" y="2001460"/>
            <a:ext cx="232954" cy="393601"/>
          </a:xfrm>
          <a:prstGeom prst="rect">
            <a:avLst/>
          </a:prstGeom>
          <a:noFill/>
          <a:ln>
            <a:noFill/>
          </a:ln>
        </p:spPr>
      </p:pic>
      <p:pic>
        <p:nvPicPr>
          <p:cNvPr id="1979" name="Google Shape;1979;p85"/>
          <p:cNvPicPr preferRelativeResize="0"/>
          <p:nvPr/>
        </p:nvPicPr>
        <p:blipFill>
          <a:blip r:embed="rId3">
            <a:alphaModFix/>
          </a:blip>
          <a:stretch>
            <a:fillRect/>
          </a:stretch>
        </p:blipFill>
        <p:spPr>
          <a:xfrm>
            <a:off x="6701985" y="2395319"/>
            <a:ext cx="232954" cy="393601"/>
          </a:xfrm>
          <a:prstGeom prst="rect">
            <a:avLst/>
          </a:prstGeom>
          <a:noFill/>
          <a:ln>
            <a:noFill/>
          </a:ln>
        </p:spPr>
      </p:pic>
      <p:pic>
        <p:nvPicPr>
          <p:cNvPr id="1980" name="Google Shape;1980;p85"/>
          <p:cNvPicPr preferRelativeResize="0"/>
          <p:nvPr/>
        </p:nvPicPr>
        <p:blipFill>
          <a:blip r:embed="rId3">
            <a:alphaModFix/>
          </a:blip>
          <a:stretch>
            <a:fillRect/>
          </a:stretch>
        </p:blipFill>
        <p:spPr>
          <a:xfrm>
            <a:off x="5863785" y="3583324"/>
            <a:ext cx="232954" cy="393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5"/>
                                        </p:tgtEl>
                                        <p:attrNameLst>
                                          <p:attrName>style.visibility</p:attrName>
                                        </p:attrNameLst>
                                      </p:cBhvr>
                                      <p:to>
                                        <p:strVal val="visible"/>
                                      </p:to>
                                    </p:set>
                                    <p:animEffect filter="fade" transition="in">
                                      <p:cBhvr>
                                        <p:cTn dur="1000"/>
                                        <p:tgtEl>
                                          <p:spTgt spid="19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6"/>
                                        </p:tgtEl>
                                        <p:attrNameLst>
                                          <p:attrName>style.visibility</p:attrName>
                                        </p:attrNameLst>
                                      </p:cBhvr>
                                      <p:to>
                                        <p:strVal val="visible"/>
                                      </p:to>
                                    </p:set>
                                    <p:animEffect filter="fade" transition="in">
                                      <p:cBhvr>
                                        <p:cTn dur="1000"/>
                                        <p:tgtEl>
                                          <p:spTgt spid="1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7"/>
                                        </p:tgtEl>
                                        <p:attrNameLst>
                                          <p:attrName>style.visibility</p:attrName>
                                        </p:attrNameLst>
                                      </p:cBhvr>
                                      <p:to>
                                        <p:strVal val="visible"/>
                                      </p:to>
                                    </p:set>
                                    <p:animEffect filter="fade" transition="in">
                                      <p:cBhvr>
                                        <p:cTn dur="1000"/>
                                        <p:tgtEl>
                                          <p:spTgt spid="19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8"/>
                                        </p:tgtEl>
                                        <p:attrNameLst>
                                          <p:attrName>style.visibility</p:attrName>
                                        </p:attrNameLst>
                                      </p:cBhvr>
                                      <p:to>
                                        <p:strVal val="visible"/>
                                      </p:to>
                                    </p:set>
                                    <p:animEffect filter="fade" transition="in">
                                      <p:cBhvr>
                                        <p:cTn dur="1000"/>
                                        <p:tgtEl>
                                          <p:spTgt spid="19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9"/>
                                        </p:tgtEl>
                                        <p:attrNameLst>
                                          <p:attrName>style.visibility</p:attrName>
                                        </p:attrNameLst>
                                      </p:cBhvr>
                                      <p:to>
                                        <p:strVal val="visible"/>
                                      </p:to>
                                    </p:set>
                                    <p:animEffect filter="fade" transition="in">
                                      <p:cBhvr>
                                        <p:cTn dur="1000"/>
                                        <p:tgtEl>
                                          <p:spTgt spid="19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0"/>
                                        </p:tgtEl>
                                        <p:attrNameLst>
                                          <p:attrName>style.visibility</p:attrName>
                                        </p:attrNameLst>
                                      </p:cBhvr>
                                      <p:to>
                                        <p:strVal val="visible"/>
                                      </p:to>
                                    </p:set>
                                    <p:animEffect filter="fade" transition="in">
                                      <p:cBhvr>
                                        <p:cTn dur="1000"/>
                                        <p:tgtEl>
                                          <p:spTgt spid="1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3"/>
                                        </p:tgtEl>
                                        <p:attrNameLst>
                                          <p:attrName>style.visibility</p:attrName>
                                        </p:attrNameLst>
                                      </p:cBhvr>
                                      <p:to>
                                        <p:strVal val="visible"/>
                                      </p:to>
                                    </p:set>
                                    <p:animEffect filter="fade" transition="in">
                                      <p:cBhvr>
                                        <p:cTn dur="1000"/>
                                        <p:tgtEl>
                                          <p:spTgt spid="19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4" name="Shape 1984"/>
        <p:cNvGrpSpPr/>
        <p:nvPr/>
      </p:nvGrpSpPr>
      <p:grpSpPr>
        <a:xfrm>
          <a:off x="0" y="0"/>
          <a:ext cx="0" cy="0"/>
          <a:chOff x="0" y="0"/>
          <a:chExt cx="0" cy="0"/>
        </a:xfrm>
      </p:grpSpPr>
      <p:sp>
        <p:nvSpPr>
          <p:cNvPr id="1985" name="Google Shape;1985;p8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Queen Fight!</a:t>
            </a:r>
            <a:endParaRPr/>
          </a:p>
        </p:txBody>
      </p:sp>
      <p:sp>
        <p:nvSpPr>
          <p:cNvPr id="1986" name="Google Shape;1986;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987" name="Google Shape;1987;p86"/>
          <p:cNvGraphicFramePr/>
          <p:nvPr/>
        </p:nvGraphicFramePr>
        <p:xfrm>
          <a:off x="3043000" y="1482950"/>
          <a:ext cx="3000000" cy="3000000"/>
        </p:xfrm>
        <a:graphic>
          <a:graphicData uri="http://schemas.openxmlformats.org/drawingml/2006/table">
            <a:tbl>
              <a:tblPr>
                <a:noFill/>
                <a:tableStyleId>{89CCAE03-A2B2-4379-B0C2-E101A7E113D6}</a:tableStyleId>
              </a:tblPr>
              <a:tblGrid>
                <a:gridCol w="484275"/>
                <a:gridCol w="484275"/>
                <a:gridCol w="484275"/>
                <a:gridCol w="484275"/>
                <a:gridCol w="484275"/>
                <a:gridCol w="484275"/>
              </a:tblGrid>
              <a:tr h="474525">
                <a:tc>
                  <a:txBody>
                    <a:bodyPr/>
                    <a:lstStyle/>
                    <a:p>
                      <a:pPr indent="0" lvl="0" marL="0" rtl="0" algn="l">
                        <a:spcBef>
                          <a:spcPts val="0"/>
                        </a:spcBef>
                        <a:spcAft>
                          <a:spcPts val="0"/>
                        </a:spcAft>
                        <a:buNone/>
                      </a:pPr>
                      <a:r>
                        <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r>
              <a:tr h="474525">
                <a:tc>
                  <a:txBody>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474525">
                <a:tc>
                  <a:txBody>
                    <a:bodyPr/>
                    <a:lstStyle/>
                    <a:p>
                      <a:pPr indent="0" lvl="0" marL="0" rtl="0" algn="ctr">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74525">
                <a:tc>
                  <a:txBody>
                    <a:bodyPr/>
                    <a:lstStyle/>
                    <a:p>
                      <a:pPr indent="0" lvl="0" marL="0" rtl="0" algn="ctr">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474525">
                <a:tc>
                  <a:txBody>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3475">
                <a:tc>
                  <a:txBody>
                    <a:bodyPr/>
                    <a:lstStyle/>
                    <a:p>
                      <a:pPr indent="0" lvl="0" marL="0" rtl="0" algn="ctr">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T="91425" marB="91425" marR="91425" marL="91425" anchor="ctr">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pic>
        <p:nvPicPr>
          <p:cNvPr id="1988" name="Google Shape;1988;p86"/>
          <p:cNvPicPr preferRelativeResize="0"/>
          <p:nvPr/>
        </p:nvPicPr>
        <p:blipFill>
          <a:blip r:embed="rId3">
            <a:alphaModFix/>
          </a:blip>
          <a:stretch>
            <a:fillRect/>
          </a:stretch>
        </p:blipFill>
        <p:spPr>
          <a:xfrm>
            <a:off x="4588534" y="2910676"/>
            <a:ext cx="279848" cy="472852"/>
          </a:xfrm>
          <a:prstGeom prst="rect">
            <a:avLst/>
          </a:prstGeom>
          <a:noFill/>
          <a:ln>
            <a:noFill/>
          </a:ln>
        </p:spPr>
      </p:pic>
      <p:sp>
        <p:nvSpPr>
          <p:cNvPr id="1989" name="Google Shape;1989;p86"/>
          <p:cNvSpPr txBox="1"/>
          <p:nvPr/>
        </p:nvSpPr>
        <p:spPr>
          <a:xfrm>
            <a:off x="191400" y="1641225"/>
            <a:ext cx="27627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An essential part of solving the </a:t>
            </a:r>
            <a:r>
              <a:rPr b="1" i="1" lang="en" sz="1200">
                <a:solidFill>
                  <a:srgbClr val="FF0000"/>
                </a:solidFill>
              </a:rPr>
              <a:t>N-Queens</a:t>
            </a:r>
            <a:r>
              <a:rPr lang="en" sz="1200"/>
              <a:t> problem is being able to quickly determine whether or not two queens that have been placed on the board can </a:t>
            </a:r>
            <a:r>
              <a:rPr b="1" i="1" lang="en" sz="1200">
                <a:solidFill>
                  <a:srgbClr val="FF0000"/>
                </a:solidFill>
              </a:rPr>
              <a:t>attack each other</a:t>
            </a:r>
            <a:r>
              <a:rPr lang="en" sz="1200"/>
              <a:t>.</a:t>
            </a:r>
            <a:endParaRPr sz="1200"/>
          </a:p>
        </p:txBody>
      </p:sp>
      <p:sp>
        <p:nvSpPr>
          <p:cNvPr id="1990" name="Google Shape;1990;p86"/>
          <p:cNvSpPr txBox="1"/>
          <p:nvPr/>
        </p:nvSpPr>
        <p:spPr>
          <a:xfrm>
            <a:off x="191400" y="2870775"/>
            <a:ext cx="27627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This is true if two queens are in the same </a:t>
            </a:r>
            <a:r>
              <a:rPr b="1" i="1" lang="en" sz="1200">
                <a:solidFill>
                  <a:srgbClr val="FF0000"/>
                </a:solidFill>
              </a:rPr>
              <a:t>row</a:t>
            </a:r>
            <a:r>
              <a:rPr lang="en" sz="1200"/>
              <a:t>...</a:t>
            </a:r>
            <a:endParaRPr sz="1200"/>
          </a:p>
        </p:txBody>
      </p:sp>
      <p:pic>
        <p:nvPicPr>
          <p:cNvPr id="1991" name="Google Shape;1991;p86"/>
          <p:cNvPicPr preferRelativeResize="0"/>
          <p:nvPr/>
        </p:nvPicPr>
        <p:blipFill>
          <a:blip r:embed="rId3">
            <a:alphaModFix/>
          </a:blip>
          <a:stretch>
            <a:fillRect/>
          </a:stretch>
        </p:blipFill>
        <p:spPr>
          <a:xfrm>
            <a:off x="3612085" y="2910676"/>
            <a:ext cx="279848" cy="472852"/>
          </a:xfrm>
          <a:prstGeom prst="rect">
            <a:avLst/>
          </a:prstGeom>
          <a:noFill/>
          <a:ln>
            <a:noFill/>
          </a:ln>
        </p:spPr>
      </p:pic>
      <p:cxnSp>
        <p:nvCxnSpPr>
          <p:cNvPr id="1992" name="Google Shape;1992;p86"/>
          <p:cNvCxnSpPr>
            <a:stCxn id="1991" idx="3"/>
            <a:endCxn id="1988" idx="1"/>
          </p:cNvCxnSpPr>
          <p:nvPr/>
        </p:nvCxnSpPr>
        <p:spPr>
          <a:xfrm>
            <a:off x="3891933" y="3147101"/>
            <a:ext cx="696600" cy="0"/>
          </a:xfrm>
          <a:prstGeom prst="straightConnector1">
            <a:avLst/>
          </a:prstGeom>
          <a:noFill/>
          <a:ln cap="flat" cmpd="sng" w="28575">
            <a:solidFill>
              <a:srgbClr val="FF0000"/>
            </a:solidFill>
            <a:prstDash val="solid"/>
            <a:round/>
            <a:headEnd len="med" w="med" type="stealth"/>
            <a:tailEnd len="med" w="med" type="stealth"/>
          </a:ln>
        </p:spPr>
      </p:cxnSp>
      <p:sp>
        <p:nvSpPr>
          <p:cNvPr id="1993" name="Google Shape;1993;p86"/>
          <p:cNvSpPr txBox="1"/>
          <p:nvPr/>
        </p:nvSpPr>
        <p:spPr>
          <a:xfrm>
            <a:off x="191400" y="3546225"/>
            <a:ext cx="27627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...or the same </a:t>
            </a:r>
            <a:r>
              <a:rPr b="1" i="1" lang="en" sz="1200">
                <a:solidFill>
                  <a:srgbClr val="FF0000"/>
                </a:solidFill>
              </a:rPr>
              <a:t>column</a:t>
            </a:r>
            <a:r>
              <a:rPr lang="en" sz="1200"/>
              <a:t>...</a:t>
            </a:r>
            <a:endParaRPr sz="1200"/>
          </a:p>
        </p:txBody>
      </p:sp>
      <p:pic>
        <p:nvPicPr>
          <p:cNvPr id="1994" name="Google Shape;1994;p86"/>
          <p:cNvPicPr preferRelativeResize="0"/>
          <p:nvPr/>
        </p:nvPicPr>
        <p:blipFill>
          <a:blip r:embed="rId3">
            <a:alphaModFix/>
          </a:blip>
          <a:stretch>
            <a:fillRect/>
          </a:stretch>
        </p:blipFill>
        <p:spPr>
          <a:xfrm>
            <a:off x="4588534" y="1957476"/>
            <a:ext cx="279848" cy="472852"/>
          </a:xfrm>
          <a:prstGeom prst="rect">
            <a:avLst/>
          </a:prstGeom>
          <a:noFill/>
          <a:ln>
            <a:noFill/>
          </a:ln>
        </p:spPr>
      </p:pic>
      <p:cxnSp>
        <p:nvCxnSpPr>
          <p:cNvPr id="1995" name="Google Shape;1995;p86"/>
          <p:cNvCxnSpPr>
            <a:stCxn id="1994" idx="2"/>
            <a:endCxn id="1988" idx="0"/>
          </p:cNvCxnSpPr>
          <p:nvPr/>
        </p:nvCxnSpPr>
        <p:spPr>
          <a:xfrm>
            <a:off x="4728458" y="2430328"/>
            <a:ext cx="0" cy="480300"/>
          </a:xfrm>
          <a:prstGeom prst="straightConnector1">
            <a:avLst/>
          </a:prstGeom>
          <a:noFill/>
          <a:ln cap="flat" cmpd="sng" w="28575">
            <a:solidFill>
              <a:srgbClr val="FF0000"/>
            </a:solidFill>
            <a:prstDash val="solid"/>
            <a:round/>
            <a:headEnd len="med" w="med" type="stealth"/>
            <a:tailEnd len="med" w="med" type="stealth"/>
          </a:ln>
        </p:spPr>
      </p:cxnSp>
      <p:cxnSp>
        <p:nvCxnSpPr>
          <p:cNvPr id="1996" name="Google Shape;1996;p86"/>
          <p:cNvCxnSpPr/>
          <p:nvPr/>
        </p:nvCxnSpPr>
        <p:spPr>
          <a:xfrm>
            <a:off x="4948920" y="3368765"/>
            <a:ext cx="482400" cy="499800"/>
          </a:xfrm>
          <a:prstGeom prst="straightConnector1">
            <a:avLst/>
          </a:prstGeom>
          <a:noFill/>
          <a:ln cap="flat" cmpd="sng" w="28575">
            <a:solidFill>
              <a:srgbClr val="FF0000"/>
            </a:solidFill>
            <a:prstDash val="solid"/>
            <a:round/>
            <a:headEnd len="med" w="med" type="stealth"/>
            <a:tailEnd len="med" w="med" type="stealth"/>
          </a:ln>
        </p:spPr>
      </p:cxnSp>
      <p:sp>
        <p:nvSpPr>
          <p:cNvPr id="1997" name="Google Shape;1997;p86"/>
          <p:cNvSpPr txBox="1"/>
          <p:nvPr/>
        </p:nvSpPr>
        <p:spPr>
          <a:xfrm>
            <a:off x="191400" y="4036875"/>
            <a:ext cx="27627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...or on the same </a:t>
            </a:r>
            <a:r>
              <a:rPr b="1" i="1" lang="en" sz="1200">
                <a:solidFill>
                  <a:srgbClr val="FF0000"/>
                </a:solidFill>
              </a:rPr>
              <a:t>diagonal</a:t>
            </a:r>
            <a:r>
              <a:rPr lang="en" sz="1200"/>
              <a:t>.</a:t>
            </a:r>
            <a:endParaRPr sz="1200"/>
          </a:p>
        </p:txBody>
      </p:sp>
      <p:pic>
        <p:nvPicPr>
          <p:cNvPr id="1998" name="Google Shape;1998;p86"/>
          <p:cNvPicPr preferRelativeResize="0"/>
          <p:nvPr/>
        </p:nvPicPr>
        <p:blipFill>
          <a:blip r:embed="rId3">
            <a:alphaModFix/>
          </a:blip>
          <a:stretch>
            <a:fillRect/>
          </a:stretch>
        </p:blipFill>
        <p:spPr>
          <a:xfrm>
            <a:off x="5546776" y="3875499"/>
            <a:ext cx="279848" cy="472852"/>
          </a:xfrm>
          <a:prstGeom prst="rect">
            <a:avLst/>
          </a:prstGeom>
          <a:noFill/>
          <a:ln>
            <a:noFill/>
          </a:ln>
        </p:spPr>
      </p:pic>
      <p:sp>
        <p:nvSpPr>
          <p:cNvPr id="1999" name="Google Shape;1999;p86"/>
          <p:cNvSpPr txBox="1"/>
          <p:nvPr/>
        </p:nvSpPr>
        <p:spPr>
          <a:xfrm>
            <a:off x="6239875" y="1717425"/>
            <a:ext cx="27627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Assuming that we know the </a:t>
            </a:r>
            <a:r>
              <a:rPr b="1" i="1" lang="en" sz="1200">
                <a:solidFill>
                  <a:srgbClr val="FF0000"/>
                </a:solidFill>
              </a:rPr>
              <a:t>row</a:t>
            </a:r>
            <a:r>
              <a:rPr lang="en" sz="1200">
                <a:solidFill>
                  <a:srgbClr val="FF0000"/>
                </a:solidFill>
              </a:rPr>
              <a:t> </a:t>
            </a:r>
            <a:r>
              <a:rPr lang="en" sz="1200"/>
              <a:t>and </a:t>
            </a:r>
            <a:r>
              <a:rPr b="1" i="1" lang="en" sz="1200">
                <a:solidFill>
                  <a:srgbClr val="FF0000"/>
                </a:solidFill>
              </a:rPr>
              <a:t>column</a:t>
            </a:r>
            <a:r>
              <a:rPr lang="en" sz="1200">
                <a:solidFill>
                  <a:srgbClr val="FF0000"/>
                </a:solidFill>
              </a:rPr>
              <a:t> </a:t>
            </a:r>
            <a:r>
              <a:rPr lang="en" sz="1200"/>
              <a:t>of each queen on the board, comparing those is easy.</a:t>
            </a:r>
            <a:endParaRPr sz="1200"/>
          </a:p>
        </p:txBody>
      </p:sp>
      <p:sp>
        <p:nvSpPr>
          <p:cNvPr id="2000" name="Google Shape;2000;p86"/>
          <p:cNvSpPr txBox="1"/>
          <p:nvPr/>
        </p:nvSpPr>
        <p:spPr>
          <a:xfrm>
            <a:off x="6239875" y="2568675"/>
            <a:ext cx="27627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Determining whether or not two queens are on the same diagonal is a </a:t>
            </a:r>
            <a:r>
              <a:rPr b="1" i="1" lang="en" sz="1200">
                <a:solidFill>
                  <a:srgbClr val="FF0000"/>
                </a:solidFill>
              </a:rPr>
              <a:t>little</a:t>
            </a:r>
            <a:r>
              <a:rPr lang="en" sz="1200">
                <a:solidFill>
                  <a:srgbClr val="FF0000"/>
                </a:solidFill>
              </a:rPr>
              <a:t> </a:t>
            </a:r>
            <a:r>
              <a:rPr lang="en" sz="1200"/>
              <a:t>more challenging...</a:t>
            </a:r>
            <a:endParaRPr sz="1200"/>
          </a:p>
        </p:txBody>
      </p:sp>
      <p:sp>
        <p:nvSpPr>
          <p:cNvPr id="2001" name="Google Shape;2001;p86"/>
          <p:cNvSpPr txBox="1"/>
          <p:nvPr/>
        </p:nvSpPr>
        <p:spPr>
          <a:xfrm>
            <a:off x="6239875" y="3406875"/>
            <a:ext cx="27627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First, calculate the difference between their </a:t>
            </a:r>
            <a:r>
              <a:rPr b="1" i="1" lang="en" sz="1200">
                <a:solidFill>
                  <a:srgbClr val="FF0000"/>
                </a:solidFill>
              </a:rPr>
              <a:t>rows</a:t>
            </a:r>
            <a:r>
              <a:rPr lang="en" sz="1200"/>
              <a:t> and </a:t>
            </a:r>
            <a:r>
              <a:rPr b="1" i="1" lang="en" sz="1200">
                <a:solidFill>
                  <a:srgbClr val="FF0000"/>
                </a:solidFill>
              </a:rPr>
              <a:t>columns</a:t>
            </a:r>
            <a:r>
              <a:rPr lang="en" sz="1200"/>
              <a:t>. If the </a:t>
            </a:r>
            <a:r>
              <a:rPr b="1" i="1" lang="en" sz="1200">
                <a:solidFill>
                  <a:srgbClr val="FF0000"/>
                </a:solidFill>
              </a:rPr>
              <a:t>absolute values</a:t>
            </a:r>
            <a:r>
              <a:rPr lang="en" sz="1200">
                <a:solidFill>
                  <a:srgbClr val="FF0000"/>
                </a:solidFill>
              </a:rPr>
              <a:t> </a:t>
            </a:r>
            <a:r>
              <a:rPr lang="en" sz="1200"/>
              <a:t>are the same, they are in the same diagonal.</a:t>
            </a:r>
            <a:endParaRPr sz="1200"/>
          </a:p>
        </p:txBody>
      </p:sp>
      <p:sp>
        <p:nvSpPr>
          <p:cNvPr id="2002" name="Google Shape;2002;p86"/>
          <p:cNvSpPr txBox="1"/>
          <p:nvPr/>
        </p:nvSpPr>
        <p:spPr>
          <a:xfrm>
            <a:off x="3529800" y="4494400"/>
            <a:ext cx="244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onsolas"/>
                <a:ea typeface="Consolas"/>
                <a:cs typeface="Consolas"/>
                <a:sym typeface="Consolas"/>
              </a:rPr>
              <a:t>q1.row - q2.row = 2 - 4 = -2</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q1.col - q2.col = 2 - 4 = -2</a:t>
            </a:r>
            <a:endParaRPr sz="1000">
              <a:latin typeface="Consolas"/>
              <a:ea typeface="Consolas"/>
              <a:cs typeface="Consolas"/>
              <a:sym typeface="Consolas"/>
            </a:endParaRPr>
          </a:p>
        </p:txBody>
      </p:sp>
      <p:sp>
        <p:nvSpPr>
          <p:cNvPr id="2003" name="Google Shape;2003;p86"/>
          <p:cNvSpPr/>
          <p:nvPr/>
        </p:nvSpPr>
        <p:spPr>
          <a:xfrm>
            <a:off x="3600250" y="4565125"/>
            <a:ext cx="482400" cy="3693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4" name="Google Shape;2004;p86"/>
          <p:cNvCxnSpPr>
            <a:stCxn id="1988" idx="2"/>
            <a:endCxn id="2003" idx="0"/>
          </p:cNvCxnSpPr>
          <p:nvPr/>
        </p:nvCxnSpPr>
        <p:spPr>
          <a:xfrm rot="5400000">
            <a:off x="3694058" y="3530827"/>
            <a:ext cx="1181700" cy="887100"/>
          </a:xfrm>
          <a:prstGeom prst="curvedConnector3">
            <a:avLst>
              <a:gd fmla="val 49996" name="adj1"/>
            </a:avLst>
          </a:prstGeom>
          <a:noFill/>
          <a:ln cap="flat" cmpd="sng" w="19050">
            <a:solidFill>
              <a:srgbClr val="FF0000"/>
            </a:solidFill>
            <a:prstDash val="solid"/>
            <a:round/>
            <a:headEnd len="med" w="med" type="none"/>
            <a:tailEnd len="med" w="med" type="triangle"/>
          </a:ln>
        </p:spPr>
      </p:cxnSp>
      <p:sp>
        <p:nvSpPr>
          <p:cNvPr id="2005" name="Google Shape;2005;p86"/>
          <p:cNvSpPr/>
          <p:nvPr/>
        </p:nvSpPr>
        <p:spPr>
          <a:xfrm>
            <a:off x="4216279" y="4565125"/>
            <a:ext cx="482400" cy="3693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6" name="Google Shape;2006;p86"/>
          <p:cNvCxnSpPr>
            <a:endCxn id="2005" idx="0"/>
          </p:cNvCxnSpPr>
          <p:nvPr/>
        </p:nvCxnSpPr>
        <p:spPr>
          <a:xfrm flipH="1">
            <a:off x="4457479" y="4111825"/>
            <a:ext cx="1089300" cy="453300"/>
          </a:xfrm>
          <a:prstGeom prst="curvedConnector2">
            <a:avLst/>
          </a:prstGeom>
          <a:noFill/>
          <a:ln cap="flat" cmpd="sng" w="19050">
            <a:solidFill>
              <a:srgbClr val="FF0000"/>
            </a:solidFill>
            <a:prstDash val="solid"/>
            <a:round/>
            <a:headEnd len="med" w="med" type="none"/>
            <a:tailEnd len="med" w="med" type="triangle"/>
          </a:ln>
        </p:spPr>
      </p:cxnSp>
      <p:sp>
        <p:nvSpPr>
          <p:cNvPr id="2007" name="Google Shape;2007;p86"/>
          <p:cNvSpPr/>
          <p:nvPr/>
        </p:nvSpPr>
        <p:spPr>
          <a:xfrm>
            <a:off x="5396901" y="4565125"/>
            <a:ext cx="279900" cy="3693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8" name="Google Shape;2008;p86"/>
          <p:cNvCxnSpPr>
            <a:stCxn id="2001" idx="2"/>
            <a:endCxn id="2007" idx="3"/>
          </p:cNvCxnSpPr>
          <p:nvPr/>
        </p:nvCxnSpPr>
        <p:spPr>
          <a:xfrm rot="5400000">
            <a:off x="6439375" y="3567825"/>
            <a:ext cx="419400" cy="1944300"/>
          </a:xfrm>
          <a:prstGeom prst="curvedConnector2">
            <a:avLst/>
          </a:prstGeom>
          <a:noFill/>
          <a:ln cap="flat" cmpd="sng" w="1905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9"/>
                                        </p:tgtEl>
                                        <p:attrNameLst>
                                          <p:attrName>style.visibility</p:attrName>
                                        </p:attrNameLst>
                                      </p:cBhvr>
                                      <p:to>
                                        <p:strVal val="visible"/>
                                      </p:to>
                                    </p:set>
                                    <p:animEffect filter="fade" transition="in">
                                      <p:cBhvr>
                                        <p:cTn dur="1000"/>
                                        <p:tgtEl>
                                          <p:spTgt spid="1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0"/>
                                        </p:tgtEl>
                                        <p:attrNameLst>
                                          <p:attrName>style.visibility</p:attrName>
                                        </p:attrNameLst>
                                      </p:cBhvr>
                                      <p:to>
                                        <p:strVal val="visible"/>
                                      </p:to>
                                    </p:set>
                                    <p:animEffect filter="fade" transition="in">
                                      <p:cBhvr>
                                        <p:cTn dur="1000"/>
                                        <p:tgtEl>
                                          <p:spTgt spid="1990"/>
                                        </p:tgtEl>
                                      </p:cBhvr>
                                    </p:animEffect>
                                  </p:childTnLst>
                                </p:cTn>
                              </p:par>
                              <p:par>
                                <p:cTn fill="hold" nodeType="withEffect" presetClass="entr" presetID="10" presetSubtype="0">
                                  <p:stCondLst>
                                    <p:cond delay="0"/>
                                  </p:stCondLst>
                                  <p:childTnLst>
                                    <p:set>
                                      <p:cBhvr>
                                        <p:cTn dur="1" fill="hold">
                                          <p:stCondLst>
                                            <p:cond delay="0"/>
                                          </p:stCondLst>
                                        </p:cTn>
                                        <p:tgtEl>
                                          <p:spTgt spid="1991"/>
                                        </p:tgtEl>
                                        <p:attrNameLst>
                                          <p:attrName>style.visibility</p:attrName>
                                        </p:attrNameLst>
                                      </p:cBhvr>
                                      <p:to>
                                        <p:strVal val="visible"/>
                                      </p:to>
                                    </p:set>
                                    <p:animEffect filter="fade" transition="in">
                                      <p:cBhvr>
                                        <p:cTn dur="1000"/>
                                        <p:tgtEl>
                                          <p:spTgt spid="19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92"/>
                                        </p:tgtEl>
                                        <p:attrNameLst>
                                          <p:attrName>style.visibility</p:attrName>
                                        </p:attrNameLst>
                                      </p:cBhvr>
                                      <p:to>
                                        <p:strVal val="visible"/>
                                      </p:to>
                                    </p:set>
                                    <p:animEffect filter="fade" transition="in">
                                      <p:cBhvr>
                                        <p:cTn dur="1000"/>
                                        <p:tgtEl>
                                          <p:spTgt spid="19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3"/>
                                        </p:tgtEl>
                                        <p:attrNameLst>
                                          <p:attrName>style.visibility</p:attrName>
                                        </p:attrNameLst>
                                      </p:cBhvr>
                                      <p:to>
                                        <p:strVal val="visible"/>
                                      </p:to>
                                    </p:set>
                                    <p:animEffect filter="fade" transition="in">
                                      <p:cBhvr>
                                        <p:cTn dur="1000"/>
                                        <p:tgtEl>
                                          <p:spTgt spid="1993"/>
                                        </p:tgtEl>
                                      </p:cBhvr>
                                    </p:animEffect>
                                  </p:childTnLst>
                                </p:cTn>
                              </p:par>
                              <p:par>
                                <p:cTn fill="hold" nodeType="withEffect" presetClass="entr" presetID="10" presetSubtype="0">
                                  <p:stCondLst>
                                    <p:cond delay="0"/>
                                  </p:stCondLst>
                                  <p:childTnLst>
                                    <p:set>
                                      <p:cBhvr>
                                        <p:cTn dur="1" fill="hold">
                                          <p:stCondLst>
                                            <p:cond delay="0"/>
                                          </p:stCondLst>
                                        </p:cTn>
                                        <p:tgtEl>
                                          <p:spTgt spid="1994"/>
                                        </p:tgtEl>
                                        <p:attrNameLst>
                                          <p:attrName>style.visibility</p:attrName>
                                        </p:attrNameLst>
                                      </p:cBhvr>
                                      <p:to>
                                        <p:strVal val="visible"/>
                                      </p:to>
                                    </p:set>
                                    <p:animEffect filter="fade" transition="in">
                                      <p:cBhvr>
                                        <p:cTn dur="1000"/>
                                        <p:tgtEl>
                                          <p:spTgt spid="19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95"/>
                                        </p:tgtEl>
                                        <p:attrNameLst>
                                          <p:attrName>style.visibility</p:attrName>
                                        </p:attrNameLst>
                                      </p:cBhvr>
                                      <p:to>
                                        <p:strVal val="visible"/>
                                      </p:to>
                                    </p:set>
                                    <p:animEffect filter="fade" transition="in">
                                      <p:cBhvr>
                                        <p:cTn dur="1000"/>
                                        <p:tgtEl>
                                          <p:spTgt spid="19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7"/>
                                        </p:tgtEl>
                                        <p:attrNameLst>
                                          <p:attrName>style.visibility</p:attrName>
                                        </p:attrNameLst>
                                      </p:cBhvr>
                                      <p:to>
                                        <p:strVal val="visible"/>
                                      </p:to>
                                    </p:set>
                                    <p:animEffect filter="fade" transition="in">
                                      <p:cBhvr>
                                        <p:cTn dur="1000"/>
                                        <p:tgtEl>
                                          <p:spTgt spid="1997"/>
                                        </p:tgtEl>
                                      </p:cBhvr>
                                    </p:animEffect>
                                  </p:childTnLst>
                                </p:cTn>
                              </p:par>
                              <p:par>
                                <p:cTn fill="hold" nodeType="withEffect" presetClass="entr" presetID="10" presetSubtype="0">
                                  <p:stCondLst>
                                    <p:cond delay="0"/>
                                  </p:stCondLst>
                                  <p:childTnLst>
                                    <p:set>
                                      <p:cBhvr>
                                        <p:cTn dur="1" fill="hold">
                                          <p:stCondLst>
                                            <p:cond delay="0"/>
                                          </p:stCondLst>
                                        </p:cTn>
                                        <p:tgtEl>
                                          <p:spTgt spid="1998"/>
                                        </p:tgtEl>
                                        <p:attrNameLst>
                                          <p:attrName>style.visibility</p:attrName>
                                        </p:attrNameLst>
                                      </p:cBhvr>
                                      <p:to>
                                        <p:strVal val="visible"/>
                                      </p:to>
                                    </p:set>
                                    <p:animEffect filter="fade" transition="in">
                                      <p:cBhvr>
                                        <p:cTn dur="1000"/>
                                        <p:tgtEl>
                                          <p:spTgt spid="199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96"/>
                                        </p:tgtEl>
                                        <p:attrNameLst>
                                          <p:attrName>style.visibility</p:attrName>
                                        </p:attrNameLst>
                                      </p:cBhvr>
                                      <p:to>
                                        <p:strVal val="visible"/>
                                      </p:to>
                                    </p:set>
                                    <p:animEffect filter="fade" transition="in">
                                      <p:cBhvr>
                                        <p:cTn dur="1000"/>
                                        <p:tgtEl>
                                          <p:spTgt spid="19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9"/>
                                        </p:tgtEl>
                                        <p:attrNameLst>
                                          <p:attrName>style.visibility</p:attrName>
                                        </p:attrNameLst>
                                      </p:cBhvr>
                                      <p:to>
                                        <p:strVal val="visible"/>
                                      </p:to>
                                    </p:set>
                                    <p:animEffect filter="fade" transition="in">
                                      <p:cBhvr>
                                        <p:cTn dur="1000"/>
                                        <p:tgtEl>
                                          <p:spTgt spid="19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0"/>
                                        </p:tgtEl>
                                        <p:attrNameLst>
                                          <p:attrName>style.visibility</p:attrName>
                                        </p:attrNameLst>
                                      </p:cBhvr>
                                      <p:to>
                                        <p:strVal val="visible"/>
                                      </p:to>
                                    </p:set>
                                    <p:animEffect filter="fade" transition="in">
                                      <p:cBhvr>
                                        <p:cTn dur="1000"/>
                                        <p:tgtEl>
                                          <p:spTgt spid="20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1"/>
                                        </p:tgtEl>
                                        <p:attrNameLst>
                                          <p:attrName>style.visibility</p:attrName>
                                        </p:attrNameLst>
                                      </p:cBhvr>
                                      <p:to>
                                        <p:strVal val="visible"/>
                                      </p:to>
                                    </p:set>
                                    <p:animEffect filter="fade" transition="in">
                                      <p:cBhvr>
                                        <p:cTn dur="1000"/>
                                        <p:tgtEl>
                                          <p:spTgt spid="20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02"/>
                                        </p:tgtEl>
                                        <p:attrNameLst>
                                          <p:attrName>style.visibility</p:attrName>
                                        </p:attrNameLst>
                                      </p:cBhvr>
                                      <p:to>
                                        <p:strVal val="visible"/>
                                      </p:to>
                                    </p:set>
                                    <p:animEffect filter="fade" transition="in">
                                      <p:cBhvr>
                                        <p:cTn dur="1000"/>
                                        <p:tgtEl>
                                          <p:spTgt spid="200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04"/>
                                        </p:tgtEl>
                                        <p:attrNameLst>
                                          <p:attrName>style.visibility</p:attrName>
                                        </p:attrNameLst>
                                      </p:cBhvr>
                                      <p:to>
                                        <p:strVal val="visible"/>
                                      </p:to>
                                    </p:set>
                                    <p:animEffect filter="fade" transition="in">
                                      <p:cBhvr>
                                        <p:cTn dur="1000"/>
                                        <p:tgtEl>
                                          <p:spTgt spid="200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03"/>
                                        </p:tgtEl>
                                        <p:attrNameLst>
                                          <p:attrName>style.visibility</p:attrName>
                                        </p:attrNameLst>
                                      </p:cBhvr>
                                      <p:to>
                                        <p:strVal val="visible"/>
                                      </p:to>
                                    </p:set>
                                    <p:animEffect filter="fade" transition="in">
                                      <p:cBhvr>
                                        <p:cTn dur="1000"/>
                                        <p:tgtEl>
                                          <p:spTgt spid="200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006"/>
                                        </p:tgtEl>
                                        <p:attrNameLst>
                                          <p:attrName>style.visibility</p:attrName>
                                        </p:attrNameLst>
                                      </p:cBhvr>
                                      <p:to>
                                        <p:strVal val="visible"/>
                                      </p:to>
                                    </p:set>
                                    <p:animEffect filter="fade" transition="in">
                                      <p:cBhvr>
                                        <p:cTn dur="1000"/>
                                        <p:tgtEl>
                                          <p:spTgt spid="2006"/>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005"/>
                                        </p:tgtEl>
                                        <p:attrNameLst>
                                          <p:attrName>style.visibility</p:attrName>
                                        </p:attrNameLst>
                                      </p:cBhvr>
                                      <p:to>
                                        <p:strVal val="visible"/>
                                      </p:to>
                                    </p:set>
                                    <p:animEffect filter="fade" transition="in">
                                      <p:cBhvr>
                                        <p:cTn dur="1000"/>
                                        <p:tgtEl>
                                          <p:spTgt spid="2005"/>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008"/>
                                        </p:tgtEl>
                                        <p:attrNameLst>
                                          <p:attrName>style.visibility</p:attrName>
                                        </p:attrNameLst>
                                      </p:cBhvr>
                                      <p:to>
                                        <p:strVal val="visible"/>
                                      </p:to>
                                    </p:set>
                                    <p:animEffect filter="fade" transition="in">
                                      <p:cBhvr>
                                        <p:cTn dur="1000"/>
                                        <p:tgtEl>
                                          <p:spTgt spid="2008"/>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2007"/>
                                        </p:tgtEl>
                                        <p:attrNameLst>
                                          <p:attrName>style.visibility</p:attrName>
                                        </p:attrNameLst>
                                      </p:cBhvr>
                                      <p:to>
                                        <p:strVal val="visible"/>
                                      </p:to>
                                    </p:set>
                                    <p:animEffect filter="fade" transition="in">
                                      <p:cBhvr>
                                        <p:cTn dur="1000"/>
                                        <p:tgtEl>
                                          <p:spTgt spid="20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2" name="Shape 2012"/>
        <p:cNvGrpSpPr/>
        <p:nvPr/>
      </p:nvGrpSpPr>
      <p:grpSpPr>
        <a:xfrm>
          <a:off x="0" y="0"/>
          <a:ext cx="0" cy="0"/>
          <a:chOff x="0" y="0"/>
          <a:chExt cx="0" cy="0"/>
        </a:xfrm>
      </p:grpSpPr>
      <p:sp>
        <p:nvSpPr>
          <p:cNvPr id="2013" name="Google Shape;2013;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4" name="Google Shape;2014;p8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Illustrated Example</a:t>
            </a:r>
            <a:endParaRPr/>
          </a:p>
        </p:txBody>
      </p:sp>
      <p:graphicFrame>
        <p:nvGraphicFramePr>
          <p:cNvPr id="2015" name="Google Shape;2015;p87"/>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sp>
        <p:nvSpPr>
          <p:cNvPr id="2016" name="Google Shape;2016;p87"/>
          <p:cNvSpPr txBox="1"/>
          <p:nvPr/>
        </p:nvSpPr>
        <p:spPr>
          <a:xfrm>
            <a:off x="5093650" y="1720951"/>
            <a:ext cx="359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goal of the Eight Queens Problem is to place eight queens on a chessboard in such a way that no two queens can attack each other.</a:t>
            </a:r>
            <a:endParaRPr sz="1200"/>
          </a:p>
        </p:txBody>
      </p:sp>
      <p:sp>
        <p:nvSpPr>
          <p:cNvPr id="2017" name="Google Shape;2017;p87"/>
          <p:cNvSpPr txBox="1"/>
          <p:nvPr/>
        </p:nvSpPr>
        <p:spPr>
          <a:xfrm>
            <a:off x="5093650" y="2566346"/>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Q: If given a chessboard and 8 queens, how might you go about finding a solution to this problem?</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6"/>
                                        </p:tgtEl>
                                        <p:attrNameLst>
                                          <p:attrName>style.visibility</p:attrName>
                                        </p:attrNameLst>
                                      </p:cBhvr>
                                      <p:to>
                                        <p:strVal val="visible"/>
                                      </p:to>
                                    </p:set>
                                    <p:animEffect filter="fade" transition="in">
                                      <p:cBhvr>
                                        <p:cTn dur="1000"/>
                                        <p:tgtEl>
                                          <p:spTgt spid="20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7"/>
                                        </p:tgtEl>
                                        <p:attrNameLst>
                                          <p:attrName>style.visibility</p:attrName>
                                        </p:attrNameLst>
                                      </p:cBhvr>
                                      <p:to>
                                        <p:strVal val="visible"/>
                                      </p:to>
                                    </p:set>
                                    <p:animEffect filter="fade" transition="in">
                                      <p:cBhvr>
                                        <p:cTn dur="1000"/>
                                        <p:tgtEl>
                                          <p:spTgt spid="20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sp>
        <p:nvSpPr>
          <p:cNvPr id="2022" name="Google Shape;2022;p88"/>
          <p:cNvSpPr txBox="1"/>
          <p:nvPr/>
        </p:nvSpPr>
        <p:spPr>
          <a:xfrm>
            <a:off x="5093650" y="1720951"/>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You would begin by placing a queen somewhere on the board.</a:t>
            </a:r>
            <a:endParaRPr sz="1200"/>
          </a:p>
        </p:txBody>
      </p:sp>
      <p:sp>
        <p:nvSpPr>
          <p:cNvPr id="2023" name="Google Shape;2023;p88"/>
          <p:cNvSpPr txBox="1"/>
          <p:nvPr/>
        </p:nvSpPr>
        <p:spPr>
          <a:xfrm>
            <a:off x="5093650" y="2392980"/>
            <a:ext cx="359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Assuming that you wanted to take a methodical approach, you might choose to start in the top left corner.</a:t>
            </a:r>
            <a:endParaRPr sz="1200"/>
          </a:p>
        </p:txBody>
      </p:sp>
      <p:sp>
        <p:nvSpPr>
          <p:cNvPr id="2024" name="Google Shape;2024;p88"/>
          <p:cNvSpPr txBox="1"/>
          <p:nvPr/>
        </p:nvSpPr>
        <p:spPr>
          <a:xfrm>
            <a:off x="5093650" y="3251837"/>
            <a:ext cx="359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Any square that the queen can attack is eliminated from consideration for the placement of a future queen.</a:t>
            </a:r>
            <a:endParaRPr sz="1200"/>
          </a:p>
        </p:txBody>
      </p:sp>
      <p:sp>
        <p:nvSpPr>
          <p:cNvPr id="2025" name="Google Shape;2025;p88"/>
          <p:cNvSpPr txBox="1"/>
          <p:nvPr/>
        </p:nvSpPr>
        <p:spPr>
          <a:xfrm>
            <a:off x="5093650" y="4090037"/>
            <a:ext cx="359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This includes any squares in the same row, column, or on the same diagonal. We'll mark </a:t>
            </a:r>
            <a:r>
              <a:rPr b="1" i="1" lang="en" sz="1200">
                <a:solidFill>
                  <a:srgbClr val="FF0000"/>
                </a:solidFill>
              </a:rPr>
              <a:t>invalid</a:t>
            </a:r>
            <a:r>
              <a:rPr b="1" i="1" lang="en" sz="1200"/>
              <a:t> </a:t>
            </a:r>
            <a:r>
              <a:rPr lang="en" sz="1200"/>
              <a:t>squares in </a:t>
            </a:r>
            <a:r>
              <a:rPr b="1" i="1" lang="en" sz="1200">
                <a:solidFill>
                  <a:srgbClr val="980000"/>
                </a:solidFill>
              </a:rPr>
              <a:t>red</a:t>
            </a:r>
            <a:r>
              <a:rPr lang="en" sz="1200"/>
              <a:t>.</a:t>
            </a:r>
            <a:endParaRPr sz="1200"/>
          </a:p>
        </p:txBody>
      </p:sp>
      <p:graphicFrame>
        <p:nvGraphicFramePr>
          <p:cNvPr id="2026" name="Google Shape;2026;p88"/>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sp>
        <p:nvSpPr>
          <p:cNvPr id="2027" name="Google Shape;2027;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28" name="Google Shape;2028;p8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Illustrated Example</a:t>
            </a:r>
            <a:endParaRPr/>
          </a:p>
        </p:txBody>
      </p:sp>
      <p:graphicFrame>
        <p:nvGraphicFramePr>
          <p:cNvPr id="2029" name="Google Shape;2029;p88"/>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bl>
          </a:graphicData>
        </a:graphic>
      </p:graphicFrame>
      <p:grpSp>
        <p:nvGrpSpPr>
          <p:cNvPr id="2030" name="Google Shape;2030;p88"/>
          <p:cNvGrpSpPr/>
          <p:nvPr/>
        </p:nvGrpSpPr>
        <p:grpSpPr>
          <a:xfrm>
            <a:off x="397659" y="1131811"/>
            <a:ext cx="1221501" cy="1015219"/>
            <a:chOff x="397659" y="1124925"/>
            <a:chExt cx="1221501" cy="1015219"/>
          </a:xfrm>
        </p:grpSpPr>
        <p:pic>
          <p:nvPicPr>
            <p:cNvPr id="2031" name="Google Shape;2031;p88"/>
            <p:cNvPicPr preferRelativeResize="0"/>
            <p:nvPr/>
          </p:nvPicPr>
          <p:blipFill>
            <a:blip r:embed="rId3">
              <a:alphaModFix/>
            </a:blip>
            <a:stretch>
              <a:fillRect/>
            </a:stretch>
          </p:blipFill>
          <p:spPr>
            <a:xfrm>
              <a:off x="1007615" y="1746544"/>
              <a:ext cx="232954" cy="393601"/>
            </a:xfrm>
            <a:prstGeom prst="rect">
              <a:avLst/>
            </a:prstGeom>
            <a:noFill/>
            <a:ln>
              <a:noFill/>
            </a:ln>
          </p:spPr>
        </p:pic>
        <p:pic>
          <p:nvPicPr>
            <p:cNvPr id="2032" name="Google Shape;2032;p88"/>
            <p:cNvPicPr preferRelativeResize="0"/>
            <p:nvPr/>
          </p:nvPicPr>
          <p:blipFill>
            <a:blip r:embed="rId4">
              <a:alphaModFix/>
            </a:blip>
            <a:stretch>
              <a:fillRect/>
            </a:stretch>
          </p:blipFill>
          <p:spPr>
            <a:xfrm rot="-5400000">
              <a:off x="596959" y="925625"/>
              <a:ext cx="822900" cy="1221501"/>
            </a:xfrm>
            <a:prstGeom prst="rect">
              <a:avLst/>
            </a:prstGeom>
            <a:noFill/>
            <a:ln>
              <a:noFill/>
            </a:ln>
          </p:spPr>
        </p:pic>
      </p:grpSp>
      <p:cxnSp>
        <p:nvCxnSpPr>
          <p:cNvPr id="2033" name="Google Shape;2033;p88"/>
          <p:cNvCxnSpPr/>
          <p:nvPr/>
        </p:nvCxnSpPr>
        <p:spPr>
          <a:xfrm>
            <a:off x="1335850" y="2148600"/>
            <a:ext cx="2871300" cy="2657700"/>
          </a:xfrm>
          <a:prstGeom prst="straightConnector1">
            <a:avLst/>
          </a:prstGeom>
          <a:noFill/>
          <a:ln cap="flat" cmpd="sng" w="28575">
            <a:solidFill>
              <a:srgbClr val="FF0000"/>
            </a:solidFill>
            <a:prstDash val="solid"/>
            <a:round/>
            <a:headEnd len="med" w="med" type="none"/>
            <a:tailEnd len="med" w="med" type="stealth"/>
          </a:ln>
        </p:spPr>
      </p:cxnSp>
      <p:cxnSp>
        <p:nvCxnSpPr>
          <p:cNvPr id="2034" name="Google Shape;2034;p88"/>
          <p:cNvCxnSpPr/>
          <p:nvPr/>
        </p:nvCxnSpPr>
        <p:spPr>
          <a:xfrm>
            <a:off x="1335850" y="1942025"/>
            <a:ext cx="2775000" cy="0"/>
          </a:xfrm>
          <a:prstGeom prst="straightConnector1">
            <a:avLst/>
          </a:prstGeom>
          <a:noFill/>
          <a:ln cap="flat" cmpd="sng" w="28575">
            <a:solidFill>
              <a:srgbClr val="FF0000"/>
            </a:solidFill>
            <a:prstDash val="solid"/>
            <a:round/>
            <a:headEnd len="med" w="med" type="none"/>
            <a:tailEnd len="med" w="med" type="stealth"/>
          </a:ln>
        </p:spPr>
      </p:cxnSp>
      <p:cxnSp>
        <p:nvCxnSpPr>
          <p:cNvPr id="2035" name="Google Shape;2035;p88"/>
          <p:cNvCxnSpPr/>
          <p:nvPr/>
        </p:nvCxnSpPr>
        <p:spPr>
          <a:xfrm>
            <a:off x="1124092" y="2147030"/>
            <a:ext cx="0" cy="2590500"/>
          </a:xfrm>
          <a:prstGeom prst="straightConnector1">
            <a:avLst/>
          </a:prstGeom>
          <a:noFill/>
          <a:ln cap="flat" cmpd="sng" w="28575">
            <a:solidFill>
              <a:srgbClr val="FF0000"/>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2"/>
                                        </p:tgtEl>
                                        <p:attrNameLst>
                                          <p:attrName>style.visibility</p:attrName>
                                        </p:attrNameLst>
                                      </p:cBhvr>
                                      <p:to>
                                        <p:strVal val="visible"/>
                                      </p:to>
                                    </p:set>
                                    <p:animEffect filter="fade" transition="in">
                                      <p:cBhvr>
                                        <p:cTn dur="1000"/>
                                        <p:tgtEl>
                                          <p:spTgt spid="20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3"/>
                                        </p:tgtEl>
                                        <p:attrNameLst>
                                          <p:attrName>style.visibility</p:attrName>
                                        </p:attrNameLst>
                                      </p:cBhvr>
                                      <p:to>
                                        <p:strVal val="visible"/>
                                      </p:to>
                                    </p:set>
                                    <p:animEffect filter="fade" transition="in">
                                      <p:cBhvr>
                                        <p:cTn dur="1000"/>
                                        <p:tgtEl>
                                          <p:spTgt spid="2023"/>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2030"/>
                                        </p:tgtEl>
                                        <p:attrNameLst>
                                          <p:attrName>style.visibility</p:attrName>
                                        </p:attrNameLst>
                                      </p:cBhvr>
                                      <p:to>
                                        <p:strVal val="visible"/>
                                      </p:to>
                                    </p:set>
                                    <p:anim calcmode="lin" valueType="num">
                                      <p:cBhvr additive="base">
                                        <p:cTn dur="1000"/>
                                        <p:tgtEl>
                                          <p:spTgt spid="20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gtEl>
                                        <p:attrNameLst>
                                          <p:attrName>style.visibility</p:attrName>
                                        </p:attrNameLst>
                                      </p:cBhvr>
                                      <p:to>
                                        <p:strVal val="visible"/>
                                      </p:to>
                                    </p:set>
                                    <p:animEffect filter="fade" transition="in">
                                      <p:cBhvr>
                                        <p:cTn dur="1000"/>
                                        <p:tgtEl>
                                          <p:spTgt spid="20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5"/>
                                        </p:tgtEl>
                                        <p:attrNameLst>
                                          <p:attrName>style.visibility</p:attrName>
                                        </p:attrNameLst>
                                      </p:cBhvr>
                                      <p:to>
                                        <p:strVal val="visible"/>
                                      </p:to>
                                    </p:set>
                                    <p:animEffect filter="fade" transition="in">
                                      <p:cBhvr>
                                        <p:cTn dur="1000"/>
                                        <p:tgtEl>
                                          <p:spTgt spid="20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34"/>
                                        </p:tgtEl>
                                        <p:attrNameLst>
                                          <p:attrName>style.visibility</p:attrName>
                                        </p:attrNameLst>
                                      </p:cBhvr>
                                      <p:to>
                                        <p:strVal val="visible"/>
                                      </p:to>
                                    </p:set>
                                    <p:animEffect filter="fade" transition="in">
                                      <p:cBhvr>
                                        <p:cTn dur="1000"/>
                                        <p:tgtEl>
                                          <p:spTgt spid="203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35"/>
                                        </p:tgtEl>
                                        <p:attrNameLst>
                                          <p:attrName>style.visibility</p:attrName>
                                        </p:attrNameLst>
                                      </p:cBhvr>
                                      <p:to>
                                        <p:strVal val="visible"/>
                                      </p:to>
                                    </p:set>
                                    <p:animEffect filter="fade" transition="in">
                                      <p:cBhvr>
                                        <p:cTn dur="1000"/>
                                        <p:tgtEl>
                                          <p:spTgt spid="203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33"/>
                                        </p:tgtEl>
                                        <p:attrNameLst>
                                          <p:attrName>style.visibility</p:attrName>
                                        </p:attrNameLst>
                                      </p:cBhvr>
                                      <p:to>
                                        <p:strVal val="visible"/>
                                      </p:to>
                                    </p:set>
                                    <p:animEffect filter="fade" transition="in">
                                      <p:cBhvr>
                                        <p:cTn dur="1000"/>
                                        <p:tgtEl>
                                          <p:spTgt spid="203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029"/>
                                        </p:tgtEl>
                                        <p:attrNameLst>
                                          <p:attrName>style.visibility</p:attrName>
                                        </p:attrNameLst>
                                      </p:cBhvr>
                                      <p:to>
                                        <p:strVal val="visible"/>
                                      </p:to>
                                    </p:set>
                                    <p:animEffect filter="fade" transition="in">
                                      <p:cBhvr>
                                        <p:cTn dur="1000"/>
                                        <p:tgtEl>
                                          <p:spTgt spid="20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9" name="Shape 2039"/>
        <p:cNvGrpSpPr/>
        <p:nvPr/>
      </p:nvGrpSpPr>
      <p:grpSpPr>
        <a:xfrm>
          <a:off x="0" y="0"/>
          <a:ext cx="0" cy="0"/>
          <a:chOff x="0" y="0"/>
          <a:chExt cx="0" cy="0"/>
        </a:xfrm>
      </p:grpSpPr>
      <p:graphicFrame>
        <p:nvGraphicFramePr>
          <p:cNvPr id="2040" name="Google Shape;2040;p89"/>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bl>
          </a:graphicData>
        </a:graphic>
      </p:graphicFrame>
      <p:sp>
        <p:nvSpPr>
          <p:cNvPr id="2041" name="Google Shape;2041;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42" name="Google Shape;2042;p8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Illustrated Example</a:t>
            </a:r>
            <a:endParaRPr/>
          </a:p>
        </p:txBody>
      </p:sp>
      <p:graphicFrame>
        <p:nvGraphicFramePr>
          <p:cNvPr id="2043" name="Google Shape;2043;p89"/>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bl>
          </a:graphicData>
        </a:graphic>
      </p:graphicFrame>
      <p:pic>
        <p:nvPicPr>
          <p:cNvPr id="2044" name="Google Shape;2044;p89"/>
          <p:cNvPicPr preferRelativeResize="0"/>
          <p:nvPr/>
        </p:nvPicPr>
        <p:blipFill>
          <a:blip r:embed="rId3">
            <a:alphaModFix/>
          </a:blip>
          <a:stretch>
            <a:fillRect/>
          </a:stretch>
        </p:blipFill>
        <p:spPr>
          <a:xfrm>
            <a:off x="1007615" y="1753429"/>
            <a:ext cx="232954" cy="393601"/>
          </a:xfrm>
          <a:prstGeom prst="rect">
            <a:avLst/>
          </a:prstGeom>
          <a:noFill/>
          <a:ln>
            <a:noFill/>
          </a:ln>
        </p:spPr>
      </p:pic>
      <p:sp>
        <p:nvSpPr>
          <p:cNvPr id="2045" name="Google Shape;2045;p89"/>
          <p:cNvSpPr txBox="1"/>
          <p:nvPr/>
        </p:nvSpPr>
        <p:spPr>
          <a:xfrm>
            <a:off x="5093650" y="1746551"/>
            <a:ext cx="359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Continuing with your methodical approach, you might choose to place the next queen in the first open square in the next row. </a:t>
            </a:r>
            <a:endParaRPr sz="1200"/>
          </a:p>
        </p:txBody>
      </p:sp>
      <p:grpSp>
        <p:nvGrpSpPr>
          <p:cNvPr id="2046" name="Google Shape;2046;p89"/>
          <p:cNvGrpSpPr/>
          <p:nvPr/>
        </p:nvGrpSpPr>
        <p:grpSpPr>
          <a:xfrm>
            <a:off x="1263401" y="1526582"/>
            <a:ext cx="1221501" cy="1015219"/>
            <a:chOff x="397659" y="1124925"/>
            <a:chExt cx="1221501" cy="1015219"/>
          </a:xfrm>
        </p:grpSpPr>
        <p:pic>
          <p:nvPicPr>
            <p:cNvPr id="2047" name="Google Shape;2047;p89"/>
            <p:cNvPicPr preferRelativeResize="0"/>
            <p:nvPr/>
          </p:nvPicPr>
          <p:blipFill>
            <a:blip r:embed="rId3">
              <a:alphaModFix/>
            </a:blip>
            <a:stretch>
              <a:fillRect/>
            </a:stretch>
          </p:blipFill>
          <p:spPr>
            <a:xfrm>
              <a:off x="1007615" y="1746544"/>
              <a:ext cx="232954" cy="393601"/>
            </a:xfrm>
            <a:prstGeom prst="rect">
              <a:avLst/>
            </a:prstGeom>
            <a:noFill/>
            <a:ln>
              <a:noFill/>
            </a:ln>
          </p:spPr>
        </p:pic>
        <p:pic>
          <p:nvPicPr>
            <p:cNvPr id="2048" name="Google Shape;2048;p89"/>
            <p:cNvPicPr preferRelativeResize="0"/>
            <p:nvPr/>
          </p:nvPicPr>
          <p:blipFill>
            <a:blip r:embed="rId4">
              <a:alphaModFix/>
            </a:blip>
            <a:stretch>
              <a:fillRect/>
            </a:stretch>
          </p:blipFill>
          <p:spPr>
            <a:xfrm rot="-5400000">
              <a:off x="596959" y="925625"/>
              <a:ext cx="822900" cy="1221501"/>
            </a:xfrm>
            <a:prstGeom prst="rect">
              <a:avLst/>
            </a:prstGeom>
            <a:noFill/>
            <a:ln>
              <a:noFill/>
            </a:ln>
          </p:spPr>
        </p:pic>
      </p:grpSp>
      <p:sp>
        <p:nvSpPr>
          <p:cNvPr id="2049" name="Google Shape;2049;p89"/>
          <p:cNvSpPr txBox="1"/>
          <p:nvPr/>
        </p:nvSpPr>
        <p:spPr>
          <a:xfrm>
            <a:off x="5093650" y="2584751"/>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This would eliminate any additional squares that </a:t>
            </a:r>
            <a:r>
              <a:rPr i="1" lang="en" sz="1200"/>
              <a:t>this </a:t>
            </a:r>
            <a:r>
              <a:rPr lang="en" sz="1200"/>
              <a:t>queen can attack. </a:t>
            </a:r>
            <a:endParaRPr sz="1200"/>
          </a:p>
        </p:txBody>
      </p:sp>
      <p:sp>
        <p:nvSpPr>
          <p:cNvPr id="2050" name="Google Shape;2050;p89"/>
          <p:cNvSpPr txBox="1"/>
          <p:nvPr/>
        </p:nvSpPr>
        <p:spPr>
          <a:xfrm>
            <a:off x="5093650" y="3229238"/>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You could repeat this process until you have either placed 8 queens on the board or...</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5"/>
                                        </p:tgtEl>
                                        <p:attrNameLst>
                                          <p:attrName>style.visibility</p:attrName>
                                        </p:attrNameLst>
                                      </p:cBhvr>
                                      <p:to>
                                        <p:strVal val="visible"/>
                                      </p:to>
                                    </p:set>
                                    <p:animEffect filter="fade" transition="in">
                                      <p:cBhvr>
                                        <p:cTn dur="1000"/>
                                        <p:tgtEl>
                                          <p:spTgt spid="2045"/>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2046"/>
                                        </p:tgtEl>
                                        <p:attrNameLst>
                                          <p:attrName>style.visibility</p:attrName>
                                        </p:attrNameLst>
                                      </p:cBhvr>
                                      <p:to>
                                        <p:strVal val="visible"/>
                                      </p:to>
                                    </p:set>
                                    <p:anim calcmode="lin" valueType="num">
                                      <p:cBhvr additive="base">
                                        <p:cTn dur="1000"/>
                                        <p:tgtEl>
                                          <p:spTgt spid="204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9"/>
                                        </p:tgtEl>
                                        <p:attrNameLst>
                                          <p:attrName>style.visibility</p:attrName>
                                        </p:attrNameLst>
                                      </p:cBhvr>
                                      <p:to>
                                        <p:strVal val="visible"/>
                                      </p:to>
                                    </p:set>
                                    <p:animEffect filter="fade" transition="in">
                                      <p:cBhvr>
                                        <p:cTn dur="1000"/>
                                        <p:tgtEl>
                                          <p:spTgt spid="204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43"/>
                                        </p:tgtEl>
                                        <p:attrNameLst>
                                          <p:attrName>style.visibility</p:attrName>
                                        </p:attrNameLst>
                                      </p:cBhvr>
                                      <p:to>
                                        <p:strVal val="visible"/>
                                      </p:to>
                                    </p:set>
                                    <p:animEffect filter="fade" transition="in">
                                      <p:cBhvr>
                                        <p:cTn dur="1000"/>
                                        <p:tgtEl>
                                          <p:spTgt spid="20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0"/>
                                        </p:tgtEl>
                                        <p:attrNameLst>
                                          <p:attrName>style.visibility</p:attrName>
                                        </p:attrNameLst>
                                      </p:cBhvr>
                                      <p:to>
                                        <p:strVal val="visible"/>
                                      </p:to>
                                    </p:set>
                                    <p:animEffect filter="fade" transition="in">
                                      <p:cBhvr>
                                        <p:cTn dur="1000"/>
                                        <p:tgtEl>
                                          <p:spTgt spid="20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4" name="Shape 2054"/>
        <p:cNvGrpSpPr/>
        <p:nvPr/>
      </p:nvGrpSpPr>
      <p:grpSpPr>
        <a:xfrm>
          <a:off x="0" y="0"/>
          <a:ext cx="0" cy="0"/>
          <a:chOff x="0" y="0"/>
          <a:chExt cx="0" cy="0"/>
        </a:xfrm>
      </p:grpSpPr>
      <p:graphicFrame>
        <p:nvGraphicFramePr>
          <p:cNvPr id="2055" name="Google Shape;2055;p90"/>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bl>
          </a:graphicData>
        </a:graphic>
      </p:graphicFrame>
      <p:sp>
        <p:nvSpPr>
          <p:cNvPr id="2056" name="Google Shape;2056;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57" name="Google Shape;2057;p9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Illustrated Example</a:t>
            </a:r>
            <a:endParaRPr/>
          </a:p>
        </p:txBody>
      </p:sp>
      <p:pic>
        <p:nvPicPr>
          <p:cNvPr id="2058" name="Google Shape;2058;p90"/>
          <p:cNvPicPr preferRelativeResize="0"/>
          <p:nvPr/>
        </p:nvPicPr>
        <p:blipFill>
          <a:blip r:embed="rId3">
            <a:alphaModFix/>
          </a:blip>
          <a:stretch>
            <a:fillRect/>
          </a:stretch>
        </p:blipFill>
        <p:spPr>
          <a:xfrm>
            <a:off x="1007615" y="1753429"/>
            <a:ext cx="232954" cy="393601"/>
          </a:xfrm>
          <a:prstGeom prst="rect">
            <a:avLst/>
          </a:prstGeom>
          <a:noFill/>
          <a:ln>
            <a:noFill/>
          </a:ln>
        </p:spPr>
      </p:pic>
      <p:sp>
        <p:nvSpPr>
          <p:cNvPr id="2059" name="Google Shape;2059;p90"/>
          <p:cNvSpPr txBox="1"/>
          <p:nvPr/>
        </p:nvSpPr>
        <p:spPr>
          <a:xfrm>
            <a:off x="5093650" y="1750026"/>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...you run out of valid squares on which to place a new queen.</a:t>
            </a:r>
            <a:endParaRPr sz="1200"/>
          </a:p>
        </p:txBody>
      </p:sp>
      <p:pic>
        <p:nvPicPr>
          <p:cNvPr id="2060" name="Google Shape;2060;p90"/>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061" name="Google Shape;2061;p90"/>
          <p:cNvPicPr preferRelativeResize="0"/>
          <p:nvPr/>
        </p:nvPicPr>
        <p:blipFill>
          <a:blip r:embed="rId3">
            <a:alphaModFix/>
          </a:blip>
          <a:stretch>
            <a:fillRect/>
          </a:stretch>
        </p:blipFill>
        <p:spPr>
          <a:xfrm>
            <a:off x="2704672" y="2549857"/>
            <a:ext cx="232954" cy="393601"/>
          </a:xfrm>
          <a:prstGeom prst="rect">
            <a:avLst/>
          </a:prstGeom>
          <a:noFill/>
          <a:ln>
            <a:noFill/>
          </a:ln>
        </p:spPr>
      </p:pic>
      <p:pic>
        <p:nvPicPr>
          <p:cNvPr id="2062" name="Google Shape;2062;p90"/>
          <p:cNvPicPr preferRelativeResize="0"/>
          <p:nvPr/>
        </p:nvPicPr>
        <p:blipFill>
          <a:blip r:embed="rId3">
            <a:alphaModFix/>
          </a:blip>
          <a:stretch>
            <a:fillRect/>
          </a:stretch>
        </p:blipFill>
        <p:spPr>
          <a:xfrm>
            <a:off x="1443700" y="2944628"/>
            <a:ext cx="232954" cy="393601"/>
          </a:xfrm>
          <a:prstGeom prst="rect">
            <a:avLst/>
          </a:prstGeom>
          <a:noFill/>
          <a:ln>
            <a:noFill/>
          </a:ln>
        </p:spPr>
      </p:pic>
      <p:pic>
        <p:nvPicPr>
          <p:cNvPr id="2063" name="Google Shape;2063;p90"/>
          <p:cNvPicPr preferRelativeResize="0"/>
          <p:nvPr/>
        </p:nvPicPr>
        <p:blipFill>
          <a:blip r:embed="rId3">
            <a:alphaModFix/>
          </a:blip>
          <a:stretch>
            <a:fillRect/>
          </a:stretch>
        </p:blipFill>
        <p:spPr>
          <a:xfrm>
            <a:off x="2282359" y="3339399"/>
            <a:ext cx="232954" cy="393601"/>
          </a:xfrm>
          <a:prstGeom prst="rect">
            <a:avLst/>
          </a:prstGeom>
          <a:noFill/>
          <a:ln>
            <a:noFill/>
          </a:ln>
        </p:spPr>
      </p:pic>
      <p:sp>
        <p:nvSpPr>
          <p:cNvPr id="2064" name="Google Shape;2064;p90"/>
          <p:cNvSpPr txBox="1"/>
          <p:nvPr/>
        </p:nvSpPr>
        <p:spPr>
          <a:xfrm>
            <a:off x="5093650" y="2435826"/>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At this point you have two choices. You can give up and go do something else, or...</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059"/>
                                        </p:tgtEl>
                                        <p:attrNameLst>
                                          <p:attrName>style.visibility</p:attrName>
                                        </p:attrNameLst>
                                      </p:cBhvr>
                                      <p:to>
                                        <p:strVal val="visible"/>
                                      </p:to>
                                    </p:set>
                                    <p:animEffect filter="fade" transition="in">
                                      <p:cBhvr>
                                        <p:cTn dur="1000"/>
                                        <p:tgtEl>
                                          <p:spTgt spid="2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4"/>
                                        </p:tgtEl>
                                        <p:attrNameLst>
                                          <p:attrName>style.visibility</p:attrName>
                                        </p:attrNameLst>
                                      </p:cBhvr>
                                      <p:to>
                                        <p:strVal val="visible"/>
                                      </p:to>
                                    </p:set>
                                    <p:animEffect filter="fade" transition="in">
                                      <p:cBhvr>
                                        <p:cTn dur="1000"/>
                                        <p:tgtEl>
                                          <p:spTgt spid="20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sp>
        <p:nvSpPr>
          <p:cNvPr id="2069" name="Google Shape;2069;p91"/>
          <p:cNvSpPr txBox="1"/>
          <p:nvPr/>
        </p:nvSpPr>
        <p:spPr>
          <a:xfrm>
            <a:off x="5093650" y="1750026"/>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...you run out of valid squares on which to place a new queen.</a:t>
            </a:r>
            <a:endParaRPr sz="1200"/>
          </a:p>
        </p:txBody>
      </p:sp>
      <p:sp>
        <p:nvSpPr>
          <p:cNvPr id="2070" name="Google Shape;2070;p91"/>
          <p:cNvSpPr txBox="1"/>
          <p:nvPr/>
        </p:nvSpPr>
        <p:spPr>
          <a:xfrm>
            <a:off x="5093650" y="3114741"/>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...you can </a:t>
            </a:r>
            <a:r>
              <a:rPr b="1" i="1" lang="en" sz="1200">
                <a:solidFill>
                  <a:srgbClr val="FF0000"/>
                </a:solidFill>
              </a:rPr>
              <a:t>backtrack</a:t>
            </a:r>
            <a:r>
              <a:rPr lang="en" sz="1200">
                <a:solidFill>
                  <a:srgbClr val="FF0000"/>
                </a:solidFill>
              </a:rPr>
              <a:t> </a:t>
            </a:r>
            <a:r>
              <a:rPr lang="en" sz="1200"/>
              <a:t>and pick up the last queen that you placed on the board...</a:t>
            </a:r>
            <a:endParaRPr sz="1200"/>
          </a:p>
        </p:txBody>
      </p:sp>
      <p:sp>
        <p:nvSpPr>
          <p:cNvPr id="2071" name="Google Shape;2071;p91"/>
          <p:cNvSpPr txBox="1"/>
          <p:nvPr/>
        </p:nvSpPr>
        <p:spPr>
          <a:xfrm>
            <a:off x="5093650" y="2435826"/>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At this point you have two choices. You can give up and go do something else, or...</a:t>
            </a:r>
            <a:endParaRPr sz="1200"/>
          </a:p>
        </p:txBody>
      </p:sp>
      <p:graphicFrame>
        <p:nvGraphicFramePr>
          <p:cNvPr id="2072" name="Google Shape;2072;p91"/>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bl>
          </a:graphicData>
        </a:graphic>
      </p:graphicFrame>
      <p:graphicFrame>
        <p:nvGraphicFramePr>
          <p:cNvPr id="2073" name="Google Shape;2073;p91"/>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bl>
          </a:graphicData>
        </a:graphic>
      </p:graphicFrame>
      <p:sp>
        <p:nvSpPr>
          <p:cNvPr id="2074" name="Google Shape;2074;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5" name="Google Shape;2075;p9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Illustrated Example</a:t>
            </a:r>
            <a:endParaRPr/>
          </a:p>
        </p:txBody>
      </p:sp>
      <p:pic>
        <p:nvPicPr>
          <p:cNvPr id="2076" name="Google Shape;2076;p91"/>
          <p:cNvPicPr preferRelativeResize="0"/>
          <p:nvPr/>
        </p:nvPicPr>
        <p:blipFill>
          <a:blip r:embed="rId3">
            <a:alphaModFix/>
          </a:blip>
          <a:stretch>
            <a:fillRect/>
          </a:stretch>
        </p:blipFill>
        <p:spPr>
          <a:xfrm>
            <a:off x="1007615" y="1753429"/>
            <a:ext cx="232954" cy="393601"/>
          </a:xfrm>
          <a:prstGeom prst="rect">
            <a:avLst/>
          </a:prstGeom>
          <a:noFill/>
          <a:ln>
            <a:noFill/>
          </a:ln>
        </p:spPr>
      </p:pic>
      <p:pic>
        <p:nvPicPr>
          <p:cNvPr id="2077" name="Google Shape;2077;p91"/>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078" name="Google Shape;2078;p91"/>
          <p:cNvPicPr preferRelativeResize="0"/>
          <p:nvPr/>
        </p:nvPicPr>
        <p:blipFill>
          <a:blip r:embed="rId3">
            <a:alphaModFix/>
          </a:blip>
          <a:stretch>
            <a:fillRect/>
          </a:stretch>
        </p:blipFill>
        <p:spPr>
          <a:xfrm>
            <a:off x="2704672" y="2549857"/>
            <a:ext cx="232954" cy="393601"/>
          </a:xfrm>
          <a:prstGeom prst="rect">
            <a:avLst/>
          </a:prstGeom>
          <a:noFill/>
          <a:ln>
            <a:noFill/>
          </a:ln>
        </p:spPr>
      </p:pic>
      <p:pic>
        <p:nvPicPr>
          <p:cNvPr id="2079" name="Google Shape;2079;p91"/>
          <p:cNvPicPr preferRelativeResize="0"/>
          <p:nvPr/>
        </p:nvPicPr>
        <p:blipFill>
          <a:blip r:embed="rId3">
            <a:alphaModFix/>
          </a:blip>
          <a:stretch>
            <a:fillRect/>
          </a:stretch>
        </p:blipFill>
        <p:spPr>
          <a:xfrm>
            <a:off x="1443700" y="2944628"/>
            <a:ext cx="232954" cy="393601"/>
          </a:xfrm>
          <a:prstGeom prst="rect">
            <a:avLst/>
          </a:prstGeom>
          <a:noFill/>
          <a:ln>
            <a:noFill/>
          </a:ln>
        </p:spPr>
      </p:pic>
      <p:pic>
        <p:nvPicPr>
          <p:cNvPr id="2080" name="Google Shape;2080;p91"/>
          <p:cNvPicPr preferRelativeResize="0"/>
          <p:nvPr/>
        </p:nvPicPr>
        <p:blipFill>
          <a:blip r:embed="rId3">
            <a:alphaModFix/>
          </a:blip>
          <a:stretch>
            <a:fillRect/>
          </a:stretch>
        </p:blipFill>
        <p:spPr>
          <a:xfrm>
            <a:off x="2282359" y="3339399"/>
            <a:ext cx="232954" cy="393601"/>
          </a:xfrm>
          <a:prstGeom prst="rect">
            <a:avLst/>
          </a:prstGeom>
          <a:noFill/>
          <a:ln>
            <a:noFill/>
          </a:ln>
        </p:spPr>
      </p:pic>
      <p:pic>
        <p:nvPicPr>
          <p:cNvPr id="2081" name="Google Shape;2081;p91"/>
          <p:cNvPicPr preferRelativeResize="0"/>
          <p:nvPr/>
        </p:nvPicPr>
        <p:blipFill>
          <a:blip r:embed="rId4">
            <a:alphaModFix/>
          </a:blip>
          <a:stretch>
            <a:fillRect/>
          </a:stretch>
        </p:blipFill>
        <p:spPr>
          <a:xfrm rot="-5400000">
            <a:off x="1871703" y="2518939"/>
            <a:ext cx="822900" cy="12215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070"/>
                                        </p:tgtEl>
                                        <p:attrNameLst>
                                          <p:attrName>style.visibility</p:attrName>
                                        </p:attrNameLst>
                                      </p:cBhvr>
                                      <p:to>
                                        <p:strVal val="visible"/>
                                      </p:to>
                                    </p:set>
                                    <p:animEffect filter="fade" transition="in">
                                      <p:cBhvr>
                                        <p:cTn dur="1000"/>
                                        <p:tgtEl>
                                          <p:spTgt spid="2070"/>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2081"/>
                                        </p:tgtEl>
                                        <p:attrNameLst>
                                          <p:attrName>style.visibility</p:attrName>
                                        </p:attrNameLst>
                                      </p:cBhvr>
                                      <p:to>
                                        <p:strVal val="visible"/>
                                      </p:to>
                                    </p:set>
                                    <p:anim calcmode="lin" valueType="num">
                                      <p:cBhvr additive="base">
                                        <p:cTn dur="2000"/>
                                        <p:tgtEl>
                                          <p:spTgt spid="2081"/>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xit" presetID="2" presetSubtype="2">
                                  <p:stCondLst>
                                    <p:cond delay="0"/>
                                  </p:stCondLst>
                                  <p:childTnLst>
                                    <p:anim calcmode="lin" valueType="num">
                                      <p:cBhvr additive="base">
                                        <p:cTn dur="2000"/>
                                        <p:tgtEl>
                                          <p:spTgt spid="2081"/>
                                        </p:tgtEl>
                                        <p:attrNameLst>
                                          <p:attrName>ppt_x</p:attrName>
                                        </p:attrNameLst>
                                      </p:cBhvr>
                                      <p:tavLst>
                                        <p:tav fmla="" tm="0">
                                          <p:val>
                                            <p:strVal val="#ppt_x"/>
                                          </p:val>
                                        </p:tav>
                                        <p:tav fmla="" tm="100000">
                                          <p:val>
                                            <p:strVal val="#ppt_x+1"/>
                                          </p:val>
                                        </p:tav>
                                      </p:tavLst>
                                    </p:anim>
                                    <p:set>
                                      <p:cBhvr>
                                        <p:cTn dur="1" fill="hold">
                                          <p:stCondLst>
                                            <p:cond delay="2000"/>
                                          </p:stCondLst>
                                        </p:cTn>
                                        <p:tgtEl>
                                          <p:spTgt spid="2081"/>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2000"/>
                                        <p:tgtEl>
                                          <p:spTgt spid="2080"/>
                                        </p:tgtEl>
                                        <p:attrNameLst>
                                          <p:attrName>ppt_x</p:attrName>
                                        </p:attrNameLst>
                                      </p:cBhvr>
                                      <p:tavLst>
                                        <p:tav fmla="" tm="0">
                                          <p:val>
                                            <p:strVal val="#ppt_x"/>
                                          </p:val>
                                        </p:tav>
                                        <p:tav fmla="" tm="100000">
                                          <p:val>
                                            <p:strVal val="#ppt_x+1"/>
                                          </p:val>
                                        </p:tav>
                                      </p:tavLst>
                                    </p:anim>
                                    <p:set>
                                      <p:cBhvr>
                                        <p:cTn dur="1" fill="hold">
                                          <p:stCondLst>
                                            <p:cond delay="2000"/>
                                          </p:stCondLst>
                                        </p:cTn>
                                        <p:tgtEl>
                                          <p:spTgt spid="2080"/>
                                        </p:tgtEl>
                                        <p:attrNameLst>
                                          <p:attrName>style.visibility</p:attrName>
                                        </p:attrNameLst>
                                      </p:cBhvr>
                                      <p:to>
                                        <p:strVal val="hidden"/>
                                      </p:to>
                                    </p:se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073"/>
                                        </p:tgtEl>
                                        <p:attrNameLst>
                                          <p:attrName>style.visibility</p:attrName>
                                        </p:attrNameLst>
                                      </p:cBhvr>
                                      <p:to>
                                        <p:strVal val="visible"/>
                                      </p:to>
                                    </p:set>
                                    <p:animEffect filter="fade" transition="in">
                                      <p:cBhvr>
                                        <p:cTn dur="1000"/>
                                        <p:tgtEl>
                                          <p:spTgt spid="20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5" name="Shape 2085"/>
        <p:cNvGrpSpPr/>
        <p:nvPr/>
      </p:nvGrpSpPr>
      <p:grpSpPr>
        <a:xfrm>
          <a:off x="0" y="0"/>
          <a:ext cx="0" cy="0"/>
          <a:chOff x="0" y="0"/>
          <a:chExt cx="0" cy="0"/>
        </a:xfrm>
      </p:grpSpPr>
      <p:graphicFrame>
        <p:nvGraphicFramePr>
          <p:cNvPr id="2086" name="Google Shape;2086;p92"/>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bl>
          </a:graphicData>
        </a:graphic>
      </p:graphicFrame>
      <p:graphicFrame>
        <p:nvGraphicFramePr>
          <p:cNvPr id="2087" name="Google Shape;2087;p92"/>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bl>
          </a:graphicData>
        </a:graphic>
      </p:graphicFrame>
      <p:sp>
        <p:nvSpPr>
          <p:cNvPr id="2088" name="Google Shape;2088;p92"/>
          <p:cNvSpPr txBox="1"/>
          <p:nvPr/>
        </p:nvSpPr>
        <p:spPr>
          <a:xfrm>
            <a:off x="5093650" y="1750026"/>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...you run out of valid squares on which to place a new queen.</a:t>
            </a:r>
            <a:endParaRPr sz="1200"/>
          </a:p>
        </p:txBody>
      </p:sp>
      <p:sp>
        <p:nvSpPr>
          <p:cNvPr id="2089" name="Google Shape;2089;p92"/>
          <p:cNvSpPr txBox="1"/>
          <p:nvPr/>
        </p:nvSpPr>
        <p:spPr>
          <a:xfrm>
            <a:off x="5093650" y="2435826"/>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At this point you have two choices. You can give up and go do something else, or...</a:t>
            </a:r>
            <a:endParaRPr sz="1200"/>
          </a:p>
        </p:txBody>
      </p:sp>
      <p:sp>
        <p:nvSpPr>
          <p:cNvPr id="2090" name="Google Shape;2090;p92"/>
          <p:cNvSpPr txBox="1"/>
          <p:nvPr/>
        </p:nvSpPr>
        <p:spPr>
          <a:xfrm>
            <a:off x="5093650" y="3114741"/>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...you can </a:t>
            </a:r>
            <a:r>
              <a:rPr b="1" i="1" lang="en" sz="1200">
                <a:solidFill>
                  <a:srgbClr val="FF0000"/>
                </a:solidFill>
              </a:rPr>
              <a:t>backtrack</a:t>
            </a:r>
            <a:r>
              <a:rPr lang="en" sz="1200">
                <a:solidFill>
                  <a:srgbClr val="FF0000"/>
                </a:solidFill>
              </a:rPr>
              <a:t> </a:t>
            </a:r>
            <a:r>
              <a:rPr lang="en" sz="1200"/>
              <a:t>and pick up the last queen that you placed on the board...</a:t>
            </a:r>
            <a:endParaRPr sz="1200"/>
          </a:p>
        </p:txBody>
      </p:sp>
      <p:sp>
        <p:nvSpPr>
          <p:cNvPr id="2091" name="Google Shape;2091;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2" name="Google Shape;2092;p9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Illustrated Example</a:t>
            </a:r>
            <a:endParaRPr/>
          </a:p>
        </p:txBody>
      </p:sp>
      <p:pic>
        <p:nvPicPr>
          <p:cNvPr id="2093" name="Google Shape;2093;p92"/>
          <p:cNvPicPr preferRelativeResize="0"/>
          <p:nvPr/>
        </p:nvPicPr>
        <p:blipFill>
          <a:blip r:embed="rId3">
            <a:alphaModFix/>
          </a:blip>
          <a:stretch>
            <a:fillRect/>
          </a:stretch>
        </p:blipFill>
        <p:spPr>
          <a:xfrm>
            <a:off x="1007615" y="1753429"/>
            <a:ext cx="232954" cy="393601"/>
          </a:xfrm>
          <a:prstGeom prst="rect">
            <a:avLst/>
          </a:prstGeom>
          <a:noFill/>
          <a:ln>
            <a:noFill/>
          </a:ln>
        </p:spPr>
      </p:pic>
      <p:pic>
        <p:nvPicPr>
          <p:cNvPr id="2094" name="Google Shape;2094;p92"/>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095" name="Google Shape;2095;p92"/>
          <p:cNvPicPr preferRelativeResize="0"/>
          <p:nvPr/>
        </p:nvPicPr>
        <p:blipFill>
          <a:blip r:embed="rId3">
            <a:alphaModFix/>
          </a:blip>
          <a:stretch>
            <a:fillRect/>
          </a:stretch>
        </p:blipFill>
        <p:spPr>
          <a:xfrm>
            <a:off x="2704672" y="2549857"/>
            <a:ext cx="232954" cy="393601"/>
          </a:xfrm>
          <a:prstGeom prst="rect">
            <a:avLst/>
          </a:prstGeom>
          <a:noFill/>
          <a:ln>
            <a:noFill/>
          </a:ln>
        </p:spPr>
      </p:pic>
      <p:pic>
        <p:nvPicPr>
          <p:cNvPr id="2096" name="Google Shape;2096;p92"/>
          <p:cNvPicPr preferRelativeResize="0"/>
          <p:nvPr/>
        </p:nvPicPr>
        <p:blipFill>
          <a:blip r:embed="rId3">
            <a:alphaModFix/>
          </a:blip>
          <a:stretch>
            <a:fillRect/>
          </a:stretch>
        </p:blipFill>
        <p:spPr>
          <a:xfrm>
            <a:off x="1443700" y="2944628"/>
            <a:ext cx="232954" cy="393601"/>
          </a:xfrm>
          <a:prstGeom prst="rect">
            <a:avLst/>
          </a:prstGeom>
          <a:noFill/>
          <a:ln>
            <a:noFill/>
          </a:ln>
        </p:spPr>
      </p:pic>
      <p:sp>
        <p:nvSpPr>
          <p:cNvPr id="2097" name="Google Shape;2097;p92"/>
          <p:cNvSpPr txBox="1"/>
          <p:nvPr/>
        </p:nvSpPr>
        <p:spPr>
          <a:xfrm>
            <a:off x="5093650" y="3800541"/>
            <a:ext cx="359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...and then try playing it on a different square instead, which will hopefully leave you with a few more options.</a:t>
            </a:r>
            <a:endParaRPr sz="1200"/>
          </a:p>
        </p:txBody>
      </p:sp>
      <p:grpSp>
        <p:nvGrpSpPr>
          <p:cNvPr id="2098" name="Google Shape;2098;p92"/>
          <p:cNvGrpSpPr/>
          <p:nvPr/>
        </p:nvGrpSpPr>
        <p:grpSpPr>
          <a:xfrm>
            <a:off x="3397001" y="2717780"/>
            <a:ext cx="1221500" cy="1015219"/>
            <a:chOff x="397659" y="1124925"/>
            <a:chExt cx="1221501" cy="1015219"/>
          </a:xfrm>
        </p:grpSpPr>
        <p:pic>
          <p:nvPicPr>
            <p:cNvPr id="2099" name="Google Shape;2099;p92"/>
            <p:cNvPicPr preferRelativeResize="0"/>
            <p:nvPr/>
          </p:nvPicPr>
          <p:blipFill>
            <a:blip r:embed="rId3">
              <a:alphaModFix/>
            </a:blip>
            <a:stretch>
              <a:fillRect/>
            </a:stretch>
          </p:blipFill>
          <p:spPr>
            <a:xfrm>
              <a:off x="1007615" y="1746544"/>
              <a:ext cx="232954" cy="393601"/>
            </a:xfrm>
            <a:prstGeom prst="rect">
              <a:avLst/>
            </a:prstGeom>
            <a:noFill/>
            <a:ln>
              <a:noFill/>
            </a:ln>
          </p:spPr>
        </p:pic>
        <p:pic>
          <p:nvPicPr>
            <p:cNvPr id="2100" name="Google Shape;2100;p92"/>
            <p:cNvPicPr preferRelativeResize="0"/>
            <p:nvPr/>
          </p:nvPicPr>
          <p:blipFill>
            <a:blip r:embed="rId4">
              <a:alphaModFix/>
            </a:blip>
            <a:stretch>
              <a:fillRect/>
            </a:stretch>
          </p:blipFill>
          <p:spPr>
            <a:xfrm rot="-5400000">
              <a:off x="596959" y="925625"/>
              <a:ext cx="822900" cy="1221501"/>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097"/>
                                        </p:tgtEl>
                                        <p:attrNameLst>
                                          <p:attrName>style.visibility</p:attrName>
                                        </p:attrNameLst>
                                      </p:cBhvr>
                                      <p:to>
                                        <p:strVal val="visible"/>
                                      </p:to>
                                    </p:set>
                                    <p:animEffect filter="fade" transition="in">
                                      <p:cBhvr>
                                        <p:cTn dur="1000"/>
                                        <p:tgtEl>
                                          <p:spTgt spid="2097"/>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2098"/>
                                        </p:tgtEl>
                                        <p:attrNameLst>
                                          <p:attrName>style.visibility</p:attrName>
                                        </p:attrNameLst>
                                      </p:cBhvr>
                                      <p:to>
                                        <p:strVal val="visible"/>
                                      </p:to>
                                    </p:set>
                                    <p:anim calcmode="lin" valueType="num">
                                      <p:cBhvr additive="base">
                                        <p:cTn dur="1000"/>
                                        <p:tgtEl>
                                          <p:spTgt spid="2098"/>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87"/>
                                        </p:tgtEl>
                                        <p:attrNameLst>
                                          <p:attrName>style.visibility</p:attrName>
                                        </p:attrNameLst>
                                      </p:cBhvr>
                                      <p:to>
                                        <p:strVal val="visible"/>
                                      </p:to>
                                    </p:set>
                                    <p:animEffect filter="fade" transition="in">
                                      <p:cBhvr>
                                        <p:cTn dur="1000"/>
                                        <p:tgtEl>
                                          <p:spTgt spid="20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4" name="Shape 2104"/>
        <p:cNvGrpSpPr/>
        <p:nvPr/>
      </p:nvGrpSpPr>
      <p:grpSpPr>
        <a:xfrm>
          <a:off x="0" y="0"/>
          <a:ext cx="0" cy="0"/>
          <a:chOff x="0" y="0"/>
          <a:chExt cx="0" cy="0"/>
        </a:xfrm>
      </p:grpSpPr>
      <p:graphicFrame>
        <p:nvGraphicFramePr>
          <p:cNvPr id="2105" name="Google Shape;2105;p93"/>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solidFill>
                          <a:srgbClr val="98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80000"/>
                    </a:solidFill>
                  </a:tcPr>
                </a:tc>
              </a:tr>
            </a:tbl>
          </a:graphicData>
        </a:graphic>
      </p:graphicFrame>
      <p:sp>
        <p:nvSpPr>
          <p:cNvPr id="2106" name="Google Shape;2106;p93"/>
          <p:cNvSpPr txBox="1"/>
          <p:nvPr/>
        </p:nvSpPr>
        <p:spPr>
          <a:xfrm>
            <a:off x="5093650" y="1750026"/>
            <a:ext cx="359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Eventually, no matter where you try to play the last queen, you may have no choice but to </a:t>
            </a:r>
            <a:r>
              <a:rPr b="1" i="1" lang="en" sz="1200">
                <a:solidFill>
                  <a:srgbClr val="FF0000"/>
                </a:solidFill>
              </a:rPr>
              <a:t>backtrack farther</a:t>
            </a:r>
            <a:r>
              <a:rPr lang="en" sz="1200">
                <a:solidFill>
                  <a:srgbClr val="FF0000"/>
                </a:solidFill>
              </a:rPr>
              <a:t> </a:t>
            </a:r>
            <a:r>
              <a:rPr lang="en" sz="1200"/>
              <a:t>and pick up the last several queens.</a:t>
            </a:r>
            <a:endParaRPr sz="1200"/>
          </a:p>
        </p:txBody>
      </p:sp>
      <p:sp>
        <p:nvSpPr>
          <p:cNvPr id="2107" name="Google Shape;2107;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08" name="Google Shape;2108;p9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Illustrated Example</a:t>
            </a:r>
            <a:endParaRPr/>
          </a:p>
        </p:txBody>
      </p:sp>
      <p:pic>
        <p:nvPicPr>
          <p:cNvPr id="2109" name="Google Shape;2109;p93"/>
          <p:cNvPicPr preferRelativeResize="0"/>
          <p:nvPr/>
        </p:nvPicPr>
        <p:blipFill>
          <a:blip r:embed="rId3">
            <a:alphaModFix/>
          </a:blip>
          <a:stretch>
            <a:fillRect/>
          </a:stretch>
        </p:blipFill>
        <p:spPr>
          <a:xfrm>
            <a:off x="1007615" y="1753429"/>
            <a:ext cx="232954" cy="393601"/>
          </a:xfrm>
          <a:prstGeom prst="rect">
            <a:avLst/>
          </a:prstGeom>
          <a:noFill/>
          <a:ln>
            <a:noFill/>
          </a:ln>
        </p:spPr>
      </p:pic>
      <p:pic>
        <p:nvPicPr>
          <p:cNvPr id="2110" name="Google Shape;2110;p93"/>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111" name="Google Shape;2111;p93"/>
          <p:cNvPicPr preferRelativeResize="0"/>
          <p:nvPr/>
        </p:nvPicPr>
        <p:blipFill>
          <a:blip r:embed="rId3">
            <a:alphaModFix/>
          </a:blip>
          <a:stretch>
            <a:fillRect/>
          </a:stretch>
        </p:blipFill>
        <p:spPr>
          <a:xfrm>
            <a:off x="2704672" y="2549857"/>
            <a:ext cx="232954" cy="393601"/>
          </a:xfrm>
          <a:prstGeom prst="rect">
            <a:avLst/>
          </a:prstGeom>
          <a:noFill/>
          <a:ln>
            <a:noFill/>
          </a:ln>
        </p:spPr>
      </p:pic>
      <p:grpSp>
        <p:nvGrpSpPr>
          <p:cNvPr id="2112" name="Google Shape;2112;p93"/>
          <p:cNvGrpSpPr/>
          <p:nvPr/>
        </p:nvGrpSpPr>
        <p:grpSpPr>
          <a:xfrm>
            <a:off x="1443700" y="2944628"/>
            <a:ext cx="2782441" cy="1979571"/>
            <a:chOff x="1443700" y="2944628"/>
            <a:chExt cx="2782441" cy="1979571"/>
          </a:xfrm>
        </p:grpSpPr>
        <p:pic>
          <p:nvPicPr>
            <p:cNvPr id="2113" name="Google Shape;2113;p93"/>
            <p:cNvPicPr preferRelativeResize="0"/>
            <p:nvPr/>
          </p:nvPicPr>
          <p:blipFill>
            <a:blip r:embed="rId3">
              <a:alphaModFix/>
            </a:blip>
            <a:stretch>
              <a:fillRect/>
            </a:stretch>
          </p:blipFill>
          <p:spPr>
            <a:xfrm>
              <a:off x="1443700" y="2944628"/>
              <a:ext cx="232954" cy="393601"/>
            </a:xfrm>
            <a:prstGeom prst="rect">
              <a:avLst/>
            </a:prstGeom>
            <a:noFill/>
            <a:ln>
              <a:noFill/>
            </a:ln>
          </p:spPr>
        </p:pic>
        <p:pic>
          <p:nvPicPr>
            <p:cNvPr id="2114" name="Google Shape;2114;p93"/>
            <p:cNvPicPr preferRelativeResize="0"/>
            <p:nvPr/>
          </p:nvPicPr>
          <p:blipFill>
            <a:blip r:embed="rId3">
              <a:alphaModFix/>
            </a:blip>
            <a:stretch>
              <a:fillRect/>
            </a:stretch>
          </p:blipFill>
          <p:spPr>
            <a:xfrm>
              <a:off x="3993186" y="3339399"/>
              <a:ext cx="232954" cy="393601"/>
            </a:xfrm>
            <a:prstGeom prst="rect">
              <a:avLst/>
            </a:prstGeom>
            <a:noFill/>
            <a:ln>
              <a:noFill/>
            </a:ln>
          </p:spPr>
        </p:pic>
        <p:pic>
          <p:nvPicPr>
            <p:cNvPr id="2115" name="Google Shape;2115;p93"/>
            <p:cNvPicPr preferRelativeResize="0"/>
            <p:nvPr/>
          </p:nvPicPr>
          <p:blipFill>
            <a:blip r:embed="rId3">
              <a:alphaModFix/>
            </a:blip>
            <a:stretch>
              <a:fillRect/>
            </a:stretch>
          </p:blipFill>
          <p:spPr>
            <a:xfrm>
              <a:off x="2275014" y="4135827"/>
              <a:ext cx="232954" cy="393601"/>
            </a:xfrm>
            <a:prstGeom prst="rect">
              <a:avLst/>
            </a:prstGeom>
            <a:noFill/>
            <a:ln>
              <a:noFill/>
            </a:ln>
          </p:spPr>
        </p:pic>
        <p:pic>
          <p:nvPicPr>
            <p:cNvPr id="2116" name="Google Shape;2116;p93"/>
            <p:cNvPicPr preferRelativeResize="0"/>
            <p:nvPr/>
          </p:nvPicPr>
          <p:blipFill>
            <a:blip r:embed="rId3">
              <a:alphaModFix/>
            </a:blip>
            <a:stretch>
              <a:fillRect/>
            </a:stretch>
          </p:blipFill>
          <p:spPr>
            <a:xfrm>
              <a:off x="3556643" y="4530598"/>
              <a:ext cx="232954" cy="393601"/>
            </a:xfrm>
            <a:prstGeom prst="rect">
              <a:avLst/>
            </a:prstGeom>
            <a:noFill/>
            <a:ln>
              <a:noFill/>
            </a:ln>
          </p:spPr>
        </p:pic>
      </p:grpSp>
      <p:sp>
        <p:nvSpPr>
          <p:cNvPr id="2117" name="Google Shape;2117;p93"/>
          <p:cNvSpPr txBox="1"/>
          <p:nvPr/>
        </p:nvSpPr>
        <p:spPr>
          <a:xfrm>
            <a:off x="5093650" y="2588226"/>
            <a:ext cx="359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You may even have to </a:t>
            </a:r>
            <a:r>
              <a:rPr b="1" i="1" lang="en" sz="1200">
                <a:solidFill>
                  <a:srgbClr val="FF0000"/>
                </a:solidFill>
              </a:rPr>
              <a:t>backtrack</a:t>
            </a:r>
            <a:r>
              <a:rPr lang="en" sz="1200">
                <a:solidFill>
                  <a:srgbClr val="FF0000"/>
                </a:solidFill>
              </a:rPr>
              <a:t> </a:t>
            </a:r>
            <a:r>
              <a:rPr lang="en" sz="1200"/>
              <a:t>all the way to the </a:t>
            </a:r>
            <a:r>
              <a:rPr b="1" i="1" lang="en" sz="1200">
                <a:solidFill>
                  <a:srgbClr val="FF0000"/>
                </a:solidFill>
              </a:rPr>
              <a:t>very first queen</a:t>
            </a:r>
            <a:r>
              <a:rPr lang="en" sz="1200"/>
              <a:t> that you placed on the board and try </a:t>
            </a:r>
            <a:r>
              <a:rPr b="1" i="1" lang="en" sz="1200">
                <a:solidFill>
                  <a:srgbClr val="FF0000"/>
                </a:solidFill>
              </a:rPr>
              <a:t>it</a:t>
            </a:r>
            <a:r>
              <a:rPr lang="en" sz="1200"/>
              <a:t> in a different spot!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6"/>
                                        </p:tgtEl>
                                        <p:attrNameLst>
                                          <p:attrName>style.visibility</p:attrName>
                                        </p:attrNameLst>
                                      </p:cBhvr>
                                      <p:to>
                                        <p:strVal val="visible"/>
                                      </p:to>
                                    </p:set>
                                    <p:animEffect filter="fade" transition="in">
                                      <p:cBhvr>
                                        <p:cTn dur="1000"/>
                                        <p:tgtEl>
                                          <p:spTgt spid="2106"/>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2112"/>
                                        </p:tgtEl>
                                      </p:cBhvr>
                                    </p:animEffect>
                                    <p:set>
                                      <p:cBhvr>
                                        <p:cTn dur="1" fill="hold">
                                          <p:stCondLst>
                                            <p:cond delay="1000"/>
                                          </p:stCondLst>
                                        </p:cTn>
                                        <p:tgtEl>
                                          <p:spTgt spid="211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7"/>
                                        </p:tgtEl>
                                        <p:attrNameLst>
                                          <p:attrName>style.visibility</p:attrName>
                                        </p:attrNameLst>
                                      </p:cBhvr>
                                      <p:to>
                                        <p:strVal val="visible"/>
                                      </p:to>
                                    </p:set>
                                    <p:animEffect filter="fade" transition="in">
                                      <p:cBhvr>
                                        <p:cTn dur="1000"/>
                                        <p:tgtEl>
                                          <p:spTgt spid="2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1" name="Shape 2121"/>
        <p:cNvGrpSpPr/>
        <p:nvPr/>
      </p:nvGrpSpPr>
      <p:grpSpPr>
        <a:xfrm>
          <a:off x="0" y="0"/>
          <a:ext cx="0" cy="0"/>
          <a:chOff x="0" y="0"/>
          <a:chExt cx="0" cy="0"/>
        </a:xfrm>
      </p:grpSpPr>
      <p:sp>
        <p:nvSpPr>
          <p:cNvPr id="2122" name="Google Shape;2122;p9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N Queens Problem</a:t>
            </a:r>
            <a:endParaRPr/>
          </a:p>
        </p:txBody>
      </p:sp>
      <p:sp>
        <p:nvSpPr>
          <p:cNvPr id="2123" name="Google Shape;2123;p94"/>
          <p:cNvSpPr txBox="1"/>
          <p:nvPr>
            <p:ph idx="1" type="body"/>
          </p:nvPr>
        </p:nvSpPr>
        <p:spPr>
          <a:xfrm>
            <a:off x="65250" y="6554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a:t>Before designing a backtracking algorithm to solve the N-Queens problem, you should try it yourself! Your repository includes a JavaFX GUI that you can use to try to solve the N-Queens problem. Run the application now and see if you can solve the default configuration (8 queens).</a:t>
            </a:r>
            <a:endParaRPr sz="1100"/>
          </a:p>
        </p:txBody>
      </p:sp>
      <p:sp>
        <p:nvSpPr>
          <p:cNvPr id="2124" name="Google Shape;2124;p9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5" name="Google Shape;2125;p9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.25</a:t>
            </a:r>
            <a:endParaRPr/>
          </a:p>
        </p:txBody>
      </p:sp>
      <p:pic>
        <p:nvPicPr>
          <p:cNvPr id="2126" name="Google Shape;2126;p94"/>
          <p:cNvPicPr preferRelativeResize="0"/>
          <p:nvPr/>
        </p:nvPicPr>
        <p:blipFill>
          <a:blip r:embed="rId3">
            <a:alphaModFix/>
          </a:blip>
          <a:stretch>
            <a:fillRect/>
          </a:stretch>
        </p:blipFill>
        <p:spPr>
          <a:xfrm>
            <a:off x="460124" y="1694050"/>
            <a:ext cx="1982040" cy="2634362"/>
          </a:xfrm>
          <a:prstGeom prst="rect">
            <a:avLst/>
          </a:prstGeom>
          <a:noFill/>
          <a:ln>
            <a:noFill/>
          </a:ln>
        </p:spPr>
      </p:pic>
      <p:sp>
        <p:nvSpPr>
          <p:cNvPr id="2127" name="Google Shape;2127;p94"/>
          <p:cNvSpPr txBox="1"/>
          <p:nvPr/>
        </p:nvSpPr>
        <p:spPr>
          <a:xfrm>
            <a:off x="221900" y="4443650"/>
            <a:ext cx="2458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Note that the "</a:t>
            </a:r>
            <a:r>
              <a:rPr lang="en" sz="1200">
                <a:latin typeface="Courier New"/>
                <a:ea typeface="Courier New"/>
                <a:cs typeface="Courier New"/>
                <a:sym typeface="Courier New"/>
              </a:rPr>
              <a:t>Solve</a:t>
            </a:r>
            <a:r>
              <a:rPr lang="en" sz="1200">
                <a:latin typeface="Roboto"/>
                <a:ea typeface="Roboto"/>
                <a:cs typeface="Roboto"/>
                <a:sym typeface="Roboto"/>
              </a:rPr>
              <a:t>" button is not yet implemented!</a:t>
            </a:r>
            <a:endParaRPr sz="1200">
              <a:latin typeface="Roboto"/>
              <a:ea typeface="Roboto"/>
              <a:cs typeface="Roboto"/>
              <a:sym typeface="Roboto"/>
            </a:endParaRPr>
          </a:p>
        </p:txBody>
      </p:sp>
      <p:sp>
        <p:nvSpPr>
          <p:cNvPr id="2128" name="Google Shape;2128;p94"/>
          <p:cNvSpPr txBox="1"/>
          <p:nvPr>
            <p:ph idx="2" type="body"/>
          </p:nvPr>
        </p:nvSpPr>
        <p:spPr>
          <a:xfrm>
            <a:off x="2717750" y="1555675"/>
            <a:ext cx="6260700" cy="32679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You will find the </a:t>
            </a:r>
            <a:r>
              <a:rPr lang="en" sz="1600">
                <a:solidFill>
                  <a:srgbClr val="FF0000"/>
                </a:solidFill>
                <a:latin typeface="Courier New"/>
                <a:ea typeface="Courier New"/>
                <a:cs typeface="Courier New"/>
                <a:sym typeface="Courier New"/>
              </a:rPr>
              <a:t>queens.view.NQueensGUI</a:t>
            </a:r>
            <a:r>
              <a:rPr lang="en" sz="1600"/>
              <a:t> application in your repository.</a:t>
            </a:r>
            <a:endParaRPr sz="1600"/>
          </a:p>
          <a:p>
            <a:pPr indent="-317500" lvl="1" marL="914400" rtl="0" algn="l">
              <a:spcBef>
                <a:spcPts val="0"/>
              </a:spcBef>
              <a:spcAft>
                <a:spcPts val="0"/>
              </a:spcAft>
              <a:buSzPts val="1400"/>
              <a:buChar char="○"/>
            </a:pPr>
            <a:r>
              <a:rPr lang="en" sz="1400"/>
              <a:t>It is configured to launch with an 8x8 board by default.</a:t>
            </a:r>
            <a:endParaRPr sz="1400"/>
          </a:p>
          <a:p>
            <a:pPr indent="-317500" lvl="1" marL="914400" rtl="0" algn="l">
              <a:spcBef>
                <a:spcPts val="0"/>
              </a:spcBef>
              <a:spcAft>
                <a:spcPts val="0"/>
              </a:spcAft>
              <a:buSzPts val="1400"/>
              <a:buChar char="○"/>
            </a:pPr>
            <a:r>
              <a:rPr lang="en" sz="1400"/>
              <a:t>Click to place a queen on any square. Click again to remove the queen.</a:t>
            </a:r>
            <a:endParaRPr sz="1400"/>
          </a:p>
          <a:p>
            <a:pPr indent="-317500" lvl="1" marL="914400" rtl="0" algn="l">
              <a:spcBef>
                <a:spcPts val="0"/>
              </a:spcBef>
              <a:spcAft>
                <a:spcPts val="0"/>
              </a:spcAft>
              <a:buSzPts val="1400"/>
              <a:buChar char="○"/>
            </a:pPr>
            <a:r>
              <a:rPr lang="en" sz="1400"/>
              <a:t>Invalid squares are marked in </a:t>
            </a:r>
            <a:r>
              <a:rPr b="1" i="1" lang="en" sz="1400">
                <a:solidFill>
                  <a:srgbClr val="FF0000"/>
                </a:solidFill>
              </a:rPr>
              <a:t>red</a:t>
            </a:r>
            <a:r>
              <a:rPr lang="en" sz="1400"/>
              <a:t> - you won't be able to place a queen there.</a:t>
            </a:r>
            <a:endParaRPr sz="1400"/>
          </a:p>
          <a:p>
            <a:pPr indent="-330200" lvl="0" marL="457200" rtl="0" algn="l">
              <a:spcBef>
                <a:spcPts val="0"/>
              </a:spcBef>
              <a:spcAft>
                <a:spcPts val="0"/>
              </a:spcAft>
              <a:buSzPts val="1600"/>
              <a:buChar char="●"/>
            </a:pPr>
            <a:r>
              <a:rPr lang="en" sz="1600"/>
              <a:t>You may change the size of the board by closing the application, and launching with a </a:t>
            </a:r>
            <a:r>
              <a:rPr b="1" i="1" lang="en" sz="1600">
                <a:solidFill>
                  <a:srgbClr val="FF0000"/>
                </a:solidFill>
              </a:rPr>
              <a:t>command line argument</a:t>
            </a:r>
            <a:r>
              <a:rPr lang="en" sz="1600"/>
              <a:t>.</a:t>
            </a:r>
            <a:endParaRPr sz="1600"/>
          </a:p>
          <a:p>
            <a:pPr indent="-317500" lvl="1" marL="914400" rtl="0" algn="l">
              <a:spcBef>
                <a:spcPts val="0"/>
              </a:spcBef>
              <a:spcAft>
                <a:spcPts val="0"/>
              </a:spcAft>
              <a:buSzPts val="1400"/>
              <a:buChar char="○"/>
            </a:pPr>
            <a:r>
              <a:rPr lang="en" sz="1400"/>
              <a:t>Press the up-arrow in the terminal to recall the last command.</a:t>
            </a:r>
            <a:endParaRPr sz="1400"/>
          </a:p>
          <a:p>
            <a:pPr indent="-317500" lvl="1" marL="914400" rtl="0" algn="l">
              <a:spcBef>
                <a:spcPts val="0"/>
              </a:spcBef>
              <a:spcAft>
                <a:spcPts val="0"/>
              </a:spcAft>
              <a:buSzPts val="1400"/>
              <a:buChar char="○"/>
            </a:pPr>
            <a:r>
              <a:rPr lang="en" sz="1400"/>
              <a:t>Type the size of the board after the command, e.g. </a:t>
            </a:r>
            <a:r>
              <a:rPr lang="en" sz="1400">
                <a:latin typeface="Courier New"/>
                <a:ea typeface="Courier New"/>
                <a:cs typeface="Courier New"/>
                <a:sym typeface="Courier New"/>
              </a:rPr>
              <a:t>4</a:t>
            </a:r>
            <a:r>
              <a:rPr lang="en" sz="1400"/>
              <a:t>, then press enter to run it.</a:t>
            </a:r>
            <a:endParaRPr sz="14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2" name="Shape 2132"/>
        <p:cNvGrpSpPr/>
        <p:nvPr/>
      </p:nvGrpSpPr>
      <p:grpSpPr>
        <a:xfrm>
          <a:off x="0" y="0"/>
          <a:ext cx="0" cy="0"/>
          <a:chOff x="0" y="0"/>
          <a:chExt cx="0" cy="0"/>
        </a:xfrm>
      </p:grpSpPr>
      <p:graphicFrame>
        <p:nvGraphicFramePr>
          <p:cNvPr id="2133" name="Google Shape;2133;p95"/>
          <p:cNvGraphicFramePr/>
          <p:nvPr/>
        </p:nvGraphicFramePr>
        <p:xfrm>
          <a:off x="921325" y="1750025"/>
          <a:ext cx="3000000" cy="3000000"/>
        </p:xfrm>
        <a:graphic>
          <a:graphicData uri="http://schemas.openxmlformats.org/drawingml/2006/table">
            <a:tbl>
              <a:tblPr>
                <a:noFill/>
                <a:tableStyleId>{89CCAE03-A2B2-4379-B0C2-E101A7E113D6}</a:tableStyleId>
              </a:tblPr>
              <a:tblGrid>
                <a:gridCol w="420225"/>
                <a:gridCol w="433100"/>
                <a:gridCol w="413775"/>
                <a:gridCol w="413725"/>
                <a:gridCol w="426675"/>
                <a:gridCol w="420225"/>
                <a:gridCol w="439600"/>
                <a:gridCol w="433125"/>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sp>
        <p:nvSpPr>
          <p:cNvPr id="2134" name="Google Shape;2134;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35" name="Google Shape;2135;p9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Illustrated Example</a:t>
            </a:r>
            <a:endParaRPr/>
          </a:p>
        </p:txBody>
      </p:sp>
      <p:grpSp>
        <p:nvGrpSpPr>
          <p:cNvPr id="2136" name="Google Shape;2136;p95"/>
          <p:cNvGrpSpPr/>
          <p:nvPr/>
        </p:nvGrpSpPr>
        <p:grpSpPr>
          <a:xfrm>
            <a:off x="1012210" y="1750029"/>
            <a:ext cx="3215291" cy="3165617"/>
            <a:chOff x="1012210" y="1750029"/>
            <a:chExt cx="3215291" cy="3165617"/>
          </a:xfrm>
        </p:grpSpPr>
        <p:pic>
          <p:nvPicPr>
            <p:cNvPr id="2137" name="Google Shape;2137;p95"/>
            <p:cNvPicPr preferRelativeResize="0"/>
            <p:nvPr/>
          </p:nvPicPr>
          <p:blipFill>
            <a:blip r:embed="rId3">
              <a:alphaModFix/>
            </a:blip>
            <a:stretch>
              <a:fillRect/>
            </a:stretch>
          </p:blipFill>
          <p:spPr>
            <a:xfrm>
              <a:off x="1877501" y="1750029"/>
              <a:ext cx="232954" cy="393601"/>
            </a:xfrm>
            <a:prstGeom prst="rect">
              <a:avLst/>
            </a:prstGeom>
            <a:noFill/>
            <a:ln>
              <a:noFill/>
            </a:ln>
          </p:spPr>
        </p:pic>
        <p:pic>
          <p:nvPicPr>
            <p:cNvPr id="2138" name="Google Shape;2138;p95"/>
            <p:cNvPicPr preferRelativeResize="0"/>
            <p:nvPr/>
          </p:nvPicPr>
          <p:blipFill>
            <a:blip r:embed="rId3">
              <a:alphaModFix/>
            </a:blip>
            <a:stretch>
              <a:fillRect/>
            </a:stretch>
          </p:blipFill>
          <p:spPr>
            <a:xfrm>
              <a:off x="3135707" y="2143625"/>
              <a:ext cx="232954" cy="393601"/>
            </a:xfrm>
            <a:prstGeom prst="rect">
              <a:avLst/>
            </a:prstGeom>
            <a:noFill/>
            <a:ln>
              <a:noFill/>
            </a:ln>
          </p:spPr>
        </p:pic>
        <p:pic>
          <p:nvPicPr>
            <p:cNvPr id="2139" name="Google Shape;2139;p95"/>
            <p:cNvPicPr preferRelativeResize="0"/>
            <p:nvPr/>
          </p:nvPicPr>
          <p:blipFill>
            <a:blip r:embed="rId3">
              <a:alphaModFix/>
            </a:blip>
            <a:stretch>
              <a:fillRect/>
            </a:stretch>
          </p:blipFill>
          <p:spPr>
            <a:xfrm>
              <a:off x="3994547" y="2544118"/>
              <a:ext cx="232954" cy="393601"/>
            </a:xfrm>
            <a:prstGeom prst="rect">
              <a:avLst/>
            </a:prstGeom>
            <a:noFill/>
            <a:ln>
              <a:noFill/>
            </a:ln>
          </p:spPr>
        </p:pic>
        <p:pic>
          <p:nvPicPr>
            <p:cNvPr id="2140" name="Google Shape;2140;p95"/>
            <p:cNvPicPr preferRelativeResize="0"/>
            <p:nvPr/>
          </p:nvPicPr>
          <p:blipFill>
            <a:blip r:embed="rId3">
              <a:alphaModFix/>
            </a:blip>
            <a:stretch>
              <a:fillRect/>
            </a:stretch>
          </p:blipFill>
          <p:spPr>
            <a:xfrm>
              <a:off x="1012210" y="2937728"/>
              <a:ext cx="232954" cy="393601"/>
            </a:xfrm>
            <a:prstGeom prst="rect">
              <a:avLst/>
            </a:prstGeom>
            <a:noFill/>
            <a:ln>
              <a:noFill/>
            </a:ln>
          </p:spPr>
        </p:pic>
        <p:pic>
          <p:nvPicPr>
            <p:cNvPr id="2141" name="Google Shape;2141;p95"/>
            <p:cNvPicPr preferRelativeResize="0"/>
            <p:nvPr/>
          </p:nvPicPr>
          <p:blipFill>
            <a:blip r:embed="rId3">
              <a:alphaModFix/>
            </a:blip>
            <a:stretch>
              <a:fillRect/>
            </a:stretch>
          </p:blipFill>
          <p:spPr>
            <a:xfrm>
              <a:off x="2707886" y="4127274"/>
              <a:ext cx="232954" cy="393601"/>
            </a:xfrm>
            <a:prstGeom prst="rect">
              <a:avLst/>
            </a:prstGeom>
            <a:noFill/>
            <a:ln>
              <a:noFill/>
            </a:ln>
          </p:spPr>
        </p:pic>
        <p:pic>
          <p:nvPicPr>
            <p:cNvPr id="2142" name="Google Shape;2142;p95"/>
            <p:cNvPicPr preferRelativeResize="0"/>
            <p:nvPr/>
          </p:nvPicPr>
          <p:blipFill>
            <a:blip r:embed="rId3">
              <a:alphaModFix/>
            </a:blip>
            <a:stretch>
              <a:fillRect/>
            </a:stretch>
          </p:blipFill>
          <p:spPr>
            <a:xfrm>
              <a:off x="2284167" y="3330230"/>
              <a:ext cx="232954" cy="393601"/>
            </a:xfrm>
            <a:prstGeom prst="rect">
              <a:avLst/>
            </a:prstGeom>
            <a:noFill/>
            <a:ln>
              <a:noFill/>
            </a:ln>
          </p:spPr>
        </p:pic>
        <p:pic>
          <p:nvPicPr>
            <p:cNvPr id="2143" name="Google Shape;2143;p95"/>
            <p:cNvPicPr preferRelativeResize="0"/>
            <p:nvPr/>
          </p:nvPicPr>
          <p:blipFill>
            <a:blip r:embed="rId3">
              <a:alphaModFix/>
            </a:blip>
            <a:stretch>
              <a:fillRect/>
            </a:stretch>
          </p:blipFill>
          <p:spPr>
            <a:xfrm>
              <a:off x="3558928" y="3745641"/>
              <a:ext cx="232954" cy="393601"/>
            </a:xfrm>
            <a:prstGeom prst="rect">
              <a:avLst/>
            </a:prstGeom>
            <a:noFill/>
            <a:ln>
              <a:noFill/>
            </a:ln>
          </p:spPr>
        </p:pic>
        <p:pic>
          <p:nvPicPr>
            <p:cNvPr id="2144" name="Google Shape;2144;p95"/>
            <p:cNvPicPr preferRelativeResize="0"/>
            <p:nvPr/>
          </p:nvPicPr>
          <p:blipFill>
            <a:blip r:embed="rId3">
              <a:alphaModFix/>
            </a:blip>
            <a:stretch>
              <a:fillRect/>
            </a:stretch>
          </p:blipFill>
          <p:spPr>
            <a:xfrm>
              <a:off x="1440028" y="4522045"/>
              <a:ext cx="232954" cy="393601"/>
            </a:xfrm>
            <a:prstGeom prst="rect">
              <a:avLst/>
            </a:prstGeom>
            <a:noFill/>
            <a:ln>
              <a:noFill/>
            </a:ln>
          </p:spPr>
        </p:pic>
      </p:grpSp>
      <p:sp>
        <p:nvSpPr>
          <p:cNvPr id="2145" name="Google Shape;2145;p95"/>
          <p:cNvSpPr txBox="1"/>
          <p:nvPr/>
        </p:nvSpPr>
        <p:spPr>
          <a:xfrm>
            <a:off x="5093650" y="1750026"/>
            <a:ext cx="3599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There </a:t>
            </a:r>
            <a:r>
              <a:rPr b="1" i="1" lang="en" sz="1200">
                <a:solidFill>
                  <a:srgbClr val="FF0000"/>
                </a:solidFill>
              </a:rPr>
              <a:t>is</a:t>
            </a:r>
            <a:r>
              <a:rPr lang="en" sz="1200"/>
              <a:t> a valid solution for the 8-Queens Problem.</a:t>
            </a:r>
            <a:endParaRPr sz="1200"/>
          </a:p>
        </p:txBody>
      </p:sp>
      <p:sp>
        <p:nvSpPr>
          <p:cNvPr id="2146" name="Google Shape;2146;p95"/>
          <p:cNvSpPr txBox="1"/>
          <p:nvPr/>
        </p:nvSpPr>
        <p:spPr>
          <a:xfrm>
            <a:off x="5093650" y="2435826"/>
            <a:ext cx="35991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There are actually </a:t>
            </a:r>
            <a:r>
              <a:rPr b="1" i="1" lang="en" sz="1200">
                <a:solidFill>
                  <a:srgbClr val="FF0000"/>
                </a:solidFill>
              </a:rPr>
              <a:t>lots</a:t>
            </a:r>
            <a:r>
              <a:rPr lang="en" sz="1200">
                <a:solidFill>
                  <a:srgbClr val="FF0000"/>
                </a:solidFill>
              </a:rPr>
              <a:t> </a:t>
            </a:r>
            <a:r>
              <a:rPr lang="en" sz="1200"/>
              <a:t>of solutions.</a:t>
            </a:r>
            <a:endParaRPr sz="1200"/>
          </a:p>
        </p:txBody>
      </p:sp>
      <p:sp>
        <p:nvSpPr>
          <p:cNvPr id="2147" name="Google Shape;2147;p95"/>
          <p:cNvSpPr txBox="1"/>
          <p:nvPr/>
        </p:nvSpPr>
        <p:spPr>
          <a:xfrm>
            <a:off x="5093650" y="2962341"/>
            <a:ext cx="35991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Today we are going to design an algorithm capable of solving the </a:t>
            </a:r>
            <a:r>
              <a:rPr b="1" i="1" lang="en" sz="1200">
                <a:solidFill>
                  <a:srgbClr val="FF0000"/>
                </a:solidFill>
              </a:rPr>
              <a:t>N-Queens</a:t>
            </a:r>
            <a:r>
              <a:rPr lang="en" sz="1200"/>
              <a:t> problem: placing </a:t>
            </a:r>
            <a:r>
              <a:rPr b="1" i="1" lang="en" sz="1200">
                <a:solidFill>
                  <a:srgbClr val="FF0000"/>
                </a:solidFill>
              </a:rPr>
              <a:t>N</a:t>
            </a:r>
            <a:r>
              <a:rPr lang="en" sz="1200"/>
              <a:t> queens on an </a:t>
            </a:r>
            <a:r>
              <a:rPr b="1" i="1" lang="en" sz="1200">
                <a:solidFill>
                  <a:srgbClr val="FF0000"/>
                </a:solidFill>
              </a:rPr>
              <a:t>N*N</a:t>
            </a:r>
            <a:r>
              <a:rPr lang="en" sz="1200">
                <a:solidFill>
                  <a:srgbClr val="FF0000"/>
                </a:solidFill>
              </a:rPr>
              <a:t> </a:t>
            </a:r>
            <a:r>
              <a:rPr lang="en" sz="1200"/>
              <a:t>chessboard.</a:t>
            </a:r>
            <a:endParaRPr sz="1200"/>
          </a:p>
        </p:txBody>
      </p:sp>
      <p:sp>
        <p:nvSpPr>
          <p:cNvPr id="2148" name="Google Shape;2148;p95"/>
          <p:cNvSpPr txBox="1"/>
          <p:nvPr/>
        </p:nvSpPr>
        <p:spPr>
          <a:xfrm>
            <a:off x="5093650" y="3800541"/>
            <a:ext cx="3599100" cy="369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i="1" lang="en" sz="1200"/>
              <a:t>(we should be able to find solutions for any </a:t>
            </a:r>
            <a:r>
              <a:rPr b="1" i="1" lang="en" sz="1200">
                <a:solidFill>
                  <a:srgbClr val="FF0000"/>
                </a:solidFill>
              </a:rPr>
              <a:t>N&gt;3</a:t>
            </a:r>
            <a:r>
              <a:rPr i="1" lang="en" sz="1200"/>
              <a:t>)</a:t>
            </a:r>
            <a:endParaRPr i="1"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5"/>
                                        </p:tgtEl>
                                        <p:attrNameLst>
                                          <p:attrName>style.visibility</p:attrName>
                                        </p:attrNameLst>
                                      </p:cBhvr>
                                      <p:to>
                                        <p:strVal val="visible"/>
                                      </p:to>
                                    </p:set>
                                    <p:animEffect filter="fade" transition="in">
                                      <p:cBhvr>
                                        <p:cTn dur="1000"/>
                                        <p:tgtEl>
                                          <p:spTgt spid="21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36"/>
                                        </p:tgtEl>
                                        <p:attrNameLst>
                                          <p:attrName>style.visibility</p:attrName>
                                        </p:attrNameLst>
                                      </p:cBhvr>
                                      <p:to>
                                        <p:strVal val="visible"/>
                                      </p:to>
                                    </p:set>
                                    <p:animEffect filter="fade" transition="in">
                                      <p:cBhvr>
                                        <p:cTn dur="1000"/>
                                        <p:tgtEl>
                                          <p:spTgt spid="2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6"/>
                                        </p:tgtEl>
                                        <p:attrNameLst>
                                          <p:attrName>style.visibility</p:attrName>
                                        </p:attrNameLst>
                                      </p:cBhvr>
                                      <p:to>
                                        <p:strVal val="visible"/>
                                      </p:to>
                                    </p:set>
                                    <p:animEffect filter="fade" transition="in">
                                      <p:cBhvr>
                                        <p:cTn dur="1000"/>
                                        <p:tgtEl>
                                          <p:spTgt spid="2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7"/>
                                        </p:tgtEl>
                                        <p:attrNameLst>
                                          <p:attrName>style.visibility</p:attrName>
                                        </p:attrNameLst>
                                      </p:cBhvr>
                                      <p:to>
                                        <p:strVal val="visible"/>
                                      </p:to>
                                    </p:set>
                                    <p:animEffect filter="fade" transition="in">
                                      <p:cBhvr>
                                        <p:cTn dur="1000"/>
                                        <p:tgtEl>
                                          <p:spTgt spid="2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8"/>
                                        </p:tgtEl>
                                        <p:attrNameLst>
                                          <p:attrName>style.visibility</p:attrName>
                                        </p:attrNameLst>
                                      </p:cBhvr>
                                      <p:to>
                                        <p:strVal val="visible"/>
                                      </p:to>
                                    </p:set>
                                    <p:animEffect filter="fade" transition="in">
                                      <p:cBhvr>
                                        <p:cTn dur="1000"/>
                                        <p:tgtEl>
                                          <p:spTgt spid="2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2" name="Shape 2152"/>
        <p:cNvGrpSpPr/>
        <p:nvPr/>
      </p:nvGrpSpPr>
      <p:grpSpPr>
        <a:xfrm>
          <a:off x="0" y="0"/>
          <a:ext cx="0" cy="0"/>
          <a:chOff x="0" y="0"/>
          <a:chExt cx="0" cy="0"/>
        </a:xfrm>
      </p:grpSpPr>
      <p:sp>
        <p:nvSpPr>
          <p:cNvPr id="2153" name="Google Shape;2153;p9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It's Good to be the Queen</a:t>
            </a:r>
            <a:endParaRPr/>
          </a:p>
        </p:txBody>
      </p:sp>
      <p:sp>
        <p:nvSpPr>
          <p:cNvPr id="2154" name="Google Shape;2154;p9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Not surprisingly, the core of the N-Queens problem is the </a:t>
            </a:r>
            <a:r>
              <a:rPr lang="en">
                <a:latin typeface="Courier New"/>
                <a:ea typeface="Courier New"/>
                <a:cs typeface="Courier New"/>
                <a:sym typeface="Courier New"/>
              </a:rPr>
              <a:t>Queen</a:t>
            </a:r>
            <a:r>
              <a:rPr lang="en"/>
              <a:t> class. Take a few moments to examine the code and ask any questions that you may have about the class. </a:t>
            </a:r>
            <a:endParaRPr/>
          </a:p>
        </p:txBody>
      </p:sp>
      <p:sp>
        <p:nvSpPr>
          <p:cNvPr id="2155" name="Google Shape;2155;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6" name="Google Shape;2156;p9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.26</a:t>
            </a:r>
            <a:endParaRPr/>
          </a:p>
        </p:txBody>
      </p:sp>
      <p:pic>
        <p:nvPicPr>
          <p:cNvPr id="2157" name="Google Shape;2157;p96"/>
          <p:cNvPicPr preferRelativeResize="0"/>
          <p:nvPr/>
        </p:nvPicPr>
        <p:blipFill>
          <a:blip r:embed="rId3">
            <a:alphaModFix/>
          </a:blip>
          <a:stretch>
            <a:fillRect/>
          </a:stretch>
        </p:blipFill>
        <p:spPr>
          <a:xfrm>
            <a:off x="615300" y="2207202"/>
            <a:ext cx="1462525" cy="2471099"/>
          </a:xfrm>
          <a:prstGeom prst="rect">
            <a:avLst/>
          </a:prstGeom>
          <a:noFill/>
          <a:ln>
            <a:noFill/>
          </a:ln>
        </p:spPr>
      </p:pic>
      <p:sp>
        <p:nvSpPr>
          <p:cNvPr id="2158" name="Google Shape;2158;p96"/>
          <p:cNvSpPr/>
          <p:nvPr/>
        </p:nvSpPr>
        <p:spPr>
          <a:xfrm>
            <a:off x="531600" y="1619325"/>
            <a:ext cx="1501200" cy="588000"/>
          </a:xfrm>
          <a:prstGeom prst="wedgeRoundRectCallout">
            <a:avLst>
              <a:gd fmla="val -5509" name="adj1"/>
              <a:gd fmla="val 7295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We are </a:t>
            </a:r>
            <a:r>
              <a:rPr i="1" lang="en"/>
              <a:t>not</a:t>
            </a:r>
            <a:r>
              <a:rPr lang="en"/>
              <a:t> amused.</a:t>
            </a:r>
            <a:endParaRPr/>
          </a:p>
        </p:txBody>
      </p:sp>
      <p:sp>
        <p:nvSpPr>
          <p:cNvPr id="2159" name="Google Shape;2159;p96"/>
          <p:cNvSpPr txBox="1"/>
          <p:nvPr>
            <p:ph idx="2" type="body"/>
          </p:nvPr>
        </p:nvSpPr>
        <p:spPr>
          <a:xfrm>
            <a:off x="2650350" y="1568725"/>
            <a:ext cx="6028800" cy="25551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the "</a:t>
            </a:r>
            <a:r>
              <a:rPr lang="en" sz="1600">
                <a:solidFill>
                  <a:srgbClr val="FF0000"/>
                </a:solidFill>
                <a:latin typeface="Courier New"/>
                <a:ea typeface="Courier New"/>
                <a:cs typeface="Courier New"/>
                <a:sym typeface="Courier New"/>
              </a:rPr>
              <a:t>queens.model.Queen</a:t>
            </a:r>
            <a:r>
              <a:rPr lang="en" sz="1600"/>
              <a:t>" class and examine the code inside.</a:t>
            </a:r>
            <a:endParaRPr sz="1600"/>
          </a:p>
          <a:p>
            <a:pPr indent="-317500" lvl="1" marL="914400" rtl="0" algn="l">
              <a:spcBef>
                <a:spcPts val="0"/>
              </a:spcBef>
              <a:spcAft>
                <a:spcPts val="0"/>
              </a:spcAft>
              <a:buSzPts val="1400"/>
              <a:buChar char="○"/>
            </a:pPr>
            <a:r>
              <a:rPr lang="en" sz="1400"/>
              <a:t>You will see that a </a:t>
            </a:r>
            <a:r>
              <a:rPr lang="en" sz="1400">
                <a:latin typeface="Courier New"/>
                <a:ea typeface="Courier New"/>
                <a:cs typeface="Courier New"/>
                <a:sym typeface="Courier New"/>
              </a:rPr>
              <a:t>Queen</a:t>
            </a:r>
            <a:r>
              <a:rPr lang="en" sz="1400"/>
              <a:t> is essentially a row, column location on the board and a few utility functions.</a:t>
            </a:r>
            <a:endParaRPr sz="1400"/>
          </a:p>
          <a:p>
            <a:pPr indent="-317500" lvl="1" marL="914400" rtl="0" algn="l">
              <a:spcBef>
                <a:spcPts val="0"/>
              </a:spcBef>
              <a:spcAft>
                <a:spcPts val="0"/>
              </a:spcAft>
              <a:buSzPts val="1400"/>
              <a:buChar char="○"/>
            </a:pPr>
            <a:r>
              <a:rPr lang="en" sz="1400"/>
              <a:t>You should also note that instances of the class can be used in hashing data structures.</a:t>
            </a:r>
            <a:endParaRPr sz="1400"/>
          </a:p>
          <a:p>
            <a:pPr indent="-330200" lvl="0" marL="457200" rtl="0" algn="l">
              <a:spcBef>
                <a:spcPts val="0"/>
              </a:spcBef>
              <a:spcAft>
                <a:spcPts val="0"/>
              </a:spcAft>
              <a:buSzPts val="1600"/>
              <a:buChar char="●"/>
            </a:pPr>
            <a:r>
              <a:rPr lang="en" sz="1600"/>
              <a:t>You will need to have a good understanding of the </a:t>
            </a:r>
            <a:r>
              <a:rPr lang="en" sz="1600">
                <a:latin typeface="Courier New"/>
                <a:ea typeface="Courier New"/>
                <a:cs typeface="Courier New"/>
                <a:sym typeface="Courier New"/>
              </a:rPr>
              <a:t>Queen</a:t>
            </a:r>
            <a:r>
              <a:rPr lang="en" sz="1600"/>
              <a:t> class in order to use it to implement your backtracking algorithm. If you have any questions, now is the time to ask!</a:t>
            </a:r>
            <a:endParaRPr sz="16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3" name="Shape 2163"/>
        <p:cNvGrpSpPr/>
        <p:nvPr/>
      </p:nvGrpSpPr>
      <p:grpSpPr>
        <a:xfrm>
          <a:off x="0" y="0"/>
          <a:ext cx="0" cy="0"/>
          <a:chOff x="0" y="0"/>
          <a:chExt cx="0" cy="0"/>
        </a:xfrm>
      </p:grpSpPr>
      <p:sp>
        <p:nvSpPr>
          <p:cNvPr id="2164" name="Google Shape;2164;p97"/>
          <p:cNvSpPr txBox="1"/>
          <p:nvPr/>
        </p:nvSpPr>
        <p:spPr>
          <a:xfrm>
            <a:off x="6461832" y="3969246"/>
            <a:ext cx="24579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the</a:t>
            </a:r>
            <a:r>
              <a:rPr lang="en" sz="1200">
                <a:solidFill>
                  <a:srgbClr val="FF0000"/>
                </a:solidFill>
              </a:rPr>
              <a:t> </a:t>
            </a:r>
            <a:r>
              <a:rPr b="1" i="1" lang="en" sz="1200">
                <a:solidFill>
                  <a:srgbClr val="FF0000"/>
                </a:solidFill>
              </a:rPr>
              <a:t>N-Queens</a:t>
            </a:r>
            <a:r>
              <a:rPr lang="en" sz="1200">
                <a:solidFill>
                  <a:srgbClr val="FF0000"/>
                </a:solidFill>
              </a:rPr>
              <a:t> </a:t>
            </a:r>
            <a:r>
              <a:rPr lang="en" sz="1200"/>
              <a:t>problem this means</a:t>
            </a:r>
            <a:r>
              <a:rPr lang="en" sz="1200">
                <a:solidFill>
                  <a:srgbClr val="FF0000"/>
                </a:solidFill>
              </a:rPr>
              <a:t> </a:t>
            </a:r>
            <a:r>
              <a:rPr b="1" i="1" lang="en" sz="1200">
                <a:solidFill>
                  <a:srgbClr val="FF0000"/>
                </a:solidFill>
              </a:rPr>
              <a:t>N</a:t>
            </a:r>
            <a:r>
              <a:rPr lang="en" sz="1200">
                <a:solidFill>
                  <a:srgbClr val="FF0000"/>
                </a:solidFill>
              </a:rPr>
              <a:t> </a:t>
            </a:r>
            <a:r>
              <a:rPr lang="en" sz="1200"/>
              <a:t>queens have been placed and </a:t>
            </a:r>
            <a:r>
              <a:rPr b="1" i="1" lang="en" sz="1200">
                <a:solidFill>
                  <a:srgbClr val="FF0000"/>
                </a:solidFill>
              </a:rPr>
              <a:t>no two</a:t>
            </a:r>
            <a:r>
              <a:rPr lang="en" sz="1200">
                <a:solidFill>
                  <a:srgbClr val="FF0000"/>
                </a:solidFill>
              </a:rPr>
              <a:t> </a:t>
            </a:r>
            <a:r>
              <a:rPr lang="en" sz="1200"/>
              <a:t>can attack each other.</a:t>
            </a:r>
            <a:endParaRPr sz="1200"/>
          </a:p>
        </p:txBody>
      </p:sp>
      <p:sp>
        <p:nvSpPr>
          <p:cNvPr id="2165" name="Google Shape;2165;p97"/>
          <p:cNvSpPr txBox="1"/>
          <p:nvPr>
            <p:ph type="title"/>
          </p:nvPr>
        </p:nvSpPr>
        <p:spPr>
          <a:xfrm>
            <a:off x="311725" y="1961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Backtracking Vocabulary</a:t>
            </a:r>
            <a:endParaRPr sz="2900"/>
          </a:p>
        </p:txBody>
      </p:sp>
      <p:sp>
        <p:nvSpPr>
          <p:cNvPr id="2166" name="Google Shape;2166;p97"/>
          <p:cNvSpPr txBox="1"/>
          <p:nvPr>
            <p:ph idx="12" type="sldNum"/>
          </p:nvPr>
        </p:nvSpPr>
        <p:spPr>
          <a:xfrm>
            <a:off x="8605600" y="4886222"/>
            <a:ext cx="548700" cy="246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67" name="Google Shape;2167;p97"/>
          <p:cNvSpPr txBox="1"/>
          <p:nvPr/>
        </p:nvSpPr>
        <p:spPr>
          <a:xfrm>
            <a:off x="181325" y="1448225"/>
            <a:ext cx="24579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a:t>
            </a:r>
            <a:r>
              <a:rPr b="1" i="1" lang="en" sz="1200">
                <a:solidFill>
                  <a:srgbClr val="FF0000"/>
                </a:solidFill>
              </a:rPr>
              <a:t>configuration</a:t>
            </a:r>
            <a:r>
              <a:rPr lang="en" sz="1200">
                <a:solidFill>
                  <a:srgbClr val="FF0000"/>
                </a:solidFill>
              </a:rPr>
              <a:t> </a:t>
            </a:r>
            <a:r>
              <a:rPr lang="en" sz="1200"/>
              <a:t>is an attempted solution at any stage.</a:t>
            </a:r>
            <a:endParaRPr b="1" i="1" sz="1200"/>
          </a:p>
        </p:txBody>
      </p:sp>
      <p:graphicFrame>
        <p:nvGraphicFramePr>
          <p:cNvPr id="2168" name="Google Shape;2168;p97"/>
          <p:cNvGraphicFramePr/>
          <p:nvPr/>
        </p:nvGraphicFramePr>
        <p:xfrm>
          <a:off x="2796875" y="1480332"/>
          <a:ext cx="3000000" cy="3000000"/>
        </p:xfrm>
        <a:graphic>
          <a:graphicData uri="http://schemas.openxmlformats.org/drawingml/2006/table">
            <a:tbl>
              <a:tblPr>
                <a:noFill/>
                <a:tableStyleId>{89CCAE03-A2B2-4379-B0C2-E101A7E113D6}</a:tableStyleId>
              </a:tblPr>
              <a:tblGrid>
                <a:gridCol w="382850"/>
                <a:gridCol w="382850"/>
                <a:gridCol w="382850"/>
                <a:gridCol w="382850"/>
              </a:tblGrid>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sp>
        <p:nvSpPr>
          <p:cNvPr id="2169" name="Google Shape;2169;p97"/>
          <p:cNvSpPr txBox="1"/>
          <p:nvPr/>
        </p:nvSpPr>
        <p:spPr>
          <a:xfrm>
            <a:off x="181325" y="2134025"/>
            <a:ext cx="2457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the </a:t>
            </a:r>
            <a:r>
              <a:rPr b="1" i="1" lang="en" sz="1200">
                <a:solidFill>
                  <a:srgbClr val="FF0000"/>
                </a:solidFill>
              </a:rPr>
              <a:t>N-Queens</a:t>
            </a:r>
            <a:r>
              <a:rPr lang="en" sz="1200"/>
              <a:t> problem this would be a chessboard with </a:t>
            </a:r>
            <a:r>
              <a:rPr b="1" i="1" lang="en" sz="1200">
                <a:solidFill>
                  <a:srgbClr val="FF0000"/>
                </a:solidFill>
              </a:rPr>
              <a:t>0 or</a:t>
            </a:r>
            <a:r>
              <a:rPr b="1" i="1" lang="en" sz="1200"/>
              <a:t> </a:t>
            </a:r>
            <a:r>
              <a:rPr b="1" i="1" lang="en" sz="1200">
                <a:solidFill>
                  <a:srgbClr val="FF0000"/>
                </a:solidFill>
              </a:rPr>
              <a:t>more</a:t>
            </a:r>
            <a:r>
              <a:rPr lang="en" sz="1200">
                <a:solidFill>
                  <a:srgbClr val="FF0000"/>
                </a:solidFill>
              </a:rPr>
              <a:t> </a:t>
            </a:r>
            <a:r>
              <a:rPr lang="en" sz="1200"/>
              <a:t>queens placed on it.</a:t>
            </a:r>
            <a:endParaRPr sz="1200"/>
          </a:p>
        </p:txBody>
      </p:sp>
      <p:pic>
        <p:nvPicPr>
          <p:cNvPr id="2170" name="Google Shape;2170;p97"/>
          <p:cNvPicPr preferRelativeResize="0"/>
          <p:nvPr/>
        </p:nvPicPr>
        <p:blipFill>
          <a:blip r:embed="rId3">
            <a:alphaModFix/>
          </a:blip>
          <a:stretch>
            <a:fillRect/>
          </a:stretch>
        </p:blipFill>
        <p:spPr>
          <a:xfrm>
            <a:off x="2900189" y="1480326"/>
            <a:ext cx="200339" cy="338501"/>
          </a:xfrm>
          <a:prstGeom prst="rect">
            <a:avLst/>
          </a:prstGeom>
          <a:noFill/>
          <a:ln>
            <a:noFill/>
          </a:ln>
        </p:spPr>
      </p:pic>
      <p:sp>
        <p:nvSpPr>
          <p:cNvPr id="2171" name="Google Shape;2171;p97"/>
          <p:cNvSpPr txBox="1"/>
          <p:nvPr/>
        </p:nvSpPr>
        <p:spPr>
          <a:xfrm>
            <a:off x="181325" y="3124625"/>
            <a:ext cx="2457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a:t>
            </a:r>
            <a:r>
              <a:rPr b="1" i="1" lang="en" sz="1200">
                <a:solidFill>
                  <a:srgbClr val="FF0000"/>
                </a:solidFill>
              </a:rPr>
              <a:t>successor</a:t>
            </a:r>
            <a:r>
              <a:rPr lang="en" sz="1200">
                <a:solidFill>
                  <a:srgbClr val="FF0000"/>
                </a:solidFill>
              </a:rPr>
              <a:t> </a:t>
            </a:r>
            <a:r>
              <a:rPr lang="en" sz="1200"/>
              <a:t>configuration is one where one of the </a:t>
            </a:r>
            <a:r>
              <a:rPr b="1" i="1" lang="en" sz="1200">
                <a:solidFill>
                  <a:srgbClr val="FF0000"/>
                </a:solidFill>
              </a:rPr>
              <a:t>possible next choices</a:t>
            </a:r>
            <a:r>
              <a:rPr lang="en" sz="1200"/>
              <a:t> has been made.</a:t>
            </a:r>
            <a:endParaRPr sz="1200"/>
          </a:p>
        </p:txBody>
      </p:sp>
      <p:graphicFrame>
        <p:nvGraphicFramePr>
          <p:cNvPr id="2172" name="Google Shape;2172;p97"/>
          <p:cNvGraphicFramePr/>
          <p:nvPr/>
        </p:nvGraphicFramePr>
        <p:xfrm>
          <a:off x="2796875" y="3359646"/>
          <a:ext cx="3000000" cy="3000000"/>
        </p:xfrm>
        <a:graphic>
          <a:graphicData uri="http://schemas.openxmlformats.org/drawingml/2006/table">
            <a:tbl>
              <a:tblPr>
                <a:noFill/>
                <a:tableStyleId>{89CCAE03-A2B2-4379-B0C2-E101A7E113D6}</a:tableStyleId>
              </a:tblPr>
              <a:tblGrid>
                <a:gridCol w="382850"/>
                <a:gridCol w="382850"/>
                <a:gridCol w="382850"/>
                <a:gridCol w="382850"/>
              </a:tblGrid>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sp>
        <p:nvSpPr>
          <p:cNvPr id="2173" name="Google Shape;2173;p97"/>
          <p:cNvSpPr txBox="1"/>
          <p:nvPr/>
        </p:nvSpPr>
        <p:spPr>
          <a:xfrm>
            <a:off x="181325" y="3962825"/>
            <a:ext cx="24579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the </a:t>
            </a:r>
            <a:r>
              <a:rPr b="1" i="1" lang="en" sz="1200">
                <a:solidFill>
                  <a:srgbClr val="FF0000"/>
                </a:solidFill>
              </a:rPr>
              <a:t>N-Queens</a:t>
            </a:r>
            <a:r>
              <a:rPr lang="en" sz="1200"/>
              <a:t> problem, this would mean that </a:t>
            </a:r>
            <a:r>
              <a:rPr b="1" i="1" lang="en" sz="1200">
                <a:solidFill>
                  <a:srgbClr val="FF0000"/>
                </a:solidFill>
              </a:rPr>
              <a:t>an additional queen</a:t>
            </a:r>
            <a:r>
              <a:rPr lang="en" sz="1200"/>
              <a:t> has been placed in an unoccupied square.</a:t>
            </a:r>
            <a:endParaRPr sz="1200"/>
          </a:p>
        </p:txBody>
      </p:sp>
      <p:grpSp>
        <p:nvGrpSpPr>
          <p:cNvPr id="2174" name="Google Shape;2174;p97"/>
          <p:cNvGrpSpPr/>
          <p:nvPr/>
        </p:nvGrpSpPr>
        <p:grpSpPr>
          <a:xfrm>
            <a:off x="2900189" y="3359640"/>
            <a:ext cx="949497" cy="675407"/>
            <a:chOff x="2900189" y="3359640"/>
            <a:chExt cx="949497" cy="675407"/>
          </a:xfrm>
        </p:grpSpPr>
        <p:pic>
          <p:nvPicPr>
            <p:cNvPr id="2175" name="Google Shape;2175;p97"/>
            <p:cNvPicPr preferRelativeResize="0"/>
            <p:nvPr/>
          </p:nvPicPr>
          <p:blipFill>
            <a:blip r:embed="rId3">
              <a:alphaModFix/>
            </a:blip>
            <a:stretch>
              <a:fillRect/>
            </a:stretch>
          </p:blipFill>
          <p:spPr>
            <a:xfrm>
              <a:off x="2900189" y="3359640"/>
              <a:ext cx="200339" cy="338501"/>
            </a:xfrm>
            <a:prstGeom prst="rect">
              <a:avLst/>
            </a:prstGeom>
            <a:noFill/>
            <a:ln>
              <a:noFill/>
            </a:ln>
          </p:spPr>
        </p:pic>
        <p:pic>
          <p:nvPicPr>
            <p:cNvPr id="2176" name="Google Shape;2176;p97"/>
            <p:cNvPicPr preferRelativeResize="0"/>
            <p:nvPr/>
          </p:nvPicPr>
          <p:blipFill>
            <a:blip r:embed="rId3">
              <a:alphaModFix/>
            </a:blip>
            <a:stretch>
              <a:fillRect/>
            </a:stretch>
          </p:blipFill>
          <p:spPr>
            <a:xfrm>
              <a:off x="3649346" y="3696547"/>
              <a:ext cx="200339" cy="338501"/>
            </a:xfrm>
            <a:prstGeom prst="rect">
              <a:avLst/>
            </a:prstGeom>
            <a:noFill/>
            <a:ln>
              <a:noFill/>
            </a:ln>
          </p:spPr>
        </p:pic>
      </p:grpSp>
      <p:graphicFrame>
        <p:nvGraphicFramePr>
          <p:cNvPr id="2177" name="Google Shape;2177;p97"/>
          <p:cNvGraphicFramePr/>
          <p:nvPr/>
        </p:nvGraphicFramePr>
        <p:xfrm>
          <a:off x="4778075" y="1480332"/>
          <a:ext cx="3000000" cy="3000000"/>
        </p:xfrm>
        <a:graphic>
          <a:graphicData uri="http://schemas.openxmlformats.org/drawingml/2006/table">
            <a:tbl>
              <a:tblPr>
                <a:noFill/>
                <a:tableStyleId>{89CCAE03-A2B2-4379-B0C2-E101A7E113D6}</a:tableStyleId>
              </a:tblPr>
              <a:tblGrid>
                <a:gridCol w="382850"/>
                <a:gridCol w="382850"/>
                <a:gridCol w="382850"/>
                <a:gridCol w="382850"/>
              </a:tblGrid>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sp>
        <p:nvSpPr>
          <p:cNvPr id="2178" name="Google Shape;2178;p97"/>
          <p:cNvSpPr txBox="1"/>
          <p:nvPr/>
        </p:nvSpPr>
        <p:spPr>
          <a:xfrm>
            <a:off x="6461832" y="1448225"/>
            <a:ext cx="2457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configuration is </a:t>
            </a:r>
            <a:r>
              <a:rPr b="1" i="1" lang="en" sz="1200">
                <a:solidFill>
                  <a:srgbClr val="FF0000"/>
                </a:solidFill>
              </a:rPr>
              <a:t>invalid</a:t>
            </a:r>
            <a:r>
              <a:rPr lang="en" sz="1200">
                <a:solidFill>
                  <a:srgbClr val="FF0000"/>
                </a:solidFill>
              </a:rPr>
              <a:t> </a:t>
            </a:r>
            <a:r>
              <a:rPr lang="en" sz="1200"/>
              <a:t>if it breaks the rules of the problem being solved. </a:t>
            </a:r>
            <a:endParaRPr sz="1200"/>
          </a:p>
        </p:txBody>
      </p:sp>
      <p:sp>
        <p:nvSpPr>
          <p:cNvPr id="2179" name="Google Shape;2179;p97"/>
          <p:cNvSpPr txBox="1"/>
          <p:nvPr/>
        </p:nvSpPr>
        <p:spPr>
          <a:xfrm>
            <a:off x="6461832" y="2286425"/>
            <a:ext cx="2457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the</a:t>
            </a:r>
            <a:r>
              <a:rPr lang="en" sz="1200">
                <a:solidFill>
                  <a:srgbClr val="FF0000"/>
                </a:solidFill>
              </a:rPr>
              <a:t> </a:t>
            </a:r>
            <a:r>
              <a:rPr b="1" i="1" lang="en" sz="1200">
                <a:solidFill>
                  <a:srgbClr val="FF0000"/>
                </a:solidFill>
              </a:rPr>
              <a:t>N-Queens</a:t>
            </a:r>
            <a:r>
              <a:rPr lang="en" sz="1200">
                <a:solidFill>
                  <a:srgbClr val="FF0000"/>
                </a:solidFill>
              </a:rPr>
              <a:t> </a:t>
            </a:r>
            <a:r>
              <a:rPr lang="en" sz="1200"/>
              <a:t>problem this would mean two queens can </a:t>
            </a:r>
            <a:r>
              <a:rPr b="1" i="1" lang="en" sz="1200">
                <a:solidFill>
                  <a:srgbClr val="FF0000"/>
                </a:solidFill>
              </a:rPr>
              <a:t>attack each other</a:t>
            </a:r>
            <a:r>
              <a:rPr lang="en" sz="1200"/>
              <a:t>.</a:t>
            </a:r>
            <a:endParaRPr sz="1200"/>
          </a:p>
        </p:txBody>
      </p:sp>
      <p:grpSp>
        <p:nvGrpSpPr>
          <p:cNvPr id="2180" name="Google Shape;2180;p97"/>
          <p:cNvGrpSpPr/>
          <p:nvPr/>
        </p:nvGrpSpPr>
        <p:grpSpPr>
          <a:xfrm>
            <a:off x="4874968" y="1480326"/>
            <a:ext cx="949497" cy="1348365"/>
            <a:chOff x="4874968" y="1480326"/>
            <a:chExt cx="949497" cy="1348365"/>
          </a:xfrm>
        </p:grpSpPr>
        <p:grpSp>
          <p:nvGrpSpPr>
            <p:cNvPr id="2181" name="Google Shape;2181;p97"/>
            <p:cNvGrpSpPr/>
            <p:nvPr/>
          </p:nvGrpSpPr>
          <p:grpSpPr>
            <a:xfrm>
              <a:off x="4874968" y="1480326"/>
              <a:ext cx="949497" cy="675407"/>
              <a:chOff x="2900189" y="3359640"/>
              <a:chExt cx="949497" cy="675407"/>
            </a:xfrm>
          </p:grpSpPr>
          <p:pic>
            <p:nvPicPr>
              <p:cNvPr id="2182" name="Google Shape;2182;p97"/>
              <p:cNvPicPr preferRelativeResize="0"/>
              <p:nvPr/>
            </p:nvPicPr>
            <p:blipFill>
              <a:blip r:embed="rId3">
                <a:alphaModFix/>
              </a:blip>
              <a:stretch>
                <a:fillRect/>
              </a:stretch>
            </p:blipFill>
            <p:spPr>
              <a:xfrm>
                <a:off x="2900189" y="3359640"/>
                <a:ext cx="200339" cy="338501"/>
              </a:xfrm>
              <a:prstGeom prst="rect">
                <a:avLst/>
              </a:prstGeom>
              <a:noFill/>
              <a:ln>
                <a:noFill/>
              </a:ln>
            </p:spPr>
          </p:pic>
          <p:pic>
            <p:nvPicPr>
              <p:cNvPr id="2183" name="Google Shape;2183;p97"/>
              <p:cNvPicPr preferRelativeResize="0"/>
              <p:nvPr/>
            </p:nvPicPr>
            <p:blipFill>
              <a:blip r:embed="rId3">
                <a:alphaModFix/>
              </a:blip>
              <a:stretch>
                <a:fillRect/>
              </a:stretch>
            </p:blipFill>
            <p:spPr>
              <a:xfrm>
                <a:off x="3649346" y="3696547"/>
                <a:ext cx="200339" cy="338501"/>
              </a:xfrm>
              <a:prstGeom prst="rect">
                <a:avLst/>
              </a:prstGeom>
              <a:noFill/>
              <a:ln>
                <a:noFill/>
              </a:ln>
            </p:spPr>
          </p:pic>
        </p:grpSp>
        <p:pic>
          <p:nvPicPr>
            <p:cNvPr id="2184" name="Google Shape;2184;p97"/>
            <p:cNvPicPr preferRelativeResize="0"/>
            <p:nvPr/>
          </p:nvPicPr>
          <p:blipFill>
            <a:blip r:embed="rId3">
              <a:alphaModFix/>
            </a:blip>
            <a:stretch>
              <a:fillRect/>
            </a:stretch>
          </p:blipFill>
          <p:spPr>
            <a:xfrm>
              <a:off x="4887810" y="2490190"/>
              <a:ext cx="200339" cy="338501"/>
            </a:xfrm>
            <a:prstGeom prst="rect">
              <a:avLst/>
            </a:prstGeom>
            <a:noFill/>
            <a:ln>
              <a:noFill/>
            </a:ln>
          </p:spPr>
        </p:pic>
        <p:cxnSp>
          <p:nvCxnSpPr>
            <p:cNvPr id="2185" name="Google Shape;2185;p97"/>
            <p:cNvCxnSpPr/>
            <p:nvPr/>
          </p:nvCxnSpPr>
          <p:spPr>
            <a:xfrm flipH="1" rot="10800000">
              <a:off x="5156421" y="2151429"/>
              <a:ext cx="391800" cy="333900"/>
            </a:xfrm>
            <a:prstGeom prst="straightConnector1">
              <a:avLst/>
            </a:prstGeom>
            <a:noFill/>
            <a:ln cap="flat" cmpd="sng" w="19050">
              <a:solidFill>
                <a:srgbClr val="FF0000"/>
              </a:solidFill>
              <a:prstDash val="solid"/>
              <a:round/>
              <a:headEnd len="med" w="med" type="stealth"/>
              <a:tailEnd len="med" w="med" type="stealth"/>
            </a:ln>
          </p:spPr>
        </p:cxnSp>
      </p:grpSp>
      <p:graphicFrame>
        <p:nvGraphicFramePr>
          <p:cNvPr id="2186" name="Google Shape;2186;p97"/>
          <p:cNvGraphicFramePr/>
          <p:nvPr/>
        </p:nvGraphicFramePr>
        <p:xfrm>
          <a:off x="4778075" y="3359646"/>
          <a:ext cx="3000000" cy="3000000"/>
        </p:xfrm>
        <a:graphic>
          <a:graphicData uri="http://schemas.openxmlformats.org/drawingml/2006/table">
            <a:tbl>
              <a:tblPr>
                <a:noFill/>
                <a:tableStyleId>{89CCAE03-A2B2-4379-B0C2-E101A7E113D6}</a:tableStyleId>
              </a:tblPr>
              <a:tblGrid>
                <a:gridCol w="382850"/>
                <a:gridCol w="382850"/>
                <a:gridCol w="382850"/>
                <a:gridCol w="382850"/>
              </a:tblGrid>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sp>
        <p:nvSpPr>
          <p:cNvPr id="2187" name="Google Shape;2187;p97"/>
          <p:cNvSpPr txBox="1"/>
          <p:nvPr/>
        </p:nvSpPr>
        <p:spPr>
          <a:xfrm>
            <a:off x="6461832" y="3327540"/>
            <a:ext cx="24579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configuration is the </a:t>
            </a:r>
            <a:r>
              <a:rPr b="1" i="1" lang="en" sz="1200">
                <a:solidFill>
                  <a:srgbClr val="FF0000"/>
                </a:solidFill>
              </a:rPr>
              <a:t>goal</a:t>
            </a:r>
            <a:r>
              <a:rPr lang="en" sz="1200">
                <a:solidFill>
                  <a:srgbClr val="FF0000"/>
                </a:solidFill>
              </a:rPr>
              <a:t> </a:t>
            </a:r>
            <a:r>
              <a:rPr lang="en" sz="1200"/>
              <a:t>if it is a valid solution to the problem.</a:t>
            </a:r>
            <a:endParaRPr sz="1200"/>
          </a:p>
        </p:txBody>
      </p:sp>
      <p:grpSp>
        <p:nvGrpSpPr>
          <p:cNvPr id="2188" name="Google Shape;2188;p97"/>
          <p:cNvGrpSpPr/>
          <p:nvPr/>
        </p:nvGrpSpPr>
        <p:grpSpPr>
          <a:xfrm>
            <a:off x="4874968" y="3359640"/>
            <a:ext cx="1362603" cy="1348365"/>
            <a:chOff x="4874968" y="3359640"/>
            <a:chExt cx="1362603" cy="1348365"/>
          </a:xfrm>
        </p:grpSpPr>
        <p:grpSp>
          <p:nvGrpSpPr>
            <p:cNvPr id="2189" name="Google Shape;2189;p97"/>
            <p:cNvGrpSpPr/>
            <p:nvPr/>
          </p:nvGrpSpPr>
          <p:grpSpPr>
            <a:xfrm>
              <a:off x="5268810" y="3359640"/>
              <a:ext cx="968761" cy="675407"/>
              <a:chOff x="3294032" y="3359640"/>
              <a:chExt cx="968761" cy="675407"/>
            </a:xfrm>
          </p:grpSpPr>
          <p:pic>
            <p:nvPicPr>
              <p:cNvPr id="2190" name="Google Shape;2190;p97"/>
              <p:cNvPicPr preferRelativeResize="0"/>
              <p:nvPr/>
            </p:nvPicPr>
            <p:blipFill>
              <a:blip r:embed="rId3">
                <a:alphaModFix/>
              </a:blip>
              <a:stretch>
                <a:fillRect/>
              </a:stretch>
            </p:blipFill>
            <p:spPr>
              <a:xfrm>
                <a:off x="3294032" y="3359640"/>
                <a:ext cx="200339" cy="338501"/>
              </a:xfrm>
              <a:prstGeom prst="rect">
                <a:avLst/>
              </a:prstGeom>
              <a:noFill/>
              <a:ln>
                <a:noFill/>
              </a:ln>
            </p:spPr>
          </p:pic>
          <p:pic>
            <p:nvPicPr>
              <p:cNvPr id="2191" name="Google Shape;2191;p97"/>
              <p:cNvPicPr preferRelativeResize="0"/>
              <p:nvPr/>
            </p:nvPicPr>
            <p:blipFill>
              <a:blip r:embed="rId3">
                <a:alphaModFix/>
              </a:blip>
              <a:stretch>
                <a:fillRect/>
              </a:stretch>
            </p:blipFill>
            <p:spPr>
              <a:xfrm>
                <a:off x="4062453" y="3696547"/>
                <a:ext cx="200339" cy="338501"/>
              </a:xfrm>
              <a:prstGeom prst="rect">
                <a:avLst/>
              </a:prstGeom>
              <a:noFill/>
              <a:ln>
                <a:noFill/>
              </a:ln>
            </p:spPr>
          </p:pic>
        </p:grpSp>
        <p:pic>
          <p:nvPicPr>
            <p:cNvPr id="2192" name="Google Shape;2192;p97"/>
            <p:cNvPicPr preferRelativeResize="0"/>
            <p:nvPr/>
          </p:nvPicPr>
          <p:blipFill>
            <a:blip r:embed="rId3">
              <a:alphaModFix/>
            </a:blip>
            <a:stretch>
              <a:fillRect/>
            </a:stretch>
          </p:blipFill>
          <p:spPr>
            <a:xfrm>
              <a:off x="5630546" y="4369504"/>
              <a:ext cx="200339" cy="338501"/>
            </a:xfrm>
            <a:prstGeom prst="rect">
              <a:avLst/>
            </a:prstGeom>
            <a:noFill/>
            <a:ln>
              <a:noFill/>
            </a:ln>
          </p:spPr>
        </p:pic>
        <p:pic>
          <p:nvPicPr>
            <p:cNvPr id="2193" name="Google Shape;2193;p97"/>
            <p:cNvPicPr preferRelativeResize="0"/>
            <p:nvPr/>
          </p:nvPicPr>
          <p:blipFill rotWithShape="1">
            <a:blip r:embed="rId3">
              <a:alphaModFix/>
            </a:blip>
            <a:srcRect b="-4060" l="0" r="0" t="4060"/>
            <a:stretch/>
          </p:blipFill>
          <p:spPr>
            <a:xfrm>
              <a:off x="4874968" y="4045440"/>
              <a:ext cx="200339" cy="338501"/>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7"/>
                                        </p:tgtEl>
                                        <p:attrNameLst>
                                          <p:attrName>style.visibility</p:attrName>
                                        </p:attrNameLst>
                                      </p:cBhvr>
                                      <p:to>
                                        <p:strVal val="visible"/>
                                      </p:to>
                                    </p:set>
                                    <p:animEffect filter="fade" transition="in">
                                      <p:cBhvr>
                                        <p:cTn dur="1000"/>
                                        <p:tgtEl>
                                          <p:spTgt spid="2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9"/>
                                        </p:tgtEl>
                                        <p:attrNameLst>
                                          <p:attrName>style.visibility</p:attrName>
                                        </p:attrNameLst>
                                      </p:cBhvr>
                                      <p:to>
                                        <p:strVal val="visible"/>
                                      </p:to>
                                    </p:set>
                                    <p:animEffect filter="fade" transition="in">
                                      <p:cBhvr>
                                        <p:cTn dur="1000"/>
                                        <p:tgtEl>
                                          <p:spTgt spid="21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68"/>
                                        </p:tgtEl>
                                        <p:attrNameLst>
                                          <p:attrName>style.visibility</p:attrName>
                                        </p:attrNameLst>
                                      </p:cBhvr>
                                      <p:to>
                                        <p:strVal val="visible"/>
                                      </p:to>
                                    </p:set>
                                    <p:animEffect filter="fade" transition="in">
                                      <p:cBhvr>
                                        <p:cTn dur="1000"/>
                                        <p:tgtEl>
                                          <p:spTgt spid="2168"/>
                                        </p:tgtEl>
                                      </p:cBhvr>
                                    </p:animEffect>
                                  </p:childTnLst>
                                </p:cTn>
                              </p:par>
                              <p:par>
                                <p:cTn fill="hold" nodeType="withEffect" presetClass="entr" presetID="10" presetSubtype="0">
                                  <p:stCondLst>
                                    <p:cond delay="0"/>
                                  </p:stCondLst>
                                  <p:childTnLst>
                                    <p:set>
                                      <p:cBhvr>
                                        <p:cTn dur="1" fill="hold">
                                          <p:stCondLst>
                                            <p:cond delay="0"/>
                                          </p:stCondLst>
                                        </p:cTn>
                                        <p:tgtEl>
                                          <p:spTgt spid="2170"/>
                                        </p:tgtEl>
                                        <p:attrNameLst>
                                          <p:attrName>style.visibility</p:attrName>
                                        </p:attrNameLst>
                                      </p:cBhvr>
                                      <p:to>
                                        <p:strVal val="visible"/>
                                      </p:to>
                                    </p:set>
                                    <p:animEffect filter="fade" transition="in">
                                      <p:cBhvr>
                                        <p:cTn dur="1000"/>
                                        <p:tgtEl>
                                          <p:spTgt spid="2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1"/>
                                        </p:tgtEl>
                                        <p:attrNameLst>
                                          <p:attrName>style.visibility</p:attrName>
                                        </p:attrNameLst>
                                      </p:cBhvr>
                                      <p:to>
                                        <p:strVal val="visible"/>
                                      </p:to>
                                    </p:set>
                                    <p:animEffect filter="fade" transition="in">
                                      <p:cBhvr>
                                        <p:cTn dur="1000"/>
                                        <p:tgtEl>
                                          <p:spTgt spid="2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3"/>
                                        </p:tgtEl>
                                        <p:attrNameLst>
                                          <p:attrName>style.visibility</p:attrName>
                                        </p:attrNameLst>
                                      </p:cBhvr>
                                      <p:to>
                                        <p:strVal val="visible"/>
                                      </p:to>
                                    </p:set>
                                    <p:animEffect filter="fade" transition="in">
                                      <p:cBhvr>
                                        <p:cTn dur="1000"/>
                                        <p:tgtEl>
                                          <p:spTgt spid="21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72"/>
                                        </p:tgtEl>
                                        <p:attrNameLst>
                                          <p:attrName>style.visibility</p:attrName>
                                        </p:attrNameLst>
                                      </p:cBhvr>
                                      <p:to>
                                        <p:strVal val="visible"/>
                                      </p:to>
                                    </p:set>
                                    <p:animEffect filter="fade" transition="in">
                                      <p:cBhvr>
                                        <p:cTn dur="1000"/>
                                        <p:tgtEl>
                                          <p:spTgt spid="2172"/>
                                        </p:tgtEl>
                                      </p:cBhvr>
                                    </p:animEffect>
                                  </p:childTnLst>
                                </p:cTn>
                              </p:par>
                              <p:par>
                                <p:cTn fill="hold" nodeType="withEffect" presetClass="entr" presetID="10" presetSubtype="0">
                                  <p:stCondLst>
                                    <p:cond delay="0"/>
                                  </p:stCondLst>
                                  <p:childTnLst>
                                    <p:set>
                                      <p:cBhvr>
                                        <p:cTn dur="1" fill="hold">
                                          <p:stCondLst>
                                            <p:cond delay="0"/>
                                          </p:stCondLst>
                                        </p:cTn>
                                        <p:tgtEl>
                                          <p:spTgt spid="2174"/>
                                        </p:tgtEl>
                                        <p:attrNameLst>
                                          <p:attrName>style.visibility</p:attrName>
                                        </p:attrNameLst>
                                      </p:cBhvr>
                                      <p:to>
                                        <p:strVal val="visible"/>
                                      </p:to>
                                    </p:set>
                                    <p:animEffect filter="fade" transition="in">
                                      <p:cBhvr>
                                        <p:cTn dur="1000"/>
                                        <p:tgtEl>
                                          <p:spTgt spid="2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8"/>
                                        </p:tgtEl>
                                        <p:attrNameLst>
                                          <p:attrName>style.visibility</p:attrName>
                                        </p:attrNameLst>
                                      </p:cBhvr>
                                      <p:to>
                                        <p:strVal val="visible"/>
                                      </p:to>
                                    </p:set>
                                    <p:animEffect filter="fade" transition="in">
                                      <p:cBhvr>
                                        <p:cTn dur="1000"/>
                                        <p:tgtEl>
                                          <p:spTgt spid="2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9"/>
                                        </p:tgtEl>
                                        <p:attrNameLst>
                                          <p:attrName>style.visibility</p:attrName>
                                        </p:attrNameLst>
                                      </p:cBhvr>
                                      <p:to>
                                        <p:strVal val="visible"/>
                                      </p:to>
                                    </p:set>
                                    <p:animEffect filter="fade" transition="in">
                                      <p:cBhvr>
                                        <p:cTn dur="1000"/>
                                        <p:tgtEl>
                                          <p:spTgt spid="21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77"/>
                                        </p:tgtEl>
                                        <p:attrNameLst>
                                          <p:attrName>style.visibility</p:attrName>
                                        </p:attrNameLst>
                                      </p:cBhvr>
                                      <p:to>
                                        <p:strVal val="visible"/>
                                      </p:to>
                                    </p:set>
                                    <p:animEffect filter="fade" transition="in">
                                      <p:cBhvr>
                                        <p:cTn dur="1000"/>
                                        <p:tgtEl>
                                          <p:spTgt spid="2177"/>
                                        </p:tgtEl>
                                      </p:cBhvr>
                                    </p:animEffect>
                                  </p:childTnLst>
                                </p:cTn>
                              </p:par>
                              <p:par>
                                <p:cTn fill="hold" nodeType="withEffect" presetClass="entr" presetID="10" presetSubtype="0">
                                  <p:stCondLst>
                                    <p:cond delay="0"/>
                                  </p:stCondLst>
                                  <p:childTnLst>
                                    <p:set>
                                      <p:cBhvr>
                                        <p:cTn dur="1" fill="hold">
                                          <p:stCondLst>
                                            <p:cond delay="0"/>
                                          </p:stCondLst>
                                        </p:cTn>
                                        <p:tgtEl>
                                          <p:spTgt spid="2180"/>
                                        </p:tgtEl>
                                        <p:attrNameLst>
                                          <p:attrName>style.visibility</p:attrName>
                                        </p:attrNameLst>
                                      </p:cBhvr>
                                      <p:to>
                                        <p:strVal val="visible"/>
                                      </p:to>
                                    </p:set>
                                    <p:animEffect filter="fade" transition="in">
                                      <p:cBhvr>
                                        <p:cTn dur="1000"/>
                                        <p:tgtEl>
                                          <p:spTgt spid="2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7"/>
                                        </p:tgtEl>
                                        <p:attrNameLst>
                                          <p:attrName>style.visibility</p:attrName>
                                        </p:attrNameLst>
                                      </p:cBhvr>
                                      <p:to>
                                        <p:strVal val="visible"/>
                                      </p:to>
                                    </p:set>
                                    <p:animEffect filter="fade" transition="in">
                                      <p:cBhvr>
                                        <p:cTn dur="1000"/>
                                        <p:tgtEl>
                                          <p:spTgt spid="2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4"/>
                                        </p:tgtEl>
                                        <p:attrNameLst>
                                          <p:attrName>style.visibility</p:attrName>
                                        </p:attrNameLst>
                                      </p:cBhvr>
                                      <p:to>
                                        <p:strVal val="visible"/>
                                      </p:to>
                                    </p:set>
                                    <p:animEffect filter="fade" transition="in">
                                      <p:cBhvr>
                                        <p:cTn dur="1000"/>
                                        <p:tgtEl>
                                          <p:spTgt spid="216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86"/>
                                        </p:tgtEl>
                                        <p:attrNameLst>
                                          <p:attrName>style.visibility</p:attrName>
                                        </p:attrNameLst>
                                      </p:cBhvr>
                                      <p:to>
                                        <p:strVal val="visible"/>
                                      </p:to>
                                    </p:set>
                                    <p:animEffect filter="fade" transition="in">
                                      <p:cBhvr>
                                        <p:cTn dur="1000"/>
                                        <p:tgtEl>
                                          <p:spTgt spid="2186"/>
                                        </p:tgtEl>
                                      </p:cBhvr>
                                    </p:animEffect>
                                  </p:childTnLst>
                                </p:cTn>
                              </p:par>
                              <p:par>
                                <p:cTn fill="hold" nodeType="withEffect" presetClass="entr" presetID="10" presetSubtype="0">
                                  <p:stCondLst>
                                    <p:cond delay="0"/>
                                  </p:stCondLst>
                                  <p:childTnLst>
                                    <p:set>
                                      <p:cBhvr>
                                        <p:cTn dur="1" fill="hold">
                                          <p:stCondLst>
                                            <p:cond delay="0"/>
                                          </p:stCondLst>
                                        </p:cTn>
                                        <p:tgtEl>
                                          <p:spTgt spid="2188"/>
                                        </p:tgtEl>
                                        <p:attrNameLst>
                                          <p:attrName>style.visibility</p:attrName>
                                        </p:attrNameLst>
                                      </p:cBhvr>
                                      <p:to>
                                        <p:strVal val="visible"/>
                                      </p:to>
                                    </p:set>
                                    <p:animEffect filter="fade" transition="in">
                                      <p:cBhvr>
                                        <p:cTn dur="1000"/>
                                        <p:tgtEl>
                                          <p:spTgt spid="2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98"/>
          <p:cNvSpPr txBox="1"/>
          <p:nvPr>
            <p:ph type="title"/>
          </p:nvPr>
        </p:nvSpPr>
        <p:spPr>
          <a:xfrm>
            <a:off x="5112325" y="119925"/>
            <a:ext cx="38709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Configuration Interface</a:t>
            </a:r>
            <a:endParaRPr/>
          </a:p>
        </p:txBody>
      </p:sp>
      <p:sp>
        <p:nvSpPr>
          <p:cNvPr id="2199" name="Google Shape;2199;p98"/>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200" name="Google Shape;2200;p98"/>
          <p:cNvSpPr txBox="1"/>
          <p:nvPr/>
        </p:nvSpPr>
        <p:spPr>
          <a:xfrm>
            <a:off x="4990373" y="1952600"/>
            <a:ext cx="4032900" cy="1279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36575" spcFirstLastPara="1" rIns="36575" wrap="square" tIns="91425">
            <a:spAutoFit/>
          </a:bodyPr>
          <a:lstStyle/>
          <a:p>
            <a:pPr indent="0" lvl="0" marL="0" rtl="0" algn="l">
              <a:lnSpc>
                <a:spcPct val="115000"/>
              </a:lnSpc>
              <a:spcBef>
                <a:spcPts val="0"/>
              </a:spcBef>
              <a:spcAft>
                <a:spcPts val="0"/>
              </a:spcAft>
              <a:buNone/>
            </a:pP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interface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Configuration&lt;C extends Configuration&lt;C&gt;&gt;</a:t>
            </a: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lnSpc>
                <a:spcPct val="115000"/>
              </a:lnSpc>
              <a:spcBef>
                <a:spcPts val="0"/>
              </a:spcBef>
              <a:spcAft>
                <a:spcPts val="0"/>
              </a:spcAft>
              <a:buNone/>
            </a:pPr>
            <a:r>
              <a:rPr lang="en" sz="900">
                <a:solidFill>
                  <a:srgbClr val="098658"/>
                </a:solidFill>
                <a:latin typeface="Consolas"/>
                <a:ea typeface="Consolas"/>
                <a:cs typeface="Consolas"/>
                <a:sym typeface="Consolas"/>
              </a:rPr>
              <a:t>2</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boolean</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isValid</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5000"/>
              </a:lnSpc>
              <a:spcBef>
                <a:spcPts val="0"/>
              </a:spcBef>
              <a:spcAft>
                <a:spcPts val="0"/>
              </a:spcAft>
              <a:buNone/>
            </a:pPr>
            <a:r>
              <a:rPr lang="en" sz="900">
                <a:solidFill>
                  <a:srgbClr val="098658"/>
                </a:solidFill>
                <a:latin typeface="Consolas"/>
                <a:ea typeface="Consolas"/>
                <a:cs typeface="Consolas"/>
                <a:sym typeface="Consolas"/>
              </a:rPr>
              <a:t>3</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5000"/>
              </a:lnSpc>
              <a:spcBef>
                <a:spcPts val="0"/>
              </a:spcBef>
              <a:spcAft>
                <a:spcPts val="0"/>
              </a:spcAft>
              <a:buNone/>
            </a:pPr>
            <a:r>
              <a:rPr lang="en" sz="900">
                <a:solidFill>
                  <a:srgbClr val="098658"/>
                </a:solidFill>
                <a:latin typeface="Consolas"/>
                <a:ea typeface="Consolas"/>
                <a:cs typeface="Consolas"/>
                <a:sym typeface="Consolas"/>
              </a:rPr>
              <a:t>4</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boolean</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isGoal</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5000"/>
              </a:lnSpc>
              <a:spcBef>
                <a:spcPts val="0"/>
              </a:spcBef>
              <a:spcAft>
                <a:spcPts val="0"/>
              </a:spcAft>
              <a:buNone/>
            </a:pPr>
            <a:r>
              <a:rPr lang="en" sz="900">
                <a:solidFill>
                  <a:srgbClr val="098658"/>
                </a:solidFill>
                <a:latin typeface="Consolas"/>
                <a:ea typeface="Consolas"/>
                <a:cs typeface="Consolas"/>
                <a:sym typeface="Consolas"/>
              </a:rPr>
              <a:t>5</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15000"/>
              </a:lnSpc>
              <a:spcBef>
                <a:spcPts val="0"/>
              </a:spcBef>
              <a:spcAft>
                <a:spcPts val="0"/>
              </a:spcAft>
              <a:buNone/>
            </a:pPr>
            <a:r>
              <a:rPr lang="en" sz="900">
                <a:solidFill>
                  <a:srgbClr val="098658"/>
                </a:solidFill>
                <a:latin typeface="Consolas"/>
                <a:ea typeface="Consolas"/>
                <a:cs typeface="Consolas"/>
                <a:sym typeface="Consolas"/>
              </a:rPr>
              <a:t>6</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Collection</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C</a:t>
            </a:r>
            <a:r>
              <a:rPr lang="en" sz="900">
                <a:latin typeface="Consolas"/>
                <a:ea typeface="Consolas"/>
                <a:cs typeface="Consolas"/>
                <a:sym typeface="Consolas"/>
              </a:rPr>
              <a:t>&gt; </a:t>
            </a:r>
            <a:r>
              <a:rPr lang="en" sz="900">
                <a:solidFill>
                  <a:srgbClr val="795E26"/>
                </a:solidFill>
                <a:latin typeface="Consolas"/>
                <a:ea typeface="Consolas"/>
                <a:cs typeface="Consolas"/>
                <a:sym typeface="Consolas"/>
              </a:rPr>
              <a:t>getSuccessors</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15000"/>
              </a:lnSpc>
              <a:spcBef>
                <a:spcPts val="0"/>
              </a:spcBef>
              <a:spcAft>
                <a:spcPts val="0"/>
              </a:spcAft>
              <a:buNone/>
            </a:pPr>
            <a:r>
              <a:rPr lang="en" sz="900">
                <a:solidFill>
                  <a:srgbClr val="098658"/>
                </a:solidFill>
                <a:latin typeface="Consolas"/>
                <a:ea typeface="Consolas"/>
                <a:cs typeface="Consolas"/>
                <a:sym typeface="Consolas"/>
              </a:rPr>
              <a:t>7</a:t>
            </a:r>
            <a:r>
              <a:rPr lang="en" sz="900">
                <a:latin typeface="Consolas"/>
                <a:ea typeface="Consolas"/>
                <a:cs typeface="Consolas"/>
                <a:sym typeface="Consolas"/>
              </a:rPr>
              <a:t> }</a:t>
            </a:r>
            <a:endParaRPr sz="900">
              <a:solidFill>
                <a:srgbClr val="999999"/>
              </a:solidFill>
              <a:latin typeface="Consolas"/>
              <a:ea typeface="Consolas"/>
              <a:cs typeface="Consolas"/>
              <a:sym typeface="Consolas"/>
            </a:endParaRPr>
          </a:p>
        </p:txBody>
      </p:sp>
      <p:sp>
        <p:nvSpPr>
          <p:cNvPr id="2201" name="Google Shape;2201;p98"/>
          <p:cNvSpPr txBox="1"/>
          <p:nvPr>
            <p:ph idx="1" type="body"/>
          </p:nvPr>
        </p:nvSpPr>
        <p:spPr>
          <a:xfrm>
            <a:off x="377475" y="119925"/>
            <a:ext cx="4367100" cy="48333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We will be using a </a:t>
            </a:r>
            <a:r>
              <a:rPr b="1" i="1" lang="en">
                <a:solidFill>
                  <a:srgbClr val="FF0000"/>
                </a:solidFill>
              </a:rPr>
              <a:t>backtracking algorithm</a:t>
            </a:r>
            <a:r>
              <a:rPr lang="en">
                <a:solidFill>
                  <a:srgbClr val="FF0000"/>
                </a:solidFill>
              </a:rPr>
              <a:t> </a:t>
            </a:r>
            <a:r>
              <a:rPr lang="en"/>
              <a:t>to attempt to find a solution to the </a:t>
            </a:r>
            <a:r>
              <a:rPr b="1" i="1" lang="en">
                <a:solidFill>
                  <a:srgbClr val="FF0000"/>
                </a:solidFill>
              </a:rPr>
              <a:t>N-Queens</a:t>
            </a:r>
            <a:r>
              <a:rPr lang="en"/>
              <a:t> problem on chessboards of various sizes.</a:t>
            </a:r>
            <a:endParaRPr/>
          </a:p>
          <a:p>
            <a:pPr indent="-311150" lvl="0" marL="457200" rtl="0" algn="l">
              <a:lnSpc>
                <a:spcPct val="100000"/>
              </a:lnSpc>
              <a:spcBef>
                <a:spcPts val="1000"/>
              </a:spcBef>
              <a:spcAft>
                <a:spcPts val="0"/>
              </a:spcAft>
              <a:buSzPts val="1300"/>
              <a:buChar char="●"/>
            </a:pPr>
            <a:r>
              <a:rPr lang="en"/>
              <a:t>The first step in utilizing this algorithm is to create an implementation of the </a:t>
            </a:r>
            <a:r>
              <a:rPr lang="en">
                <a:solidFill>
                  <a:srgbClr val="FF0000"/>
                </a:solidFill>
                <a:latin typeface="Courier New"/>
                <a:ea typeface="Courier New"/>
                <a:cs typeface="Courier New"/>
                <a:sym typeface="Courier New"/>
              </a:rPr>
              <a:t>Configuration</a:t>
            </a:r>
            <a:r>
              <a:rPr lang="en">
                <a:solidFill>
                  <a:srgbClr val="FF0000"/>
                </a:solidFill>
              </a:rPr>
              <a:t> </a:t>
            </a:r>
            <a:r>
              <a:rPr b="1" i="1" lang="en">
                <a:solidFill>
                  <a:srgbClr val="FF0000"/>
                </a:solidFill>
              </a:rPr>
              <a:t>interface</a:t>
            </a:r>
            <a:r>
              <a:rPr lang="en"/>
              <a:t>.</a:t>
            </a:r>
            <a:endParaRPr/>
          </a:p>
          <a:p>
            <a:pPr indent="-298450" lvl="1" marL="914400" rtl="0" algn="l">
              <a:lnSpc>
                <a:spcPct val="100000"/>
              </a:lnSpc>
              <a:spcBef>
                <a:spcPts val="0"/>
              </a:spcBef>
              <a:spcAft>
                <a:spcPts val="0"/>
              </a:spcAft>
              <a:buSzPts val="1100"/>
              <a:buChar char="○"/>
            </a:pPr>
            <a:r>
              <a:rPr lang="en"/>
              <a:t>Remember that a </a:t>
            </a:r>
            <a:r>
              <a:rPr b="1" i="1" lang="en">
                <a:solidFill>
                  <a:srgbClr val="FF0000"/>
                </a:solidFill>
              </a:rPr>
              <a:t>configuration</a:t>
            </a:r>
            <a:r>
              <a:rPr lang="en">
                <a:solidFill>
                  <a:srgbClr val="FF0000"/>
                </a:solidFill>
              </a:rPr>
              <a:t> </a:t>
            </a:r>
            <a:r>
              <a:rPr lang="en"/>
              <a:t>represents an attempted solution to a problem that includes the results of making </a:t>
            </a:r>
            <a:r>
              <a:rPr b="1" i="1" lang="en">
                <a:solidFill>
                  <a:srgbClr val="FF0000"/>
                </a:solidFill>
              </a:rPr>
              <a:t>zero or more</a:t>
            </a:r>
            <a:r>
              <a:rPr lang="en"/>
              <a:t> choices.</a:t>
            </a:r>
            <a:endParaRPr/>
          </a:p>
          <a:p>
            <a:pPr indent="-311150" lvl="0" marL="457200" rtl="0" algn="l">
              <a:lnSpc>
                <a:spcPct val="100000"/>
              </a:lnSpc>
              <a:spcBef>
                <a:spcPts val="1000"/>
              </a:spcBef>
              <a:spcAft>
                <a:spcPts val="0"/>
              </a:spcAft>
              <a:buSzPts val="1300"/>
              <a:buChar char="●"/>
            </a:pPr>
            <a:r>
              <a:rPr lang="en"/>
              <a:t>The </a:t>
            </a:r>
            <a:r>
              <a:rPr lang="en">
                <a:latin typeface="Courier New"/>
                <a:ea typeface="Courier New"/>
                <a:cs typeface="Courier New"/>
                <a:sym typeface="Courier New"/>
              </a:rPr>
              <a:t>Configuration</a:t>
            </a:r>
            <a:r>
              <a:rPr lang="en"/>
              <a:t> interface defines </a:t>
            </a:r>
            <a:r>
              <a:rPr b="1" i="1" lang="en">
                <a:solidFill>
                  <a:srgbClr val="FF0000"/>
                </a:solidFill>
              </a:rPr>
              <a:t>three</a:t>
            </a:r>
            <a:r>
              <a:rPr lang="en">
                <a:solidFill>
                  <a:srgbClr val="FF0000"/>
                </a:solidFill>
              </a:rPr>
              <a:t> </a:t>
            </a:r>
            <a:r>
              <a:rPr lang="en"/>
              <a:t>required methods, the implementations for which will vary based on the problem being solved.</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isValid()</a:t>
            </a:r>
            <a:r>
              <a:rPr lang="en"/>
              <a:t> returns </a:t>
            </a:r>
            <a:r>
              <a:rPr lang="en">
                <a:solidFill>
                  <a:srgbClr val="FF0000"/>
                </a:solidFill>
                <a:latin typeface="Courier New"/>
                <a:ea typeface="Courier New"/>
                <a:cs typeface="Courier New"/>
                <a:sym typeface="Courier New"/>
              </a:rPr>
              <a:t>true</a:t>
            </a:r>
            <a:r>
              <a:rPr lang="en">
                <a:solidFill>
                  <a:srgbClr val="FF0000"/>
                </a:solidFill>
              </a:rPr>
              <a:t> </a:t>
            </a:r>
            <a:r>
              <a:rPr lang="en"/>
              <a:t>if the configuration is valid. Which is to say it does not break the rules of the problem.</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isGoal()</a:t>
            </a:r>
            <a:r>
              <a:rPr lang="en"/>
              <a:t> returns </a:t>
            </a:r>
            <a:r>
              <a:rPr lang="en">
                <a:solidFill>
                  <a:srgbClr val="FF0000"/>
                </a:solidFill>
                <a:latin typeface="Courier New"/>
                <a:ea typeface="Courier New"/>
                <a:cs typeface="Courier New"/>
                <a:sym typeface="Courier New"/>
              </a:rPr>
              <a:t>true</a:t>
            </a:r>
            <a:r>
              <a:rPr lang="en">
                <a:solidFill>
                  <a:srgbClr val="FF0000"/>
                </a:solidFill>
              </a:rPr>
              <a:t> </a:t>
            </a:r>
            <a:r>
              <a:rPr lang="en"/>
              <a:t>if the configuration is a </a:t>
            </a:r>
            <a:r>
              <a:rPr b="1" i="1" lang="en">
                <a:solidFill>
                  <a:srgbClr val="FF0000"/>
                </a:solidFill>
              </a:rPr>
              <a:t>valid solution</a:t>
            </a:r>
            <a:r>
              <a:rPr b="1" i="1" lang="en"/>
              <a:t> </a:t>
            </a:r>
            <a:r>
              <a:rPr lang="en"/>
              <a:t>to the problem.</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getSuccessors()</a:t>
            </a:r>
            <a:r>
              <a:rPr lang="en"/>
              <a:t> returns a </a:t>
            </a:r>
            <a:r>
              <a:rPr b="1" i="1" lang="en">
                <a:solidFill>
                  <a:srgbClr val="FF0000"/>
                </a:solidFill>
              </a:rPr>
              <a:t>collection</a:t>
            </a:r>
            <a:r>
              <a:rPr lang="en">
                <a:solidFill>
                  <a:srgbClr val="FF0000"/>
                </a:solidFill>
              </a:rPr>
              <a:t> </a:t>
            </a:r>
            <a:r>
              <a:rPr lang="en"/>
              <a:t>of </a:t>
            </a:r>
            <a:r>
              <a:rPr b="1" i="1" lang="en">
                <a:solidFill>
                  <a:srgbClr val="FF0000"/>
                </a:solidFill>
              </a:rPr>
              <a:t>successors</a:t>
            </a:r>
            <a:r>
              <a:rPr lang="en"/>
              <a:t>, each of which represents one of the possible next choices.</a:t>
            </a:r>
            <a:endParaRPr/>
          </a:p>
          <a:p>
            <a:pPr indent="-311150" lvl="0" marL="457200" rtl="0" algn="l">
              <a:lnSpc>
                <a:spcPct val="100000"/>
              </a:lnSpc>
              <a:spcBef>
                <a:spcPts val="1000"/>
              </a:spcBef>
              <a:spcAft>
                <a:spcPts val="0"/>
              </a:spcAft>
              <a:buSzPts val="1300"/>
              <a:buChar char="●"/>
            </a:pPr>
            <a:r>
              <a:rPr lang="en"/>
              <a:t>The class that implements </a:t>
            </a:r>
            <a:r>
              <a:rPr lang="en">
                <a:latin typeface="Courier New"/>
                <a:ea typeface="Courier New"/>
                <a:cs typeface="Courier New"/>
                <a:sym typeface="Courier New"/>
              </a:rPr>
              <a:t>Configuration</a:t>
            </a:r>
            <a:r>
              <a:rPr lang="en"/>
              <a:t> must include the </a:t>
            </a:r>
            <a:r>
              <a:rPr b="1" i="1" lang="en">
                <a:solidFill>
                  <a:srgbClr val="FF0000"/>
                </a:solidFill>
              </a:rPr>
              <a:t>state</a:t>
            </a:r>
            <a:r>
              <a:rPr lang="en">
                <a:solidFill>
                  <a:srgbClr val="FF0000"/>
                </a:solidFill>
              </a:rPr>
              <a:t> </a:t>
            </a:r>
            <a:r>
              <a:rPr lang="en"/>
              <a:t>needed to implement each of the required methods.</a:t>
            </a:r>
            <a:endParaRPr/>
          </a:p>
        </p:txBody>
      </p:sp>
      <p:sp>
        <p:nvSpPr>
          <p:cNvPr id="2202" name="Google Shape;2202;p98"/>
          <p:cNvSpPr txBox="1"/>
          <p:nvPr>
            <p:ph idx="3" type="body"/>
          </p:nvPr>
        </p:nvSpPr>
        <p:spPr>
          <a:xfrm>
            <a:off x="4990375" y="1117850"/>
            <a:ext cx="40329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At first glance, the </a:t>
            </a:r>
            <a:r>
              <a:rPr lang="en">
                <a:latin typeface="Courier New"/>
                <a:ea typeface="Courier New"/>
                <a:cs typeface="Courier New"/>
                <a:sym typeface="Courier New"/>
              </a:rPr>
              <a:t>Configuration</a:t>
            </a:r>
            <a:r>
              <a:rPr lang="en"/>
              <a:t> interface is deceptively simple. It only contains three methods, two of which return a </a:t>
            </a:r>
            <a:r>
              <a:rPr lang="en">
                <a:latin typeface="Courier New"/>
                <a:ea typeface="Courier New"/>
                <a:cs typeface="Courier New"/>
                <a:sym typeface="Courier New"/>
              </a:rPr>
              <a:t>boolean</a:t>
            </a:r>
            <a:r>
              <a:rPr lang="en"/>
              <a:t> value.</a:t>
            </a:r>
            <a:endParaRPr/>
          </a:p>
        </p:txBody>
      </p:sp>
      <p:sp>
        <p:nvSpPr>
          <p:cNvPr id="2203" name="Google Shape;2203;p98"/>
          <p:cNvSpPr txBox="1"/>
          <p:nvPr>
            <p:ph idx="3" type="body"/>
          </p:nvPr>
        </p:nvSpPr>
        <p:spPr>
          <a:xfrm>
            <a:off x="4990375" y="3327650"/>
            <a:ext cx="40329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But, depending on the nature of the problem being solved, any one of them may be very challenging to implement.</a:t>
            </a:r>
            <a:endParaRPr/>
          </a:p>
        </p:txBody>
      </p:sp>
      <p:sp>
        <p:nvSpPr>
          <p:cNvPr id="2204" name="Google Shape;2204;p98"/>
          <p:cNvSpPr txBox="1"/>
          <p:nvPr>
            <p:ph idx="3" type="body"/>
          </p:nvPr>
        </p:nvSpPr>
        <p:spPr>
          <a:xfrm>
            <a:off x="4990375" y="4165850"/>
            <a:ext cx="40329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first step in implementing a </a:t>
            </a:r>
            <a:r>
              <a:rPr lang="en">
                <a:latin typeface="Courier New"/>
                <a:ea typeface="Courier New"/>
                <a:cs typeface="Courier New"/>
                <a:sym typeface="Courier New"/>
              </a:rPr>
              <a:t>Configuration</a:t>
            </a:r>
            <a:r>
              <a:rPr lang="en"/>
              <a:t> that can be used to attempt to solve a problem using backtracking is to answer a few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gtEl>
                                        <p:attrNameLst>
                                          <p:attrName>style.visibility</p:attrName>
                                        </p:attrNameLst>
                                      </p:cBhvr>
                                      <p:to>
                                        <p:strVal val="visible"/>
                                      </p:to>
                                    </p:set>
                                    <p:animEffect filter="fade" transition="in">
                                      <p:cBhvr>
                                        <p:cTn dur="1000"/>
                                        <p:tgtEl>
                                          <p:spTgt spid="2202"/>
                                        </p:tgtEl>
                                      </p:cBhvr>
                                    </p:animEffect>
                                  </p:childTnLst>
                                </p:cTn>
                              </p:par>
                              <p:par>
                                <p:cTn fill="hold" nodeType="withEffect" presetClass="entr" presetID="10" presetSubtype="0">
                                  <p:stCondLst>
                                    <p:cond delay="0"/>
                                  </p:stCondLst>
                                  <p:childTnLst>
                                    <p:set>
                                      <p:cBhvr>
                                        <p:cTn dur="1" fill="hold">
                                          <p:stCondLst>
                                            <p:cond delay="0"/>
                                          </p:stCondLst>
                                        </p:cTn>
                                        <p:tgtEl>
                                          <p:spTgt spid="2200"/>
                                        </p:tgtEl>
                                        <p:attrNameLst>
                                          <p:attrName>style.visibility</p:attrName>
                                        </p:attrNameLst>
                                      </p:cBhvr>
                                      <p:to>
                                        <p:strVal val="visible"/>
                                      </p:to>
                                    </p:set>
                                    <p:animEffect filter="fade" transition="in">
                                      <p:cBhvr>
                                        <p:cTn dur="1000"/>
                                        <p:tgtEl>
                                          <p:spTgt spid="2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3"/>
                                        </p:tgtEl>
                                        <p:attrNameLst>
                                          <p:attrName>style.visibility</p:attrName>
                                        </p:attrNameLst>
                                      </p:cBhvr>
                                      <p:to>
                                        <p:strVal val="visible"/>
                                      </p:to>
                                    </p:set>
                                    <p:animEffect filter="fade" transition="in">
                                      <p:cBhvr>
                                        <p:cTn dur="1000"/>
                                        <p:tgtEl>
                                          <p:spTgt spid="2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4"/>
                                        </p:tgtEl>
                                        <p:attrNameLst>
                                          <p:attrName>style.visibility</p:attrName>
                                        </p:attrNameLst>
                                      </p:cBhvr>
                                      <p:to>
                                        <p:strVal val="visible"/>
                                      </p:to>
                                    </p:set>
                                    <p:animEffect filter="fade" transition="in">
                                      <p:cBhvr>
                                        <p:cTn dur="1000"/>
                                        <p:tgtEl>
                                          <p:spTgt spid="2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8" name="Shape 2208"/>
        <p:cNvGrpSpPr/>
        <p:nvPr/>
      </p:nvGrpSpPr>
      <p:grpSpPr>
        <a:xfrm>
          <a:off x="0" y="0"/>
          <a:ext cx="0" cy="0"/>
          <a:chOff x="0" y="0"/>
          <a:chExt cx="0" cy="0"/>
        </a:xfrm>
      </p:grpSpPr>
      <p:sp>
        <p:nvSpPr>
          <p:cNvPr id="2209" name="Google Shape;2209;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10" name="Google Shape;2210;p9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Implementing </a:t>
            </a:r>
            <a:r>
              <a:rPr lang="en">
                <a:latin typeface="Courier New"/>
                <a:ea typeface="Courier New"/>
                <a:cs typeface="Courier New"/>
                <a:sym typeface="Courier New"/>
              </a:rPr>
              <a:t>Configuration</a:t>
            </a:r>
            <a:endParaRPr>
              <a:latin typeface="Courier New"/>
              <a:ea typeface="Courier New"/>
              <a:cs typeface="Courier New"/>
              <a:sym typeface="Courier New"/>
            </a:endParaRPr>
          </a:p>
        </p:txBody>
      </p:sp>
      <p:sp>
        <p:nvSpPr>
          <p:cNvPr id="2211" name="Google Shape;2211;p99"/>
          <p:cNvSpPr txBox="1"/>
          <p:nvPr/>
        </p:nvSpPr>
        <p:spPr>
          <a:xfrm>
            <a:off x="2546875" y="1673300"/>
            <a:ext cx="4050300" cy="3263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36575" spcFirstLastPara="1" rIns="36575" wrap="square" tIns="91425">
            <a:sp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TicTacToe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Configuration</a:t>
            </a:r>
            <a:r>
              <a:rPr lang="en" sz="1000">
                <a:latin typeface="Consolas"/>
                <a:ea typeface="Consolas"/>
                <a:cs typeface="Consolas"/>
                <a:sym typeface="Consolas"/>
              </a:rPr>
              <a:t>&lt; </a:t>
            </a:r>
            <a:r>
              <a:rPr lang="en" sz="1000">
                <a:solidFill>
                  <a:srgbClr val="267F99"/>
                </a:solidFill>
                <a:latin typeface="Consolas"/>
                <a:ea typeface="Consolas"/>
                <a:cs typeface="Consolas"/>
                <a:sym typeface="Consolas"/>
              </a:rPr>
              <a:t>TicTacToe </a:t>
            </a:r>
            <a:r>
              <a:rPr lang="en" sz="1000">
                <a:latin typeface="Consolas"/>
                <a:ea typeface="Consolas"/>
                <a:cs typeface="Consolas"/>
                <a:sym typeface="Consolas"/>
              </a:rPr>
              <a:t>&gt;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Collection</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795E26"/>
                </a:solidFill>
                <a:latin typeface="Consolas"/>
                <a:ea typeface="Consolas"/>
                <a:cs typeface="Consolas"/>
                <a:sym typeface="Consolas"/>
              </a:rPr>
              <a:t>getSuccessors</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List</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ArrayList</a:t>
            </a:r>
            <a:r>
              <a:rPr lang="en" sz="1000">
                <a:latin typeface="Consolas"/>
                <a:ea typeface="Consolas"/>
                <a:cs typeface="Consolas"/>
                <a:sym typeface="Consolas"/>
              </a:rPr>
              <a:t>&lt;&gt;();</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isValid</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true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isGoal</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false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a:t>
            </a:r>
            <a:endParaRPr sz="1000">
              <a:solidFill>
                <a:srgbClr val="098658"/>
              </a:solidFill>
              <a:latin typeface="Consolas"/>
              <a:ea typeface="Consolas"/>
              <a:cs typeface="Consolas"/>
              <a:sym typeface="Consola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5" name="Shape 2215"/>
        <p:cNvGrpSpPr/>
        <p:nvPr/>
      </p:nvGrpSpPr>
      <p:grpSpPr>
        <a:xfrm>
          <a:off x="0" y="0"/>
          <a:ext cx="0" cy="0"/>
          <a:chOff x="0" y="0"/>
          <a:chExt cx="0" cy="0"/>
        </a:xfrm>
      </p:grpSpPr>
      <p:sp>
        <p:nvSpPr>
          <p:cNvPr id="2216" name="Google Shape;2216;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17" name="Google Shape;2217;p10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Implementing </a:t>
            </a:r>
            <a:r>
              <a:rPr lang="en">
                <a:latin typeface="Courier New"/>
                <a:ea typeface="Courier New"/>
                <a:cs typeface="Courier New"/>
                <a:sym typeface="Courier New"/>
              </a:rPr>
              <a:t>Configuration</a:t>
            </a:r>
            <a:endParaRPr>
              <a:latin typeface="Courier New"/>
              <a:ea typeface="Courier New"/>
              <a:cs typeface="Courier New"/>
              <a:sym typeface="Courier New"/>
            </a:endParaRPr>
          </a:p>
        </p:txBody>
      </p:sp>
      <p:sp>
        <p:nvSpPr>
          <p:cNvPr id="2218" name="Google Shape;2218;p100"/>
          <p:cNvSpPr txBox="1"/>
          <p:nvPr/>
        </p:nvSpPr>
        <p:spPr>
          <a:xfrm>
            <a:off x="2546875" y="1673300"/>
            <a:ext cx="4050300" cy="3263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36575" spcFirstLastPara="1" rIns="36575" wrap="square" tIns="91425">
            <a:sp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TicTacToe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Configuration</a:t>
            </a:r>
            <a:r>
              <a:rPr lang="en" sz="1000">
                <a:latin typeface="Consolas"/>
                <a:ea typeface="Consolas"/>
                <a:cs typeface="Consolas"/>
                <a:sym typeface="Consolas"/>
              </a:rPr>
              <a:t>&lt; </a:t>
            </a:r>
            <a:r>
              <a:rPr lang="en" sz="1000">
                <a:solidFill>
                  <a:srgbClr val="267F99"/>
                </a:solidFill>
                <a:latin typeface="Consolas"/>
                <a:ea typeface="Consolas"/>
                <a:cs typeface="Consolas"/>
                <a:sym typeface="Consolas"/>
              </a:rPr>
              <a:t>TicTacToe </a:t>
            </a:r>
            <a:r>
              <a:rPr lang="en" sz="1000">
                <a:latin typeface="Consolas"/>
                <a:ea typeface="Consolas"/>
                <a:cs typeface="Consolas"/>
                <a:sym typeface="Consolas"/>
              </a:rPr>
              <a:t>&gt;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Collection</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795E26"/>
                </a:solidFill>
                <a:latin typeface="Consolas"/>
                <a:ea typeface="Consolas"/>
                <a:cs typeface="Consolas"/>
                <a:sym typeface="Consolas"/>
              </a:rPr>
              <a:t>getSuccessors</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List</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ArrayList</a:t>
            </a:r>
            <a:r>
              <a:rPr lang="en" sz="1000">
                <a:latin typeface="Consolas"/>
                <a:ea typeface="Consolas"/>
                <a:cs typeface="Consolas"/>
                <a:sym typeface="Consolas"/>
              </a:rPr>
              <a:t>&lt;&gt;();</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isValid</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true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isGoal</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false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a:t>
            </a:r>
            <a:endParaRPr sz="1000">
              <a:solidFill>
                <a:srgbClr val="098658"/>
              </a:solidFill>
              <a:latin typeface="Consolas"/>
              <a:ea typeface="Consolas"/>
              <a:cs typeface="Consolas"/>
              <a:sym typeface="Consolas"/>
            </a:endParaRPr>
          </a:p>
        </p:txBody>
      </p:sp>
      <p:sp>
        <p:nvSpPr>
          <p:cNvPr id="2219" name="Google Shape;2219;p100"/>
          <p:cNvSpPr txBox="1"/>
          <p:nvPr/>
        </p:nvSpPr>
        <p:spPr>
          <a:xfrm>
            <a:off x="6723450" y="1414475"/>
            <a:ext cx="22977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urier New"/>
                <a:ea typeface="Courier New"/>
                <a:cs typeface="Courier New"/>
                <a:sym typeface="Courier New"/>
              </a:rPr>
              <a:t>Configuration</a:t>
            </a:r>
            <a:r>
              <a:rPr lang="en" sz="1100">
                <a:latin typeface="Roboto"/>
                <a:ea typeface="Roboto"/>
                <a:cs typeface="Roboto"/>
                <a:sym typeface="Roboto"/>
              </a:rPr>
              <a:t> is </a:t>
            </a:r>
            <a:r>
              <a:rPr b="1" i="1" lang="en" sz="1100">
                <a:solidFill>
                  <a:srgbClr val="FF0000"/>
                </a:solidFill>
                <a:latin typeface="Roboto"/>
                <a:ea typeface="Roboto"/>
                <a:cs typeface="Roboto"/>
                <a:sym typeface="Roboto"/>
              </a:rPr>
              <a:t>generic</a:t>
            </a:r>
            <a:r>
              <a:rPr lang="en" sz="1100">
                <a:solidFill>
                  <a:srgbClr val="FF0000"/>
                </a:solidFill>
                <a:latin typeface="Roboto"/>
                <a:ea typeface="Roboto"/>
                <a:cs typeface="Roboto"/>
                <a:sym typeface="Roboto"/>
              </a:rPr>
              <a:t> </a:t>
            </a:r>
            <a:r>
              <a:rPr lang="en" sz="1100">
                <a:latin typeface="Roboto"/>
                <a:ea typeface="Roboto"/>
                <a:cs typeface="Roboto"/>
                <a:sym typeface="Roboto"/>
              </a:rPr>
              <a:t>and the implementing class specifies </a:t>
            </a:r>
            <a:r>
              <a:rPr i="1" lang="en" sz="1100">
                <a:latin typeface="Roboto"/>
                <a:ea typeface="Roboto"/>
                <a:cs typeface="Roboto"/>
                <a:sym typeface="Roboto"/>
              </a:rPr>
              <a:t>its own type</a:t>
            </a:r>
            <a:r>
              <a:rPr lang="en" sz="1100">
                <a:latin typeface="Roboto"/>
                <a:ea typeface="Roboto"/>
                <a:cs typeface="Roboto"/>
                <a:sym typeface="Roboto"/>
              </a:rPr>
              <a:t>.</a:t>
            </a:r>
            <a:endParaRPr sz="1100">
              <a:latin typeface="Roboto"/>
              <a:ea typeface="Roboto"/>
              <a:cs typeface="Roboto"/>
              <a:sym typeface="Roboto"/>
            </a:endParaRPr>
          </a:p>
        </p:txBody>
      </p:sp>
      <p:sp>
        <p:nvSpPr>
          <p:cNvPr id="2220" name="Google Shape;2220;p100"/>
          <p:cNvSpPr txBox="1"/>
          <p:nvPr/>
        </p:nvSpPr>
        <p:spPr>
          <a:xfrm>
            <a:off x="6723450" y="2217375"/>
            <a:ext cx="22977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This is similar to implementing </a:t>
            </a:r>
            <a:r>
              <a:rPr lang="en" sz="1100">
                <a:latin typeface="Courier New"/>
                <a:ea typeface="Courier New"/>
                <a:cs typeface="Courier New"/>
                <a:sym typeface="Courier New"/>
              </a:rPr>
              <a:t>Comparable</a:t>
            </a:r>
            <a:r>
              <a:rPr lang="en" sz="1100">
                <a:latin typeface="Roboto"/>
                <a:ea typeface="Roboto"/>
                <a:cs typeface="Roboto"/>
                <a:sym typeface="Roboto"/>
              </a:rPr>
              <a:t>.</a:t>
            </a:r>
            <a:endParaRPr sz="1100">
              <a:latin typeface="Roboto"/>
              <a:ea typeface="Roboto"/>
              <a:cs typeface="Roboto"/>
              <a:sym typeface="Roboto"/>
            </a:endParaRPr>
          </a:p>
        </p:txBody>
      </p:sp>
      <p:grpSp>
        <p:nvGrpSpPr>
          <p:cNvPr id="2221" name="Google Shape;2221;p100"/>
          <p:cNvGrpSpPr/>
          <p:nvPr/>
        </p:nvGrpSpPr>
        <p:grpSpPr>
          <a:xfrm>
            <a:off x="5553630" y="1760825"/>
            <a:ext cx="1169820" cy="346400"/>
            <a:chOff x="5553630" y="1760825"/>
            <a:chExt cx="1169820" cy="346400"/>
          </a:xfrm>
        </p:grpSpPr>
        <p:sp>
          <p:nvSpPr>
            <p:cNvPr id="2222" name="Google Shape;2222;p100"/>
            <p:cNvSpPr/>
            <p:nvPr/>
          </p:nvSpPr>
          <p:spPr>
            <a:xfrm>
              <a:off x="5553630" y="1883425"/>
              <a:ext cx="688200" cy="223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23" name="Google Shape;2223;p100"/>
            <p:cNvCxnSpPr>
              <a:stCxn id="2219" idx="1"/>
              <a:endCxn id="2222" idx="0"/>
            </p:cNvCxnSpPr>
            <p:nvPr/>
          </p:nvCxnSpPr>
          <p:spPr>
            <a:xfrm flipH="1">
              <a:off x="5897850" y="1760825"/>
              <a:ext cx="825600" cy="122700"/>
            </a:xfrm>
            <a:prstGeom prst="bentConnector2">
              <a:avLst/>
            </a:prstGeom>
            <a:noFill/>
            <a:ln cap="flat" cmpd="sng" w="19050">
              <a:solidFill>
                <a:srgbClr val="FF0000"/>
              </a:solidFill>
              <a:prstDash val="solid"/>
              <a:round/>
              <a:headEnd len="med" w="med" type="none"/>
              <a:tailEnd len="med" w="med" type="none"/>
            </a:ln>
          </p:spPr>
        </p:cxnSp>
      </p:grpSp>
      <p:sp>
        <p:nvSpPr>
          <p:cNvPr id="2224" name="Google Shape;2224;p100"/>
          <p:cNvSpPr txBox="1"/>
          <p:nvPr/>
        </p:nvSpPr>
        <p:spPr>
          <a:xfrm>
            <a:off x="122900" y="1414475"/>
            <a:ext cx="22977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As is common when implementing an interface, the methods are initially stubbed out.</a:t>
            </a:r>
            <a:endParaRPr sz="1100">
              <a:latin typeface="Roboto"/>
              <a:ea typeface="Roboto"/>
              <a:cs typeface="Roboto"/>
              <a:sym typeface="Roboto"/>
            </a:endParaRPr>
          </a:p>
        </p:txBody>
      </p:sp>
      <p:sp>
        <p:nvSpPr>
          <p:cNvPr id="2225" name="Google Shape;2225;p100"/>
          <p:cNvSpPr txBox="1"/>
          <p:nvPr/>
        </p:nvSpPr>
        <p:spPr>
          <a:xfrm>
            <a:off x="122900" y="2235575"/>
            <a:ext cx="22977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urier New"/>
                <a:ea typeface="Courier New"/>
                <a:cs typeface="Courier New"/>
                <a:sym typeface="Courier New"/>
              </a:rPr>
              <a:t>getSuccessors()</a:t>
            </a:r>
            <a:r>
              <a:rPr lang="en" sz="1100">
                <a:latin typeface="Roboto"/>
                <a:ea typeface="Roboto"/>
                <a:cs typeface="Roboto"/>
                <a:sym typeface="Roboto"/>
              </a:rPr>
              <a:t> should return a list of "next steps" towards possible solutions. Initially, the list will be empty.</a:t>
            </a:r>
            <a:endParaRPr sz="1100">
              <a:latin typeface="Roboto"/>
              <a:ea typeface="Roboto"/>
              <a:cs typeface="Roboto"/>
              <a:sym typeface="Roboto"/>
            </a:endParaRPr>
          </a:p>
        </p:txBody>
      </p:sp>
      <p:sp>
        <p:nvSpPr>
          <p:cNvPr id="2226" name="Google Shape;2226;p100"/>
          <p:cNvSpPr txBox="1"/>
          <p:nvPr/>
        </p:nvSpPr>
        <p:spPr>
          <a:xfrm>
            <a:off x="6723500" y="3154575"/>
            <a:ext cx="22977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urier New"/>
                <a:ea typeface="Courier New"/>
                <a:cs typeface="Courier New"/>
                <a:sym typeface="Courier New"/>
              </a:rPr>
              <a:t>isValid()</a:t>
            </a:r>
            <a:r>
              <a:rPr lang="en" sz="1100">
                <a:latin typeface="Roboto"/>
                <a:ea typeface="Roboto"/>
                <a:cs typeface="Roboto"/>
                <a:sym typeface="Roboto"/>
              </a:rPr>
              <a:t> should return </a:t>
            </a:r>
            <a:r>
              <a:rPr lang="en" sz="1100">
                <a:latin typeface="Courier New"/>
                <a:ea typeface="Courier New"/>
                <a:cs typeface="Courier New"/>
                <a:sym typeface="Courier New"/>
              </a:rPr>
              <a:t>false</a:t>
            </a:r>
            <a:r>
              <a:rPr lang="en" sz="1100">
                <a:latin typeface="Roboto"/>
                <a:ea typeface="Roboto"/>
                <a:cs typeface="Roboto"/>
                <a:sym typeface="Roboto"/>
              </a:rPr>
              <a:t> if the configuration breaks the rules of the problem. Initially it will return </a:t>
            </a:r>
            <a:r>
              <a:rPr lang="en" sz="1100">
                <a:latin typeface="Courier New"/>
                <a:ea typeface="Courier New"/>
                <a:cs typeface="Courier New"/>
                <a:sym typeface="Courier New"/>
              </a:rPr>
              <a:t>true</a:t>
            </a:r>
            <a:r>
              <a:rPr lang="en" sz="1100">
                <a:latin typeface="Roboto"/>
                <a:ea typeface="Roboto"/>
                <a:cs typeface="Roboto"/>
                <a:sym typeface="Roboto"/>
              </a:rPr>
              <a:t>.</a:t>
            </a:r>
            <a:endParaRPr sz="1100">
              <a:latin typeface="Roboto"/>
              <a:ea typeface="Roboto"/>
              <a:cs typeface="Roboto"/>
              <a:sym typeface="Roboto"/>
            </a:endParaRPr>
          </a:p>
        </p:txBody>
      </p:sp>
      <p:sp>
        <p:nvSpPr>
          <p:cNvPr id="2227" name="Google Shape;2227;p100"/>
          <p:cNvSpPr txBox="1"/>
          <p:nvPr/>
        </p:nvSpPr>
        <p:spPr>
          <a:xfrm>
            <a:off x="122900" y="3931875"/>
            <a:ext cx="22977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Courier New"/>
                <a:ea typeface="Courier New"/>
                <a:cs typeface="Courier New"/>
                <a:sym typeface="Courier New"/>
              </a:rPr>
              <a:t>isGoal()</a:t>
            </a:r>
            <a:r>
              <a:rPr lang="en" sz="1100">
                <a:latin typeface="Roboto"/>
                <a:ea typeface="Roboto"/>
                <a:cs typeface="Roboto"/>
                <a:sym typeface="Roboto"/>
              </a:rPr>
              <a:t> should return </a:t>
            </a:r>
            <a:r>
              <a:rPr lang="en" sz="1100">
                <a:latin typeface="Courier New"/>
                <a:ea typeface="Courier New"/>
                <a:cs typeface="Courier New"/>
                <a:sym typeface="Courier New"/>
              </a:rPr>
              <a:t>true</a:t>
            </a:r>
            <a:r>
              <a:rPr lang="en" sz="1100">
                <a:latin typeface="Roboto"/>
                <a:ea typeface="Roboto"/>
                <a:cs typeface="Roboto"/>
                <a:sym typeface="Roboto"/>
              </a:rPr>
              <a:t> if the configuration is a valid solution to the problem. Initially it will return </a:t>
            </a:r>
            <a:r>
              <a:rPr lang="en" sz="1100">
                <a:latin typeface="Courier New"/>
                <a:ea typeface="Courier New"/>
                <a:cs typeface="Courier New"/>
                <a:sym typeface="Courier New"/>
              </a:rPr>
              <a:t>false</a:t>
            </a:r>
            <a:r>
              <a:rPr lang="en" sz="1100">
                <a:latin typeface="Roboto"/>
                <a:ea typeface="Roboto"/>
                <a:cs typeface="Roboto"/>
                <a:sym typeface="Roboto"/>
              </a:rPr>
              <a:t>.</a:t>
            </a:r>
            <a:endParaRPr sz="1100">
              <a:latin typeface="Roboto"/>
              <a:ea typeface="Roboto"/>
              <a:cs typeface="Roboto"/>
              <a:sym typeface="Roboto"/>
            </a:endParaRPr>
          </a:p>
        </p:txBody>
      </p:sp>
      <p:grpSp>
        <p:nvGrpSpPr>
          <p:cNvPr id="2228" name="Google Shape;2228;p100"/>
          <p:cNvGrpSpPr/>
          <p:nvPr/>
        </p:nvGrpSpPr>
        <p:grpSpPr>
          <a:xfrm>
            <a:off x="2420600" y="2158025"/>
            <a:ext cx="4016300" cy="1017000"/>
            <a:chOff x="2420600" y="2158025"/>
            <a:chExt cx="4016300" cy="1017000"/>
          </a:xfrm>
        </p:grpSpPr>
        <p:sp>
          <p:nvSpPr>
            <p:cNvPr id="2229" name="Google Shape;2229;p100"/>
            <p:cNvSpPr/>
            <p:nvPr/>
          </p:nvSpPr>
          <p:spPr>
            <a:xfrm>
              <a:off x="2813800" y="2158025"/>
              <a:ext cx="3623100" cy="1017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30" name="Google Shape;2230;p100"/>
            <p:cNvCxnSpPr>
              <a:stCxn id="2225" idx="3"/>
              <a:endCxn id="2229" idx="1"/>
            </p:cNvCxnSpPr>
            <p:nvPr/>
          </p:nvCxnSpPr>
          <p:spPr>
            <a:xfrm>
              <a:off x="2420600" y="2666525"/>
              <a:ext cx="393300" cy="0"/>
            </a:xfrm>
            <a:prstGeom prst="straightConnector1">
              <a:avLst/>
            </a:prstGeom>
            <a:noFill/>
            <a:ln cap="flat" cmpd="sng" w="19050">
              <a:solidFill>
                <a:srgbClr val="FF0000"/>
              </a:solidFill>
              <a:prstDash val="solid"/>
              <a:round/>
              <a:headEnd len="med" w="med" type="none"/>
              <a:tailEnd len="med" w="med" type="none"/>
            </a:ln>
          </p:spPr>
        </p:cxnSp>
      </p:grpSp>
      <p:grpSp>
        <p:nvGrpSpPr>
          <p:cNvPr id="2231" name="Google Shape;2231;p100"/>
          <p:cNvGrpSpPr/>
          <p:nvPr/>
        </p:nvGrpSpPr>
        <p:grpSpPr>
          <a:xfrm>
            <a:off x="2420600" y="4016475"/>
            <a:ext cx="2306900" cy="692700"/>
            <a:chOff x="2420600" y="4016475"/>
            <a:chExt cx="2306900" cy="692700"/>
          </a:xfrm>
        </p:grpSpPr>
        <p:sp>
          <p:nvSpPr>
            <p:cNvPr id="2232" name="Google Shape;2232;p100"/>
            <p:cNvSpPr/>
            <p:nvPr/>
          </p:nvSpPr>
          <p:spPr>
            <a:xfrm>
              <a:off x="2813800" y="4016475"/>
              <a:ext cx="1913700" cy="692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33" name="Google Shape;2233;p100"/>
            <p:cNvCxnSpPr>
              <a:stCxn id="2227" idx="3"/>
              <a:endCxn id="2232" idx="1"/>
            </p:cNvCxnSpPr>
            <p:nvPr/>
          </p:nvCxnSpPr>
          <p:spPr>
            <a:xfrm>
              <a:off x="2420600" y="4362825"/>
              <a:ext cx="393300" cy="0"/>
            </a:xfrm>
            <a:prstGeom prst="straightConnector1">
              <a:avLst/>
            </a:prstGeom>
            <a:noFill/>
            <a:ln cap="flat" cmpd="sng" w="19050">
              <a:solidFill>
                <a:srgbClr val="FF0000"/>
              </a:solidFill>
              <a:prstDash val="solid"/>
              <a:round/>
              <a:headEnd len="med" w="med" type="none"/>
              <a:tailEnd len="med" w="med" type="none"/>
            </a:ln>
          </p:spPr>
        </p:cxnSp>
      </p:grpSp>
      <p:grpSp>
        <p:nvGrpSpPr>
          <p:cNvPr id="2234" name="Google Shape;2234;p100"/>
          <p:cNvGrpSpPr/>
          <p:nvPr/>
        </p:nvGrpSpPr>
        <p:grpSpPr>
          <a:xfrm>
            <a:off x="2813800" y="3239175"/>
            <a:ext cx="3909700" cy="692700"/>
            <a:chOff x="2813800" y="3239175"/>
            <a:chExt cx="3909700" cy="692700"/>
          </a:xfrm>
        </p:grpSpPr>
        <p:sp>
          <p:nvSpPr>
            <p:cNvPr id="2235" name="Google Shape;2235;p100"/>
            <p:cNvSpPr/>
            <p:nvPr/>
          </p:nvSpPr>
          <p:spPr>
            <a:xfrm>
              <a:off x="2813800" y="3239175"/>
              <a:ext cx="1913700" cy="692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36" name="Google Shape;2236;p100"/>
            <p:cNvCxnSpPr>
              <a:stCxn id="2226" idx="1"/>
              <a:endCxn id="2235" idx="3"/>
            </p:cNvCxnSpPr>
            <p:nvPr/>
          </p:nvCxnSpPr>
          <p:spPr>
            <a:xfrm rot="10800000">
              <a:off x="4727600" y="3585525"/>
              <a:ext cx="1995900" cy="0"/>
            </a:xfrm>
            <a:prstGeom prst="straightConnector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219"/>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5"/>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6"/>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7"/>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0" name="Shape 2240"/>
        <p:cNvGrpSpPr/>
        <p:nvPr/>
      </p:nvGrpSpPr>
      <p:grpSpPr>
        <a:xfrm>
          <a:off x="0" y="0"/>
          <a:ext cx="0" cy="0"/>
          <a:chOff x="0" y="0"/>
          <a:chExt cx="0" cy="0"/>
        </a:xfrm>
      </p:grpSpPr>
      <p:sp>
        <p:nvSpPr>
          <p:cNvPr id="2241" name="Google Shape;2241;p101"/>
          <p:cNvSpPr txBox="1"/>
          <p:nvPr>
            <p:ph idx="1" type="body"/>
          </p:nvPr>
        </p:nvSpPr>
        <p:spPr>
          <a:xfrm>
            <a:off x="4298325" y="23275"/>
            <a:ext cx="4794000" cy="49560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Before you can begin implementing an algorithm that uses backtracking to solve a problem, you must answer a few questions about your configuration implementation.</a:t>
            </a:r>
            <a:endParaRPr/>
          </a:p>
          <a:p>
            <a:pPr indent="-311150" lvl="0" marL="457200" rtl="0" algn="l">
              <a:spcBef>
                <a:spcPts val="1000"/>
              </a:spcBef>
              <a:spcAft>
                <a:spcPts val="0"/>
              </a:spcAft>
              <a:buSzPts val="1300"/>
              <a:buChar char="●"/>
            </a:pPr>
            <a:r>
              <a:rPr lang="en"/>
              <a:t>First, h</a:t>
            </a:r>
            <a:r>
              <a:rPr lang="en"/>
              <a:t>ow will you represent the </a:t>
            </a:r>
            <a:r>
              <a:rPr b="1" i="1" lang="en">
                <a:solidFill>
                  <a:srgbClr val="FF0000"/>
                </a:solidFill>
              </a:rPr>
              <a:t>state</a:t>
            </a:r>
            <a:r>
              <a:rPr lang="en">
                <a:solidFill>
                  <a:srgbClr val="FF0000"/>
                </a:solidFill>
              </a:rPr>
              <a:t> </a:t>
            </a:r>
            <a:r>
              <a:rPr lang="en"/>
              <a:t>of a configuration?</a:t>
            </a:r>
            <a:endParaRPr/>
          </a:p>
          <a:p>
            <a:pPr indent="-298450" lvl="1" marL="914400" rtl="0" algn="l">
              <a:spcBef>
                <a:spcPts val="0"/>
              </a:spcBef>
              <a:spcAft>
                <a:spcPts val="0"/>
              </a:spcAft>
              <a:buSzPts val="1100"/>
              <a:buChar char="○"/>
            </a:pPr>
            <a:r>
              <a:rPr lang="en"/>
              <a:t>What data structures are needed?</a:t>
            </a:r>
            <a:endParaRPr/>
          </a:p>
          <a:p>
            <a:pPr indent="-298450" lvl="1" marL="914400" rtl="0" algn="l">
              <a:spcBef>
                <a:spcPts val="0"/>
              </a:spcBef>
              <a:spcAft>
                <a:spcPts val="0"/>
              </a:spcAft>
              <a:buSzPts val="1100"/>
              <a:buChar char="○"/>
            </a:pPr>
            <a:r>
              <a:rPr lang="en"/>
              <a:t>What other fields?</a:t>
            </a:r>
            <a:endParaRPr/>
          </a:p>
          <a:p>
            <a:pPr indent="-298450" lvl="1" marL="914400" rtl="0" algn="l">
              <a:spcBef>
                <a:spcPts val="0"/>
              </a:spcBef>
              <a:spcAft>
                <a:spcPts val="0"/>
              </a:spcAft>
              <a:buSzPts val="1100"/>
              <a:buChar char="○"/>
            </a:pPr>
            <a:r>
              <a:rPr lang="en"/>
              <a:t>How will you construct a new </a:t>
            </a:r>
            <a:r>
              <a:rPr lang="en"/>
              <a:t>configuration</a:t>
            </a:r>
            <a:r>
              <a:rPr lang="en"/>
              <a:t>?</a:t>
            </a:r>
            <a:endParaRPr/>
          </a:p>
          <a:p>
            <a:pPr indent="-311150" lvl="0" marL="457200" rtl="0" algn="l">
              <a:spcBef>
                <a:spcPts val="1000"/>
              </a:spcBef>
              <a:spcAft>
                <a:spcPts val="0"/>
              </a:spcAft>
              <a:buSzPts val="1300"/>
              <a:buChar char="●"/>
            </a:pPr>
            <a:r>
              <a:rPr lang="en"/>
              <a:t>Second, how will you determine whether or not your configuration is </a:t>
            </a:r>
            <a:r>
              <a:rPr b="1" i="1" lang="en">
                <a:solidFill>
                  <a:srgbClr val="FF0000"/>
                </a:solidFill>
              </a:rPr>
              <a:t>valid</a:t>
            </a:r>
            <a:r>
              <a:rPr lang="en"/>
              <a:t>?</a:t>
            </a:r>
            <a:endParaRPr/>
          </a:p>
          <a:p>
            <a:pPr indent="-298450" lvl="1" marL="914400" rtl="0" algn="l">
              <a:spcBef>
                <a:spcPts val="0"/>
              </a:spcBef>
              <a:spcAft>
                <a:spcPts val="0"/>
              </a:spcAft>
              <a:buSzPts val="1100"/>
              <a:buChar char="○"/>
            </a:pPr>
            <a:r>
              <a:rPr lang="en"/>
              <a:t>How do you know whether or not the </a:t>
            </a:r>
            <a:r>
              <a:rPr lang="en"/>
              <a:t>configuration</a:t>
            </a:r>
            <a:r>
              <a:rPr lang="en"/>
              <a:t> </a:t>
            </a:r>
            <a:r>
              <a:rPr lang="en"/>
              <a:t>breaks</a:t>
            </a:r>
            <a:r>
              <a:rPr lang="en"/>
              <a:t> the rules of the problem?</a:t>
            </a:r>
            <a:endParaRPr/>
          </a:p>
          <a:p>
            <a:pPr indent="-298450" lvl="1" marL="914400" rtl="0" algn="l">
              <a:spcBef>
                <a:spcPts val="0"/>
              </a:spcBef>
              <a:spcAft>
                <a:spcPts val="0"/>
              </a:spcAft>
              <a:buSzPts val="1100"/>
              <a:buChar char="○"/>
            </a:pPr>
            <a:r>
              <a:rPr lang="en"/>
              <a:t>Will this require additional fields or data structures?</a:t>
            </a:r>
            <a:endParaRPr/>
          </a:p>
          <a:p>
            <a:pPr indent="-311150" lvl="0" marL="457200" rtl="0" algn="l">
              <a:spcBef>
                <a:spcPts val="1000"/>
              </a:spcBef>
              <a:spcAft>
                <a:spcPts val="0"/>
              </a:spcAft>
              <a:buSzPts val="1300"/>
              <a:buChar char="●"/>
            </a:pPr>
            <a:r>
              <a:rPr lang="en"/>
              <a:t>Next, how will you determine whether or not the configuration is the </a:t>
            </a:r>
            <a:r>
              <a:rPr b="1" i="1" lang="en">
                <a:solidFill>
                  <a:srgbClr val="FF0000"/>
                </a:solidFill>
              </a:rPr>
              <a:t>goal</a:t>
            </a:r>
            <a:r>
              <a:rPr lang="en"/>
              <a:t>?</a:t>
            </a:r>
            <a:endParaRPr/>
          </a:p>
          <a:p>
            <a:pPr indent="-298450" lvl="1" marL="914400" rtl="0" algn="l">
              <a:spcBef>
                <a:spcPts val="0"/>
              </a:spcBef>
              <a:spcAft>
                <a:spcPts val="0"/>
              </a:spcAft>
              <a:buSzPts val="1100"/>
              <a:buChar char="○"/>
            </a:pPr>
            <a:r>
              <a:rPr lang="en"/>
              <a:t>Do you have a way to determine that it is a </a:t>
            </a:r>
            <a:r>
              <a:rPr b="1" i="1" lang="en">
                <a:solidFill>
                  <a:srgbClr val="FF0000"/>
                </a:solidFill>
              </a:rPr>
              <a:t>valid solution</a:t>
            </a:r>
            <a:r>
              <a:rPr lang="en"/>
              <a:t> to the problem?</a:t>
            </a:r>
            <a:endParaRPr/>
          </a:p>
          <a:p>
            <a:pPr indent="-311150" lvl="0" marL="457200" rtl="0" algn="l">
              <a:spcBef>
                <a:spcPts val="1000"/>
              </a:spcBef>
              <a:spcAft>
                <a:spcPts val="0"/>
              </a:spcAft>
              <a:buSzPts val="1300"/>
              <a:buChar char="●"/>
            </a:pPr>
            <a:r>
              <a:rPr lang="en"/>
              <a:t>Finally, how will you create </a:t>
            </a:r>
            <a:r>
              <a:rPr b="1" i="1" lang="en">
                <a:solidFill>
                  <a:srgbClr val="FF0000"/>
                </a:solidFill>
              </a:rPr>
              <a:t>successors</a:t>
            </a:r>
            <a:r>
              <a:rPr lang="en">
                <a:solidFill>
                  <a:srgbClr val="FF0000"/>
                </a:solidFill>
              </a:rPr>
              <a:t> </a:t>
            </a:r>
            <a:r>
              <a:rPr lang="en"/>
              <a:t>to your configuration?</a:t>
            </a:r>
            <a:endParaRPr/>
          </a:p>
          <a:p>
            <a:pPr indent="-298450" lvl="1" marL="914400" rtl="0" algn="l">
              <a:spcBef>
                <a:spcPts val="0"/>
              </a:spcBef>
              <a:spcAft>
                <a:spcPts val="0"/>
              </a:spcAft>
              <a:buSzPts val="1100"/>
              <a:buChar char="○"/>
            </a:pPr>
            <a:r>
              <a:rPr lang="en"/>
              <a:t>Each will represent </a:t>
            </a:r>
            <a:r>
              <a:rPr b="1" i="1" lang="en">
                <a:solidFill>
                  <a:srgbClr val="FF0000"/>
                </a:solidFill>
              </a:rPr>
              <a:t>one</a:t>
            </a:r>
            <a:r>
              <a:rPr lang="en">
                <a:solidFill>
                  <a:srgbClr val="FF0000"/>
                </a:solidFill>
              </a:rPr>
              <a:t> </a:t>
            </a:r>
            <a:r>
              <a:rPr lang="en"/>
              <a:t>of the possible </a:t>
            </a:r>
            <a:r>
              <a:rPr b="1" i="1" lang="en">
                <a:solidFill>
                  <a:srgbClr val="FF0000"/>
                </a:solidFill>
              </a:rPr>
              <a:t>next </a:t>
            </a:r>
            <a:r>
              <a:rPr lang="en"/>
              <a:t>choices. </a:t>
            </a:r>
            <a:endParaRPr/>
          </a:p>
        </p:txBody>
      </p:sp>
      <p:sp>
        <p:nvSpPr>
          <p:cNvPr id="2242" name="Google Shape;2242;p101"/>
          <p:cNvSpPr txBox="1"/>
          <p:nvPr>
            <p:ph idx="12" type="sldNum"/>
          </p:nvPr>
        </p:nvSpPr>
        <p:spPr>
          <a:xfrm>
            <a:off x="8556416" y="4709764"/>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43" name="Google Shape;2243;p101"/>
          <p:cNvSpPr txBox="1"/>
          <p:nvPr>
            <p:ph type="title"/>
          </p:nvPr>
        </p:nvSpPr>
        <p:spPr>
          <a:xfrm>
            <a:off x="3117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A Few </a:t>
            </a:r>
            <a:r>
              <a:rPr lang="en" sz="2600"/>
              <a:t>Questions</a:t>
            </a:r>
            <a:endParaRPr sz="2600"/>
          </a:p>
        </p:txBody>
      </p:sp>
      <p:sp>
        <p:nvSpPr>
          <p:cNvPr id="2244" name="Google Shape;2244;p101"/>
          <p:cNvSpPr txBox="1"/>
          <p:nvPr>
            <p:ph idx="3" type="body"/>
          </p:nvPr>
        </p:nvSpPr>
        <p:spPr>
          <a:xfrm>
            <a:off x="315425" y="40896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Answering these questions </a:t>
            </a:r>
            <a:r>
              <a:rPr b="1" i="1" lang="en">
                <a:solidFill>
                  <a:srgbClr val="FF0000"/>
                </a:solidFill>
              </a:rPr>
              <a:t>before</a:t>
            </a:r>
            <a:r>
              <a:rPr lang="en">
                <a:solidFill>
                  <a:srgbClr val="FF0000"/>
                </a:solidFill>
              </a:rPr>
              <a:t> </a:t>
            </a:r>
            <a:r>
              <a:rPr lang="en"/>
              <a:t>you attempt to implement a configuration can help avoid wasting a lot of time on false starts.</a:t>
            </a:r>
            <a:endParaRPr/>
          </a:p>
        </p:txBody>
      </p:sp>
      <p:pic>
        <p:nvPicPr>
          <p:cNvPr id="2245" name="Google Shape;2245;p101"/>
          <p:cNvPicPr preferRelativeResize="0"/>
          <p:nvPr/>
        </p:nvPicPr>
        <p:blipFill>
          <a:blip r:embed="rId3">
            <a:alphaModFix/>
          </a:blip>
          <a:stretch>
            <a:fillRect/>
          </a:stretch>
        </p:blipFill>
        <p:spPr>
          <a:xfrm>
            <a:off x="2165549" y="1977738"/>
            <a:ext cx="1856375" cy="1990800"/>
          </a:xfrm>
          <a:prstGeom prst="rect">
            <a:avLst/>
          </a:prstGeom>
          <a:noFill/>
          <a:ln>
            <a:noFill/>
          </a:ln>
        </p:spPr>
      </p:pic>
      <p:sp>
        <p:nvSpPr>
          <p:cNvPr id="2246" name="Google Shape;2246;p101"/>
          <p:cNvSpPr/>
          <p:nvPr/>
        </p:nvSpPr>
        <p:spPr>
          <a:xfrm>
            <a:off x="404784" y="815960"/>
            <a:ext cx="2691900" cy="1046700"/>
          </a:xfrm>
          <a:prstGeom prst="wedgeRoundRectCallout">
            <a:avLst>
              <a:gd fmla="val 33525" name="adj1"/>
              <a:gd fmla="val 86987" name="adj2"/>
              <a:gd fmla="val 0" name="adj3"/>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Before I can begin implementing a </a:t>
            </a:r>
            <a:r>
              <a:rPr b="1" i="1" lang="en">
                <a:solidFill>
                  <a:srgbClr val="FF0000"/>
                </a:solidFill>
                <a:latin typeface="Roboto"/>
                <a:ea typeface="Roboto"/>
                <a:cs typeface="Roboto"/>
                <a:sym typeface="Roboto"/>
              </a:rPr>
              <a:t>configuration</a:t>
            </a:r>
            <a:r>
              <a:rPr lang="en">
                <a:latin typeface="Roboto"/>
                <a:ea typeface="Roboto"/>
                <a:cs typeface="Roboto"/>
                <a:sym typeface="Roboto"/>
              </a:rPr>
              <a:t>, I need to understand what information I need.</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1">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0" name="Shape 2250"/>
        <p:cNvGrpSpPr/>
        <p:nvPr/>
      </p:nvGrpSpPr>
      <p:grpSpPr>
        <a:xfrm>
          <a:off x="0" y="0"/>
          <a:ext cx="0" cy="0"/>
          <a:chOff x="0" y="0"/>
          <a:chExt cx="0" cy="0"/>
        </a:xfrm>
      </p:grpSpPr>
      <p:graphicFrame>
        <p:nvGraphicFramePr>
          <p:cNvPr id="2251" name="Google Shape;2251;p102"/>
          <p:cNvGraphicFramePr/>
          <p:nvPr/>
        </p:nvGraphicFramePr>
        <p:xfrm>
          <a:off x="2118000" y="1814125"/>
          <a:ext cx="3000000" cy="3000000"/>
        </p:xfrm>
        <a:graphic>
          <a:graphicData uri="http://schemas.openxmlformats.org/drawingml/2006/table">
            <a:tbl>
              <a:tblPr>
                <a:noFill/>
                <a:tableStyleId>{89CCAE03-A2B2-4379-B0C2-E101A7E113D6}</a:tableStyleId>
              </a:tblPr>
              <a:tblGrid>
                <a:gridCol w="3280850"/>
                <a:gridCol w="3280850"/>
              </a:tblGrid>
              <a:tr h="1566375">
                <a:tc>
                  <a:txBody>
                    <a:bodyPr/>
                    <a:lstStyle/>
                    <a:p>
                      <a:pPr indent="0" lvl="0" marL="0" rtl="0" algn="l">
                        <a:spcBef>
                          <a:spcPts val="0"/>
                        </a:spcBef>
                        <a:spcAft>
                          <a:spcPts val="0"/>
                        </a:spcAft>
                        <a:buNone/>
                      </a:pPr>
                      <a:r>
                        <a:rPr lang="en" sz="1000"/>
                        <a:t>How will you represent the </a:t>
                      </a:r>
                      <a:r>
                        <a:rPr b="1" i="1" lang="en" sz="1000">
                          <a:solidFill>
                            <a:srgbClr val="FF0000"/>
                          </a:solidFill>
                        </a:rPr>
                        <a:t>state</a:t>
                      </a:r>
                      <a:r>
                        <a:rPr lang="en" sz="1000">
                          <a:solidFill>
                            <a:srgbClr val="FF0000"/>
                          </a:solidFill>
                        </a:rPr>
                        <a:t> </a:t>
                      </a:r>
                      <a:r>
                        <a:rPr lang="en" sz="1000"/>
                        <a:t>of a configuration? What fields and constructors will be needed?</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t>How will you determine if a configuration is </a:t>
                      </a:r>
                      <a:r>
                        <a:rPr b="1" i="1" lang="en" sz="1000">
                          <a:solidFill>
                            <a:srgbClr val="FF0000"/>
                          </a:solidFill>
                        </a:rPr>
                        <a:t>valid</a:t>
                      </a:r>
                      <a:r>
                        <a:rPr lang="en" sz="1000">
                          <a:solidFill>
                            <a:srgbClr val="FF0000"/>
                          </a:solidFill>
                        </a:rPr>
                        <a:t> </a:t>
                      </a:r>
                      <a:r>
                        <a:rPr lang="en" sz="1000"/>
                        <a:t>or not?</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566375">
                <a:tc>
                  <a:txBody>
                    <a:bodyPr/>
                    <a:lstStyle/>
                    <a:p>
                      <a:pPr indent="0" lvl="0" marL="0" rtl="0" algn="l">
                        <a:spcBef>
                          <a:spcPts val="0"/>
                        </a:spcBef>
                        <a:spcAft>
                          <a:spcPts val="0"/>
                        </a:spcAft>
                        <a:buNone/>
                      </a:pPr>
                      <a:r>
                        <a:rPr lang="en" sz="1000"/>
                        <a:t>How will you determine whether or not a configuration is the </a:t>
                      </a:r>
                      <a:r>
                        <a:rPr b="1" i="1" lang="en" sz="1000">
                          <a:solidFill>
                            <a:srgbClr val="FF0000"/>
                          </a:solidFill>
                        </a:rPr>
                        <a:t>goal</a:t>
                      </a:r>
                      <a:r>
                        <a:rPr lang="en" sz="1000"/>
                        <a:t>?</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t>What do the </a:t>
                      </a:r>
                      <a:r>
                        <a:rPr b="1" i="1" lang="en" sz="1000">
                          <a:solidFill>
                            <a:srgbClr val="FF0000"/>
                          </a:solidFill>
                        </a:rPr>
                        <a:t>successors</a:t>
                      </a:r>
                      <a:r>
                        <a:rPr lang="en" sz="1000">
                          <a:solidFill>
                            <a:srgbClr val="FF0000"/>
                          </a:solidFill>
                        </a:rPr>
                        <a:t> </a:t>
                      </a:r>
                      <a:r>
                        <a:rPr lang="en" sz="1000"/>
                        <a:t>of each configuration represent? How will you create them?</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252" name="Google Shape;2252;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3" name="Google Shape;2253;p10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Few Questions</a:t>
            </a:r>
            <a:endParaRPr/>
          </a:p>
        </p:txBody>
      </p:sp>
      <p:sp>
        <p:nvSpPr>
          <p:cNvPr id="2254" name="Google Shape;2254;p10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Think about how you would approach implementing a </a:t>
            </a:r>
            <a:r>
              <a:rPr lang="en">
                <a:latin typeface="Courier New"/>
                <a:ea typeface="Courier New"/>
                <a:cs typeface="Courier New"/>
                <a:sym typeface="Courier New"/>
              </a:rPr>
              <a:t>Configuration</a:t>
            </a:r>
            <a:r>
              <a:rPr lang="en"/>
              <a:t> for solving the N-Queens problem using backtracking. Take a few moments to consider each of the following questions. Answer them in a file named "</a:t>
            </a:r>
            <a:r>
              <a:rPr lang="en">
                <a:solidFill>
                  <a:srgbClr val="FF0000"/>
                </a:solidFill>
                <a:latin typeface="Courier New"/>
                <a:ea typeface="Courier New"/>
                <a:cs typeface="Courier New"/>
                <a:sym typeface="Courier New"/>
              </a:rPr>
              <a:t>queens.txt</a:t>
            </a:r>
            <a:r>
              <a:rPr lang="en"/>
              <a:t>".</a:t>
            </a:r>
            <a:endParaRPr/>
          </a:p>
        </p:txBody>
      </p:sp>
      <p:sp>
        <p:nvSpPr>
          <p:cNvPr id="2255" name="Google Shape;2255;p10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.27</a:t>
            </a:r>
            <a:endParaRPr/>
          </a:p>
        </p:txBody>
      </p:sp>
      <p:pic>
        <p:nvPicPr>
          <p:cNvPr id="2256" name="Google Shape;2256;p102"/>
          <p:cNvPicPr preferRelativeResize="0"/>
          <p:nvPr/>
        </p:nvPicPr>
        <p:blipFill>
          <a:blip r:embed="rId3">
            <a:alphaModFix/>
          </a:blip>
          <a:stretch>
            <a:fillRect/>
          </a:stretch>
        </p:blipFill>
        <p:spPr>
          <a:xfrm>
            <a:off x="117899" y="1822588"/>
            <a:ext cx="1856375" cy="19908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0" name="Shape 2260"/>
        <p:cNvGrpSpPr/>
        <p:nvPr/>
      </p:nvGrpSpPr>
      <p:grpSpPr>
        <a:xfrm>
          <a:off x="0" y="0"/>
          <a:ext cx="0" cy="0"/>
          <a:chOff x="0" y="0"/>
          <a:chExt cx="0" cy="0"/>
        </a:xfrm>
      </p:grpSpPr>
      <p:graphicFrame>
        <p:nvGraphicFramePr>
          <p:cNvPr id="2261" name="Google Shape;2261;p103"/>
          <p:cNvGraphicFramePr/>
          <p:nvPr/>
        </p:nvGraphicFramePr>
        <p:xfrm>
          <a:off x="2118000" y="1814125"/>
          <a:ext cx="3000000" cy="3000000"/>
        </p:xfrm>
        <a:graphic>
          <a:graphicData uri="http://schemas.openxmlformats.org/drawingml/2006/table">
            <a:tbl>
              <a:tblPr>
                <a:noFill/>
                <a:tableStyleId>{89CCAE03-A2B2-4379-B0C2-E101A7E113D6}</a:tableStyleId>
              </a:tblPr>
              <a:tblGrid>
                <a:gridCol w="3280850"/>
                <a:gridCol w="3280850"/>
              </a:tblGrid>
              <a:tr h="1566375">
                <a:tc>
                  <a:txBody>
                    <a:bodyPr/>
                    <a:lstStyle/>
                    <a:p>
                      <a:pPr indent="0" lvl="0" marL="0" rtl="0" algn="l">
                        <a:spcBef>
                          <a:spcPts val="0"/>
                        </a:spcBef>
                        <a:spcAft>
                          <a:spcPts val="0"/>
                        </a:spcAft>
                        <a:buNone/>
                      </a:pPr>
                      <a:r>
                        <a:rPr lang="en" sz="1000"/>
                        <a:t>How will you represent the </a:t>
                      </a:r>
                      <a:r>
                        <a:rPr b="1" i="1" lang="en" sz="1000">
                          <a:solidFill>
                            <a:srgbClr val="FF0000"/>
                          </a:solidFill>
                        </a:rPr>
                        <a:t>state</a:t>
                      </a:r>
                      <a:r>
                        <a:rPr lang="en" sz="1000">
                          <a:solidFill>
                            <a:srgbClr val="FF0000"/>
                          </a:solidFill>
                        </a:rPr>
                        <a:t> </a:t>
                      </a:r>
                      <a:r>
                        <a:rPr lang="en" sz="1000"/>
                        <a:t>of a configuration? What fields and constructors will be needed?</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t>How will you determine if a configuration is </a:t>
                      </a:r>
                      <a:r>
                        <a:rPr b="1" i="1" lang="en" sz="1000">
                          <a:solidFill>
                            <a:srgbClr val="FF0000"/>
                          </a:solidFill>
                        </a:rPr>
                        <a:t>valid</a:t>
                      </a:r>
                      <a:r>
                        <a:rPr lang="en" sz="1000">
                          <a:solidFill>
                            <a:srgbClr val="FF0000"/>
                          </a:solidFill>
                        </a:rPr>
                        <a:t> </a:t>
                      </a:r>
                      <a:r>
                        <a:rPr lang="en" sz="1000"/>
                        <a:t>or not?</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566375">
                <a:tc>
                  <a:txBody>
                    <a:bodyPr/>
                    <a:lstStyle/>
                    <a:p>
                      <a:pPr indent="0" lvl="0" marL="0" rtl="0" algn="l">
                        <a:spcBef>
                          <a:spcPts val="0"/>
                        </a:spcBef>
                        <a:spcAft>
                          <a:spcPts val="0"/>
                        </a:spcAft>
                        <a:buNone/>
                      </a:pPr>
                      <a:r>
                        <a:rPr lang="en" sz="1000"/>
                        <a:t>How will you determine whether or not a configuration is the </a:t>
                      </a:r>
                      <a:r>
                        <a:rPr b="1" i="1" lang="en" sz="1000">
                          <a:solidFill>
                            <a:srgbClr val="FF0000"/>
                          </a:solidFill>
                        </a:rPr>
                        <a:t>goal</a:t>
                      </a:r>
                      <a:r>
                        <a:rPr lang="en" sz="1000"/>
                        <a:t>?</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a:t>What do the </a:t>
                      </a:r>
                      <a:r>
                        <a:rPr b="1" i="1" lang="en" sz="1000">
                          <a:solidFill>
                            <a:srgbClr val="FF0000"/>
                          </a:solidFill>
                        </a:rPr>
                        <a:t>successors</a:t>
                      </a:r>
                      <a:r>
                        <a:rPr lang="en" sz="1000">
                          <a:solidFill>
                            <a:srgbClr val="FF0000"/>
                          </a:solidFill>
                        </a:rPr>
                        <a:t> </a:t>
                      </a:r>
                      <a:r>
                        <a:rPr lang="en" sz="1000"/>
                        <a:t>of each configuration represent? How will you create them?</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262" name="Google Shape;2262;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63" name="Google Shape;2263;p10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Few Questions</a:t>
            </a:r>
            <a:endParaRPr/>
          </a:p>
        </p:txBody>
      </p:sp>
      <p:sp>
        <p:nvSpPr>
          <p:cNvPr id="2264" name="Google Shape;2264;p10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Think about how you would approach implementing a </a:t>
            </a:r>
            <a:r>
              <a:rPr lang="en">
                <a:latin typeface="Courier New"/>
                <a:ea typeface="Courier New"/>
                <a:cs typeface="Courier New"/>
                <a:sym typeface="Courier New"/>
              </a:rPr>
              <a:t>Configuration</a:t>
            </a:r>
            <a:r>
              <a:rPr lang="en"/>
              <a:t> for solving the N-Queens problem using backtracking. Take a few moments to consider each of the following questions. Answer them in a file named "</a:t>
            </a:r>
            <a:r>
              <a:rPr lang="en">
                <a:solidFill>
                  <a:srgbClr val="FF0000"/>
                </a:solidFill>
                <a:latin typeface="Courier New"/>
                <a:ea typeface="Courier New"/>
                <a:cs typeface="Courier New"/>
                <a:sym typeface="Courier New"/>
              </a:rPr>
              <a:t>queens.txt</a:t>
            </a:r>
            <a:r>
              <a:rPr lang="en"/>
              <a:t>".</a:t>
            </a:r>
            <a:endParaRPr/>
          </a:p>
        </p:txBody>
      </p:sp>
      <p:sp>
        <p:nvSpPr>
          <p:cNvPr id="2265" name="Google Shape;2265;p10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.27</a:t>
            </a:r>
            <a:endParaRPr/>
          </a:p>
        </p:txBody>
      </p:sp>
      <p:pic>
        <p:nvPicPr>
          <p:cNvPr id="2266" name="Google Shape;2266;p103"/>
          <p:cNvPicPr preferRelativeResize="0"/>
          <p:nvPr/>
        </p:nvPicPr>
        <p:blipFill>
          <a:blip r:embed="rId3">
            <a:alphaModFix/>
          </a:blip>
          <a:stretch>
            <a:fillRect/>
          </a:stretch>
        </p:blipFill>
        <p:spPr>
          <a:xfrm>
            <a:off x="117899" y="1822588"/>
            <a:ext cx="1856375" cy="1990800"/>
          </a:xfrm>
          <a:prstGeom prst="rect">
            <a:avLst/>
          </a:prstGeom>
          <a:noFill/>
          <a:ln>
            <a:noFill/>
          </a:ln>
        </p:spPr>
      </p:pic>
      <p:sp>
        <p:nvSpPr>
          <p:cNvPr id="2267" name="Google Shape;2267;p103"/>
          <p:cNvSpPr txBox="1"/>
          <p:nvPr/>
        </p:nvSpPr>
        <p:spPr>
          <a:xfrm>
            <a:off x="2193650" y="2307239"/>
            <a:ext cx="3094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Shadows Into Light"/>
                <a:ea typeface="Shadows Into Light"/>
                <a:cs typeface="Shadows Into Light"/>
                <a:sym typeface="Shadows Into Light"/>
              </a:rPr>
              <a:t>The queens that have been placed</a:t>
            </a:r>
            <a:endParaRPr>
              <a:solidFill>
                <a:srgbClr val="FF0000"/>
              </a:solidFill>
              <a:latin typeface="Shadows Into Light"/>
              <a:ea typeface="Shadows Into Light"/>
              <a:cs typeface="Shadows Into Light"/>
              <a:sym typeface="Shadows Into Light"/>
            </a:endParaRPr>
          </a:p>
          <a:p>
            <a:pPr indent="0" lvl="0" marL="0" rtl="0" algn="l">
              <a:spcBef>
                <a:spcPts val="0"/>
              </a:spcBef>
              <a:spcAft>
                <a:spcPts val="0"/>
              </a:spcAft>
              <a:buNone/>
            </a:pPr>
            <a:r>
              <a:rPr lang="en">
                <a:solidFill>
                  <a:srgbClr val="FF0000"/>
                </a:solidFill>
                <a:latin typeface="Shadows Into Light"/>
                <a:ea typeface="Shadows Into Light"/>
                <a:cs typeface="Shadows Into Light"/>
                <a:sym typeface="Shadows Into Light"/>
              </a:rPr>
              <a:t>The number of queens placed?</a:t>
            </a:r>
            <a:endParaRPr>
              <a:solidFill>
                <a:srgbClr val="FF0000"/>
              </a:solidFill>
              <a:latin typeface="Shadows Into Light"/>
              <a:ea typeface="Shadows Into Light"/>
              <a:cs typeface="Shadows Into Light"/>
              <a:sym typeface="Shadows Into Light"/>
            </a:endParaRPr>
          </a:p>
          <a:p>
            <a:pPr indent="0" lvl="0" marL="0" rtl="0" algn="l">
              <a:spcBef>
                <a:spcPts val="0"/>
              </a:spcBef>
              <a:spcAft>
                <a:spcPts val="0"/>
              </a:spcAft>
              <a:buNone/>
            </a:pPr>
            <a:r>
              <a:rPr lang="en">
                <a:solidFill>
                  <a:srgbClr val="FF0000"/>
                </a:solidFill>
                <a:latin typeface="Shadows Into Light"/>
                <a:ea typeface="Shadows Into Light"/>
                <a:cs typeface="Shadows Into Light"/>
                <a:sym typeface="Shadows Into Light"/>
              </a:rPr>
              <a:t>The last move made?</a:t>
            </a:r>
            <a:endParaRPr>
              <a:solidFill>
                <a:srgbClr val="FF0000"/>
              </a:solidFill>
              <a:latin typeface="Shadows Into Light"/>
              <a:ea typeface="Shadows Into Light"/>
              <a:cs typeface="Shadows Into Light"/>
              <a:sym typeface="Shadows Into Light"/>
            </a:endParaRPr>
          </a:p>
          <a:p>
            <a:pPr indent="0" lvl="0" marL="0" rtl="0" algn="l">
              <a:spcBef>
                <a:spcPts val="0"/>
              </a:spcBef>
              <a:spcAft>
                <a:spcPts val="0"/>
              </a:spcAft>
              <a:buNone/>
            </a:pPr>
            <a:r>
              <a:rPr lang="en">
                <a:solidFill>
                  <a:srgbClr val="FF0000"/>
                </a:solidFill>
                <a:latin typeface="Shadows Into Light"/>
                <a:ea typeface="Shadows Into Light"/>
                <a:cs typeface="Shadows Into Light"/>
                <a:sym typeface="Shadows Into Light"/>
              </a:rPr>
              <a:t>Do we need a chessboard?!</a:t>
            </a:r>
            <a:endParaRPr>
              <a:solidFill>
                <a:srgbClr val="FF0000"/>
              </a:solidFill>
              <a:latin typeface="Shadows Into Light"/>
              <a:ea typeface="Shadows Into Light"/>
              <a:cs typeface="Shadows Into Light"/>
              <a:sym typeface="Shadows Into Light"/>
            </a:endParaRPr>
          </a:p>
        </p:txBody>
      </p:sp>
      <p:sp>
        <p:nvSpPr>
          <p:cNvPr id="2268" name="Google Shape;2268;p103"/>
          <p:cNvSpPr txBox="1"/>
          <p:nvPr/>
        </p:nvSpPr>
        <p:spPr>
          <a:xfrm>
            <a:off x="5470250" y="2329700"/>
            <a:ext cx="3094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Shadows Into Light"/>
                <a:ea typeface="Shadows Into Light"/>
                <a:cs typeface="Shadows Into Light"/>
                <a:sym typeface="Shadows Into Light"/>
              </a:rPr>
              <a:t>Does the canAttack method return true for any pair of queens?</a:t>
            </a:r>
            <a:endParaRPr>
              <a:solidFill>
                <a:srgbClr val="FF0000"/>
              </a:solidFill>
              <a:latin typeface="Shadows Into Light"/>
              <a:ea typeface="Shadows Into Light"/>
              <a:cs typeface="Shadows Into Light"/>
              <a:sym typeface="Shadows Into Light"/>
            </a:endParaRPr>
          </a:p>
        </p:txBody>
      </p:sp>
      <p:sp>
        <p:nvSpPr>
          <p:cNvPr id="2269" name="Google Shape;2269;p103"/>
          <p:cNvSpPr txBox="1"/>
          <p:nvPr/>
        </p:nvSpPr>
        <p:spPr>
          <a:xfrm>
            <a:off x="2193650" y="4006100"/>
            <a:ext cx="3094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Shadows Into Light"/>
                <a:ea typeface="Shadows Into Light"/>
                <a:cs typeface="Shadows Into Light"/>
                <a:sym typeface="Shadows Into Light"/>
              </a:rPr>
              <a:t>It is valid</a:t>
            </a:r>
            <a:endParaRPr>
              <a:solidFill>
                <a:srgbClr val="FF0000"/>
              </a:solidFill>
              <a:latin typeface="Shadows Into Light"/>
              <a:ea typeface="Shadows Into Light"/>
              <a:cs typeface="Shadows Into Light"/>
              <a:sym typeface="Shadows Into Light"/>
            </a:endParaRPr>
          </a:p>
          <a:p>
            <a:pPr indent="0" lvl="0" marL="0" rtl="0" algn="l">
              <a:spcBef>
                <a:spcPts val="0"/>
              </a:spcBef>
              <a:spcAft>
                <a:spcPts val="0"/>
              </a:spcAft>
              <a:buNone/>
            </a:pPr>
            <a:r>
              <a:rPr lang="en">
                <a:solidFill>
                  <a:srgbClr val="FF0000"/>
                </a:solidFill>
                <a:latin typeface="Shadows Into Light"/>
                <a:ea typeface="Shadows Into Light"/>
                <a:cs typeface="Shadows Into Light"/>
                <a:sym typeface="Shadows Into Light"/>
              </a:rPr>
              <a:t>N queens have been placed on the board</a:t>
            </a:r>
            <a:endParaRPr>
              <a:solidFill>
                <a:srgbClr val="FF0000"/>
              </a:solidFill>
              <a:latin typeface="Shadows Into Light"/>
              <a:ea typeface="Shadows Into Light"/>
              <a:cs typeface="Shadows Into Light"/>
              <a:sym typeface="Shadows Into Light"/>
            </a:endParaRPr>
          </a:p>
        </p:txBody>
      </p:sp>
      <p:sp>
        <p:nvSpPr>
          <p:cNvPr id="2270" name="Google Shape;2270;p103"/>
          <p:cNvSpPr txBox="1"/>
          <p:nvPr/>
        </p:nvSpPr>
        <p:spPr>
          <a:xfrm>
            <a:off x="5470250" y="3929900"/>
            <a:ext cx="3094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Shadows Into Light"/>
                <a:ea typeface="Shadows Into Light"/>
                <a:cs typeface="Shadows Into Light"/>
                <a:sym typeface="Shadows Into Light"/>
              </a:rPr>
              <a:t>The set of next possible moves</a:t>
            </a:r>
            <a:endParaRPr>
              <a:solidFill>
                <a:srgbClr val="FF0000"/>
              </a:solidFill>
              <a:latin typeface="Shadows Into Light"/>
              <a:ea typeface="Shadows Into Light"/>
              <a:cs typeface="Shadows Into Light"/>
              <a:sym typeface="Shadows Into Light"/>
            </a:endParaRPr>
          </a:p>
          <a:p>
            <a:pPr indent="0" lvl="0" marL="0" rtl="0" algn="l">
              <a:spcBef>
                <a:spcPts val="0"/>
              </a:spcBef>
              <a:spcAft>
                <a:spcPts val="0"/>
              </a:spcAft>
              <a:buNone/>
            </a:pPr>
            <a:r>
              <a:rPr lang="en">
                <a:solidFill>
                  <a:srgbClr val="FF0000"/>
                </a:solidFill>
                <a:latin typeface="Shadows Into Light"/>
                <a:ea typeface="Shadows Into Light"/>
                <a:cs typeface="Shadows Into Light"/>
                <a:sym typeface="Shadows Into Light"/>
              </a:rPr>
              <a:t>Create one for every empty square on the board?</a:t>
            </a:r>
            <a:endParaRPr>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267"/>
                                        </p:tgtEl>
                                        <p:attrNameLst>
                                          <p:attrName>style.visibility</p:attrName>
                                        </p:attrNameLst>
                                      </p:cBhvr>
                                      <p:to>
                                        <p:strVal val="visible"/>
                                      </p:to>
                                    </p:set>
                                    <p:animEffect filter="fade" transition="in">
                                      <p:cBhvr>
                                        <p:cTn dur="1000"/>
                                        <p:tgtEl>
                                          <p:spTgt spid="2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8"/>
                                        </p:tgtEl>
                                        <p:attrNameLst>
                                          <p:attrName>style.visibility</p:attrName>
                                        </p:attrNameLst>
                                      </p:cBhvr>
                                      <p:to>
                                        <p:strVal val="visible"/>
                                      </p:to>
                                    </p:set>
                                    <p:animEffect filter="fade" transition="in">
                                      <p:cBhvr>
                                        <p:cTn dur="1000"/>
                                        <p:tgtEl>
                                          <p:spTgt spid="2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9"/>
                                        </p:tgtEl>
                                        <p:attrNameLst>
                                          <p:attrName>style.visibility</p:attrName>
                                        </p:attrNameLst>
                                      </p:cBhvr>
                                      <p:to>
                                        <p:strVal val="visible"/>
                                      </p:to>
                                    </p:set>
                                    <p:animEffect filter="fade" transition="in">
                                      <p:cBhvr>
                                        <p:cTn dur="1000"/>
                                        <p:tgtEl>
                                          <p:spTgt spid="2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0"/>
                                        </p:tgtEl>
                                        <p:attrNameLst>
                                          <p:attrName>style.visibility</p:attrName>
                                        </p:attrNameLst>
                                      </p:cBhvr>
                                      <p:to>
                                        <p:strVal val="visible"/>
                                      </p:to>
                                    </p:set>
                                    <p:animEffect filter="fade" transition="in">
                                      <p:cBhvr>
                                        <p:cTn dur="1000"/>
                                        <p:tgtEl>
                                          <p:spTgt spid="2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4" name="Shape 2274"/>
        <p:cNvGrpSpPr/>
        <p:nvPr/>
      </p:nvGrpSpPr>
      <p:grpSpPr>
        <a:xfrm>
          <a:off x="0" y="0"/>
          <a:ext cx="0" cy="0"/>
          <a:chOff x="0" y="0"/>
          <a:chExt cx="0" cy="0"/>
        </a:xfrm>
      </p:grpSpPr>
      <p:sp>
        <p:nvSpPr>
          <p:cNvPr id="2275" name="Google Shape;2275;p10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3000"/>
              <a:t>Implementing a Configuration</a:t>
            </a:r>
            <a:endParaRPr sz="3000"/>
          </a:p>
        </p:txBody>
      </p:sp>
      <p:sp>
        <p:nvSpPr>
          <p:cNvPr id="2276" name="Google Shape;2276;p104"/>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Implementing a solution to the N-Queens problem will require us to write an implementation of the </a:t>
            </a:r>
            <a:r>
              <a:rPr lang="en">
                <a:latin typeface="Courier New"/>
                <a:ea typeface="Courier New"/>
                <a:cs typeface="Courier New"/>
                <a:sym typeface="Courier New"/>
              </a:rPr>
              <a:t>Configuration</a:t>
            </a:r>
            <a:r>
              <a:rPr lang="en"/>
              <a:t> interface that can be used with the </a:t>
            </a:r>
            <a:r>
              <a:rPr lang="en">
                <a:latin typeface="Courier New"/>
                <a:ea typeface="Courier New"/>
                <a:cs typeface="Courier New"/>
                <a:sym typeface="Courier New"/>
              </a:rPr>
              <a:t>Backtracker</a:t>
            </a:r>
            <a:r>
              <a:rPr lang="en"/>
              <a:t>. Let's begin by creating a class and stubbing out the required functions.</a:t>
            </a:r>
            <a:endParaRPr/>
          </a:p>
        </p:txBody>
      </p:sp>
      <p:sp>
        <p:nvSpPr>
          <p:cNvPr id="2277" name="Google Shape;2277;p10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8" name="Google Shape;2278;p10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13.28</a:t>
            </a:r>
            <a:endParaRPr/>
          </a:p>
        </p:txBody>
      </p:sp>
      <p:sp>
        <p:nvSpPr>
          <p:cNvPr id="2279" name="Google Shape;2279;p104"/>
          <p:cNvSpPr txBox="1"/>
          <p:nvPr/>
        </p:nvSpPr>
        <p:spPr>
          <a:xfrm>
            <a:off x="228600" y="4115225"/>
            <a:ext cx="24384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For any given value of </a:t>
            </a:r>
            <a:r>
              <a:rPr b="1" i="1" lang="en" sz="1200">
                <a:solidFill>
                  <a:srgbClr val="FF0000"/>
                </a:solidFill>
              </a:rPr>
              <a:t>N&gt;3</a:t>
            </a:r>
            <a:r>
              <a:rPr lang="en" sz="1200"/>
              <a:t> there are multiple possible solutions.</a:t>
            </a:r>
            <a:endParaRPr sz="1200"/>
          </a:p>
        </p:txBody>
      </p:sp>
      <p:pic>
        <p:nvPicPr>
          <p:cNvPr id="2280" name="Google Shape;2280;p104"/>
          <p:cNvPicPr preferRelativeResize="0"/>
          <p:nvPr/>
        </p:nvPicPr>
        <p:blipFill>
          <a:blip r:embed="rId3">
            <a:alphaModFix/>
          </a:blip>
          <a:stretch>
            <a:fillRect/>
          </a:stretch>
        </p:blipFill>
        <p:spPr>
          <a:xfrm>
            <a:off x="228600" y="1849375"/>
            <a:ext cx="2438400" cy="2176939"/>
          </a:xfrm>
          <a:prstGeom prst="rect">
            <a:avLst/>
          </a:prstGeom>
          <a:noFill/>
          <a:ln>
            <a:noFill/>
          </a:ln>
        </p:spPr>
      </p:pic>
      <p:sp>
        <p:nvSpPr>
          <p:cNvPr id="2281" name="Google Shape;2281;p104"/>
          <p:cNvSpPr txBox="1"/>
          <p:nvPr>
            <p:ph idx="2" type="body"/>
          </p:nvPr>
        </p:nvSpPr>
        <p:spPr>
          <a:xfrm>
            <a:off x="2782475" y="1731275"/>
            <a:ext cx="6104700" cy="32370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NQueens</a:t>
            </a:r>
            <a:r>
              <a:rPr lang="en" sz="1400"/>
              <a:t>" in the </a:t>
            </a:r>
            <a:r>
              <a:rPr lang="en" sz="1400">
                <a:latin typeface="Courier New"/>
                <a:ea typeface="Courier New"/>
                <a:cs typeface="Courier New"/>
                <a:sym typeface="Courier New"/>
              </a:rPr>
              <a:t>queens.model</a:t>
            </a:r>
            <a:r>
              <a:rPr lang="en" sz="1400"/>
              <a:t> package.</a:t>
            </a:r>
            <a:endParaRPr sz="1400"/>
          </a:p>
          <a:p>
            <a:pPr indent="-304800" lvl="1" marL="914400" rtl="0" algn="l">
              <a:spcBef>
                <a:spcPts val="0"/>
              </a:spcBef>
              <a:spcAft>
                <a:spcPts val="0"/>
              </a:spcAft>
              <a:buSzPts val="1200"/>
              <a:buChar char="○"/>
            </a:pPr>
            <a:r>
              <a:rPr b="1" i="1" lang="en" sz="1200">
                <a:solidFill>
                  <a:srgbClr val="FF0000"/>
                </a:solidFill>
              </a:rPr>
              <a:t>Implement</a:t>
            </a:r>
            <a:r>
              <a:rPr lang="en" sz="1200">
                <a:solidFill>
                  <a:srgbClr val="FF0000"/>
                </a:solidFill>
              </a:rPr>
              <a:t> </a:t>
            </a:r>
            <a:r>
              <a:rPr lang="en" sz="1200"/>
              <a:t>the </a:t>
            </a:r>
            <a:r>
              <a:rPr lang="en" sz="1200">
                <a:latin typeface="Courier New"/>
                <a:ea typeface="Courier New"/>
                <a:cs typeface="Courier New"/>
                <a:sym typeface="Courier New"/>
              </a:rPr>
              <a:t>Configuration</a:t>
            </a:r>
            <a:r>
              <a:rPr lang="en" sz="1200"/>
              <a:t> interface. You will find it in the </a:t>
            </a:r>
            <a:r>
              <a:rPr lang="en" sz="1200">
                <a:latin typeface="Courier New"/>
                <a:ea typeface="Courier New"/>
                <a:cs typeface="Courier New"/>
                <a:sym typeface="Courier New"/>
              </a:rPr>
              <a:t>backtracker</a:t>
            </a:r>
            <a:r>
              <a:rPr lang="en" sz="1200"/>
              <a:t> package. Remember that it is </a:t>
            </a:r>
            <a:r>
              <a:rPr b="1" i="1" lang="en" sz="1200">
                <a:solidFill>
                  <a:srgbClr val="FF0000"/>
                </a:solidFill>
              </a:rPr>
              <a:t>generic</a:t>
            </a:r>
            <a:r>
              <a:rPr lang="en" sz="1200"/>
              <a:t>. Your implementation should specify </a:t>
            </a:r>
            <a:r>
              <a:rPr i="1" lang="en" sz="1200" u="sng"/>
              <a:t>its own type</a:t>
            </a:r>
            <a:r>
              <a:rPr lang="en" sz="1200"/>
              <a:t> in place of the type parameter, similar to implementing </a:t>
            </a:r>
            <a:r>
              <a:rPr lang="en" sz="1200">
                <a:latin typeface="Courier New"/>
                <a:ea typeface="Courier New"/>
                <a:cs typeface="Courier New"/>
                <a:sym typeface="Courier New"/>
              </a:rPr>
              <a:t>Comparable</a:t>
            </a:r>
            <a:r>
              <a:rPr lang="en" sz="1200"/>
              <a:t>.</a:t>
            </a:r>
            <a:endParaRPr sz="1200"/>
          </a:p>
          <a:p>
            <a:pPr indent="-304800" lvl="1" marL="914400" rtl="0" algn="l">
              <a:spcBef>
                <a:spcPts val="0"/>
              </a:spcBef>
              <a:spcAft>
                <a:spcPts val="0"/>
              </a:spcAft>
              <a:buSzPts val="1200"/>
              <a:buChar char="○"/>
            </a:pPr>
            <a:r>
              <a:rPr b="1" i="1" lang="en" sz="1200">
                <a:solidFill>
                  <a:srgbClr val="FF0000"/>
                </a:solidFill>
              </a:rPr>
              <a:t>Stub</a:t>
            </a:r>
            <a:r>
              <a:rPr lang="en" sz="1200">
                <a:solidFill>
                  <a:srgbClr val="FF0000"/>
                </a:solidFill>
              </a:rPr>
              <a:t> </a:t>
            </a:r>
            <a:r>
              <a:rPr lang="en" sz="1200"/>
              <a:t>out the required methods.</a:t>
            </a:r>
            <a:endParaRPr sz="1200"/>
          </a:p>
          <a:p>
            <a:pPr indent="-304800" lvl="1" marL="914400" rtl="0" algn="l">
              <a:spcBef>
                <a:spcPts val="0"/>
              </a:spcBef>
              <a:spcAft>
                <a:spcPts val="0"/>
              </a:spcAft>
              <a:buSzPts val="1200"/>
              <a:buChar char="○"/>
            </a:pPr>
            <a:r>
              <a:rPr lang="en" sz="1200"/>
              <a:t>Add any </a:t>
            </a:r>
            <a:r>
              <a:rPr b="1" i="1" lang="en" sz="1200">
                <a:solidFill>
                  <a:srgbClr val="FF0000"/>
                </a:solidFill>
              </a:rPr>
              <a:t>fields</a:t>
            </a:r>
            <a:r>
              <a:rPr lang="en" sz="1200">
                <a:solidFill>
                  <a:srgbClr val="FF0000"/>
                </a:solidFill>
              </a:rPr>
              <a:t> </a:t>
            </a:r>
            <a:r>
              <a:rPr lang="en" sz="1200"/>
              <a:t>that you think that you will be needing.</a:t>
            </a:r>
            <a:endParaRPr sz="1200"/>
          </a:p>
          <a:p>
            <a:pPr indent="-304800" lvl="1" marL="914400" rtl="0" algn="l">
              <a:spcBef>
                <a:spcPts val="0"/>
              </a:spcBef>
              <a:spcAft>
                <a:spcPts val="0"/>
              </a:spcAft>
              <a:buSzPts val="1200"/>
              <a:buChar char="○"/>
            </a:pPr>
            <a:r>
              <a:rPr lang="en" sz="1200"/>
              <a:t>Add an initializing </a:t>
            </a:r>
            <a:r>
              <a:rPr b="1" i="1" lang="en" sz="1200">
                <a:solidFill>
                  <a:srgbClr val="FF0000"/>
                </a:solidFill>
              </a:rPr>
              <a:t>constructor</a:t>
            </a:r>
            <a:r>
              <a:rPr lang="en" sz="1200"/>
              <a:t>.</a:t>
            </a:r>
            <a:endParaRPr sz="1200"/>
          </a:p>
          <a:p>
            <a:pPr indent="-304800" lvl="1" marL="914400" rtl="0" algn="l">
              <a:spcBef>
                <a:spcPts val="0"/>
              </a:spcBef>
              <a:spcAft>
                <a:spcPts val="0"/>
              </a:spcAft>
              <a:buSzPts val="1200"/>
              <a:buChar char="○"/>
            </a:pPr>
            <a:r>
              <a:rPr lang="en" sz="1200"/>
              <a:t>Add a </a:t>
            </a:r>
            <a:r>
              <a:rPr lang="en" sz="1200">
                <a:solidFill>
                  <a:srgbClr val="FF0000"/>
                </a:solidFill>
                <a:latin typeface="Courier New"/>
                <a:ea typeface="Courier New"/>
                <a:cs typeface="Courier New"/>
                <a:sym typeface="Courier New"/>
              </a:rPr>
              <a:t>toString()</a:t>
            </a:r>
            <a:r>
              <a:rPr lang="en" sz="1200"/>
              <a:t> that prints the configuration to standard output.</a:t>
            </a:r>
            <a:endParaRPr sz="1200"/>
          </a:p>
          <a:p>
            <a:pPr indent="-304800" lvl="2" marL="1371600" rtl="0" algn="l">
              <a:spcBef>
                <a:spcPts val="0"/>
              </a:spcBef>
              <a:spcAft>
                <a:spcPts val="0"/>
              </a:spcAft>
              <a:buSzPts val="1200"/>
              <a:buChar char="■"/>
            </a:pPr>
            <a:r>
              <a:rPr lang="en" sz="1200"/>
              <a:t>You don't need to do anything fancy.</a:t>
            </a:r>
            <a:endParaRPr sz="1200"/>
          </a:p>
          <a:p>
            <a:pPr indent="-317500" lvl="0" marL="457200" rtl="0" algn="l">
              <a:spcBef>
                <a:spcPts val="0"/>
              </a:spcBef>
              <a:spcAft>
                <a:spcPts val="0"/>
              </a:spcAft>
              <a:buSzPts val="1400"/>
              <a:buChar char="●"/>
            </a:pPr>
            <a:r>
              <a:rPr lang="en" sz="1400"/>
              <a:t>Define a </a:t>
            </a:r>
            <a:r>
              <a:rPr lang="en" sz="1400">
                <a:solidFill>
                  <a:srgbClr val="FF0000"/>
                </a:solidFill>
                <a:latin typeface="Courier New"/>
                <a:ea typeface="Courier New"/>
                <a:cs typeface="Courier New"/>
                <a:sym typeface="Courier New"/>
              </a:rPr>
              <a:t>main</a:t>
            </a:r>
            <a:r>
              <a:rPr lang="en" sz="1400">
                <a:solidFill>
                  <a:srgbClr val="FF0000"/>
                </a:solidFill>
              </a:rPr>
              <a:t> </a:t>
            </a:r>
            <a:r>
              <a:rPr lang="en" sz="1400"/>
              <a:t>method with the appropriate signature.</a:t>
            </a:r>
            <a:endParaRPr sz="1400"/>
          </a:p>
          <a:p>
            <a:pPr indent="-304800" lvl="1" marL="914400" rtl="0" algn="l">
              <a:spcBef>
                <a:spcPts val="0"/>
              </a:spcBef>
              <a:spcAft>
                <a:spcPts val="0"/>
              </a:spcAft>
              <a:buSzPts val="1200"/>
              <a:buChar char="○"/>
            </a:pPr>
            <a:r>
              <a:rPr b="1" i="1" lang="en" sz="1200">
                <a:solidFill>
                  <a:srgbClr val="FF0000"/>
                </a:solidFill>
              </a:rPr>
              <a:t>Create</a:t>
            </a:r>
            <a:r>
              <a:rPr lang="en" sz="1200"/>
              <a:t> an instance of your class representing an empty 4x4 chessboard.</a:t>
            </a:r>
            <a:endParaRPr sz="1200"/>
          </a:p>
          <a:p>
            <a:pPr indent="-304800" lvl="1" marL="914400" rtl="0" algn="l">
              <a:spcBef>
                <a:spcPts val="0"/>
              </a:spcBef>
              <a:spcAft>
                <a:spcPts val="0"/>
              </a:spcAft>
              <a:buSzPts val="1200"/>
              <a:buChar char="○"/>
            </a:pPr>
            <a:r>
              <a:rPr b="1" i="1" lang="en" sz="1200">
                <a:solidFill>
                  <a:srgbClr val="FF0000"/>
                </a:solidFill>
              </a:rPr>
              <a:t>Print</a:t>
            </a:r>
            <a:r>
              <a:rPr lang="en" sz="1200">
                <a:solidFill>
                  <a:srgbClr val="FF0000"/>
                </a:solidFill>
              </a:rPr>
              <a:t> </a:t>
            </a:r>
            <a:r>
              <a:rPr lang="en" sz="1200"/>
              <a:t>the configuration to standard output.</a:t>
            </a:r>
            <a:endParaRPr sz="12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5" name="Shape 2285"/>
        <p:cNvGrpSpPr/>
        <p:nvPr/>
      </p:nvGrpSpPr>
      <p:grpSpPr>
        <a:xfrm>
          <a:off x="0" y="0"/>
          <a:ext cx="0" cy="0"/>
          <a:chOff x="0" y="0"/>
          <a:chExt cx="0" cy="0"/>
        </a:xfrm>
      </p:grpSpPr>
      <p:sp>
        <p:nvSpPr>
          <p:cNvPr id="2286" name="Google Shape;2286;p10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Successor, Anyway?</a:t>
            </a:r>
            <a:endParaRPr/>
          </a:p>
        </p:txBody>
      </p:sp>
      <p:sp>
        <p:nvSpPr>
          <p:cNvPr id="2287" name="Google Shape;2287;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8" name="Google Shape;2288;p105"/>
          <p:cNvSpPr txBox="1"/>
          <p:nvPr/>
        </p:nvSpPr>
        <p:spPr>
          <a:xfrm>
            <a:off x="203025" y="149395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Each configuration represents an attempt at a solution to the problem after 0 or more choices have been made.</a:t>
            </a:r>
            <a:endParaRPr sz="1200"/>
          </a:p>
        </p:txBody>
      </p:sp>
      <p:sp>
        <p:nvSpPr>
          <p:cNvPr id="2289" name="Google Shape;2289;p105"/>
          <p:cNvSpPr txBox="1"/>
          <p:nvPr/>
        </p:nvSpPr>
        <p:spPr>
          <a:xfrm>
            <a:off x="203025" y="233215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Let's take a look at an extremely simple version of the </a:t>
            </a:r>
            <a:r>
              <a:rPr i="1" lang="en" sz="1200"/>
              <a:t>N-Queens </a:t>
            </a:r>
            <a:r>
              <a:rPr lang="en" sz="1200"/>
              <a:t>problem: </a:t>
            </a:r>
            <a:r>
              <a:rPr i="1" lang="en" sz="1200"/>
              <a:t>"Can 2 queens be played on a 2x2 chessboard?"</a:t>
            </a:r>
            <a:endParaRPr i="1" sz="1200"/>
          </a:p>
        </p:txBody>
      </p:sp>
      <p:sp>
        <p:nvSpPr>
          <p:cNvPr id="2290" name="Google Shape;2290;p105"/>
          <p:cNvSpPr txBox="1"/>
          <p:nvPr/>
        </p:nvSpPr>
        <p:spPr>
          <a:xfrm>
            <a:off x="203025" y="317035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It's immediately obvious to humans that there is no solution to this problem, but a computer will need to use trial and error to figure that out.</a:t>
            </a:r>
            <a:endParaRPr sz="1200"/>
          </a:p>
        </p:txBody>
      </p:sp>
      <p:sp>
        <p:nvSpPr>
          <p:cNvPr id="2291" name="Google Shape;2291;p105"/>
          <p:cNvSpPr txBox="1"/>
          <p:nvPr/>
        </p:nvSpPr>
        <p:spPr>
          <a:xfrm>
            <a:off x="203025" y="400855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a:t>
            </a:r>
            <a:r>
              <a:rPr b="1" i="1" lang="en" sz="1200">
                <a:solidFill>
                  <a:srgbClr val="FF0000"/>
                </a:solidFill>
              </a:rPr>
              <a:t>initial configuration</a:t>
            </a:r>
            <a:r>
              <a:rPr b="1" lang="en" sz="1200"/>
              <a:t> </a:t>
            </a:r>
            <a:r>
              <a:rPr lang="en" sz="1200"/>
              <a:t>represents a 2x2 chessboard on which </a:t>
            </a:r>
            <a:r>
              <a:rPr b="1" i="1" lang="en" sz="1200">
                <a:solidFill>
                  <a:srgbClr val="FF0000"/>
                </a:solidFill>
              </a:rPr>
              <a:t>no queens</a:t>
            </a:r>
            <a:r>
              <a:rPr lang="en" sz="1200"/>
              <a:t> have yet been played.</a:t>
            </a:r>
            <a:endParaRPr sz="1200"/>
          </a:p>
        </p:txBody>
      </p:sp>
      <p:graphicFrame>
        <p:nvGraphicFramePr>
          <p:cNvPr id="2292" name="Google Shape;2292;p105"/>
          <p:cNvGraphicFramePr/>
          <p:nvPr/>
        </p:nvGraphicFramePr>
        <p:xfrm>
          <a:off x="5911533" y="1493950"/>
          <a:ext cx="3000000" cy="3000000"/>
        </p:xfrm>
        <a:graphic>
          <a:graphicData uri="http://schemas.openxmlformats.org/drawingml/2006/table">
            <a:tbl>
              <a:tblPr>
                <a:noFill/>
                <a:tableStyleId>{89CCAE03-A2B2-4379-B0C2-E101A7E113D6}</a:tableStyleId>
              </a:tblPr>
              <a:tblGrid>
                <a:gridCol w="382850"/>
                <a:gridCol w="382850"/>
              </a:tblGrid>
              <a:tr h="2553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53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8"/>
                                        </p:tgtEl>
                                        <p:attrNameLst>
                                          <p:attrName>style.visibility</p:attrName>
                                        </p:attrNameLst>
                                      </p:cBhvr>
                                      <p:to>
                                        <p:strVal val="visible"/>
                                      </p:to>
                                    </p:set>
                                    <p:animEffect filter="fade" transition="in">
                                      <p:cBhvr>
                                        <p:cTn dur="1000"/>
                                        <p:tgtEl>
                                          <p:spTgt spid="2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9"/>
                                        </p:tgtEl>
                                        <p:attrNameLst>
                                          <p:attrName>style.visibility</p:attrName>
                                        </p:attrNameLst>
                                      </p:cBhvr>
                                      <p:to>
                                        <p:strVal val="visible"/>
                                      </p:to>
                                    </p:set>
                                    <p:animEffect filter="fade" transition="in">
                                      <p:cBhvr>
                                        <p:cTn dur="1000"/>
                                        <p:tgtEl>
                                          <p:spTgt spid="2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0"/>
                                        </p:tgtEl>
                                        <p:attrNameLst>
                                          <p:attrName>style.visibility</p:attrName>
                                        </p:attrNameLst>
                                      </p:cBhvr>
                                      <p:to>
                                        <p:strVal val="visible"/>
                                      </p:to>
                                    </p:set>
                                    <p:animEffect filter="fade" transition="in">
                                      <p:cBhvr>
                                        <p:cTn dur="1000"/>
                                        <p:tgtEl>
                                          <p:spTgt spid="2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1"/>
                                        </p:tgtEl>
                                        <p:attrNameLst>
                                          <p:attrName>style.visibility</p:attrName>
                                        </p:attrNameLst>
                                      </p:cBhvr>
                                      <p:to>
                                        <p:strVal val="visible"/>
                                      </p:to>
                                    </p:set>
                                    <p:animEffect filter="fade" transition="in">
                                      <p:cBhvr>
                                        <p:cTn dur="1000"/>
                                        <p:tgtEl>
                                          <p:spTgt spid="2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10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Successor, Anyway?</a:t>
            </a:r>
            <a:endParaRPr/>
          </a:p>
        </p:txBody>
      </p:sp>
      <p:sp>
        <p:nvSpPr>
          <p:cNvPr id="2298" name="Google Shape;2298;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99" name="Google Shape;2299;p106"/>
          <p:cNvSpPr txBox="1"/>
          <p:nvPr/>
        </p:nvSpPr>
        <p:spPr>
          <a:xfrm>
            <a:off x="203025" y="149395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 </a:t>
            </a:r>
            <a:r>
              <a:rPr b="1" i="1" lang="en" sz="1200">
                <a:solidFill>
                  <a:srgbClr val="FF0000"/>
                </a:solidFill>
              </a:rPr>
              <a:t>successor</a:t>
            </a:r>
            <a:r>
              <a:rPr lang="en" sz="1200">
                <a:solidFill>
                  <a:srgbClr val="FF0000"/>
                </a:solidFill>
              </a:rPr>
              <a:t> </a:t>
            </a:r>
            <a:r>
              <a:rPr lang="en" sz="1200"/>
              <a:t>is a </a:t>
            </a:r>
            <a:r>
              <a:rPr b="1" i="1" lang="en" sz="1200">
                <a:solidFill>
                  <a:srgbClr val="FF0000"/>
                </a:solidFill>
              </a:rPr>
              <a:t>new</a:t>
            </a:r>
            <a:r>
              <a:rPr lang="en" sz="1200">
                <a:solidFill>
                  <a:srgbClr val="FF0000"/>
                </a:solidFill>
              </a:rPr>
              <a:t> </a:t>
            </a:r>
            <a:r>
              <a:rPr lang="en" sz="1200"/>
              <a:t>configuration that includes all of the choices made by its parent plus </a:t>
            </a:r>
            <a:r>
              <a:rPr b="1" i="1" lang="en" sz="1200">
                <a:solidFill>
                  <a:srgbClr val="FF0000"/>
                </a:solidFill>
              </a:rPr>
              <a:t>one</a:t>
            </a:r>
            <a:r>
              <a:rPr lang="en" sz="1200">
                <a:solidFill>
                  <a:srgbClr val="FF0000"/>
                </a:solidFill>
              </a:rPr>
              <a:t> </a:t>
            </a:r>
            <a:r>
              <a:rPr lang="en" sz="1200"/>
              <a:t>additional choice.</a:t>
            </a:r>
            <a:endParaRPr sz="1200"/>
          </a:p>
        </p:txBody>
      </p:sp>
      <p:sp>
        <p:nvSpPr>
          <p:cNvPr id="2300" name="Google Shape;2300;p106"/>
          <p:cNvSpPr txBox="1"/>
          <p:nvPr/>
        </p:nvSpPr>
        <p:spPr>
          <a:xfrm>
            <a:off x="203025" y="233215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We </a:t>
            </a:r>
            <a:r>
              <a:rPr b="1" i="1" lang="en" sz="1200">
                <a:solidFill>
                  <a:srgbClr val="FF0000"/>
                </a:solidFill>
              </a:rPr>
              <a:t>could</a:t>
            </a:r>
            <a:r>
              <a:rPr lang="en" sz="1200">
                <a:solidFill>
                  <a:srgbClr val="FF0000"/>
                </a:solidFill>
              </a:rPr>
              <a:t> </a:t>
            </a:r>
            <a:r>
              <a:rPr lang="en" sz="1200"/>
              <a:t>say that there are </a:t>
            </a:r>
            <a:r>
              <a:rPr b="1" i="1" lang="en" sz="1200">
                <a:solidFill>
                  <a:srgbClr val="FF0000"/>
                </a:solidFill>
              </a:rPr>
              <a:t>four</a:t>
            </a:r>
            <a:r>
              <a:rPr lang="en" sz="1200">
                <a:solidFill>
                  <a:srgbClr val="FF0000"/>
                </a:solidFill>
              </a:rPr>
              <a:t> </a:t>
            </a:r>
            <a:r>
              <a:rPr lang="en" sz="1200"/>
              <a:t>such potential choices that can be made on an empty chessboard. </a:t>
            </a:r>
            <a:endParaRPr sz="1200"/>
          </a:p>
        </p:txBody>
      </p:sp>
      <p:sp>
        <p:nvSpPr>
          <p:cNvPr id="2301" name="Google Shape;2301;p106"/>
          <p:cNvSpPr txBox="1"/>
          <p:nvPr/>
        </p:nvSpPr>
        <p:spPr>
          <a:xfrm>
            <a:off x="203025" y="317035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But for now, let's focus on choices in just the </a:t>
            </a:r>
            <a:r>
              <a:rPr b="1" i="1" lang="en" sz="1200">
                <a:solidFill>
                  <a:srgbClr val="FF0000"/>
                </a:solidFill>
              </a:rPr>
              <a:t>top row</a:t>
            </a:r>
            <a:r>
              <a:rPr lang="en" sz="1200"/>
              <a:t> on the board. On such a small board, there are only </a:t>
            </a:r>
            <a:r>
              <a:rPr b="1" i="1" lang="en" sz="1200">
                <a:solidFill>
                  <a:srgbClr val="FF0000"/>
                </a:solidFill>
              </a:rPr>
              <a:t>two</a:t>
            </a:r>
            <a:r>
              <a:rPr lang="en" sz="1200">
                <a:solidFill>
                  <a:srgbClr val="FF0000"/>
                </a:solidFill>
              </a:rPr>
              <a:t> </a:t>
            </a:r>
            <a:r>
              <a:rPr lang="en" sz="1200"/>
              <a:t>such choices.</a:t>
            </a:r>
            <a:endParaRPr sz="1200"/>
          </a:p>
        </p:txBody>
      </p:sp>
      <p:cxnSp>
        <p:nvCxnSpPr>
          <p:cNvPr id="2302" name="Google Shape;2302;p106"/>
          <p:cNvCxnSpPr/>
          <p:nvPr/>
        </p:nvCxnSpPr>
        <p:spPr>
          <a:xfrm flipH="1">
            <a:off x="5067558" y="2174178"/>
            <a:ext cx="1113900" cy="440100"/>
          </a:xfrm>
          <a:prstGeom prst="straightConnector1">
            <a:avLst/>
          </a:prstGeom>
          <a:noFill/>
          <a:ln cap="flat" cmpd="sng" w="28575">
            <a:solidFill>
              <a:srgbClr val="000000"/>
            </a:solidFill>
            <a:prstDash val="solid"/>
            <a:round/>
            <a:headEnd len="med" w="med" type="none"/>
            <a:tailEnd len="med" w="med" type="none"/>
          </a:ln>
        </p:spPr>
      </p:cxnSp>
      <p:cxnSp>
        <p:nvCxnSpPr>
          <p:cNvPr id="2303" name="Google Shape;2303;p106"/>
          <p:cNvCxnSpPr/>
          <p:nvPr/>
        </p:nvCxnSpPr>
        <p:spPr>
          <a:xfrm>
            <a:off x="6411653" y="2174178"/>
            <a:ext cx="1113900" cy="440100"/>
          </a:xfrm>
          <a:prstGeom prst="straightConnector1">
            <a:avLst/>
          </a:prstGeom>
          <a:noFill/>
          <a:ln cap="flat" cmpd="sng" w="28575">
            <a:solidFill>
              <a:srgbClr val="000000"/>
            </a:solidFill>
            <a:prstDash val="solid"/>
            <a:round/>
            <a:headEnd len="med" w="med" type="none"/>
            <a:tailEnd len="med" w="med" type="none"/>
          </a:ln>
        </p:spPr>
      </p:cxnSp>
      <p:graphicFrame>
        <p:nvGraphicFramePr>
          <p:cNvPr id="2304" name="Google Shape;2304;p106"/>
          <p:cNvGraphicFramePr/>
          <p:nvPr/>
        </p:nvGraphicFramePr>
        <p:xfrm>
          <a:off x="5911533" y="1493950"/>
          <a:ext cx="3000000" cy="3000000"/>
        </p:xfrm>
        <a:graphic>
          <a:graphicData uri="http://schemas.openxmlformats.org/drawingml/2006/table">
            <a:tbl>
              <a:tblPr>
                <a:noFill/>
                <a:tableStyleId>{89CCAE03-A2B2-4379-B0C2-E101A7E113D6}</a:tableStyleId>
              </a:tblPr>
              <a:tblGrid>
                <a:gridCol w="382850"/>
                <a:gridCol w="382850"/>
              </a:tblGrid>
              <a:tr h="2553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53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aphicFrame>
        <p:nvGraphicFramePr>
          <p:cNvPr id="2305" name="Google Shape;2305;p106"/>
          <p:cNvGraphicFramePr/>
          <p:nvPr/>
        </p:nvGraphicFramePr>
        <p:xfrm>
          <a:off x="4692875" y="2603150"/>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pic>
        <p:nvPicPr>
          <p:cNvPr id="2306" name="Google Shape;2306;p106"/>
          <p:cNvPicPr preferRelativeResize="0"/>
          <p:nvPr/>
        </p:nvPicPr>
        <p:blipFill>
          <a:blip r:embed="rId3">
            <a:alphaModFix/>
          </a:blip>
          <a:stretch>
            <a:fillRect/>
          </a:stretch>
        </p:blipFill>
        <p:spPr>
          <a:xfrm>
            <a:off x="4784325" y="2603052"/>
            <a:ext cx="232933" cy="393601"/>
          </a:xfrm>
          <a:prstGeom prst="rect">
            <a:avLst/>
          </a:prstGeom>
          <a:noFill/>
          <a:ln>
            <a:noFill/>
          </a:ln>
        </p:spPr>
      </p:pic>
      <p:graphicFrame>
        <p:nvGraphicFramePr>
          <p:cNvPr id="2307" name="Google Shape;2307;p106"/>
          <p:cNvGraphicFramePr/>
          <p:nvPr/>
        </p:nvGraphicFramePr>
        <p:xfrm>
          <a:off x="7131275" y="2603150"/>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pic>
        <p:nvPicPr>
          <p:cNvPr id="2308" name="Google Shape;2308;p106"/>
          <p:cNvPicPr preferRelativeResize="0"/>
          <p:nvPr/>
        </p:nvPicPr>
        <p:blipFill>
          <a:blip r:embed="rId3">
            <a:alphaModFix/>
          </a:blip>
          <a:stretch>
            <a:fillRect/>
          </a:stretch>
        </p:blipFill>
        <p:spPr>
          <a:xfrm>
            <a:off x="7577213" y="2609938"/>
            <a:ext cx="248586" cy="393601"/>
          </a:xfrm>
          <a:prstGeom prst="rect">
            <a:avLst/>
          </a:prstGeom>
          <a:noFill/>
          <a:ln>
            <a:noFill/>
          </a:ln>
        </p:spPr>
      </p:pic>
      <p:sp>
        <p:nvSpPr>
          <p:cNvPr id="2309" name="Google Shape;2309;p106"/>
          <p:cNvSpPr txBox="1"/>
          <p:nvPr/>
        </p:nvSpPr>
        <p:spPr>
          <a:xfrm>
            <a:off x="203025" y="400855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Each of these choices is a </a:t>
            </a:r>
            <a:r>
              <a:rPr b="1" i="1" lang="en" sz="1200">
                <a:solidFill>
                  <a:srgbClr val="FF0000"/>
                </a:solidFill>
              </a:rPr>
              <a:t>successor</a:t>
            </a:r>
            <a:r>
              <a:rPr lang="en" sz="1200">
                <a:solidFill>
                  <a:srgbClr val="FF0000"/>
                </a:solidFill>
              </a:rPr>
              <a:t> </a:t>
            </a:r>
            <a:r>
              <a:rPr lang="en" sz="1200"/>
              <a:t>of the original configuration with </a:t>
            </a:r>
            <a:r>
              <a:rPr b="1" i="1" lang="en" sz="1200">
                <a:solidFill>
                  <a:srgbClr val="FF0000"/>
                </a:solidFill>
              </a:rPr>
              <a:t>one</a:t>
            </a:r>
            <a:r>
              <a:rPr lang="en" sz="1200">
                <a:solidFill>
                  <a:srgbClr val="FF0000"/>
                </a:solidFill>
              </a:rPr>
              <a:t> </a:t>
            </a:r>
            <a:r>
              <a:rPr lang="en" sz="1200"/>
              <a:t>additional choice made.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9"/>
                                        </p:tgtEl>
                                        <p:attrNameLst>
                                          <p:attrName>style.visibility</p:attrName>
                                        </p:attrNameLst>
                                      </p:cBhvr>
                                      <p:to>
                                        <p:strVal val="visible"/>
                                      </p:to>
                                    </p:set>
                                    <p:animEffect filter="fade" transition="in">
                                      <p:cBhvr>
                                        <p:cTn dur="1000"/>
                                        <p:tgtEl>
                                          <p:spTgt spid="2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0"/>
                                        </p:tgtEl>
                                        <p:attrNameLst>
                                          <p:attrName>style.visibility</p:attrName>
                                        </p:attrNameLst>
                                      </p:cBhvr>
                                      <p:to>
                                        <p:strVal val="visible"/>
                                      </p:to>
                                    </p:set>
                                    <p:animEffect filter="fade" transition="in">
                                      <p:cBhvr>
                                        <p:cTn dur="1000"/>
                                        <p:tgtEl>
                                          <p:spTgt spid="2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1"/>
                                        </p:tgtEl>
                                        <p:attrNameLst>
                                          <p:attrName>style.visibility</p:attrName>
                                        </p:attrNameLst>
                                      </p:cBhvr>
                                      <p:to>
                                        <p:strVal val="visible"/>
                                      </p:to>
                                    </p:set>
                                    <p:animEffect filter="fade" transition="in">
                                      <p:cBhvr>
                                        <p:cTn dur="1000"/>
                                        <p:tgtEl>
                                          <p:spTgt spid="23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02"/>
                                        </p:tgtEl>
                                        <p:attrNameLst>
                                          <p:attrName>style.visibility</p:attrName>
                                        </p:attrNameLst>
                                      </p:cBhvr>
                                      <p:to>
                                        <p:strVal val="visible"/>
                                      </p:to>
                                    </p:set>
                                    <p:animEffect filter="fade" transition="in">
                                      <p:cBhvr>
                                        <p:cTn dur="1000"/>
                                        <p:tgtEl>
                                          <p:spTgt spid="2302"/>
                                        </p:tgtEl>
                                      </p:cBhvr>
                                    </p:animEffect>
                                  </p:childTnLst>
                                </p:cTn>
                              </p:par>
                              <p:par>
                                <p:cTn fill="hold" nodeType="withEffect" presetClass="entr" presetID="10" presetSubtype="0">
                                  <p:stCondLst>
                                    <p:cond delay="0"/>
                                  </p:stCondLst>
                                  <p:childTnLst>
                                    <p:set>
                                      <p:cBhvr>
                                        <p:cTn dur="1" fill="hold">
                                          <p:stCondLst>
                                            <p:cond delay="0"/>
                                          </p:stCondLst>
                                        </p:cTn>
                                        <p:tgtEl>
                                          <p:spTgt spid="2303"/>
                                        </p:tgtEl>
                                        <p:attrNameLst>
                                          <p:attrName>style.visibility</p:attrName>
                                        </p:attrNameLst>
                                      </p:cBhvr>
                                      <p:to>
                                        <p:strVal val="visible"/>
                                      </p:to>
                                    </p:set>
                                    <p:animEffect filter="fade" transition="in">
                                      <p:cBhvr>
                                        <p:cTn dur="1000"/>
                                        <p:tgtEl>
                                          <p:spTgt spid="2303"/>
                                        </p:tgtEl>
                                      </p:cBhvr>
                                    </p:animEffect>
                                  </p:childTnLst>
                                </p:cTn>
                              </p:par>
                              <p:par>
                                <p:cTn fill="hold" nodeType="withEffect" presetClass="entr" presetID="10" presetSubtype="0">
                                  <p:stCondLst>
                                    <p:cond delay="0"/>
                                  </p:stCondLst>
                                  <p:childTnLst>
                                    <p:set>
                                      <p:cBhvr>
                                        <p:cTn dur="1" fill="hold">
                                          <p:stCondLst>
                                            <p:cond delay="0"/>
                                          </p:stCondLst>
                                        </p:cTn>
                                        <p:tgtEl>
                                          <p:spTgt spid="2305"/>
                                        </p:tgtEl>
                                        <p:attrNameLst>
                                          <p:attrName>style.visibility</p:attrName>
                                        </p:attrNameLst>
                                      </p:cBhvr>
                                      <p:to>
                                        <p:strVal val="visible"/>
                                      </p:to>
                                    </p:set>
                                    <p:animEffect filter="fade" transition="in">
                                      <p:cBhvr>
                                        <p:cTn dur="1000"/>
                                        <p:tgtEl>
                                          <p:spTgt spid="2305"/>
                                        </p:tgtEl>
                                      </p:cBhvr>
                                    </p:animEffect>
                                  </p:childTnLst>
                                </p:cTn>
                              </p:par>
                              <p:par>
                                <p:cTn fill="hold" nodeType="withEffect" presetClass="entr" presetID="10" presetSubtype="0">
                                  <p:stCondLst>
                                    <p:cond delay="0"/>
                                  </p:stCondLst>
                                  <p:childTnLst>
                                    <p:set>
                                      <p:cBhvr>
                                        <p:cTn dur="1" fill="hold">
                                          <p:stCondLst>
                                            <p:cond delay="0"/>
                                          </p:stCondLst>
                                        </p:cTn>
                                        <p:tgtEl>
                                          <p:spTgt spid="2306"/>
                                        </p:tgtEl>
                                        <p:attrNameLst>
                                          <p:attrName>style.visibility</p:attrName>
                                        </p:attrNameLst>
                                      </p:cBhvr>
                                      <p:to>
                                        <p:strVal val="visible"/>
                                      </p:to>
                                    </p:set>
                                    <p:animEffect filter="fade" transition="in">
                                      <p:cBhvr>
                                        <p:cTn dur="1000"/>
                                        <p:tgtEl>
                                          <p:spTgt spid="2306"/>
                                        </p:tgtEl>
                                      </p:cBhvr>
                                    </p:animEffect>
                                  </p:childTnLst>
                                </p:cTn>
                              </p:par>
                              <p:par>
                                <p:cTn fill="hold" nodeType="withEffect" presetClass="entr" presetID="10" presetSubtype="0">
                                  <p:stCondLst>
                                    <p:cond delay="0"/>
                                  </p:stCondLst>
                                  <p:childTnLst>
                                    <p:set>
                                      <p:cBhvr>
                                        <p:cTn dur="1" fill="hold">
                                          <p:stCondLst>
                                            <p:cond delay="0"/>
                                          </p:stCondLst>
                                        </p:cTn>
                                        <p:tgtEl>
                                          <p:spTgt spid="2307"/>
                                        </p:tgtEl>
                                        <p:attrNameLst>
                                          <p:attrName>style.visibility</p:attrName>
                                        </p:attrNameLst>
                                      </p:cBhvr>
                                      <p:to>
                                        <p:strVal val="visible"/>
                                      </p:to>
                                    </p:set>
                                    <p:animEffect filter="fade" transition="in">
                                      <p:cBhvr>
                                        <p:cTn dur="1000"/>
                                        <p:tgtEl>
                                          <p:spTgt spid="2307"/>
                                        </p:tgtEl>
                                      </p:cBhvr>
                                    </p:animEffect>
                                  </p:childTnLst>
                                </p:cTn>
                              </p:par>
                              <p:par>
                                <p:cTn fill="hold" nodeType="withEffect" presetClass="entr" presetID="10" presetSubtype="0">
                                  <p:stCondLst>
                                    <p:cond delay="0"/>
                                  </p:stCondLst>
                                  <p:childTnLst>
                                    <p:set>
                                      <p:cBhvr>
                                        <p:cTn dur="1" fill="hold">
                                          <p:stCondLst>
                                            <p:cond delay="0"/>
                                          </p:stCondLst>
                                        </p:cTn>
                                        <p:tgtEl>
                                          <p:spTgt spid="2308"/>
                                        </p:tgtEl>
                                        <p:attrNameLst>
                                          <p:attrName>style.visibility</p:attrName>
                                        </p:attrNameLst>
                                      </p:cBhvr>
                                      <p:to>
                                        <p:strVal val="visible"/>
                                      </p:to>
                                    </p:set>
                                    <p:animEffect filter="fade" transition="in">
                                      <p:cBhvr>
                                        <p:cTn dur="1000"/>
                                        <p:tgtEl>
                                          <p:spTgt spid="2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9"/>
                                        </p:tgtEl>
                                        <p:attrNameLst>
                                          <p:attrName>style.visibility</p:attrName>
                                        </p:attrNameLst>
                                      </p:cBhvr>
                                      <p:to>
                                        <p:strVal val="visible"/>
                                      </p:to>
                                    </p:set>
                                    <p:animEffect filter="fade" transition="in">
                                      <p:cBhvr>
                                        <p:cTn dur="1000"/>
                                        <p:tgtEl>
                                          <p:spTgt spid="2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cxnSp>
        <p:nvCxnSpPr>
          <p:cNvPr id="2314" name="Google Shape;2314;p107"/>
          <p:cNvCxnSpPr/>
          <p:nvPr/>
        </p:nvCxnSpPr>
        <p:spPr>
          <a:xfrm flipH="1">
            <a:off x="5067558" y="2174178"/>
            <a:ext cx="1113900" cy="440100"/>
          </a:xfrm>
          <a:prstGeom prst="straightConnector1">
            <a:avLst/>
          </a:prstGeom>
          <a:noFill/>
          <a:ln cap="flat" cmpd="sng" w="28575">
            <a:solidFill>
              <a:srgbClr val="000000"/>
            </a:solidFill>
            <a:prstDash val="solid"/>
            <a:round/>
            <a:headEnd len="med" w="med" type="none"/>
            <a:tailEnd len="med" w="med" type="none"/>
          </a:ln>
        </p:spPr>
      </p:cxnSp>
      <p:cxnSp>
        <p:nvCxnSpPr>
          <p:cNvPr id="2315" name="Google Shape;2315;p107"/>
          <p:cNvCxnSpPr/>
          <p:nvPr/>
        </p:nvCxnSpPr>
        <p:spPr>
          <a:xfrm>
            <a:off x="6411653" y="2174178"/>
            <a:ext cx="1113900" cy="440100"/>
          </a:xfrm>
          <a:prstGeom prst="straightConnector1">
            <a:avLst/>
          </a:prstGeom>
          <a:noFill/>
          <a:ln cap="flat" cmpd="sng" w="28575">
            <a:solidFill>
              <a:srgbClr val="000000"/>
            </a:solidFill>
            <a:prstDash val="solid"/>
            <a:round/>
            <a:headEnd len="med" w="med" type="none"/>
            <a:tailEnd len="med" w="med" type="none"/>
          </a:ln>
        </p:spPr>
      </p:cxnSp>
      <p:graphicFrame>
        <p:nvGraphicFramePr>
          <p:cNvPr id="2316" name="Google Shape;2316;p107"/>
          <p:cNvGraphicFramePr/>
          <p:nvPr/>
        </p:nvGraphicFramePr>
        <p:xfrm>
          <a:off x="5911533" y="1493950"/>
          <a:ext cx="3000000" cy="3000000"/>
        </p:xfrm>
        <a:graphic>
          <a:graphicData uri="http://schemas.openxmlformats.org/drawingml/2006/table">
            <a:tbl>
              <a:tblPr>
                <a:noFill/>
                <a:tableStyleId>{89CCAE03-A2B2-4379-B0C2-E101A7E113D6}</a:tableStyleId>
              </a:tblPr>
              <a:tblGrid>
                <a:gridCol w="382850"/>
                <a:gridCol w="382850"/>
              </a:tblGrid>
              <a:tr h="2553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53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aphicFrame>
        <p:nvGraphicFramePr>
          <p:cNvPr id="2317" name="Google Shape;2317;p107"/>
          <p:cNvGraphicFramePr/>
          <p:nvPr/>
        </p:nvGraphicFramePr>
        <p:xfrm>
          <a:off x="3986446" y="3718645"/>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aphicFrame>
        <p:nvGraphicFramePr>
          <p:cNvPr id="2318" name="Google Shape;2318;p107"/>
          <p:cNvGraphicFramePr/>
          <p:nvPr/>
        </p:nvGraphicFramePr>
        <p:xfrm>
          <a:off x="5413057" y="3718645"/>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aphicFrame>
        <p:nvGraphicFramePr>
          <p:cNvPr id="2319" name="Google Shape;2319;p107"/>
          <p:cNvGraphicFramePr/>
          <p:nvPr/>
        </p:nvGraphicFramePr>
        <p:xfrm>
          <a:off x="4692875" y="2603150"/>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pic>
        <p:nvPicPr>
          <p:cNvPr id="2320" name="Google Shape;2320;p107"/>
          <p:cNvPicPr preferRelativeResize="0"/>
          <p:nvPr/>
        </p:nvPicPr>
        <p:blipFill>
          <a:blip r:embed="rId3">
            <a:alphaModFix/>
          </a:blip>
          <a:stretch>
            <a:fillRect/>
          </a:stretch>
        </p:blipFill>
        <p:spPr>
          <a:xfrm>
            <a:off x="4784325" y="2603052"/>
            <a:ext cx="232933" cy="393601"/>
          </a:xfrm>
          <a:prstGeom prst="rect">
            <a:avLst/>
          </a:prstGeom>
          <a:noFill/>
          <a:ln>
            <a:noFill/>
          </a:ln>
        </p:spPr>
      </p:pic>
      <p:graphicFrame>
        <p:nvGraphicFramePr>
          <p:cNvPr id="2321" name="Google Shape;2321;p107"/>
          <p:cNvGraphicFramePr/>
          <p:nvPr/>
        </p:nvGraphicFramePr>
        <p:xfrm>
          <a:off x="7131275" y="2603150"/>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pSp>
        <p:nvGrpSpPr>
          <p:cNvPr id="2322" name="Google Shape;2322;p107"/>
          <p:cNvGrpSpPr/>
          <p:nvPr/>
        </p:nvGrpSpPr>
        <p:grpSpPr>
          <a:xfrm>
            <a:off x="5458072" y="3391870"/>
            <a:ext cx="667244" cy="1122467"/>
            <a:chOff x="5458072" y="3391870"/>
            <a:chExt cx="667244" cy="1122467"/>
          </a:xfrm>
        </p:grpSpPr>
        <p:pic>
          <p:nvPicPr>
            <p:cNvPr id="2323" name="Google Shape;2323;p107"/>
            <p:cNvPicPr preferRelativeResize="0"/>
            <p:nvPr/>
          </p:nvPicPr>
          <p:blipFill>
            <a:blip r:embed="rId3">
              <a:alphaModFix/>
            </a:blip>
            <a:stretch>
              <a:fillRect/>
            </a:stretch>
          </p:blipFill>
          <p:spPr>
            <a:xfrm>
              <a:off x="5892383" y="4120736"/>
              <a:ext cx="232933" cy="393601"/>
            </a:xfrm>
            <a:prstGeom prst="rect">
              <a:avLst/>
            </a:prstGeom>
            <a:noFill/>
            <a:ln>
              <a:noFill/>
            </a:ln>
          </p:spPr>
        </p:pic>
        <p:cxnSp>
          <p:nvCxnSpPr>
            <p:cNvPr id="2324" name="Google Shape;2324;p107"/>
            <p:cNvCxnSpPr/>
            <p:nvPr/>
          </p:nvCxnSpPr>
          <p:spPr>
            <a:xfrm>
              <a:off x="5458072" y="3391870"/>
              <a:ext cx="309600" cy="323400"/>
            </a:xfrm>
            <a:prstGeom prst="straightConnector1">
              <a:avLst/>
            </a:prstGeom>
            <a:noFill/>
            <a:ln cap="flat" cmpd="sng" w="28575">
              <a:solidFill>
                <a:srgbClr val="000000"/>
              </a:solidFill>
              <a:prstDash val="solid"/>
              <a:round/>
              <a:headEnd len="med" w="med" type="none"/>
              <a:tailEnd len="med" w="med" type="none"/>
            </a:ln>
          </p:spPr>
        </p:cxnSp>
        <p:pic>
          <p:nvPicPr>
            <p:cNvPr id="2325" name="Google Shape;2325;p107"/>
            <p:cNvPicPr preferRelativeResize="0"/>
            <p:nvPr/>
          </p:nvPicPr>
          <p:blipFill>
            <a:blip r:embed="rId3">
              <a:alphaModFix/>
            </a:blip>
            <a:stretch>
              <a:fillRect/>
            </a:stretch>
          </p:blipFill>
          <p:spPr>
            <a:xfrm>
              <a:off x="5511944" y="3718547"/>
              <a:ext cx="232933" cy="393601"/>
            </a:xfrm>
            <a:prstGeom prst="rect">
              <a:avLst/>
            </a:prstGeom>
            <a:noFill/>
            <a:ln>
              <a:noFill/>
            </a:ln>
          </p:spPr>
        </p:pic>
      </p:grpSp>
      <p:grpSp>
        <p:nvGrpSpPr>
          <p:cNvPr id="2326" name="Google Shape;2326;p107"/>
          <p:cNvGrpSpPr/>
          <p:nvPr/>
        </p:nvGrpSpPr>
        <p:grpSpPr>
          <a:xfrm>
            <a:off x="4077896" y="3391870"/>
            <a:ext cx="622976" cy="1121907"/>
            <a:chOff x="4077896" y="3391870"/>
            <a:chExt cx="622976" cy="1121907"/>
          </a:xfrm>
        </p:grpSpPr>
        <p:pic>
          <p:nvPicPr>
            <p:cNvPr id="2327" name="Google Shape;2327;p107"/>
            <p:cNvPicPr preferRelativeResize="0"/>
            <p:nvPr/>
          </p:nvPicPr>
          <p:blipFill>
            <a:blip r:embed="rId3">
              <a:alphaModFix/>
            </a:blip>
            <a:stretch>
              <a:fillRect/>
            </a:stretch>
          </p:blipFill>
          <p:spPr>
            <a:xfrm>
              <a:off x="4077896" y="3718547"/>
              <a:ext cx="232933" cy="393601"/>
            </a:xfrm>
            <a:prstGeom prst="rect">
              <a:avLst/>
            </a:prstGeom>
            <a:noFill/>
            <a:ln>
              <a:noFill/>
            </a:ln>
          </p:spPr>
        </p:pic>
        <p:cxnSp>
          <p:nvCxnSpPr>
            <p:cNvPr id="2328" name="Google Shape;2328;p107"/>
            <p:cNvCxnSpPr/>
            <p:nvPr/>
          </p:nvCxnSpPr>
          <p:spPr>
            <a:xfrm flipH="1">
              <a:off x="4391272" y="3391870"/>
              <a:ext cx="309600" cy="323400"/>
            </a:xfrm>
            <a:prstGeom prst="straightConnector1">
              <a:avLst/>
            </a:prstGeom>
            <a:noFill/>
            <a:ln cap="flat" cmpd="sng" w="28575">
              <a:solidFill>
                <a:srgbClr val="000000"/>
              </a:solidFill>
              <a:prstDash val="solid"/>
              <a:round/>
              <a:headEnd len="med" w="med" type="none"/>
              <a:tailEnd len="med" w="med" type="none"/>
            </a:ln>
          </p:spPr>
        </p:cxnSp>
        <p:pic>
          <p:nvPicPr>
            <p:cNvPr id="2329" name="Google Shape;2329;p107"/>
            <p:cNvPicPr preferRelativeResize="0"/>
            <p:nvPr/>
          </p:nvPicPr>
          <p:blipFill>
            <a:blip r:embed="rId3">
              <a:alphaModFix/>
            </a:blip>
            <a:stretch>
              <a:fillRect/>
            </a:stretch>
          </p:blipFill>
          <p:spPr>
            <a:xfrm>
              <a:off x="4077896" y="4120176"/>
              <a:ext cx="232933" cy="393601"/>
            </a:xfrm>
            <a:prstGeom prst="rect">
              <a:avLst/>
            </a:prstGeom>
            <a:noFill/>
            <a:ln>
              <a:noFill/>
            </a:ln>
          </p:spPr>
        </p:pic>
      </p:grpSp>
      <p:sp>
        <p:nvSpPr>
          <p:cNvPr id="2330" name="Google Shape;2330;p10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Successor, Anyway?</a:t>
            </a:r>
            <a:endParaRPr/>
          </a:p>
        </p:txBody>
      </p:sp>
      <p:sp>
        <p:nvSpPr>
          <p:cNvPr id="2331" name="Google Shape;2331;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2" name="Google Shape;2332;p107"/>
          <p:cNvSpPr txBox="1"/>
          <p:nvPr/>
        </p:nvSpPr>
        <p:spPr>
          <a:xfrm>
            <a:off x="203025" y="1417750"/>
            <a:ext cx="3400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a:t>
            </a:r>
            <a:r>
              <a:rPr b="1" i="1" lang="en" sz="1200">
                <a:solidFill>
                  <a:srgbClr val="FF0000"/>
                </a:solidFill>
              </a:rPr>
              <a:t>goal</a:t>
            </a:r>
            <a:r>
              <a:rPr lang="en" sz="1200">
                <a:solidFill>
                  <a:srgbClr val="FF0000"/>
                </a:solidFill>
              </a:rPr>
              <a:t> </a:t>
            </a:r>
            <a:r>
              <a:rPr lang="en" sz="1200"/>
              <a:t>of this problem is to see if there is a way to play </a:t>
            </a:r>
            <a:r>
              <a:rPr b="1" i="1" lang="en" sz="1200">
                <a:solidFill>
                  <a:srgbClr val="FF0000"/>
                </a:solidFill>
              </a:rPr>
              <a:t>two</a:t>
            </a:r>
            <a:r>
              <a:rPr lang="en" sz="1200">
                <a:solidFill>
                  <a:srgbClr val="FF0000"/>
                </a:solidFill>
              </a:rPr>
              <a:t> </a:t>
            </a:r>
            <a:r>
              <a:rPr lang="en" sz="1200"/>
              <a:t>queens on the </a:t>
            </a:r>
            <a:r>
              <a:rPr b="1" i="1" lang="en" sz="1200">
                <a:solidFill>
                  <a:srgbClr val="FF0000"/>
                </a:solidFill>
              </a:rPr>
              <a:t>2x2</a:t>
            </a:r>
            <a:r>
              <a:rPr lang="en" sz="1200"/>
              <a:t> board.</a:t>
            </a:r>
            <a:endParaRPr sz="1200"/>
          </a:p>
        </p:txBody>
      </p:sp>
      <p:sp>
        <p:nvSpPr>
          <p:cNvPr id="2333" name="Google Shape;2333;p107"/>
          <p:cNvSpPr txBox="1"/>
          <p:nvPr/>
        </p:nvSpPr>
        <p:spPr>
          <a:xfrm>
            <a:off x="203025" y="2076045"/>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Neither successor is the goal, but neither is </a:t>
            </a:r>
            <a:r>
              <a:rPr b="1" i="1" lang="en" sz="1200">
                <a:solidFill>
                  <a:srgbClr val="FF0000"/>
                </a:solidFill>
              </a:rPr>
              <a:t>invalid</a:t>
            </a:r>
            <a:r>
              <a:rPr lang="en" sz="1200"/>
              <a:t>, and so the </a:t>
            </a:r>
            <a:r>
              <a:rPr b="1" i="1" lang="en" sz="1200">
                <a:solidFill>
                  <a:srgbClr val="FF0000"/>
                </a:solidFill>
              </a:rPr>
              <a:t>backtracking algorithm</a:t>
            </a:r>
            <a:r>
              <a:rPr lang="en" sz="1200">
                <a:solidFill>
                  <a:srgbClr val="FF0000"/>
                </a:solidFill>
              </a:rPr>
              <a:t> </a:t>
            </a:r>
            <a:r>
              <a:rPr lang="en" sz="1200"/>
              <a:t>will choose </a:t>
            </a:r>
            <a:r>
              <a:rPr b="1" i="1" lang="en" sz="1200">
                <a:solidFill>
                  <a:srgbClr val="FF0000"/>
                </a:solidFill>
              </a:rPr>
              <a:t>one</a:t>
            </a:r>
            <a:r>
              <a:rPr lang="en" sz="1200">
                <a:solidFill>
                  <a:srgbClr val="FF0000"/>
                </a:solidFill>
              </a:rPr>
              <a:t> </a:t>
            </a:r>
            <a:r>
              <a:rPr lang="en" sz="1200"/>
              <a:t>and ask it for </a:t>
            </a:r>
            <a:r>
              <a:rPr b="1" i="1" lang="en" sz="1200">
                <a:solidFill>
                  <a:srgbClr val="FF0000"/>
                </a:solidFill>
              </a:rPr>
              <a:t>its successors</a:t>
            </a:r>
            <a:r>
              <a:rPr lang="en" sz="1200"/>
              <a:t>.</a:t>
            </a:r>
            <a:endParaRPr sz="1200"/>
          </a:p>
        </p:txBody>
      </p:sp>
      <p:sp>
        <p:nvSpPr>
          <p:cNvPr id="2334" name="Google Shape;2334;p107"/>
          <p:cNvSpPr txBox="1"/>
          <p:nvPr/>
        </p:nvSpPr>
        <p:spPr>
          <a:xfrm>
            <a:off x="203025" y="2919143"/>
            <a:ext cx="3400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We will avoid wasting time by trying to play another queen in the top row. Instead, we will create a </a:t>
            </a:r>
            <a:r>
              <a:rPr b="1" i="1" lang="en" sz="1200">
                <a:solidFill>
                  <a:srgbClr val="FF0000"/>
                </a:solidFill>
              </a:rPr>
              <a:t>successor</a:t>
            </a:r>
            <a:r>
              <a:rPr lang="en" sz="1200">
                <a:solidFill>
                  <a:srgbClr val="FF0000"/>
                </a:solidFill>
              </a:rPr>
              <a:t> </a:t>
            </a:r>
            <a:r>
              <a:rPr lang="en" sz="1200"/>
              <a:t>for each of the possible moves in the </a:t>
            </a:r>
            <a:r>
              <a:rPr b="1" i="1" lang="en" sz="1200">
                <a:solidFill>
                  <a:srgbClr val="FF0000"/>
                </a:solidFill>
              </a:rPr>
              <a:t>bottom row</a:t>
            </a:r>
            <a:r>
              <a:rPr lang="en" sz="1200"/>
              <a:t>.</a:t>
            </a:r>
            <a:endParaRPr sz="1200"/>
          </a:p>
        </p:txBody>
      </p:sp>
      <p:sp>
        <p:nvSpPr>
          <p:cNvPr id="2335" name="Google Shape;2335;p107"/>
          <p:cNvSpPr txBox="1"/>
          <p:nvPr/>
        </p:nvSpPr>
        <p:spPr>
          <a:xfrm>
            <a:off x="203025" y="3946743"/>
            <a:ext cx="3400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Both of these are </a:t>
            </a:r>
            <a:r>
              <a:rPr b="1" i="1" lang="en" sz="1200">
                <a:solidFill>
                  <a:srgbClr val="FF0000"/>
                </a:solidFill>
              </a:rPr>
              <a:t>invalid</a:t>
            </a:r>
            <a:r>
              <a:rPr lang="en" sz="1200">
                <a:solidFill>
                  <a:srgbClr val="FF0000"/>
                </a:solidFill>
              </a:rPr>
              <a:t> </a:t>
            </a:r>
            <a:r>
              <a:rPr lang="en" sz="1200"/>
              <a:t>configurations with illegal moves. These are </a:t>
            </a:r>
            <a:r>
              <a:rPr b="1" i="1" lang="en" sz="1200">
                <a:solidFill>
                  <a:srgbClr val="FF0000"/>
                </a:solidFill>
              </a:rPr>
              <a:t>dead ends</a:t>
            </a:r>
            <a:r>
              <a:rPr lang="en" sz="1200"/>
              <a:t>.</a:t>
            </a:r>
            <a:endParaRPr sz="1200"/>
          </a:p>
        </p:txBody>
      </p:sp>
      <p:grpSp>
        <p:nvGrpSpPr>
          <p:cNvPr id="2336" name="Google Shape;2336;p107"/>
          <p:cNvGrpSpPr/>
          <p:nvPr/>
        </p:nvGrpSpPr>
        <p:grpSpPr>
          <a:xfrm>
            <a:off x="3873608" y="3624136"/>
            <a:ext cx="2424347" cy="990300"/>
            <a:chOff x="3873608" y="3624136"/>
            <a:chExt cx="2424347" cy="990300"/>
          </a:xfrm>
        </p:grpSpPr>
        <p:sp>
          <p:nvSpPr>
            <p:cNvPr id="2337" name="Google Shape;2337;p107"/>
            <p:cNvSpPr/>
            <p:nvPr/>
          </p:nvSpPr>
          <p:spPr>
            <a:xfrm>
              <a:off x="3873608" y="3624136"/>
              <a:ext cx="990300" cy="990300"/>
            </a:xfrm>
            <a:prstGeom prst="mathMultiply">
              <a:avLst>
                <a:gd fmla="val 9722" name="adj1"/>
              </a:avLst>
            </a:prstGeom>
            <a:solidFill>
              <a:srgbClr val="FF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107"/>
            <p:cNvSpPr/>
            <p:nvPr/>
          </p:nvSpPr>
          <p:spPr>
            <a:xfrm>
              <a:off x="5307656" y="3624136"/>
              <a:ext cx="990300" cy="990300"/>
            </a:xfrm>
            <a:prstGeom prst="mathMultiply">
              <a:avLst>
                <a:gd fmla="val 9722" name="adj1"/>
              </a:avLst>
            </a:prstGeom>
            <a:solidFill>
              <a:srgbClr val="FF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339" name="Google Shape;2339;p107"/>
          <p:cNvPicPr preferRelativeResize="0"/>
          <p:nvPr/>
        </p:nvPicPr>
        <p:blipFill>
          <a:blip r:embed="rId3">
            <a:alphaModFix/>
          </a:blip>
          <a:stretch>
            <a:fillRect/>
          </a:stretch>
        </p:blipFill>
        <p:spPr>
          <a:xfrm>
            <a:off x="7577213" y="2609938"/>
            <a:ext cx="248586" cy="393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2"/>
                                        </p:tgtEl>
                                        <p:attrNameLst>
                                          <p:attrName>style.visibility</p:attrName>
                                        </p:attrNameLst>
                                      </p:cBhvr>
                                      <p:to>
                                        <p:strVal val="visible"/>
                                      </p:to>
                                    </p:set>
                                    <p:animEffect filter="fade" transition="in">
                                      <p:cBhvr>
                                        <p:cTn dur="1000"/>
                                        <p:tgtEl>
                                          <p:spTgt spid="2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3"/>
                                        </p:tgtEl>
                                        <p:attrNameLst>
                                          <p:attrName>style.visibility</p:attrName>
                                        </p:attrNameLst>
                                      </p:cBhvr>
                                      <p:to>
                                        <p:strVal val="visible"/>
                                      </p:to>
                                    </p:set>
                                    <p:animEffect filter="fade" transition="in">
                                      <p:cBhvr>
                                        <p:cTn dur="1000"/>
                                        <p:tgtEl>
                                          <p:spTgt spid="2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4"/>
                                        </p:tgtEl>
                                        <p:attrNameLst>
                                          <p:attrName>style.visibility</p:attrName>
                                        </p:attrNameLst>
                                      </p:cBhvr>
                                      <p:to>
                                        <p:strVal val="visible"/>
                                      </p:to>
                                    </p:set>
                                    <p:animEffect filter="fade" transition="in">
                                      <p:cBhvr>
                                        <p:cTn dur="1000"/>
                                        <p:tgtEl>
                                          <p:spTgt spid="23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17"/>
                                        </p:tgtEl>
                                        <p:attrNameLst>
                                          <p:attrName>style.visibility</p:attrName>
                                        </p:attrNameLst>
                                      </p:cBhvr>
                                      <p:to>
                                        <p:strVal val="visible"/>
                                      </p:to>
                                    </p:set>
                                    <p:animEffect filter="fade" transition="in">
                                      <p:cBhvr>
                                        <p:cTn dur="1000"/>
                                        <p:tgtEl>
                                          <p:spTgt spid="2317"/>
                                        </p:tgtEl>
                                      </p:cBhvr>
                                    </p:animEffect>
                                  </p:childTnLst>
                                </p:cTn>
                              </p:par>
                              <p:par>
                                <p:cTn fill="hold" nodeType="withEffect" presetClass="entr" presetID="10" presetSubtype="0">
                                  <p:stCondLst>
                                    <p:cond delay="0"/>
                                  </p:stCondLst>
                                  <p:childTnLst>
                                    <p:set>
                                      <p:cBhvr>
                                        <p:cTn dur="1" fill="hold">
                                          <p:stCondLst>
                                            <p:cond delay="0"/>
                                          </p:stCondLst>
                                        </p:cTn>
                                        <p:tgtEl>
                                          <p:spTgt spid="2326"/>
                                        </p:tgtEl>
                                        <p:attrNameLst>
                                          <p:attrName>style.visibility</p:attrName>
                                        </p:attrNameLst>
                                      </p:cBhvr>
                                      <p:to>
                                        <p:strVal val="visible"/>
                                      </p:to>
                                    </p:set>
                                    <p:animEffect filter="fade" transition="in">
                                      <p:cBhvr>
                                        <p:cTn dur="1000"/>
                                        <p:tgtEl>
                                          <p:spTgt spid="2326"/>
                                        </p:tgtEl>
                                      </p:cBhvr>
                                    </p:animEffect>
                                  </p:childTnLst>
                                </p:cTn>
                              </p:par>
                              <p:par>
                                <p:cTn fill="hold" nodeType="withEffect" presetClass="entr" presetID="10" presetSubtype="0">
                                  <p:stCondLst>
                                    <p:cond delay="0"/>
                                  </p:stCondLst>
                                  <p:childTnLst>
                                    <p:set>
                                      <p:cBhvr>
                                        <p:cTn dur="1" fill="hold">
                                          <p:stCondLst>
                                            <p:cond delay="0"/>
                                          </p:stCondLst>
                                        </p:cTn>
                                        <p:tgtEl>
                                          <p:spTgt spid="2318"/>
                                        </p:tgtEl>
                                        <p:attrNameLst>
                                          <p:attrName>style.visibility</p:attrName>
                                        </p:attrNameLst>
                                      </p:cBhvr>
                                      <p:to>
                                        <p:strVal val="visible"/>
                                      </p:to>
                                    </p:set>
                                    <p:animEffect filter="fade" transition="in">
                                      <p:cBhvr>
                                        <p:cTn dur="1000"/>
                                        <p:tgtEl>
                                          <p:spTgt spid="2318"/>
                                        </p:tgtEl>
                                      </p:cBhvr>
                                    </p:animEffect>
                                  </p:childTnLst>
                                </p:cTn>
                              </p:par>
                              <p:par>
                                <p:cTn fill="hold" nodeType="withEffect" presetClass="entr" presetID="10" presetSubtype="0">
                                  <p:stCondLst>
                                    <p:cond delay="0"/>
                                  </p:stCondLst>
                                  <p:childTnLst>
                                    <p:set>
                                      <p:cBhvr>
                                        <p:cTn dur="1" fill="hold">
                                          <p:stCondLst>
                                            <p:cond delay="0"/>
                                          </p:stCondLst>
                                        </p:cTn>
                                        <p:tgtEl>
                                          <p:spTgt spid="2322"/>
                                        </p:tgtEl>
                                        <p:attrNameLst>
                                          <p:attrName>style.visibility</p:attrName>
                                        </p:attrNameLst>
                                      </p:cBhvr>
                                      <p:to>
                                        <p:strVal val="visible"/>
                                      </p:to>
                                    </p:set>
                                    <p:animEffect filter="fade" transition="in">
                                      <p:cBhvr>
                                        <p:cTn dur="1000"/>
                                        <p:tgtEl>
                                          <p:spTgt spid="2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5"/>
                                        </p:tgtEl>
                                        <p:attrNameLst>
                                          <p:attrName>style.visibility</p:attrName>
                                        </p:attrNameLst>
                                      </p:cBhvr>
                                      <p:to>
                                        <p:strVal val="visible"/>
                                      </p:to>
                                    </p:set>
                                    <p:animEffect filter="fade" transition="in">
                                      <p:cBhvr>
                                        <p:cTn dur="1000"/>
                                        <p:tgtEl>
                                          <p:spTgt spid="23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36"/>
                                        </p:tgtEl>
                                        <p:attrNameLst>
                                          <p:attrName>style.visibility</p:attrName>
                                        </p:attrNameLst>
                                      </p:cBhvr>
                                      <p:to>
                                        <p:strVal val="visible"/>
                                      </p:to>
                                    </p:set>
                                    <p:animEffect filter="fade" transition="in">
                                      <p:cBhvr>
                                        <p:cTn dur="1000"/>
                                        <p:tgtEl>
                                          <p:spTgt spid="2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3" name="Shape 2343"/>
        <p:cNvGrpSpPr/>
        <p:nvPr/>
      </p:nvGrpSpPr>
      <p:grpSpPr>
        <a:xfrm>
          <a:off x="0" y="0"/>
          <a:ext cx="0" cy="0"/>
          <a:chOff x="0" y="0"/>
          <a:chExt cx="0" cy="0"/>
        </a:xfrm>
      </p:grpSpPr>
      <p:cxnSp>
        <p:nvCxnSpPr>
          <p:cNvPr id="2344" name="Google Shape;2344;p108"/>
          <p:cNvCxnSpPr/>
          <p:nvPr/>
        </p:nvCxnSpPr>
        <p:spPr>
          <a:xfrm flipH="1">
            <a:off x="5067558" y="2174178"/>
            <a:ext cx="1113900" cy="440100"/>
          </a:xfrm>
          <a:prstGeom prst="straightConnector1">
            <a:avLst/>
          </a:prstGeom>
          <a:noFill/>
          <a:ln cap="flat" cmpd="sng" w="28575">
            <a:solidFill>
              <a:srgbClr val="000000"/>
            </a:solidFill>
            <a:prstDash val="solid"/>
            <a:round/>
            <a:headEnd len="med" w="med" type="none"/>
            <a:tailEnd len="med" w="med" type="none"/>
          </a:ln>
        </p:spPr>
      </p:cxnSp>
      <p:cxnSp>
        <p:nvCxnSpPr>
          <p:cNvPr id="2345" name="Google Shape;2345;p108"/>
          <p:cNvCxnSpPr/>
          <p:nvPr/>
        </p:nvCxnSpPr>
        <p:spPr>
          <a:xfrm>
            <a:off x="6411653" y="2174178"/>
            <a:ext cx="1113900" cy="440100"/>
          </a:xfrm>
          <a:prstGeom prst="straightConnector1">
            <a:avLst/>
          </a:prstGeom>
          <a:noFill/>
          <a:ln cap="flat" cmpd="sng" w="28575">
            <a:solidFill>
              <a:srgbClr val="000000"/>
            </a:solidFill>
            <a:prstDash val="solid"/>
            <a:round/>
            <a:headEnd len="med" w="med" type="none"/>
            <a:tailEnd len="med" w="med" type="none"/>
          </a:ln>
        </p:spPr>
      </p:cxnSp>
      <p:graphicFrame>
        <p:nvGraphicFramePr>
          <p:cNvPr id="2346" name="Google Shape;2346;p108"/>
          <p:cNvGraphicFramePr/>
          <p:nvPr/>
        </p:nvGraphicFramePr>
        <p:xfrm>
          <a:off x="5911533" y="1493950"/>
          <a:ext cx="3000000" cy="3000000"/>
        </p:xfrm>
        <a:graphic>
          <a:graphicData uri="http://schemas.openxmlformats.org/drawingml/2006/table">
            <a:tbl>
              <a:tblPr>
                <a:noFill/>
                <a:tableStyleId>{89CCAE03-A2B2-4379-B0C2-E101A7E113D6}</a:tableStyleId>
              </a:tblPr>
              <a:tblGrid>
                <a:gridCol w="382850"/>
                <a:gridCol w="382850"/>
              </a:tblGrid>
              <a:tr h="2553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53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aphicFrame>
        <p:nvGraphicFramePr>
          <p:cNvPr id="2347" name="Google Shape;2347;p108"/>
          <p:cNvGraphicFramePr/>
          <p:nvPr/>
        </p:nvGraphicFramePr>
        <p:xfrm>
          <a:off x="3986446" y="3718645"/>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aphicFrame>
        <p:nvGraphicFramePr>
          <p:cNvPr id="2348" name="Google Shape;2348;p108"/>
          <p:cNvGraphicFramePr/>
          <p:nvPr/>
        </p:nvGraphicFramePr>
        <p:xfrm>
          <a:off x="5413057" y="3718645"/>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pSp>
        <p:nvGrpSpPr>
          <p:cNvPr id="2349" name="Google Shape;2349;p108"/>
          <p:cNvGrpSpPr/>
          <p:nvPr/>
        </p:nvGrpSpPr>
        <p:grpSpPr>
          <a:xfrm>
            <a:off x="4077896" y="3391870"/>
            <a:ext cx="622976" cy="720278"/>
            <a:chOff x="5393925" y="2276375"/>
            <a:chExt cx="622976" cy="720278"/>
          </a:xfrm>
        </p:grpSpPr>
        <p:pic>
          <p:nvPicPr>
            <p:cNvPr id="2350" name="Google Shape;2350;p108"/>
            <p:cNvPicPr preferRelativeResize="0"/>
            <p:nvPr/>
          </p:nvPicPr>
          <p:blipFill>
            <a:blip r:embed="rId3">
              <a:alphaModFix/>
            </a:blip>
            <a:stretch>
              <a:fillRect/>
            </a:stretch>
          </p:blipFill>
          <p:spPr>
            <a:xfrm>
              <a:off x="5393925" y="2603052"/>
              <a:ext cx="232933" cy="393601"/>
            </a:xfrm>
            <a:prstGeom prst="rect">
              <a:avLst/>
            </a:prstGeom>
            <a:noFill/>
            <a:ln>
              <a:noFill/>
            </a:ln>
          </p:spPr>
        </p:pic>
        <p:cxnSp>
          <p:nvCxnSpPr>
            <p:cNvPr id="2351" name="Google Shape;2351;p108"/>
            <p:cNvCxnSpPr/>
            <p:nvPr/>
          </p:nvCxnSpPr>
          <p:spPr>
            <a:xfrm flipH="1">
              <a:off x="5707301" y="2276375"/>
              <a:ext cx="309600" cy="323400"/>
            </a:xfrm>
            <a:prstGeom prst="straightConnector1">
              <a:avLst/>
            </a:prstGeom>
            <a:noFill/>
            <a:ln cap="flat" cmpd="sng" w="28575">
              <a:solidFill>
                <a:srgbClr val="000000"/>
              </a:solidFill>
              <a:prstDash val="solid"/>
              <a:round/>
              <a:headEnd len="med" w="med" type="none"/>
              <a:tailEnd len="med" w="med" type="none"/>
            </a:ln>
          </p:spPr>
        </p:cxnSp>
      </p:grpSp>
      <p:grpSp>
        <p:nvGrpSpPr>
          <p:cNvPr id="2352" name="Google Shape;2352;p108"/>
          <p:cNvGrpSpPr/>
          <p:nvPr/>
        </p:nvGrpSpPr>
        <p:grpSpPr>
          <a:xfrm>
            <a:off x="5458072" y="3391870"/>
            <a:ext cx="667244" cy="1122467"/>
            <a:chOff x="6774101" y="2276375"/>
            <a:chExt cx="667244" cy="1122467"/>
          </a:xfrm>
        </p:grpSpPr>
        <p:pic>
          <p:nvPicPr>
            <p:cNvPr id="2353" name="Google Shape;2353;p108"/>
            <p:cNvPicPr preferRelativeResize="0"/>
            <p:nvPr/>
          </p:nvPicPr>
          <p:blipFill>
            <a:blip r:embed="rId3">
              <a:alphaModFix/>
            </a:blip>
            <a:stretch>
              <a:fillRect/>
            </a:stretch>
          </p:blipFill>
          <p:spPr>
            <a:xfrm>
              <a:off x="7208412" y="3005242"/>
              <a:ext cx="232933" cy="393601"/>
            </a:xfrm>
            <a:prstGeom prst="rect">
              <a:avLst/>
            </a:prstGeom>
            <a:noFill/>
            <a:ln>
              <a:noFill/>
            </a:ln>
          </p:spPr>
        </p:pic>
        <p:cxnSp>
          <p:nvCxnSpPr>
            <p:cNvPr id="2354" name="Google Shape;2354;p108"/>
            <p:cNvCxnSpPr/>
            <p:nvPr/>
          </p:nvCxnSpPr>
          <p:spPr>
            <a:xfrm>
              <a:off x="6774101" y="2276375"/>
              <a:ext cx="309600" cy="323400"/>
            </a:xfrm>
            <a:prstGeom prst="straightConnector1">
              <a:avLst/>
            </a:prstGeom>
            <a:noFill/>
            <a:ln cap="flat" cmpd="sng" w="28575">
              <a:solidFill>
                <a:srgbClr val="000000"/>
              </a:solidFill>
              <a:prstDash val="solid"/>
              <a:round/>
              <a:headEnd len="med" w="med" type="none"/>
              <a:tailEnd len="med" w="med" type="none"/>
            </a:ln>
          </p:spPr>
        </p:cxnSp>
      </p:grpSp>
      <p:graphicFrame>
        <p:nvGraphicFramePr>
          <p:cNvPr id="2355" name="Google Shape;2355;p108"/>
          <p:cNvGraphicFramePr/>
          <p:nvPr/>
        </p:nvGraphicFramePr>
        <p:xfrm>
          <a:off x="4692875" y="2603150"/>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pic>
        <p:nvPicPr>
          <p:cNvPr id="2356" name="Google Shape;2356;p108"/>
          <p:cNvPicPr preferRelativeResize="0"/>
          <p:nvPr/>
        </p:nvPicPr>
        <p:blipFill>
          <a:blip r:embed="rId3">
            <a:alphaModFix/>
          </a:blip>
          <a:stretch>
            <a:fillRect/>
          </a:stretch>
        </p:blipFill>
        <p:spPr>
          <a:xfrm>
            <a:off x="4784325" y="2603052"/>
            <a:ext cx="232933" cy="393601"/>
          </a:xfrm>
          <a:prstGeom prst="rect">
            <a:avLst/>
          </a:prstGeom>
          <a:noFill/>
          <a:ln>
            <a:noFill/>
          </a:ln>
        </p:spPr>
      </p:pic>
      <p:graphicFrame>
        <p:nvGraphicFramePr>
          <p:cNvPr id="2357" name="Google Shape;2357;p108"/>
          <p:cNvGraphicFramePr/>
          <p:nvPr/>
        </p:nvGraphicFramePr>
        <p:xfrm>
          <a:off x="6424846" y="3718645"/>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aphicFrame>
        <p:nvGraphicFramePr>
          <p:cNvPr id="2358" name="Google Shape;2358;p108"/>
          <p:cNvGraphicFramePr/>
          <p:nvPr/>
        </p:nvGraphicFramePr>
        <p:xfrm>
          <a:off x="7851457" y="3718645"/>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aphicFrame>
        <p:nvGraphicFramePr>
          <p:cNvPr id="2359" name="Google Shape;2359;p108"/>
          <p:cNvGraphicFramePr/>
          <p:nvPr/>
        </p:nvGraphicFramePr>
        <p:xfrm>
          <a:off x="7131275" y="2603150"/>
          <a:ext cx="3000000" cy="3000000"/>
        </p:xfrm>
        <a:graphic>
          <a:graphicData uri="http://schemas.openxmlformats.org/drawingml/2006/table">
            <a:tbl>
              <a:tblPr>
                <a:noFill/>
                <a:tableStyleId>{89CCAE03-A2B2-4379-B0C2-E101A7E113D6}</a:tableStyleId>
              </a:tblPr>
              <a:tblGrid>
                <a:gridCol w="382850"/>
                <a:gridCol w="382850"/>
              </a:tblGrid>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200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pic>
        <p:nvPicPr>
          <p:cNvPr id="2360" name="Google Shape;2360;p108"/>
          <p:cNvPicPr preferRelativeResize="0"/>
          <p:nvPr/>
        </p:nvPicPr>
        <p:blipFill>
          <a:blip r:embed="rId3">
            <a:alphaModFix/>
          </a:blip>
          <a:stretch>
            <a:fillRect/>
          </a:stretch>
        </p:blipFill>
        <p:spPr>
          <a:xfrm>
            <a:off x="7577660" y="2609491"/>
            <a:ext cx="248586" cy="393601"/>
          </a:xfrm>
          <a:prstGeom prst="rect">
            <a:avLst/>
          </a:prstGeom>
          <a:noFill/>
          <a:ln>
            <a:noFill/>
          </a:ln>
        </p:spPr>
      </p:pic>
      <p:pic>
        <p:nvPicPr>
          <p:cNvPr id="2361" name="Google Shape;2361;p108"/>
          <p:cNvPicPr preferRelativeResize="0"/>
          <p:nvPr/>
        </p:nvPicPr>
        <p:blipFill>
          <a:blip r:embed="rId3">
            <a:alphaModFix/>
          </a:blip>
          <a:stretch>
            <a:fillRect/>
          </a:stretch>
        </p:blipFill>
        <p:spPr>
          <a:xfrm>
            <a:off x="5511944" y="3718547"/>
            <a:ext cx="232933" cy="393601"/>
          </a:xfrm>
          <a:prstGeom prst="rect">
            <a:avLst/>
          </a:prstGeom>
          <a:noFill/>
          <a:ln>
            <a:noFill/>
          </a:ln>
        </p:spPr>
      </p:pic>
      <p:pic>
        <p:nvPicPr>
          <p:cNvPr id="2362" name="Google Shape;2362;p108"/>
          <p:cNvPicPr preferRelativeResize="0"/>
          <p:nvPr/>
        </p:nvPicPr>
        <p:blipFill>
          <a:blip r:embed="rId3">
            <a:alphaModFix/>
          </a:blip>
          <a:stretch>
            <a:fillRect/>
          </a:stretch>
        </p:blipFill>
        <p:spPr>
          <a:xfrm>
            <a:off x="4077896" y="4120176"/>
            <a:ext cx="232933" cy="393601"/>
          </a:xfrm>
          <a:prstGeom prst="rect">
            <a:avLst/>
          </a:prstGeom>
          <a:noFill/>
          <a:ln>
            <a:noFill/>
          </a:ln>
        </p:spPr>
      </p:pic>
      <p:grpSp>
        <p:nvGrpSpPr>
          <p:cNvPr id="2363" name="Google Shape;2363;p108"/>
          <p:cNvGrpSpPr/>
          <p:nvPr/>
        </p:nvGrpSpPr>
        <p:grpSpPr>
          <a:xfrm>
            <a:off x="6509420" y="3391870"/>
            <a:ext cx="629852" cy="1121907"/>
            <a:chOff x="6509420" y="3391870"/>
            <a:chExt cx="629852" cy="1121907"/>
          </a:xfrm>
        </p:grpSpPr>
        <p:pic>
          <p:nvPicPr>
            <p:cNvPr id="2364" name="Google Shape;2364;p108"/>
            <p:cNvPicPr preferRelativeResize="0"/>
            <p:nvPr/>
          </p:nvPicPr>
          <p:blipFill>
            <a:blip r:embed="rId3">
              <a:alphaModFix/>
            </a:blip>
            <a:stretch>
              <a:fillRect/>
            </a:stretch>
          </p:blipFill>
          <p:spPr>
            <a:xfrm>
              <a:off x="6897296" y="3718547"/>
              <a:ext cx="232933" cy="393601"/>
            </a:xfrm>
            <a:prstGeom prst="rect">
              <a:avLst/>
            </a:prstGeom>
            <a:noFill/>
            <a:ln>
              <a:noFill/>
            </a:ln>
          </p:spPr>
        </p:pic>
        <p:cxnSp>
          <p:nvCxnSpPr>
            <p:cNvPr id="2365" name="Google Shape;2365;p108"/>
            <p:cNvCxnSpPr/>
            <p:nvPr/>
          </p:nvCxnSpPr>
          <p:spPr>
            <a:xfrm flipH="1">
              <a:off x="6829672" y="3391870"/>
              <a:ext cx="309600" cy="323400"/>
            </a:xfrm>
            <a:prstGeom prst="straightConnector1">
              <a:avLst/>
            </a:prstGeom>
            <a:noFill/>
            <a:ln cap="flat" cmpd="sng" w="28575">
              <a:solidFill>
                <a:srgbClr val="000000"/>
              </a:solidFill>
              <a:prstDash val="solid"/>
              <a:round/>
              <a:headEnd len="med" w="med" type="none"/>
              <a:tailEnd len="med" w="med" type="none"/>
            </a:ln>
          </p:spPr>
        </p:cxnSp>
        <p:pic>
          <p:nvPicPr>
            <p:cNvPr id="2366" name="Google Shape;2366;p108"/>
            <p:cNvPicPr preferRelativeResize="0"/>
            <p:nvPr/>
          </p:nvPicPr>
          <p:blipFill>
            <a:blip r:embed="rId3">
              <a:alphaModFix/>
            </a:blip>
            <a:stretch>
              <a:fillRect/>
            </a:stretch>
          </p:blipFill>
          <p:spPr>
            <a:xfrm>
              <a:off x="6509420" y="4120176"/>
              <a:ext cx="232933" cy="393601"/>
            </a:xfrm>
            <a:prstGeom prst="rect">
              <a:avLst/>
            </a:prstGeom>
            <a:noFill/>
            <a:ln>
              <a:noFill/>
            </a:ln>
          </p:spPr>
        </p:pic>
      </p:grpSp>
      <p:grpSp>
        <p:nvGrpSpPr>
          <p:cNvPr id="2367" name="Google Shape;2367;p108"/>
          <p:cNvGrpSpPr/>
          <p:nvPr/>
        </p:nvGrpSpPr>
        <p:grpSpPr>
          <a:xfrm>
            <a:off x="7896472" y="3391870"/>
            <a:ext cx="667804" cy="1121907"/>
            <a:chOff x="7896472" y="3391870"/>
            <a:chExt cx="667804" cy="1121907"/>
          </a:xfrm>
        </p:grpSpPr>
        <p:pic>
          <p:nvPicPr>
            <p:cNvPr id="2368" name="Google Shape;2368;p108"/>
            <p:cNvPicPr preferRelativeResize="0"/>
            <p:nvPr/>
          </p:nvPicPr>
          <p:blipFill>
            <a:blip r:embed="rId3">
              <a:alphaModFix/>
            </a:blip>
            <a:stretch>
              <a:fillRect/>
            </a:stretch>
          </p:blipFill>
          <p:spPr>
            <a:xfrm>
              <a:off x="8330783" y="3718547"/>
              <a:ext cx="232933" cy="393601"/>
            </a:xfrm>
            <a:prstGeom prst="rect">
              <a:avLst/>
            </a:prstGeom>
            <a:noFill/>
            <a:ln>
              <a:noFill/>
            </a:ln>
          </p:spPr>
        </p:pic>
        <p:cxnSp>
          <p:nvCxnSpPr>
            <p:cNvPr id="2369" name="Google Shape;2369;p108"/>
            <p:cNvCxnSpPr/>
            <p:nvPr/>
          </p:nvCxnSpPr>
          <p:spPr>
            <a:xfrm>
              <a:off x="7896472" y="3391870"/>
              <a:ext cx="309600" cy="323400"/>
            </a:xfrm>
            <a:prstGeom prst="straightConnector1">
              <a:avLst/>
            </a:prstGeom>
            <a:noFill/>
            <a:ln cap="flat" cmpd="sng" w="28575">
              <a:solidFill>
                <a:srgbClr val="000000"/>
              </a:solidFill>
              <a:prstDash val="solid"/>
              <a:round/>
              <a:headEnd len="med" w="med" type="none"/>
              <a:tailEnd len="med" w="med" type="none"/>
            </a:ln>
          </p:spPr>
        </p:cxnSp>
        <p:pic>
          <p:nvPicPr>
            <p:cNvPr id="2370" name="Google Shape;2370;p108"/>
            <p:cNvPicPr preferRelativeResize="0"/>
            <p:nvPr/>
          </p:nvPicPr>
          <p:blipFill>
            <a:blip r:embed="rId3">
              <a:alphaModFix/>
            </a:blip>
            <a:stretch>
              <a:fillRect/>
            </a:stretch>
          </p:blipFill>
          <p:spPr>
            <a:xfrm>
              <a:off x="8331344" y="4120176"/>
              <a:ext cx="232933" cy="393601"/>
            </a:xfrm>
            <a:prstGeom prst="rect">
              <a:avLst/>
            </a:prstGeom>
            <a:noFill/>
            <a:ln>
              <a:noFill/>
            </a:ln>
          </p:spPr>
        </p:pic>
      </p:grpSp>
      <p:sp>
        <p:nvSpPr>
          <p:cNvPr id="2371" name="Google Shape;2371;p10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Successor, Anyway?</a:t>
            </a:r>
            <a:endParaRPr/>
          </a:p>
        </p:txBody>
      </p:sp>
      <p:sp>
        <p:nvSpPr>
          <p:cNvPr id="2372" name="Google Shape;2372;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73" name="Google Shape;2373;p108"/>
          <p:cNvSpPr txBox="1"/>
          <p:nvPr/>
        </p:nvSpPr>
        <p:spPr>
          <a:xfrm>
            <a:off x="203025" y="149395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At this point, the algorithm will </a:t>
            </a:r>
            <a:r>
              <a:rPr b="1" i="1" lang="en" sz="1200">
                <a:solidFill>
                  <a:srgbClr val="FF0000"/>
                </a:solidFill>
              </a:rPr>
              <a:t>backtrack</a:t>
            </a:r>
            <a:r>
              <a:rPr lang="en" sz="1200">
                <a:solidFill>
                  <a:srgbClr val="FF0000"/>
                </a:solidFill>
              </a:rPr>
              <a:t> </a:t>
            </a:r>
            <a:r>
              <a:rPr lang="en" sz="1200"/>
              <a:t>to a previous, valid configuration and use</a:t>
            </a:r>
            <a:r>
              <a:rPr lang="en" sz="1200">
                <a:solidFill>
                  <a:srgbClr val="FF0000"/>
                </a:solidFill>
              </a:rPr>
              <a:t> </a:t>
            </a:r>
            <a:r>
              <a:rPr b="1" i="1" lang="en" sz="1200">
                <a:solidFill>
                  <a:srgbClr val="FF0000"/>
                </a:solidFill>
              </a:rPr>
              <a:t>it</a:t>
            </a:r>
            <a:r>
              <a:rPr lang="en" sz="1200"/>
              <a:t> to create another collection of successors.</a:t>
            </a:r>
            <a:endParaRPr sz="1200"/>
          </a:p>
        </p:txBody>
      </p:sp>
      <p:sp>
        <p:nvSpPr>
          <p:cNvPr id="2374" name="Google Shape;2374;p108"/>
          <p:cNvSpPr txBox="1"/>
          <p:nvPr/>
        </p:nvSpPr>
        <p:spPr>
          <a:xfrm>
            <a:off x="203025" y="2339587"/>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Once again, each successor contains the same state as its parent configuration plus </a:t>
            </a:r>
            <a:r>
              <a:rPr b="1" i="1" lang="en" sz="1200">
                <a:solidFill>
                  <a:srgbClr val="FF0000"/>
                </a:solidFill>
              </a:rPr>
              <a:t>one</a:t>
            </a:r>
            <a:r>
              <a:rPr lang="en" sz="1200">
                <a:solidFill>
                  <a:srgbClr val="FF0000"/>
                </a:solidFill>
              </a:rPr>
              <a:t> </a:t>
            </a:r>
            <a:r>
              <a:rPr lang="en" sz="1200"/>
              <a:t>additional move in the second row.</a:t>
            </a:r>
            <a:endParaRPr sz="1200"/>
          </a:p>
        </p:txBody>
      </p:sp>
      <p:grpSp>
        <p:nvGrpSpPr>
          <p:cNvPr id="2375" name="Google Shape;2375;p108"/>
          <p:cNvGrpSpPr/>
          <p:nvPr/>
        </p:nvGrpSpPr>
        <p:grpSpPr>
          <a:xfrm>
            <a:off x="3873608" y="3624136"/>
            <a:ext cx="2424347" cy="990300"/>
            <a:chOff x="3873608" y="3624136"/>
            <a:chExt cx="2424347" cy="990300"/>
          </a:xfrm>
        </p:grpSpPr>
        <p:sp>
          <p:nvSpPr>
            <p:cNvPr id="2376" name="Google Shape;2376;p108"/>
            <p:cNvSpPr/>
            <p:nvPr/>
          </p:nvSpPr>
          <p:spPr>
            <a:xfrm>
              <a:off x="3873608" y="3624136"/>
              <a:ext cx="990300" cy="990300"/>
            </a:xfrm>
            <a:prstGeom prst="mathMultiply">
              <a:avLst>
                <a:gd fmla="val 9722" name="adj1"/>
              </a:avLst>
            </a:prstGeom>
            <a:solidFill>
              <a:srgbClr val="FF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108"/>
            <p:cNvSpPr/>
            <p:nvPr/>
          </p:nvSpPr>
          <p:spPr>
            <a:xfrm>
              <a:off x="5307656" y="3624136"/>
              <a:ext cx="990300" cy="990300"/>
            </a:xfrm>
            <a:prstGeom prst="mathMultiply">
              <a:avLst>
                <a:gd fmla="val 9722" name="adj1"/>
              </a:avLst>
            </a:prstGeom>
            <a:solidFill>
              <a:srgbClr val="FF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8" name="Google Shape;2378;p108"/>
          <p:cNvSpPr txBox="1"/>
          <p:nvPr/>
        </p:nvSpPr>
        <p:spPr>
          <a:xfrm>
            <a:off x="203025" y="3185195"/>
            <a:ext cx="3400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Also once again, both configurations are </a:t>
            </a:r>
            <a:r>
              <a:rPr b="1" i="1" lang="en" sz="1200">
                <a:solidFill>
                  <a:srgbClr val="FF0000"/>
                </a:solidFill>
              </a:rPr>
              <a:t>invalid</a:t>
            </a:r>
            <a:r>
              <a:rPr lang="en" sz="1200"/>
              <a:t>.</a:t>
            </a:r>
            <a:endParaRPr sz="1200"/>
          </a:p>
        </p:txBody>
      </p:sp>
      <p:grpSp>
        <p:nvGrpSpPr>
          <p:cNvPr id="2379" name="Google Shape;2379;p108"/>
          <p:cNvGrpSpPr/>
          <p:nvPr/>
        </p:nvGrpSpPr>
        <p:grpSpPr>
          <a:xfrm>
            <a:off x="6312008" y="3624136"/>
            <a:ext cx="2424347" cy="990300"/>
            <a:chOff x="3873608" y="3624136"/>
            <a:chExt cx="2424347" cy="990300"/>
          </a:xfrm>
        </p:grpSpPr>
        <p:sp>
          <p:nvSpPr>
            <p:cNvPr id="2380" name="Google Shape;2380;p108"/>
            <p:cNvSpPr/>
            <p:nvPr/>
          </p:nvSpPr>
          <p:spPr>
            <a:xfrm>
              <a:off x="3873608" y="3624136"/>
              <a:ext cx="990300" cy="990300"/>
            </a:xfrm>
            <a:prstGeom prst="mathMultiply">
              <a:avLst>
                <a:gd fmla="val 9722" name="adj1"/>
              </a:avLst>
            </a:prstGeom>
            <a:solidFill>
              <a:srgbClr val="FF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108"/>
            <p:cNvSpPr/>
            <p:nvPr/>
          </p:nvSpPr>
          <p:spPr>
            <a:xfrm>
              <a:off x="5307656" y="3624136"/>
              <a:ext cx="990300" cy="990300"/>
            </a:xfrm>
            <a:prstGeom prst="mathMultiply">
              <a:avLst>
                <a:gd fmla="val 9722" name="adj1"/>
              </a:avLst>
            </a:prstGeom>
            <a:solidFill>
              <a:srgbClr val="FF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2" name="Google Shape;2382;p108"/>
          <p:cNvSpPr txBox="1"/>
          <p:nvPr/>
        </p:nvSpPr>
        <p:spPr>
          <a:xfrm>
            <a:off x="203025" y="3846020"/>
            <a:ext cx="3400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At this point the algorithm has exhausted all possible configurations without finding a </a:t>
            </a:r>
            <a:r>
              <a:rPr b="1" i="1" lang="en" sz="1200">
                <a:solidFill>
                  <a:srgbClr val="FF0000"/>
                </a:solidFill>
              </a:rPr>
              <a:t>goal</a:t>
            </a:r>
            <a:r>
              <a:rPr lang="en" sz="1200"/>
              <a:t>. There is no solution to this problem.</a:t>
            </a:r>
            <a:endParaRPr sz="1200"/>
          </a:p>
        </p:txBody>
      </p:sp>
      <p:sp>
        <p:nvSpPr>
          <p:cNvPr id="2383" name="Google Shape;2383;p108"/>
          <p:cNvSpPr/>
          <p:nvPr/>
        </p:nvSpPr>
        <p:spPr>
          <a:xfrm>
            <a:off x="6003150" y="2785225"/>
            <a:ext cx="1058950" cy="873275"/>
          </a:xfrm>
          <a:custGeom>
            <a:rect b="b" l="l" r="r" t="t"/>
            <a:pathLst>
              <a:path extrusionOk="0" h="34931" w="42358">
                <a:moveTo>
                  <a:pt x="0" y="34931"/>
                </a:moveTo>
                <a:cubicBezTo>
                  <a:pt x="2659" y="32822"/>
                  <a:pt x="15632" y="26634"/>
                  <a:pt x="15953" y="22279"/>
                </a:cubicBezTo>
                <a:cubicBezTo>
                  <a:pt x="16274" y="17924"/>
                  <a:pt x="-2476" y="12514"/>
                  <a:pt x="1925" y="8801"/>
                </a:cubicBezTo>
                <a:cubicBezTo>
                  <a:pt x="6326" y="5088"/>
                  <a:pt x="35619" y="1467"/>
                  <a:pt x="42358" y="0"/>
                </a:cubicBezTo>
              </a:path>
            </a:pathLst>
          </a:custGeom>
          <a:noFill/>
          <a:ln cap="flat" cmpd="sng" w="38100">
            <a:solidFill>
              <a:srgbClr val="FF0000"/>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3"/>
                                        </p:tgtEl>
                                        <p:attrNameLst>
                                          <p:attrName>style.visibility</p:attrName>
                                        </p:attrNameLst>
                                      </p:cBhvr>
                                      <p:to>
                                        <p:strVal val="visible"/>
                                      </p:to>
                                    </p:set>
                                    <p:animEffect filter="fade" transition="in">
                                      <p:cBhvr>
                                        <p:cTn dur="1000"/>
                                        <p:tgtEl>
                                          <p:spTgt spid="23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83"/>
                                        </p:tgtEl>
                                        <p:attrNameLst>
                                          <p:attrName>style.visibility</p:attrName>
                                        </p:attrNameLst>
                                      </p:cBhvr>
                                      <p:to>
                                        <p:strVal val="visible"/>
                                      </p:to>
                                    </p:set>
                                    <p:animEffect filter="fade" transition="in">
                                      <p:cBhvr>
                                        <p:cTn dur="1000"/>
                                        <p:tgtEl>
                                          <p:spTgt spid="238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57"/>
                                        </p:tgtEl>
                                        <p:attrNameLst>
                                          <p:attrName>style.visibility</p:attrName>
                                        </p:attrNameLst>
                                      </p:cBhvr>
                                      <p:to>
                                        <p:strVal val="visible"/>
                                      </p:to>
                                    </p:set>
                                    <p:animEffect filter="fade" transition="in">
                                      <p:cBhvr>
                                        <p:cTn dur="1000"/>
                                        <p:tgtEl>
                                          <p:spTgt spid="2357"/>
                                        </p:tgtEl>
                                      </p:cBhvr>
                                    </p:animEffect>
                                  </p:childTnLst>
                                </p:cTn>
                              </p:par>
                              <p:par>
                                <p:cTn fill="hold" nodeType="withEffect" presetClass="entr" presetID="10" presetSubtype="0">
                                  <p:stCondLst>
                                    <p:cond delay="0"/>
                                  </p:stCondLst>
                                  <p:childTnLst>
                                    <p:set>
                                      <p:cBhvr>
                                        <p:cTn dur="1" fill="hold">
                                          <p:stCondLst>
                                            <p:cond delay="0"/>
                                          </p:stCondLst>
                                        </p:cTn>
                                        <p:tgtEl>
                                          <p:spTgt spid="2358"/>
                                        </p:tgtEl>
                                        <p:attrNameLst>
                                          <p:attrName>style.visibility</p:attrName>
                                        </p:attrNameLst>
                                      </p:cBhvr>
                                      <p:to>
                                        <p:strVal val="visible"/>
                                      </p:to>
                                    </p:set>
                                    <p:animEffect filter="fade" transition="in">
                                      <p:cBhvr>
                                        <p:cTn dur="1000"/>
                                        <p:tgtEl>
                                          <p:spTgt spid="2358"/>
                                        </p:tgtEl>
                                      </p:cBhvr>
                                    </p:animEffect>
                                  </p:childTnLst>
                                </p:cTn>
                              </p:par>
                              <p:par>
                                <p:cTn fill="hold" nodeType="withEffect" presetClass="entr" presetID="10" presetSubtype="0">
                                  <p:stCondLst>
                                    <p:cond delay="0"/>
                                  </p:stCondLst>
                                  <p:childTnLst>
                                    <p:set>
                                      <p:cBhvr>
                                        <p:cTn dur="1" fill="hold">
                                          <p:stCondLst>
                                            <p:cond delay="0"/>
                                          </p:stCondLst>
                                        </p:cTn>
                                        <p:tgtEl>
                                          <p:spTgt spid="2363"/>
                                        </p:tgtEl>
                                        <p:attrNameLst>
                                          <p:attrName>style.visibility</p:attrName>
                                        </p:attrNameLst>
                                      </p:cBhvr>
                                      <p:to>
                                        <p:strVal val="visible"/>
                                      </p:to>
                                    </p:set>
                                    <p:animEffect filter="fade" transition="in">
                                      <p:cBhvr>
                                        <p:cTn dur="1000"/>
                                        <p:tgtEl>
                                          <p:spTgt spid="2363"/>
                                        </p:tgtEl>
                                      </p:cBhvr>
                                    </p:animEffect>
                                  </p:childTnLst>
                                </p:cTn>
                              </p:par>
                              <p:par>
                                <p:cTn fill="hold" nodeType="withEffect" presetClass="entr" presetID="10" presetSubtype="0">
                                  <p:stCondLst>
                                    <p:cond delay="0"/>
                                  </p:stCondLst>
                                  <p:childTnLst>
                                    <p:set>
                                      <p:cBhvr>
                                        <p:cTn dur="1" fill="hold">
                                          <p:stCondLst>
                                            <p:cond delay="0"/>
                                          </p:stCondLst>
                                        </p:cTn>
                                        <p:tgtEl>
                                          <p:spTgt spid="2367"/>
                                        </p:tgtEl>
                                        <p:attrNameLst>
                                          <p:attrName>style.visibility</p:attrName>
                                        </p:attrNameLst>
                                      </p:cBhvr>
                                      <p:to>
                                        <p:strVal val="visible"/>
                                      </p:to>
                                    </p:set>
                                    <p:animEffect filter="fade" transition="in">
                                      <p:cBhvr>
                                        <p:cTn dur="1000"/>
                                        <p:tgtEl>
                                          <p:spTgt spid="2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4"/>
                                        </p:tgtEl>
                                        <p:attrNameLst>
                                          <p:attrName>style.visibility</p:attrName>
                                        </p:attrNameLst>
                                      </p:cBhvr>
                                      <p:to>
                                        <p:strVal val="visible"/>
                                      </p:to>
                                    </p:set>
                                    <p:animEffect filter="fade" transition="in">
                                      <p:cBhvr>
                                        <p:cTn dur="1000"/>
                                        <p:tgtEl>
                                          <p:spTgt spid="2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8"/>
                                        </p:tgtEl>
                                        <p:attrNameLst>
                                          <p:attrName>style.visibility</p:attrName>
                                        </p:attrNameLst>
                                      </p:cBhvr>
                                      <p:to>
                                        <p:strVal val="visible"/>
                                      </p:to>
                                    </p:set>
                                    <p:animEffect filter="fade" transition="in">
                                      <p:cBhvr>
                                        <p:cTn dur="1000"/>
                                        <p:tgtEl>
                                          <p:spTgt spid="23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79"/>
                                        </p:tgtEl>
                                        <p:attrNameLst>
                                          <p:attrName>style.visibility</p:attrName>
                                        </p:attrNameLst>
                                      </p:cBhvr>
                                      <p:to>
                                        <p:strVal val="visible"/>
                                      </p:to>
                                    </p:set>
                                    <p:animEffect filter="fade" transition="in">
                                      <p:cBhvr>
                                        <p:cTn dur="1000"/>
                                        <p:tgtEl>
                                          <p:spTgt spid="2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2"/>
                                        </p:tgtEl>
                                        <p:attrNameLst>
                                          <p:attrName>style.visibility</p:attrName>
                                        </p:attrNameLst>
                                      </p:cBhvr>
                                      <p:to>
                                        <p:strVal val="visible"/>
                                      </p:to>
                                    </p:set>
                                    <p:animEffect filter="fade" transition="in">
                                      <p:cBhvr>
                                        <p:cTn dur="1000"/>
                                        <p:tgtEl>
                                          <p:spTgt spid="23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7" name="Shape 2387"/>
        <p:cNvGrpSpPr/>
        <p:nvPr/>
      </p:nvGrpSpPr>
      <p:grpSpPr>
        <a:xfrm>
          <a:off x="0" y="0"/>
          <a:ext cx="0" cy="0"/>
          <a:chOff x="0" y="0"/>
          <a:chExt cx="0" cy="0"/>
        </a:xfrm>
      </p:grpSpPr>
      <p:sp>
        <p:nvSpPr>
          <p:cNvPr id="2388" name="Google Shape;2388;p109"/>
          <p:cNvSpPr txBox="1"/>
          <p:nvPr>
            <p:ph type="title"/>
          </p:nvPr>
        </p:nvSpPr>
        <p:spPr>
          <a:xfrm>
            <a:off x="51885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Deep Copies</a:t>
            </a:r>
            <a:endParaRPr/>
          </a:p>
        </p:txBody>
      </p:sp>
      <p:sp>
        <p:nvSpPr>
          <p:cNvPr id="2389" name="Google Shape;2389;p109"/>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390" name="Google Shape;2390;p109"/>
          <p:cNvSpPr txBox="1"/>
          <p:nvPr>
            <p:ph idx="1" type="body"/>
          </p:nvPr>
        </p:nvSpPr>
        <p:spPr>
          <a:xfrm>
            <a:off x="430401" y="66999"/>
            <a:ext cx="4305900" cy="49923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Each configuration needs to store the queens that have already been placed on the board in some kind of </a:t>
            </a:r>
            <a:r>
              <a:rPr b="1" i="1" lang="en">
                <a:solidFill>
                  <a:srgbClr val="FF0000"/>
                </a:solidFill>
              </a:rPr>
              <a:t>data structure</a:t>
            </a:r>
            <a:r>
              <a:rPr lang="en"/>
              <a:t>.</a:t>
            </a:r>
            <a:endParaRPr/>
          </a:p>
          <a:p>
            <a:pPr indent="-311150" lvl="0" marL="457200" rtl="0" algn="l">
              <a:lnSpc>
                <a:spcPct val="100000"/>
              </a:lnSpc>
              <a:spcBef>
                <a:spcPts val="1000"/>
              </a:spcBef>
              <a:spcAft>
                <a:spcPts val="0"/>
              </a:spcAft>
              <a:buSzPts val="1300"/>
              <a:buChar char="●"/>
            </a:pPr>
            <a:r>
              <a:rPr lang="en"/>
              <a:t>As you should know by now, all data structures (including </a:t>
            </a:r>
            <a:r>
              <a:rPr b="1" i="1" lang="en">
                <a:solidFill>
                  <a:srgbClr val="FF0000"/>
                </a:solidFill>
              </a:rPr>
              <a:t>arrays</a:t>
            </a:r>
            <a:r>
              <a:rPr lang="en"/>
              <a:t>) are </a:t>
            </a:r>
            <a:r>
              <a:rPr b="1" i="1" lang="en">
                <a:solidFill>
                  <a:srgbClr val="FF0000"/>
                </a:solidFill>
              </a:rPr>
              <a:t>reference types</a:t>
            </a:r>
            <a:r>
              <a:rPr lang="en"/>
              <a:t>.</a:t>
            </a:r>
            <a:endParaRPr/>
          </a:p>
          <a:p>
            <a:pPr indent="-298450" lvl="1" marL="914400" rtl="0" algn="l">
              <a:lnSpc>
                <a:spcPct val="100000"/>
              </a:lnSpc>
              <a:spcBef>
                <a:spcPts val="0"/>
              </a:spcBef>
              <a:spcAft>
                <a:spcPts val="0"/>
              </a:spcAft>
              <a:buSzPts val="1100"/>
              <a:buChar char="○"/>
            </a:pPr>
            <a:r>
              <a:rPr lang="en"/>
              <a:t>If a function declares a parameter of an array type, a </a:t>
            </a:r>
            <a:r>
              <a:rPr b="1" i="1" lang="en">
                <a:solidFill>
                  <a:srgbClr val="FF0000"/>
                </a:solidFill>
              </a:rPr>
              <a:t>reference</a:t>
            </a:r>
            <a:r>
              <a:rPr lang="en">
                <a:solidFill>
                  <a:srgbClr val="FF0000"/>
                </a:solidFill>
              </a:rPr>
              <a:t> </a:t>
            </a:r>
            <a:r>
              <a:rPr lang="en"/>
              <a:t>to the array is passed into the function.</a:t>
            </a:r>
            <a:endParaRPr/>
          </a:p>
          <a:p>
            <a:pPr indent="-298450" lvl="1" marL="914400" rtl="0" algn="l">
              <a:lnSpc>
                <a:spcPct val="100000"/>
              </a:lnSpc>
              <a:spcBef>
                <a:spcPts val="0"/>
              </a:spcBef>
              <a:spcAft>
                <a:spcPts val="0"/>
              </a:spcAft>
              <a:buSzPts val="1100"/>
              <a:buChar char="○"/>
            </a:pPr>
            <a:r>
              <a:rPr lang="en"/>
              <a:t>Any changes made inside the function </a:t>
            </a:r>
            <a:r>
              <a:rPr b="1" i="1" lang="en">
                <a:solidFill>
                  <a:srgbClr val="FF0000"/>
                </a:solidFill>
              </a:rPr>
              <a:t>persist</a:t>
            </a:r>
            <a:r>
              <a:rPr lang="en"/>
              <a:t>!</a:t>
            </a:r>
            <a:endParaRPr/>
          </a:p>
          <a:p>
            <a:pPr indent="-298450" lvl="1" marL="914400" rtl="0" algn="l">
              <a:lnSpc>
                <a:spcPct val="100000"/>
              </a:lnSpc>
              <a:spcBef>
                <a:spcPts val="0"/>
              </a:spcBef>
              <a:spcAft>
                <a:spcPts val="0"/>
              </a:spcAft>
              <a:buSzPts val="1100"/>
              <a:buChar char="○"/>
            </a:pPr>
            <a:r>
              <a:rPr lang="en"/>
              <a:t>This includes </a:t>
            </a:r>
            <a:r>
              <a:rPr b="1" i="1" lang="en">
                <a:solidFill>
                  <a:srgbClr val="FF0000"/>
                </a:solidFill>
              </a:rPr>
              <a:t>constructors</a:t>
            </a:r>
            <a:r>
              <a:rPr b="1" i="1" lang="en"/>
              <a:t>!</a:t>
            </a:r>
            <a:endParaRPr/>
          </a:p>
          <a:p>
            <a:pPr indent="-311150" lvl="0" marL="457200" rtl="0" algn="l">
              <a:lnSpc>
                <a:spcPct val="100000"/>
              </a:lnSpc>
              <a:spcBef>
                <a:spcPts val="1000"/>
              </a:spcBef>
              <a:spcAft>
                <a:spcPts val="0"/>
              </a:spcAft>
              <a:buSzPts val="1300"/>
              <a:buChar char="●"/>
            </a:pPr>
            <a:r>
              <a:rPr lang="en"/>
              <a:t>This means that if a configuration simply passes its array of queens into each of its successors through the constructor, they will all share </a:t>
            </a:r>
            <a:r>
              <a:rPr b="1" i="1" lang="en">
                <a:solidFill>
                  <a:srgbClr val="FF0000"/>
                </a:solidFill>
              </a:rPr>
              <a:t>the same array</a:t>
            </a:r>
            <a:r>
              <a:rPr lang="en"/>
              <a:t>.</a:t>
            </a:r>
            <a:endParaRPr/>
          </a:p>
          <a:p>
            <a:pPr indent="-298450" lvl="1" marL="914400" rtl="0" algn="l">
              <a:lnSpc>
                <a:spcPct val="100000"/>
              </a:lnSpc>
              <a:spcBef>
                <a:spcPts val="0"/>
              </a:spcBef>
              <a:spcAft>
                <a:spcPts val="0"/>
              </a:spcAft>
              <a:buSzPts val="1100"/>
              <a:buChar char="○"/>
            </a:pPr>
            <a:r>
              <a:rPr lang="en"/>
              <a:t>Any new moves made will overwrite each other, or add additional (potentially invalid!) queens to the board.</a:t>
            </a:r>
            <a:endParaRPr/>
          </a:p>
          <a:p>
            <a:pPr indent="-311150" lvl="0" marL="457200" rtl="0" algn="l">
              <a:lnSpc>
                <a:spcPct val="100000"/>
              </a:lnSpc>
              <a:spcBef>
                <a:spcPts val="1000"/>
              </a:spcBef>
              <a:spcAft>
                <a:spcPts val="0"/>
              </a:spcAft>
              <a:buSzPts val="1300"/>
              <a:buChar char="●"/>
            </a:pPr>
            <a:r>
              <a:rPr lang="en"/>
              <a:t>In order to avoid this problem, a </a:t>
            </a:r>
            <a:r>
              <a:rPr b="1" i="1" lang="en">
                <a:solidFill>
                  <a:srgbClr val="FF0000"/>
                </a:solidFill>
              </a:rPr>
              <a:t>deep copy</a:t>
            </a:r>
            <a:r>
              <a:rPr lang="en">
                <a:solidFill>
                  <a:srgbClr val="FF0000"/>
                </a:solidFill>
              </a:rPr>
              <a:t> </a:t>
            </a:r>
            <a:r>
              <a:rPr lang="en"/>
              <a:t>of the data structure must be made.</a:t>
            </a:r>
            <a:endParaRPr/>
          </a:p>
          <a:p>
            <a:pPr indent="-298450" lvl="1" marL="914400" rtl="0" algn="l">
              <a:lnSpc>
                <a:spcPct val="100000"/>
              </a:lnSpc>
              <a:spcBef>
                <a:spcPts val="0"/>
              </a:spcBef>
              <a:spcAft>
                <a:spcPts val="0"/>
              </a:spcAft>
              <a:buSzPts val="1100"/>
              <a:buChar char="○"/>
            </a:pPr>
            <a:r>
              <a:rPr lang="en"/>
              <a:t>This includes making a new array of the required size and copying all of the elements into the new array before giving the </a:t>
            </a:r>
            <a:r>
              <a:rPr b="1" i="1" lang="en">
                <a:solidFill>
                  <a:srgbClr val="FF0000"/>
                </a:solidFill>
              </a:rPr>
              <a:t>copy</a:t>
            </a:r>
            <a:r>
              <a:rPr lang="en">
                <a:solidFill>
                  <a:srgbClr val="FF0000"/>
                </a:solidFill>
              </a:rPr>
              <a:t> </a:t>
            </a:r>
            <a:r>
              <a:rPr lang="en"/>
              <a:t>to a successor.</a:t>
            </a:r>
            <a:endParaRPr/>
          </a:p>
          <a:p>
            <a:pPr indent="-311150" lvl="0" marL="457200" rtl="0" algn="l">
              <a:lnSpc>
                <a:spcPct val="100000"/>
              </a:lnSpc>
              <a:spcBef>
                <a:spcPts val="1000"/>
              </a:spcBef>
              <a:spcAft>
                <a:spcPts val="0"/>
              </a:spcAft>
              <a:buSzPts val="1300"/>
              <a:buChar char="●"/>
            </a:pPr>
            <a:r>
              <a:rPr lang="en"/>
              <a:t>The same will need to be done with </a:t>
            </a:r>
            <a:r>
              <a:rPr b="1" i="1" lang="en">
                <a:solidFill>
                  <a:srgbClr val="FF0000"/>
                </a:solidFill>
              </a:rPr>
              <a:t>any mutable reference type</a:t>
            </a:r>
            <a:r>
              <a:rPr lang="en"/>
              <a:t> that is used by a configuration.</a:t>
            </a:r>
            <a:endParaRPr/>
          </a:p>
        </p:txBody>
      </p:sp>
      <p:sp>
        <p:nvSpPr>
          <p:cNvPr id="2391" name="Google Shape;2391;p109"/>
          <p:cNvSpPr txBox="1"/>
          <p:nvPr>
            <p:ph idx="3" type="body"/>
          </p:nvPr>
        </p:nvSpPr>
        <p:spPr>
          <a:xfrm>
            <a:off x="5192225" y="758025"/>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Data structures like arrays are </a:t>
            </a:r>
            <a:r>
              <a:rPr b="1" i="1" lang="en">
                <a:solidFill>
                  <a:srgbClr val="FF0000"/>
                </a:solidFill>
              </a:rPr>
              <a:t>reference types</a:t>
            </a:r>
            <a:r>
              <a:rPr lang="en"/>
              <a:t>. When used as an argument to a function, a </a:t>
            </a:r>
            <a:r>
              <a:rPr b="1" i="1" lang="en">
                <a:solidFill>
                  <a:srgbClr val="FF0000"/>
                </a:solidFill>
              </a:rPr>
              <a:t>reference</a:t>
            </a:r>
            <a:r>
              <a:rPr lang="en">
                <a:solidFill>
                  <a:srgbClr val="FF0000"/>
                </a:solidFill>
              </a:rPr>
              <a:t> </a:t>
            </a:r>
            <a:r>
              <a:rPr lang="en"/>
              <a:t>to the real object in memory is passed in.</a:t>
            </a:r>
            <a:endParaRPr/>
          </a:p>
        </p:txBody>
      </p:sp>
      <p:graphicFrame>
        <p:nvGraphicFramePr>
          <p:cNvPr id="2392" name="Google Shape;2392;p109"/>
          <p:cNvGraphicFramePr/>
          <p:nvPr/>
        </p:nvGraphicFramePr>
        <p:xfrm>
          <a:off x="5223975" y="1650475"/>
          <a:ext cx="3000000" cy="3000000"/>
        </p:xfrm>
        <a:graphic>
          <a:graphicData uri="http://schemas.openxmlformats.org/drawingml/2006/table">
            <a:tbl>
              <a:tblPr>
                <a:noFill/>
                <a:tableStyleId>{89CCAE03-A2B2-4379-B0C2-E101A7E113D6}</a:tableStyleId>
              </a:tblPr>
              <a:tblGrid>
                <a:gridCol w="455375"/>
                <a:gridCol w="455375"/>
                <a:gridCol w="455375"/>
                <a:gridCol w="455375"/>
                <a:gridCol w="455375"/>
                <a:gridCol w="455375"/>
                <a:gridCol w="455375"/>
                <a:gridCol w="455375"/>
              </a:tblGrid>
              <a:tr h="671250">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0</a:t>
                      </a:r>
                      <a:endParaRPr>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3</a:t>
                      </a:r>
                      <a:endParaRPr>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4</a:t>
                      </a:r>
                      <a:endParaRPr>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5</a:t>
                      </a:r>
                      <a:endParaRPr>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6</a:t>
                      </a:r>
                      <a:endParaRPr>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7</a:t>
                      </a:r>
                      <a:endParaRPr>
                        <a:solidFill>
                          <a:srgbClr val="FFFFFF"/>
                        </a:solidFill>
                        <a:latin typeface="Consolas"/>
                        <a:ea typeface="Consolas"/>
                        <a:cs typeface="Consolas"/>
                        <a:sym typeface="Consola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2393" name="Google Shape;2393;p109"/>
          <p:cNvPicPr preferRelativeResize="0"/>
          <p:nvPr/>
        </p:nvPicPr>
        <p:blipFill>
          <a:blip r:embed="rId3">
            <a:alphaModFix/>
          </a:blip>
          <a:stretch>
            <a:fillRect/>
          </a:stretch>
        </p:blipFill>
        <p:spPr>
          <a:xfrm>
            <a:off x="5739541" y="1760260"/>
            <a:ext cx="299286" cy="473850"/>
          </a:xfrm>
          <a:prstGeom prst="rect">
            <a:avLst/>
          </a:prstGeom>
          <a:noFill/>
          <a:ln>
            <a:noFill/>
          </a:ln>
        </p:spPr>
      </p:pic>
      <p:sp>
        <p:nvSpPr>
          <p:cNvPr id="2394" name="Google Shape;2394;p109"/>
          <p:cNvSpPr txBox="1"/>
          <p:nvPr>
            <p:ph idx="3" type="body"/>
          </p:nvPr>
        </p:nvSpPr>
        <p:spPr>
          <a:xfrm>
            <a:off x="5192225" y="2746101"/>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This means that any changes made to the reference will be made to the </a:t>
            </a:r>
            <a:r>
              <a:rPr b="1" i="1" lang="en">
                <a:solidFill>
                  <a:srgbClr val="FF0000"/>
                </a:solidFill>
              </a:rPr>
              <a:t>single</a:t>
            </a:r>
            <a:r>
              <a:rPr lang="en"/>
              <a:t>, </a:t>
            </a:r>
            <a:r>
              <a:rPr b="1" i="1" lang="en">
                <a:solidFill>
                  <a:srgbClr val="FF0000"/>
                </a:solidFill>
              </a:rPr>
              <a:t>shared copy</a:t>
            </a:r>
            <a:r>
              <a:rPr lang="en"/>
              <a:t>.</a:t>
            </a:r>
            <a:endParaRPr/>
          </a:p>
        </p:txBody>
      </p:sp>
      <p:sp>
        <p:nvSpPr>
          <p:cNvPr id="2395" name="Google Shape;2395;p109"/>
          <p:cNvSpPr txBox="1"/>
          <p:nvPr>
            <p:ph idx="3" type="body"/>
          </p:nvPr>
        </p:nvSpPr>
        <p:spPr>
          <a:xfrm>
            <a:off x="5192225" y="3396250"/>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In the N-Queens problem, this means that successor configurations will add queens to the </a:t>
            </a:r>
            <a:r>
              <a:rPr b="1" i="1" lang="en">
                <a:solidFill>
                  <a:srgbClr val="FF0000"/>
                </a:solidFill>
              </a:rPr>
              <a:t>same</a:t>
            </a:r>
            <a:r>
              <a:rPr lang="en">
                <a:solidFill>
                  <a:srgbClr val="FF0000"/>
                </a:solidFill>
              </a:rPr>
              <a:t> </a:t>
            </a:r>
            <a:r>
              <a:rPr lang="en"/>
              <a:t>array that is used by the parent and even </a:t>
            </a:r>
            <a:r>
              <a:rPr b="1" i="1" lang="en">
                <a:solidFill>
                  <a:srgbClr val="FF0000"/>
                </a:solidFill>
              </a:rPr>
              <a:t>overwrite</a:t>
            </a:r>
            <a:r>
              <a:rPr lang="en">
                <a:solidFill>
                  <a:srgbClr val="FF0000"/>
                </a:solidFill>
              </a:rPr>
              <a:t> </a:t>
            </a:r>
            <a:r>
              <a:rPr lang="en"/>
              <a:t>each other's queens!!</a:t>
            </a:r>
            <a:endParaRPr/>
          </a:p>
        </p:txBody>
      </p:sp>
      <p:pic>
        <p:nvPicPr>
          <p:cNvPr id="2396" name="Google Shape;2396;p109"/>
          <p:cNvPicPr preferRelativeResize="0"/>
          <p:nvPr/>
        </p:nvPicPr>
        <p:blipFill>
          <a:blip r:embed="rId4">
            <a:alphaModFix/>
          </a:blip>
          <a:stretch>
            <a:fillRect/>
          </a:stretch>
        </p:blipFill>
        <p:spPr>
          <a:xfrm>
            <a:off x="6213044" y="1759125"/>
            <a:ext cx="286204" cy="473849"/>
          </a:xfrm>
          <a:prstGeom prst="rect">
            <a:avLst/>
          </a:prstGeom>
          <a:noFill/>
          <a:ln>
            <a:noFill/>
          </a:ln>
        </p:spPr>
      </p:pic>
      <p:pic>
        <p:nvPicPr>
          <p:cNvPr id="2397" name="Google Shape;2397;p109"/>
          <p:cNvPicPr preferRelativeResize="0"/>
          <p:nvPr/>
        </p:nvPicPr>
        <p:blipFill>
          <a:blip r:embed="rId3">
            <a:alphaModFix/>
          </a:blip>
          <a:stretch>
            <a:fillRect/>
          </a:stretch>
        </p:blipFill>
        <p:spPr>
          <a:xfrm>
            <a:off x="5310406" y="1760260"/>
            <a:ext cx="299286" cy="473850"/>
          </a:xfrm>
          <a:prstGeom prst="rect">
            <a:avLst/>
          </a:prstGeom>
          <a:noFill/>
          <a:ln>
            <a:noFill/>
          </a:ln>
        </p:spPr>
      </p:pic>
      <p:sp>
        <p:nvSpPr>
          <p:cNvPr id="2398" name="Google Shape;2398;p109"/>
          <p:cNvSpPr txBox="1"/>
          <p:nvPr>
            <p:ph idx="3" type="body"/>
          </p:nvPr>
        </p:nvSpPr>
        <p:spPr>
          <a:xfrm>
            <a:off x="5192225" y="4421792"/>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a:t>
            </a:r>
            <a:r>
              <a:rPr b="1" i="1" lang="en">
                <a:solidFill>
                  <a:srgbClr val="FF0000"/>
                </a:solidFill>
              </a:rPr>
              <a:t>deep copy</a:t>
            </a:r>
            <a:r>
              <a:rPr lang="en">
                <a:solidFill>
                  <a:srgbClr val="FF0000"/>
                </a:solidFill>
              </a:rPr>
              <a:t> </a:t>
            </a:r>
            <a:r>
              <a:rPr lang="en"/>
              <a:t>of the array must be made for each successor to prevent this from happening.</a:t>
            </a:r>
            <a:endParaRPr/>
          </a:p>
        </p:txBody>
      </p:sp>
      <p:pic>
        <p:nvPicPr>
          <p:cNvPr id="2399" name="Google Shape;2399;p109"/>
          <p:cNvPicPr preferRelativeResize="0"/>
          <p:nvPr/>
        </p:nvPicPr>
        <p:blipFill>
          <a:blip r:embed="rId4">
            <a:alphaModFix/>
          </a:blip>
          <a:stretch>
            <a:fillRect/>
          </a:stretch>
        </p:blipFill>
        <p:spPr>
          <a:xfrm>
            <a:off x="6670244" y="1759125"/>
            <a:ext cx="286204" cy="473849"/>
          </a:xfrm>
          <a:prstGeom prst="rect">
            <a:avLst/>
          </a:prstGeom>
          <a:noFill/>
          <a:ln>
            <a:noFill/>
          </a:ln>
        </p:spPr>
      </p:pic>
      <p:pic>
        <p:nvPicPr>
          <p:cNvPr id="2400" name="Google Shape;2400;p109"/>
          <p:cNvPicPr preferRelativeResize="0"/>
          <p:nvPr/>
        </p:nvPicPr>
        <p:blipFill>
          <a:blip r:embed="rId4">
            <a:alphaModFix/>
          </a:blip>
          <a:stretch>
            <a:fillRect/>
          </a:stretch>
        </p:blipFill>
        <p:spPr>
          <a:xfrm rot="949095">
            <a:off x="6213044" y="1759125"/>
            <a:ext cx="286204" cy="473850"/>
          </a:xfrm>
          <a:prstGeom prst="rect">
            <a:avLst/>
          </a:prstGeom>
          <a:noFill/>
          <a:ln>
            <a:noFill/>
          </a:ln>
        </p:spPr>
      </p:pic>
      <p:pic>
        <p:nvPicPr>
          <p:cNvPr id="2401" name="Google Shape;2401;p109"/>
          <p:cNvPicPr preferRelativeResize="0"/>
          <p:nvPr/>
        </p:nvPicPr>
        <p:blipFill>
          <a:blip r:embed="rId4">
            <a:alphaModFix/>
          </a:blip>
          <a:stretch>
            <a:fillRect/>
          </a:stretch>
        </p:blipFill>
        <p:spPr>
          <a:xfrm>
            <a:off x="7127444" y="1759125"/>
            <a:ext cx="286204" cy="473849"/>
          </a:xfrm>
          <a:prstGeom prst="rect">
            <a:avLst/>
          </a:prstGeom>
          <a:noFill/>
          <a:ln>
            <a:noFill/>
          </a:ln>
        </p:spPr>
      </p:pic>
      <p:pic>
        <p:nvPicPr>
          <p:cNvPr id="2402" name="Google Shape;2402;p109"/>
          <p:cNvPicPr preferRelativeResize="0"/>
          <p:nvPr/>
        </p:nvPicPr>
        <p:blipFill>
          <a:blip r:embed="rId4">
            <a:alphaModFix/>
          </a:blip>
          <a:stretch>
            <a:fillRect/>
          </a:stretch>
        </p:blipFill>
        <p:spPr>
          <a:xfrm rot="-1062462">
            <a:off x="7127444" y="1759125"/>
            <a:ext cx="286204" cy="4738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1"/>
                                        </p:tgtEl>
                                        <p:attrNameLst>
                                          <p:attrName>style.visibility</p:attrName>
                                        </p:attrNameLst>
                                      </p:cBhvr>
                                      <p:to>
                                        <p:strVal val="visible"/>
                                      </p:to>
                                    </p:set>
                                    <p:animEffect filter="fade" transition="in">
                                      <p:cBhvr>
                                        <p:cTn dur="1000"/>
                                        <p:tgtEl>
                                          <p:spTgt spid="23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92"/>
                                        </p:tgtEl>
                                        <p:attrNameLst>
                                          <p:attrName>style.visibility</p:attrName>
                                        </p:attrNameLst>
                                      </p:cBhvr>
                                      <p:to>
                                        <p:strVal val="visible"/>
                                      </p:to>
                                    </p:set>
                                    <p:animEffect filter="fade" transition="in">
                                      <p:cBhvr>
                                        <p:cTn dur="1000"/>
                                        <p:tgtEl>
                                          <p:spTgt spid="2392"/>
                                        </p:tgtEl>
                                      </p:cBhvr>
                                    </p:animEffect>
                                  </p:childTnLst>
                                </p:cTn>
                              </p:par>
                              <p:par>
                                <p:cTn fill="hold" nodeType="withEffect" presetClass="entr" presetID="10" presetSubtype="0">
                                  <p:stCondLst>
                                    <p:cond delay="0"/>
                                  </p:stCondLst>
                                  <p:childTnLst>
                                    <p:set>
                                      <p:cBhvr>
                                        <p:cTn dur="1" fill="hold">
                                          <p:stCondLst>
                                            <p:cond delay="0"/>
                                          </p:stCondLst>
                                        </p:cTn>
                                        <p:tgtEl>
                                          <p:spTgt spid="2397"/>
                                        </p:tgtEl>
                                        <p:attrNameLst>
                                          <p:attrName>style.visibility</p:attrName>
                                        </p:attrNameLst>
                                      </p:cBhvr>
                                      <p:to>
                                        <p:strVal val="visible"/>
                                      </p:to>
                                    </p:set>
                                    <p:animEffect filter="fade" transition="in">
                                      <p:cBhvr>
                                        <p:cTn dur="1000"/>
                                        <p:tgtEl>
                                          <p:spTgt spid="2397"/>
                                        </p:tgtEl>
                                      </p:cBhvr>
                                    </p:animEffect>
                                  </p:childTnLst>
                                </p:cTn>
                              </p:par>
                              <p:par>
                                <p:cTn fill="hold" nodeType="withEffect" presetClass="entr" presetID="10" presetSubtype="0">
                                  <p:stCondLst>
                                    <p:cond delay="0"/>
                                  </p:stCondLst>
                                  <p:childTnLst>
                                    <p:set>
                                      <p:cBhvr>
                                        <p:cTn dur="1" fill="hold">
                                          <p:stCondLst>
                                            <p:cond delay="0"/>
                                          </p:stCondLst>
                                        </p:cTn>
                                        <p:tgtEl>
                                          <p:spTgt spid="2393"/>
                                        </p:tgtEl>
                                        <p:attrNameLst>
                                          <p:attrName>style.visibility</p:attrName>
                                        </p:attrNameLst>
                                      </p:cBhvr>
                                      <p:to>
                                        <p:strVal val="visible"/>
                                      </p:to>
                                    </p:set>
                                    <p:animEffect filter="fade" transition="in">
                                      <p:cBhvr>
                                        <p:cTn dur="1000"/>
                                        <p:tgtEl>
                                          <p:spTgt spid="2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4"/>
                                        </p:tgtEl>
                                        <p:attrNameLst>
                                          <p:attrName>style.visibility</p:attrName>
                                        </p:attrNameLst>
                                      </p:cBhvr>
                                      <p:to>
                                        <p:strVal val="visible"/>
                                      </p:to>
                                    </p:set>
                                    <p:animEffect filter="fade" transition="in">
                                      <p:cBhvr>
                                        <p:cTn dur="1000"/>
                                        <p:tgtEl>
                                          <p:spTgt spid="2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5"/>
                                        </p:tgtEl>
                                        <p:attrNameLst>
                                          <p:attrName>style.visibility</p:attrName>
                                        </p:attrNameLst>
                                      </p:cBhvr>
                                      <p:to>
                                        <p:strVal val="visible"/>
                                      </p:to>
                                    </p:set>
                                    <p:animEffect filter="fade" transition="in">
                                      <p:cBhvr>
                                        <p:cTn dur="1000"/>
                                        <p:tgtEl>
                                          <p:spTgt spid="239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96"/>
                                        </p:tgtEl>
                                        <p:attrNameLst>
                                          <p:attrName>style.visibility</p:attrName>
                                        </p:attrNameLst>
                                      </p:cBhvr>
                                      <p:to>
                                        <p:strVal val="visible"/>
                                      </p:to>
                                    </p:set>
                                    <p:animEffect filter="fade" transition="in">
                                      <p:cBhvr>
                                        <p:cTn dur="1000"/>
                                        <p:tgtEl>
                                          <p:spTgt spid="239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99"/>
                                        </p:tgtEl>
                                        <p:attrNameLst>
                                          <p:attrName>style.visibility</p:attrName>
                                        </p:attrNameLst>
                                      </p:cBhvr>
                                      <p:to>
                                        <p:strVal val="visible"/>
                                      </p:to>
                                    </p:set>
                                    <p:animEffect filter="fade" transition="in">
                                      <p:cBhvr>
                                        <p:cTn dur="1000"/>
                                        <p:tgtEl>
                                          <p:spTgt spid="239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401"/>
                                        </p:tgtEl>
                                        <p:attrNameLst>
                                          <p:attrName>style.visibility</p:attrName>
                                        </p:attrNameLst>
                                      </p:cBhvr>
                                      <p:to>
                                        <p:strVal val="visible"/>
                                      </p:to>
                                    </p:set>
                                    <p:animEffect filter="fade" transition="in">
                                      <p:cBhvr>
                                        <p:cTn dur="1000"/>
                                        <p:tgtEl>
                                          <p:spTgt spid="240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400"/>
                                        </p:tgtEl>
                                        <p:attrNameLst>
                                          <p:attrName>style.visibility</p:attrName>
                                        </p:attrNameLst>
                                      </p:cBhvr>
                                      <p:to>
                                        <p:strVal val="visible"/>
                                      </p:to>
                                    </p:set>
                                    <p:animEffect filter="fade" transition="in">
                                      <p:cBhvr>
                                        <p:cTn dur="1000"/>
                                        <p:tgtEl>
                                          <p:spTgt spid="2400"/>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402"/>
                                        </p:tgtEl>
                                        <p:attrNameLst>
                                          <p:attrName>style.visibility</p:attrName>
                                        </p:attrNameLst>
                                      </p:cBhvr>
                                      <p:to>
                                        <p:strVal val="visible"/>
                                      </p:to>
                                    </p:set>
                                    <p:animEffect filter="fade" transition="in">
                                      <p:cBhvr>
                                        <p:cTn dur="1000"/>
                                        <p:tgtEl>
                                          <p:spTgt spid="2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8"/>
                                        </p:tgtEl>
                                        <p:attrNameLst>
                                          <p:attrName>style.visibility</p:attrName>
                                        </p:attrNameLst>
                                      </p:cBhvr>
                                      <p:to>
                                        <p:strVal val="visible"/>
                                      </p:to>
                                    </p:set>
                                    <p:animEffect filter="fade" transition="in">
                                      <p:cBhvr>
                                        <p:cTn dur="1000"/>
                                        <p:tgtEl>
                                          <p:spTgt spid="2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6" name="Shape 2406"/>
        <p:cNvGrpSpPr/>
        <p:nvPr/>
      </p:nvGrpSpPr>
      <p:grpSpPr>
        <a:xfrm>
          <a:off x="0" y="0"/>
          <a:ext cx="0" cy="0"/>
          <a:chOff x="0" y="0"/>
          <a:chExt cx="0" cy="0"/>
        </a:xfrm>
      </p:grpSpPr>
      <p:sp>
        <p:nvSpPr>
          <p:cNvPr id="2407" name="Google Shape;2407;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408" name="Google Shape;2408;p110"/>
          <p:cNvPicPr preferRelativeResize="0"/>
          <p:nvPr/>
        </p:nvPicPr>
        <p:blipFill>
          <a:blip r:embed="rId3">
            <a:alphaModFix/>
          </a:blip>
          <a:stretch>
            <a:fillRect/>
          </a:stretch>
        </p:blipFill>
        <p:spPr>
          <a:xfrm>
            <a:off x="3185375" y="97525"/>
            <a:ext cx="4505174" cy="4928748"/>
          </a:xfrm>
          <a:prstGeom prst="rect">
            <a:avLst/>
          </a:prstGeom>
          <a:noFill/>
          <a:ln>
            <a:noFill/>
          </a:ln>
        </p:spPr>
      </p:pic>
      <p:sp>
        <p:nvSpPr>
          <p:cNvPr id="2409" name="Google Shape;2409;p110"/>
          <p:cNvSpPr txBox="1"/>
          <p:nvPr/>
        </p:nvSpPr>
        <p:spPr>
          <a:xfrm>
            <a:off x="5407475" y="1068700"/>
            <a:ext cx="2161800" cy="124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rgbClr val="FFFFFF"/>
                </a:solidFill>
                <a:latin typeface="Handlee"/>
                <a:ea typeface="Handlee"/>
                <a:cs typeface="Handlee"/>
                <a:sym typeface="Handlee"/>
              </a:rPr>
              <a:t>MAKE DEEP COPIES OF:</a:t>
            </a:r>
            <a:endParaRPr sz="1300" u="sng">
              <a:solidFill>
                <a:srgbClr val="FFFFFF"/>
              </a:solidFill>
              <a:latin typeface="Handlee"/>
              <a:ea typeface="Handlee"/>
              <a:cs typeface="Handlee"/>
              <a:sym typeface="Handlee"/>
            </a:endParaRPr>
          </a:p>
          <a:p>
            <a:pPr indent="0" lvl="0" marL="0" rtl="0" algn="l">
              <a:spcBef>
                <a:spcPts val="0"/>
              </a:spcBef>
              <a:spcAft>
                <a:spcPts val="0"/>
              </a:spcAft>
              <a:buNone/>
            </a:pPr>
            <a:r>
              <a:rPr lang="en">
                <a:solidFill>
                  <a:srgbClr val="FFFFFF"/>
                </a:solidFill>
                <a:latin typeface="Handlee"/>
                <a:ea typeface="Handlee"/>
                <a:cs typeface="Handlee"/>
                <a:sym typeface="Handlee"/>
              </a:rPr>
              <a:t>- Arrays</a:t>
            </a:r>
            <a:endParaRPr>
              <a:solidFill>
                <a:srgbClr val="FFFFFF"/>
              </a:solidFill>
              <a:latin typeface="Handlee"/>
              <a:ea typeface="Handlee"/>
              <a:cs typeface="Handlee"/>
              <a:sym typeface="Handlee"/>
            </a:endParaRPr>
          </a:p>
          <a:p>
            <a:pPr indent="0" lvl="0" marL="0" rtl="0" algn="l">
              <a:spcBef>
                <a:spcPts val="0"/>
              </a:spcBef>
              <a:spcAft>
                <a:spcPts val="0"/>
              </a:spcAft>
              <a:buNone/>
            </a:pPr>
            <a:r>
              <a:rPr lang="en">
                <a:solidFill>
                  <a:srgbClr val="FFFFFF"/>
                </a:solidFill>
                <a:latin typeface="Handlee"/>
                <a:ea typeface="Handlee"/>
                <a:cs typeface="Handlee"/>
                <a:sym typeface="Handlee"/>
              </a:rPr>
              <a:t>- Data Structures</a:t>
            </a:r>
            <a:endParaRPr>
              <a:solidFill>
                <a:srgbClr val="FFFFFF"/>
              </a:solidFill>
              <a:latin typeface="Handlee"/>
              <a:ea typeface="Handlee"/>
              <a:cs typeface="Handlee"/>
              <a:sym typeface="Handlee"/>
            </a:endParaRPr>
          </a:p>
          <a:p>
            <a:pPr indent="0" lvl="0" marL="0" rtl="0" algn="l">
              <a:spcBef>
                <a:spcPts val="0"/>
              </a:spcBef>
              <a:spcAft>
                <a:spcPts val="0"/>
              </a:spcAft>
              <a:buNone/>
            </a:pPr>
            <a:r>
              <a:rPr lang="en">
                <a:solidFill>
                  <a:srgbClr val="FFFFFF"/>
                </a:solidFill>
                <a:latin typeface="Handlee"/>
                <a:ea typeface="Handlee"/>
                <a:cs typeface="Handlee"/>
                <a:sym typeface="Handlee"/>
              </a:rPr>
              <a:t>- Mutable classes</a:t>
            </a:r>
            <a:endParaRPr>
              <a:solidFill>
                <a:srgbClr val="FFFFFF"/>
              </a:solidFill>
              <a:latin typeface="Handlee"/>
              <a:ea typeface="Handlee"/>
              <a:cs typeface="Handlee"/>
              <a:sym typeface="Handlee"/>
            </a:endParaRPr>
          </a:p>
          <a:p>
            <a:pPr indent="0" lvl="0" marL="0" rtl="0" algn="l">
              <a:spcBef>
                <a:spcPts val="0"/>
              </a:spcBef>
              <a:spcAft>
                <a:spcPts val="0"/>
              </a:spcAft>
              <a:buNone/>
            </a:pPr>
            <a:r>
              <a:rPr lang="en">
                <a:solidFill>
                  <a:srgbClr val="FFFFFF"/>
                </a:solidFill>
                <a:latin typeface="Handlee"/>
                <a:ea typeface="Handlee"/>
                <a:cs typeface="Handlee"/>
                <a:sym typeface="Handlee"/>
              </a:rPr>
              <a:t>- Everything!</a:t>
            </a:r>
            <a:endParaRPr>
              <a:solidFill>
                <a:srgbClr val="FFFFFF"/>
              </a:solidFill>
              <a:latin typeface="Handlee"/>
              <a:ea typeface="Handlee"/>
              <a:cs typeface="Handlee"/>
              <a:sym typeface="Handlee"/>
            </a:endParaRPr>
          </a:p>
        </p:txBody>
      </p:sp>
      <p:sp>
        <p:nvSpPr>
          <p:cNvPr id="2410" name="Google Shape;2410;p110"/>
          <p:cNvSpPr/>
          <p:nvPr/>
        </p:nvSpPr>
        <p:spPr>
          <a:xfrm>
            <a:off x="502950" y="281650"/>
            <a:ext cx="2535000" cy="1231500"/>
          </a:xfrm>
          <a:prstGeom prst="wedgeRoundRectCallout">
            <a:avLst>
              <a:gd fmla="val 70714" name="adj1"/>
              <a:gd fmla="val 3598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The most </a:t>
            </a:r>
            <a:r>
              <a:rPr b="1" i="1" lang="en" sz="1300">
                <a:solidFill>
                  <a:srgbClr val="FF0000"/>
                </a:solidFill>
              </a:rPr>
              <a:t>common error</a:t>
            </a:r>
            <a:r>
              <a:rPr lang="en" sz="1300"/>
              <a:t> that students make when implementing a backtracking configuration is </a:t>
            </a:r>
            <a:r>
              <a:rPr b="1" i="1" lang="en" sz="1300">
                <a:solidFill>
                  <a:srgbClr val="FF0000"/>
                </a:solidFill>
              </a:rPr>
              <a:t>forgetting to make deep copies</a:t>
            </a:r>
            <a:r>
              <a:rPr lang="en" sz="1300"/>
              <a:t>!</a:t>
            </a:r>
            <a:endParaRPr sz="1300"/>
          </a:p>
        </p:txBody>
      </p:sp>
      <p:sp>
        <p:nvSpPr>
          <p:cNvPr id="2411" name="Google Shape;2411;p110"/>
          <p:cNvSpPr/>
          <p:nvPr/>
        </p:nvSpPr>
        <p:spPr>
          <a:xfrm>
            <a:off x="502950" y="1633475"/>
            <a:ext cx="2535000" cy="1231500"/>
          </a:xfrm>
          <a:prstGeom prst="wedgeRoundRectCallout">
            <a:avLst>
              <a:gd fmla="val 71827" name="adj1"/>
              <a:gd fmla="val -5717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If your configuration makes changes to some mutable value, e.g. adding queens to an array, it </a:t>
            </a:r>
            <a:r>
              <a:rPr b="1" i="1" lang="en" sz="1300" u="sng">
                <a:solidFill>
                  <a:srgbClr val="FF0000"/>
                </a:solidFill>
              </a:rPr>
              <a:t>must</a:t>
            </a:r>
            <a:r>
              <a:rPr lang="en" sz="1300"/>
              <a:t> have its own copy!</a:t>
            </a:r>
            <a:endParaRPr sz="1300"/>
          </a:p>
        </p:txBody>
      </p:sp>
      <p:sp>
        <p:nvSpPr>
          <p:cNvPr id="2412" name="Google Shape;2412;p110"/>
          <p:cNvSpPr/>
          <p:nvPr/>
        </p:nvSpPr>
        <p:spPr>
          <a:xfrm>
            <a:off x="502950" y="2985300"/>
            <a:ext cx="2535000" cy="831900"/>
          </a:xfrm>
          <a:prstGeom prst="wedgeRoundRectCallout">
            <a:avLst>
              <a:gd fmla="val 63199" name="adj1"/>
              <a:gd fmla="val -59233"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Otherwise, two different configurations will </a:t>
            </a:r>
            <a:r>
              <a:rPr b="1" i="1" lang="en" sz="1300">
                <a:solidFill>
                  <a:srgbClr val="FF0000"/>
                </a:solidFill>
              </a:rPr>
              <a:t>change each other's data</a:t>
            </a:r>
            <a:r>
              <a:rPr lang="en" sz="1300"/>
              <a:t>!</a:t>
            </a:r>
            <a:endParaRPr sz="1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0"/>
                                        </p:tgtEl>
                                        <p:attrNameLst>
                                          <p:attrName>style.visibility</p:attrName>
                                        </p:attrNameLst>
                                      </p:cBhvr>
                                      <p:to>
                                        <p:strVal val="visible"/>
                                      </p:to>
                                    </p:set>
                                    <p:animEffect filter="fade" transition="in">
                                      <p:cBhvr>
                                        <p:cTn dur="1000"/>
                                        <p:tgtEl>
                                          <p:spTgt spid="2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1"/>
                                        </p:tgtEl>
                                        <p:attrNameLst>
                                          <p:attrName>style.visibility</p:attrName>
                                        </p:attrNameLst>
                                      </p:cBhvr>
                                      <p:to>
                                        <p:strVal val="visible"/>
                                      </p:to>
                                    </p:set>
                                    <p:animEffect filter="fade" transition="in">
                                      <p:cBhvr>
                                        <p:cTn dur="1000"/>
                                        <p:tgtEl>
                                          <p:spTgt spid="2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2"/>
                                        </p:tgtEl>
                                        <p:attrNameLst>
                                          <p:attrName>style.visibility</p:attrName>
                                        </p:attrNameLst>
                                      </p:cBhvr>
                                      <p:to>
                                        <p:strVal val="visible"/>
                                      </p:to>
                                    </p:set>
                                    <p:animEffect filter="fade" transition="in">
                                      <p:cBhvr>
                                        <p:cTn dur="1000"/>
                                        <p:tgtEl>
                                          <p:spTgt spid="24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6" name="Shape 2416"/>
        <p:cNvGrpSpPr/>
        <p:nvPr/>
      </p:nvGrpSpPr>
      <p:grpSpPr>
        <a:xfrm>
          <a:off x="0" y="0"/>
          <a:ext cx="0" cy="0"/>
          <a:chOff x="0" y="0"/>
          <a:chExt cx="0" cy="0"/>
        </a:xfrm>
      </p:grpSpPr>
      <p:sp>
        <p:nvSpPr>
          <p:cNvPr id="2417" name="Google Shape;2417;p11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Lines of Succession</a:t>
            </a:r>
            <a:endParaRPr/>
          </a:p>
        </p:txBody>
      </p:sp>
      <p:sp>
        <p:nvSpPr>
          <p:cNvPr id="2418" name="Google Shape;2418;p111"/>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 successor to an </a:t>
            </a:r>
            <a:r>
              <a:rPr lang="en">
                <a:latin typeface="Courier New"/>
                <a:ea typeface="Courier New"/>
                <a:cs typeface="Courier New"/>
                <a:sym typeface="Courier New"/>
              </a:rPr>
              <a:t>NQueens</a:t>
            </a:r>
            <a:r>
              <a:rPr lang="en"/>
              <a:t> configuration includes one of the next possible moves that can be made on the chessboard. For now, we will just focus on playing one queen in each of the available squares in the next row.</a:t>
            </a:r>
            <a:endParaRPr/>
          </a:p>
        </p:txBody>
      </p:sp>
      <p:sp>
        <p:nvSpPr>
          <p:cNvPr id="2419" name="Google Shape;2419;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20" name="Google Shape;2420;p11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13.29</a:t>
            </a:r>
            <a:endParaRPr/>
          </a:p>
        </p:txBody>
      </p:sp>
      <p:sp>
        <p:nvSpPr>
          <p:cNvPr id="2421" name="Google Shape;2421;p111"/>
          <p:cNvSpPr txBox="1"/>
          <p:nvPr/>
        </p:nvSpPr>
        <p:spPr>
          <a:xfrm>
            <a:off x="194218" y="3401920"/>
            <a:ext cx="24384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There should be one possible move for each successor in the next row.</a:t>
            </a:r>
            <a:endParaRPr sz="1200"/>
          </a:p>
        </p:txBody>
      </p:sp>
      <p:pic>
        <p:nvPicPr>
          <p:cNvPr id="2422" name="Google Shape;2422;p111"/>
          <p:cNvPicPr preferRelativeResize="0"/>
          <p:nvPr/>
        </p:nvPicPr>
        <p:blipFill>
          <a:blip r:embed="rId3">
            <a:alphaModFix/>
          </a:blip>
          <a:stretch>
            <a:fillRect/>
          </a:stretch>
        </p:blipFill>
        <p:spPr>
          <a:xfrm>
            <a:off x="165224" y="1802246"/>
            <a:ext cx="2501775" cy="1546003"/>
          </a:xfrm>
          <a:prstGeom prst="rect">
            <a:avLst/>
          </a:prstGeom>
          <a:noFill/>
          <a:ln>
            <a:noFill/>
          </a:ln>
        </p:spPr>
      </p:pic>
      <p:sp>
        <p:nvSpPr>
          <p:cNvPr id="2423" name="Google Shape;2423;p111"/>
          <p:cNvSpPr txBox="1"/>
          <p:nvPr/>
        </p:nvSpPr>
        <p:spPr>
          <a:xfrm>
            <a:off x="194218" y="4240120"/>
            <a:ext cx="24384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If the board is empty, the "next" row is the first row.</a:t>
            </a:r>
            <a:endParaRPr sz="1200"/>
          </a:p>
        </p:txBody>
      </p:sp>
      <p:sp>
        <p:nvSpPr>
          <p:cNvPr id="2424" name="Google Shape;2424;p111"/>
          <p:cNvSpPr txBox="1"/>
          <p:nvPr>
            <p:ph idx="2" type="body"/>
          </p:nvPr>
        </p:nvSpPr>
        <p:spPr>
          <a:xfrm>
            <a:off x="2815075" y="1797725"/>
            <a:ext cx="6049500" cy="30246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the </a:t>
            </a:r>
            <a:r>
              <a:rPr lang="en" sz="1400">
                <a:latin typeface="Courier New"/>
                <a:ea typeface="Courier New"/>
                <a:cs typeface="Courier New"/>
                <a:sym typeface="Courier New"/>
              </a:rPr>
              <a:t>NQueens</a:t>
            </a:r>
            <a:r>
              <a:rPr lang="en" sz="1400"/>
              <a:t> class and implement the </a:t>
            </a:r>
            <a:r>
              <a:rPr lang="en" sz="1400">
                <a:solidFill>
                  <a:srgbClr val="FF0000"/>
                </a:solidFill>
                <a:latin typeface="Courier New"/>
                <a:ea typeface="Courier New"/>
                <a:cs typeface="Courier New"/>
                <a:sym typeface="Courier New"/>
              </a:rPr>
              <a:t>getSuccessors()</a:t>
            </a:r>
            <a:r>
              <a:rPr lang="en" sz="1400">
                <a:solidFill>
                  <a:srgbClr val="FF0000"/>
                </a:solidFill>
              </a:rPr>
              <a:t> </a:t>
            </a:r>
            <a:r>
              <a:rPr lang="en" sz="1400"/>
              <a:t>method.</a:t>
            </a:r>
            <a:endParaRPr sz="1400"/>
          </a:p>
          <a:p>
            <a:pPr indent="-304800" lvl="1" marL="914400" rtl="0" algn="l">
              <a:spcBef>
                <a:spcPts val="0"/>
              </a:spcBef>
              <a:spcAft>
                <a:spcPts val="0"/>
              </a:spcAft>
              <a:buSzPts val="1200"/>
              <a:buChar char="○"/>
            </a:pPr>
            <a:r>
              <a:rPr b="1" i="1" lang="en" sz="1200">
                <a:solidFill>
                  <a:srgbClr val="FF0000"/>
                </a:solidFill>
              </a:rPr>
              <a:t>Don't waste time</a:t>
            </a:r>
            <a:r>
              <a:rPr lang="en" sz="1200"/>
              <a:t> trying to place queens in the </a:t>
            </a:r>
            <a:r>
              <a:rPr b="1" i="1" lang="en" sz="1200">
                <a:solidFill>
                  <a:srgbClr val="FF0000"/>
                </a:solidFill>
              </a:rPr>
              <a:t>same row</a:t>
            </a:r>
            <a:r>
              <a:rPr lang="en" sz="1200">
                <a:solidFill>
                  <a:srgbClr val="FF0000"/>
                </a:solidFill>
              </a:rPr>
              <a:t> </a:t>
            </a:r>
            <a:r>
              <a:rPr lang="en" sz="1200"/>
              <a:t>as the last queen that was played.</a:t>
            </a:r>
            <a:endParaRPr sz="1200"/>
          </a:p>
          <a:p>
            <a:pPr indent="-304800" lvl="2" marL="1371600" rtl="0" algn="l">
              <a:spcBef>
                <a:spcPts val="0"/>
              </a:spcBef>
              <a:spcAft>
                <a:spcPts val="0"/>
              </a:spcAft>
              <a:buSzPts val="1200"/>
              <a:buChar char="■"/>
            </a:pPr>
            <a:r>
              <a:rPr lang="en" sz="1200"/>
              <a:t>What if no queen has been played yet?</a:t>
            </a:r>
            <a:endParaRPr sz="1200"/>
          </a:p>
          <a:p>
            <a:pPr indent="-304800" lvl="1" marL="914400" rtl="0" algn="l">
              <a:spcBef>
                <a:spcPts val="0"/>
              </a:spcBef>
              <a:spcAft>
                <a:spcPts val="0"/>
              </a:spcAft>
              <a:buSzPts val="1200"/>
              <a:buChar char="○"/>
            </a:pPr>
            <a:r>
              <a:rPr lang="en" sz="1200"/>
              <a:t>Generate a successor for each possible move in the </a:t>
            </a:r>
            <a:r>
              <a:rPr b="1" i="1" lang="en" sz="1200">
                <a:solidFill>
                  <a:srgbClr val="FF0000"/>
                </a:solidFill>
              </a:rPr>
              <a:t>next</a:t>
            </a:r>
            <a:r>
              <a:rPr lang="en" sz="1200">
                <a:solidFill>
                  <a:srgbClr val="FF0000"/>
                </a:solidFill>
              </a:rPr>
              <a:t> </a:t>
            </a:r>
            <a:r>
              <a:rPr lang="en" sz="1200"/>
              <a:t>row.</a:t>
            </a:r>
            <a:endParaRPr sz="1200"/>
          </a:p>
          <a:p>
            <a:pPr indent="-304800" lvl="2" marL="1371600" rtl="0" algn="l">
              <a:spcBef>
                <a:spcPts val="0"/>
              </a:spcBef>
              <a:spcAft>
                <a:spcPts val="0"/>
              </a:spcAft>
              <a:buSzPts val="1200"/>
              <a:buChar char="■"/>
            </a:pPr>
            <a:r>
              <a:rPr lang="en" sz="1200"/>
              <a:t>This means that you should make </a:t>
            </a:r>
            <a:r>
              <a:rPr b="1" i="1" lang="en" sz="1200">
                <a:solidFill>
                  <a:srgbClr val="FF0000"/>
                </a:solidFill>
              </a:rPr>
              <a:t>N</a:t>
            </a:r>
            <a:r>
              <a:rPr lang="en" sz="1200"/>
              <a:t> successors.</a:t>
            </a:r>
            <a:endParaRPr sz="1200"/>
          </a:p>
          <a:p>
            <a:pPr indent="-304800" lvl="1" marL="914400" rtl="0" algn="l">
              <a:spcBef>
                <a:spcPts val="0"/>
              </a:spcBef>
              <a:spcAft>
                <a:spcPts val="0"/>
              </a:spcAft>
              <a:buSzPts val="1200"/>
              <a:buChar char="○"/>
            </a:pPr>
            <a:r>
              <a:rPr b="1" i="1" lang="en" sz="1200">
                <a:solidFill>
                  <a:srgbClr val="FF0000"/>
                </a:solidFill>
              </a:rPr>
              <a:t>Hint</a:t>
            </a:r>
            <a:r>
              <a:rPr lang="en" sz="1200"/>
              <a:t>: Use the </a:t>
            </a:r>
            <a:r>
              <a:rPr lang="en" sz="1200">
                <a:solidFill>
                  <a:srgbClr val="FF0000"/>
                </a:solidFill>
                <a:latin typeface="Courier New"/>
                <a:ea typeface="Courier New"/>
                <a:cs typeface="Courier New"/>
                <a:sym typeface="Courier New"/>
              </a:rPr>
              <a:t>Arrays.copyOf()</a:t>
            </a:r>
            <a:r>
              <a:rPr lang="en" sz="1200"/>
              <a:t> method to make a </a:t>
            </a:r>
            <a:r>
              <a:rPr b="1" i="1" lang="en" sz="1200">
                <a:solidFill>
                  <a:srgbClr val="FF0000"/>
                </a:solidFill>
              </a:rPr>
              <a:t>deep copy</a:t>
            </a:r>
            <a:r>
              <a:rPr lang="en" sz="1200"/>
              <a:t> of your array of queens with room enough for </a:t>
            </a:r>
            <a:r>
              <a:rPr b="1" i="1" lang="en" sz="1200">
                <a:solidFill>
                  <a:srgbClr val="FF0000"/>
                </a:solidFill>
              </a:rPr>
              <a:t>one more queen</a:t>
            </a:r>
            <a:r>
              <a:rPr lang="en" sz="1200"/>
              <a:t>.</a:t>
            </a:r>
            <a:endParaRPr sz="1200"/>
          </a:p>
          <a:p>
            <a:pPr indent="-304800" lvl="1" marL="914400" rtl="0" algn="l">
              <a:spcBef>
                <a:spcPts val="0"/>
              </a:spcBef>
              <a:spcAft>
                <a:spcPts val="0"/>
              </a:spcAft>
              <a:buSzPts val="1200"/>
              <a:buChar char="○"/>
            </a:pPr>
            <a:r>
              <a:rPr lang="en" sz="1200"/>
              <a:t>Be sure to make sure that you are not already in the last row!</a:t>
            </a:r>
            <a:endParaRPr sz="1200"/>
          </a:p>
          <a:p>
            <a:pPr indent="-317500" lvl="0" marL="457200" rtl="0" algn="l">
              <a:spcBef>
                <a:spcPts val="0"/>
              </a:spcBef>
              <a:spcAft>
                <a:spcPts val="0"/>
              </a:spcAft>
              <a:buSzPts val="1400"/>
              <a:buChar char="●"/>
            </a:pPr>
            <a:r>
              <a:rPr b="1" i="1" lang="en" sz="1400">
                <a:solidFill>
                  <a:srgbClr val="FF0000"/>
                </a:solidFill>
              </a:rPr>
              <a:t>Test </a:t>
            </a:r>
            <a:r>
              <a:rPr lang="en" sz="1400"/>
              <a:t>your </a:t>
            </a:r>
            <a:r>
              <a:rPr lang="en" sz="1400">
                <a:latin typeface="Courier New"/>
                <a:ea typeface="Courier New"/>
                <a:cs typeface="Courier New"/>
                <a:sym typeface="Courier New"/>
              </a:rPr>
              <a:t>getSuccessors()</a:t>
            </a:r>
            <a:r>
              <a:rPr lang="en" sz="1400"/>
              <a:t> function from </a:t>
            </a:r>
            <a:r>
              <a:rPr lang="en" sz="1400">
                <a:latin typeface="Courier New"/>
                <a:ea typeface="Courier New"/>
                <a:cs typeface="Courier New"/>
                <a:sym typeface="Courier New"/>
              </a:rPr>
              <a:t>main</a:t>
            </a:r>
            <a:r>
              <a:rPr lang="en" sz="1400"/>
              <a:t>.</a:t>
            </a:r>
            <a:endParaRPr sz="1400"/>
          </a:p>
          <a:p>
            <a:pPr indent="-304800" lvl="1" marL="914400" rtl="0" algn="l">
              <a:spcBef>
                <a:spcPts val="0"/>
              </a:spcBef>
              <a:spcAft>
                <a:spcPts val="0"/>
              </a:spcAft>
              <a:buSzPts val="1200"/>
              <a:buChar char="○"/>
            </a:pPr>
            <a:r>
              <a:rPr lang="en" sz="1200"/>
              <a:t>There should be </a:t>
            </a:r>
            <a:r>
              <a:rPr b="1" i="1" lang="en" sz="1200">
                <a:solidFill>
                  <a:srgbClr val="FF0000"/>
                </a:solidFill>
              </a:rPr>
              <a:t>four</a:t>
            </a:r>
            <a:r>
              <a:rPr lang="en" sz="1200"/>
              <a:t> successors on a 4x4 board, all in the top row. Print each of the successors.</a:t>
            </a:r>
            <a:endParaRPr sz="12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8" name="Shape 2428"/>
        <p:cNvGrpSpPr/>
        <p:nvPr/>
      </p:nvGrpSpPr>
      <p:grpSpPr>
        <a:xfrm>
          <a:off x="0" y="0"/>
          <a:ext cx="0" cy="0"/>
          <a:chOff x="0" y="0"/>
          <a:chExt cx="0" cy="0"/>
        </a:xfrm>
      </p:grpSpPr>
      <p:sp>
        <p:nvSpPr>
          <p:cNvPr id="2429" name="Google Shape;2429;p112"/>
          <p:cNvSpPr txBox="1"/>
          <p:nvPr>
            <p:ph type="title"/>
          </p:nvPr>
        </p:nvSpPr>
        <p:spPr>
          <a:xfrm>
            <a:off x="3117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Pruning</a:t>
            </a:r>
            <a:endParaRPr/>
          </a:p>
        </p:txBody>
      </p:sp>
      <p:sp>
        <p:nvSpPr>
          <p:cNvPr id="2430" name="Google Shape;2430;p11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31" name="Google Shape;2431;p112"/>
          <p:cNvSpPr txBox="1"/>
          <p:nvPr>
            <p:ph idx="1" type="body"/>
          </p:nvPr>
        </p:nvSpPr>
        <p:spPr>
          <a:xfrm>
            <a:off x="4437825" y="52275"/>
            <a:ext cx="4638900" cy="50691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The 2-Queens problem is a fairly trivial instance of N-Queens that very quickly runs out of moves.</a:t>
            </a:r>
            <a:endParaRPr/>
          </a:p>
          <a:p>
            <a:pPr indent="-298450" lvl="1" marL="914400" rtl="0" algn="l">
              <a:lnSpc>
                <a:spcPct val="100000"/>
              </a:lnSpc>
              <a:spcBef>
                <a:spcPts val="0"/>
              </a:spcBef>
              <a:spcAft>
                <a:spcPts val="0"/>
              </a:spcAft>
              <a:buSzPts val="1100"/>
              <a:buChar char="○"/>
            </a:pPr>
            <a:r>
              <a:rPr lang="en"/>
              <a:t>It just so happens that the </a:t>
            </a:r>
            <a:r>
              <a:rPr b="1" i="1" lang="en">
                <a:solidFill>
                  <a:srgbClr val="FF0000"/>
                </a:solidFill>
              </a:rPr>
              <a:t>last moves</a:t>
            </a:r>
            <a:r>
              <a:rPr lang="en"/>
              <a:t> made always result in invalid configurations.</a:t>
            </a:r>
            <a:endParaRPr/>
          </a:p>
          <a:p>
            <a:pPr indent="-311150" lvl="0" marL="457200" rtl="0" algn="l">
              <a:lnSpc>
                <a:spcPct val="100000"/>
              </a:lnSpc>
              <a:spcBef>
                <a:spcPts val="1000"/>
              </a:spcBef>
              <a:spcAft>
                <a:spcPts val="0"/>
              </a:spcAft>
              <a:buSzPts val="1300"/>
              <a:buChar char="●"/>
            </a:pPr>
            <a:r>
              <a:rPr lang="en"/>
              <a:t>Consider a larger chessboard where there are </a:t>
            </a:r>
            <a:r>
              <a:rPr b="1" i="1" lang="en">
                <a:solidFill>
                  <a:srgbClr val="FF0000"/>
                </a:solidFill>
              </a:rPr>
              <a:t>many more</a:t>
            </a:r>
            <a:r>
              <a:rPr lang="en"/>
              <a:t> possible choices that can be made at each iteration.</a:t>
            </a:r>
            <a:endParaRPr/>
          </a:p>
          <a:p>
            <a:pPr indent="-298450" lvl="1" marL="914400" rtl="0" algn="l">
              <a:lnSpc>
                <a:spcPct val="100000"/>
              </a:lnSpc>
              <a:spcBef>
                <a:spcPts val="0"/>
              </a:spcBef>
              <a:spcAft>
                <a:spcPts val="0"/>
              </a:spcAft>
              <a:buSzPts val="1100"/>
              <a:buChar char="○"/>
            </a:pPr>
            <a:r>
              <a:rPr lang="en"/>
              <a:t>Your configuration may create an </a:t>
            </a:r>
            <a:r>
              <a:rPr b="1" i="1" lang="en">
                <a:solidFill>
                  <a:srgbClr val="FF0000"/>
                </a:solidFill>
              </a:rPr>
              <a:t>invalid successor</a:t>
            </a:r>
            <a:r>
              <a:rPr lang="en"/>
              <a:t> long before the number of possible choices is exhausted.</a:t>
            </a:r>
            <a:endParaRPr/>
          </a:p>
          <a:p>
            <a:pPr indent="-298450" lvl="1" marL="914400" rtl="0" algn="l">
              <a:lnSpc>
                <a:spcPct val="100000"/>
              </a:lnSpc>
              <a:spcBef>
                <a:spcPts val="0"/>
              </a:spcBef>
              <a:spcAft>
                <a:spcPts val="0"/>
              </a:spcAft>
              <a:buSzPts val="1100"/>
              <a:buChar char="○"/>
            </a:pPr>
            <a:r>
              <a:rPr lang="en"/>
              <a:t>Is there any way for an </a:t>
            </a:r>
            <a:r>
              <a:rPr b="1" i="1" lang="en">
                <a:solidFill>
                  <a:srgbClr val="FF0000"/>
                </a:solidFill>
              </a:rPr>
              <a:t>invalid configuration</a:t>
            </a:r>
            <a:r>
              <a:rPr lang="en"/>
              <a:t> to lead to a </a:t>
            </a:r>
            <a:r>
              <a:rPr b="1" i="1" lang="en">
                <a:solidFill>
                  <a:srgbClr val="FF0000"/>
                </a:solidFill>
              </a:rPr>
              <a:t>valid solution</a:t>
            </a:r>
            <a:r>
              <a:rPr lang="en"/>
              <a:t>?</a:t>
            </a:r>
            <a:endParaRPr/>
          </a:p>
          <a:p>
            <a:pPr indent="-311150" lvl="0" marL="457200" rtl="0" algn="l">
              <a:lnSpc>
                <a:spcPct val="100000"/>
              </a:lnSpc>
              <a:spcBef>
                <a:spcPts val="1000"/>
              </a:spcBef>
              <a:spcAft>
                <a:spcPts val="0"/>
              </a:spcAft>
              <a:buSzPts val="1300"/>
              <a:buChar char="●"/>
            </a:pPr>
            <a:r>
              <a:rPr lang="en"/>
              <a:t>Depending on the number of possible choices that have to be tested, a backtracking algorithm can be </a:t>
            </a:r>
            <a:r>
              <a:rPr b="1" i="1" lang="en">
                <a:solidFill>
                  <a:srgbClr val="FF0000"/>
                </a:solidFill>
              </a:rPr>
              <a:t>extremely computationally intensive</a:t>
            </a:r>
            <a:r>
              <a:rPr lang="en"/>
              <a:t>. </a:t>
            </a:r>
            <a:endParaRPr/>
          </a:p>
          <a:p>
            <a:pPr indent="-298450" lvl="1" marL="914400" rtl="0" algn="l">
              <a:lnSpc>
                <a:spcPct val="100000"/>
              </a:lnSpc>
              <a:spcBef>
                <a:spcPts val="0"/>
              </a:spcBef>
              <a:spcAft>
                <a:spcPts val="0"/>
              </a:spcAft>
              <a:buSzPts val="1100"/>
              <a:buChar char="○"/>
            </a:pPr>
            <a:r>
              <a:rPr lang="en"/>
              <a:t>You should try to </a:t>
            </a:r>
            <a:r>
              <a:rPr b="1" i="1" lang="en">
                <a:solidFill>
                  <a:srgbClr val="FF0000"/>
                </a:solidFill>
              </a:rPr>
              <a:t>optimize</a:t>
            </a:r>
            <a:r>
              <a:rPr lang="en">
                <a:solidFill>
                  <a:srgbClr val="FF0000"/>
                </a:solidFill>
              </a:rPr>
              <a:t> </a:t>
            </a:r>
            <a:r>
              <a:rPr lang="en"/>
              <a:t>in any way you can to reduce the amount of time that it takes to find a solution.</a:t>
            </a:r>
            <a:endParaRPr/>
          </a:p>
          <a:p>
            <a:pPr indent="-311150" lvl="0" marL="457200" rtl="0" algn="l">
              <a:lnSpc>
                <a:spcPct val="100000"/>
              </a:lnSpc>
              <a:spcBef>
                <a:spcPts val="1000"/>
              </a:spcBef>
              <a:spcAft>
                <a:spcPts val="0"/>
              </a:spcAft>
              <a:buSzPts val="1300"/>
              <a:buChar char="●"/>
            </a:pPr>
            <a:r>
              <a:rPr lang="en"/>
              <a:t>One optimization technique is called </a:t>
            </a:r>
            <a:r>
              <a:rPr b="1" i="1" lang="en">
                <a:solidFill>
                  <a:srgbClr val="FF0000"/>
                </a:solidFill>
              </a:rPr>
              <a:t>pruning</a:t>
            </a:r>
            <a:r>
              <a:rPr lang="en"/>
              <a:t>.</a:t>
            </a:r>
            <a:endParaRPr/>
          </a:p>
          <a:p>
            <a:pPr indent="-298450" lvl="1" marL="914400" rtl="0" algn="l">
              <a:lnSpc>
                <a:spcPct val="100000"/>
              </a:lnSpc>
              <a:spcBef>
                <a:spcPts val="0"/>
              </a:spcBef>
              <a:spcAft>
                <a:spcPts val="0"/>
              </a:spcAft>
              <a:buSzPts val="1100"/>
              <a:buChar char="○"/>
            </a:pPr>
            <a:r>
              <a:rPr lang="en"/>
              <a:t>If a configuration is </a:t>
            </a:r>
            <a:r>
              <a:rPr b="1" i="1" lang="en">
                <a:solidFill>
                  <a:srgbClr val="FF0000"/>
                </a:solidFill>
              </a:rPr>
              <a:t>invalid</a:t>
            </a:r>
            <a:r>
              <a:rPr lang="en"/>
              <a:t>, no additional successor configurations are tried from that point.</a:t>
            </a:r>
            <a:endParaRPr/>
          </a:p>
          <a:p>
            <a:pPr indent="-298450" lvl="1" marL="914400" rtl="0" algn="l">
              <a:lnSpc>
                <a:spcPct val="100000"/>
              </a:lnSpc>
              <a:spcBef>
                <a:spcPts val="0"/>
              </a:spcBef>
              <a:spcAft>
                <a:spcPts val="0"/>
              </a:spcAft>
              <a:buSzPts val="1100"/>
              <a:buChar char="○"/>
            </a:pPr>
            <a:r>
              <a:rPr lang="en"/>
              <a:t>This branch of the search tree is </a:t>
            </a:r>
            <a:r>
              <a:rPr b="1" i="1" lang="en">
                <a:solidFill>
                  <a:srgbClr val="FF0000"/>
                </a:solidFill>
              </a:rPr>
              <a:t>abandoned</a:t>
            </a:r>
            <a:r>
              <a:rPr lang="en"/>
              <a:t>.</a:t>
            </a:r>
            <a:endParaRPr/>
          </a:p>
          <a:p>
            <a:pPr indent="-311150" lvl="0" marL="457200" rtl="0" algn="l">
              <a:lnSpc>
                <a:spcPct val="100000"/>
              </a:lnSpc>
              <a:spcBef>
                <a:spcPts val="1000"/>
              </a:spcBef>
              <a:spcAft>
                <a:spcPts val="0"/>
              </a:spcAft>
              <a:buSzPts val="1300"/>
              <a:buChar char="●"/>
            </a:pPr>
            <a:r>
              <a:rPr lang="en"/>
              <a:t>Pruning is built into the backtracker.</a:t>
            </a:r>
            <a:endParaRPr/>
          </a:p>
          <a:p>
            <a:pPr indent="-298450" lvl="1" marL="914400" rtl="0" algn="l">
              <a:lnSpc>
                <a:spcPct val="100000"/>
              </a:lnSpc>
              <a:spcBef>
                <a:spcPts val="0"/>
              </a:spcBef>
              <a:spcAft>
                <a:spcPts val="0"/>
              </a:spcAft>
              <a:buSzPts val="1100"/>
              <a:buChar char="○"/>
            </a:pPr>
            <a:r>
              <a:rPr lang="en"/>
              <a:t>If the </a:t>
            </a:r>
            <a:r>
              <a:rPr lang="en">
                <a:solidFill>
                  <a:srgbClr val="FF0000"/>
                </a:solidFill>
                <a:latin typeface="Courier New"/>
                <a:ea typeface="Courier New"/>
                <a:cs typeface="Courier New"/>
                <a:sym typeface="Courier New"/>
              </a:rPr>
              <a:t>isValid()</a:t>
            </a:r>
            <a:r>
              <a:rPr lang="en"/>
              <a:t> method returns </a:t>
            </a:r>
            <a:r>
              <a:rPr lang="en">
                <a:solidFill>
                  <a:srgbClr val="FF0000"/>
                </a:solidFill>
                <a:latin typeface="Courier New"/>
                <a:ea typeface="Courier New"/>
                <a:cs typeface="Courier New"/>
                <a:sym typeface="Courier New"/>
              </a:rPr>
              <a:t>false</a:t>
            </a:r>
            <a:r>
              <a:rPr lang="en"/>
              <a:t>, that configuration and all of its potential successors are </a:t>
            </a:r>
            <a:r>
              <a:rPr b="1" i="1" lang="en">
                <a:solidFill>
                  <a:srgbClr val="FF0000"/>
                </a:solidFill>
              </a:rPr>
              <a:t>pruned</a:t>
            </a:r>
            <a:r>
              <a:rPr lang="en"/>
              <a:t>.</a:t>
            </a:r>
            <a:endParaRPr/>
          </a:p>
        </p:txBody>
      </p:sp>
      <p:sp>
        <p:nvSpPr>
          <p:cNvPr id="2432" name="Google Shape;2432;p112"/>
          <p:cNvSpPr txBox="1"/>
          <p:nvPr>
            <p:ph idx="3" type="body"/>
          </p:nvPr>
        </p:nvSpPr>
        <p:spPr>
          <a:xfrm>
            <a:off x="311725" y="758025"/>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On larger boards it is not only </a:t>
            </a:r>
            <a:r>
              <a:rPr b="1" i="1" lang="en">
                <a:solidFill>
                  <a:srgbClr val="FF0000"/>
                </a:solidFill>
              </a:rPr>
              <a:t>possible</a:t>
            </a:r>
            <a:r>
              <a:rPr lang="en"/>
              <a:t>, but </a:t>
            </a:r>
            <a:r>
              <a:rPr b="1" i="1" lang="en">
                <a:solidFill>
                  <a:srgbClr val="FF0000"/>
                </a:solidFill>
              </a:rPr>
              <a:t>very likely</a:t>
            </a:r>
            <a:r>
              <a:rPr lang="en">
                <a:solidFill>
                  <a:srgbClr val="FF0000"/>
                </a:solidFill>
              </a:rPr>
              <a:t> </a:t>
            </a:r>
            <a:r>
              <a:rPr lang="en"/>
              <a:t>that your algorithm will create an </a:t>
            </a:r>
            <a:r>
              <a:rPr b="1" i="1" lang="en">
                <a:solidFill>
                  <a:srgbClr val="FF0000"/>
                </a:solidFill>
              </a:rPr>
              <a:t>invalid </a:t>
            </a:r>
            <a:r>
              <a:rPr lang="en"/>
              <a:t>successor long before making every possible move.</a:t>
            </a:r>
            <a:endParaRPr/>
          </a:p>
        </p:txBody>
      </p:sp>
      <p:graphicFrame>
        <p:nvGraphicFramePr>
          <p:cNvPr id="2433" name="Google Shape;2433;p112"/>
          <p:cNvGraphicFramePr/>
          <p:nvPr/>
        </p:nvGraphicFramePr>
        <p:xfrm>
          <a:off x="1272875" y="1634552"/>
          <a:ext cx="3000000" cy="3000000"/>
        </p:xfrm>
        <a:graphic>
          <a:graphicData uri="http://schemas.openxmlformats.org/drawingml/2006/table">
            <a:tbl>
              <a:tblPr>
                <a:noFill/>
                <a:tableStyleId>{89CCAE03-A2B2-4379-B0C2-E101A7E113D6}</a:tableStyleId>
              </a:tblPr>
              <a:tblGrid>
                <a:gridCol w="382850"/>
                <a:gridCol w="382850"/>
                <a:gridCol w="382850"/>
                <a:gridCol w="382850"/>
              </a:tblGrid>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09000">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99999"/>
                    </a:solidFill>
                  </a:tcPr>
                </a:tc>
              </a:tr>
            </a:tbl>
          </a:graphicData>
        </a:graphic>
      </p:graphicFrame>
      <p:grpSp>
        <p:nvGrpSpPr>
          <p:cNvPr id="2434" name="Google Shape;2434;p112"/>
          <p:cNvGrpSpPr/>
          <p:nvPr/>
        </p:nvGrpSpPr>
        <p:grpSpPr>
          <a:xfrm>
            <a:off x="1356470" y="1634546"/>
            <a:ext cx="220058" cy="1000836"/>
            <a:chOff x="2880470" y="3359640"/>
            <a:chExt cx="220058" cy="1000836"/>
          </a:xfrm>
        </p:grpSpPr>
        <p:pic>
          <p:nvPicPr>
            <p:cNvPr id="2435" name="Google Shape;2435;p112"/>
            <p:cNvPicPr preferRelativeResize="0"/>
            <p:nvPr/>
          </p:nvPicPr>
          <p:blipFill>
            <a:blip r:embed="rId3">
              <a:alphaModFix/>
            </a:blip>
            <a:stretch>
              <a:fillRect/>
            </a:stretch>
          </p:blipFill>
          <p:spPr>
            <a:xfrm>
              <a:off x="2900189" y="3359640"/>
              <a:ext cx="200339" cy="338501"/>
            </a:xfrm>
            <a:prstGeom prst="rect">
              <a:avLst/>
            </a:prstGeom>
            <a:noFill/>
            <a:ln>
              <a:noFill/>
            </a:ln>
          </p:spPr>
        </p:pic>
        <p:pic>
          <p:nvPicPr>
            <p:cNvPr id="2436" name="Google Shape;2436;p112"/>
            <p:cNvPicPr preferRelativeResize="0"/>
            <p:nvPr/>
          </p:nvPicPr>
          <p:blipFill>
            <a:blip r:embed="rId3">
              <a:alphaModFix/>
            </a:blip>
            <a:stretch>
              <a:fillRect/>
            </a:stretch>
          </p:blipFill>
          <p:spPr>
            <a:xfrm>
              <a:off x="2880470" y="4021976"/>
              <a:ext cx="200339" cy="338501"/>
            </a:xfrm>
            <a:prstGeom prst="rect">
              <a:avLst/>
            </a:prstGeom>
            <a:noFill/>
            <a:ln>
              <a:noFill/>
            </a:ln>
          </p:spPr>
        </p:pic>
      </p:grpSp>
      <p:sp>
        <p:nvSpPr>
          <p:cNvPr id="2437" name="Google Shape;2437;p112"/>
          <p:cNvSpPr txBox="1"/>
          <p:nvPr>
            <p:ph idx="3" type="body"/>
          </p:nvPr>
        </p:nvSpPr>
        <p:spPr>
          <a:xfrm>
            <a:off x="311725" y="3120225"/>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It is </a:t>
            </a:r>
            <a:r>
              <a:rPr b="1" i="1" lang="en">
                <a:solidFill>
                  <a:srgbClr val="FF0000"/>
                </a:solidFill>
              </a:rPr>
              <a:t>impossible</a:t>
            </a:r>
            <a:r>
              <a:rPr lang="en">
                <a:solidFill>
                  <a:srgbClr val="FF0000"/>
                </a:solidFill>
              </a:rPr>
              <a:t> </a:t>
            </a:r>
            <a:r>
              <a:rPr lang="en"/>
              <a:t>for a valid solution to be reached after a single bad placement of a queen. And so there is no sense in wasting time continuing to create successors after this point.</a:t>
            </a:r>
            <a:endParaRPr/>
          </a:p>
        </p:txBody>
      </p:sp>
      <p:sp>
        <p:nvSpPr>
          <p:cNvPr id="2438" name="Google Shape;2438;p112"/>
          <p:cNvSpPr txBox="1"/>
          <p:nvPr>
            <p:ph idx="3" type="body"/>
          </p:nvPr>
        </p:nvSpPr>
        <p:spPr>
          <a:xfrm>
            <a:off x="311725" y="4166396"/>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backtracking algorithm that we will be using will automatically </a:t>
            </a:r>
            <a:r>
              <a:rPr b="1" i="1" lang="en">
                <a:solidFill>
                  <a:srgbClr val="FF0000"/>
                </a:solidFill>
              </a:rPr>
              <a:t>prune</a:t>
            </a:r>
            <a:r>
              <a:rPr lang="en">
                <a:solidFill>
                  <a:srgbClr val="FF0000"/>
                </a:solidFill>
              </a:rPr>
              <a:t> </a:t>
            </a:r>
            <a:r>
              <a:rPr lang="en"/>
              <a:t>the search tree whenever it finds </a:t>
            </a:r>
            <a:r>
              <a:rPr lang="en"/>
              <a:t>an</a:t>
            </a:r>
            <a:r>
              <a:rPr lang="en"/>
              <a:t> </a:t>
            </a:r>
            <a:r>
              <a:rPr b="1" i="1" lang="en">
                <a:solidFill>
                  <a:srgbClr val="FF0000"/>
                </a:solidFill>
              </a:rPr>
              <a:t>invalid configuration</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0" st="0"/>
                                            </p:txEl>
                                          </p:spTgt>
                                        </p:tgtEl>
                                        <p:attrNameLst>
                                          <p:attrName>style.visibility</p:attrName>
                                        </p:attrNameLst>
                                      </p:cBhvr>
                                      <p:to>
                                        <p:strVal val="visible"/>
                                      </p:to>
                                    </p:set>
                                    <p:animEffect filter="fade" transition="in">
                                      <p:cBhvr>
                                        <p:cTn dur="1000"/>
                                        <p:tgtEl>
                                          <p:spTgt spid="24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1" st="1"/>
                                            </p:txEl>
                                          </p:spTgt>
                                        </p:tgtEl>
                                        <p:attrNameLst>
                                          <p:attrName>style.visibility</p:attrName>
                                        </p:attrNameLst>
                                      </p:cBhvr>
                                      <p:to>
                                        <p:strVal val="visible"/>
                                      </p:to>
                                    </p:set>
                                    <p:animEffect filter="fade" transition="in">
                                      <p:cBhvr>
                                        <p:cTn dur="1000"/>
                                        <p:tgtEl>
                                          <p:spTgt spid="24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2" st="2"/>
                                            </p:txEl>
                                          </p:spTgt>
                                        </p:tgtEl>
                                        <p:attrNameLst>
                                          <p:attrName>style.visibility</p:attrName>
                                        </p:attrNameLst>
                                      </p:cBhvr>
                                      <p:to>
                                        <p:strVal val="visible"/>
                                      </p:to>
                                    </p:set>
                                    <p:animEffect filter="fade" transition="in">
                                      <p:cBhvr>
                                        <p:cTn dur="1000"/>
                                        <p:tgtEl>
                                          <p:spTgt spid="24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3" st="3"/>
                                            </p:txEl>
                                          </p:spTgt>
                                        </p:tgtEl>
                                        <p:attrNameLst>
                                          <p:attrName>style.visibility</p:attrName>
                                        </p:attrNameLst>
                                      </p:cBhvr>
                                      <p:to>
                                        <p:strVal val="visible"/>
                                      </p:to>
                                    </p:set>
                                    <p:animEffect filter="fade" transition="in">
                                      <p:cBhvr>
                                        <p:cTn dur="1000"/>
                                        <p:tgtEl>
                                          <p:spTgt spid="24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4" st="4"/>
                                            </p:txEl>
                                          </p:spTgt>
                                        </p:tgtEl>
                                        <p:attrNameLst>
                                          <p:attrName>style.visibility</p:attrName>
                                        </p:attrNameLst>
                                      </p:cBhvr>
                                      <p:to>
                                        <p:strVal val="visible"/>
                                      </p:to>
                                    </p:set>
                                    <p:animEffect filter="fade" transition="in">
                                      <p:cBhvr>
                                        <p:cTn dur="1000"/>
                                        <p:tgtEl>
                                          <p:spTgt spid="24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5" st="5"/>
                                            </p:txEl>
                                          </p:spTgt>
                                        </p:tgtEl>
                                        <p:attrNameLst>
                                          <p:attrName>style.visibility</p:attrName>
                                        </p:attrNameLst>
                                      </p:cBhvr>
                                      <p:to>
                                        <p:strVal val="visible"/>
                                      </p:to>
                                    </p:set>
                                    <p:animEffect filter="fade" transition="in">
                                      <p:cBhvr>
                                        <p:cTn dur="1000"/>
                                        <p:tgtEl>
                                          <p:spTgt spid="24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6" st="6"/>
                                            </p:txEl>
                                          </p:spTgt>
                                        </p:tgtEl>
                                        <p:attrNameLst>
                                          <p:attrName>style.visibility</p:attrName>
                                        </p:attrNameLst>
                                      </p:cBhvr>
                                      <p:to>
                                        <p:strVal val="visible"/>
                                      </p:to>
                                    </p:set>
                                    <p:animEffect filter="fade" transition="in">
                                      <p:cBhvr>
                                        <p:cTn dur="1000"/>
                                        <p:tgtEl>
                                          <p:spTgt spid="24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7" st="7"/>
                                            </p:txEl>
                                          </p:spTgt>
                                        </p:tgtEl>
                                        <p:attrNameLst>
                                          <p:attrName>style.visibility</p:attrName>
                                        </p:attrNameLst>
                                      </p:cBhvr>
                                      <p:to>
                                        <p:strVal val="visible"/>
                                      </p:to>
                                    </p:set>
                                    <p:animEffect filter="fade" transition="in">
                                      <p:cBhvr>
                                        <p:cTn dur="1000"/>
                                        <p:tgtEl>
                                          <p:spTgt spid="243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8" st="8"/>
                                            </p:txEl>
                                          </p:spTgt>
                                        </p:tgtEl>
                                        <p:attrNameLst>
                                          <p:attrName>style.visibility</p:attrName>
                                        </p:attrNameLst>
                                      </p:cBhvr>
                                      <p:to>
                                        <p:strVal val="visible"/>
                                      </p:to>
                                    </p:set>
                                    <p:animEffect filter="fade" transition="in">
                                      <p:cBhvr>
                                        <p:cTn dur="1000"/>
                                        <p:tgtEl>
                                          <p:spTgt spid="243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9" st="9"/>
                                            </p:txEl>
                                          </p:spTgt>
                                        </p:tgtEl>
                                        <p:attrNameLst>
                                          <p:attrName>style.visibility</p:attrName>
                                        </p:attrNameLst>
                                      </p:cBhvr>
                                      <p:to>
                                        <p:strVal val="visible"/>
                                      </p:to>
                                    </p:set>
                                    <p:animEffect filter="fade" transition="in">
                                      <p:cBhvr>
                                        <p:cTn dur="1000"/>
                                        <p:tgtEl>
                                          <p:spTgt spid="243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10" st="10"/>
                                            </p:txEl>
                                          </p:spTgt>
                                        </p:tgtEl>
                                        <p:attrNameLst>
                                          <p:attrName>style.visibility</p:attrName>
                                        </p:attrNameLst>
                                      </p:cBhvr>
                                      <p:to>
                                        <p:strVal val="visible"/>
                                      </p:to>
                                    </p:set>
                                    <p:animEffect filter="fade" transition="in">
                                      <p:cBhvr>
                                        <p:cTn dur="1000"/>
                                        <p:tgtEl>
                                          <p:spTgt spid="243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xEl>
                                              <p:pRg end="11" st="11"/>
                                            </p:txEl>
                                          </p:spTgt>
                                        </p:tgtEl>
                                        <p:attrNameLst>
                                          <p:attrName>style.visibility</p:attrName>
                                        </p:attrNameLst>
                                      </p:cBhvr>
                                      <p:to>
                                        <p:strVal val="visible"/>
                                      </p:to>
                                    </p:set>
                                    <p:animEffect filter="fade" transition="in">
                                      <p:cBhvr>
                                        <p:cTn dur="1000"/>
                                        <p:tgtEl>
                                          <p:spTgt spid="243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2"/>
                                        </p:tgtEl>
                                        <p:attrNameLst>
                                          <p:attrName>style.visibility</p:attrName>
                                        </p:attrNameLst>
                                      </p:cBhvr>
                                      <p:to>
                                        <p:strVal val="visible"/>
                                      </p:to>
                                    </p:set>
                                    <p:animEffect filter="fade" transition="in">
                                      <p:cBhvr>
                                        <p:cTn dur="1000"/>
                                        <p:tgtEl>
                                          <p:spTgt spid="24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433"/>
                                        </p:tgtEl>
                                        <p:attrNameLst>
                                          <p:attrName>style.visibility</p:attrName>
                                        </p:attrNameLst>
                                      </p:cBhvr>
                                      <p:to>
                                        <p:strVal val="visible"/>
                                      </p:to>
                                    </p:set>
                                    <p:animEffect filter="fade" transition="in">
                                      <p:cBhvr>
                                        <p:cTn dur="1000"/>
                                        <p:tgtEl>
                                          <p:spTgt spid="2433"/>
                                        </p:tgtEl>
                                      </p:cBhvr>
                                    </p:animEffect>
                                  </p:childTnLst>
                                </p:cTn>
                              </p:par>
                              <p:par>
                                <p:cTn fill="hold" nodeType="withEffect" presetClass="entr" presetID="10" presetSubtype="0">
                                  <p:stCondLst>
                                    <p:cond delay="0"/>
                                  </p:stCondLst>
                                  <p:childTnLst>
                                    <p:set>
                                      <p:cBhvr>
                                        <p:cTn dur="1" fill="hold">
                                          <p:stCondLst>
                                            <p:cond delay="0"/>
                                          </p:stCondLst>
                                        </p:cTn>
                                        <p:tgtEl>
                                          <p:spTgt spid="2434"/>
                                        </p:tgtEl>
                                        <p:attrNameLst>
                                          <p:attrName>style.visibility</p:attrName>
                                        </p:attrNameLst>
                                      </p:cBhvr>
                                      <p:to>
                                        <p:strVal val="visible"/>
                                      </p:to>
                                    </p:set>
                                    <p:animEffect filter="fade" transition="in">
                                      <p:cBhvr>
                                        <p:cTn dur="1000"/>
                                        <p:tgtEl>
                                          <p:spTgt spid="2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7"/>
                                        </p:tgtEl>
                                        <p:attrNameLst>
                                          <p:attrName>style.visibility</p:attrName>
                                        </p:attrNameLst>
                                      </p:cBhvr>
                                      <p:to>
                                        <p:strVal val="visible"/>
                                      </p:to>
                                    </p:set>
                                    <p:animEffect filter="fade" transition="in">
                                      <p:cBhvr>
                                        <p:cTn dur="1000"/>
                                        <p:tgtEl>
                                          <p:spTgt spid="2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8"/>
                                        </p:tgtEl>
                                        <p:attrNameLst>
                                          <p:attrName>style.visibility</p:attrName>
                                        </p:attrNameLst>
                                      </p:cBhvr>
                                      <p:to>
                                        <p:strVal val="visible"/>
                                      </p:to>
                                    </p:set>
                                    <p:animEffect filter="fade" transition="in">
                                      <p:cBhvr>
                                        <p:cTn dur="1000"/>
                                        <p:tgtEl>
                                          <p:spTgt spid="2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2" name="Shape 2442"/>
        <p:cNvGrpSpPr/>
        <p:nvPr/>
      </p:nvGrpSpPr>
      <p:grpSpPr>
        <a:xfrm>
          <a:off x="0" y="0"/>
          <a:ext cx="0" cy="0"/>
          <a:chOff x="0" y="0"/>
          <a:chExt cx="0" cy="0"/>
        </a:xfrm>
      </p:grpSpPr>
      <p:sp>
        <p:nvSpPr>
          <p:cNvPr id="2443" name="Google Shape;2443;p11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Validating a Configuration</a:t>
            </a:r>
            <a:endParaRPr/>
          </a:p>
        </p:txBody>
      </p:sp>
      <p:sp>
        <p:nvSpPr>
          <p:cNvPr id="2444" name="Google Shape;2444;p11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An N-Queens configuration is valid if no two queens have been played that can attack each other. Assuming that all previous configurations have been valid, which queen(s) do we need to look at closely? Which can we ignore?</a:t>
            </a:r>
            <a:endParaRPr/>
          </a:p>
        </p:txBody>
      </p:sp>
      <p:sp>
        <p:nvSpPr>
          <p:cNvPr id="2445" name="Google Shape;2445;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46" name="Google Shape;2446;p11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.30</a:t>
            </a:r>
            <a:endParaRPr/>
          </a:p>
        </p:txBody>
      </p:sp>
      <p:sp>
        <p:nvSpPr>
          <p:cNvPr id="2447" name="Google Shape;2447;p113"/>
          <p:cNvSpPr txBox="1"/>
          <p:nvPr/>
        </p:nvSpPr>
        <p:spPr>
          <a:xfrm>
            <a:off x="193575" y="3330201"/>
            <a:ext cx="24384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a:t>
            </a:r>
            <a:r>
              <a:rPr lang="en" sz="1200">
                <a:solidFill>
                  <a:srgbClr val="FF0000"/>
                </a:solidFill>
                <a:latin typeface="Courier New"/>
                <a:ea typeface="Courier New"/>
                <a:cs typeface="Courier New"/>
                <a:sym typeface="Courier New"/>
              </a:rPr>
              <a:t>isValid()</a:t>
            </a:r>
            <a:r>
              <a:rPr lang="en" sz="1200"/>
              <a:t> method is </a:t>
            </a:r>
            <a:r>
              <a:rPr b="1" i="1" lang="en" sz="1200">
                <a:solidFill>
                  <a:srgbClr val="FF0000"/>
                </a:solidFill>
              </a:rPr>
              <a:t>only</a:t>
            </a:r>
            <a:r>
              <a:rPr lang="en" sz="1200">
                <a:solidFill>
                  <a:srgbClr val="FF0000"/>
                </a:solidFill>
              </a:rPr>
              <a:t> </a:t>
            </a:r>
            <a:r>
              <a:rPr lang="en" sz="1200"/>
              <a:t>concerned with whether or not any two queens can attack each other.</a:t>
            </a:r>
            <a:endParaRPr sz="1200"/>
          </a:p>
        </p:txBody>
      </p:sp>
      <p:pic>
        <p:nvPicPr>
          <p:cNvPr id="2448" name="Google Shape;2448;p113"/>
          <p:cNvPicPr preferRelativeResize="0"/>
          <p:nvPr/>
        </p:nvPicPr>
        <p:blipFill>
          <a:blip r:embed="rId3">
            <a:alphaModFix/>
          </a:blip>
          <a:stretch>
            <a:fillRect/>
          </a:stretch>
        </p:blipFill>
        <p:spPr>
          <a:xfrm>
            <a:off x="533400" y="1696975"/>
            <a:ext cx="1758750" cy="1570175"/>
          </a:xfrm>
          <a:prstGeom prst="rect">
            <a:avLst/>
          </a:prstGeom>
          <a:noFill/>
          <a:ln>
            <a:noFill/>
          </a:ln>
        </p:spPr>
      </p:pic>
      <p:sp>
        <p:nvSpPr>
          <p:cNvPr id="2449" name="Google Shape;2449;p113"/>
          <p:cNvSpPr txBox="1"/>
          <p:nvPr/>
        </p:nvSpPr>
        <p:spPr>
          <a:xfrm>
            <a:off x="193575" y="4362620"/>
            <a:ext cx="24384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But does it have to check them </a:t>
            </a:r>
            <a:r>
              <a:rPr b="1" i="1" lang="en" sz="1200">
                <a:solidFill>
                  <a:srgbClr val="FF0000"/>
                </a:solidFill>
              </a:rPr>
              <a:t>all</a:t>
            </a:r>
            <a:r>
              <a:rPr lang="en" sz="1200"/>
              <a:t>?</a:t>
            </a:r>
            <a:endParaRPr sz="1200"/>
          </a:p>
        </p:txBody>
      </p:sp>
      <p:sp>
        <p:nvSpPr>
          <p:cNvPr id="2450" name="Google Shape;2450;p113"/>
          <p:cNvSpPr txBox="1"/>
          <p:nvPr>
            <p:ph idx="2" type="body"/>
          </p:nvPr>
        </p:nvSpPr>
        <p:spPr>
          <a:xfrm>
            <a:off x="2800100" y="1729125"/>
            <a:ext cx="6133500" cy="25197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Open the </a:t>
            </a:r>
            <a:r>
              <a:rPr lang="en" sz="1800">
                <a:latin typeface="Courier New"/>
                <a:ea typeface="Courier New"/>
                <a:cs typeface="Courier New"/>
                <a:sym typeface="Courier New"/>
              </a:rPr>
              <a:t>NQueens</a:t>
            </a:r>
            <a:r>
              <a:rPr lang="en" sz="1800"/>
              <a:t> class and implement the </a:t>
            </a:r>
            <a:r>
              <a:rPr lang="en" sz="1800">
                <a:solidFill>
                  <a:srgbClr val="FF0000"/>
                </a:solidFill>
                <a:latin typeface="Courier New"/>
                <a:ea typeface="Courier New"/>
                <a:cs typeface="Courier New"/>
                <a:sym typeface="Courier New"/>
              </a:rPr>
              <a:t>isValid()</a:t>
            </a:r>
            <a:r>
              <a:rPr lang="en" sz="1800"/>
              <a:t> method.</a:t>
            </a:r>
            <a:endParaRPr sz="1800"/>
          </a:p>
          <a:p>
            <a:pPr indent="-330200" lvl="1" marL="914400" rtl="0" algn="l">
              <a:spcBef>
                <a:spcPts val="0"/>
              </a:spcBef>
              <a:spcAft>
                <a:spcPts val="0"/>
              </a:spcAft>
              <a:buSzPts val="1600"/>
              <a:buChar char="○"/>
            </a:pPr>
            <a:r>
              <a:rPr lang="en" sz="1600"/>
              <a:t>You should </a:t>
            </a:r>
            <a:r>
              <a:rPr b="1" i="1" lang="en" sz="1600">
                <a:solidFill>
                  <a:srgbClr val="FF0000"/>
                </a:solidFill>
              </a:rPr>
              <a:t>return </a:t>
            </a:r>
            <a:r>
              <a:rPr lang="en" sz="1600">
                <a:solidFill>
                  <a:srgbClr val="FF0000"/>
                </a:solidFill>
                <a:latin typeface="Courier New"/>
                <a:ea typeface="Courier New"/>
                <a:cs typeface="Courier New"/>
                <a:sym typeface="Courier New"/>
              </a:rPr>
              <a:t>true</a:t>
            </a:r>
            <a:r>
              <a:rPr lang="en" sz="1600">
                <a:solidFill>
                  <a:srgbClr val="FF0000"/>
                </a:solidFill>
              </a:rPr>
              <a:t> </a:t>
            </a:r>
            <a:r>
              <a:rPr lang="en" sz="1600"/>
              <a:t>if none of the queens played (so far) can attack each other.</a:t>
            </a:r>
            <a:endParaRPr sz="1600"/>
          </a:p>
          <a:p>
            <a:pPr indent="-330200" lvl="1" marL="914400" rtl="0" algn="l">
              <a:spcBef>
                <a:spcPts val="0"/>
              </a:spcBef>
              <a:spcAft>
                <a:spcPts val="0"/>
              </a:spcAft>
              <a:buSzPts val="1600"/>
              <a:buChar char="○"/>
            </a:pPr>
            <a:r>
              <a:rPr lang="en" sz="1600"/>
              <a:t>Do you need to compare </a:t>
            </a:r>
            <a:r>
              <a:rPr b="1" i="1" lang="en" sz="1600">
                <a:solidFill>
                  <a:srgbClr val="FF0000"/>
                </a:solidFill>
              </a:rPr>
              <a:t>every</a:t>
            </a:r>
            <a:r>
              <a:rPr lang="en" sz="1600">
                <a:solidFill>
                  <a:srgbClr val="FF0000"/>
                </a:solidFill>
              </a:rPr>
              <a:t> </a:t>
            </a:r>
            <a:r>
              <a:rPr lang="en" sz="1600"/>
              <a:t>pair of queens?</a:t>
            </a:r>
            <a:endParaRPr sz="1600"/>
          </a:p>
          <a:p>
            <a:pPr indent="-342900" lvl="0" marL="457200" rtl="0" algn="l">
              <a:spcBef>
                <a:spcPts val="0"/>
              </a:spcBef>
              <a:spcAft>
                <a:spcPts val="0"/>
              </a:spcAft>
              <a:buSzPts val="1800"/>
              <a:buChar char="●"/>
            </a:pPr>
            <a:r>
              <a:rPr lang="en" sz="1800"/>
              <a:t>Test your method by calling it from </a:t>
            </a:r>
            <a:r>
              <a:rPr lang="en" sz="1800">
                <a:latin typeface="Courier New"/>
                <a:ea typeface="Courier New"/>
                <a:cs typeface="Courier New"/>
                <a:sym typeface="Courier New"/>
              </a:rPr>
              <a:t>main</a:t>
            </a:r>
            <a:r>
              <a:rPr lang="en" sz="1800"/>
              <a:t>.</a:t>
            </a:r>
            <a:endParaRPr sz="1800"/>
          </a:p>
          <a:p>
            <a:pPr indent="-330200" lvl="1" marL="914400" rtl="0" algn="l">
              <a:spcBef>
                <a:spcPts val="0"/>
              </a:spcBef>
              <a:spcAft>
                <a:spcPts val="0"/>
              </a:spcAft>
              <a:buSzPts val="1600"/>
              <a:buChar char="○"/>
            </a:pPr>
            <a:r>
              <a:rPr lang="en" sz="1600"/>
              <a:t>It should return </a:t>
            </a:r>
            <a:r>
              <a:rPr lang="en" sz="1600">
                <a:latin typeface="Courier New"/>
                <a:ea typeface="Courier New"/>
                <a:cs typeface="Courier New"/>
                <a:sym typeface="Courier New"/>
              </a:rPr>
              <a:t>true</a:t>
            </a:r>
            <a:r>
              <a:rPr lang="en" sz="1600"/>
              <a:t> for an empty board. This is fine for now.</a:t>
            </a:r>
            <a:endParaRPr sz="1600"/>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4" name="Shape 2454"/>
        <p:cNvGrpSpPr/>
        <p:nvPr/>
      </p:nvGrpSpPr>
      <p:grpSpPr>
        <a:xfrm>
          <a:off x="0" y="0"/>
          <a:ext cx="0" cy="0"/>
          <a:chOff x="0" y="0"/>
          <a:chExt cx="0" cy="0"/>
        </a:xfrm>
      </p:grpSpPr>
      <p:sp>
        <p:nvSpPr>
          <p:cNvPr id="2455" name="Google Shape;2455;p11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Gooooooooooooal!</a:t>
            </a:r>
            <a:endParaRPr/>
          </a:p>
        </p:txBody>
      </p:sp>
      <p:sp>
        <p:nvSpPr>
          <p:cNvPr id="2456" name="Google Shape;2456;p114"/>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An N-Queens configuration is the goal if it is valid (no two queens can attack each other) and all N-Queens have been placed on the chessboard. Implement this functionality in your N-Queens configuration now.</a:t>
            </a:r>
            <a:endParaRPr/>
          </a:p>
        </p:txBody>
      </p:sp>
      <p:sp>
        <p:nvSpPr>
          <p:cNvPr id="2457" name="Google Shape;2457;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58" name="Google Shape;2458;p11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.31</a:t>
            </a:r>
            <a:endParaRPr/>
          </a:p>
        </p:txBody>
      </p:sp>
      <p:sp>
        <p:nvSpPr>
          <p:cNvPr id="2459" name="Google Shape;2459;p114"/>
          <p:cNvSpPr txBox="1"/>
          <p:nvPr/>
        </p:nvSpPr>
        <p:spPr>
          <a:xfrm>
            <a:off x="228600" y="3886625"/>
            <a:ext cx="24384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For any board larger than 3x3 there are multiple possible solutions. The one that the backtracker finds depends on the order in which moves are made.</a:t>
            </a:r>
            <a:endParaRPr sz="1200"/>
          </a:p>
        </p:txBody>
      </p:sp>
      <p:pic>
        <p:nvPicPr>
          <p:cNvPr id="2460" name="Google Shape;2460;p114"/>
          <p:cNvPicPr preferRelativeResize="0"/>
          <p:nvPr/>
        </p:nvPicPr>
        <p:blipFill>
          <a:blip r:embed="rId3">
            <a:alphaModFix/>
          </a:blip>
          <a:stretch>
            <a:fillRect/>
          </a:stretch>
        </p:blipFill>
        <p:spPr>
          <a:xfrm>
            <a:off x="228600" y="1620775"/>
            <a:ext cx="2438400" cy="2176939"/>
          </a:xfrm>
          <a:prstGeom prst="rect">
            <a:avLst/>
          </a:prstGeom>
          <a:noFill/>
          <a:ln>
            <a:noFill/>
          </a:ln>
        </p:spPr>
      </p:pic>
      <p:sp>
        <p:nvSpPr>
          <p:cNvPr id="2461" name="Google Shape;2461;p114"/>
          <p:cNvSpPr txBox="1"/>
          <p:nvPr>
            <p:ph idx="2" type="body"/>
          </p:nvPr>
        </p:nvSpPr>
        <p:spPr>
          <a:xfrm>
            <a:off x="2815075" y="1692525"/>
            <a:ext cx="6161700" cy="21150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the </a:t>
            </a:r>
            <a:r>
              <a:rPr lang="en" sz="1700">
                <a:latin typeface="Courier New"/>
                <a:ea typeface="Courier New"/>
                <a:cs typeface="Courier New"/>
                <a:sym typeface="Courier New"/>
              </a:rPr>
              <a:t>NQueens</a:t>
            </a:r>
            <a:r>
              <a:rPr lang="en" sz="1700"/>
              <a:t> class and implement the </a:t>
            </a:r>
            <a:r>
              <a:rPr lang="en" sz="1700">
                <a:latin typeface="Courier New"/>
                <a:ea typeface="Courier New"/>
                <a:cs typeface="Courier New"/>
                <a:sym typeface="Courier New"/>
              </a:rPr>
              <a:t>isGoal()</a:t>
            </a:r>
            <a:r>
              <a:rPr lang="en" sz="1700"/>
              <a:t> method.</a:t>
            </a:r>
            <a:endParaRPr sz="1700"/>
          </a:p>
          <a:p>
            <a:pPr indent="-323850" lvl="1" marL="914400" rtl="0" algn="l">
              <a:spcBef>
                <a:spcPts val="0"/>
              </a:spcBef>
              <a:spcAft>
                <a:spcPts val="0"/>
              </a:spcAft>
              <a:buSzPts val="1500"/>
              <a:buChar char="○"/>
            </a:pPr>
            <a:r>
              <a:rPr lang="en" sz="1500"/>
              <a:t>If the configuration is </a:t>
            </a:r>
            <a:r>
              <a:rPr b="1" i="1" lang="en" sz="1500">
                <a:solidFill>
                  <a:srgbClr val="FF0000"/>
                </a:solidFill>
              </a:rPr>
              <a:t>valid</a:t>
            </a:r>
            <a:r>
              <a:rPr lang="en" sz="1500"/>
              <a:t>, and </a:t>
            </a:r>
            <a:r>
              <a:rPr b="1" i="1" lang="en" sz="1500">
                <a:solidFill>
                  <a:srgbClr val="FF0000"/>
                </a:solidFill>
              </a:rPr>
              <a:t>N</a:t>
            </a:r>
            <a:r>
              <a:rPr b="1" i="1" lang="en" sz="1500"/>
              <a:t> </a:t>
            </a:r>
            <a:r>
              <a:rPr b="1" i="1" lang="en" sz="1500">
                <a:solidFill>
                  <a:srgbClr val="FF0000"/>
                </a:solidFill>
              </a:rPr>
              <a:t>queens</a:t>
            </a:r>
            <a:r>
              <a:rPr lang="en" sz="1500">
                <a:solidFill>
                  <a:srgbClr val="FF0000"/>
                </a:solidFill>
              </a:rPr>
              <a:t> </a:t>
            </a:r>
            <a:r>
              <a:rPr lang="en" sz="1500"/>
              <a:t>have been placed on the chessboard, return </a:t>
            </a:r>
            <a:r>
              <a:rPr lang="en" sz="1500">
                <a:solidFill>
                  <a:srgbClr val="FF0000"/>
                </a:solidFill>
                <a:latin typeface="Courier New"/>
                <a:ea typeface="Courier New"/>
                <a:cs typeface="Courier New"/>
                <a:sym typeface="Courier New"/>
              </a:rPr>
              <a:t>true</a:t>
            </a:r>
            <a:r>
              <a:rPr lang="en" sz="1500"/>
              <a:t>.</a:t>
            </a:r>
            <a:endParaRPr sz="1500"/>
          </a:p>
          <a:p>
            <a:pPr indent="-323850" lvl="1" marL="914400" rtl="0" algn="l">
              <a:spcBef>
                <a:spcPts val="0"/>
              </a:spcBef>
              <a:spcAft>
                <a:spcPts val="0"/>
              </a:spcAft>
              <a:buSzPts val="1500"/>
              <a:buChar char="○"/>
            </a:pPr>
            <a:r>
              <a:rPr lang="en" sz="1500"/>
              <a:t>Otherwise, return </a:t>
            </a:r>
            <a:r>
              <a:rPr lang="en" sz="1500">
                <a:solidFill>
                  <a:srgbClr val="FF0000"/>
                </a:solidFill>
                <a:latin typeface="Courier New"/>
                <a:ea typeface="Courier New"/>
                <a:cs typeface="Courier New"/>
                <a:sym typeface="Courier New"/>
              </a:rPr>
              <a:t>false</a:t>
            </a:r>
            <a:r>
              <a:rPr lang="en" sz="1500"/>
              <a:t>.</a:t>
            </a:r>
            <a:endParaRPr sz="1500"/>
          </a:p>
          <a:p>
            <a:pPr indent="-336550" lvl="0" marL="457200" rtl="0" algn="l">
              <a:spcBef>
                <a:spcPts val="0"/>
              </a:spcBef>
              <a:spcAft>
                <a:spcPts val="0"/>
              </a:spcAft>
              <a:buSzPts val="1700"/>
              <a:buChar char="●"/>
            </a:pPr>
            <a:r>
              <a:rPr b="1" i="1" lang="en" sz="1700">
                <a:solidFill>
                  <a:srgbClr val="FF0000"/>
                </a:solidFill>
              </a:rPr>
              <a:t>Test </a:t>
            </a:r>
            <a:r>
              <a:rPr lang="en" sz="1700"/>
              <a:t>your </a:t>
            </a:r>
            <a:r>
              <a:rPr lang="en" sz="1700">
                <a:latin typeface="Courier New"/>
                <a:ea typeface="Courier New"/>
                <a:cs typeface="Courier New"/>
                <a:sym typeface="Courier New"/>
              </a:rPr>
              <a:t>isGoal()</a:t>
            </a:r>
            <a:r>
              <a:rPr lang="en" sz="1700"/>
              <a:t> function from </a:t>
            </a:r>
            <a:r>
              <a:rPr lang="en" sz="1700">
                <a:latin typeface="Courier New"/>
                <a:ea typeface="Courier New"/>
                <a:cs typeface="Courier New"/>
                <a:sym typeface="Courier New"/>
              </a:rPr>
              <a:t>main</a:t>
            </a:r>
            <a:r>
              <a:rPr lang="en" sz="1700"/>
              <a:t>.</a:t>
            </a:r>
            <a:endParaRPr sz="1700"/>
          </a:p>
          <a:p>
            <a:pPr indent="-323850" lvl="1" marL="914400" rtl="0" algn="l">
              <a:spcBef>
                <a:spcPts val="0"/>
              </a:spcBef>
              <a:spcAft>
                <a:spcPts val="0"/>
              </a:spcAft>
              <a:buSzPts val="1500"/>
              <a:buChar char="○"/>
            </a:pPr>
            <a:r>
              <a:rPr lang="en" sz="1500"/>
              <a:t>It should return </a:t>
            </a:r>
            <a:r>
              <a:rPr lang="en" sz="1500">
                <a:solidFill>
                  <a:srgbClr val="FF0000"/>
                </a:solidFill>
                <a:latin typeface="Courier New"/>
                <a:ea typeface="Courier New"/>
                <a:cs typeface="Courier New"/>
                <a:sym typeface="Courier New"/>
              </a:rPr>
              <a:t>false</a:t>
            </a:r>
            <a:r>
              <a:rPr lang="en" sz="1500"/>
              <a:t>. This is good enough for now.</a:t>
            </a:r>
            <a:endParaRPr sz="15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5" name="Shape 2465"/>
        <p:cNvGrpSpPr/>
        <p:nvPr/>
      </p:nvGrpSpPr>
      <p:grpSpPr>
        <a:xfrm>
          <a:off x="0" y="0"/>
          <a:ext cx="0" cy="0"/>
          <a:chOff x="0" y="0"/>
          <a:chExt cx="0" cy="0"/>
        </a:xfrm>
      </p:grpSpPr>
      <p:sp>
        <p:nvSpPr>
          <p:cNvPr id="2466" name="Google Shape;2466;p115"/>
          <p:cNvSpPr txBox="1"/>
          <p:nvPr>
            <p:ph type="title"/>
          </p:nvPr>
        </p:nvSpPr>
        <p:spPr>
          <a:xfrm>
            <a:off x="5188525" y="43725"/>
            <a:ext cx="3706500" cy="861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The Backtracking Algorithm </a:t>
            </a:r>
            <a:endParaRPr sz="2200"/>
          </a:p>
        </p:txBody>
      </p:sp>
      <p:sp>
        <p:nvSpPr>
          <p:cNvPr id="2467" name="Google Shape;2467;p115"/>
          <p:cNvSpPr txBox="1"/>
          <p:nvPr>
            <p:ph idx="1" type="body"/>
          </p:nvPr>
        </p:nvSpPr>
        <p:spPr>
          <a:xfrm>
            <a:off x="147400" y="-32475"/>
            <a:ext cx="4694700" cy="5146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Now that we have an implementation of the </a:t>
            </a:r>
            <a:r>
              <a:rPr lang="en">
                <a:latin typeface="Courier New"/>
                <a:ea typeface="Courier New"/>
                <a:cs typeface="Courier New"/>
                <a:sym typeface="Courier New"/>
              </a:rPr>
              <a:t>Configuration</a:t>
            </a:r>
            <a:r>
              <a:rPr lang="en"/>
              <a:t> interface, it can be executed using a simple, generic </a:t>
            </a:r>
            <a:r>
              <a:rPr b="1" i="1" lang="en">
                <a:solidFill>
                  <a:srgbClr val="FF0000"/>
                </a:solidFill>
              </a:rPr>
              <a:t>backtracking algorithm</a:t>
            </a:r>
            <a:r>
              <a:rPr lang="en">
                <a:solidFill>
                  <a:srgbClr val="FF0000"/>
                </a:solidFill>
              </a:rPr>
              <a:t> </a:t>
            </a:r>
            <a:r>
              <a:rPr lang="en"/>
              <a:t>to solve the problem.</a:t>
            </a:r>
            <a:endParaRPr/>
          </a:p>
          <a:p>
            <a:pPr indent="-311150" lvl="0" marL="457200" rtl="0" algn="l">
              <a:spcBef>
                <a:spcPts val="1000"/>
              </a:spcBef>
              <a:spcAft>
                <a:spcPts val="0"/>
              </a:spcAft>
              <a:buSzPts val="1300"/>
              <a:buChar char="●"/>
            </a:pPr>
            <a:r>
              <a:rPr lang="en"/>
              <a:t>Call the </a:t>
            </a:r>
            <a:r>
              <a:rPr b="1" i="1" lang="en">
                <a:solidFill>
                  <a:srgbClr val="FF0000"/>
                </a:solidFill>
              </a:rPr>
              <a:t>solve</a:t>
            </a:r>
            <a:r>
              <a:rPr lang="en">
                <a:solidFill>
                  <a:srgbClr val="FF0000"/>
                </a:solidFill>
              </a:rPr>
              <a:t> </a:t>
            </a:r>
            <a:r>
              <a:rPr lang="en"/>
              <a:t>method with a </a:t>
            </a:r>
            <a:r>
              <a:rPr b="1" i="1" lang="en">
                <a:solidFill>
                  <a:srgbClr val="FF0000"/>
                </a:solidFill>
              </a:rPr>
              <a:t>configuration C</a:t>
            </a:r>
            <a:r>
              <a:rPr lang="en"/>
              <a:t>:</a:t>
            </a:r>
            <a:endParaRPr/>
          </a:p>
          <a:p>
            <a:pPr indent="-298450" lvl="1" marL="914400" rtl="0" algn="l">
              <a:spcBef>
                <a:spcPts val="0"/>
              </a:spcBef>
              <a:spcAft>
                <a:spcPts val="0"/>
              </a:spcAft>
              <a:buSzPts val="1100"/>
              <a:buChar char="○"/>
            </a:pPr>
            <a:r>
              <a:rPr lang="en"/>
              <a:t>If</a:t>
            </a:r>
            <a:r>
              <a:rPr lang="en">
                <a:solidFill>
                  <a:srgbClr val="FF0000"/>
                </a:solidFill>
              </a:rPr>
              <a:t> </a:t>
            </a:r>
            <a:r>
              <a:rPr b="1" i="1" lang="en">
                <a:solidFill>
                  <a:srgbClr val="FF0000"/>
                </a:solidFill>
              </a:rPr>
              <a:t>C </a:t>
            </a:r>
            <a:r>
              <a:rPr lang="en"/>
              <a:t>is the </a:t>
            </a:r>
            <a:r>
              <a:rPr b="1" i="1" lang="en">
                <a:solidFill>
                  <a:srgbClr val="FF0000"/>
                </a:solidFill>
              </a:rPr>
              <a:t>goal</a:t>
            </a:r>
            <a:r>
              <a:rPr lang="en"/>
              <a:t>, then return</a:t>
            </a:r>
            <a:r>
              <a:rPr lang="en">
                <a:solidFill>
                  <a:srgbClr val="FF0000"/>
                </a:solidFill>
              </a:rPr>
              <a:t> </a:t>
            </a:r>
            <a:r>
              <a:rPr b="1" i="1" lang="en">
                <a:solidFill>
                  <a:srgbClr val="FF0000"/>
                </a:solidFill>
              </a:rPr>
              <a:t>C</a:t>
            </a:r>
            <a:r>
              <a:rPr lang="en"/>
              <a:t>. Problem solved!</a:t>
            </a:r>
            <a:endParaRPr/>
          </a:p>
          <a:p>
            <a:pPr indent="-298450" lvl="1" marL="914400" rtl="0" algn="l">
              <a:spcBef>
                <a:spcPts val="0"/>
              </a:spcBef>
              <a:spcAft>
                <a:spcPts val="0"/>
              </a:spcAft>
              <a:buSzPts val="1100"/>
              <a:buChar char="○"/>
            </a:pPr>
            <a:r>
              <a:rPr lang="en"/>
              <a:t>Otherwise, for each of </a:t>
            </a:r>
            <a:r>
              <a:rPr b="1" i="1" lang="en">
                <a:solidFill>
                  <a:srgbClr val="FF0000"/>
                </a:solidFill>
              </a:rPr>
              <a:t>C</a:t>
            </a:r>
            <a:r>
              <a:rPr lang="en"/>
              <a:t>'s successors </a:t>
            </a:r>
            <a:r>
              <a:rPr b="1" i="1" lang="en">
                <a:solidFill>
                  <a:srgbClr val="FF0000"/>
                </a:solidFill>
              </a:rPr>
              <a:t>S</a:t>
            </a:r>
            <a:r>
              <a:rPr lang="en"/>
              <a:t>:</a:t>
            </a:r>
            <a:endParaRPr/>
          </a:p>
          <a:p>
            <a:pPr indent="-298450" lvl="2" marL="1371600" rtl="0" algn="l">
              <a:spcBef>
                <a:spcPts val="0"/>
              </a:spcBef>
              <a:spcAft>
                <a:spcPts val="0"/>
              </a:spcAft>
              <a:buSzPts val="1100"/>
              <a:buChar char="■"/>
            </a:pPr>
            <a:r>
              <a:rPr lang="en"/>
              <a:t>If </a:t>
            </a:r>
            <a:r>
              <a:rPr b="1" i="1" lang="en">
                <a:solidFill>
                  <a:srgbClr val="FF0000"/>
                </a:solidFill>
              </a:rPr>
              <a:t>S</a:t>
            </a:r>
            <a:r>
              <a:rPr lang="en"/>
              <a:t> is </a:t>
            </a:r>
            <a:r>
              <a:rPr b="1" i="1" lang="en">
                <a:solidFill>
                  <a:srgbClr val="FF0000"/>
                </a:solidFill>
              </a:rPr>
              <a:t>valid</a:t>
            </a:r>
            <a:r>
              <a:rPr lang="en"/>
              <a:t>, recursively call </a:t>
            </a:r>
            <a:r>
              <a:rPr b="1" i="1" lang="en">
                <a:solidFill>
                  <a:srgbClr val="FF0000"/>
                </a:solidFill>
              </a:rPr>
              <a:t>solve</a:t>
            </a:r>
            <a:r>
              <a:rPr lang="en"/>
              <a:t> with </a:t>
            </a:r>
            <a:r>
              <a:rPr b="1" i="1" lang="en">
                <a:solidFill>
                  <a:srgbClr val="FF0000"/>
                </a:solidFill>
              </a:rPr>
              <a:t>S</a:t>
            </a:r>
            <a:endParaRPr>
              <a:solidFill>
                <a:srgbClr val="FF0000"/>
              </a:solidFill>
            </a:endParaRPr>
          </a:p>
          <a:p>
            <a:pPr indent="-298450" lvl="2" marL="1371600" rtl="0" algn="l">
              <a:spcBef>
                <a:spcPts val="0"/>
              </a:spcBef>
              <a:spcAft>
                <a:spcPts val="0"/>
              </a:spcAft>
              <a:buSzPts val="1100"/>
              <a:buChar char="■"/>
            </a:pPr>
            <a:r>
              <a:rPr lang="en"/>
              <a:t>If a </a:t>
            </a:r>
            <a:r>
              <a:rPr b="1" i="1" lang="en">
                <a:solidFill>
                  <a:srgbClr val="FF0000"/>
                </a:solidFill>
              </a:rPr>
              <a:t>non-</a:t>
            </a:r>
            <a:r>
              <a:rPr lang="en">
                <a:solidFill>
                  <a:srgbClr val="FF0000"/>
                </a:solidFill>
                <a:latin typeface="Courier New"/>
                <a:ea typeface="Courier New"/>
                <a:cs typeface="Courier New"/>
                <a:sym typeface="Courier New"/>
              </a:rPr>
              <a:t>null</a:t>
            </a:r>
            <a:r>
              <a:rPr b="1" i="1" lang="en"/>
              <a:t> </a:t>
            </a:r>
            <a:r>
              <a:rPr b="1" i="1" lang="en">
                <a:solidFill>
                  <a:srgbClr val="FF0000"/>
                </a:solidFill>
              </a:rPr>
              <a:t>solution</a:t>
            </a:r>
            <a:r>
              <a:rPr lang="en"/>
              <a:t> is returned, problem solved! Return the solution configuration!</a:t>
            </a:r>
            <a:endParaRPr/>
          </a:p>
          <a:p>
            <a:pPr indent="-298450" lvl="1" marL="914400" rtl="0" algn="l">
              <a:spcBef>
                <a:spcPts val="0"/>
              </a:spcBef>
              <a:spcAft>
                <a:spcPts val="0"/>
              </a:spcAft>
              <a:buSzPts val="1100"/>
              <a:buChar char="○"/>
            </a:pPr>
            <a:r>
              <a:rPr lang="en"/>
              <a:t>If none of </a:t>
            </a:r>
            <a:r>
              <a:rPr b="1" i="1" lang="en">
                <a:solidFill>
                  <a:srgbClr val="FF0000"/>
                </a:solidFill>
              </a:rPr>
              <a:t>C</a:t>
            </a:r>
            <a:r>
              <a:rPr lang="en"/>
              <a:t>'s successors returns a non-null solution, then there is no solution from </a:t>
            </a:r>
            <a:r>
              <a:rPr b="1" i="1" lang="en">
                <a:solidFill>
                  <a:srgbClr val="FF0000"/>
                </a:solidFill>
              </a:rPr>
              <a:t>C</a:t>
            </a:r>
            <a:r>
              <a:rPr lang="en"/>
              <a:t>. Return </a:t>
            </a:r>
            <a:r>
              <a:rPr lang="en">
                <a:solidFill>
                  <a:srgbClr val="FF0000"/>
                </a:solidFill>
                <a:latin typeface="Courier New"/>
                <a:ea typeface="Courier New"/>
                <a:cs typeface="Courier New"/>
                <a:sym typeface="Courier New"/>
              </a:rPr>
              <a:t>null</a:t>
            </a:r>
            <a:r>
              <a:rPr lang="en"/>
              <a:t>.</a:t>
            </a:r>
            <a:endParaRPr/>
          </a:p>
          <a:p>
            <a:pPr indent="-311150" lvl="0" marL="457200" rtl="0" algn="l">
              <a:spcBef>
                <a:spcPts val="1000"/>
              </a:spcBef>
              <a:spcAft>
                <a:spcPts val="0"/>
              </a:spcAft>
              <a:buSzPts val="1300"/>
              <a:buChar char="●"/>
            </a:pPr>
            <a:r>
              <a:rPr lang="en"/>
              <a:t>The </a:t>
            </a:r>
            <a:r>
              <a:rPr b="1" i="1" lang="en">
                <a:solidFill>
                  <a:srgbClr val="FF0000"/>
                </a:solidFill>
              </a:rPr>
              <a:t>backtracking</a:t>
            </a:r>
            <a:r>
              <a:rPr lang="en"/>
              <a:t> occurs whenever one of </a:t>
            </a:r>
            <a:r>
              <a:rPr b="1" i="1" lang="en">
                <a:solidFill>
                  <a:srgbClr val="FF0000"/>
                </a:solidFill>
              </a:rPr>
              <a:t>C</a:t>
            </a:r>
            <a:r>
              <a:rPr lang="en"/>
              <a:t>'s successors fails to return a solution.</a:t>
            </a:r>
            <a:endParaRPr/>
          </a:p>
          <a:p>
            <a:pPr indent="-298450" lvl="1" marL="914400" rtl="0" algn="l">
              <a:spcBef>
                <a:spcPts val="0"/>
              </a:spcBef>
              <a:spcAft>
                <a:spcPts val="0"/>
              </a:spcAft>
              <a:buSzPts val="1100"/>
              <a:buChar char="○"/>
            </a:pPr>
            <a:r>
              <a:rPr lang="en"/>
              <a:t>The algorithm </a:t>
            </a:r>
            <a:r>
              <a:rPr b="1" i="1" lang="en">
                <a:solidFill>
                  <a:srgbClr val="FF0000"/>
                </a:solidFill>
              </a:rPr>
              <a:t>backtracks</a:t>
            </a:r>
            <a:r>
              <a:rPr lang="en"/>
              <a:t> to </a:t>
            </a:r>
            <a:r>
              <a:rPr b="1" i="1" lang="en">
                <a:solidFill>
                  <a:srgbClr val="FF0000"/>
                </a:solidFill>
              </a:rPr>
              <a:t>C</a:t>
            </a:r>
            <a:r>
              <a:rPr lang="en"/>
              <a:t> and then moves on to its next successor.</a:t>
            </a:r>
            <a:endParaRPr/>
          </a:p>
          <a:p>
            <a:pPr indent="-311150" lvl="0" marL="457200" rtl="0" algn="l">
              <a:spcBef>
                <a:spcPts val="1000"/>
              </a:spcBef>
              <a:spcAft>
                <a:spcPts val="0"/>
              </a:spcAft>
              <a:buSzPts val="1300"/>
              <a:buChar char="●"/>
            </a:pPr>
            <a:r>
              <a:rPr lang="en"/>
              <a:t>An implementation of this algorithm has been provided to you in the </a:t>
            </a:r>
            <a:r>
              <a:rPr lang="en">
                <a:solidFill>
                  <a:srgbClr val="FF0000"/>
                </a:solidFill>
                <a:latin typeface="Courier New"/>
                <a:ea typeface="Courier New"/>
                <a:cs typeface="Courier New"/>
                <a:sym typeface="Courier New"/>
              </a:rPr>
              <a:t>Backtracker</a:t>
            </a:r>
            <a:r>
              <a:rPr lang="en"/>
              <a:t> class.</a:t>
            </a:r>
            <a:endParaRPr/>
          </a:p>
          <a:p>
            <a:pPr indent="-298450" lvl="1" marL="914400" rtl="0" algn="l">
              <a:spcBef>
                <a:spcPts val="0"/>
              </a:spcBef>
              <a:spcAft>
                <a:spcPts val="0"/>
              </a:spcAft>
              <a:buSzPts val="1100"/>
              <a:buChar char="○"/>
            </a:pPr>
            <a:r>
              <a:rPr lang="en"/>
              <a:t>You can create a Backtracker with or without </a:t>
            </a:r>
            <a:r>
              <a:rPr b="1" i="1" lang="en">
                <a:solidFill>
                  <a:srgbClr val="FF0000"/>
                </a:solidFill>
              </a:rPr>
              <a:t>debugging enabled</a:t>
            </a:r>
            <a:r>
              <a:rPr lang="en"/>
              <a:t>.</a:t>
            </a:r>
            <a:endParaRPr/>
          </a:p>
          <a:p>
            <a:pPr indent="-298450" lvl="1" marL="914400" rtl="0" algn="l">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solve()</a:t>
            </a:r>
            <a:r>
              <a:rPr lang="en"/>
              <a:t> method will work with </a:t>
            </a:r>
            <a:r>
              <a:rPr b="1" i="1" lang="en">
                <a:solidFill>
                  <a:srgbClr val="FF0000"/>
                </a:solidFill>
              </a:rPr>
              <a:t>any</a:t>
            </a:r>
            <a:r>
              <a:rPr lang="en"/>
              <a:t> class that implements</a:t>
            </a:r>
            <a:r>
              <a:rPr b="1" i="1" lang="en"/>
              <a:t> </a:t>
            </a:r>
            <a:r>
              <a:rPr lang="en">
                <a:latin typeface="Courier New"/>
                <a:ea typeface="Courier New"/>
                <a:cs typeface="Courier New"/>
                <a:sym typeface="Courier New"/>
              </a:rPr>
              <a:t>Configuration</a:t>
            </a:r>
            <a:r>
              <a:rPr lang="en"/>
              <a:t>.</a:t>
            </a:r>
            <a:endParaRPr/>
          </a:p>
        </p:txBody>
      </p:sp>
      <p:sp>
        <p:nvSpPr>
          <p:cNvPr id="2468" name="Google Shape;2468;p115"/>
          <p:cNvSpPr txBox="1"/>
          <p:nvPr>
            <p:ph idx="2" type="body"/>
          </p:nvPr>
        </p:nvSpPr>
        <p:spPr>
          <a:xfrm>
            <a:off x="5192225" y="905175"/>
            <a:ext cx="3706500" cy="2647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solve</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isGoal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else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for</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child</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getSuccessors</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child</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isValid</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sol</a:t>
            </a:r>
            <a:r>
              <a:rPr lang="en" sz="1000">
                <a:solidFill>
                  <a:srgbClr val="000000"/>
                </a:solidFill>
                <a:latin typeface="Consolas"/>
                <a:ea typeface="Consolas"/>
                <a:cs typeface="Consolas"/>
                <a:sym typeface="Consolas"/>
              </a:rPr>
              <a:t> = </a:t>
            </a:r>
            <a:r>
              <a:rPr lang="en" sz="1000">
                <a:solidFill>
                  <a:srgbClr val="795E26"/>
                </a:solidFill>
                <a:latin typeface="Consolas"/>
                <a:ea typeface="Consolas"/>
                <a:cs typeface="Consolas"/>
                <a:sym typeface="Consolas"/>
              </a:rPr>
              <a:t>solve</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child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sol</a:t>
            </a:r>
            <a:r>
              <a:rPr lang="en" sz="1000">
                <a:solidFill>
                  <a:srgbClr val="000000"/>
                </a:solidFill>
                <a:latin typeface="Consolas"/>
                <a:ea typeface="Consolas"/>
                <a:cs typeface="Consolas"/>
                <a:sym typeface="Consolas"/>
              </a:rPr>
              <a:t> != </a:t>
            </a:r>
            <a:r>
              <a:rPr lang="en" sz="1000">
                <a:solidFill>
                  <a:srgbClr val="0000FF"/>
                </a:solidFill>
                <a:latin typeface="Consolas"/>
                <a:ea typeface="Consolas"/>
                <a:cs typeface="Consolas"/>
                <a:sym typeface="Consolas"/>
              </a:rPr>
              <a:t>null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sol</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null</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2469" name="Google Shape;2469;p115"/>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470" name="Google Shape;2470;p115"/>
          <p:cNvSpPr txBox="1"/>
          <p:nvPr>
            <p:ph idx="3" type="body"/>
          </p:nvPr>
        </p:nvSpPr>
        <p:spPr>
          <a:xfrm>
            <a:off x="5188525" y="4468975"/>
            <a:ext cx="3706500" cy="554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a:t>
            </a:r>
            <a:r>
              <a:rPr lang="en"/>
              <a:t> </a:t>
            </a:r>
            <a:r>
              <a:rPr lang="en">
                <a:latin typeface="Courier New"/>
                <a:ea typeface="Courier New"/>
                <a:cs typeface="Courier New"/>
                <a:sym typeface="Courier New"/>
              </a:rPr>
              <a:t>Configuration</a:t>
            </a:r>
            <a:r>
              <a:rPr lang="en"/>
              <a:t> returned may be </a:t>
            </a:r>
            <a:r>
              <a:rPr lang="en">
                <a:latin typeface="Courier New"/>
                <a:ea typeface="Courier New"/>
                <a:cs typeface="Courier New"/>
                <a:sym typeface="Courier New"/>
              </a:rPr>
              <a:t>null</a:t>
            </a:r>
            <a:r>
              <a:rPr lang="en"/>
              <a:t> if no solution is found.</a:t>
            </a:r>
            <a:endParaRPr/>
          </a:p>
        </p:txBody>
      </p:sp>
      <p:sp>
        <p:nvSpPr>
          <p:cNvPr id="2471" name="Google Shape;2471;p115"/>
          <p:cNvSpPr txBox="1"/>
          <p:nvPr>
            <p:ph idx="3" type="body"/>
          </p:nvPr>
        </p:nvSpPr>
        <p:spPr>
          <a:xfrm>
            <a:off x="5192225" y="3619475"/>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Note that the </a:t>
            </a:r>
            <a:r>
              <a:rPr lang="en">
                <a:latin typeface="Courier New"/>
                <a:ea typeface="Courier New"/>
                <a:cs typeface="Courier New"/>
                <a:sym typeface="Courier New"/>
              </a:rPr>
              <a:t>Backtracker</a:t>
            </a:r>
            <a:r>
              <a:rPr lang="en"/>
              <a:t> is also generic and declares a type parameter </a:t>
            </a:r>
            <a:r>
              <a:rPr b="1" i="1" lang="en">
                <a:solidFill>
                  <a:srgbClr val="FF0000"/>
                </a:solidFill>
              </a:rPr>
              <a:t>C</a:t>
            </a:r>
            <a:r>
              <a:rPr lang="en"/>
              <a:t>. This must be replaced with a real class that implements </a:t>
            </a:r>
            <a:r>
              <a:rPr lang="en">
                <a:latin typeface="Courier New"/>
                <a:ea typeface="Courier New"/>
                <a:cs typeface="Courier New"/>
                <a:sym typeface="Courier New"/>
              </a:rPr>
              <a:t>Configuration</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2468"/>
                                        </p:tgtEl>
                                        <p:attrNameLst>
                                          <p:attrName>style.visibility</p:attrName>
                                        </p:attrNameLst>
                                      </p:cBhvr>
                                      <p:to>
                                        <p:strVal val="visible"/>
                                      </p:to>
                                    </p:set>
                                    <p:animEffect filter="fade" transition="in">
                                      <p:cBhvr>
                                        <p:cTn dur="1000"/>
                                        <p:tgtEl>
                                          <p:spTgt spid="2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0"/>
                                        </p:tgtEl>
                                        <p:attrNameLst>
                                          <p:attrName>style.visibility</p:attrName>
                                        </p:attrNameLst>
                                      </p:cBhvr>
                                      <p:to>
                                        <p:strVal val="visible"/>
                                      </p:to>
                                    </p:set>
                                    <p:animEffect filter="fade" transition="in">
                                      <p:cBhvr>
                                        <p:cTn dur="1000"/>
                                        <p:tgtEl>
                                          <p:spTgt spid="2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5" name="Shape 2475"/>
        <p:cNvGrpSpPr/>
        <p:nvPr/>
      </p:nvGrpSpPr>
      <p:grpSpPr>
        <a:xfrm>
          <a:off x="0" y="0"/>
          <a:ext cx="0" cy="0"/>
          <a:chOff x="0" y="0"/>
          <a:chExt cx="0" cy="0"/>
        </a:xfrm>
      </p:grpSpPr>
      <p:sp>
        <p:nvSpPr>
          <p:cNvPr id="2476" name="Google Shape;2476;p11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Plug in the Backtracker</a:t>
            </a:r>
            <a:endParaRPr/>
          </a:p>
        </p:txBody>
      </p:sp>
      <p:sp>
        <p:nvSpPr>
          <p:cNvPr id="2477" name="Google Shape;2477;p116"/>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The "solve" method in the NQueens GUI has been commented out. If your backtracking configuration is ready, you can uncomment the code and try it out!</a:t>
            </a:r>
            <a:endParaRPr/>
          </a:p>
        </p:txBody>
      </p:sp>
      <p:sp>
        <p:nvSpPr>
          <p:cNvPr id="2478" name="Google Shape;2478;p1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9" name="Google Shape;2479;p11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a:t>
            </a:r>
            <a:r>
              <a:rPr lang="en"/>
              <a:t>.32</a:t>
            </a:r>
            <a:endParaRPr/>
          </a:p>
        </p:txBody>
      </p:sp>
      <p:pic>
        <p:nvPicPr>
          <p:cNvPr id="2480" name="Google Shape;2480;p116"/>
          <p:cNvPicPr preferRelativeResize="0"/>
          <p:nvPr/>
        </p:nvPicPr>
        <p:blipFill>
          <a:blip r:embed="rId3">
            <a:alphaModFix/>
          </a:blip>
          <a:stretch>
            <a:fillRect/>
          </a:stretch>
        </p:blipFill>
        <p:spPr>
          <a:xfrm>
            <a:off x="226175" y="1589200"/>
            <a:ext cx="2150175" cy="2857827"/>
          </a:xfrm>
          <a:prstGeom prst="rect">
            <a:avLst/>
          </a:prstGeom>
          <a:noFill/>
          <a:ln>
            <a:noFill/>
          </a:ln>
        </p:spPr>
      </p:pic>
      <p:sp>
        <p:nvSpPr>
          <p:cNvPr id="2481" name="Google Shape;2481;p116"/>
          <p:cNvSpPr txBox="1"/>
          <p:nvPr>
            <p:ph idx="2" type="body"/>
          </p:nvPr>
        </p:nvSpPr>
        <p:spPr>
          <a:xfrm>
            <a:off x="2747700" y="1445925"/>
            <a:ext cx="6111000" cy="3451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NQueens</a:t>
            </a:r>
            <a:r>
              <a:rPr lang="en"/>
              <a:t> class and implement a </a:t>
            </a:r>
            <a:r>
              <a:rPr lang="en">
                <a:latin typeface="Courier New"/>
                <a:ea typeface="Courier New"/>
                <a:cs typeface="Courier New"/>
                <a:sym typeface="Courier New"/>
              </a:rPr>
              <a:t>getQueens()</a:t>
            </a:r>
            <a:r>
              <a:rPr lang="en"/>
              <a:t> method that returns the array of queens.</a:t>
            </a:r>
            <a:endParaRPr/>
          </a:p>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NQueensGUI</a:t>
            </a:r>
            <a:r>
              <a:rPr lang="en"/>
              <a:t> class and navigate to the </a:t>
            </a:r>
            <a:r>
              <a:rPr lang="en">
                <a:latin typeface="Courier New"/>
                <a:ea typeface="Courier New"/>
                <a:cs typeface="Courier New"/>
                <a:sym typeface="Courier New"/>
              </a:rPr>
              <a:t>solve</a:t>
            </a:r>
            <a:r>
              <a:rPr lang="en"/>
              <a:t> method at the top of the class.</a:t>
            </a:r>
            <a:endParaRPr/>
          </a:p>
          <a:p>
            <a:pPr indent="-298450" lvl="1" marL="914400" rtl="0" algn="l">
              <a:spcBef>
                <a:spcPts val="0"/>
              </a:spcBef>
              <a:spcAft>
                <a:spcPts val="0"/>
              </a:spcAft>
              <a:buSzPts val="1100"/>
              <a:buChar char="○"/>
            </a:pPr>
            <a:r>
              <a:rPr b="1" i="1" lang="en">
                <a:solidFill>
                  <a:srgbClr val="FF0000"/>
                </a:solidFill>
              </a:rPr>
              <a:t>Uncomment </a:t>
            </a:r>
            <a:r>
              <a:rPr lang="en"/>
              <a:t>the code there.</a:t>
            </a:r>
            <a:endParaRPr/>
          </a:p>
          <a:p>
            <a:pPr indent="-298450" lvl="1" marL="914400" rtl="0" algn="l">
              <a:spcBef>
                <a:spcPts val="0"/>
              </a:spcBef>
              <a:spcAft>
                <a:spcPts val="0"/>
              </a:spcAft>
              <a:buSzPts val="1100"/>
              <a:buChar char="○"/>
            </a:pPr>
            <a:r>
              <a:rPr lang="en"/>
              <a:t>You will need to import the classes required to use the backtracker and your configuration.</a:t>
            </a:r>
            <a:endParaRPr/>
          </a:p>
          <a:p>
            <a:pPr indent="-298450" lvl="1" marL="914400" rtl="0" algn="l">
              <a:spcBef>
                <a:spcPts val="0"/>
              </a:spcBef>
              <a:spcAft>
                <a:spcPts val="0"/>
              </a:spcAft>
              <a:buSzPts val="1100"/>
              <a:buChar char="○"/>
            </a:pPr>
            <a:r>
              <a:rPr lang="en"/>
              <a:t>Take a few moments to examine the code, and ask any questions that you may have!</a:t>
            </a:r>
            <a:endParaRPr/>
          </a:p>
          <a:p>
            <a:pPr indent="-311150" lvl="0" marL="457200" rtl="0" algn="l">
              <a:spcBef>
                <a:spcPts val="0"/>
              </a:spcBef>
              <a:spcAft>
                <a:spcPts val="0"/>
              </a:spcAft>
              <a:buSzPts val="1300"/>
              <a:buChar char="●"/>
            </a:pPr>
            <a:r>
              <a:rPr lang="en"/>
              <a:t>Run the application and try it out!</a:t>
            </a:r>
            <a:endParaRPr/>
          </a:p>
          <a:p>
            <a:pPr indent="-298450" lvl="1" marL="914400" rtl="0" algn="l">
              <a:spcBef>
                <a:spcPts val="0"/>
              </a:spcBef>
              <a:spcAft>
                <a:spcPts val="0"/>
              </a:spcAft>
              <a:buSzPts val="1100"/>
              <a:buChar char="○"/>
            </a:pPr>
            <a:r>
              <a:rPr lang="en"/>
              <a:t>Press solve right away.</a:t>
            </a:r>
            <a:endParaRPr/>
          </a:p>
          <a:p>
            <a:pPr indent="-298450" lvl="1" marL="914400" rtl="0" algn="l">
              <a:spcBef>
                <a:spcPts val="0"/>
              </a:spcBef>
              <a:spcAft>
                <a:spcPts val="0"/>
              </a:spcAft>
              <a:buSzPts val="1100"/>
              <a:buChar char="○"/>
            </a:pPr>
            <a:r>
              <a:rPr lang="en"/>
              <a:t>Try placing a few queens first. You will need to place them top-to-bottom starting with the first row.</a:t>
            </a:r>
            <a:endParaRPr/>
          </a:p>
          <a:p>
            <a:pPr indent="-298450" lvl="1" marL="914400" rtl="0" algn="l">
              <a:spcBef>
                <a:spcPts val="0"/>
              </a:spcBef>
              <a:spcAft>
                <a:spcPts val="0"/>
              </a:spcAft>
              <a:buSzPts val="1100"/>
              <a:buChar char="○"/>
            </a:pPr>
            <a:r>
              <a:rPr lang="en"/>
              <a:t>Can you find a set of moves that is unsolvable?</a:t>
            </a:r>
            <a:endParaRPr/>
          </a:p>
          <a:p>
            <a:pPr indent="-298450" lvl="1" marL="914400" rtl="0" algn="l">
              <a:spcBef>
                <a:spcPts val="0"/>
              </a:spcBef>
              <a:spcAft>
                <a:spcPts val="0"/>
              </a:spcAft>
              <a:buSzPts val="1100"/>
              <a:buChar char="○"/>
            </a:pPr>
            <a:r>
              <a:rPr lang="en"/>
              <a:t>Try running with different board sizes. How long does it take to solve for 16 queens? 20?</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5" name="Shape 2485"/>
        <p:cNvGrpSpPr/>
        <p:nvPr/>
      </p:nvGrpSpPr>
      <p:grpSpPr>
        <a:xfrm>
          <a:off x="0" y="0"/>
          <a:ext cx="0" cy="0"/>
          <a:chOff x="0" y="0"/>
          <a:chExt cx="0" cy="0"/>
        </a:xfrm>
      </p:grpSpPr>
      <p:sp>
        <p:nvSpPr>
          <p:cNvPr id="2486" name="Google Shape;2486;p117"/>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2487" name="Google Shape;2487;p117"/>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2488" name="Google Shape;2488;p11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2489" name="Google Shape;2489;p117"/>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2490" name="Google Shape;2490;p117"/>
          <p:cNvSpPr/>
          <p:nvPr/>
        </p:nvSpPr>
        <p:spPr>
          <a:xfrm>
            <a:off x="7046275" y="24635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2491" name="Google Shape;2491;p117"/>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2492" name="Google Shape;2492;p11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2493" name="Google Shape;2493;p117"/>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Algorithms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Pseudocode</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Greedy Algorithms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Weighted Graphs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Weighted Edges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Traveling Salesman</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Dijkstra's Algorithm</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Backtracking</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Configurations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The Backtracker</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The N-Queens Problem</a:t>
            </a:r>
            <a:endParaRPr sz="1600">
              <a:solidFill>
                <a:srgbClr val="FF0000"/>
              </a:solidFill>
              <a:latin typeface="Shadows Into Light"/>
              <a:ea typeface="Shadows Into Light"/>
              <a:cs typeface="Shadows Into Light"/>
              <a:sym typeface="Shadows Into Light"/>
            </a:endParaRPr>
          </a:p>
        </p:txBody>
      </p:sp>
      <p:sp>
        <p:nvSpPr>
          <p:cNvPr id="2494" name="Google Shape;2494;p1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