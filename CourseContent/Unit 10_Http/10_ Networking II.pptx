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y="5143500" cx="9144000"/>
  <p:notesSz cx="6858000" cy="9144000"/>
  <p:embeddedFontLst>
    <p:embeddedFont>
      <p:font typeface="Roboto"/>
      <p:regular r:id="rId46"/>
      <p:bold r:id="rId47"/>
      <p:italic r:id="rId48"/>
      <p:boldItalic r:id="rId49"/>
    </p:embeddedFont>
    <p:embeddedFont>
      <p:font typeface="Shadows Into Light"/>
      <p:regular r:id="rId50"/>
    </p:embeddedFont>
    <p:embeddedFont>
      <p:font typeface="Merriweather"/>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BC7D69-8298-4041-8F1F-79278DC50952}">
  <a:tblStyle styleId="{A6BC7D69-8298-4041-8F1F-79278DC5095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F7C4C70-6B9B-4779-A020-29D47D63065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Roboto-regular.fntdata"/><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Merriweather-regular.fntdata"/><Relationship Id="rId50" Type="http://schemas.openxmlformats.org/officeDocument/2006/relationships/font" Target="fonts/ShadowsIntoLight-regular.fntdata"/><Relationship Id="rId53" Type="http://schemas.openxmlformats.org/officeDocument/2006/relationships/font" Target="fonts/Merriweather-italic.fntdata"/><Relationship Id="rId52" Type="http://schemas.openxmlformats.org/officeDocument/2006/relationships/font" Target="fonts/Merriweather-bold.fntdata"/><Relationship Id="rId11" Type="http://schemas.openxmlformats.org/officeDocument/2006/relationships/slide" Target="slides/slide4.xml"/><Relationship Id="rId10" Type="http://schemas.openxmlformats.org/officeDocument/2006/relationships/slide" Target="slides/slide3.xml"/><Relationship Id="rId54" Type="http://schemas.openxmlformats.org/officeDocument/2006/relationships/font" Target="fonts/Merriweather-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cd1135e90b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cd1135e90b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ce414f90c7_0_0:notes"/>
          <p:cNvSpPr/>
          <p:nvPr>
            <p:ph idx="2" type="sldImg"/>
          </p:nvPr>
        </p:nvSpPr>
        <p:spPr>
          <a:xfrm>
            <a:off x="187386" y="217716"/>
            <a:ext cx="6483000" cy="3705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ce414f90c7_0_0: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d75057f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bd75057f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5800fad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95800fad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Instructors</a:t>
            </a:r>
            <a:r>
              <a:rPr lang="en"/>
              <a:t> are encouraged to take just a moment to talk about the specific header fields with the understanding we won't be using them in our software.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d75057f9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bd75057f9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c0068084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cc0068084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bd75057f9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bd75057f9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cc0068084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cc0068084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Instructors are encouraged to take just a moment to talk about the specific header fields with the understanding we won't be using them in our software.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cc0068084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cc0068084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95b0e318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95b0e318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95b0e3182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95b0e3182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d75057f9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bd75057f9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c55aee78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c55aee78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c55aee787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c55aee787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c5b6a66b6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c5b6a66b6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c5b6a66b6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c5b6a66b6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c55aee787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c55aee787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c55aee787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c55aee787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c55aee7871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c55aee7871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c55aee787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c55aee787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cf23e7646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cf23e7646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c58fd807eb_0_0: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477" name="Google Shape;477;g3c58fd807eb_0_0: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c58fd807eb_0_9: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g3c58fd807eb_0_9: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c58fd807eb_0_23: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502" name="Google Shape;502;g3c58fd807eb_0_23: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c58fd807eb_0_32:notes"/>
          <p:cNvSpPr txBox="1"/>
          <p:nvPr>
            <p:ph idx="1" type="body"/>
          </p:nvPr>
        </p:nvSpPr>
        <p:spPr>
          <a:xfrm>
            <a:off x="412750" y="4201079"/>
            <a:ext cx="5961000" cy="44850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
        <p:nvSpPr>
          <p:cNvPr id="512" name="Google Shape;512;g3c58fd807eb_0_32: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c58fd807eb_0_49: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0" name="Google Shape;530;g3c58fd807eb_0_49:notes"/>
          <p:cNvSpPr txBox="1"/>
          <p:nvPr>
            <p:ph idx="1" type="body"/>
          </p:nvPr>
        </p:nvSpPr>
        <p:spPr>
          <a:xfrm>
            <a:off x="412750" y="4201079"/>
            <a:ext cx="5961000" cy="48414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Clr>
                <a:schemeClr val="dk1"/>
              </a:buClr>
              <a:buFont typeface="Arial"/>
              <a:buNone/>
            </a:pPr>
            <a:r>
              <a:t/>
            </a:r>
            <a:endParaRPr/>
          </a:p>
        </p:txBody>
      </p:sp>
      <p:graphicFrame>
        <p:nvGraphicFramePr>
          <p:cNvPr id="531" name="Google Shape;531;g3c58fd807eb_0_49:notes"/>
          <p:cNvGraphicFramePr/>
          <p:nvPr/>
        </p:nvGraphicFramePr>
        <p:xfrm>
          <a:off x="484188" y="4688114"/>
          <a:ext cx="3000000" cy="3000000"/>
        </p:xfrm>
        <a:graphic>
          <a:graphicData uri="http://schemas.openxmlformats.org/drawingml/2006/table">
            <a:tbl>
              <a:tblPr>
                <a:noFill/>
                <a:tableStyleId>{A6BC7D69-8298-4041-8F1F-79278DC50952}</a:tableStyleId>
              </a:tblPr>
              <a:tblGrid>
                <a:gridCol w="2633400"/>
                <a:gridCol w="2633400"/>
              </a:tblGrid>
              <a:tr h="326575">
                <a:tc>
                  <a:txBody>
                    <a:bodyPr/>
                    <a:lstStyle/>
                    <a:p>
                      <a:pPr indent="0" lvl="0" marL="0" rtl="0" algn="l">
                        <a:spcBef>
                          <a:spcPts val="0"/>
                        </a:spcBef>
                        <a:spcAft>
                          <a:spcPts val="0"/>
                        </a:spcAft>
                        <a:buClr>
                          <a:srgbClr val="FFFFFF"/>
                        </a:buClr>
                        <a:buSzPts val="1100"/>
                        <a:buFont typeface="Arial"/>
                        <a:buNone/>
                      </a:pPr>
                      <a:r>
                        <a:rPr b="1" lang="en" sz="1100">
                          <a:solidFill>
                            <a:srgbClr val="FFFFFF"/>
                          </a:solidFill>
                        </a:rPr>
                        <a:t>Request From Client</a:t>
                      </a:r>
                      <a:endParaRPr b="1" sz="1100">
                        <a:solidFill>
                          <a:srgbClr val="FFFFFF"/>
                        </a:solidFill>
                      </a:endParaRPr>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l">
                        <a:spcBef>
                          <a:spcPts val="0"/>
                        </a:spcBef>
                        <a:spcAft>
                          <a:spcPts val="0"/>
                        </a:spcAft>
                        <a:buClr>
                          <a:srgbClr val="FFFFFF"/>
                        </a:buClr>
                        <a:buSzPts val="1100"/>
                        <a:buFont typeface="Arial"/>
                        <a:buNone/>
                      </a:pPr>
                      <a:r>
                        <a:rPr b="1" lang="en" sz="1100">
                          <a:solidFill>
                            <a:srgbClr val="FFFFFF"/>
                          </a:solidFill>
                        </a:rPr>
                        <a:t>Response(s) From Server</a:t>
                      </a:r>
                      <a:endParaRPr b="1" sz="1100">
                        <a:solidFill>
                          <a:srgbClr val="FFFFFF"/>
                        </a:solidFill>
                      </a:endParaRPr>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70125">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0">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22975">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26750">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c58fd807eb_0_59:notes"/>
          <p:cNvSpPr/>
          <p:nvPr>
            <p:ph idx="2" type="sldImg"/>
          </p:nvPr>
        </p:nvSpPr>
        <p:spPr>
          <a:xfrm>
            <a:off x="187523" y="217714"/>
            <a:ext cx="6482700" cy="3705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g3c58fd807eb_0_59:notes"/>
          <p:cNvSpPr txBox="1"/>
          <p:nvPr>
            <p:ph idx="1" type="body"/>
          </p:nvPr>
        </p:nvSpPr>
        <p:spPr>
          <a:xfrm>
            <a:off x="412750" y="4201079"/>
            <a:ext cx="5961000" cy="48414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b="1"/>
          </a:p>
        </p:txBody>
      </p:sp>
      <p:graphicFrame>
        <p:nvGraphicFramePr>
          <p:cNvPr id="542" name="Google Shape;542;g3c58fd807eb_0_59:notes"/>
          <p:cNvGraphicFramePr/>
          <p:nvPr/>
        </p:nvGraphicFramePr>
        <p:xfrm>
          <a:off x="484188" y="4688114"/>
          <a:ext cx="3000000" cy="3000000"/>
        </p:xfrm>
        <a:graphic>
          <a:graphicData uri="http://schemas.openxmlformats.org/drawingml/2006/table">
            <a:tbl>
              <a:tblPr>
                <a:noFill/>
                <a:tableStyleId>{A6BC7D69-8298-4041-8F1F-79278DC50952}</a:tableStyleId>
              </a:tblPr>
              <a:tblGrid>
                <a:gridCol w="2633400"/>
                <a:gridCol w="2633400"/>
              </a:tblGrid>
              <a:tr h="326575">
                <a:tc>
                  <a:txBody>
                    <a:bodyPr/>
                    <a:lstStyle/>
                    <a:p>
                      <a:pPr indent="0" lvl="0" marL="0" rtl="0" algn="l">
                        <a:spcBef>
                          <a:spcPts val="0"/>
                        </a:spcBef>
                        <a:spcAft>
                          <a:spcPts val="0"/>
                        </a:spcAft>
                        <a:buClr>
                          <a:srgbClr val="FFFFFF"/>
                        </a:buClr>
                        <a:buSzPts val="1100"/>
                        <a:buFont typeface="Arial"/>
                        <a:buNone/>
                      </a:pPr>
                      <a:r>
                        <a:rPr b="1" lang="en" sz="1100">
                          <a:solidFill>
                            <a:srgbClr val="FFFFFF"/>
                          </a:solidFill>
                        </a:rPr>
                        <a:t>Request From Client</a:t>
                      </a:r>
                      <a:endParaRPr b="1" sz="1100">
                        <a:solidFill>
                          <a:srgbClr val="FFFFFF"/>
                        </a:solidFill>
                      </a:endParaRPr>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rtl="0" algn="l">
                        <a:spcBef>
                          <a:spcPts val="0"/>
                        </a:spcBef>
                        <a:spcAft>
                          <a:spcPts val="0"/>
                        </a:spcAft>
                        <a:buClr>
                          <a:srgbClr val="FFFFFF"/>
                        </a:buClr>
                        <a:buSzPts val="1100"/>
                        <a:buFont typeface="Arial"/>
                        <a:buNone/>
                      </a:pPr>
                      <a:r>
                        <a:rPr b="1" lang="en" sz="1100">
                          <a:solidFill>
                            <a:srgbClr val="FFFFFF"/>
                          </a:solidFill>
                        </a:rPr>
                        <a:t>Response(s) From Server</a:t>
                      </a:r>
                      <a:endParaRPr b="1" sz="1100">
                        <a:solidFill>
                          <a:srgbClr val="FFFFFF"/>
                        </a:solidFill>
                      </a:endParaRPr>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70125">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0">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22975">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26750">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SzPts val="1100"/>
                        <a:buFont typeface="Arial"/>
                        <a:buNone/>
                      </a:pPr>
                      <a:r>
                        <a:t/>
                      </a:r>
                      <a:endParaRPr sz="1100"/>
                    </a:p>
                  </a:txBody>
                  <a:tcPr marT="87100" marB="87100" marR="114275" marL="11427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c58fd807eb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c58fd807eb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might be a good time to demonstrate your browser dev tools to your students which will allow them to see the messages they are sending even if they aren't getting to the server correctly.</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c58fd807eb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c58fd807eb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c58fd807e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c58fd807e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c58fd807eb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c58fd807eb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c58fd807eb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c58fd807eb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c58fd807eb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c58fd807eb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Instead of the </a:t>
            </a:r>
            <a:r>
              <a:rPr lang="en"/>
              <a:t>lambda</a:t>
            </a:r>
            <a:r>
              <a:rPr lang="en"/>
              <a:t> you can also use MyClass::new.</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c58fd807eb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c58fd807eb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c58fd807eb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c58fd807eb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230bdc7f68c_0_1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230bdc7f68c_0_1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4bef8c500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4bef8c500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 name="Google Shape;23;p4"/>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6" name="Google Shape;26;p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 name="Google Shape;30;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p:nvPr/>
        </p:nvSpPr>
        <p:spPr>
          <a:xfrm>
            <a:off x="0" y="0"/>
            <a:ext cx="9144000" cy="67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0" name="Google Shape;40;p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43" name="Google Shape;43;p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44" name="Google Shape;4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AUTOLAYOUT_1_1">
    <p:bg>
      <p:bgPr>
        <a:solidFill>
          <a:srgbClr val="FFFFFF"/>
        </a:solidFill>
      </p:bgPr>
    </p:bg>
    <p:spTree>
      <p:nvGrpSpPr>
        <p:cNvPr id="64" name="Shape 64"/>
        <p:cNvGrpSpPr/>
        <p:nvPr/>
      </p:nvGrpSpPr>
      <p:grpSpPr>
        <a:xfrm>
          <a:off x="0" y="0"/>
          <a:ext cx="0" cy="0"/>
          <a:chOff x="0" y="0"/>
          <a:chExt cx="0" cy="0"/>
        </a:xfrm>
      </p:grpSpPr>
      <p:sp>
        <p:nvSpPr>
          <p:cNvPr id="65" name="Google Shape;65;p13"/>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67" name="Google Shape;67;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3"/>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9" name="Google Shape;69;p13"/>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txBox="1"/>
          <p:nvPr>
            <p:ph type="title"/>
          </p:nvPr>
        </p:nvSpPr>
        <p:spPr>
          <a:xfrm>
            <a:off x="1436850" y="763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71" name="Google Shape;71;p13"/>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73" name="Google Shape;73;p13"/>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74" name="Shape 74"/>
        <p:cNvGrpSpPr/>
        <p:nvPr/>
      </p:nvGrpSpPr>
      <p:grpSpPr>
        <a:xfrm>
          <a:off x="0" y="0"/>
          <a:ext cx="0" cy="0"/>
          <a:chOff x="0" y="0"/>
          <a:chExt cx="0" cy="0"/>
        </a:xfrm>
      </p:grpSpPr>
      <p:sp>
        <p:nvSpPr>
          <p:cNvPr id="75" name="Google Shape;75;p1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8" name="Google Shape;7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79" name="Shape 79"/>
        <p:cNvGrpSpPr/>
        <p:nvPr/>
      </p:nvGrpSpPr>
      <p:grpSpPr>
        <a:xfrm>
          <a:off x="0" y="0"/>
          <a:ext cx="0" cy="0"/>
          <a:chOff x="0" y="0"/>
          <a:chExt cx="0" cy="0"/>
        </a:xfrm>
      </p:grpSpPr>
      <p:sp>
        <p:nvSpPr>
          <p:cNvPr id="80" name="Google Shape;80;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2" name="Google Shape;8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rgbClr val="FFFFFF"/>
        </a:solidFill>
      </p:bgPr>
    </p:bg>
    <p:spTree>
      <p:nvGrpSpPr>
        <p:cNvPr id="83" name="Shape 83"/>
        <p:cNvGrpSpPr/>
        <p:nvPr/>
      </p:nvGrpSpPr>
      <p:grpSpPr>
        <a:xfrm>
          <a:off x="0" y="0"/>
          <a:ext cx="0" cy="0"/>
          <a:chOff x="0" y="0"/>
          <a:chExt cx="0" cy="0"/>
        </a:xfrm>
      </p:grpSpPr>
      <p:sp>
        <p:nvSpPr>
          <p:cNvPr id="84" name="Google Shape;84;p16"/>
          <p:cNvSpPr txBox="1"/>
          <p:nvPr>
            <p:ph type="title"/>
          </p:nvPr>
        </p:nvSpPr>
        <p:spPr>
          <a:xfrm>
            <a:off x="340660" y="30698"/>
            <a:ext cx="8449200" cy="6360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5" name="Google Shape;85;p16"/>
          <p:cNvSpPr txBox="1"/>
          <p:nvPr>
            <p:ph idx="1" type="body"/>
          </p:nvPr>
        </p:nvSpPr>
        <p:spPr>
          <a:xfrm>
            <a:off x="340660" y="884286"/>
            <a:ext cx="8449200" cy="4156800"/>
          </a:xfrm>
          <a:prstGeom prst="rect">
            <a:avLst/>
          </a:prstGeom>
          <a:noFill/>
          <a:ln>
            <a:noFill/>
          </a:ln>
        </p:spPr>
        <p:txBody>
          <a:bodyPr anchorCtr="0" anchor="t" bIns="34275" lIns="68575" spcFirstLastPara="1" rIns="68575" wrap="square" tIns="34275">
            <a:normAutofit/>
          </a:bodyPr>
          <a:lstStyle>
            <a:lvl1pPr indent="-349250" lvl="0" marL="457200" rtl="0" algn="l">
              <a:lnSpc>
                <a:spcPct val="90000"/>
              </a:lnSpc>
              <a:spcBef>
                <a:spcPts val="800"/>
              </a:spcBef>
              <a:spcAft>
                <a:spcPts val="0"/>
              </a:spcAft>
              <a:buClr>
                <a:schemeClr val="dk1"/>
              </a:buClr>
              <a:buSzPts val="1900"/>
              <a:buFont typeface="Calibri"/>
              <a:buChar char="●"/>
              <a:defRPr sz="2100"/>
            </a:lvl1pPr>
            <a:lvl2pPr indent="-330200" lvl="1" marL="914400" rtl="0" algn="l">
              <a:lnSpc>
                <a:spcPct val="90000"/>
              </a:lnSpc>
              <a:spcBef>
                <a:spcPts val="1600"/>
              </a:spcBef>
              <a:spcAft>
                <a:spcPts val="0"/>
              </a:spcAft>
              <a:buClr>
                <a:schemeClr val="dk1"/>
              </a:buClr>
              <a:buSzPts val="1600"/>
              <a:buFont typeface="Courier New"/>
              <a:buChar char="o"/>
              <a:defRPr sz="1800"/>
            </a:lvl2pPr>
            <a:lvl3pPr indent="-323850" lvl="2" marL="1371600" rtl="0" algn="l">
              <a:lnSpc>
                <a:spcPct val="90000"/>
              </a:lnSpc>
              <a:spcBef>
                <a:spcPts val="1600"/>
              </a:spcBef>
              <a:spcAft>
                <a:spcPts val="0"/>
              </a:spcAft>
              <a:buClr>
                <a:schemeClr val="dk1"/>
              </a:buClr>
              <a:buSzPts val="1500"/>
              <a:buFont typeface="Noto Sans Symbols"/>
              <a:buChar char="▪"/>
              <a:defRPr sz="1500"/>
            </a:lvl3pPr>
            <a:lvl4pPr indent="-317500" lvl="3" marL="1828800" rtl="0" algn="l">
              <a:lnSpc>
                <a:spcPct val="90000"/>
              </a:lnSpc>
              <a:spcBef>
                <a:spcPts val="1600"/>
              </a:spcBef>
              <a:spcAft>
                <a:spcPts val="0"/>
              </a:spcAft>
              <a:buClr>
                <a:schemeClr val="dk1"/>
              </a:buClr>
              <a:buSzPts val="1400"/>
              <a:buFont typeface="Calibri"/>
              <a:buChar char="▫"/>
              <a:defRPr sz="1400"/>
            </a:lvl4pPr>
            <a:lvl5pPr indent="-298450" lvl="4" marL="2286000" rtl="0" algn="l">
              <a:lnSpc>
                <a:spcPct val="90000"/>
              </a:lnSpc>
              <a:spcBef>
                <a:spcPts val="1600"/>
              </a:spcBef>
              <a:spcAft>
                <a:spcPts val="0"/>
              </a:spcAft>
              <a:buClr>
                <a:schemeClr val="dk1"/>
              </a:buClr>
              <a:buSzPts val="1100"/>
              <a:buChar char="○"/>
              <a:defRPr sz="1100"/>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cxnSp>
        <p:nvCxnSpPr>
          <p:cNvPr id="86" name="Google Shape;86;p16"/>
          <p:cNvCxnSpPr/>
          <p:nvPr/>
        </p:nvCxnSpPr>
        <p:spPr>
          <a:xfrm>
            <a:off x="340660" y="690167"/>
            <a:ext cx="8449200" cy="0"/>
          </a:xfrm>
          <a:prstGeom prst="straightConnector1">
            <a:avLst/>
          </a:prstGeom>
          <a:noFill/>
          <a:ln cap="flat" cmpd="thickThin" w="63500">
            <a:solidFill>
              <a:schemeClr val="lt2"/>
            </a:solidFill>
            <a:prstDash val="solid"/>
            <a:miter lim="800000"/>
            <a:headEnd len="sm" w="sm" type="none"/>
            <a:tailEnd len="sm" w="sm" type="none"/>
          </a:ln>
        </p:spPr>
      </p:cxnSp>
      <p:sp>
        <p:nvSpPr>
          <p:cNvPr id="87" name="Google Shape;87;p16"/>
          <p:cNvSpPr txBox="1"/>
          <p:nvPr>
            <p:ph idx="2" type="body"/>
          </p:nvPr>
        </p:nvSpPr>
        <p:spPr>
          <a:xfrm>
            <a:off x="9155430" y="150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8" name="Google Shape;88;p16"/>
          <p:cNvSpPr txBox="1"/>
          <p:nvPr>
            <p:ph idx="3" type="body"/>
          </p:nvPr>
        </p:nvSpPr>
        <p:spPr>
          <a:xfrm>
            <a:off x="9155430" y="2189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9" name="Google Shape;89;p16"/>
          <p:cNvSpPr txBox="1"/>
          <p:nvPr>
            <p:ph idx="4" type="body"/>
          </p:nvPr>
        </p:nvSpPr>
        <p:spPr>
          <a:xfrm>
            <a:off x="9155430" y="44345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0" name="Google Shape;90;p16"/>
          <p:cNvSpPr txBox="1"/>
          <p:nvPr>
            <p:ph idx="5" type="body"/>
          </p:nvPr>
        </p:nvSpPr>
        <p:spPr>
          <a:xfrm>
            <a:off x="9155430" y="6668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1" name="Google Shape;91;p16"/>
          <p:cNvSpPr txBox="1"/>
          <p:nvPr>
            <p:ph idx="6" type="body"/>
          </p:nvPr>
        </p:nvSpPr>
        <p:spPr>
          <a:xfrm>
            <a:off x="9155430" y="88428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2" name="Google Shape;92;p16"/>
          <p:cNvSpPr txBox="1"/>
          <p:nvPr>
            <p:ph idx="7" type="body"/>
          </p:nvPr>
        </p:nvSpPr>
        <p:spPr>
          <a:xfrm>
            <a:off x="9155430" y="112836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3" name="Google Shape;93;p16"/>
          <p:cNvSpPr txBox="1"/>
          <p:nvPr>
            <p:ph idx="8" type="body"/>
          </p:nvPr>
        </p:nvSpPr>
        <p:spPr>
          <a:xfrm>
            <a:off x="9155430" y="136614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4" name="Google Shape;94;p16"/>
          <p:cNvSpPr txBox="1"/>
          <p:nvPr>
            <p:ph idx="9" type="body"/>
          </p:nvPr>
        </p:nvSpPr>
        <p:spPr>
          <a:xfrm>
            <a:off x="9155430" y="160379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5" name="Google Shape;95;p16"/>
          <p:cNvSpPr txBox="1"/>
          <p:nvPr>
            <p:ph idx="13" type="body"/>
          </p:nvPr>
        </p:nvSpPr>
        <p:spPr>
          <a:xfrm>
            <a:off x="9155430" y="18415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6" name="Google Shape;96;p16"/>
          <p:cNvSpPr txBox="1"/>
          <p:nvPr>
            <p:ph idx="14" type="body"/>
          </p:nvPr>
        </p:nvSpPr>
        <p:spPr>
          <a:xfrm>
            <a:off x="9155430" y="207252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7" name="Google Shape;97;p16"/>
          <p:cNvSpPr txBox="1"/>
          <p:nvPr>
            <p:ph idx="15" type="body"/>
          </p:nvPr>
        </p:nvSpPr>
        <p:spPr>
          <a:xfrm>
            <a:off x="9155430" y="230876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8" name="Google Shape;98;p16"/>
          <p:cNvSpPr txBox="1"/>
          <p:nvPr>
            <p:ph idx="16" type="body"/>
          </p:nvPr>
        </p:nvSpPr>
        <p:spPr>
          <a:xfrm>
            <a:off x="9155430" y="253444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9" name="Google Shape;99;p16"/>
          <p:cNvSpPr txBox="1"/>
          <p:nvPr>
            <p:ph idx="17" type="body"/>
          </p:nvPr>
        </p:nvSpPr>
        <p:spPr>
          <a:xfrm>
            <a:off x="9155430" y="27587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0" name="Google Shape;100;p16"/>
          <p:cNvSpPr txBox="1"/>
          <p:nvPr>
            <p:ph idx="18" type="body"/>
          </p:nvPr>
        </p:nvSpPr>
        <p:spPr>
          <a:xfrm>
            <a:off x="9155430" y="29817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1" name="Google Shape;101;p16"/>
          <p:cNvSpPr txBox="1"/>
          <p:nvPr>
            <p:ph idx="19" type="body"/>
          </p:nvPr>
        </p:nvSpPr>
        <p:spPr>
          <a:xfrm>
            <a:off x="9155430" y="32124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2" name="Google Shape;102;p16"/>
          <p:cNvSpPr txBox="1"/>
          <p:nvPr>
            <p:ph idx="20" type="body"/>
          </p:nvPr>
        </p:nvSpPr>
        <p:spPr>
          <a:xfrm>
            <a:off x="9155430" y="343674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3" name="Google Shape;103;p16"/>
          <p:cNvSpPr txBox="1"/>
          <p:nvPr>
            <p:ph idx="21" type="body"/>
          </p:nvPr>
        </p:nvSpPr>
        <p:spPr>
          <a:xfrm>
            <a:off x="9155430" y="366795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4" name="Google Shape;104;p16"/>
          <p:cNvSpPr txBox="1"/>
          <p:nvPr>
            <p:ph idx="22" type="body"/>
          </p:nvPr>
        </p:nvSpPr>
        <p:spPr>
          <a:xfrm>
            <a:off x="9155430" y="391172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5" name="Google Shape;105;p16"/>
          <p:cNvSpPr txBox="1"/>
          <p:nvPr>
            <p:ph idx="23" type="body"/>
          </p:nvPr>
        </p:nvSpPr>
        <p:spPr>
          <a:xfrm>
            <a:off x="9155430" y="41485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6" name="Google Shape;106;p16"/>
          <p:cNvSpPr txBox="1"/>
          <p:nvPr>
            <p:ph idx="24" type="body"/>
          </p:nvPr>
        </p:nvSpPr>
        <p:spPr>
          <a:xfrm>
            <a:off x="9155430" y="437292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7" name="Google Shape;107;p16"/>
          <p:cNvSpPr txBox="1"/>
          <p:nvPr>
            <p:ph idx="25" type="body"/>
          </p:nvPr>
        </p:nvSpPr>
        <p:spPr>
          <a:xfrm>
            <a:off x="9155430" y="459178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8" name="Google Shape;108;p16"/>
          <p:cNvSpPr txBox="1"/>
          <p:nvPr>
            <p:ph idx="26" type="body"/>
          </p:nvPr>
        </p:nvSpPr>
        <p:spPr>
          <a:xfrm>
            <a:off x="-2811780" y="150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9" name="Google Shape;109;p16"/>
          <p:cNvSpPr txBox="1"/>
          <p:nvPr>
            <p:ph idx="27" type="body"/>
          </p:nvPr>
        </p:nvSpPr>
        <p:spPr>
          <a:xfrm>
            <a:off x="-2811780" y="2189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0" name="Google Shape;110;p16"/>
          <p:cNvSpPr txBox="1"/>
          <p:nvPr>
            <p:ph idx="28" type="body"/>
          </p:nvPr>
        </p:nvSpPr>
        <p:spPr>
          <a:xfrm>
            <a:off x="-2811780" y="44345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1" name="Google Shape;111;p16"/>
          <p:cNvSpPr txBox="1"/>
          <p:nvPr>
            <p:ph idx="29" type="body"/>
          </p:nvPr>
        </p:nvSpPr>
        <p:spPr>
          <a:xfrm>
            <a:off x="-2811780" y="6668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2" name="Google Shape;112;p16"/>
          <p:cNvSpPr txBox="1"/>
          <p:nvPr>
            <p:ph idx="30" type="body"/>
          </p:nvPr>
        </p:nvSpPr>
        <p:spPr>
          <a:xfrm>
            <a:off x="-2811780" y="88428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3" name="Google Shape;113;p16"/>
          <p:cNvSpPr txBox="1"/>
          <p:nvPr>
            <p:ph idx="31" type="body"/>
          </p:nvPr>
        </p:nvSpPr>
        <p:spPr>
          <a:xfrm>
            <a:off x="-2811780" y="112836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4" name="Google Shape;114;p16"/>
          <p:cNvSpPr txBox="1"/>
          <p:nvPr>
            <p:ph idx="32" type="body"/>
          </p:nvPr>
        </p:nvSpPr>
        <p:spPr>
          <a:xfrm>
            <a:off x="-2811780" y="136614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5" name="Google Shape;115;p16"/>
          <p:cNvSpPr txBox="1"/>
          <p:nvPr>
            <p:ph idx="33" type="body"/>
          </p:nvPr>
        </p:nvSpPr>
        <p:spPr>
          <a:xfrm>
            <a:off x="-2811780" y="160379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6" name="Google Shape;116;p16"/>
          <p:cNvSpPr txBox="1"/>
          <p:nvPr>
            <p:ph idx="34" type="body"/>
          </p:nvPr>
        </p:nvSpPr>
        <p:spPr>
          <a:xfrm>
            <a:off x="-2811780" y="18415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7" name="Google Shape;117;p16"/>
          <p:cNvSpPr txBox="1"/>
          <p:nvPr>
            <p:ph idx="35" type="body"/>
          </p:nvPr>
        </p:nvSpPr>
        <p:spPr>
          <a:xfrm>
            <a:off x="-2811780" y="207252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8" name="Google Shape;118;p16"/>
          <p:cNvSpPr txBox="1"/>
          <p:nvPr>
            <p:ph idx="36" type="body"/>
          </p:nvPr>
        </p:nvSpPr>
        <p:spPr>
          <a:xfrm>
            <a:off x="-2811780" y="230876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9" name="Google Shape;119;p16"/>
          <p:cNvSpPr txBox="1"/>
          <p:nvPr>
            <p:ph idx="37" type="body"/>
          </p:nvPr>
        </p:nvSpPr>
        <p:spPr>
          <a:xfrm>
            <a:off x="-2811780" y="253444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0" name="Google Shape;120;p16"/>
          <p:cNvSpPr txBox="1"/>
          <p:nvPr>
            <p:ph idx="38" type="body"/>
          </p:nvPr>
        </p:nvSpPr>
        <p:spPr>
          <a:xfrm>
            <a:off x="-2811780" y="27587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1" name="Google Shape;121;p16"/>
          <p:cNvSpPr txBox="1"/>
          <p:nvPr>
            <p:ph idx="39" type="body"/>
          </p:nvPr>
        </p:nvSpPr>
        <p:spPr>
          <a:xfrm>
            <a:off x="-2811780" y="29817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2" name="Google Shape;122;p16"/>
          <p:cNvSpPr txBox="1"/>
          <p:nvPr>
            <p:ph idx="40" type="body"/>
          </p:nvPr>
        </p:nvSpPr>
        <p:spPr>
          <a:xfrm>
            <a:off x="-2811780" y="32124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3" name="Google Shape;123;p16"/>
          <p:cNvSpPr txBox="1"/>
          <p:nvPr>
            <p:ph idx="41" type="body"/>
          </p:nvPr>
        </p:nvSpPr>
        <p:spPr>
          <a:xfrm>
            <a:off x="-2811780" y="343674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4" name="Google Shape;124;p16"/>
          <p:cNvSpPr txBox="1"/>
          <p:nvPr>
            <p:ph idx="42" type="body"/>
          </p:nvPr>
        </p:nvSpPr>
        <p:spPr>
          <a:xfrm>
            <a:off x="-2811780" y="366795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5" name="Google Shape;125;p16"/>
          <p:cNvSpPr txBox="1"/>
          <p:nvPr>
            <p:ph idx="43" type="body"/>
          </p:nvPr>
        </p:nvSpPr>
        <p:spPr>
          <a:xfrm>
            <a:off x="-2811780" y="391172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6" name="Google Shape;126;p16"/>
          <p:cNvSpPr txBox="1"/>
          <p:nvPr>
            <p:ph idx="44" type="body"/>
          </p:nvPr>
        </p:nvSpPr>
        <p:spPr>
          <a:xfrm>
            <a:off x="-2811780" y="41485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7" name="Google Shape;127;p16"/>
          <p:cNvSpPr txBox="1"/>
          <p:nvPr>
            <p:ph idx="45" type="body"/>
          </p:nvPr>
        </p:nvSpPr>
        <p:spPr>
          <a:xfrm>
            <a:off x="-2811780" y="437292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8" name="Google Shape;128;p16"/>
          <p:cNvSpPr txBox="1"/>
          <p:nvPr>
            <p:ph idx="46" type="body"/>
          </p:nvPr>
        </p:nvSpPr>
        <p:spPr>
          <a:xfrm>
            <a:off x="-2811780" y="459178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ctivity">
    <p:spTree>
      <p:nvGrpSpPr>
        <p:cNvPr id="129" name="Shape 129"/>
        <p:cNvGrpSpPr/>
        <p:nvPr/>
      </p:nvGrpSpPr>
      <p:grpSpPr>
        <a:xfrm>
          <a:off x="0" y="0"/>
          <a:ext cx="0" cy="0"/>
          <a:chOff x="0" y="0"/>
          <a:chExt cx="0" cy="0"/>
        </a:xfrm>
      </p:grpSpPr>
      <p:sp>
        <p:nvSpPr>
          <p:cNvPr id="130" name="Google Shape;130;p17"/>
          <p:cNvSpPr txBox="1"/>
          <p:nvPr>
            <p:ph type="title"/>
          </p:nvPr>
        </p:nvSpPr>
        <p:spPr>
          <a:xfrm>
            <a:off x="1039579" y="119975"/>
            <a:ext cx="7795200" cy="577200"/>
          </a:xfrm>
          <a:prstGeom prst="rect">
            <a:avLst/>
          </a:prstGeom>
          <a:noFill/>
          <a:ln>
            <a:noFill/>
          </a:ln>
        </p:spPr>
        <p:txBody>
          <a:bodyPr anchorCtr="0" anchor="ctr" bIns="34275" lIns="68575" spcFirstLastPara="1" rIns="68575" wrap="square" tIns="34275">
            <a:normAutofit/>
          </a:bodyPr>
          <a:lstStyle>
            <a:lvl1pPr lvl="0" rtl="0" algn="l">
              <a:lnSpc>
                <a:spcPct val="10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1" name="Google Shape;131;p17"/>
          <p:cNvSpPr txBox="1"/>
          <p:nvPr>
            <p:ph idx="1" type="body"/>
          </p:nvPr>
        </p:nvSpPr>
        <p:spPr>
          <a:xfrm>
            <a:off x="300382" y="768629"/>
            <a:ext cx="3399300" cy="3864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sz="1800"/>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cxnSp>
        <p:nvCxnSpPr>
          <p:cNvPr id="132" name="Google Shape;132;p17"/>
          <p:cNvCxnSpPr/>
          <p:nvPr/>
        </p:nvCxnSpPr>
        <p:spPr>
          <a:xfrm>
            <a:off x="300382" y="736560"/>
            <a:ext cx="8534400" cy="0"/>
          </a:xfrm>
          <a:prstGeom prst="straightConnector1">
            <a:avLst/>
          </a:prstGeom>
          <a:noFill/>
          <a:ln cap="flat" cmpd="thickThin" w="63500">
            <a:solidFill>
              <a:schemeClr val="lt2"/>
            </a:solidFill>
            <a:prstDash val="solid"/>
            <a:miter lim="800000"/>
            <a:headEnd len="sm" w="sm" type="none"/>
            <a:tailEnd len="sm" w="sm" type="none"/>
          </a:ln>
        </p:spPr>
      </p:cxnSp>
      <p:sp>
        <p:nvSpPr>
          <p:cNvPr id="133" name="Google Shape;133;p17"/>
          <p:cNvSpPr txBox="1"/>
          <p:nvPr>
            <p:ph idx="2" type="body"/>
          </p:nvPr>
        </p:nvSpPr>
        <p:spPr>
          <a:xfrm>
            <a:off x="3699710" y="784668"/>
            <a:ext cx="5135100" cy="4258500"/>
          </a:xfrm>
          <a:prstGeom prst="rect">
            <a:avLst/>
          </a:prstGeom>
          <a:noFill/>
          <a:ln cap="flat" cmpd="sng" w="38100">
            <a:solidFill>
              <a:schemeClr val="dk1"/>
            </a:solidFill>
            <a:prstDash val="solid"/>
            <a:round/>
            <a:headEnd len="sm" w="sm" type="none"/>
            <a:tailEnd len="sm" w="sm" type="none"/>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4" name="Google Shape;134;p17"/>
          <p:cNvSpPr txBox="1"/>
          <p:nvPr>
            <p:ph idx="3" type="body"/>
          </p:nvPr>
        </p:nvSpPr>
        <p:spPr>
          <a:xfrm>
            <a:off x="-2811780" y="23094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5" name="Google Shape;135;p17"/>
          <p:cNvSpPr txBox="1"/>
          <p:nvPr>
            <p:ph idx="4" type="body"/>
          </p:nvPr>
        </p:nvSpPr>
        <p:spPr>
          <a:xfrm>
            <a:off x="-2811780" y="4671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6" name="Google Shape;136;p17"/>
          <p:cNvSpPr txBox="1"/>
          <p:nvPr>
            <p:ph idx="5" type="body"/>
          </p:nvPr>
        </p:nvSpPr>
        <p:spPr>
          <a:xfrm>
            <a:off x="-2811780" y="6928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7" name="Google Shape;137;p17"/>
          <p:cNvSpPr txBox="1"/>
          <p:nvPr>
            <p:ph idx="6" type="body"/>
          </p:nvPr>
        </p:nvSpPr>
        <p:spPr>
          <a:xfrm>
            <a:off x="-2811780" y="9172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8" name="Google Shape;138;p17"/>
          <p:cNvSpPr txBox="1"/>
          <p:nvPr>
            <p:ph idx="7" type="body"/>
          </p:nvPr>
        </p:nvSpPr>
        <p:spPr>
          <a:xfrm>
            <a:off x="-2811780" y="114021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9" name="Google Shape;139;p17"/>
          <p:cNvSpPr txBox="1"/>
          <p:nvPr>
            <p:ph idx="8" type="body"/>
          </p:nvPr>
        </p:nvSpPr>
        <p:spPr>
          <a:xfrm>
            <a:off x="-2811780" y="137082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0" name="Google Shape;140;p17"/>
          <p:cNvSpPr txBox="1"/>
          <p:nvPr>
            <p:ph idx="9" type="body"/>
          </p:nvPr>
        </p:nvSpPr>
        <p:spPr>
          <a:xfrm>
            <a:off x="-2811780" y="159516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1" name="Google Shape;141;p17"/>
          <p:cNvSpPr txBox="1"/>
          <p:nvPr>
            <p:ph idx="13" type="body"/>
          </p:nvPr>
        </p:nvSpPr>
        <p:spPr>
          <a:xfrm>
            <a:off x="-2811780" y="18263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2" name="Google Shape;142;p17"/>
          <p:cNvSpPr txBox="1"/>
          <p:nvPr>
            <p:ph idx="14" type="body"/>
          </p:nvPr>
        </p:nvSpPr>
        <p:spPr>
          <a:xfrm>
            <a:off x="-2811780" y="207015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3" name="Google Shape;143;p17"/>
          <p:cNvSpPr txBox="1"/>
          <p:nvPr>
            <p:ph idx="15" type="body"/>
          </p:nvPr>
        </p:nvSpPr>
        <p:spPr>
          <a:xfrm>
            <a:off x="-2811780" y="230701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4" name="Google Shape;144;p17"/>
          <p:cNvSpPr txBox="1"/>
          <p:nvPr>
            <p:ph idx="16" type="body"/>
          </p:nvPr>
        </p:nvSpPr>
        <p:spPr>
          <a:xfrm>
            <a:off x="-2811780" y="253135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5" name="Google Shape;145;p17"/>
          <p:cNvSpPr txBox="1"/>
          <p:nvPr>
            <p:ph idx="17" type="body"/>
          </p:nvPr>
        </p:nvSpPr>
        <p:spPr>
          <a:xfrm>
            <a:off x="-2811780" y="275021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6" name="Google Shape;146;p17"/>
          <p:cNvSpPr/>
          <p:nvPr/>
        </p:nvSpPr>
        <p:spPr>
          <a:xfrm>
            <a:off x="277239" y="109654"/>
            <a:ext cx="633000" cy="578700"/>
          </a:xfrm>
          <a:prstGeom prst="roundRect">
            <a:avLst>
              <a:gd fmla="val 16667" name="adj"/>
            </a:avLst>
          </a:prstGeom>
          <a:gradFill>
            <a:gsLst>
              <a:gs pos="0">
                <a:srgbClr val="FFFFFF"/>
              </a:gs>
              <a:gs pos="66000">
                <a:srgbClr val="FFFFFF"/>
              </a:gs>
              <a:gs pos="100000">
                <a:schemeClr val="dk2"/>
              </a:gs>
            </a:gsLst>
            <a:path path="circle">
              <a:fillToRect b="50%" l="50%" r="50%" t="50%"/>
            </a:path>
            <a:tileRect/>
          </a:gradFill>
          <a:ln cap="flat" cmpd="sng" w="12700">
            <a:solidFill>
              <a:srgbClr val="A246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7" name="Google Shape;147;p17"/>
          <p:cNvSpPr/>
          <p:nvPr/>
        </p:nvSpPr>
        <p:spPr>
          <a:xfrm>
            <a:off x="412441" y="97590"/>
            <a:ext cx="394800" cy="5772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3300" cap="none">
                <a:solidFill>
                  <a:schemeClr val="dk2"/>
                </a:solidFill>
                <a:latin typeface="Calibri"/>
                <a:ea typeface="Calibri"/>
                <a:cs typeface="Calibri"/>
                <a:sym typeface="Calibri"/>
              </a:rPr>
              <a:t>A</a:t>
            </a:r>
            <a:endParaRPr sz="1100"/>
          </a:p>
        </p:txBody>
      </p:sp>
      <p:sp>
        <p:nvSpPr>
          <p:cNvPr id="148" name="Google Shape;148;p17"/>
          <p:cNvSpPr txBox="1"/>
          <p:nvPr>
            <p:ph idx="18" type="body"/>
          </p:nvPr>
        </p:nvSpPr>
        <p:spPr>
          <a:xfrm>
            <a:off x="-2811780" y="30367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9" name="Google Shape;149;p17"/>
          <p:cNvSpPr txBox="1"/>
          <p:nvPr>
            <p:ph idx="19" type="body"/>
          </p:nvPr>
        </p:nvSpPr>
        <p:spPr>
          <a:xfrm>
            <a:off x="-2811780" y="326764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0" name="Google Shape;150;p17"/>
          <p:cNvSpPr txBox="1"/>
          <p:nvPr>
            <p:ph idx="20" type="body"/>
          </p:nvPr>
        </p:nvSpPr>
        <p:spPr>
          <a:xfrm>
            <a:off x="-2811780" y="350389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1" name="Google Shape;151;p17"/>
          <p:cNvSpPr txBox="1"/>
          <p:nvPr>
            <p:ph idx="21" type="body"/>
          </p:nvPr>
        </p:nvSpPr>
        <p:spPr>
          <a:xfrm>
            <a:off x="-2811780" y="37295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2" name="Google Shape;152;p17"/>
          <p:cNvSpPr txBox="1"/>
          <p:nvPr>
            <p:ph idx="22" type="body"/>
          </p:nvPr>
        </p:nvSpPr>
        <p:spPr>
          <a:xfrm>
            <a:off x="-2811780" y="39539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3" name="Google Shape;153;p17"/>
          <p:cNvSpPr txBox="1"/>
          <p:nvPr>
            <p:ph idx="23" type="body"/>
          </p:nvPr>
        </p:nvSpPr>
        <p:spPr>
          <a:xfrm>
            <a:off x="-2811780" y="417691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4" name="Google Shape;154;p17"/>
          <p:cNvSpPr txBox="1"/>
          <p:nvPr>
            <p:ph idx="24" type="body"/>
          </p:nvPr>
        </p:nvSpPr>
        <p:spPr>
          <a:xfrm>
            <a:off x="-2811780" y="4407526"/>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55" name="Google Shape;155;p17"/>
          <p:cNvSpPr txBox="1"/>
          <p:nvPr>
            <p:ph idx="25" type="body"/>
          </p:nvPr>
        </p:nvSpPr>
        <p:spPr>
          <a:xfrm>
            <a:off x="-2811780" y="46318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60" name="Shape 160"/>
        <p:cNvGrpSpPr/>
        <p:nvPr/>
      </p:nvGrpSpPr>
      <p:grpSpPr>
        <a:xfrm>
          <a:off x="0" y="0"/>
          <a:ext cx="0" cy="0"/>
          <a:chOff x="0" y="0"/>
          <a:chExt cx="0" cy="0"/>
        </a:xfrm>
      </p:grpSpPr>
      <p:sp>
        <p:nvSpPr>
          <p:cNvPr id="161" name="Google Shape;161;p19"/>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2" name="Google Shape;162;p19"/>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3" name="Google Shape;163;p19"/>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64" name="Google Shape;164;p1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65" name="Shape 165"/>
        <p:cNvGrpSpPr/>
        <p:nvPr/>
      </p:nvGrpSpPr>
      <p:grpSpPr>
        <a:xfrm>
          <a:off x="0" y="0"/>
          <a:ext cx="0" cy="0"/>
          <a:chOff x="0" y="0"/>
          <a:chExt cx="0" cy="0"/>
        </a:xfrm>
      </p:grpSpPr>
      <p:sp>
        <p:nvSpPr>
          <p:cNvPr id="166" name="Google Shape;166;p20"/>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7" name="Google Shape;167;p20"/>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68" name="Google Shape;168;p20"/>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9" name="Google Shape;169;p2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0" name="Shape 170"/>
        <p:cNvGrpSpPr/>
        <p:nvPr/>
      </p:nvGrpSpPr>
      <p:grpSpPr>
        <a:xfrm>
          <a:off x="0" y="0"/>
          <a:ext cx="0" cy="0"/>
          <a:chOff x="0" y="0"/>
          <a:chExt cx="0" cy="0"/>
        </a:xfrm>
      </p:grpSpPr>
      <p:sp>
        <p:nvSpPr>
          <p:cNvPr id="171" name="Google Shape;171;p21"/>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72" name="Google Shape;172;p21"/>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1"/>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74" name="Google Shape;174;p21"/>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5" name="Google Shape;175;p2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21"/>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177" name="Google Shape;177;p21"/>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8" name="Shape 178"/>
        <p:cNvGrpSpPr/>
        <p:nvPr/>
      </p:nvGrpSpPr>
      <p:grpSpPr>
        <a:xfrm>
          <a:off x="0" y="0"/>
          <a:ext cx="0" cy="0"/>
          <a:chOff x="0" y="0"/>
          <a:chExt cx="0" cy="0"/>
        </a:xfrm>
      </p:grpSpPr>
      <p:sp>
        <p:nvSpPr>
          <p:cNvPr id="179" name="Google Shape;179;p2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2"/>
          <p:cNvSpPr txBox="1"/>
          <p:nvPr>
            <p:ph type="title"/>
          </p:nvPr>
        </p:nvSpPr>
        <p:spPr>
          <a:xfrm>
            <a:off x="311725" y="50092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2"/>
          <p:cNvSpPr txBox="1"/>
          <p:nvPr>
            <p:ph idx="1" type="body"/>
          </p:nvPr>
        </p:nvSpPr>
        <p:spPr>
          <a:xfrm>
            <a:off x="3117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2" name="Google Shape;182;p22"/>
          <p:cNvSpPr txBox="1"/>
          <p:nvPr>
            <p:ph idx="2" type="body"/>
          </p:nvPr>
        </p:nvSpPr>
        <p:spPr>
          <a:xfrm>
            <a:off x="48324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3" name="Google Shape;183;p2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23"/>
          <p:cNvSpPr/>
          <p:nvPr/>
        </p:nvSpPr>
        <p:spPr>
          <a:xfrm>
            <a:off x="0" y="0"/>
            <a:ext cx="9144000" cy="72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3"/>
          <p:cNvSpPr txBox="1"/>
          <p:nvPr>
            <p:ph type="title"/>
          </p:nvPr>
        </p:nvSpPr>
        <p:spPr>
          <a:xfrm>
            <a:off x="311700" y="10527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7" name="Google Shape;187;p2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8" name="Shape 188"/>
        <p:cNvGrpSpPr/>
        <p:nvPr/>
      </p:nvGrpSpPr>
      <p:grpSpPr>
        <a:xfrm>
          <a:off x="0" y="0"/>
          <a:ext cx="0" cy="0"/>
          <a:chOff x="0" y="0"/>
          <a:chExt cx="0" cy="0"/>
        </a:xfrm>
      </p:grpSpPr>
      <p:sp>
        <p:nvSpPr>
          <p:cNvPr id="189" name="Google Shape;189;p24"/>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4"/>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91" name="Google Shape;191;p24"/>
          <p:cNvSpPr txBox="1"/>
          <p:nvPr>
            <p:ph idx="12" type="sldNum"/>
          </p:nvPr>
        </p:nvSpPr>
        <p:spPr>
          <a:xfrm>
            <a:off x="90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24"/>
          <p:cNvSpPr txBox="1"/>
          <p:nvPr>
            <p:ph type="title"/>
          </p:nvPr>
        </p:nvSpPr>
        <p:spPr>
          <a:xfrm>
            <a:off x="5264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93" name="Google Shape;193;p24"/>
          <p:cNvSpPr txBox="1"/>
          <p:nvPr>
            <p:ph idx="1" type="body"/>
          </p:nvPr>
        </p:nvSpPr>
        <p:spPr>
          <a:xfrm>
            <a:off x="3012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94" name="Google Shape;194;p24"/>
          <p:cNvSpPr txBox="1"/>
          <p:nvPr>
            <p:ph idx="2" type="body"/>
          </p:nvPr>
        </p:nvSpPr>
        <p:spPr>
          <a:xfrm>
            <a:off x="51922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195" name="Google Shape;195;p24"/>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96" name="Shape 196"/>
        <p:cNvGrpSpPr/>
        <p:nvPr/>
      </p:nvGrpSpPr>
      <p:grpSpPr>
        <a:xfrm>
          <a:off x="0" y="0"/>
          <a:ext cx="0" cy="0"/>
          <a:chOff x="0" y="0"/>
          <a:chExt cx="0" cy="0"/>
        </a:xfrm>
      </p:grpSpPr>
      <p:sp>
        <p:nvSpPr>
          <p:cNvPr id="197" name="Google Shape;197;p25"/>
          <p:cNvSpPr txBox="1"/>
          <p:nvPr>
            <p:ph type="title"/>
          </p:nvPr>
        </p:nvSpPr>
        <p:spPr>
          <a:xfrm>
            <a:off x="311675" y="798600"/>
            <a:ext cx="6247800" cy="3546300"/>
          </a:xfrm>
          <a:prstGeom prst="rect">
            <a:avLst/>
          </a:prstGeom>
        </p:spPr>
        <p:txBody>
          <a:bodyPr anchorCtr="0" anchor="ctr"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98" name="Google Shape;198;p2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9" name="Shape 199"/>
        <p:cNvGrpSpPr/>
        <p:nvPr/>
      </p:nvGrpSpPr>
      <p:grpSpPr>
        <a:xfrm>
          <a:off x="0" y="0"/>
          <a:ext cx="0" cy="0"/>
          <a:chOff x="0" y="0"/>
          <a:chExt cx="0" cy="0"/>
        </a:xfrm>
      </p:grpSpPr>
      <p:sp>
        <p:nvSpPr>
          <p:cNvPr id="200" name="Google Shape;200;p26"/>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6"/>
          <p:cNvSpPr txBox="1"/>
          <p:nvPr>
            <p:ph type="title"/>
          </p:nvPr>
        </p:nvSpPr>
        <p:spPr>
          <a:xfrm>
            <a:off x="311300" y="500925"/>
            <a:ext cx="3704400" cy="2049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02" name="Google Shape;202;p26"/>
          <p:cNvSpPr txBox="1"/>
          <p:nvPr>
            <p:ph idx="1" type="subTitle"/>
          </p:nvPr>
        </p:nvSpPr>
        <p:spPr>
          <a:xfrm>
            <a:off x="304800" y="2626725"/>
            <a:ext cx="3704400" cy="9267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203" name="Google Shape;203;p26"/>
          <p:cNvSpPr txBox="1"/>
          <p:nvPr>
            <p:ph idx="2" type="body"/>
          </p:nvPr>
        </p:nvSpPr>
        <p:spPr>
          <a:xfrm>
            <a:off x="4879025" y="500925"/>
            <a:ext cx="3954000" cy="41115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4" name="Google Shape;204;p2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5" name="Shape 205"/>
        <p:cNvGrpSpPr/>
        <p:nvPr/>
      </p:nvGrpSpPr>
      <p:grpSpPr>
        <a:xfrm>
          <a:off x="0" y="0"/>
          <a:ext cx="0" cy="0"/>
          <a:chOff x="0" y="0"/>
          <a:chExt cx="0" cy="0"/>
        </a:xfrm>
      </p:grpSpPr>
      <p:sp>
        <p:nvSpPr>
          <p:cNvPr id="206" name="Google Shape;206;p27"/>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txBox="1"/>
          <p:nvPr>
            <p:ph idx="1" type="body"/>
          </p:nvPr>
        </p:nvSpPr>
        <p:spPr>
          <a:xfrm>
            <a:off x="311700" y="4521400"/>
            <a:ext cx="7979400" cy="4605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08" name="Google Shape;208;p27"/>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09" name="Shape 209"/>
        <p:cNvGrpSpPr/>
        <p:nvPr/>
      </p:nvGrpSpPr>
      <p:grpSpPr>
        <a:xfrm>
          <a:off x="0" y="0"/>
          <a:ext cx="0" cy="0"/>
          <a:chOff x="0" y="0"/>
          <a:chExt cx="0" cy="0"/>
        </a:xfrm>
      </p:grpSpPr>
      <p:sp>
        <p:nvSpPr>
          <p:cNvPr id="210" name="Google Shape;210;p28"/>
          <p:cNvSpPr txBox="1"/>
          <p:nvPr>
            <p:ph hasCustomPrompt="1" type="title"/>
          </p:nvPr>
        </p:nvSpPr>
        <p:spPr>
          <a:xfrm>
            <a:off x="311750" y="831175"/>
            <a:ext cx="5334900" cy="1244700"/>
          </a:xfrm>
          <a:prstGeom prst="rect">
            <a:avLst/>
          </a:prstGeom>
        </p:spPr>
        <p:txBody>
          <a:bodyPr anchorCtr="0" anchor="b" bIns="91425" lIns="91425" spcFirstLastPara="1" rIns="91425" wrap="square" tIns="91425">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11" name="Google Shape;211;p28"/>
          <p:cNvSpPr txBox="1"/>
          <p:nvPr>
            <p:ph idx="1" type="body"/>
          </p:nvPr>
        </p:nvSpPr>
        <p:spPr>
          <a:xfrm>
            <a:off x="311700" y="2121425"/>
            <a:ext cx="5334900" cy="9426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212" name="Google Shape;212;p2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3" name="Shape 213"/>
        <p:cNvGrpSpPr/>
        <p:nvPr/>
      </p:nvGrpSpPr>
      <p:grpSpPr>
        <a:xfrm>
          <a:off x="0" y="0"/>
          <a:ext cx="0" cy="0"/>
          <a:chOff x="0" y="0"/>
          <a:chExt cx="0" cy="0"/>
        </a:xfrm>
      </p:grpSpPr>
      <p:sp>
        <p:nvSpPr>
          <p:cNvPr id="214" name="Google Shape;214;p2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15" name="Shape 215"/>
        <p:cNvGrpSpPr/>
        <p:nvPr/>
      </p:nvGrpSpPr>
      <p:grpSpPr>
        <a:xfrm>
          <a:off x="0" y="0"/>
          <a:ext cx="0" cy="0"/>
          <a:chOff x="0" y="0"/>
          <a:chExt cx="0" cy="0"/>
        </a:xfrm>
      </p:grpSpPr>
      <p:sp>
        <p:nvSpPr>
          <p:cNvPr id="216" name="Google Shape;216;p3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0"/>
          <p:cNvSpPr txBox="1"/>
          <p:nvPr>
            <p:ph type="title"/>
          </p:nvPr>
        </p:nvSpPr>
        <p:spPr>
          <a:xfrm>
            <a:off x="311700" y="315925"/>
            <a:ext cx="8520600" cy="8313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8" name="Google Shape;218;p30"/>
          <p:cNvSpPr txBox="1"/>
          <p:nvPr>
            <p:ph idx="1" type="body"/>
          </p:nvPr>
        </p:nvSpPr>
        <p:spPr>
          <a:xfrm>
            <a:off x="311700" y="1225225"/>
            <a:ext cx="8520600" cy="33540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19" name="Google Shape;219;p3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20" name="Shape 220"/>
        <p:cNvGrpSpPr/>
        <p:nvPr/>
      </p:nvGrpSpPr>
      <p:grpSpPr>
        <a:xfrm>
          <a:off x="0" y="0"/>
          <a:ext cx="0" cy="0"/>
          <a:chOff x="0" y="0"/>
          <a:chExt cx="0" cy="0"/>
        </a:xfrm>
      </p:grpSpPr>
      <p:sp>
        <p:nvSpPr>
          <p:cNvPr id="221" name="Google Shape;221;p3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2" name="Google Shape;222;p31"/>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23" name="Google Shape;223;p3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1.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156" name="Shape 156"/>
        <p:cNvGrpSpPr/>
        <p:nvPr/>
      </p:nvGrpSpPr>
      <p:grpSpPr>
        <a:xfrm>
          <a:off x="0" y="0"/>
          <a:ext cx="0" cy="0"/>
          <a:chOff x="0" y="0"/>
          <a:chExt cx="0" cy="0"/>
        </a:xfrm>
      </p:grpSpPr>
      <p:sp>
        <p:nvSpPr>
          <p:cNvPr id="157" name="Google Shape;15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158" name="Google Shape;158;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159" name="Google Shape;159;p18"/>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localhost:8081"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9.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8.xml"/><Relationship Id="rId3" Type="http://schemas.openxmlformats.org/officeDocument/2006/relationships/hyperlink" Target="https://docs.google.com/presentation/d/1o_Wzm-itW5NJQlUITrtTtvAWiQE9ua_4NxTIYhPYWF0/edit#slide=id.gce414f90c7_0_409" TargetMode="External"/><Relationship Id="rId4" Type="http://schemas.openxmlformats.org/officeDocument/2006/relationships/hyperlink" Target="https://docs.google.com/presentation/d/1o_Wzm-itW5NJQlUITrtTtvAWiQE9ua_4NxTIYhPYWF0/edit#slide=id.gce414f90c7_0_626" TargetMode="External"/><Relationship Id="rId9" Type="http://schemas.openxmlformats.org/officeDocument/2006/relationships/hyperlink" Target="https://docs.google.com/presentation/d/1o_Wzm-itW5NJQlUITrtTtvAWiQE9ua_4NxTIYhPYWF0/edit#slide=id.g230bdc7f68c_0_849" TargetMode="External"/><Relationship Id="rId5" Type="http://schemas.openxmlformats.org/officeDocument/2006/relationships/hyperlink" Target="https://docs.google.com/presentation/d/1o_Wzm-itW5NJQlUITrtTtvAWiQE9ua_4NxTIYhPYWF0/edit#slide=id.gcd1135e90b_0_9" TargetMode="External"/><Relationship Id="rId6" Type="http://schemas.openxmlformats.org/officeDocument/2006/relationships/hyperlink" Target="https://docs.google.com/presentation/d/1o_Wzm-itW5NJQlUITrtTtvAWiQE9ua_4NxTIYhPYWF0/edit#slide=id.gcd1135e90b_0_48" TargetMode="External"/><Relationship Id="rId7" Type="http://schemas.openxmlformats.org/officeDocument/2006/relationships/hyperlink" Target="https://docs.google.com/presentation/d/1o_Wzm-itW5NJQlUITrtTtvAWiQE9ua_4NxTIYhPYWF0/edit#slide=id.gcd1135e90b_0_70" TargetMode="External"/><Relationship Id="rId8" Type="http://schemas.openxmlformats.org/officeDocument/2006/relationships/hyperlink" Target="https://docs.google.com/presentation/d/1o_Wzm-itW5NJQlUITrtTtvAWiQE9ua_4NxTIYhPYWF0/edit#slide=id.g230bdc7f68c_0_73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229" name="Google Shape;229;p32"/>
          <p:cNvSpPr txBox="1"/>
          <p:nvPr>
            <p:ph idx="1" type="subTitle"/>
          </p:nvPr>
        </p:nvSpPr>
        <p:spPr>
          <a:xfrm>
            <a:off x="311700" y="1878550"/>
            <a:ext cx="4741200" cy="95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600"/>
              <a:t>10: Networking II</a:t>
            </a:r>
            <a:endParaRPr i="1" sz="2600">
              <a:solidFill>
                <a:srgbClr val="FF0000"/>
              </a:solidFill>
            </a:endParaRPr>
          </a:p>
        </p:txBody>
      </p:sp>
      <p:grpSp>
        <p:nvGrpSpPr>
          <p:cNvPr id="230" name="Google Shape;230;p32"/>
          <p:cNvGrpSpPr/>
          <p:nvPr/>
        </p:nvGrpSpPr>
        <p:grpSpPr>
          <a:xfrm>
            <a:off x="5001999" y="4264475"/>
            <a:ext cx="3908400" cy="738300"/>
            <a:chOff x="5001999" y="4264475"/>
            <a:chExt cx="3908400" cy="738300"/>
          </a:xfrm>
        </p:grpSpPr>
        <p:sp>
          <p:nvSpPr>
            <p:cNvPr id="231" name="Google Shape;231;p32"/>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 name="Google Shape;232;p32"/>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3"/>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Networking</a:t>
            </a:r>
            <a:r>
              <a:rPr lang="en"/>
              <a:t> II</a:t>
            </a:r>
            <a:endParaRPr/>
          </a:p>
        </p:txBody>
      </p:sp>
      <p:sp>
        <p:nvSpPr>
          <p:cNvPr id="238" name="Google Shape;238;p33"/>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Connecting to the </a:t>
            </a:r>
            <a:r>
              <a:rPr lang="en"/>
              <a:t>world</a:t>
            </a:r>
            <a:r>
              <a:rPr lang="en"/>
              <a:t> via a computer network is now a ubiquitous part of daily life. You are most likely doing it right now to attend this class.</a:t>
            </a:r>
            <a:endParaRPr/>
          </a:p>
          <a:p>
            <a:pPr indent="-311150" lvl="0" marL="457200" rtl="0" algn="l">
              <a:spcBef>
                <a:spcPts val="1000"/>
              </a:spcBef>
              <a:spcAft>
                <a:spcPts val="0"/>
              </a:spcAft>
              <a:buSzPts val="1300"/>
              <a:buChar char="●"/>
            </a:pPr>
            <a:r>
              <a:rPr lang="en"/>
              <a:t>This unit we will learn how to interact with other computers using the hypertext transfer protocol (HTTP).</a:t>
            </a:r>
            <a:endParaRPr/>
          </a:p>
          <a:p>
            <a:pPr indent="-311150" lvl="0" marL="457200" rtl="0" algn="l">
              <a:spcBef>
                <a:spcPts val="1000"/>
              </a:spcBef>
              <a:spcAft>
                <a:spcPts val="0"/>
              </a:spcAft>
              <a:buSzPts val="1300"/>
              <a:buChar char="●"/>
            </a:pPr>
            <a:r>
              <a:rPr lang="en"/>
              <a:t>We will be exploring the basics HTTP:</a:t>
            </a:r>
            <a:endParaRPr/>
          </a:p>
          <a:p>
            <a:pPr indent="-298450" lvl="1" marL="914400" rtl="0" algn="l">
              <a:spcBef>
                <a:spcPts val="0"/>
              </a:spcBef>
              <a:spcAft>
                <a:spcPts val="0"/>
              </a:spcAft>
              <a:buSzPts val="1100"/>
              <a:buChar char="○"/>
            </a:pPr>
            <a:r>
              <a:rPr lang="en"/>
              <a:t>GET</a:t>
            </a:r>
            <a:endParaRPr/>
          </a:p>
          <a:p>
            <a:pPr indent="-298450" lvl="1" marL="914400" rtl="0" algn="l">
              <a:spcBef>
                <a:spcPts val="0"/>
              </a:spcBef>
              <a:spcAft>
                <a:spcPts val="0"/>
              </a:spcAft>
              <a:buSzPts val="1100"/>
              <a:buChar char="○"/>
            </a:pPr>
            <a:r>
              <a:rPr lang="en"/>
              <a:t>POST</a:t>
            </a:r>
            <a:endParaRPr/>
          </a:p>
          <a:p>
            <a:pPr indent="-298450" lvl="1" marL="914400" rtl="0" algn="l">
              <a:spcBef>
                <a:spcPts val="0"/>
              </a:spcBef>
              <a:spcAft>
                <a:spcPts val="0"/>
              </a:spcAft>
              <a:buSzPts val="1100"/>
              <a:buChar char="○"/>
            </a:pPr>
            <a:r>
              <a:rPr lang="en"/>
              <a:t>HTTP Server</a:t>
            </a:r>
            <a:endParaRPr/>
          </a:p>
          <a:p>
            <a:pPr indent="-298450" lvl="1" marL="914400" rtl="0" algn="l">
              <a:spcBef>
                <a:spcPts val="0"/>
              </a:spcBef>
              <a:spcAft>
                <a:spcPts val="0"/>
              </a:spcAft>
              <a:buSzPts val="1100"/>
              <a:buChar char="○"/>
            </a:pPr>
            <a:r>
              <a:rPr lang="en"/>
              <a:t>Separation</a:t>
            </a:r>
            <a:r>
              <a:rPr lang="en"/>
              <a:t> of Concerns</a:t>
            </a:r>
            <a:endParaRPr/>
          </a:p>
          <a:p>
            <a:pPr indent="-311150" lvl="0" marL="457200" rtl="0" algn="l">
              <a:spcBef>
                <a:spcPts val="1000"/>
              </a:spcBef>
              <a:spcAft>
                <a:spcPts val="0"/>
              </a:spcAft>
              <a:buSzPts val="1300"/>
              <a:buChar char="●"/>
            </a:pPr>
            <a:r>
              <a:rPr lang="en"/>
              <a:t>We'll start by looking at the HTTP protocol and creating a simple server that can service a web page.</a:t>
            </a:r>
            <a:endParaRPr/>
          </a:p>
        </p:txBody>
      </p:sp>
      <p:sp>
        <p:nvSpPr>
          <p:cNvPr id="239" name="Google Shape;239;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3"/>
          <p:cNvSpPr txBox="1"/>
          <p:nvPr>
            <p:ph idx="3" type="body"/>
          </p:nvPr>
        </p:nvSpPr>
        <p:spPr>
          <a:xfrm>
            <a:off x="315413"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It is difficult to imagine life </a:t>
            </a:r>
            <a:r>
              <a:rPr lang="en"/>
              <a:t>without computer networks. This unit we'll continue to explore how to use them in your code.</a:t>
            </a:r>
            <a:endParaRPr/>
          </a:p>
        </p:txBody>
      </p:sp>
      <p:pic>
        <p:nvPicPr>
          <p:cNvPr id="241" name="Google Shape;241;p33"/>
          <p:cNvPicPr preferRelativeResize="0"/>
          <p:nvPr/>
        </p:nvPicPr>
        <p:blipFill>
          <a:blip r:embed="rId3">
            <a:alphaModFix/>
          </a:blip>
          <a:stretch>
            <a:fillRect/>
          </a:stretch>
        </p:blipFill>
        <p:spPr>
          <a:xfrm>
            <a:off x="297500" y="1291425"/>
            <a:ext cx="3742325" cy="2645824"/>
          </a:xfrm>
          <a:prstGeom prst="rect">
            <a:avLst/>
          </a:prstGeom>
          <a:noFill/>
          <a:ln cap="flat" cmpd="sng" w="19050">
            <a:solidFill>
              <a:schemeClr val="accent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type="title"/>
          </p:nvPr>
        </p:nvSpPr>
        <p:spPr>
          <a:xfrm>
            <a:off x="5264725" y="206950"/>
            <a:ext cx="3706500" cy="932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Hypertext</a:t>
            </a:r>
            <a:r>
              <a:rPr lang="en"/>
              <a:t> Transfer Protocol (HTTP)</a:t>
            </a:r>
            <a:endParaRPr/>
          </a:p>
        </p:txBody>
      </p:sp>
      <p:sp>
        <p:nvSpPr>
          <p:cNvPr id="247" name="Google Shape;247;p34"/>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rmAutofit/>
          </a:bodyPr>
          <a:lstStyle/>
          <a:p>
            <a:pPr indent="-349250" lvl="0" marL="457200" rtl="0" algn="l">
              <a:lnSpc>
                <a:spcPct val="115000"/>
              </a:lnSpc>
              <a:spcBef>
                <a:spcPts val="0"/>
              </a:spcBef>
              <a:spcAft>
                <a:spcPts val="0"/>
              </a:spcAft>
              <a:buClr>
                <a:srgbClr val="666666"/>
              </a:buClr>
              <a:buSzPts val="1500"/>
              <a:buChar char="●"/>
            </a:pPr>
            <a:r>
              <a:rPr lang="en">
                <a:solidFill>
                  <a:srgbClr val="666666"/>
                </a:solidFill>
              </a:rPr>
              <a:t>HTTP is the primary protocol used to connect to resources on the web.</a:t>
            </a:r>
            <a:endParaRPr>
              <a:solidFill>
                <a:srgbClr val="666666"/>
              </a:solidFill>
            </a:endParaRPr>
          </a:p>
          <a:p>
            <a:pPr indent="-349250" lvl="0" marL="457200" rtl="0" algn="l">
              <a:lnSpc>
                <a:spcPct val="115000"/>
              </a:lnSpc>
              <a:spcBef>
                <a:spcPts val="0"/>
              </a:spcBef>
              <a:spcAft>
                <a:spcPts val="0"/>
              </a:spcAft>
              <a:buClr>
                <a:srgbClr val="666666"/>
              </a:buClr>
              <a:buSzPts val="1500"/>
              <a:buChar char="●"/>
            </a:pPr>
            <a:r>
              <a:rPr lang="en">
                <a:solidFill>
                  <a:srgbClr val="666666"/>
                </a:solidFill>
              </a:rPr>
              <a:t>It is client initiated, meaning the client always sends a request to start a transaction.</a:t>
            </a:r>
            <a:endParaRPr>
              <a:solidFill>
                <a:srgbClr val="666666"/>
              </a:solidFill>
            </a:endParaRPr>
          </a:p>
          <a:p>
            <a:pPr indent="-349250" lvl="0" marL="457200" rtl="0" algn="l">
              <a:lnSpc>
                <a:spcPct val="115000"/>
              </a:lnSpc>
              <a:spcBef>
                <a:spcPts val="0"/>
              </a:spcBef>
              <a:spcAft>
                <a:spcPts val="0"/>
              </a:spcAft>
              <a:buClr>
                <a:srgbClr val="666666"/>
              </a:buClr>
              <a:buSzPts val="1500"/>
              <a:buChar char="●"/>
            </a:pPr>
            <a:r>
              <a:rPr lang="en">
                <a:solidFill>
                  <a:srgbClr val="666666"/>
                </a:solidFill>
              </a:rPr>
              <a:t>The </a:t>
            </a:r>
            <a:r>
              <a:rPr lang="en">
                <a:solidFill>
                  <a:srgbClr val="666666"/>
                </a:solidFill>
              </a:rPr>
              <a:t>server</a:t>
            </a:r>
            <a:r>
              <a:rPr lang="en">
                <a:solidFill>
                  <a:srgbClr val="666666"/>
                </a:solidFill>
              </a:rPr>
              <a:t> always responds.</a:t>
            </a:r>
            <a:endParaRPr>
              <a:solidFill>
                <a:srgbClr val="666666"/>
              </a:solidFill>
            </a:endParaRPr>
          </a:p>
          <a:p>
            <a:pPr indent="-323850" lvl="1" marL="914400" rtl="0" algn="l">
              <a:lnSpc>
                <a:spcPct val="115000"/>
              </a:lnSpc>
              <a:spcBef>
                <a:spcPts val="0"/>
              </a:spcBef>
              <a:spcAft>
                <a:spcPts val="0"/>
              </a:spcAft>
              <a:buClr>
                <a:srgbClr val="666666"/>
              </a:buClr>
              <a:buSzPts val="1500"/>
              <a:buChar char="○"/>
            </a:pPr>
            <a:r>
              <a:rPr lang="en">
                <a:solidFill>
                  <a:srgbClr val="666666"/>
                </a:solidFill>
              </a:rPr>
              <a:t>Even if the response is, "I don't know what to do"</a:t>
            </a:r>
            <a:endParaRPr>
              <a:solidFill>
                <a:srgbClr val="666666"/>
              </a:solidFill>
            </a:endParaRPr>
          </a:p>
          <a:p>
            <a:pPr indent="-323850" lvl="0" marL="457200" rtl="0" algn="l">
              <a:lnSpc>
                <a:spcPct val="115000"/>
              </a:lnSpc>
              <a:spcBef>
                <a:spcPts val="0"/>
              </a:spcBef>
              <a:spcAft>
                <a:spcPts val="0"/>
              </a:spcAft>
              <a:buClr>
                <a:srgbClr val="666666"/>
              </a:buClr>
              <a:buSzPts val="1500"/>
              <a:buChar char="●"/>
            </a:pPr>
            <a:r>
              <a:rPr lang="en">
                <a:solidFill>
                  <a:srgbClr val="666666"/>
                </a:solidFill>
              </a:rPr>
              <a:t>The server will never send unsolicited/ asynchronous messages to the client .</a:t>
            </a:r>
            <a:endParaRPr>
              <a:solidFill>
                <a:srgbClr val="666666"/>
              </a:solidFill>
            </a:endParaRPr>
          </a:p>
          <a:p>
            <a:pPr indent="-311150" lvl="0" marL="457200" rtl="0" algn="l">
              <a:lnSpc>
                <a:spcPct val="115000"/>
              </a:lnSpc>
              <a:spcBef>
                <a:spcPts val="0"/>
              </a:spcBef>
              <a:spcAft>
                <a:spcPts val="0"/>
              </a:spcAft>
              <a:buClr>
                <a:srgbClr val="666666"/>
              </a:buClr>
              <a:buSzPts val="1300"/>
              <a:buChar char="●"/>
            </a:pPr>
            <a:r>
              <a:rPr lang="en">
                <a:solidFill>
                  <a:srgbClr val="666666"/>
                </a:solidFill>
              </a:rPr>
              <a:t>While there are several </a:t>
            </a:r>
            <a:r>
              <a:rPr lang="en">
                <a:solidFill>
                  <a:srgbClr val="666666"/>
                </a:solidFill>
              </a:rPr>
              <a:t>variants</a:t>
            </a:r>
            <a:r>
              <a:rPr lang="en">
                <a:solidFill>
                  <a:srgbClr val="666666"/>
                </a:solidFill>
              </a:rPr>
              <a:t> we'll only use </a:t>
            </a:r>
            <a:r>
              <a:rPr lang="en">
                <a:solidFill>
                  <a:srgbClr val="666666"/>
                </a:solidFill>
              </a:rPr>
              <a:t>HTTP 1.1</a:t>
            </a:r>
            <a:endParaRPr>
              <a:solidFill>
                <a:srgbClr val="666666"/>
              </a:solidFill>
            </a:endParaRPr>
          </a:p>
          <a:p>
            <a:pPr indent="-298450" lvl="1" marL="914400" rtl="0" algn="l">
              <a:lnSpc>
                <a:spcPct val="115000"/>
              </a:lnSpc>
              <a:spcBef>
                <a:spcPts val="0"/>
              </a:spcBef>
              <a:spcAft>
                <a:spcPts val="0"/>
              </a:spcAft>
              <a:buClr>
                <a:srgbClr val="666666"/>
              </a:buClr>
              <a:buSzPts val="1100"/>
              <a:buChar char="○"/>
            </a:pPr>
            <a:r>
              <a:rPr lang="en">
                <a:solidFill>
                  <a:srgbClr val="666666"/>
                </a:solidFill>
              </a:rPr>
              <a:t>This is probably the most common one in use</a:t>
            </a:r>
            <a:endParaRPr>
              <a:solidFill>
                <a:srgbClr val="666666"/>
              </a:solidFill>
            </a:endParaRPr>
          </a:p>
          <a:p>
            <a:pPr indent="-298450" lvl="1" marL="914400" rtl="0" algn="l">
              <a:lnSpc>
                <a:spcPct val="115000"/>
              </a:lnSpc>
              <a:spcBef>
                <a:spcPts val="0"/>
              </a:spcBef>
              <a:spcAft>
                <a:spcPts val="0"/>
              </a:spcAft>
              <a:buClr>
                <a:srgbClr val="666666"/>
              </a:buClr>
              <a:buSzPts val="1100"/>
              <a:buChar char="○"/>
            </a:pPr>
            <a:r>
              <a:rPr lang="en">
                <a:solidFill>
                  <a:srgbClr val="666666"/>
                </a:solidFill>
              </a:rPr>
              <a:t>It is the only one in use with ASCII fields</a:t>
            </a:r>
            <a:endParaRPr>
              <a:solidFill>
                <a:srgbClr val="666666"/>
              </a:solidFill>
            </a:endParaRPr>
          </a:p>
          <a:p>
            <a:pPr indent="-311150" lvl="0" marL="457200" rtl="0" algn="l">
              <a:lnSpc>
                <a:spcPct val="115000"/>
              </a:lnSpc>
              <a:spcBef>
                <a:spcPts val="0"/>
              </a:spcBef>
              <a:spcAft>
                <a:spcPts val="0"/>
              </a:spcAft>
              <a:buClr>
                <a:srgbClr val="666666"/>
              </a:buClr>
              <a:buSzPts val="1300"/>
              <a:buChar char="●"/>
            </a:pPr>
            <a:r>
              <a:rPr lang="en">
                <a:solidFill>
                  <a:srgbClr val="666666"/>
                </a:solidFill>
              </a:rPr>
              <a:t>HTTP is a simple protocol with only a few possible methods, of which we'll focus on:</a:t>
            </a:r>
            <a:endParaRPr>
              <a:solidFill>
                <a:srgbClr val="666666"/>
              </a:solidFill>
            </a:endParaRPr>
          </a:p>
          <a:p>
            <a:pPr indent="-298450" lvl="1" marL="914400" rtl="0" algn="l">
              <a:lnSpc>
                <a:spcPct val="115000"/>
              </a:lnSpc>
              <a:spcBef>
                <a:spcPts val="0"/>
              </a:spcBef>
              <a:spcAft>
                <a:spcPts val="0"/>
              </a:spcAft>
              <a:buClr>
                <a:srgbClr val="666666"/>
              </a:buClr>
              <a:buSzPts val="1100"/>
              <a:buChar char="○"/>
            </a:pPr>
            <a:r>
              <a:rPr b="1" i="1" lang="en">
                <a:solidFill>
                  <a:srgbClr val="FF0000"/>
                </a:solidFill>
              </a:rPr>
              <a:t>GET</a:t>
            </a:r>
            <a:r>
              <a:rPr lang="en">
                <a:solidFill>
                  <a:srgbClr val="666666"/>
                </a:solidFill>
              </a:rPr>
              <a:t> - Request a resource from the server. Commonly used to get an html web page</a:t>
            </a:r>
            <a:r>
              <a:rPr lang="en">
                <a:solidFill>
                  <a:srgbClr val="666666"/>
                </a:solidFill>
              </a:rPr>
              <a:t>.</a:t>
            </a:r>
            <a:endParaRPr>
              <a:solidFill>
                <a:srgbClr val="666666"/>
              </a:solidFill>
            </a:endParaRPr>
          </a:p>
          <a:p>
            <a:pPr indent="-298450" lvl="1" marL="914400" rtl="0" algn="l">
              <a:lnSpc>
                <a:spcPct val="115000"/>
              </a:lnSpc>
              <a:spcBef>
                <a:spcPts val="0"/>
              </a:spcBef>
              <a:spcAft>
                <a:spcPts val="0"/>
              </a:spcAft>
              <a:buClr>
                <a:srgbClr val="666666"/>
              </a:buClr>
              <a:buSzPts val="1100"/>
              <a:buChar char="○"/>
            </a:pPr>
            <a:r>
              <a:rPr b="1" i="1" lang="en">
                <a:solidFill>
                  <a:srgbClr val="FF0000"/>
                </a:solidFill>
              </a:rPr>
              <a:t>POST</a:t>
            </a:r>
            <a:r>
              <a:rPr lang="en">
                <a:solidFill>
                  <a:srgbClr val="666666"/>
                </a:solidFill>
              </a:rPr>
              <a:t> - Request to process a resource. This involves sending additional data that can be used by the server to manage/change the resource. </a:t>
            </a:r>
            <a:endParaRPr>
              <a:solidFill>
                <a:srgbClr val="666666"/>
              </a:solidFill>
            </a:endParaRPr>
          </a:p>
        </p:txBody>
      </p:sp>
      <p:sp>
        <p:nvSpPr>
          <p:cNvPr id="248" name="Google Shape;248;p34"/>
          <p:cNvSpPr txBox="1"/>
          <p:nvPr/>
        </p:nvSpPr>
        <p:spPr>
          <a:xfrm>
            <a:off x="5154425" y="4209863"/>
            <a:ext cx="3769800" cy="566100"/>
          </a:xfrm>
          <a:prstGeom prst="rect">
            <a:avLst/>
          </a:prstGeom>
          <a:solidFill>
            <a:srgbClr val="FFF2CC"/>
          </a:solidFill>
          <a:ln cap="flat" cmpd="sng" w="19050">
            <a:solidFill>
              <a:srgbClr val="FF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0" marL="0" marR="0" rtl="0" algn="l">
              <a:spcBef>
                <a:spcPts val="0"/>
              </a:spcBef>
              <a:spcAft>
                <a:spcPts val="0"/>
              </a:spcAft>
              <a:buNone/>
            </a:pPr>
            <a:r>
              <a:rPr lang="en" sz="1200">
                <a:solidFill>
                  <a:schemeClr val="dk1"/>
                </a:solidFill>
              </a:rPr>
              <a:t>HTTP is the protocol that is used to connect the word through a web of </a:t>
            </a:r>
            <a:r>
              <a:rPr lang="en" sz="1200">
                <a:solidFill>
                  <a:schemeClr val="dk1"/>
                </a:solidFill>
              </a:rPr>
              <a:t>interconnected computers</a:t>
            </a:r>
            <a:r>
              <a:rPr lang="en" sz="1200">
                <a:solidFill>
                  <a:schemeClr val="dk1"/>
                </a:solidFill>
              </a:rPr>
              <a:t>.</a:t>
            </a:r>
            <a:endParaRPr sz="1200">
              <a:solidFill>
                <a:schemeClr val="dk1"/>
              </a:solidFill>
              <a:latin typeface="Arial"/>
              <a:ea typeface="Arial"/>
              <a:cs typeface="Arial"/>
              <a:sym typeface="Arial"/>
            </a:endParaRPr>
          </a:p>
        </p:txBody>
      </p:sp>
      <p:sp>
        <p:nvSpPr>
          <p:cNvPr id="249" name="Google Shape;249;p3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50" name="Google Shape;250;p34"/>
          <p:cNvPicPr preferRelativeResize="0"/>
          <p:nvPr/>
        </p:nvPicPr>
        <p:blipFill rotWithShape="1">
          <a:blip r:embed="rId3">
            <a:alphaModFix/>
          </a:blip>
          <a:srcRect b="13763" l="5971" r="0" t="0"/>
          <a:stretch/>
        </p:blipFill>
        <p:spPr>
          <a:xfrm>
            <a:off x="5154425" y="1437475"/>
            <a:ext cx="3769799" cy="22551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5"/>
          <p:cNvSpPr txBox="1"/>
          <p:nvPr>
            <p:ph type="title"/>
          </p:nvPr>
        </p:nvSpPr>
        <p:spPr>
          <a:xfrm>
            <a:off x="311725" y="199400"/>
            <a:ext cx="3706500" cy="9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 Message Format</a:t>
            </a:r>
            <a:endParaRPr/>
          </a:p>
          <a:p>
            <a:pPr indent="0" lvl="0" marL="0" rtl="0" algn="l">
              <a:spcBef>
                <a:spcPts val="0"/>
              </a:spcBef>
              <a:spcAft>
                <a:spcPts val="0"/>
              </a:spcAft>
              <a:buNone/>
            </a:pPr>
            <a:r>
              <a:t/>
            </a:r>
            <a:endParaRPr/>
          </a:p>
        </p:txBody>
      </p:sp>
      <p:sp>
        <p:nvSpPr>
          <p:cNvPr id="257" name="Google Shape;257;p35"/>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All HTTP messages </a:t>
            </a:r>
            <a:r>
              <a:rPr lang="en"/>
              <a:t>follow a standard format.</a:t>
            </a:r>
            <a:endParaRPr/>
          </a:p>
          <a:p>
            <a:pPr indent="-311150" lvl="0" marL="457200" rtl="0" algn="l">
              <a:spcBef>
                <a:spcPts val="1000"/>
              </a:spcBef>
              <a:spcAft>
                <a:spcPts val="0"/>
              </a:spcAft>
              <a:buSzPts val="1300"/>
              <a:buChar char="●"/>
            </a:pPr>
            <a:r>
              <a:rPr lang="en"/>
              <a:t>Each message is divided into two main components separated by a blank line.</a:t>
            </a:r>
            <a:endParaRPr/>
          </a:p>
          <a:p>
            <a:pPr indent="-311150" lvl="0" marL="457200" rtl="0" algn="l">
              <a:spcBef>
                <a:spcPts val="1000"/>
              </a:spcBef>
              <a:spcAft>
                <a:spcPts val="0"/>
              </a:spcAft>
              <a:buSzPts val="1300"/>
              <a:buChar char="●"/>
            </a:pPr>
            <a:r>
              <a:rPr b="1" i="1" lang="en">
                <a:solidFill>
                  <a:srgbClr val="FF0000"/>
                </a:solidFill>
              </a:rPr>
              <a:t>Header</a:t>
            </a:r>
            <a:r>
              <a:rPr b="1" i="1" lang="en">
                <a:solidFill>
                  <a:srgbClr val="FF0000"/>
                </a:solidFill>
              </a:rPr>
              <a:t>s </a:t>
            </a:r>
            <a:r>
              <a:rPr lang="en"/>
              <a:t>- Contains metadata about the request/response.</a:t>
            </a:r>
            <a:endParaRPr/>
          </a:p>
          <a:p>
            <a:pPr indent="-298450" lvl="1" marL="914400" rtl="0" algn="l">
              <a:spcBef>
                <a:spcPts val="0"/>
              </a:spcBef>
              <a:spcAft>
                <a:spcPts val="0"/>
              </a:spcAft>
              <a:buSzPts val="1100"/>
              <a:buChar char="○"/>
            </a:pPr>
            <a:r>
              <a:rPr lang="en"/>
              <a:t>Message type</a:t>
            </a:r>
            <a:endParaRPr/>
          </a:p>
          <a:p>
            <a:pPr indent="-298450" lvl="1" marL="914400" rtl="0" algn="l">
              <a:spcBef>
                <a:spcPts val="0"/>
              </a:spcBef>
              <a:spcAft>
                <a:spcPts val="0"/>
              </a:spcAft>
              <a:buSzPts val="1100"/>
              <a:buChar char="○"/>
            </a:pPr>
            <a:r>
              <a:rPr lang="en"/>
              <a:t>Protocol</a:t>
            </a:r>
            <a:endParaRPr/>
          </a:p>
          <a:p>
            <a:pPr indent="-298450" lvl="1" marL="914400" rtl="0" algn="l">
              <a:spcBef>
                <a:spcPts val="0"/>
              </a:spcBef>
              <a:spcAft>
                <a:spcPts val="0"/>
              </a:spcAft>
              <a:buSzPts val="1100"/>
              <a:buChar char="○"/>
            </a:pPr>
            <a:r>
              <a:rPr lang="en"/>
              <a:t>Content type</a:t>
            </a:r>
            <a:endParaRPr/>
          </a:p>
          <a:p>
            <a:pPr indent="-298450" lvl="1" marL="914400" rtl="0" algn="l">
              <a:spcBef>
                <a:spcPts val="0"/>
              </a:spcBef>
              <a:spcAft>
                <a:spcPts val="0"/>
              </a:spcAft>
              <a:buSzPts val="1100"/>
              <a:buChar char="○"/>
            </a:pPr>
            <a:r>
              <a:rPr lang="en"/>
              <a:t>Content length</a:t>
            </a:r>
            <a:endParaRPr/>
          </a:p>
          <a:p>
            <a:pPr indent="-298450" lvl="1" marL="914400" rtl="0" algn="l">
              <a:spcBef>
                <a:spcPts val="0"/>
              </a:spcBef>
              <a:spcAft>
                <a:spcPts val="0"/>
              </a:spcAft>
              <a:buSzPts val="1100"/>
              <a:buChar char="○"/>
            </a:pPr>
            <a:r>
              <a:rPr lang="en"/>
              <a:t>...</a:t>
            </a:r>
            <a:endParaRPr/>
          </a:p>
          <a:p>
            <a:pPr indent="-311150" lvl="0" marL="457200" rtl="0" algn="l">
              <a:spcBef>
                <a:spcPts val="1000"/>
              </a:spcBef>
              <a:spcAft>
                <a:spcPts val="0"/>
              </a:spcAft>
              <a:buSzPts val="1300"/>
              <a:buChar char="●"/>
            </a:pPr>
            <a:r>
              <a:rPr b="1" i="1" lang="en">
                <a:solidFill>
                  <a:srgbClr val="FF0000"/>
                </a:solidFill>
              </a:rPr>
              <a:t>Body </a:t>
            </a:r>
            <a:r>
              <a:rPr lang="en"/>
              <a:t>- Contains any data associated with the message.</a:t>
            </a:r>
            <a:endParaRPr/>
          </a:p>
          <a:p>
            <a:pPr indent="-298450" lvl="1" marL="914400" rtl="0" algn="l">
              <a:spcBef>
                <a:spcPts val="0"/>
              </a:spcBef>
              <a:spcAft>
                <a:spcPts val="0"/>
              </a:spcAft>
              <a:buSzPts val="1100"/>
              <a:buChar char="○"/>
            </a:pPr>
            <a:r>
              <a:rPr lang="en"/>
              <a:t>Format must match the content type in the header</a:t>
            </a:r>
            <a:endParaRPr/>
          </a:p>
          <a:p>
            <a:pPr indent="-298450" lvl="1" marL="914400" rtl="0" algn="l">
              <a:spcBef>
                <a:spcPts val="0"/>
              </a:spcBef>
              <a:spcAft>
                <a:spcPts val="0"/>
              </a:spcAft>
              <a:buSzPts val="1100"/>
              <a:buChar char="○"/>
            </a:pPr>
            <a:r>
              <a:rPr lang="en"/>
              <a:t>Is optional, for example GET requests will not have a body.</a:t>
            </a:r>
            <a:endParaRPr/>
          </a:p>
        </p:txBody>
      </p:sp>
      <p:sp>
        <p:nvSpPr>
          <p:cNvPr id="258" name="Google Shape;258;p35"/>
          <p:cNvSpPr txBox="1"/>
          <p:nvPr>
            <p:ph idx="3" type="body"/>
          </p:nvPr>
        </p:nvSpPr>
        <p:spPr>
          <a:xfrm>
            <a:off x="315425"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above is an abridged version of the HTTP </a:t>
            </a:r>
            <a:r>
              <a:rPr lang="en"/>
              <a:t>request</a:t>
            </a:r>
            <a:r>
              <a:rPr lang="en"/>
              <a:t> for </a:t>
            </a:r>
            <a:r>
              <a:rPr lang="en">
                <a:latin typeface="Courier New"/>
                <a:ea typeface="Courier New"/>
                <a:cs typeface="Courier New"/>
                <a:sym typeface="Courier New"/>
              </a:rPr>
              <a:t>www.se.rit.edu/~gcis-124</a:t>
            </a:r>
            <a:endParaRPr>
              <a:latin typeface="Courier New"/>
              <a:ea typeface="Courier New"/>
              <a:cs typeface="Courier New"/>
              <a:sym typeface="Courier New"/>
            </a:endParaRPr>
          </a:p>
        </p:txBody>
      </p:sp>
      <p:sp>
        <p:nvSpPr>
          <p:cNvPr id="259" name="Google Shape;259;p35"/>
          <p:cNvSpPr txBox="1"/>
          <p:nvPr/>
        </p:nvSpPr>
        <p:spPr>
          <a:xfrm>
            <a:off x="151300" y="1664650"/>
            <a:ext cx="4023300" cy="2216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GET /~gcis-124/calendar_03_2255.html HTTP/1.1</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Accept: text/html</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Accept-Encoding: gzip</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Accept-Language: en-US,en;q=0.9</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DNT: 1</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Host: www.se.rit.edu</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Referer: https://www.se.rit.edu/~gcis-124/</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Sec-Fetch-Dest: document</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Sec-Fetch-Mode: navigate</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Sec-Fetch-Site: same-origin</a:t>
            </a:r>
            <a:endParaRPr sz="12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sz="1200">
                <a:solidFill>
                  <a:srgbClr val="1F1F1F"/>
                </a:solidFill>
                <a:highlight>
                  <a:srgbClr val="FFFFFF"/>
                </a:highlight>
                <a:latin typeface="Consolas"/>
                <a:ea typeface="Consolas"/>
                <a:cs typeface="Consolas"/>
                <a:sym typeface="Consolas"/>
              </a:rPr>
              <a:t>...</a:t>
            </a:r>
            <a:endParaRPr sz="1500">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sz="1200">
              <a:solidFill>
                <a:schemeClr val="dk2"/>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6"/>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Simple GET Request Example</a:t>
            </a:r>
            <a:endParaRPr/>
          </a:p>
        </p:txBody>
      </p:sp>
      <p:sp>
        <p:nvSpPr>
          <p:cNvPr id="265" name="Google Shape;265;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36"/>
          <p:cNvSpPr txBox="1"/>
          <p:nvPr/>
        </p:nvSpPr>
        <p:spPr>
          <a:xfrm>
            <a:off x="3975375" y="1922825"/>
            <a:ext cx="4742100" cy="16755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GET /~gcis-124/calendar_03_2255.html HTTP/1.1</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Accept: text/html</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Accept-Encoding: gzip</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Accept-Language: en-US,en;q=0.9</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Host: www.se.rit.edu</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Referer: https://www.se.rit.edu/~gcis-124/</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a:solidFill>
                <a:schemeClr val="dk2"/>
              </a:solidFill>
              <a:latin typeface="Consolas"/>
              <a:ea typeface="Consolas"/>
              <a:cs typeface="Consolas"/>
              <a:sym typeface="Consolas"/>
            </a:endParaRPr>
          </a:p>
        </p:txBody>
      </p:sp>
      <p:sp>
        <p:nvSpPr>
          <p:cNvPr id="267" name="Google Shape;267;p36"/>
          <p:cNvSpPr txBox="1"/>
          <p:nvPr>
            <p:ph idx="4294967295" type="body"/>
          </p:nvPr>
        </p:nvSpPr>
        <p:spPr>
          <a:xfrm>
            <a:off x="228650" y="1045850"/>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Let's look at abbreviated </a:t>
            </a:r>
            <a:r>
              <a:rPr b="1" i="1" lang="en">
                <a:solidFill>
                  <a:srgbClr val="FF0000"/>
                </a:solidFill>
              </a:rPr>
              <a:t>GET request</a:t>
            </a:r>
            <a:r>
              <a:rPr lang="en">
                <a:solidFill>
                  <a:srgbClr val="000000"/>
                </a:solidFill>
              </a:rPr>
              <a:t> for our course page (se.rit.edu/~gcis-124) </a:t>
            </a:r>
            <a:endParaRPr>
              <a:solidFill>
                <a:srgbClr val="000000"/>
              </a:solidFill>
            </a:endParaRPr>
          </a:p>
        </p:txBody>
      </p:sp>
      <p:sp>
        <p:nvSpPr>
          <p:cNvPr id="268" name="Google Shape;268;p36"/>
          <p:cNvSpPr txBox="1"/>
          <p:nvPr>
            <p:ph idx="4294967295" type="body"/>
          </p:nvPr>
        </p:nvSpPr>
        <p:spPr>
          <a:xfrm>
            <a:off x="228650" y="1922825"/>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Message </a:t>
            </a:r>
            <a:r>
              <a:rPr lang="en">
                <a:solidFill>
                  <a:srgbClr val="000000"/>
                </a:solidFill>
              </a:rPr>
              <a:t>type</a:t>
            </a:r>
            <a:r>
              <a:rPr lang="en">
                <a:solidFill>
                  <a:srgbClr val="000000"/>
                </a:solidFill>
              </a:rPr>
              <a:t>, requested resource, and protocol are on the first line.</a:t>
            </a:r>
            <a:r>
              <a:rPr lang="en">
                <a:solidFill>
                  <a:srgbClr val="000000"/>
                </a:solidFill>
              </a:rPr>
              <a:t> </a:t>
            </a:r>
            <a:endParaRPr>
              <a:solidFill>
                <a:srgbClr val="000000"/>
              </a:solidFill>
            </a:endParaRPr>
          </a:p>
        </p:txBody>
      </p:sp>
      <p:sp>
        <p:nvSpPr>
          <p:cNvPr id="269" name="Google Shape;269;p36"/>
          <p:cNvSpPr/>
          <p:nvPr/>
        </p:nvSpPr>
        <p:spPr>
          <a:xfrm>
            <a:off x="4027175" y="2012075"/>
            <a:ext cx="4569600" cy="219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270" name="Google Shape;270;p36"/>
          <p:cNvCxnSpPr>
            <a:stCxn id="268" idx="3"/>
            <a:endCxn id="269" idx="1"/>
          </p:cNvCxnSpPr>
          <p:nvPr/>
        </p:nvCxnSpPr>
        <p:spPr>
          <a:xfrm flipH="1" rot="10800000">
            <a:off x="3385250" y="2121575"/>
            <a:ext cx="642000" cy="113100"/>
          </a:xfrm>
          <a:prstGeom prst="bentConnector3">
            <a:avLst>
              <a:gd fmla="val 49994" name="adj1"/>
            </a:avLst>
          </a:prstGeom>
          <a:noFill/>
          <a:ln cap="flat" cmpd="sng" w="19050">
            <a:solidFill>
              <a:srgbClr val="FF0000"/>
            </a:solidFill>
            <a:prstDash val="solid"/>
            <a:round/>
            <a:headEnd len="med" w="med" type="none"/>
            <a:tailEnd len="med" w="med" type="none"/>
          </a:ln>
        </p:spPr>
      </p:cxnSp>
      <p:sp>
        <p:nvSpPr>
          <p:cNvPr id="271" name="Google Shape;271;p36"/>
          <p:cNvSpPr txBox="1"/>
          <p:nvPr>
            <p:ph idx="4294967295" type="body"/>
          </p:nvPr>
        </p:nvSpPr>
        <p:spPr>
          <a:xfrm>
            <a:off x="228650" y="2799800"/>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The rest of the lines are all header fields in the format </a:t>
            </a:r>
            <a:r>
              <a:rPr b="1" lang="en">
                <a:solidFill>
                  <a:srgbClr val="FF0000"/>
                </a:solidFill>
                <a:latin typeface="Courier New"/>
                <a:ea typeface="Courier New"/>
                <a:cs typeface="Courier New"/>
                <a:sym typeface="Courier New"/>
              </a:rPr>
              <a:t>Field: value</a:t>
            </a:r>
            <a:r>
              <a:rPr lang="en">
                <a:solidFill>
                  <a:srgbClr val="000000"/>
                </a:solidFill>
              </a:rPr>
              <a:t>. </a:t>
            </a:r>
            <a:endParaRPr>
              <a:solidFill>
                <a:srgbClr val="000000"/>
              </a:solidFill>
            </a:endParaRPr>
          </a:p>
        </p:txBody>
      </p:sp>
      <p:sp>
        <p:nvSpPr>
          <p:cNvPr id="272" name="Google Shape;272;p36"/>
          <p:cNvSpPr txBox="1"/>
          <p:nvPr>
            <p:ph idx="4294967295" type="body"/>
          </p:nvPr>
        </p:nvSpPr>
        <p:spPr>
          <a:xfrm>
            <a:off x="228650" y="3676775"/>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The header is terminated with a </a:t>
            </a:r>
            <a:r>
              <a:rPr b="1" i="1" lang="en">
                <a:solidFill>
                  <a:srgbClr val="FF0000"/>
                </a:solidFill>
              </a:rPr>
              <a:t>blank line</a:t>
            </a:r>
            <a:r>
              <a:rPr lang="en">
                <a:solidFill>
                  <a:srgbClr val="000000"/>
                </a:solidFill>
              </a:rPr>
              <a:t>.</a:t>
            </a:r>
            <a:endParaRPr>
              <a:solidFill>
                <a:srgbClr val="000000"/>
              </a:solidFill>
            </a:endParaRPr>
          </a:p>
        </p:txBody>
      </p:sp>
      <p:sp>
        <p:nvSpPr>
          <p:cNvPr id="273" name="Google Shape;273;p36"/>
          <p:cNvSpPr/>
          <p:nvPr/>
        </p:nvSpPr>
        <p:spPr>
          <a:xfrm>
            <a:off x="4061625" y="3337650"/>
            <a:ext cx="4569600" cy="219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274" name="Google Shape;274;p36"/>
          <p:cNvCxnSpPr>
            <a:stCxn id="272" idx="3"/>
            <a:endCxn id="273" idx="1"/>
          </p:cNvCxnSpPr>
          <p:nvPr/>
        </p:nvCxnSpPr>
        <p:spPr>
          <a:xfrm flipH="1" rot="10800000">
            <a:off x="3385250" y="3447125"/>
            <a:ext cx="676500" cy="541500"/>
          </a:xfrm>
          <a:prstGeom prst="bentConnector3">
            <a:avLst>
              <a:gd fmla="val 49991" name="adj1"/>
            </a:avLst>
          </a:prstGeom>
          <a:noFill/>
          <a:ln cap="flat" cmpd="sng" w="19050">
            <a:solidFill>
              <a:srgbClr val="CC0000"/>
            </a:solidFill>
            <a:prstDash val="solid"/>
            <a:round/>
            <a:headEnd len="med" w="med" type="none"/>
            <a:tailEnd len="med" w="med" type="none"/>
          </a:ln>
        </p:spPr>
      </p:cxnSp>
      <p:sp>
        <p:nvSpPr>
          <p:cNvPr id="275" name="Google Shape;275;p36"/>
          <p:cNvSpPr txBox="1"/>
          <p:nvPr>
            <p:ph idx="4294967295" type="body"/>
          </p:nvPr>
        </p:nvSpPr>
        <p:spPr>
          <a:xfrm>
            <a:off x="3975375" y="4089000"/>
            <a:ext cx="4742100" cy="39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Most GET requests will </a:t>
            </a:r>
            <a:r>
              <a:rPr b="1" lang="en">
                <a:solidFill>
                  <a:srgbClr val="000000"/>
                </a:solidFill>
              </a:rPr>
              <a:t>not</a:t>
            </a:r>
            <a:r>
              <a:rPr lang="en">
                <a:solidFill>
                  <a:srgbClr val="000000"/>
                </a:solidFill>
              </a:rPr>
              <a:t> have a body section.</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37"/>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New"/>
                <a:ea typeface="Courier New"/>
                <a:cs typeface="Courier New"/>
                <a:sym typeface="Courier New"/>
              </a:rPr>
              <a:t>HttpStream</a:t>
            </a:r>
            <a:endParaRPr>
              <a:latin typeface="Courier New"/>
              <a:ea typeface="Courier New"/>
              <a:cs typeface="Courier New"/>
              <a:sym typeface="Courier New"/>
            </a:endParaRPr>
          </a:p>
        </p:txBody>
      </p:sp>
      <p:sp>
        <p:nvSpPr>
          <p:cNvPr id="282" name="Google Shape;282;p3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As we saw in the last unit, socket based streams only complete when the stream is closed</a:t>
            </a:r>
            <a:endParaRPr/>
          </a:p>
          <a:p>
            <a:pPr indent="-298450" lvl="1" marL="914400" rtl="0" algn="l">
              <a:spcBef>
                <a:spcPts val="0"/>
              </a:spcBef>
              <a:spcAft>
                <a:spcPts val="0"/>
              </a:spcAft>
              <a:buSzPts val="1100"/>
              <a:buChar char="○"/>
            </a:pPr>
            <a:r>
              <a:rPr lang="en"/>
              <a:t>We worked </a:t>
            </a:r>
            <a:r>
              <a:rPr lang="en"/>
              <a:t>around it by closing the input or output stream</a:t>
            </a:r>
            <a:endParaRPr/>
          </a:p>
          <a:p>
            <a:pPr indent="-298450" lvl="1" marL="914400" rtl="0" algn="l">
              <a:spcBef>
                <a:spcPts val="0"/>
              </a:spcBef>
              <a:spcAft>
                <a:spcPts val="0"/>
              </a:spcAft>
              <a:buSzPts val="1100"/>
              <a:buChar char="○"/>
            </a:pPr>
            <a:r>
              <a:rPr lang="en"/>
              <a:t>This won't work from HTTP where your web browser is normally the client</a:t>
            </a:r>
            <a:endParaRPr/>
          </a:p>
          <a:p>
            <a:pPr indent="-311150" lvl="0" marL="457200" rtl="0" algn="l">
              <a:spcBef>
                <a:spcPts val="1000"/>
              </a:spcBef>
              <a:spcAft>
                <a:spcPts val="0"/>
              </a:spcAft>
              <a:buSzPts val="1300"/>
              <a:buChar char="●"/>
            </a:pPr>
            <a:r>
              <a:rPr lang="en"/>
              <a:t>Faculty wrote a utility to make working with HTTP data as a stream easier.</a:t>
            </a:r>
            <a:endParaRPr/>
          </a:p>
          <a:p>
            <a:pPr indent="-298450" lvl="1" marL="914400" rtl="0" algn="l">
              <a:spcBef>
                <a:spcPts val="0"/>
              </a:spcBef>
              <a:spcAft>
                <a:spcPts val="0"/>
              </a:spcAft>
              <a:buSzPts val="1100"/>
              <a:buChar char="○"/>
            </a:pPr>
            <a:r>
              <a:rPr lang="en"/>
              <a:t>This is not part of the standard library</a:t>
            </a:r>
            <a:endParaRPr/>
          </a:p>
          <a:p>
            <a:pPr indent="-298450" lvl="1" marL="914400" rtl="0" algn="l">
              <a:spcBef>
                <a:spcPts val="0"/>
              </a:spcBef>
              <a:spcAft>
                <a:spcPts val="0"/>
              </a:spcAft>
              <a:buSzPts val="1100"/>
              <a:buChar char="○"/>
            </a:pPr>
            <a:r>
              <a:rPr lang="en"/>
              <a:t>Basically it makes a stream that completes on a blank line</a:t>
            </a:r>
            <a:endParaRPr/>
          </a:p>
          <a:p>
            <a:pPr indent="-311150" lvl="0" marL="457200" rtl="0" algn="l">
              <a:spcBef>
                <a:spcPts val="1000"/>
              </a:spcBef>
              <a:spcAft>
                <a:spcPts val="0"/>
              </a:spcAft>
              <a:buSzPts val="1300"/>
              <a:buChar char="●"/>
            </a:pPr>
            <a:r>
              <a:rPr lang="en"/>
              <a:t>It has a very simple interface:</a:t>
            </a:r>
            <a:endParaRPr/>
          </a:p>
          <a:p>
            <a:pPr indent="-298450" lvl="1" marL="914400" rtl="0" algn="l">
              <a:spcBef>
                <a:spcPts val="0"/>
              </a:spcBef>
              <a:spcAft>
                <a:spcPts val="0"/>
              </a:spcAft>
              <a:buSzPts val="1100"/>
              <a:buChar char="○"/>
            </a:pPr>
            <a:r>
              <a:rPr b="1" i="1" lang="en">
                <a:solidFill>
                  <a:srgbClr val="FF0000"/>
                </a:solidFill>
              </a:rPr>
              <a:t>constructor </a:t>
            </a:r>
            <a:r>
              <a:rPr lang="en"/>
              <a:t>- takes an input stream</a:t>
            </a:r>
            <a:endParaRPr/>
          </a:p>
          <a:p>
            <a:pPr indent="-298450" lvl="1" marL="914400" rtl="0" algn="l">
              <a:spcBef>
                <a:spcPts val="0"/>
              </a:spcBef>
              <a:spcAft>
                <a:spcPts val="0"/>
              </a:spcAft>
              <a:buSzPts val="1100"/>
              <a:buChar char="○"/>
            </a:pPr>
            <a:r>
              <a:rPr b="1" i="1" lang="en">
                <a:solidFill>
                  <a:srgbClr val="FF0000"/>
                </a:solidFill>
              </a:rPr>
              <a:t>lines()</a:t>
            </a:r>
            <a:r>
              <a:rPr lang="en"/>
              <a:t> - returns a </a:t>
            </a:r>
            <a:r>
              <a:rPr lang="en">
                <a:latin typeface="Courier New"/>
                <a:ea typeface="Courier New"/>
                <a:cs typeface="Courier New"/>
                <a:sym typeface="Courier New"/>
              </a:rPr>
              <a:t>Stream&lt;String&gt;</a:t>
            </a:r>
            <a:r>
              <a:rPr lang="en"/>
              <a:t> of the lines in the message up to a blank line</a:t>
            </a:r>
            <a:endParaRPr/>
          </a:p>
          <a:p>
            <a:pPr indent="-298450" lvl="1" marL="914400" rtl="0" algn="l">
              <a:spcBef>
                <a:spcPts val="0"/>
              </a:spcBef>
              <a:spcAft>
                <a:spcPts val="0"/>
              </a:spcAft>
              <a:buSzPts val="1100"/>
              <a:buChar char="○"/>
            </a:pPr>
            <a:r>
              <a:rPr b="1" i="1" lang="en">
                <a:solidFill>
                  <a:srgbClr val="FF0000"/>
                </a:solidFill>
              </a:rPr>
              <a:t>readline()</a:t>
            </a:r>
            <a:r>
              <a:rPr lang="en"/>
              <a:t> - returns the next line in the message</a:t>
            </a:r>
            <a:endParaRPr/>
          </a:p>
          <a:p>
            <a:pPr indent="-298450" lvl="1" marL="914400" rtl="0" algn="l">
              <a:spcBef>
                <a:spcPts val="0"/>
              </a:spcBef>
              <a:spcAft>
                <a:spcPts val="0"/>
              </a:spcAft>
              <a:buSzPts val="1100"/>
              <a:buChar char="○"/>
            </a:pPr>
            <a:r>
              <a:rPr b="1" i="1" lang="en">
                <a:solidFill>
                  <a:srgbClr val="FF0000"/>
                </a:solidFill>
              </a:rPr>
              <a:t>readChars(n)</a:t>
            </a:r>
            <a:r>
              <a:rPr lang="en"/>
              <a:t> - returns up to the next n chars as a string.</a:t>
            </a:r>
            <a:endParaRPr/>
          </a:p>
          <a:p>
            <a:pPr indent="-298450" lvl="1" marL="914400" rtl="0" algn="l">
              <a:spcBef>
                <a:spcPts val="0"/>
              </a:spcBef>
              <a:spcAft>
                <a:spcPts val="0"/>
              </a:spcAft>
              <a:buSzPts val="1100"/>
              <a:buChar char="○"/>
            </a:pPr>
            <a:r>
              <a:rPr b="1" i="1" lang="en">
                <a:solidFill>
                  <a:srgbClr val="FF0000"/>
                </a:solidFill>
              </a:rPr>
              <a:t>close()</a:t>
            </a:r>
            <a:r>
              <a:rPr lang="en"/>
              <a:t> - closes the input stream</a:t>
            </a:r>
            <a:endParaRPr/>
          </a:p>
        </p:txBody>
      </p:sp>
      <p:sp>
        <p:nvSpPr>
          <p:cNvPr id="283" name="Google Shape;283;p37"/>
          <p:cNvSpPr txBox="1"/>
          <p:nvPr>
            <p:ph idx="2" type="body"/>
          </p:nvPr>
        </p:nvSpPr>
        <p:spPr>
          <a:xfrm>
            <a:off x="5192225" y="1286175"/>
            <a:ext cx="3706500" cy="23499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267F99"/>
                </a:solidFill>
                <a:highlight>
                  <a:srgbClr val="FFFFFF"/>
                </a:highlight>
                <a:latin typeface="Consolas"/>
                <a:ea typeface="Consolas"/>
                <a:cs typeface="Consolas"/>
                <a:sym typeface="Consolas"/>
              </a:rPr>
              <a:t>ServerSocket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serverSocket</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795E26"/>
                </a:solidFill>
                <a:highlight>
                  <a:srgbClr val="FFFFFF"/>
                </a:highlight>
                <a:latin typeface="Consolas"/>
                <a:ea typeface="Consolas"/>
                <a:cs typeface="Consolas"/>
                <a:sym typeface="Consolas"/>
              </a:rPr>
              <a:t>                            ServerSocket</a:t>
            </a:r>
            <a:r>
              <a:rPr lang="en" sz="1050">
                <a:solidFill>
                  <a:srgbClr val="3B3B3B"/>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8001</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267F99"/>
                </a:solidFill>
                <a:highlight>
                  <a:srgbClr val="FFFFFF"/>
                </a:highlight>
                <a:latin typeface="Consolas"/>
                <a:ea typeface="Consolas"/>
                <a:cs typeface="Consolas"/>
                <a:sym typeface="Consolas"/>
              </a:rPr>
              <a:t>Socket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clientSocket</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serverSocket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accept</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AF00DB"/>
                </a:solidFill>
                <a:highlight>
                  <a:srgbClr val="FFFFFF"/>
                </a:highlight>
                <a:latin typeface="Consolas"/>
                <a:ea typeface="Consolas"/>
                <a:cs typeface="Consolas"/>
                <a:sym typeface="Consolas"/>
              </a:rPr>
              <a:t>try</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HttpStream</a:t>
            </a: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streamer</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HttpStream</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1080"/>
                </a:solidFill>
                <a:highlight>
                  <a:srgbClr val="FFFFFF"/>
                </a:highlight>
                <a:latin typeface="Consolas"/>
                <a:ea typeface="Consolas"/>
                <a:cs typeface="Consolas"/>
                <a:sym typeface="Consolas"/>
              </a:rPr>
              <a:t>              clientSocket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getInputStream</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0070C1"/>
                </a:solidFill>
                <a:highlight>
                  <a:srgbClr val="FFFFFF"/>
                </a:highlight>
                <a:latin typeface="Consolas"/>
                <a:ea typeface="Consolas"/>
                <a:cs typeface="Consolas"/>
                <a:sym typeface="Consolas"/>
              </a:rPr>
              <a:t>streamer</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lines</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forEach</a:t>
            </a:r>
            <a:r>
              <a:rPr lang="en" sz="1050">
                <a:solidFill>
                  <a:srgbClr val="3B3B3B"/>
                </a:solidFill>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AF00D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catch</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IOException</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err</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"ERROR: "</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getMessage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1080"/>
                </a:solidFill>
                <a:highlight>
                  <a:srgbClr val="FFFFFF"/>
                </a:highlight>
                <a:latin typeface="Consolas"/>
                <a:ea typeface="Consolas"/>
                <a:cs typeface="Consolas"/>
                <a:sym typeface="Consolas"/>
              </a:rPr>
              <a:t>serverSocket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close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a:p>
        </p:txBody>
      </p:sp>
      <p:sp>
        <p:nvSpPr>
          <p:cNvPr id="284" name="Google Shape;284;p37"/>
          <p:cNvSpPr txBox="1"/>
          <p:nvPr>
            <p:ph idx="3" type="body"/>
          </p:nvPr>
        </p:nvSpPr>
        <p:spPr>
          <a:xfrm>
            <a:off x="5192225"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t>
            </a:r>
            <a:r>
              <a:rPr lang="en">
                <a:latin typeface="Courier New"/>
                <a:ea typeface="Courier New"/>
                <a:cs typeface="Courier New"/>
                <a:sym typeface="Courier New"/>
              </a:rPr>
              <a:t>HttpStream</a:t>
            </a:r>
            <a:r>
              <a:rPr lang="en"/>
              <a:t> class allows you to work with socket input streams the same way as files by using the </a:t>
            </a:r>
            <a:r>
              <a:rPr lang="en">
                <a:solidFill>
                  <a:srgbClr val="FF0000"/>
                </a:solidFill>
                <a:latin typeface="Courier New"/>
                <a:ea typeface="Courier New"/>
                <a:cs typeface="Courier New"/>
                <a:sym typeface="Courier New"/>
              </a:rPr>
              <a:t>lines()</a:t>
            </a:r>
            <a:r>
              <a:rPr lang="en"/>
              <a:t> method.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38"/>
          <p:cNvSpPr txBox="1"/>
          <p:nvPr>
            <p:ph type="title"/>
          </p:nvPr>
        </p:nvSpPr>
        <p:spPr>
          <a:xfrm>
            <a:off x="1436850" y="8749"/>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GETting Our First Message</a:t>
            </a:r>
            <a:endParaRPr/>
          </a:p>
        </p:txBody>
      </p:sp>
      <p:sp>
        <p:nvSpPr>
          <p:cNvPr id="291" name="Google Shape;291;p3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we've learned a little bit about HTTP messages, let's try reading a simple GET request. You can use your browser as the client and we'll write a small program using the </a:t>
            </a:r>
            <a:r>
              <a:rPr lang="en"/>
              <a:t>HttpStream</a:t>
            </a:r>
            <a:r>
              <a:rPr lang="en"/>
              <a:t> to read the request.</a:t>
            </a:r>
            <a:endParaRPr/>
          </a:p>
        </p:txBody>
      </p:sp>
      <p:sp>
        <p:nvSpPr>
          <p:cNvPr id="292" name="Google Shape;292;p38"/>
          <p:cNvSpPr txBox="1"/>
          <p:nvPr>
            <p:ph idx="4" type="body"/>
          </p:nvPr>
        </p:nvSpPr>
        <p:spPr>
          <a:xfrm>
            <a:off x="141600" y="4156900"/>
            <a:ext cx="35382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Your browser will give an </a:t>
            </a:r>
            <a:r>
              <a:rPr b="1" i="1" lang="en">
                <a:solidFill>
                  <a:srgbClr val="FF0000"/>
                </a:solidFill>
              </a:rPr>
              <a:t>error </a:t>
            </a:r>
            <a:r>
              <a:rPr lang="en"/>
              <a:t>for this activity because we didn't send a response but you should be able to see the request message. </a:t>
            </a:r>
            <a:endParaRPr/>
          </a:p>
        </p:txBody>
      </p:sp>
      <p:sp>
        <p:nvSpPr>
          <p:cNvPr id="293" name="Google Shape;293;p38"/>
          <p:cNvSpPr txBox="1"/>
          <p:nvPr>
            <p:ph idx="2" type="body"/>
          </p:nvPr>
        </p:nvSpPr>
        <p:spPr>
          <a:xfrm>
            <a:off x="3679800" y="1729125"/>
            <a:ext cx="5261400" cy="2867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a:t>
            </a:r>
            <a:r>
              <a:rPr lang="en"/>
              <a:t> a new </a:t>
            </a:r>
            <a:r>
              <a:rPr lang="en">
                <a:solidFill>
                  <a:srgbClr val="FF0000"/>
                </a:solidFill>
                <a:latin typeface="Courier New"/>
                <a:ea typeface="Courier New"/>
                <a:cs typeface="Courier New"/>
                <a:sym typeface="Courier New"/>
              </a:rPr>
              <a:t>activities</a:t>
            </a:r>
            <a:r>
              <a:rPr lang="en"/>
              <a:t> package and class named </a:t>
            </a:r>
            <a:r>
              <a:rPr lang="en">
                <a:solidFill>
                  <a:srgbClr val="FF0000"/>
                </a:solidFill>
                <a:latin typeface="Courier New"/>
                <a:ea typeface="Courier New"/>
                <a:cs typeface="Courier New"/>
                <a:sym typeface="Courier New"/>
              </a:rPr>
              <a:t>GetRequest</a:t>
            </a:r>
            <a:r>
              <a:rPr lang="en"/>
              <a:t> inside it.</a:t>
            </a:r>
            <a:endParaRPr/>
          </a:p>
          <a:p>
            <a:pPr indent="-311150" lvl="0" marL="457200" rtl="0" algn="l">
              <a:spcBef>
                <a:spcPts val="1000"/>
              </a:spcBef>
              <a:spcAft>
                <a:spcPts val="0"/>
              </a:spcAft>
              <a:buSzPts val="1300"/>
              <a:buChar char="●"/>
            </a:pPr>
            <a:r>
              <a:rPr lang="en"/>
              <a:t>In </a:t>
            </a:r>
            <a:r>
              <a:rPr lang="en">
                <a:latin typeface="Courier New"/>
                <a:ea typeface="Courier New"/>
                <a:cs typeface="Courier New"/>
                <a:sym typeface="Courier New"/>
              </a:rPr>
              <a:t>main</a:t>
            </a:r>
            <a:r>
              <a:rPr lang="en"/>
              <a:t>, create a </a:t>
            </a:r>
            <a:r>
              <a:rPr b="1" i="1" lang="en">
                <a:solidFill>
                  <a:srgbClr val="FF0000"/>
                </a:solidFill>
              </a:rPr>
              <a:t>server socket</a:t>
            </a:r>
            <a:r>
              <a:rPr lang="en">
                <a:solidFill>
                  <a:srgbClr val="666666"/>
                </a:solidFill>
              </a:rPr>
              <a:t> </a:t>
            </a:r>
            <a:r>
              <a:rPr lang="en"/>
              <a:t>on port</a:t>
            </a:r>
            <a:r>
              <a:rPr lang="en">
                <a:solidFill>
                  <a:srgbClr val="666666"/>
                </a:solidFill>
              </a:rPr>
              <a:t> </a:t>
            </a:r>
            <a:r>
              <a:rPr lang="en">
                <a:solidFill>
                  <a:srgbClr val="FF0000"/>
                </a:solidFill>
                <a:latin typeface="Courier New"/>
                <a:ea typeface="Courier New"/>
                <a:cs typeface="Courier New"/>
                <a:sym typeface="Courier New"/>
              </a:rPr>
              <a:t>8081</a:t>
            </a:r>
            <a:r>
              <a:rPr lang="en"/>
              <a:t>.</a:t>
            </a:r>
            <a:endParaRPr/>
          </a:p>
          <a:p>
            <a:pPr indent="-311150" lvl="0" marL="457200" rtl="0" algn="l">
              <a:spcBef>
                <a:spcPts val="1000"/>
              </a:spcBef>
              <a:spcAft>
                <a:spcPts val="0"/>
              </a:spcAft>
              <a:buSzPts val="1300"/>
              <a:buChar char="●"/>
            </a:pPr>
            <a:r>
              <a:rPr b="1" i="1" lang="en">
                <a:solidFill>
                  <a:srgbClr val="FF0000"/>
                </a:solidFill>
              </a:rPr>
              <a:t>Accept</a:t>
            </a:r>
            <a:r>
              <a:rPr lang="en"/>
              <a:t> a connection using a standard </a:t>
            </a:r>
            <a:r>
              <a:rPr b="1" i="1" lang="en">
                <a:solidFill>
                  <a:srgbClr val="FF0000"/>
                </a:solidFill>
              </a:rPr>
              <a:t>socket</a:t>
            </a:r>
            <a:r>
              <a:rPr lang="en"/>
              <a:t>.</a:t>
            </a:r>
            <a:endParaRPr/>
          </a:p>
          <a:p>
            <a:pPr indent="-311150" lvl="0" marL="457200" rtl="0" algn="l">
              <a:spcBef>
                <a:spcPts val="1000"/>
              </a:spcBef>
              <a:spcAft>
                <a:spcPts val="0"/>
              </a:spcAft>
              <a:buSzPts val="1300"/>
              <a:buChar char="●"/>
            </a:pPr>
            <a:r>
              <a:rPr lang="en"/>
              <a:t>Using the </a:t>
            </a:r>
            <a:r>
              <a:rPr lang="en">
                <a:solidFill>
                  <a:srgbClr val="FF0000"/>
                </a:solidFill>
                <a:latin typeface="Courier New"/>
                <a:ea typeface="Courier New"/>
                <a:cs typeface="Courier New"/>
                <a:sym typeface="Courier New"/>
              </a:rPr>
              <a:t>HttpStream</a:t>
            </a:r>
            <a:r>
              <a:rPr lang="en"/>
              <a:t> class, print out each line in the </a:t>
            </a:r>
            <a:r>
              <a:rPr lang="en"/>
              <a:t>request</a:t>
            </a:r>
            <a:r>
              <a:rPr lang="en"/>
              <a:t> message.</a:t>
            </a:r>
            <a:endParaRPr/>
          </a:p>
          <a:p>
            <a:pPr indent="-311150" lvl="0" marL="457200" rtl="0" algn="l">
              <a:spcBef>
                <a:spcPts val="1000"/>
              </a:spcBef>
              <a:spcAft>
                <a:spcPts val="0"/>
              </a:spcAft>
              <a:buSzPts val="1300"/>
              <a:buChar char="●"/>
            </a:pPr>
            <a:r>
              <a:rPr lang="en"/>
              <a:t>Run your program. In a web browser of your choice, navigate to </a:t>
            </a:r>
            <a:r>
              <a:rPr lang="en">
                <a:solidFill>
                  <a:srgbClr val="FF0000"/>
                </a:solidFill>
                <a:latin typeface="Courier New"/>
                <a:ea typeface="Courier New"/>
                <a:cs typeface="Courier New"/>
                <a:sym typeface="Courier New"/>
              </a:rPr>
              <a:t>localhost:8081</a:t>
            </a:r>
            <a:endParaRPr>
              <a:solidFill>
                <a:srgbClr val="FF0000"/>
              </a:solidFill>
              <a:latin typeface="Courier New"/>
              <a:ea typeface="Courier New"/>
              <a:cs typeface="Courier New"/>
              <a:sym typeface="Courier New"/>
            </a:endParaRPr>
          </a:p>
          <a:p>
            <a:pPr indent="-311150" lvl="0" marL="457200" rtl="0" algn="l">
              <a:spcBef>
                <a:spcPts val="1000"/>
              </a:spcBef>
              <a:spcAft>
                <a:spcPts val="0"/>
              </a:spcAft>
              <a:buSzPts val="1300"/>
              <a:buChar char="●"/>
            </a:pPr>
            <a:r>
              <a:rPr lang="en"/>
              <a:t>Verify a GET message was printed in your terminal.</a:t>
            </a:r>
            <a:endParaRPr/>
          </a:p>
        </p:txBody>
      </p:sp>
      <p:sp>
        <p:nvSpPr>
          <p:cNvPr id="294" name="Google Shape;294;p3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a:t>
            </a:r>
            <a:endParaRPr/>
          </a:p>
        </p:txBody>
      </p:sp>
      <p:sp>
        <p:nvSpPr>
          <p:cNvPr id="295" name="Google Shape;295;p38"/>
          <p:cNvSpPr txBox="1"/>
          <p:nvPr>
            <p:ph idx="4" type="body"/>
          </p:nvPr>
        </p:nvSpPr>
        <p:spPr>
          <a:xfrm>
            <a:off x="141600" y="1729125"/>
            <a:ext cx="3538200" cy="2218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ServerSocket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serverSocket</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new</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795E26"/>
                </a:solidFill>
                <a:highlight>
                  <a:srgbClr val="FFFFFF"/>
                </a:highlight>
                <a:latin typeface="Consolas"/>
                <a:ea typeface="Consolas"/>
                <a:cs typeface="Consolas"/>
                <a:sym typeface="Consolas"/>
              </a:rPr>
              <a:t>                            ServerSocket</a:t>
            </a:r>
            <a:r>
              <a:rPr lang="en" sz="1000">
                <a:solidFill>
                  <a:srgbClr val="3B3B3B"/>
                </a:solidFill>
                <a:highlight>
                  <a:srgbClr val="FFFFFF"/>
                </a:highlight>
                <a:latin typeface="Consolas"/>
                <a:ea typeface="Consolas"/>
                <a:cs typeface="Consolas"/>
                <a:sym typeface="Consolas"/>
              </a:rPr>
              <a:t>(</a:t>
            </a:r>
            <a:r>
              <a:rPr lang="en" sz="1000">
                <a:solidFill>
                  <a:srgbClr val="098658"/>
                </a:solidFill>
                <a:highlight>
                  <a:srgbClr val="FFFFFF"/>
                </a:highlight>
                <a:latin typeface="Consolas"/>
                <a:ea typeface="Consolas"/>
                <a:cs typeface="Consolas"/>
                <a:sym typeface="Consolas"/>
              </a:rPr>
              <a:t>8001</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Socket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clientSocket</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serverSocket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accept</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AF00DB"/>
                </a:solidFill>
                <a:highlight>
                  <a:srgbClr val="FFFFFF"/>
                </a:highlight>
                <a:latin typeface="Consolas"/>
                <a:ea typeface="Consolas"/>
                <a:cs typeface="Consolas"/>
                <a:sym typeface="Consolas"/>
              </a:rPr>
              <a:t>try</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HttpStream</a:t>
            </a:r>
            <a:r>
              <a:rPr lang="en" sz="1000">
                <a:solidFill>
                  <a:srgbClr val="3B3B3B"/>
                </a:solidFill>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streamer</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new</a:t>
            </a:r>
            <a:r>
              <a:rPr lang="en" sz="1000">
                <a:solidFill>
                  <a:srgbClr val="3B3B3B"/>
                </a:solidFill>
                <a:highlight>
                  <a:srgbClr val="FFFFFF"/>
                </a:highlight>
                <a:latin typeface="Consolas"/>
                <a:ea typeface="Consolas"/>
                <a:cs typeface="Consolas"/>
                <a:sym typeface="Consolas"/>
              </a:rPr>
              <a:t> </a:t>
            </a:r>
            <a:r>
              <a:rPr lang="en" sz="1000">
                <a:solidFill>
                  <a:srgbClr val="795E26"/>
                </a:solidFill>
                <a:highlight>
                  <a:srgbClr val="FFFFFF"/>
                </a:highlight>
                <a:latin typeface="Consolas"/>
                <a:ea typeface="Consolas"/>
                <a:cs typeface="Consolas"/>
                <a:sym typeface="Consolas"/>
              </a:rPr>
              <a:t>HttpStream</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              clientSocket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getInputStream</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0070C1"/>
                </a:solidFill>
                <a:highlight>
                  <a:srgbClr val="FFFFFF"/>
                </a:highlight>
                <a:latin typeface="Consolas"/>
                <a:ea typeface="Consolas"/>
                <a:cs typeface="Consolas"/>
                <a:sym typeface="Consolas"/>
              </a:rPr>
              <a:t>streamer</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lines</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forEach</a:t>
            </a:r>
            <a:r>
              <a:rPr lang="en" sz="1000">
                <a:solidFill>
                  <a:srgbClr val="3B3B3B"/>
                </a:solidFill>
                <a:highlight>
                  <a:srgbClr val="FFFFFF"/>
                </a:highlight>
                <a:latin typeface="Consolas"/>
                <a:ea typeface="Consolas"/>
                <a:cs typeface="Consolas"/>
                <a:sym typeface="Consolas"/>
              </a:rPr>
              <a:t>(</a:t>
            </a:r>
            <a:r>
              <a:rPr lang="en" sz="1000">
                <a:solidFill>
                  <a:srgbClr val="267F99"/>
                </a:solidFill>
                <a:highlight>
                  <a:srgbClr val="FFFFFF"/>
                </a:highlight>
                <a:latin typeface="Consolas"/>
                <a:ea typeface="Consolas"/>
                <a:cs typeface="Consolas"/>
                <a:sym typeface="Consolas"/>
              </a:rPr>
              <a:t>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AF00D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AF00DB"/>
                </a:solidFill>
                <a:highlight>
                  <a:srgbClr val="FFFFFF"/>
                </a:highlight>
                <a:latin typeface="Consolas"/>
                <a:ea typeface="Consolas"/>
                <a:cs typeface="Consolas"/>
                <a:sym typeface="Consolas"/>
              </a:rPr>
              <a:t>catch</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IOException</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err</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A31515"/>
                </a:solidFill>
                <a:highlight>
                  <a:srgbClr val="FFFFFF"/>
                </a:highlight>
                <a:latin typeface="Consolas"/>
                <a:ea typeface="Consolas"/>
                <a:cs typeface="Consolas"/>
                <a:sym typeface="Consolas"/>
              </a:rPr>
              <a:t>"ERROR: "</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getMessage</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serverSocket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close</a:t>
            </a:r>
            <a:r>
              <a:rPr lang="en" sz="1000">
                <a:solidFill>
                  <a:srgbClr val="3B3B3B"/>
                </a:solidFill>
                <a:highlight>
                  <a:srgbClr val="FFFFFF"/>
                </a:highlight>
                <a:latin typeface="Consolas"/>
                <a:ea typeface="Consolas"/>
                <a:cs typeface="Consolas"/>
                <a:sym typeface="Consolas"/>
              </a:rPr>
              <a:t>();</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39"/>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Response Messages</a:t>
            </a:r>
            <a:endParaRPr/>
          </a:p>
        </p:txBody>
      </p:sp>
      <p:sp>
        <p:nvSpPr>
          <p:cNvPr id="302" name="Google Shape;302;p39"/>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The server response message</a:t>
            </a:r>
            <a:r>
              <a:rPr lang="en"/>
              <a:t> to the client will vary depending on the request type but in general, it has the same two </a:t>
            </a:r>
            <a:r>
              <a:rPr lang="en"/>
              <a:t>pieces as any HTTP message:</a:t>
            </a:r>
            <a:endParaRPr/>
          </a:p>
          <a:p>
            <a:pPr indent="-298450" lvl="1" marL="914400" rtl="0" algn="l">
              <a:spcBef>
                <a:spcPts val="0"/>
              </a:spcBef>
              <a:spcAft>
                <a:spcPts val="0"/>
              </a:spcAft>
              <a:buSzPts val="1100"/>
              <a:buChar char="○"/>
            </a:pPr>
            <a:r>
              <a:rPr lang="en"/>
              <a:t>Header</a:t>
            </a:r>
            <a:endParaRPr/>
          </a:p>
          <a:p>
            <a:pPr indent="-298450" lvl="1" marL="914400" rtl="0" algn="l">
              <a:spcBef>
                <a:spcPts val="0"/>
              </a:spcBef>
              <a:spcAft>
                <a:spcPts val="0"/>
              </a:spcAft>
              <a:buSzPts val="1100"/>
              <a:buChar char="○"/>
            </a:pPr>
            <a:r>
              <a:rPr lang="en"/>
              <a:t>Body</a:t>
            </a:r>
            <a:endParaRPr/>
          </a:p>
          <a:p>
            <a:pPr indent="-311150" lvl="0" marL="457200" rtl="0" algn="l">
              <a:spcBef>
                <a:spcPts val="1000"/>
              </a:spcBef>
              <a:spcAft>
                <a:spcPts val="0"/>
              </a:spcAft>
              <a:buSzPts val="1300"/>
              <a:buChar char="●"/>
            </a:pPr>
            <a:r>
              <a:rPr lang="en"/>
              <a:t>Each response starts with a code identifying how the request was handled. Some common codes are:</a:t>
            </a:r>
            <a:endParaRPr/>
          </a:p>
          <a:p>
            <a:pPr indent="-298450" lvl="1" marL="914400" rtl="0" algn="l">
              <a:spcBef>
                <a:spcPts val="0"/>
              </a:spcBef>
              <a:spcAft>
                <a:spcPts val="0"/>
              </a:spcAft>
              <a:buSzPts val="1100"/>
              <a:buChar char="○"/>
            </a:pPr>
            <a:r>
              <a:rPr lang="en"/>
              <a:t>200 OK: Everything worked as expected and the response is contained in the message.</a:t>
            </a:r>
            <a:endParaRPr/>
          </a:p>
          <a:p>
            <a:pPr indent="-298450" lvl="1" marL="914400" rtl="0" algn="l">
              <a:spcBef>
                <a:spcPts val="0"/>
              </a:spcBef>
              <a:spcAft>
                <a:spcPts val="0"/>
              </a:spcAft>
              <a:buSzPts val="1100"/>
              <a:buChar char="○"/>
            </a:pPr>
            <a:r>
              <a:rPr lang="en"/>
              <a:t>204 No Content: Everything worked but the response has no content. </a:t>
            </a:r>
            <a:endParaRPr/>
          </a:p>
          <a:p>
            <a:pPr indent="-298450" lvl="1" marL="914400" rtl="0" algn="l">
              <a:spcBef>
                <a:spcPts val="0"/>
              </a:spcBef>
              <a:spcAft>
                <a:spcPts val="0"/>
              </a:spcAft>
              <a:buSzPts val="1100"/>
              <a:buChar char="○"/>
            </a:pPr>
            <a:r>
              <a:rPr lang="en"/>
              <a:t>400 Bad Request: The server could not understand the request.</a:t>
            </a:r>
            <a:endParaRPr/>
          </a:p>
          <a:p>
            <a:pPr indent="-298450" lvl="1" marL="914400" rtl="0" algn="l">
              <a:spcBef>
                <a:spcPts val="0"/>
              </a:spcBef>
              <a:spcAft>
                <a:spcPts val="0"/>
              </a:spcAft>
              <a:buSzPts val="1100"/>
              <a:buChar char="○"/>
            </a:pPr>
            <a:r>
              <a:rPr lang="en"/>
              <a:t>404 Not Found: The server could not locate the requested URL.</a:t>
            </a:r>
            <a:endParaRPr/>
          </a:p>
          <a:p>
            <a:pPr indent="-298450" lvl="1" marL="914400" rtl="0" algn="l">
              <a:spcBef>
                <a:spcPts val="0"/>
              </a:spcBef>
              <a:spcAft>
                <a:spcPts val="0"/>
              </a:spcAft>
              <a:buSzPts val="1100"/>
              <a:buChar char="○"/>
            </a:pPr>
            <a:r>
              <a:rPr lang="en"/>
              <a:t>500 Internal Server Error: The request could not be fulfilled because the server encountered an error.</a:t>
            </a:r>
            <a:endParaRPr/>
          </a:p>
        </p:txBody>
      </p:sp>
      <p:sp>
        <p:nvSpPr>
          <p:cNvPr id="303" name="Google Shape;303;p39"/>
          <p:cNvSpPr txBox="1"/>
          <p:nvPr>
            <p:ph idx="3" type="body"/>
          </p:nvPr>
        </p:nvSpPr>
        <p:spPr>
          <a:xfrm>
            <a:off x="315425" y="3637829"/>
            <a:ext cx="3706500" cy="808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i="1" lang="en">
                <a:solidFill>
                  <a:srgbClr val="FF0000"/>
                </a:solidFill>
              </a:rPr>
              <a:t>Response</a:t>
            </a:r>
            <a:r>
              <a:rPr lang="en"/>
              <a:t> messages look pretty similar to request messages except they often have a </a:t>
            </a:r>
            <a:r>
              <a:rPr b="1" i="1" lang="en">
                <a:solidFill>
                  <a:srgbClr val="FF0000"/>
                </a:solidFill>
              </a:rPr>
              <a:t>body</a:t>
            </a:r>
            <a:r>
              <a:rPr lang="en"/>
              <a:t> in addition to the header.</a:t>
            </a:r>
            <a:endParaRPr/>
          </a:p>
        </p:txBody>
      </p:sp>
      <p:sp>
        <p:nvSpPr>
          <p:cNvPr id="304" name="Google Shape;304;p39"/>
          <p:cNvSpPr txBox="1"/>
          <p:nvPr/>
        </p:nvSpPr>
        <p:spPr>
          <a:xfrm>
            <a:off x="315425" y="1700500"/>
            <a:ext cx="3706500" cy="1463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HTTP/1.1 200 OK</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Content-Length: 22</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Content-Type: text/plain; </a:t>
            </a:r>
            <a:endParaRPr>
              <a:solidFill>
                <a:srgbClr val="1F1F1F"/>
              </a:solidFill>
              <a:highlight>
                <a:srgbClr val="FFFFFF"/>
              </a:highlight>
              <a:latin typeface="Consolas"/>
              <a:ea typeface="Consolas"/>
              <a:cs typeface="Consolas"/>
              <a:sym typeface="Consolas"/>
            </a:endParaRPr>
          </a:p>
          <a:p>
            <a:pPr indent="0" lvl="0" marL="1371600" rtl="0" algn="l">
              <a:spcBef>
                <a:spcPts val="0"/>
              </a:spcBef>
              <a:spcAft>
                <a:spcPts val="0"/>
              </a:spcAft>
              <a:buNone/>
            </a:pPr>
            <a:r>
              <a:rPr lang="en">
                <a:solidFill>
                  <a:srgbClr val="1F1F1F"/>
                </a:solidFill>
                <a:highlight>
                  <a:srgbClr val="FFFFFF"/>
                </a:highlight>
                <a:latin typeface="Consolas"/>
                <a:ea typeface="Consolas"/>
                <a:cs typeface="Consolas"/>
                <a:sym typeface="Consolas"/>
              </a:rPr>
              <a:t>charset=utf-8</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Response was received!</a:t>
            </a:r>
            <a:endParaRPr>
              <a:solidFill>
                <a:schemeClr val="dk2"/>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0"/>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Simple GET Response Example</a:t>
            </a:r>
            <a:endParaRPr/>
          </a:p>
        </p:txBody>
      </p:sp>
      <p:sp>
        <p:nvSpPr>
          <p:cNvPr id="310" name="Google Shape;310;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1" name="Google Shape;311;p40"/>
          <p:cNvSpPr txBox="1"/>
          <p:nvPr/>
        </p:nvSpPr>
        <p:spPr>
          <a:xfrm>
            <a:off x="3975375" y="1922825"/>
            <a:ext cx="4742100" cy="12486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HTTP/1.1 200 OK</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Content-Length: 22</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Content-Type: text/plain; charset=utf-8</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rPr lang="en">
                <a:solidFill>
                  <a:srgbClr val="1F1F1F"/>
                </a:solidFill>
                <a:highlight>
                  <a:srgbClr val="FFFFFF"/>
                </a:highlight>
                <a:latin typeface="Consolas"/>
                <a:ea typeface="Consolas"/>
                <a:cs typeface="Consolas"/>
                <a:sym typeface="Consolas"/>
              </a:rPr>
              <a:t>Response was received!</a:t>
            </a:r>
            <a:endParaRPr>
              <a:solidFill>
                <a:srgbClr val="1F1F1F"/>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a:solidFill>
                <a:schemeClr val="dk2"/>
              </a:solidFill>
              <a:latin typeface="Consolas"/>
              <a:ea typeface="Consolas"/>
              <a:cs typeface="Consolas"/>
              <a:sym typeface="Consolas"/>
            </a:endParaRPr>
          </a:p>
        </p:txBody>
      </p:sp>
      <p:sp>
        <p:nvSpPr>
          <p:cNvPr id="312" name="Google Shape;312;p40"/>
          <p:cNvSpPr txBox="1"/>
          <p:nvPr>
            <p:ph idx="4294967295" type="body"/>
          </p:nvPr>
        </p:nvSpPr>
        <p:spPr>
          <a:xfrm>
            <a:off x="228650" y="1045850"/>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Let's look at a simple response to the GET </a:t>
            </a:r>
            <a:r>
              <a:rPr lang="en">
                <a:solidFill>
                  <a:srgbClr val="000000"/>
                </a:solidFill>
              </a:rPr>
              <a:t>message we sent earlier.</a:t>
            </a:r>
            <a:r>
              <a:rPr lang="en">
                <a:solidFill>
                  <a:srgbClr val="000000"/>
                </a:solidFill>
              </a:rPr>
              <a:t> </a:t>
            </a:r>
            <a:endParaRPr>
              <a:solidFill>
                <a:srgbClr val="000000"/>
              </a:solidFill>
            </a:endParaRPr>
          </a:p>
        </p:txBody>
      </p:sp>
      <p:sp>
        <p:nvSpPr>
          <p:cNvPr id="313" name="Google Shape;313;p40"/>
          <p:cNvSpPr txBox="1"/>
          <p:nvPr>
            <p:ph idx="4294967295" type="body"/>
          </p:nvPr>
        </p:nvSpPr>
        <p:spPr>
          <a:xfrm>
            <a:off x="228650" y="1922825"/>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The protocol and response code are on the first line.</a:t>
            </a:r>
            <a:endParaRPr>
              <a:solidFill>
                <a:srgbClr val="000000"/>
              </a:solidFill>
            </a:endParaRPr>
          </a:p>
        </p:txBody>
      </p:sp>
      <p:sp>
        <p:nvSpPr>
          <p:cNvPr id="314" name="Google Shape;314;p40"/>
          <p:cNvSpPr/>
          <p:nvPr/>
        </p:nvSpPr>
        <p:spPr>
          <a:xfrm>
            <a:off x="4027175" y="2012075"/>
            <a:ext cx="4569600" cy="219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15" name="Google Shape;315;p40"/>
          <p:cNvCxnSpPr>
            <a:stCxn id="313" idx="3"/>
            <a:endCxn id="314" idx="1"/>
          </p:cNvCxnSpPr>
          <p:nvPr/>
        </p:nvCxnSpPr>
        <p:spPr>
          <a:xfrm flipH="1" rot="10800000">
            <a:off x="3385250" y="2121575"/>
            <a:ext cx="642000" cy="113100"/>
          </a:xfrm>
          <a:prstGeom prst="bentConnector3">
            <a:avLst>
              <a:gd fmla="val 49994" name="adj1"/>
            </a:avLst>
          </a:prstGeom>
          <a:noFill/>
          <a:ln cap="flat" cmpd="sng" w="19050">
            <a:solidFill>
              <a:srgbClr val="FF0000"/>
            </a:solidFill>
            <a:prstDash val="solid"/>
            <a:round/>
            <a:headEnd len="med" w="med" type="none"/>
            <a:tailEnd len="med" w="med" type="none"/>
          </a:ln>
        </p:spPr>
      </p:cxnSp>
      <p:sp>
        <p:nvSpPr>
          <p:cNvPr id="316" name="Google Shape;316;p40"/>
          <p:cNvSpPr txBox="1"/>
          <p:nvPr>
            <p:ph idx="4294967295" type="body"/>
          </p:nvPr>
        </p:nvSpPr>
        <p:spPr>
          <a:xfrm>
            <a:off x="228650" y="2799800"/>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Header lines follow indicating how long the body (content) is and its encoding</a:t>
            </a:r>
            <a:r>
              <a:rPr lang="en">
                <a:solidFill>
                  <a:srgbClr val="000000"/>
                </a:solidFill>
              </a:rPr>
              <a:t>. </a:t>
            </a:r>
            <a:endParaRPr>
              <a:solidFill>
                <a:srgbClr val="000000"/>
              </a:solidFill>
            </a:endParaRPr>
          </a:p>
        </p:txBody>
      </p:sp>
      <p:sp>
        <p:nvSpPr>
          <p:cNvPr id="317" name="Google Shape;317;p40"/>
          <p:cNvSpPr txBox="1"/>
          <p:nvPr>
            <p:ph idx="4294967295" type="body"/>
          </p:nvPr>
        </p:nvSpPr>
        <p:spPr>
          <a:xfrm>
            <a:off x="228650" y="3676775"/>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A</a:t>
            </a:r>
            <a:r>
              <a:rPr lang="en">
                <a:solidFill>
                  <a:srgbClr val="000000"/>
                </a:solidFill>
              </a:rPr>
              <a:t> </a:t>
            </a:r>
            <a:r>
              <a:rPr b="1" i="1" lang="en">
                <a:solidFill>
                  <a:srgbClr val="FF0000"/>
                </a:solidFill>
              </a:rPr>
              <a:t>blank line</a:t>
            </a:r>
            <a:r>
              <a:rPr lang="en">
                <a:solidFill>
                  <a:srgbClr val="000000"/>
                </a:solidFill>
              </a:rPr>
              <a:t> </a:t>
            </a:r>
            <a:r>
              <a:rPr lang="en">
                <a:solidFill>
                  <a:srgbClr val="000000"/>
                </a:solidFill>
              </a:rPr>
              <a:t>separates</a:t>
            </a:r>
            <a:r>
              <a:rPr lang="en">
                <a:solidFill>
                  <a:srgbClr val="000000"/>
                </a:solidFill>
              </a:rPr>
              <a:t> the header from the body. </a:t>
            </a:r>
            <a:r>
              <a:rPr b="1" i="1" lang="en">
                <a:solidFill>
                  <a:srgbClr val="FF0000"/>
                </a:solidFill>
              </a:rPr>
              <a:t>This is required.</a:t>
            </a:r>
            <a:endParaRPr b="1" i="1">
              <a:solidFill>
                <a:srgbClr val="FF0000"/>
              </a:solidFill>
            </a:endParaRPr>
          </a:p>
        </p:txBody>
      </p:sp>
      <p:sp>
        <p:nvSpPr>
          <p:cNvPr id="318" name="Google Shape;318;p40"/>
          <p:cNvSpPr/>
          <p:nvPr/>
        </p:nvSpPr>
        <p:spPr>
          <a:xfrm>
            <a:off x="4027164" y="2676575"/>
            <a:ext cx="4569600" cy="21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19" name="Google Shape;319;p40"/>
          <p:cNvCxnSpPr>
            <a:stCxn id="317" idx="3"/>
            <a:endCxn id="318" idx="1"/>
          </p:cNvCxnSpPr>
          <p:nvPr/>
        </p:nvCxnSpPr>
        <p:spPr>
          <a:xfrm flipH="1" rot="10800000">
            <a:off x="3385250" y="2785925"/>
            <a:ext cx="642000" cy="1202700"/>
          </a:xfrm>
          <a:prstGeom prst="bentConnector3">
            <a:avLst>
              <a:gd fmla="val 49993" name="adj1"/>
            </a:avLst>
          </a:prstGeom>
          <a:noFill/>
          <a:ln cap="flat" cmpd="sng" w="19050">
            <a:solidFill>
              <a:srgbClr val="FF0000"/>
            </a:solidFill>
            <a:prstDash val="solid"/>
            <a:round/>
            <a:headEnd len="med" w="med" type="none"/>
            <a:tailEnd len="med" w="med" type="none"/>
          </a:ln>
        </p:spPr>
      </p:cxnSp>
      <p:sp>
        <p:nvSpPr>
          <p:cNvPr id="320" name="Google Shape;320;p40"/>
          <p:cNvSpPr txBox="1"/>
          <p:nvPr>
            <p:ph idx="4294967295" type="body"/>
          </p:nvPr>
        </p:nvSpPr>
        <p:spPr>
          <a:xfrm>
            <a:off x="3975375" y="3545071"/>
            <a:ext cx="47421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The body of the message is all the data after the header. It does not have a specific format unlike the header fields.</a:t>
            </a:r>
            <a:endParaRPr>
              <a:solidFill>
                <a:srgbClr val="000000"/>
              </a:solidFill>
            </a:endParaRPr>
          </a:p>
        </p:txBody>
      </p:sp>
      <p:sp>
        <p:nvSpPr>
          <p:cNvPr id="321" name="Google Shape;321;p40"/>
          <p:cNvSpPr/>
          <p:nvPr/>
        </p:nvSpPr>
        <p:spPr>
          <a:xfrm>
            <a:off x="4027175" y="2234675"/>
            <a:ext cx="4569600" cy="438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22" name="Google Shape;322;p40"/>
          <p:cNvCxnSpPr>
            <a:stCxn id="316" idx="3"/>
            <a:endCxn id="321" idx="1"/>
          </p:cNvCxnSpPr>
          <p:nvPr/>
        </p:nvCxnSpPr>
        <p:spPr>
          <a:xfrm flipH="1" rot="10800000">
            <a:off x="3385250" y="2453750"/>
            <a:ext cx="642000" cy="657900"/>
          </a:xfrm>
          <a:prstGeom prst="bentConnector3">
            <a:avLst>
              <a:gd fmla="val 34108" name="adj1"/>
            </a:avLst>
          </a:prstGeom>
          <a:noFill/>
          <a:ln cap="flat" cmpd="sng" w="19050">
            <a:solidFill>
              <a:srgbClr val="FF0000"/>
            </a:solidFill>
            <a:prstDash val="solid"/>
            <a:round/>
            <a:headEnd len="med" w="med" type="none"/>
            <a:tailEnd len="med" w="med" type="none"/>
          </a:ln>
        </p:spPr>
      </p:cxnSp>
      <p:sp>
        <p:nvSpPr>
          <p:cNvPr id="323" name="Google Shape;323;p40"/>
          <p:cNvSpPr/>
          <p:nvPr/>
        </p:nvSpPr>
        <p:spPr>
          <a:xfrm>
            <a:off x="4027184" y="2884079"/>
            <a:ext cx="4569600" cy="219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24" name="Google Shape;324;p40"/>
          <p:cNvCxnSpPr>
            <a:stCxn id="320" idx="3"/>
            <a:endCxn id="323" idx="3"/>
          </p:cNvCxnSpPr>
          <p:nvPr/>
        </p:nvCxnSpPr>
        <p:spPr>
          <a:xfrm rot="10800000">
            <a:off x="8596875" y="2993521"/>
            <a:ext cx="120600" cy="863400"/>
          </a:xfrm>
          <a:prstGeom prst="bentConnector3">
            <a:avLst>
              <a:gd fmla="val -197450" name="adj1"/>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type="title"/>
          </p:nvPr>
        </p:nvSpPr>
        <p:spPr>
          <a:xfrm>
            <a:off x="1436850" y="8749"/>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Response</a:t>
            </a:r>
            <a:endParaRPr/>
          </a:p>
        </p:txBody>
      </p:sp>
      <p:sp>
        <p:nvSpPr>
          <p:cNvPr id="330" name="Google Shape;33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All HTTP messages should receive a response. Let's write one for the GET message we tried sending earlier.</a:t>
            </a:r>
            <a:endParaRPr/>
          </a:p>
        </p:txBody>
      </p:sp>
      <p:sp>
        <p:nvSpPr>
          <p:cNvPr id="332" name="Google Shape;332;p41"/>
          <p:cNvSpPr txBox="1"/>
          <p:nvPr>
            <p:ph idx="2" type="body"/>
          </p:nvPr>
        </p:nvSpPr>
        <p:spPr>
          <a:xfrm>
            <a:off x="3234000" y="1226575"/>
            <a:ext cx="5787600" cy="3101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a:t>
            </a:r>
            <a:r>
              <a:rPr lang="en">
                <a:latin typeface="Courier New"/>
                <a:ea typeface="Courier New"/>
                <a:cs typeface="Courier New"/>
                <a:sym typeface="Courier New"/>
              </a:rPr>
              <a:t>GetRequest</a:t>
            </a:r>
            <a:r>
              <a:rPr lang="en"/>
              <a:t>'s </a:t>
            </a:r>
            <a:r>
              <a:rPr lang="en">
                <a:latin typeface="Courier New"/>
                <a:ea typeface="Courier New"/>
                <a:cs typeface="Courier New"/>
                <a:sym typeface="Courier New"/>
              </a:rPr>
              <a:t>main</a:t>
            </a:r>
            <a:r>
              <a:rPr lang="en"/>
              <a:t> send back a string message:</a:t>
            </a:r>
            <a:endParaRPr/>
          </a:p>
          <a:p>
            <a:pPr indent="-298450" lvl="1" marL="914400" rtl="0" algn="l">
              <a:spcBef>
                <a:spcPts val="0"/>
              </a:spcBef>
              <a:spcAft>
                <a:spcPts val="0"/>
              </a:spcAft>
              <a:buSzPts val="1100"/>
              <a:buChar char="○"/>
            </a:pPr>
            <a:r>
              <a:rPr lang="en"/>
              <a:t>Use a PrintWriter to send a response on the sockets output stream</a:t>
            </a:r>
            <a:endParaRPr/>
          </a:p>
          <a:p>
            <a:pPr indent="-298450" lvl="1" marL="914400" rtl="0" algn="l">
              <a:spcBef>
                <a:spcPts val="0"/>
              </a:spcBef>
              <a:spcAft>
                <a:spcPts val="0"/>
              </a:spcAft>
              <a:buSzPts val="1100"/>
              <a:buChar char="○"/>
            </a:pPr>
            <a:r>
              <a:rPr lang="en"/>
              <a:t>The message format should be:</a:t>
            </a:r>
            <a:endParaRPr/>
          </a:p>
          <a:p>
            <a:pPr indent="0" lvl="0" marL="914400" rtl="0" algn="l">
              <a:spcBef>
                <a:spcPts val="0"/>
              </a:spcBef>
              <a:spcAft>
                <a:spcPts val="0"/>
              </a:spcAft>
              <a:buNone/>
            </a:pPr>
            <a:r>
              <a:rPr lang="en">
                <a:latin typeface="Courier New"/>
                <a:ea typeface="Courier New"/>
                <a:cs typeface="Courier New"/>
                <a:sym typeface="Courier New"/>
              </a:rPr>
              <a:t>"HTTP/1.1 200 OK\r\n</a:t>
            </a:r>
            <a:endParaRPr>
              <a:latin typeface="Courier New"/>
              <a:ea typeface="Courier New"/>
              <a:cs typeface="Courier New"/>
              <a:sym typeface="Courier New"/>
            </a:endParaRPr>
          </a:p>
          <a:p>
            <a:pPr indent="0" lvl="0" marL="914400" rtl="0" algn="l">
              <a:spcBef>
                <a:spcPts val="0"/>
              </a:spcBef>
              <a:spcAft>
                <a:spcPts val="0"/>
              </a:spcAft>
              <a:buNone/>
            </a:pPr>
            <a:r>
              <a:rPr lang="en">
                <a:latin typeface="Courier New"/>
                <a:ea typeface="Courier New"/>
                <a:cs typeface="Courier New"/>
                <a:sym typeface="Courier New"/>
              </a:rPr>
              <a:t>Content-Length: &lt;message length&gt;\r\n</a:t>
            </a:r>
            <a:endParaRPr>
              <a:latin typeface="Courier New"/>
              <a:ea typeface="Courier New"/>
              <a:cs typeface="Courier New"/>
              <a:sym typeface="Courier New"/>
            </a:endParaRPr>
          </a:p>
          <a:p>
            <a:pPr indent="0" lvl="0" marL="914400" rtl="0" algn="l">
              <a:spcBef>
                <a:spcPts val="0"/>
              </a:spcBef>
              <a:spcAft>
                <a:spcPts val="0"/>
              </a:spcAft>
              <a:buNone/>
            </a:pPr>
            <a:r>
              <a:rPr lang="en">
                <a:latin typeface="Courier New"/>
                <a:ea typeface="Courier New"/>
                <a:cs typeface="Courier New"/>
                <a:sym typeface="Courier New"/>
              </a:rPr>
              <a:t>Content-Type: text/plain;charset=utf-8\r\n\r\n</a:t>
            </a:r>
            <a:endParaRPr>
              <a:latin typeface="Courier New"/>
              <a:ea typeface="Courier New"/>
              <a:cs typeface="Courier New"/>
              <a:sym typeface="Courier New"/>
            </a:endParaRPr>
          </a:p>
          <a:p>
            <a:pPr indent="0" lvl="0" marL="914400" rtl="0" algn="l">
              <a:spcBef>
                <a:spcPts val="0"/>
              </a:spcBef>
              <a:spcAft>
                <a:spcPts val="0"/>
              </a:spcAft>
              <a:buNone/>
            </a:pPr>
            <a:r>
              <a:rPr lang="en">
                <a:latin typeface="Courier New"/>
                <a:ea typeface="Courier New"/>
                <a:cs typeface="Courier New"/>
                <a:sym typeface="Courier New"/>
              </a:rPr>
              <a:t>&lt;message&gt;"</a:t>
            </a:r>
            <a:endParaRPr>
              <a:latin typeface="Courier New"/>
              <a:ea typeface="Courier New"/>
              <a:cs typeface="Courier New"/>
              <a:sym typeface="Courier New"/>
            </a:endParaRPr>
          </a:p>
          <a:p>
            <a:pPr indent="-311150" lvl="0" marL="457200" rtl="0" algn="l">
              <a:spcBef>
                <a:spcPts val="1000"/>
              </a:spcBef>
              <a:spcAft>
                <a:spcPts val="0"/>
              </a:spcAft>
              <a:buSzPts val="1300"/>
              <a:buFont typeface="Courier New"/>
              <a:buChar char="●"/>
            </a:pPr>
            <a:r>
              <a:rPr lang="en">
                <a:latin typeface="Courier New"/>
                <a:ea typeface="Courier New"/>
                <a:cs typeface="Courier New"/>
                <a:sym typeface="Courier New"/>
              </a:rPr>
              <a:t>&lt;Message&gt;</a:t>
            </a:r>
            <a:r>
              <a:rPr lang="en"/>
              <a:t> should be a custom string you come up with. If you store it in a variable, you can use String.length to get the </a:t>
            </a:r>
            <a:r>
              <a:rPr lang="en">
                <a:latin typeface="Courier New"/>
                <a:ea typeface="Courier New"/>
                <a:cs typeface="Courier New"/>
                <a:sym typeface="Courier New"/>
              </a:rPr>
              <a:t>&lt;message length&gt;</a:t>
            </a:r>
            <a:r>
              <a:rPr lang="en"/>
              <a:t> rather than hard coding it.</a:t>
            </a:r>
            <a:endParaRPr/>
          </a:p>
          <a:p>
            <a:pPr indent="-311150" lvl="0" marL="457200" rtl="0" algn="l">
              <a:spcBef>
                <a:spcPts val="1000"/>
              </a:spcBef>
              <a:spcAft>
                <a:spcPts val="0"/>
              </a:spcAft>
              <a:buSzPts val="1300"/>
              <a:buFont typeface="Courier New"/>
              <a:buChar char="●"/>
            </a:pPr>
            <a:r>
              <a:rPr lang="en"/>
              <a:t>Rerun your program and navigate to localhost:8081 again and verify your message is </a:t>
            </a:r>
            <a:r>
              <a:rPr lang="en"/>
              <a:t>displayed</a:t>
            </a:r>
            <a:r>
              <a:rPr lang="en"/>
              <a:t> in your browser. </a:t>
            </a:r>
            <a:r>
              <a:rPr lang="en">
                <a:latin typeface="Courier New"/>
                <a:ea typeface="Courier New"/>
                <a:cs typeface="Courier New"/>
                <a:sym typeface="Courier New"/>
              </a:rPr>
              <a:t> </a:t>
            </a:r>
            <a:endParaRPr>
              <a:latin typeface="Courier New"/>
              <a:ea typeface="Courier New"/>
              <a:cs typeface="Courier New"/>
              <a:sym typeface="Courier New"/>
            </a:endParaRPr>
          </a:p>
        </p:txBody>
      </p:sp>
      <p:sp>
        <p:nvSpPr>
          <p:cNvPr id="333" name="Google Shape;333;p4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10.2</a:t>
            </a:r>
            <a:endParaRPr/>
          </a:p>
        </p:txBody>
      </p:sp>
      <p:sp>
        <p:nvSpPr>
          <p:cNvPr id="334" name="Google Shape;334;p41"/>
          <p:cNvSpPr txBox="1"/>
          <p:nvPr>
            <p:ph idx="4" type="body"/>
          </p:nvPr>
        </p:nvSpPr>
        <p:spPr>
          <a:xfrm>
            <a:off x="141600" y="3371600"/>
            <a:ext cx="30924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When using a </a:t>
            </a:r>
            <a:r>
              <a:rPr b="1" i="1" lang="en">
                <a:solidFill>
                  <a:srgbClr val="FF0000"/>
                </a:solidFill>
              </a:rPr>
              <a:t>new line</a:t>
            </a:r>
            <a:r>
              <a:rPr lang="en"/>
              <a:t> in an HTTP message, you must use "</a:t>
            </a:r>
            <a:r>
              <a:rPr lang="en">
                <a:solidFill>
                  <a:srgbClr val="FF0000"/>
                </a:solidFill>
                <a:latin typeface="Courier New"/>
                <a:ea typeface="Courier New"/>
                <a:cs typeface="Courier New"/>
                <a:sym typeface="Courier New"/>
              </a:rPr>
              <a:t>\r\n</a:t>
            </a:r>
            <a:r>
              <a:rPr lang="en"/>
              <a:t>". </a:t>
            </a:r>
            <a:endParaRPr/>
          </a:p>
        </p:txBody>
      </p:sp>
      <p:sp>
        <p:nvSpPr>
          <p:cNvPr id="335" name="Google Shape;335;p41"/>
          <p:cNvSpPr txBox="1"/>
          <p:nvPr/>
        </p:nvSpPr>
        <p:spPr>
          <a:xfrm>
            <a:off x="141600" y="1840625"/>
            <a:ext cx="3092400" cy="12633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900">
                <a:solidFill>
                  <a:srgbClr val="267F99"/>
                </a:solidFill>
                <a:latin typeface="Consolas"/>
                <a:ea typeface="Consolas"/>
                <a:cs typeface="Consolas"/>
                <a:sym typeface="Consolas"/>
              </a:rPr>
              <a:t>Socket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client</a:t>
            </a:r>
            <a:r>
              <a:rPr lang="en" sz="900">
                <a:latin typeface="Consolas"/>
                <a:ea typeface="Consolas"/>
                <a:cs typeface="Consolas"/>
                <a:sym typeface="Consolas"/>
              </a:rPr>
              <a:t> = </a:t>
            </a:r>
            <a:r>
              <a:rPr lang="en" sz="900">
                <a:solidFill>
                  <a:srgbClr val="AF00DB"/>
                </a:solidFill>
                <a:latin typeface="Consolas"/>
                <a:ea typeface="Consolas"/>
                <a:cs typeface="Consolas"/>
                <a:sym typeface="Consolas"/>
              </a:rPr>
              <a:t>new</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Socket</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"somehost"</a:t>
            </a:r>
            <a:r>
              <a:rPr lang="en" sz="900">
                <a:latin typeface="Consolas"/>
                <a:ea typeface="Consolas"/>
                <a:cs typeface="Consolas"/>
                <a:sym typeface="Consolas"/>
              </a:rPr>
              <a:t>, </a:t>
            </a:r>
            <a:r>
              <a:rPr lang="en" sz="900">
                <a:solidFill>
                  <a:srgbClr val="098658"/>
                </a:solidFill>
                <a:latin typeface="Consolas"/>
                <a:ea typeface="Consolas"/>
                <a:cs typeface="Consolas"/>
                <a:sym typeface="Consolas"/>
              </a:rPr>
              <a:t>54321</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267F99"/>
                </a:solidFill>
                <a:latin typeface="Consolas"/>
                <a:ea typeface="Consolas"/>
                <a:cs typeface="Consolas"/>
                <a:sym typeface="Consolas"/>
              </a:rPr>
              <a:t>OutputStream</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out</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client</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getOutputStream</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267F99"/>
                </a:solidFill>
                <a:latin typeface="Consolas"/>
                <a:ea typeface="Consolas"/>
                <a:cs typeface="Consolas"/>
                <a:sym typeface="Consolas"/>
              </a:rPr>
              <a:t>PrintWriter</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printer</a:t>
            </a:r>
            <a:r>
              <a:rPr lang="en" sz="900">
                <a:latin typeface="Consolas"/>
                <a:ea typeface="Consolas"/>
                <a:cs typeface="Consolas"/>
                <a:sym typeface="Consolas"/>
              </a:rPr>
              <a:t> = </a:t>
            </a:r>
            <a:r>
              <a:rPr lang="en" sz="900">
                <a:solidFill>
                  <a:srgbClr val="AF00DB"/>
                </a:solidFill>
                <a:latin typeface="Consolas"/>
                <a:ea typeface="Consolas"/>
                <a:cs typeface="Consolas"/>
                <a:sym typeface="Consolas"/>
              </a:rPr>
              <a:t>new</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PrintWriter</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out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1080"/>
                </a:solidFill>
                <a:latin typeface="Consolas"/>
                <a:ea typeface="Consolas"/>
                <a:cs typeface="Consolas"/>
                <a:sym typeface="Consolas"/>
              </a:rPr>
              <a:t>printer</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println</a:t>
            </a:r>
            <a:r>
              <a:rPr lang="en" sz="900">
                <a:latin typeface="Consolas"/>
                <a:ea typeface="Consolas"/>
                <a:cs typeface="Consolas"/>
                <a:sym typeface="Consolas"/>
              </a:rPr>
              <a:t>(</a:t>
            </a:r>
            <a:r>
              <a:rPr lang="en" sz="900">
                <a:solidFill>
                  <a:srgbClr val="A31515"/>
                </a:solidFill>
                <a:latin typeface="Consolas"/>
                <a:ea typeface="Consolas"/>
                <a:cs typeface="Consolas"/>
                <a:sym typeface="Consolas"/>
              </a:rPr>
              <a:t>"John Denver"</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1080"/>
                </a:solidFill>
                <a:latin typeface="Consolas"/>
                <a:ea typeface="Consolas"/>
                <a:cs typeface="Consolas"/>
                <a:sym typeface="Consolas"/>
              </a:rPr>
              <a:t>printer</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flush</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35714"/>
              </a:lnSpc>
              <a:spcBef>
                <a:spcPts val="0"/>
              </a:spcBef>
              <a:spcAft>
                <a:spcPts val="0"/>
              </a:spcAft>
              <a:buNone/>
            </a:pPr>
            <a:r>
              <a:rPr lang="en" sz="900">
                <a:solidFill>
                  <a:srgbClr val="001080"/>
                </a:solidFill>
                <a:latin typeface="Consolas"/>
                <a:ea typeface="Consolas"/>
                <a:cs typeface="Consolas"/>
                <a:sym typeface="Consolas"/>
              </a:rPr>
              <a:t>client</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close</a:t>
            </a:r>
            <a:r>
              <a:rPr lang="en" sz="900">
                <a:latin typeface="Consolas"/>
                <a:ea typeface="Consolas"/>
                <a:cs typeface="Consolas"/>
                <a:sym typeface="Consolas"/>
              </a:rPr>
              <a:t>();</a:t>
            </a:r>
            <a:endParaRPr sz="900">
              <a:solidFill>
                <a:srgbClr val="267F99"/>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While not the most colorful web page, it was still nice to see our message show up in the browser. But what if we need to send data to the server, instead of just getting data from it. Let's try that now and see what the message looks like. </a:t>
            </a:r>
            <a:endParaRPr/>
          </a:p>
        </p:txBody>
      </p:sp>
      <p:sp>
        <p:nvSpPr>
          <p:cNvPr id="341" name="Google Shape;341;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42"/>
          <p:cNvSpPr txBox="1"/>
          <p:nvPr>
            <p:ph idx="2" type="body"/>
          </p:nvPr>
        </p:nvSpPr>
        <p:spPr>
          <a:xfrm>
            <a:off x="3165300" y="1805500"/>
            <a:ext cx="5775900" cy="2929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You've been provided an html page, </a:t>
            </a:r>
            <a:r>
              <a:rPr lang="en">
                <a:latin typeface="Courier New"/>
                <a:ea typeface="Courier New"/>
                <a:cs typeface="Courier New"/>
                <a:sym typeface="Courier New"/>
              </a:rPr>
              <a:t>unit10/</a:t>
            </a:r>
            <a:r>
              <a:rPr lang="en">
                <a:latin typeface="Courier New"/>
                <a:ea typeface="Courier New"/>
                <a:cs typeface="Courier New"/>
                <a:sym typeface="Courier New"/>
              </a:rPr>
              <a:t>activities</a:t>
            </a:r>
            <a:r>
              <a:rPr lang="en">
                <a:latin typeface="Courier New"/>
                <a:ea typeface="Courier New"/>
                <a:cs typeface="Courier New"/>
                <a:sym typeface="Courier New"/>
              </a:rPr>
              <a:t>/view/canIDrink.html</a:t>
            </a:r>
            <a:r>
              <a:rPr lang="en"/>
              <a:t>, which has some simple form data in it.</a:t>
            </a:r>
            <a:endParaRPr/>
          </a:p>
          <a:p>
            <a:pPr indent="-298450" lvl="1" marL="914400" rtl="0" algn="l">
              <a:spcBef>
                <a:spcPts val="0"/>
              </a:spcBef>
              <a:spcAft>
                <a:spcPts val="0"/>
              </a:spcAft>
              <a:buSzPts val="1100"/>
              <a:buChar char="○"/>
            </a:pPr>
            <a:r>
              <a:rPr lang="en"/>
              <a:t>Take a quick look at it with your instructor. </a:t>
            </a:r>
            <a:endParaRPr/>
          </a:p>
          <a:p>
            <a:pPr indent="-298450" lvl="1" marL="914400" rtl="0" algn="l">
              <a:spcBef>
                <a:spcPts val="0"/>
              </a:spcBef>
              <a:spcAft>
                <a:spcPts val="0"/>
              </a:spcAft>
              <a:buSzPts val="1100"/>
              <a:buChar char="○"/>
            </a:pPr>
            <a:r>
              <a:rPr lang="en"/>
              <a:t>As this isn't a web course we won't be going over HTML in detail.</a:t>
            </a:r>
            <a:endParaRPr/>
          </a:p>
          <a:p>
            <a:pPr indent="-298450" lvl="1" marL="914400" rtl="0" algn="l">
              <a:spcBef>
                <a:spcPts val="0"/>
              </a:spcBef>
              <a:spcAft>
                <a:spcPts val="0"/>
              </a:spcAft>
              <a:buSzPts val="1100"/>
              <a:buChar char="○"/>
            </a:pPr>
            <a:r>
              <a:rPr lang="en"/>
              <a:t>Do notice the action is set to "</a:t>
            </a:r>
            <a:r>
              <a:rPr lang="en" u="sng">
                <a:solidFill>
                  <a:schemeClr val="hlink"/>
                </a:solidFill>
                <a:hlinkClick r:id="rId3"/>
              </a:rPr>
              <a:t>http://localhost:8081</a:t>
            </a:r>
            <a:r>
              <a:rPr lang="en"/>
              <a:t>". This is how the web page knows where to send the request and is where our server should be.</a:t>
            </a:r>
            <a:endParaRPr/>
          </a:p>
          <a:p>
            <a:pPr indent="-311150" lvl="0" marL="457200" rtl="0" algn="l">
              <a:spcBef>
                <a:spcPts val="1000"/>
              </a:spcBef>
              <a:spcAft>
                <a:spcPts val="0"/>
              </a:spcAft>
              <a:buSzPts val="1300"/>
              <a:buChar char="●"/>
            </a:pPr>
            <a:r>
              <a:rPr lang="en"/>
              <a:t>Enter in your birthday for each field with each value being an integer.</a:t>
            </a:r>
            <a:endParaRPr/>
          </a:p>
          <a:p>
            <a:pPr indent="0" lvl="0" marL="457200" rtl="0" algn="l">
              <a:spcBef>
                <a:spcPts val="0"/>
              </a:spcBef>
              <a:spcAft>
                <a:spcPts val="0"/>
              </a:spcAft>
              <a:buNone/>
            </a:pPr>
            <a:r>
              <a:rPr lang="en"/>
              <a:t>Example: </a:t>
            </a:r>
            <a:r>
              <a:rPr lang="en">
                <a:latin typeface="Courier New"/>
                <a:ea typeface="Courier New"/>
                <a:cs typeface="Courier New"/>
                <a:sym typeface="Courier New"/>
              </a:rPr>
              <a:t>Year: 2005, Month: 06, Day: 12</a:t>
            </a:r>
            <a:r>
              <a:rPr lang="en"/>
              <a:t>  </a:t>
            </a:r>
            <a:endParaRPr/>
          </a:p>
          <a:p>
            <a:pPr indent="-311150" lvl="0" marL="457200" rtl="0" algn="l">
              <a:spcBef>
                <a:spcPts val="1000"/>
              </a:spcBef>
              <a:spcAft>
                <a:spcPts val="0"/>
              </a:spcAft>
              <a:buSzPts val="1300"/>
              <a:buChar char="●"/>
            </a:pPr>
            <a:r>
              <a:rPr lang="en"/>
              <a:t>Start your </a:t>
            </a:r>
            <a:r>
              <a:rPr lang="en"/>
              <a:t>GetRequest application</a:t>
            </a:r>
            <a:r>
              <a:rPr lang="en"/>
              <a:t>.</a:t>
            </a:r>
            <a:endParaRPr/>
          </a:p>
          <a:p>
            <a:pPr indent="-311150" lvl="0" marL="457200" rtl="0" algn="l">
              <a:spcBef>
                <a:spcPts val="1000"/>
              </a:spcBef>
              <a:spcAft>
                <a:spcPts val="1000"/>
              </a:spcAft>
              <a:buSzPts val="1300"/>
              <a:buChar char="●"/>
            </a:pPr>
            <a:r>
              <a:rPr lang="en"/>
              <a:t>Press the submit button and look at the request sent to your server.</a:t>
            </a:r>
            <a:endParaRPr/>
          </a:p>
        </p:txBody>
      </p:sp>
      <p:sp>
        <p:nvSpPr>
          <p:cNvPr id="343" name="Google Shape;343;p42"/>
          <p:cNvSpPr txBox="1"/>
          <p:nvPr>
            <p:ph type="title"/>
          </p:nvPr>
        </p:nvSpPr>
        <p:spPr>
          <a:xfrm>
            <a:off x="1436850" y="8749"/>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Sending Data</a:t>
            </a:r>
            <a:endParaRPr/>
          </a:p>
        </p:txBody>
      </p:sp>
      <p:sp>
        <p:nvSpPr>
          <p:cNvPr id="344" name="Google Shape;344;p4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10.3</a:t>
            </a:r>
            <a:endParaRPr/>
          </a:p>
        </p:txBody>
      </p:sp>
      <p:sp>
        <p:nvSpPr>
          <p:cNvPr id="345" name="Google Shape;345;p42"/>
          <p:cNvSpPr txBox="1"/>
          <p:nvPr>
            <p:ph idx="4" type="body"/>
          </p:nvPr>
        </p:nvSpPr>
        <p:spPr>
          <a:xfrm>
            <a:off x="141600" y="3983198"/>
            <a:ext cx="30237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While the provided web page may look like something out of the early 90s, it has everything we need to send some data to our server.</a:t>
            </a:r>
            <a:endParaRPr/>
          </a:p>
        </p:txBody>
      </p:sp>
      <p:pic>
        <p:nvPicPr>
          <p:cNvPr id="346" name="Google Shape;346;p42"/>
          <p:cNvPicPr preferRelativeResize="0"/>
          <p:nvPr/>
        </p:nvPicPr>
        <p:blipFill>
          <a:blip r:embed="rId4">
            <a:alphaModFix/>
          </a:blip>
          <a:stretch>
            <a:fillRect/>
          </a:stretch>
        </p:blipFill>
        <p:spPr>
          <a:xfrm>
            <a:off x="467575" y="1892350"/>
            <a:ext cx="2371725" cy="1857375"/>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2" name="Google Shape;352;p43"/>
          <p:cNvSpPr txBox="1"/>
          <p:nvPr>
            <p:ph type="title"/>
          </p:nvPr>
        </p:nvSpPr>
        <p:spPr>
          <a:xfrm>
            <a:off x="311725" y="437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POST Request</a:t>
            </a:r>
            <a:endParaRPr/>
          </a:p>
        </p:txBody>
      </p:sp>
      <p:sp>
        <p:nvSpPr>
          <p:cNvPr id="353" name="Google Shape;353;p43"/>
          <p:cNvSpPr txBox="1"/>
          <p:nvPr/>
        </p:nvSpPr>
        <p:spPr>
          <a:xfrm>
            <a:off x="3789000" y="1101375"/>
            <a:ext cx="4978500" cy="27579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Courier New"/>
                <a:ea typeface="Courier New"/>
                <a:cs typeface="Courier New"/>
                <a:sym typeface="Courier New"/>
              </a:rPr>
              <a:t>POST / HTTP/1.1</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Host: localhost:8081</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Connection: keep-alive</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Content-Length: 25</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Cache-Control: max-age=0</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Content-Type: application/x-www-form-urlencoded</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Accept-Encoding: gzip, deflate, br, zstd</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Accept-Language: en-US,en;q=0.9</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300">
                <a:solidFill>
                  <a:schemeClr val="dk2"/>
                </a:solidFill>
                <a:latin typeface="Courier New"/>
                <a:ea typeface="Courier New"/>
                <a:cs typeface="Courier New"/>
                <a:sym typeface="Courier New"/>
              </a:rPr>
              <a:t>year=2005&amp;month=06&amp;day=12</a:t>
            </a:r>
            <a:endParaRPr sz="1300">
              <a:solidFill>
                <a:schemeClr val="dk2"/>
              </a:solidFill>
              <a:latin typeface="Courier New"/>
              <a:ea typeface="Courier New"/>
              <a:cs typeface="Courier New"/>
              <a:sym typeface="Courier New"/>
            </a:endParaRPr>
          </a:p>
          <a:p>
            <a:pPr indent="0" lvl="0" marL="0" rtl="0" algn="l">
              <a:spcBef>
                <a:spcPts val="0"/>
              </a:spcBef>
              <a:spcAft>
                <a:spcPts val="0"/>
              </a:spcAft>
              <a:buNone/>
            </a:pPr>
            <a:r>
              <a:t/>
            </a:r>
            <a:endParaRPr sz="1300">
              <a:solidFill>
                <a:schemeClr val="dk2"/>
              </a:solidFill>
              <a:latin typeface="Courier New"/>
              <a:ea typeface="Courier New"/>
              <a:cs typeface="Courier New"/>
              <a:sym typeface="Courier New"/>
            </a:endParaRPr>
          </a:p>
        </p:txBody>
      </p:sp>
      <p:sp>
        <p:nvSpPr>
          <p:cNvPr id="354" name="Google Shape;354;p43"/>
          <p:cNvSpPr txBox="1"/>
          <p:nvPr>
            <p:ph idx="4294967295" type="body"/>
          </p:nvPr>
        </p:nvSpPr>
        <p:spPr>
          <a:xfrm>
            <a:off x="228650" y="960136"/>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Right off the bat, you'll notice the operation type is POST.</a:t>
            </a:r>
            <a:endParaRPr>
              <a:solidFill>
                <a:srgbClr val="000000"/>
              </a:solidFill>
            </a:endParaRPr>
          </a:p>
        </p:txBody>
      </p:sp>
      <p:sp>
        <p:nvSpPr>
          <p:cNvPr id="355" name="Google Shape;355;p43"/>
          <p:cNvSpPr txBox="1"/>
          <p:nvPr>
            <p:ph idx="4294967295" type="body"/>
          </p:nvPr>
        </p:nvSpPr>
        <p:spPr>
          <a:xfrm>
            <a:off x="228650" y="1859575"/>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This in common when the request includes additional information.</a:t>
            </a:r>
            <a:endParaRPr>
              <a:solidFill>
                <a:srgbClr val="000000"/>
              </a:solidFill>
            </a:endParaRPr>
          </a:p>
        </p:txBody>
      </p:sp>
      <p:sp>
        <p:nvSpPr>
          <p:cNvPr id="356" name="Google Shape;356;p43"/>
          <p:cNvSpPr txBox="1"/>
          <p:nvPr>
            <p:ph idx="4294967295" type="body"/>
          </p:nvPr>
        </p:nvSpPr>
        <p:spPr>
          <a:xfrm>
            <a:off x="228650" y="2759025"/>
            <a:ext cx="31566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The content-Length field lets us know how much data was sent.</a:t>
            </a:r>
            <a:endParaRPr>
              <a:solidFill>
                <a:srgbClr val="000000"/>
              </a:solidFill>
            </a:endParaRPr>
          </a:p>
        </p:txBody>
      </p:sp>
      <p:sp>
        <p:nvSpPr>
          <p:cNvPr id="357" name="Google Shape;357;p43"/>
          <p:cNvSpPr txBox="1"/>
          <p:nvPr>
            <p:ph idx="4294967295" type="body"/>
          </p:nvPr>
        </p:nvSpPr>
        <p:spPr>
          <a:xfrm>
            <a:off x="228650" y="3658475"/>
            <a:ext cx="3156600" cy="785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rPr>
              <a:t>At the moment, your code isn't reading the data/request body so you won't see it. We'll fix that in a moment.</a:t>
            </a:r>
            <a:endParaRPr>
              <a:solidFill>
                <a:srgbClr val="000000"/>
              </a:solidFill>
            </a:endParaRPr>
          </a:p>
        </p:txBody>
      </p:sp>
      <p:sp>
        <p:nvSpPr>
          <p:cNvPr id="358" name="Google Shape;358;p43"/>
          <p:cNvSpPr/>
          <p:nvPr/>
        </p:nvSpPr>
        <p:spPr>
          <a:xfrm>
            <a:off x="3838400" y="1210650"/>
            <a:ext cx="470700" cy="183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59" name="Google Shape;359;p43"/>
          <p:cNvCxnSpPr>
            <a:stCxn id="354" idx="3"/>
            <a:endCxn id="358" idx="1"/>
          </p:cNvCxnSpPr>
          <p:nvPr/>
        </p:nvCxnSpPr>
        <p:spPr>
          <a:xfrm>
            <a:off x="3385250" y="1271986"/>
            <a:ext cx="453000" cy="30600"/>
          </a:xfrm>
          <a:prstGeom prst="bentConnector3">
            <a:avLst>
              <a:gd fmla="val 50017" name="adj1"/>
            </a:avLst>
          </a:prstGeom>
          <a:noFill/>
          <a:ln cap="flat" cmpd="sng" w="19050">
            <a:solidFill>
              <a:srgbClr val="FF0000"/>
            </a:solidFill>
            <a:prstDash val="solid"/>
            <a:round/>
            <a:headEnd len="med" w="med" type="none"/>
            <a:tailEnd len="med" w="med" type="none"/>
          </a:ln>
        </p:spPr>
      </p:cxnSp>
      <p:sp>
        <p:nvSpPr>
          <p:cNvPr id="360" name="Google Shape;360;p43"/>
          <p:cNvSpPr/>
          <p:nvPr/>
        </p:nvSpPr>
        <p:spPr>
          <a:xfrm>
            <a:off x="3856082" y="1779432"/>
            <a:ext cx="1868400" cy="239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61" name="Google Shape;361;p43"/>
          <p:cNvCxnSpPr>
            <a:stCxn id="356" idx="3"/>
            <a:endCxn id="360" idx="1"/>
          </p:cNvCxnSpPr>
          <p:nvPr/>
        </p:nvCxnSpPr>
        <p:spPr>
          <a:xfrm flipH="1" rot="10800000">
            <a:off x="3385250" y="1899075"/>
            <a:ext cx="470700" cy="1171800"/>
          </a:xfrm>
          <a:prstGeom prst="bentConnector3">
            <a:avLst>
              <a:gd fmla="val 50014" name="adj1"/>
            </a:avLst>
          </a:prstGeom>
          <a:noFill/>
          <a:ln cap="flat" cmpd="sng" w="19050">
            <a:solidFill>
              <a:srgbClr val="FF0000"/>
            </a:solidFill>
            <a:prstDash val="solid"/>
            <a:round/>
            <a:headEnd len="med" w="med" type="none"/>
            <a:tailEnd len="med" w="med" type="none"/>
          </a:ln>
        </p:spPr>
      </p:cxnSp>
      <p:sp>
        <p:nvSpPr>
          <p:cNvPr id="362" name="Google Shape;362;p43"/>
          <p:cNvSpPr/>
          <p:nvPr/>
        </p:nvSpPr>
        <p:spPr>
          <a:xfrm>
            <a:off x="3856075" y="3341521"/>
            <a:ext cx="2578500" cy="29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363" name="Google Shape;363;p43"/>
          <p:cNvCxnSpPr>
            <a:stCxn id="357" idx="3"/>
            <a:endCxn id="362" idx="1"/>
          </p:cNvCxnSpPr>
          <p:nvPr/>
        </p:nvCxnSpPr>
        <p:spPr>
          <a:xfrm flipH="1" rot="10800000">
            <a:off x="3385250" y="3487925"/>
            <a:ext cx="470700" cy="563100"/>
          </a:xfrm>
          <a:prstGeom prst="bentConnector3">
            <a:avLst>
              <a:gd fmla="val 50013" name="adj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p44"/>
          <p:cNvPicPr preferRelativeResize="0"/>
          <p:nvPr/>
        </p:nvPicPr>
        <p:blipFill>
          <a:blip r:embed="rId3">
            <a:alphaModFix/>
          </a:blip>
          <a:stretch>
            <a:fillRect/>
          </a:stretch>
        </p:blipFill>
        <p:spPr>
          <a:xfrm>
            <a:off x="5954320" y="1441983"/>
            <a:ext cx="2047200" cy="2407400"/>
          </a:xfrm>
          <a:prstGeom prst="rect">
            <a:avLst/>
          </a:prstGeom>
          <a:noFill/>
          <a:ln cap="flat" cmpd="sng" w="19050">
            <a:solidFill>
              <a:schemeClr val="dk2"/>
            </a:solidFill>
            <a:prstDash val="solid"/>
            <a:round/>
            <a:headEnd len="sm" w="sm" type="none"/>
            <a:tailEnd len="sm" w="sm" type="none"/>
          </a:ln>
        </p:spPr>
      </p:pic>
      <p:sp>
        <p:nvSpPr>
          <p:cNvPr id="369" name="Google Shape;369;p4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44"/>
          <p:cNvSpPr txBox="1"/>
          <p:nvPr>
            <p:ph type="title"/>
          </p:nvPr>
        </p:nvSpPr>
        <p:spPr>
          <a:xfrm>
            <a:off x="5264725" y="206450"/>
            <a:ext cx="3706500" cy="93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Separation</a:t>
            </a:r>
            <a:r>
              <a:rPr lang="en"/>
              <a:t> of Concerns</a:t>
            </a:r>
            <a:endParaRPr/>
          </a:p>
        </p:txBody>
      </p:sp>
      <p:sp>
        <p:nvSpPr>
          <p:cNvPr id="371" name="Google Shape;371;p44"/>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Now that we're getting data in the request, we'll need to actually parse it rather than sending a blanket response.</a:t>
            </a:r>
            <a:endParaRPr/>
          </a:p>
          <a:p>
            <a:pPr indent="-311150" lvl="0" marL="457200" rtl="0" algn="l">
              <a:spcBef>
                <a:spcPts val="1000"/>
              </a:spcBef>
              <a:spcAft>
                <a:spcPts val="0"/>
              </a:spcAft>
              <a:buSzPts val="1300"/>
              <a:buChar char="●"/>
            </a:pPr>
            <a:r>
              <a:rPr lang="en"/>
              <a:t>While we could keep going with our current file putting everything in one place </a:t>
            </a:r>
            <a:r>
              <a:rPr b="1" i="1" lang="en"/>
              <a:t>isn't</a:t>
            </a:r>
            <a:r>
              <a:rPr lang="en"/>
              <a:t> </a:t>
            </a:r>
            <a:r>
              <a:rPr lang="en"/>
              <a:t>always</a:t>
            </a:r>
            <a:r>
              <a:rPr lang="en"/>
              <a:t> the best idea.</a:t>
            </a:r>
            <a:endParaRPr/>
          </a:p>
          <a:p>
            <a:pPr indent="-311150" lvl="0" marL="457200" rtl="0" algn="l">
              <a:spcBef>
                <a:spcPts val="1000"/>
              </a:spcBef>
              <a:spcAft>
                <a:spcPts val="0"/>
              </a:spcAft>
              <a:buSzPts val="1300"/>
              <a:buChar char="●"/>
            </a:pPr>
            <a:r>
              <a:rPr lang="en"/>
              <a:t>A common OO practice is to break each piece of functionality up into its own class.</a:t>
            </a:r>
            <a:endParaRPr/>
          </a:p>
          <a:p>
            <a:pPr indent="-311150" lvl="0" marL="457200" rtl="0" algn="l">
              <a:spcBef>
                <a:spcPts val="1000"/>
              </a:spcBef>
              <a:spcAft>
                <a:spcPts val="0"/>
              </a:spcAft>
              <a:buSzPts val="1300"/>
              <a:buChar char="●"/>
            </a:pPr>
            <a:r>
              <a:rPr lang="en"/>
              <a:t>This is known as </a:t>
            </a:r>
            <a:r>
              <a:rPr b="1" i="1" lang="en">
                <a:solidFill>
                  <a:srgbClr val="FF0000"/>
                </a:solidFill>
              </a:rPr>
              <a:t>Separation</a:t>
            </a:r>
            <a:r>
              <a:rPr b="1" i="1" lang="en">
                <a:solidFill>
                  <a:srgbClr val="FF0000"/>
                </a:solidFill>
              </a:rPr>
              <a:t> of Concerns</a:t>
            </a:r>
            <a:r>
              <a:rPr lang="en"/>
              <a:t>.</a:t>
            </a:r>
            <a:endParaRPr/>
          </a:p>
          <a:p>
            <a:pPr indent="-298450" lvl="1" marL="914400" rtl="0" algn="l">
              <a:spcBef>
                <a:spcPts val="0"/>
              </a:spcBef>
              <a:spcAft>
                <a:spcPts val="0"/>
              </a:spcAft>
              <a:buSzPts val="1100"/>
              <a:buChar char="○"/>
            </a:pPr>
            <a:r>
              <a:rPr lang="en"/>
              <a:t>Each class is only </a:t>
            </a:r>
            <a:r>
              <a:rPr lang="en">
                <a:solidFill>
                  <a:srgbClr val="666666"/>
                </a:solidFill>
              </a:rPr>
              <a:t>concerned with only</a:t>
            </a:r>
            <a:r>
              <a:rPr b="1" i="1" lang="en">
                <a:solidFill>
                  <a:srgbClr val="FF0000"/>
                </a:solidFill>
              </a:rPr>
              <a:t> a single responsibility</a:t>
            </a:r>
            <a:r>
              <a:rPr lang="en">
                <a:solidFill>
                  <a:srgbClr val="666666"/>
                </a:solidFill>
              </a:rPr>
              <a:t>, or task</a:t>
            </a:r>
            <a:r>
              <a:rPr lang="en"/>
              <a:t>.</a:t>
            </a:r>
            <a:endParaRPr/>
          </a:p>
          <a:p>
            <a:pPr indent="-298450" lvl="1" marL="914400" rtl="0" algn="l">
              <a:spcBef>
                <a:spcPts val="0"/>
              </a:spcBef>
              <a:spcAft>
                <a:spcPts val="0"/>
              </a:spcAft>
              <a:buSzPts val="1100"/>
              <a:buChar char="○"/>
            </a:pPr>
            <a:r>
              <a:rPr lang="en"/>
              <a:t>This increases </a:t>
            </a:r>
            <a:r>
              <a:rPr b="1" i="1" lang="en">
                <a:solidFill>
                  <a:srgbClr val="FF0000"/>
                </a:solidFill>
              </a:rPr>
              <a:t>reusability</a:t>
            </a:r>
            <a:r>
              <a:rPr lang="en"/>
              <a:t>.</a:t>
            </a:r>
            <a:endParaRPr/>
          </a:p>
          <a:p>
            <a:pPr indent="-298450" lvl="1" marL="914400" rtl="0" algn="l">
              <a:spcBef>
                <a:spcPts val="0"/>
              </a:spcBef>
              <a:spcAft>
                <a:spcPts val="0"/>
              </a:spcAft>
              <a:buSzPts val="1100"/>
              <a:buChar char="○"/>
            </a:pPr>
            <a:r>
              <a:rPr lang="en"/>
              <a:t> And makes testing easier.</a:t>
            </a:r>
            <a:endParaRPr/>
          </a:p>
          <a:p>
            <a:pPr indent="-311150" lvl="0" marL="457200" rtl="0" algn="l">
              <a:spcBef>
                <a:spcPts val="1000"/>
              </a:spcBef>
              <a:spcAft>
                <a:spcPts val="0"/>
              </a:spcAft>
              <a:buSzPts val="1300"/>
              <a:buChar char="●"/>
            </a:pPr>
            <a:r>
              <a:rPr lang="en"/>
              <a:t>While this may at first feel like more work, it's a time proven tactic to increase </a:t>
            </a:r>
            <a:r>
              <a:rPr b="1" i="1" lang="en">
                <a:solidFill>
                  <a:srgbClr val="FF0000"/>
                </a:solidFill>
              </a:rPr>
              <a:t>efficiency</a:t>
            </a:r>
            <a:r>
              <a:rPr lang="en"/>
              <a:t> over time through reuse.</a:t>
            </a:r>
            <a:endParaRPr/>
          </a:p>
        </p:txBody>
      </p:sp>
      <p:sp>
        <p:nvSpPr>
          <p:cNvPr id="372" name="Google Shape;372;p44"/>
          <p:cNvSpPr txBox="1"/>
          <p:nvPr>
            <p:ph idx="3" type="body"/>
          </p:nvPr>
        </p:nvSpPr>
        <p:spPr>
          <a:xfrm>
            <a:off x="5192225"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Instead of having one specialized Blob class, we should use several more generic reusable pieces that can be put together in a specialized way.</a:t>
            </a:r>
            <a:endParaRPr/>
          </a:p>
        </p:txBody>
      </p:sp>
      <p:pic>
        <p:nvPicPr>
          <p:cNvPr id="373" name="Google Shape;373;p44"/>
          <p:cNvPicPr preferRelativeResize="0"/>
          <p:nvPr/>
        </p:nvPicPr>
        <p:blipFill>
          <a:blip r:embed="rId4">
            <a:alphaModFix/>
          </a:blip>
          <a:stretch>
            <a:fillRect/>
          </a:stretch>
        </p:blipFill>
        <p:spPr>
          <a:xfrm>
            <a:off x="5192226" y="1441972"/>
            <a:ext cx="3706501" cy="2518327"/>
          </a:xfrm>
          <a:prstGeom prst="rect">
            <a:avLst/>
          </a:prstGeom>
          <a:noFill/>
          <a:ln cap="flat" cmpd="sng" w="19050">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73"/>
                                        </p:tgtEl>
                                        <p:attrNameLst>
                                          <p:attrName>style.visibility</p:attrName>
                                        </p:attrNameLst>
                                      </p:cBhvr>
                                      <p:to>
                                        <p:strVal val="visible"/>
                                      </p:to>
                                    </p:set>
                                    <p:anim calcmode="lin" valueType="num">
                                      <p:cBhvr additive="base">
                                        <p:cTn dur="300"/>
                                        <p:tgtEl>
                                          <p:spTgt spid="373"/>
                                        </p:tgtEl>
                                        <p:attrNameLst>
                                          <p:attrName>ppt_w</p:attrName>
                                        </p:attrNameLst>
                                      </p:cBhvr>
                                      <p:tavLst>
                                        <p:tav fmla="" tm="0">
                                          <p:val>
                                            <p:strVal val="0"/>
                                          </p:val>
                                        </p:tav>
                                        <p:tav fmla="" tm="100000">
                                          <p:val>
                                            <p:strVal val="#ppt_w"/>
                                          </p:val>
                                        </p:tav>
                                      </p:tavLst>
                                    </p:anim>
                                    <p:anim calcmode="lin" valueType="num">
                                      <p:cBhvr additive="base">
                                        <p:cTn dur="300"/>
                                        <p:tgtEl>
                                          <p:spTgt spid="37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9" name="Google Shape;379;p45"/>
          <p:cNvSpPr txBox="1"/>
          <p:nvPr>
            <p:ph type="title"/>
          </p:nvPr>
        </p:nvSpPr>
        <p:spPr>
          <a:xfrm>
            <a:off x="1436850" y="20487"/>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HttpRequest</a:t>
            </a:r>
            <a:endParaRPr/>
          </a:p>
        </p:txBody>
      </p:sp>
      <p:sp>
        <p:nvSpPr>
          <p:cNvPr id="380" name="Google Shape;380;p45"/>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We'll start with a container to hold an HTTP request. It will allow easy access to the request method (GET/POST), URI, headers, and body.</a:t>
            </a:r>
            <a:endParaRPr/>
          </a:p>
        </p:txBody>
      </p:sp>
      <p:sp>
        <p:nvSpPr>
          <p:cNvPr id="381" name="Google Shape;381;p45"/>
          <p:cNvSpPr txBox="1"/>
          <p:nvPr>
            <p:ph idx="4" type="body"/>
          </p:nvPr>
        </p:nvSpPr>
        <p:spPr>
          <a:xfrm>
            <a:off x="141600" y="4422250"/>
            <a:ext cx="26421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Understanding what each piece in the class will help with future steps.</a:t>
            </a:r>
            <a:endParaRPr/>
          </a:p>
        </p:txBody>
      </p:sp>
      <p:sp>
        <p:nvSpPr>
          <p:cNvPr id="382" name="Google Shape;382;p45"/>
          <p:cNvSpPr txBox="1"/>
          <p:nvPr>
            <p:ph idx="2" type="body"/>
          </p:nvPr>
        </p:nvSpPr>
        <p:spPr>
          <a:xfrm>
            <a:off x="2783700" y="1443050"/>
            <a:ext cx="6237600" cy="33171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In the</a:t>
            </a:r>
            <a:r>
              <a:rPr lang="en" sz="1200"/>
              <a:t> </a:t>
            </a:r>
            <a:r>
              <a:rPr lang="en" sz="1200">
                <a:solidFill>
                  <a:srgbClr val="FF0000"/>
                </a:solidFill>
                <a:latin typeface="Courier New"/>
                <a:ea typeface="Courier New"/>
                <a:cs typeface="Courier New"/>
                <a:sym typeface="Courier New"/>
              </a:rPr>
              <a:t>httpserver</a:t>
            </a:r>
            <a:r>
              <a:rPr lang="en" sz="1200"/>
              <a:t> package, implement the the UML depicted on the left it. Include an </a:t>
            </a:r>
            <a:r>
              <a:rPr lang="en" sz="1200"/>
              <a:t>initializing</a:t>
            </a:r>
            <a:r>
              <a:rPr lang="en" sz="1200"/>
              <a:t> constructor for all fields.</a:t>
            </a:r>
            <a:endParaRPr sz="1200"/>
          </a:p>
          <a:p>
            <a:pPr indent="-304800" lvl="0" marL="457200" rtl="0" algn="l">
              <a:spcBef>
                <a:spcPts val="0"/>
              </a:spcBef>
              <a:spcAft>
                <a:spcPts val="0"/>
              </a:spcAft>
              <a:buSzPts val="1200"/>
              <a:buChar char="●"/>
            </a:pPr>
            <a:r>
              <a:rPr lang="en" sz="1200"/>
              <a:t>The </a:t>
            </a:r>
            <a:r>
              <a:rPr lang="en" sz="1200">
                <a:latin typeface="Courier New"/>
                <a:ea typeface="Courier New"/>
                <a:cs typeface="Courier New"/>
                <a:sym typeface="Courier New"/>
              </a:rPr>
              <a:t>Method</a:t>
            </a:r>
            <a:r>
              <a:rPr lang="en" sz="1200"/>
              <a:t> enumeration can be an </a:t>
            </a:r>
            <a:r>
              <a:rPr b="1" i="1" lang="en" sz="1200">
                <a:solidFill>
                  <a:srgbClr val="FF0000"/>
                </a:solidFill>
              </a:rPr>
              <a:t>inner </a:t>
            </a:r>
            <a:r>
              <a:rPr b="1" i="1" lang="en" sz="1200">
                <a:solidFill>
                  <a:srgbClr val="FF0000"/>
                </a:solidFill>
              </a:rPr>
              <a:t>class</a:t>
            </a:r>
            <a:r>
              <a:rPr lang="en" sz="1200"/>
              <a:t>.</a:t>
            </a:r>
            <a:endParaRPr sz="1200"/>
          </a:p>
          <a:p>
            <a:pPr indent="-304800" lvl="0" marL="457200" rtl="0" algn="l">
              <a:spcBef>
                <a:spcPts val="0"/>
              </a:spcBef>
              <a:spcAft>
                <a:spcPts val="0"/>
              </a:spcAft>
              <a:buSzPts val="1200"/>
              <a:buChar char="●"/>
            </a:pPr>
            <a:r>
              <a:rPr lang="en" sz="1200"/>
              <a:t>For the line </a:t>
            </a:r>
            <a:r>
              <a:rPr lang="en" sz="1200">
                <a:latin typeface="Courier New"/>
                <a:ea typeface="Courier New"/>
                <a:cs typeface="Courier New"/>
                <a:sym typeface="Courier New"/>
              </a:rPr>
              <a:t>POST / HTTP/1.1</a:t>
            </a:r>
            <a:endParaRPr sz="1200">
              <a:latin typeface="Courier New"/>
              <a:ea typeface="Courier New"/>
              <a:cs typeface="Courier New"/>
              <a:sym typeface="Courier New"/>
            </a:endParaRPr>
          </a:p>
          <a:p>
            <a:pPr indent="-292100" lvl="1" marL="914400" rtl="0" algn="l">
              <a:spcBef>
                <a:spcPts val="0"/>
              </a:spcBef>
              <a:spcAft>
                <a:spcPts val="0"/>
              </a:spcAft>
              <a:buSzPts val="1000"/>
              <a:buChar char="○"/>
            </a:pPr>
            <a:r>
              <a:rPr lang="en" sz="1000">
                <a:latin typeface="Courier New"/>
                <a:ea typeface="Courier New"/>
                <a:cs typeface="Courier New"/>
                <a:sym typeface="Courier New"/>
              </a:rPr>
              <a:t>POST</a:t>
            </a:r>
            <a:r>
              <a:rPr lang="en" sz="1000"/>
              <a:t> is the </a:t>
            </a:r>
            <a:r>
              <a:rPr b="1" i="1" lang="en" sz="1000">
                <a:solidFill>
                  <a:srgbClr val="FF0000"/>
                </a:solidFill>
              </a:rPr>
              <a:t>method</a:t>
            </a:r>
            <a:endParaRPr b="1" i="1" sz="1000">
              <a:solidFill>
                <a:srgbClr val="FF0000"/>
              </a:solidFill>
            </a:endParaRPr>
          </a:p>
          <a:p>
            <a:pPr indent="-292100" lvl="1" marL="914400" rtl="0" algn="l">
              <a:spcBef>
                <a:spcPts val="0"/>
              </a:spcBef>
              <a:spcAft>
                <a:spcPts val="0"/>
              </a:spcAft>
              <a:buSzPts val="1000"/>
              <a:buChar char="○"/>
            </a:pPr>
            <a:r>
              <a:rPr lang="en" sz="1000">
                <a:latin typeface="Courier New"/>
                <a:ea typeface="Courier New"/>
                <a:cs typeface="Courier New"/>
                <a:sym typeface="Courier New"/>
              </a:rPr>
              <a:t>/</a:t>
            </a:r>
            <a:r>
              <a:rPr lang="en" sz="1000"/>
              <a:t> is the </a:t>
            </a:r>
            <a:r>
              <a:rPr b="1" i="1" lang="en" sz="1000">
                <a:solidFill>
                  <a:srgbClr val="FF0000"/>
                </a:solidFill>
              </a:rPr>
              <a:t>URI </a:t>
            </a:r>
            <a:r>
              <a:rPr lang="en" sz="1000"/>
              <a:t>(we'll do more with this later)</a:t>
            </a:r>
            <a:endParaRPr sz="1000"/>
          </a:p>
          <a:p>
            <a:pPr indent="-292100" lvl="1" marL="914400" rtl="0" algn="l">
              <a:spcBef>
                <a:spcPts val="0"/>
              </a:spcBef>
              <a:spcAft>
                <a:spcPts val="0"/>
              </a:spcAft>
              <a:buSzPts val="1000"/>
              <a:buChar char="○"/>
            </a:pPr>
            <a:r>
              <a:rPr lang="en" sz="1000">
                <a:latin typeface="Courier New"/>
                <a:ea typeface="Courier New"/>
                <a:cs typeface="Courier New"/>
                <a:sym typeface="Courier New"/>
              </a:rPr>
              <a:t>HTTP/1.1</a:t>
            </a:r>
            <a:r>
              <a:rPr lang="en" sz="1000"/>
              <a:t> is the protocol but we only use HTTPv1.1 so it won't be stored</a:t>
            </a:r>
            <a:endParaRPr sz="1000"/>
          </a:p>
          <a:p>
            <a:pPr indent="-304800" lvl="0" marL="457200" rtl="0" algn="l">
              <a:spcBef>
                <a:spcPts val="1000"/>
              </a:spcBef>
              <a:spcAft>
                <a:spcPts val="0"/>
              </a:spcAft>
              <a:buSzPts val="1200"/>
              <a:buChar char="●"/>
            </a:pPr>
            <a:r>
              <a:rPr lang="en" sz="1200"/>
              <a:t>Headers is a map of attribute to values. For the line </a:t>
            </a:r>
            <a:r>
              <a:rPr lang="en" sz="1200">
                <a:latin typeface="Courier New"/>
                <a:ea typeface="Courier New"/>
                <a:cs typeface="Courier New"/>
                <a:sym typeface="Courier New"/>
              </a:rPr>
              <a:t>Content-Length: 25</a:t>
            </a:r>
            <a:endParaRPr sz="1200">
              <a:latin typeface="Courier New"/>
              <a:ea typeface="Courier New"/>
              <a:cs typeface="Courier New"/>
              <a:sym typeface="Courier New"/>
            </a:endParaRPr>
          </a:p>
          <a:p>
            <a:pPr indent="-292100" lvl="1" marL="914400" rtl="0" algn="l">
              <a:spcBef>
                <a:spcPts val="0"/>
              </a:spcBef>
              <a:spcAft>
                <a:spcPts val="0"/>
              </a:spcAft>
              <a:buSzPts val="1000"/>
              <a:buChar char="○"/>
            </a:pPr>
            <a:r>
              <a:rPr lang="en" sz="1000">
                <a:latin typeface="Courier New"/>
                <a:ea typeface="Courier New"/>
                <a:cs typeface="Courier New"/>
                <a:sym typeface="Courier New"/>
              </a:rPr>
              <a:t>Conent-Length</a:t>
            </a:r>
            <a:r>
              <a:rPr lang="en" sz="1000"/>
              <a:t> would be the </a:t>
            </a:r>
            <a:r>
              <a:rPr b="1" i="1" lang="en" sz="1000">
                <a:solidFill>
                  <a:srgbClr val="FF0000"/>
                </a:solidFill>
              </a:rPr>
              <a:t>key</a:t>
            </a:r>
            <a:endParaRPr b="1" i="1" sz="1000">
              <a:solidFill>
                <a:srgbClr val="FF0000"/>
              </a:solidFill>
            </a:endParaRPr>
          </a:p>
          <a:p>
            <a:pPr indent="-292100" lvl="1" marL="914400" rtl="0" algn="l">
              <a:spcBef>
                <a:spcPts val="0"/>
              </a:spcBef>
              <a:spcAft>
                <a:spcPts val="0"/>
              </a:spcAft>
              <a:buSzPts val="1000"/>
              <a:buChar char="○"/>
            </a:pPr>
            <a:r>
              <a:rPr lang="en" sz="1000">
                <a:latin typeface="Courier New"/>
                <a:ea typeface="Courier New"/>
                <a:cs typeface="Courier New"/>
                <a:sym typeface="Courier New"/>
              </a:rPr>
              <a:t>25</a:t>
            </a:r>
            <a:r>
              <a:rPr lang="en" sz="1000"/>
              <a:t> would be the </a:t>
            </a:r>
            <a:r>
              <a:rPr b="1" i="1" lang="en" sz="1000">
                <a:solidFill>
                  <a:srgbClr val="FF0000"/>
                </a:solidFill>
              </a:rPr>
              <a:t>value</a:t>
            </a:r>
            <a:endParaRPr b="1" i="1" sz="1000">
              <a:solidFill>
                <a:srgbClr val="FF0000"/>
              </a:solidFill>
            </a:endParaRPr>
          </a:p>
          <a:p>
            <a:pPr indent="-304800" lvl="0" marL="457200" rtl="0" algn="l">
              <a:lnSpc>
                <a:spcPct val="125000"/>
              </a:lnSpc>
              <a:spcBef>
                <a:spcPts val="1000"/>
              </a:spcBef>
              <a:spcAft>
                <a:spcPts val="0"/>
              </a:spcAft>
              <a:buClr>
                <a:srgbClr val="666666"/>
              </a:buClr>
              <a:buSzPts val="1200"/>
              <a:buChar char="●"/>
            </a:pPr>
            <a:r>
              <a:rPr lang="en" sz="1200">
                <a:solidFill>
                  <a:srgbClr val="666666"/>
                </a:solidFill>
              </a:rPr>
              <a:t>The body is the content of the message. For our previous example that would be:</a:t>
            </a:r>
            <a:endParaRPr sz="1200">
              <a:solidFill>
                <a:srgbClr val="666666"/>
              </a:solidFill>
            </a:endParaRPr>
          </a:p>
          <a:p>
            <a:pPr indent="0" lvl="0" marL="457200" rtl="0" algn="l">
              <a:lnSpc>
                <a:spcPct val="100000"/>
              </a:lnSpc>
              <a:spcBef>
                <a:spcPts val="0"/>
              </a:spcBef>
              <a:spcAft>
                <a:spcPts val="0"/>
              </a:spcAft>
              <a:buNone/>
            </a:pPr>
            <a:r>
              <a:rPr lang="en" sz="1200">
                <a:latin typeface="Courier New"/>
                <a:ea typeface="Courier New"/>
                <a:cs typeface="Courier New"/>
                <a:sym typeface="Courier New"/>
              </a:rPr>
              <a:t>year=2005&amp;month=06&amp;day=12</a:t>
            </a:r>
            <a:endParaRPr sz="1200">
              <a:latin typeface="Courier New"/>
              <a:ea typeface="Courier New"/>
              <a:cs typeface="Courier New"/>
              <a:sym typeface="Courier New"/>
            </a:endParaRPr>
          </a:p>
          <a:p>
            <a:pPr indent="-304800" lvl="0" marL="457200" rtl="0" algn="l">
              <a:lnSpc>
                <a:spcPct val="125000"/>
              </a:lnSpc>
              <a:spcBef>
                <a:spcPts val="1000"/>
              </a:spcBef>
              <a:spcAft>
                <a:spcPts val="0"/>
              </a:spcAft>
              <a:buSzPts val="1200"/>
              <a:buChar char="●"/>
            </a:pPr>
            <a:r>
              <a:rPr lang="en" sz="1200"/>
              <a:t>toString should use the format:</a:t>
            </a:r>
            <a:endParaRPr sz="1200"/>
          </a:p>
          <a:p>
            <a:pPr indent="0" lvl="0" marL="0" rtl="0" algn="l">
              <a:lnSpc>
                <a:spcPct val="150000"/>
              </a:lnSpc>
              <a:spcBef>
                <a:spcPts val="0"/>
              </a:spcBef>
              <a:spcAft>
                <a:spcPts val="0"/>
              </a:spcAft>
              <a:buNone/>
            </a:pPr>
            <a:r>
              <a:rPr lang="en" sz="900">
                <a:solidFill>
                  <a:srgbClr val="666666"/>
                </a:solidFill>
                <a:latin typeface="Courier New"/>
                <a:ea typeface="Courier New"/>
                <a:cs typeface="Courier New"/>
                <a:sym typeface="Courier New"/>
              </a:rPr>
              <a:t>   </a:t>
            </a:r>
            <a:r>
              <a:rPr lang="en" sz="1000">
                <a:solidFill>
                  <a:srgbClr val="666666"/>
                </a:solidFill>
                <a:latin typeface="Courier New"/>
                <a:ea typeface="Courier New"/>
                <a:cs typeface="Courier New"/>
                <a:sym typeface="Courier New"/>
              </a:rPr>
              <a:t>HTTPRequest {method: &lt;method&gt;, uri: &lt;uri&gt;, headers: &lt;headers&gt;, body: &lt;body&gt;}</a:t>
            </a:r>
            <a:endParaRPr/>
          </a:p>
        </p:txBody>
      </p:sp>
      <p:sp>
        <p:nvSpPr>
          <p:cNvPr id="383" name="Google Shape;383;p4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10.4</a:t>
            </a:r>
            <a:endParaRPr/>
          </a:p>
        </p:txBody>
      </p:sp>
      <p:pic>
        <p:nvPicPr>
          <p:cNvPr id="384" name="Google Shape;384;p45"/>
          <p:cNvPicPr preferRelativeResize="0"/>
          <p:nvPr/>
        </p:nvPicPr>
        <p:blipFill>
          <a:blip r:embed="rId3">
            <a:alphaModFix/>
          </a:blip>
          <a:stretch>
            <a:fillRect/>
          </a:stretch>
        </p:blipFill>
        <p:spPr>
          <a:xfrm>
            <a:off x="727775" y="1445925"/>
            <a:ext cx="1851350" cy="2854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6"/>
          <p:cNvSpPr txBox="1"/>
          <p:nvPr>
            <p:ph idx="1" type="body"/>
          </p:nvPr>
        </p:nvSpPr>
        <p:spPr>
          <a:xfrm>
            <a:off x="65250" y="731625"/>
            <a:ext cx="8955900" cy="4311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Next we'll implement the </a:t>
            </a:r>
            <a:r>
              <a:rPr lang="en">
                <a:latin typeface="Courier New"/>
                <a:ea typeface="Courier New"/>
                <a:cs typeface="Courier New"/>
                <a:sym typeface="Courier New"/>
              </a:rPr>
              <a:t>HttpRequest</a:t>
            </a:r>
            <a:r>
              <a:rPr lang="en">
                <a:latin typeface="Courier New"/>
                <a:ea typeface="Courier New"/>
                <a:cs typeface="Courier New"/>
                <a:sym typeface="Courier New"/>
              </a:rPr>
              <a:t>Parser</a:t>
            </a:r>
            <a:r>
              <a:rPr lang="en"/>
              <a:t> which will create </a:t>
            </a:r>
            <a:r>
              <a:rPr lang="en">
                <a:latin typeface="Courier New"/>
                <a:ea typeface="Courier New"/>
                <a:cs typeface="Courier New"/>
                <a:sym typeface="Courier New"/>
              </a:rPr>
              <a:t>HttpRequest</a:t>
            </a:r>
            <a:r>
              <a:rPr lang="en"/>
              <a:t>s.</a:t>
            </a:r>
            <a:endParaRPr/>
          </a:p>
        </p:txBody>
      </p:sp>
      <p:sp>
        <p:nvSpPr>
          <p:cNvPr id="390" name="Google Shape;390;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1" name="Google Shape;391;p46"/>
          <p:cNvSpPr txBox="1"/>
          <p:nvPr>
            <p:ph idx="2" type="body"/>
          </p:nvPr>
        </p:nvSpPr>
        <p:spPr>
          <a:xfrm>
            <a:off x="3143775" y="1285275"/>
            <a:ext cx="5797200" cy="3840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Add an </a:t>
            </a:r>
            <a:r>
              <a:rPr lang="en">
                <a:solidFill>
                  <a:srgbClr val="FF0000"/>
                </a:solidFill>
                <a:latin typeface="Courier New"/>
                <a:ea typeface="Courier New"/>
                <a:cs typeface="Courier New"/>
                <a:sym typeface="Courier New"/>
              </a:rPr>
              <a:t>HttpRequest</a:t>
            </a:r>
            <a:r>
              <a:rPr lang="en">
                <a:solidFill>
                  <a:srgbClr val="FF0000"/>
                </a:solidFill>
                <a:latin typeface="Courier New"/>
                <a:ea typeface="Courier New"/>
                <a:cs typeface="Courier New"/>
                <a:sym typeface="Courier New"/>
              </a:rPr>
              <a:t>Parser</a:t>
            </a:r>
            <a:r>
              <a:rPr lang="en"/>
              <a:t> class to the </a:t>
            </a:r>
            <a:r>
              <a:rPr lang="en">
                <a:latin typeface="Courier New"/>
                <a:ea typeface="Courier New"/>
                <a:cs typeface="Courier New"/>
                <a:sym typeface="Courier New"/>
              </a:rPr>
              <a:t>httpserver</a:t>
            </a:r>
            <a:r>
              <a:rPr lang="en"/>
              <a:t> package.</a:t>
            </a:r>
            <a:endParaRPr/>
          </a:p>
          <a:p>
            <a:pPr indent="-311150" lvl="0" marL="457200" rtl="0" algn="l">
              <a:spcBef>
                <a:spcPts val="1000"/>
              </a:spcBef>
              <a:spcAft>
                <a:spcPts val="0"/>
              </a:spcAft>
              <a:buSzPts val="1300"/>
              <a:buChar char="●"/>
            </a:pPr>
            <a:r>
              <a:rPr lang="en"/>
              <a:t>All of the methods will be </a:t>
            </a:r>
            <a:r>
              <a:rPr lang="en">
                <a:latin typeface="Courier New"/>
                <a:ea typeface="Courier New"/>
                <a:cs typeface="Courier New"/>
                <a:sym typeface="Courier New"/>
              </a:rPr>
              <a:t>static</a:t>
            </a:r>
            <a:r>
              <a:rPr lang="en"/>
              <a:t>.</a:t>
            </a:r>
            <a:endParaRPr/>
          </a:p>
          <a:p>
            <a:pPr indent="-311150" lvl="0" marL="457200" rtl="0" algn="l">
              <a:spcBef>
                <a:spcPts val="1000"/>
              </a:spcBef>
              <a:spcAft>
                <a:spcPts val="0"/>
              </a:spcAft>
              <a:buSzPts val="1300"/>
              <a:buChar char="●"/>
            </a:pPr>
            <a:r>
              <a:rPr lang="en"/>
              <a:t>Use the UML on the left to help guide your implementation.</a:t>
            </a:r>
            <a:endParaRPr/>
          </a:p>
          <a:p>
            <a:pPr indent="-311150" lvl="0" marL="457200" rtl="0" algn="l">
              <a:spcBef>
                <a:spcPts val="1000"/>
              </a:spcBef>
              <a:spcAft>
                <a:spcPts val="0"/>
              </a:spcAft>
              <a:buSzPts val="1300"/>
              <a:buChar char="●"/>
            </a:pPr>
            <a:r>
              <a:rPr lang="en"/>
              <a:t>Start </a:t>
            </a:r>
            <a:r>
              <a:rPr lang="en"/>
              <a:t>with </a:t>
            </a:r>
            <a:r>
              <a:rPr b="1" i="1" lang="en">
                <a:solidFill>
                  <a:srgbClr val="FF0000"/>
                </a:solidFill>
              </a:rPr>
              <a:t>parseRequest</a:t>
            </a:r>
            <a:r>
              <a:rPr lang="en">
                <a:solidFill>
                  <a:srgbClr val="666666"/>
                </a:solidFill>
              </a:rPr>
              <a:t>. It</a:t>
            </a:r>
            <a:r>
              <a:rPr b="1" i="1" lang="en">
                <a:solidFill>
                  <a:srgbClr val="FF0000"/>
                </a:solidFill>
              </a:rPr>
              <a:t> </a:t>
            </a:r>
            <a:r>
              <a:rPr lang="en"/>
              <a:t>should:</a:t>
            </a:r>
            <a:endParaRPr/>
          </a:p>
          <a:p>
            <a:pPr indent="-298450" lvl="1" marL="914400" rtl="0" algn="l">
              <a:spcBef>
                <a:spcPts val="0"/>
              </a:spcBef>
              <a:spcAft>
                <a:spcPts val="0"/>
              </a:spcAft>
              <a:buSzPts val="1100"/>
              <a:buChar char="○"/>
            </a:pPr>
            <a:r>
              <a:rPr lang="en"/>
              <a:t>Read the </a:t>
            </a:r>
            <a:r>
              <a:rPr b="1" i="1" lang="en">
                <a:solidFill>
                  <a:srgbClr val="FF0000"/>
                </a:solidFill>
              </a:rPr>
              <a:t>first line</a:t>
            </a:r>
            <a:r>
              <a:rPr lang="en"/>
              <a:t> from the stream and split it into the three parts (</a:t>
            </a:r>
            <a:r>
              <a:rPr lang="en"/>
              <a:t>method</a:t>
            </a:r>
            <a:r>
              <a:rPr lang="en"/>
              <a:t>, uri, </a:t>
            </a:r>
            <a:r>
              <a:rPr lang="en"/>
              <a:t>protocol</a:t>
            </a:r>
            <a:r>
              <a:rPr lang="en"/>
              <a:t> (</a:t>
            </a:r>
            <a:r>
              <a:rPr i="1" lang="en"/>
              <a:t>ignored</a:t>
            </a:r>
            <a:r>
              <a:rPr lang="en"/>
              <a:t>)). </a:t>
            </a:r>
            <a:endParaRPr/>
          </a:p>
          <a:p>
            <a:pPr indent="-292100" lvl="2" marL="1371600" rtl="0" algn="l">
              <a:spcBef>
                <a:spcPts val="0"/>
              </a:spcBef>
              <a:spcAft>
                <a:spcPts val="0"/>
              </a:spcAft>
              <a:buSzPts val="1000"/>
              <a:buChar char="■"/>
            </a:pPr>
            <a:r>
              <a:rPr i="1" lang="en" sz="1000"/>
              <a:t>Hint: Make use the </a:t>
            </a:r>
            <a:r>
              <a:rPr i="1" lang="en" sz="1000">
                <a:latin typeface="Courier New"/>
                <a:ea typeface="Courier New"/>
                <a:cs typeface="Courier New"/>
                <a:sym typeface="Courier New"/>
              </a:rPr>
              <a:t>Method.valueOf()</a:t>
            </a:r>
            <a:r>
              <a:rPr i="1" lang="en" sz="1000"/>
              <a:t> method.</a:t>
            </a:r>
            <a:endParaRPr i="1" sz="1000"/>
          </a:p>
          <a:p>
            <a:pPr indent="-298450" lvl="1" marL="914400" rtl="0" algn="l">
              <a:spcBef>
                <a:spcPts val="0"/>
              </a:spcBef>
              <a:spcAft>
                <a:spcPts val="0"/>
              </a:spcAft>
              <a:buSzPts val="1100"/>
              <a:buChar char="○"/>
            </a:pPr>
            <a:r>
              <a:rPr lang="en"/>
              <a:t>Use parseHeaders to get create the </a:t>
            </a:r>
            <a:r>
              <a:rPr b="1" i="1" lang="en">
                <a:solidFill>
                  <a:srgbClr val="FF0000"/>
                </a:solidFill>
              </a:rPr>
              <a:t>headers map</a:t>
            </a:r>
            <a:r>
              <a:rPr lang="en"/>
              <a:t>.</a:t>
            </a:r>
            <a:endParaRPr/>
          </a:p>
          <a:p>
            <a:pPr indent="-298450" lvl="2" marL="1371600" rtl="0" algn="l">
              <a:spcBef>
                <a:spcPts val="0"/>
              </a:spcBef>
              <a:spcAft>
                <a:spcPts val="0"/>
              </a:spcAft>
              <a:buSzPts val="1100"/>
              <a:buChar char="■"/>
            </a:pPr>
            <a:r>
              <a:rPr lang="en"/>
              <a:t>Stub out </a:t>
            </a:r>
            <a:r>
              <a:rPr lang="en">
                <a:latin typeface="Courier New"/>
                <a:ea typeface="Courier New"/>
                <a:cs typeface="Courier New"/>
                <a:sym typeface="Courier New"/>
              </a:rPr>
              <a:t>parseHeaders</a:t>
            </a:r>
            <a:r>
              <a:rPr lang="en"/>
              <a:t> by returning an </a:t>
            </a:r>
            <a:r>
              <a:rPr b="1" i="1" lang="en">
                <a:solidFill>
                  <a:srgbClr val="FF0000"/>
                </a:solidFill>
              </a:rPr>
              <a:t>empty</a:t>
            </a:r>
            <a:r>
              <a:rPr lang="en"/>
              <a:t> </a:t>
            </a:r>
            <a:r>
              <a:rPr lang="en">
                <a:latin typeface="Courier New"/>
                <a:ea typeface="Courier New"/>
                <a:cs typeface="Courier New"/>
                <a:sym typeface="Courier New"/>
              </a:rPr>
              <a:t>HashMap</a:t>
            </a:r>
            <a:r>
              <a:rPr lang="en"/>
              <a:t>.</a:t>
            </a:r>
            <a:endParaRPr/>
          </a:p>
          <a:p>
            <a:pPr indent="-298450" lvl="1" marL="914400" rtl="0" algn="l">
              <a:spcBef>
                <a:spcPts val="0"/>
              </a:spcBef>
              <a:spcAft>
                <a:spcPts val="0"/>
              </a:spcAft>
              <a:buSzPts val="1100"/>
              <a:buChar char="○"/>
            </a:pPr>
            <a:r>
              <a:rPr lang="en"/>
              <a:t>Use parseBody to get the </a:t>
            </a:r>
            <a:r>
              <a:rPr b="1" i="1" lang="en">
                <a:solidFill>
                  <a:srgbClr val="FF0000"/>
                </a:solidFill>
              </a:rPr>
              <a:t>body string</a:t>
            </a:r>
            <a:r>
              <a:rPr lang="en"/>
              <a:t>.</a:t>
            </a:r>
            <a:endParaRPr/>
          </a:p>
          <a:p>
            <a:pPr indent="-298450" lvl="2" marL="1371600" rtl="0" algn="l">
              <a:spcBef>
                <a:spcPts val="0"/>
              </a:spcBef>
              <a:spcAft>
                <a:spcPts val="0"/>
              </a:spcAft>
              <a:buSzPts val="1100"/>
              <a:buChar char="■"/>
            </a:pPr>
            <a:r>
              <a:rPr lang="en"/>
              <a:t>Stub out </a:t>
            </a:r>
            <a:r>
              <a:rPr lang="en">
                <a:latin typeface="Courier New"/>
                <a:ea typeface="Courier New"/>
                <a:cs typeface="Courier New"/>
                <a:sym typeface="Courier New"/>
              </a:rPr>
              <a:t>parseBody</a:t>
            </a:r>
            <a:r>
              <a:rPr lang="en"/>
              <a:t> by returning </a:t>
            </a:r>
            <a:r>
              <a:rPr lang="en">
                <a:latin typeface="Courier New"/>
                <a:ea typeface="Courier New"/>
                <a:cs typeface="Courier New"/>
                <a:sym typeface="Courier New"/>
              </a:rPr>
              <a:t>null</a:t>
            </a:r>
            <a:r>
              <a:rPr lang="en"/>
              <a:t>.</a:t>
            </a:r>
            <a:endParaRPr/>
          </a:p>
          <a:p>
            <a:pPr indent="-298450" lvl="1" marL="914400" rtl="0" algn="l">
              <a:spcBef>
                <a:spcPts val="0"/>
              </a:spcBef>
              <a:spcAft>
                <a:spcPts val="0"/>
              </a:spcAft>
              <a:buSzPts val="1100"/>
              <a:buChar char="○"/>
            </a:pPr>
            <a:r>
              <a:rPr lang="en"/>
              <a:t>Put all the pieces into a </a:t>
            </a:r>
            <a:r>
              <a:rPr lang="en">
                <a:latin typeface="Courier New"/>
                <a:ea typeface="Courier New"/>
                <a:cs typeface="Courier New"/>
                <a:sym typeface="Courier New"/>
              </a:rPr>
              <a:t>HttpRequest</a:t>
            </a:r>
            <a:r>
              <a:rPr lang="en"/>
              <a:t> and </a:t>
            </a:r>
            <a:r>
              <a:rPr b="1" i="1" lang="en">
                <a:solidFill>
                  <a:srgbClr val="FF0000"/>
                </a:solidFill>
              </a:rPr>
              <a:t>return</a:t>
            </a:r>
            <a:r>
              <a:rPr lang="en"/>
              <a:t> it.</a:t>
            </a:r>
            <a:endParaRPr/>
          </a:p>
          <a:p>
            <a:pPr indent="-330200" lvl="0" marL="457200" rtl="0" algn="l">
              <a:spcBef>
                <a:spcPts val="1000"/>
              </a:spcBef>
              <a:spcAft>
                <a:spcPts val="0"/>
              </a:spcAft>
              <a:buSzPts val="1600"/>
              <a:buChar char="●"/>
            </a:pPr>
            <a:r>
              <a:rPr lang="en"/>
              <a:t>Tests have been provided in </a:t>
            </a:r>
            <a:r>
              <a:rPr lang="en">
                <a:latin typeface="Courier New"/>
                <a:ea typeface="Courier New"/>
                <a:cs typeface="Courier New"/>
                <a:sym typeface="Courier New"/>
              </a:rPr>
              <a:t>HttpRequestParserTest</a:t>
            </a:r>
            <a:r>
              <a:rPr lang="en">
                <a:latin typeface="Courier New"/>
                <a:ea typeface="Courier New"/>
                <a:cs typeface="Courier New"/>
                <a:sym typeface="Courier New"/>
              </a:rPr>
              <a:t>.txt</a:t>
            </a:r>
            <a:r>
              <a:rPr lang="en"/>
              <a:t> (change to </a:t>
            </a:r>
            <a:r>
              <a:rPr lang="en">
                <a:latin typeface="Courier New"/>
                <a:ea typeface="Courier New"/>
                <a:cs typeface="Courier New"/>
                <a:sym typeface="Courier New"/>
              </a:rPr>
              <a:t>.java</a:t>
            </a:r>
            <a:r>
              <a:rPr lang="en"/>
              <a:t>).</a:t>
            </a:r>
            <a:endParaRPr/>
          </a:p>
          <a:p>
            <a:pPr indent="-298450" lvl="1" marL="914400" rtl="0" algn="l">
              <a:spcBef>
                <a:spcPts val="0"/>
              </a:spcBef>
              <a:spcAft>
                <a:spcPts val="0"/>
              </a:spcAft>
              <a:buSzPts val="1100"/>
              <a:buChar char="○"/>
            </a:pPr>
            <a:r>
              <a:rPr lang="en"/>
              <a:t>The first test should pass.</a:t>
            </a:r>
            <a:endParaRPr/>
          </a:p>
        </p:txBody>
      </p:sp>
      <p:sp>
        <p:nvSpPr>
          <p:cNvPr id="392" name="Google Shape;392;p46"/>
          <p:cNvSpPr txBox="1"/>
          <p:nvPr>
            <p:ph type="title"/>
          </p:nvPr>
        </p:nvSpPr>
        <p:spPr>
          <a:xfrm>
            <a:off x="1436850" y="26098"/>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HttpRequest</a:t>
            </a:r>
            <a:r>
              <a:rPr lang="en"/>
              <a:t>Parser - parseRequest</a:t>
            </a:r>
            <a:endParaRPr/>
          </a:p>
        </p:txBody>
      </p:sp>
      <p:sp>
        <p:nvSpPr>
          <p:cNvPr id="393" name="Google Shape;393;p4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10.5</a:t>
            </a:r>
            <a:endParaRPr/>
          </a:p>
        </p:txBody>
      </p:sp>
      <p:sp>
        <p:nvSpPr>
          <p:cNvPr id="394" name="Google Shape;394;p46"/>
          <p:cNvSpPr txBox="1"/>
          <p:nvPr>
            <p:ph idx="4" type="body"/>
          </p:nvPr>
        </p:nvSpPr>
        <p:spPr>
          <a:xfrm>
            <a:off x="120075" y="4329043"/>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You may want to </a:t>
            </a:r>
            <a:r>
              <a:rPr b="1" i="1" lang="en">
                <a:solidFill>
                  <a:srgbClr val="FF0000"/>
                </a:solidFill>
              </a:rPr>
              <a:t>add prints</a:t>
            </a:r>
            <a:r>
              <a:rPr lang="en"/>
              <a:t> as you read the parts so you can see if </a:t>
            </a:r>
            <a:r>
              <a:rPr lang="en"/>
              <a:t>something</a:t>
            </a:r>
            <a:r>
              <a:rPr lang="en"/>
              <a:t> went wrong.</a:t>
            </a:r>
            <a:endParaRPr/>
          </a:p>
        </p:txBody>
      </p:sp>
      <p:pic>
        <p:nvPicPr>
          <p:cNvPr id="395" name="Google Shape;395;p46"/>
          <p:cNvPicPr preferRelativeResize="0"/>
          <p:nvPr/>
        </p:nvPicPr>
        <p:blipFill>
          <a:blip r:embed="rId3">
            <a:alphaModFix/>
          </a:blip>
          <a:stretch>
            <a:fillRect/>
          </a:stretch>
        </p:blipFill>
        <p:spPr>
          <a:xfrm>
            <a:off x="508575" y="1221750"/>
            <a:ext cx="2234396" cy="30460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7"/>
          <p:cNvSpPr txBox="1"/>
          <p:nvPr>
            <p:ph idx="1" type="body"/>
          </p:nvPr>
        </p:nvSpPr>
        <p:spPr>
          <a:xfrm>
            <a:off x="65250" y="731625"/>
            <a:ext cx="8955900" cy="4311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continue to implement the </a:t>
            </a:r>
            <a:r>
              <a:rPr lang="en">
                <a:latin typeface="Courier New"/>
                <a:ea typeface="Courier New"/>
                <a:cs typeface="Courier New"/>
                <a:sym typeface="Courier New"/>
              </a:rPr>
              <a:t>HttpRequestParser</a:t>
            </a:r>
            <a:r>
              <a:rPr lang="en"/>
              <a:t>.</a:t>
            </a:r>
            <a:endParaRPr/>
          </a:p>
        </p:txBody>
      </p:sp>
      <p:sp>
        <p:nvSpPr>
          <p:cNvPr id="401" name="Google Shape;401;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47"/>
          <p:cNvSpPr txBox="1"/>
          <p:nvPr>
            <p:ph idx="2" type="body"/>
          </p:nvPr>
        </p:nvSpPr>
        <p:spPr>
          <a:xfrm>
            <a:off x="3143775" y="1369793"/>
            <a:ext cx="5797200" cy="27921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i="1" lang="en" sz="1200"/>
              <a:t>All of the methods will be </a:t>
            </a:r>
            <a:r>
              <a:rPr i="1" lang="en" sz="1200">
                <a:latin typeface="Courier New"/>
                <a:ea typeface="Courier New"/>
                <a:cs typeface="Courier New"/>
                <a:sym typeface="Courier New"/>
              </a:rPr>
              <a:t>static</a:t>
            </a:r>
            <a:r>
              <a:rPr i="1" lang="en" sz="1200"/>
              <a:t>.</a:t>
            </a:r>
            <a:endParaRPr i="1" sz="1200"/>
          </a:p>
          <a:p>
            <a:pPr indent="-304800" lvl="0" marL="457200" rtl="0" algn="l">
              <a:spcBef>
                <a:spcPts val="1000"/>
              </a:spcBef>
              <a:spcAft>
                <a:spcPts val="0"/>
              </a:spcAft>
              <a:buSzPts val="1200"/>
              <a:buChar char="●"/>
            </a:pPr>
            <a:r>
              <a:rPr lang="en" sz="1200"/>
              <a:t>Use the UML on the left to help guide your implementation.</a:t>
            </a:r>
            <a:endParaRPr sz="1200"/>
          </a:p>
          <a:p>
            <a:pPr indent="-304800" lvl="0" marL="457200" rtl="0" algn="l">
              <a:spcBef>
                <a:spcPts val="1000"/>
              </a:spcBef>
              <a:spcAft>
                <a:spcPts val="0"/>
              </a:spcAft>
              <a:buSzPts val="1200"/>
              <a:buChar char="●"/>
            </a:pPr>
            <a:r>
              <a:rPr b="1" i="1" lang="en" sz="1200">
                <a:solidFill>
                  <a:srgbClr val="FF0000"/>
                </a:solidFill>
              </a:rPr>
              <a:t>parseHeaders </a:t>
            </a:r>
            <a:r>
              <a:rPr lang="en" sz="1200"/>
              <a:t>can use the </a:t>
            </a:r>
            <a:r>
              <a:rPr lang="en" sz="1200">
                <a:latin typeface="Courier New"/>
                <a:ea typeface="Courier New"/>
                <a:cs typeface="Courier New"/>
                <a:sym typeface="Courier New"/>
              </a:rPr>
              <a:t>lines()</a:t>
            </a:r>
            <a:r>
              <a:rPr lang="en" sz="1200"/>
              <a:t> method from the </a:t>
            </a:r>
            <a:r>
              <a:rPr lang="en" sz="1200">
                <a:latin typeface="Courier New"/>
                <a:ea typeface="Courier New"/>
                <a:cs typeface="Courier New"/>
                <a:sym typeface="Courier New"/>
              </a:rPr>
              <a:t>HttpStream</a:t>
            </a:r>
            <a:endParaRPr sz="1200">
              <a:latin typeface="Courier New"/>
              <a:ea typeface="Courier New"/>
              <a:cs typeface="Courier New"/>
              <a:sym typeface="Courier New"/>
            </a:endParaRPr>
          </a:p>
          <a:p>
            <a:pPr indent="-298450" lvl="1" marL="914400" rtl="0" algn="l">
              <a:lnSpc>
                <a:spcPct val="125000"/>
              </a:lnSpc>
              <a:spcBef>
                <a:spcPts val="0"/>
              </a:spcBef>
              <a:spcAft>
                <a:spcPts val="0"/>
              </a:spcAft>
              <a:buSzPts val="1100"/>
              <a:buChar char="○"/>
            </a:pPr>
            <a:r>
              <a:rPr lang="en"/>
              <a:t>Split each line on a "</a:t>
            </a:r>
            <a:r>
              <a:rPr lang="en">
                <a:solidFill>
                  <a:srgbClr val="FF0000"/>
                </a:solidFill>
                <a:latin typeface="Courier New"/>
                <a:ea typeface="Courier New"/>
                <a:cs typeface="Courier New"/>
                <a:sym typeface="Courier New"/>
              </a:rPr>
              <a:t>: </a:t>
            </a:r>
            <a:r>
              <a:rPr lang="en"/>
              <a:t>" and use those as a </a:t>
            </a:r>
            <a:r>
              <a:rPr b="1" i="1" lang="en">
                <a:solidFill>
                  <a:srgbClr val="FF0000"/>
                </a:solidFill>
              </a:rPr>
              <a:t>key/value</a:t>
            </a:r>
            <a:r>
              <a:rPr lang="en"/>
              <a:t> pair in a map.</a:t>
            </a:r>
            <a:endParaRPr/>
          </a:p>
          <a:p>
            <a:pPr indent="-304800" lvl="1" marL="914400" rtl="0" algn="l">
              <a:lnSpc>
                <a:spcPct val="125000"/>
              </a:lnSpc>
              <a:spcBef>
                <a:spcPts val="0"/>
              </a:spcBef>
              <a:spcAft>
                <a:spcPts val="0"/>
              </a:spcAft>
              <a:buSzPts val="1200"/>
              <a:buChar char="○"/>
            </a:pPr>
            <a:r>
              <a:rPr lang="en"/>
              <a:t>Headers are case insensitive so </a:t>
            </a:r>
            <a:r>
              <a:rPr b="1" i="1" lang="en">
                <a:solidFill>
                  <a:srgbClr val="FF0000"/>
                </a:solidFill>
              </a:rPr>
              <a:t>lowercase the keys</a:t>
            </a:r>
            <a:r>
              <a:rPr lang="en"/>
              <a:t>.</a:t>
            </a:r>
            <a:endParaRPr sz="1200"/>
          </a:p>
          <a:p>
            <a:pPr indent="-298450" lvl="1" marL="914400" rtl="0" algn="l">
              <a:spcBef>
                <a:spcPts val="0"/>
              </a:spcBef>
              <a:spcAft>
                <a:spcPts val="0"/>
              </a:spcAft>
              <a:buSzPts val="1100"/>
              <a:buChar char="○"/>
            </a:pPr>
            <a:r>
              <a:rPr lang="en">
                <a:latin typeface="Courier New"/>
                <a:ea typeface="Courier New"/>
                <a:cs typeface="Courier New"/>
                <a:sym typeface="Courier New"/>
              </a:rPr>
              <a:t>Collectors.toMap(keyMapper, valueMapper)</a:t>
            </a:r>
            <a:r>
              <a:rPr lang="en"/>
              <a:t> could be useful here</a:t>
            </a:r>
            <a:endParaRPr/>
          </a:p>
          <a:p>
            <a:pPr indent="-292100" lvl="2" marL="1371600" rtl="0" algn="l">
              <a:spcBef>
                <a:spcPts val="0"/>
              </a:spcBef>
              <a:spcAft>
                <a:spcPts val="0"/>
              </a:spcAft>
              <a:buSzPts val="1000"/>
              <a:buChar char="■"/>
            </a:pPr>
            <a:r>
              <a:rPr lang="en" sz="1000"/>
              <a:t>Use it with the </a:t>
            </a:r>
            <a:r>
              <a:rPr lang="en" sz="1000">
                <a:latin typeface="Courier New"/>
                <a:ea typeface="Courier New"/>
                <a:cs typeface="Courier New"/>
                <a:sym typeface="Courier New"/>
              </a:rPr>
              <a:t>Stream.collect</a:t>
            </a:r>
            <a:r>
              <a:rPr lang="en" sz="1000"/>
              <a:t> method similar to </a:t>
            </a:r>
            <a:r>
              <a:rPr lang="en" sz="1000">
                <a:latin typeface="Courier New"/>
                <a:ea typeface="Courier New"/>
                <a:cs typeface="Courier New"/>
                <a:sym typeface="Courier New"/>
              </a:rPr>
              <a:t>toList</a:t>
            </a:r>
            <a:endParaRPr sz="1000">
              <a:latin typeface="Courier New"/>
              <a:ea typeface="Courier New"/>
              <a:cs typeface="Courier New"/>
              <a:sym typeface="Courier New"/>
            </a:endParaRPr>
          </a:p>
          <a:p>
            <a:pPr indent="-292100" lvl="2" marL="1371600" rtl="0" algn="l">
              <a:spcBef>
                <a:spcPts val="0"/>
              </a:spcBef>
              <a:spcAft>
                <a:spcPts val="0"/>
              </a:spcAft>
              <a:buSzPts val="1000"/>
              <a:buChar char="■"/>
            </a:pPr>
            <a:r>
              <a:rPr lang="en" sz="1000"/>
              <a:t>Alternatively you can use the </a:t>
            </a:r>
            <a:r>
              <a:rPr lang="en" sz="1000">
                <a:latin typeface="Courier New"/>
                <a:ea typeface="Courier New"/>
                <a:cs typeface="Courier New"/>
                <a:sym typeface="Courier New"/>
              </a:rPr>
              <a:t>Stream.forEach</a:t>
            </a:r>
            <a:r>
              <a:rPr lang="en" sz="1000"/>
              <a:t> </a:t>
            </a:r>
            <a:r>
              <a:rPr lang="en" sz="1000"/>
              <a:t>method</a:t>
            </a:r>
            <a:endParaRPr sz="1000"/>
          </a:p>
          <a:p>
            <a:pPr indent="-304800" lvl="0" marL="457200" rtl="0" algn="l">
              <a:spcBef>
                <a:spcPts val="1000"/>
              </a:spcBef>
              <a:spcAft>
                <a:spcPts val="0"/>
              </a:spcAft>
              <a:buSzPts val="1200"/>
              <a:buChar char="●"/>
            </a:pPr>
            <a:r>
              <a:rPr lang="en" sz="1200"/>
              <a:t>Tests have been provided in </a:t>
            </a:r>
            <a:r>
              <a:rPr lang="en" sz="1200">
                <a:latin typeface="Courier New"/>
                <a:ea typeface="Courier New"/>
                <a:cs typeface="Courier New"/>
                <a:sym typeface="Courier New"/>
              </a:rPr>
              <a:t>HttpRequestParserTest</a:t>
            </a:r>
            <a:r>
              <a:rPr lang="en" sz="1200">
                <a:latin typeface="Courier New"/>
                <a:ea typeface="Courier New"/>
                <a:cs typeface="Courier New"/>
                <a:sym typeface="Courier New"/>
              </a:rPr>
              <a:t>.txt</a:t>
            </a:r>
            <a:r>
              <a:rPr lang="en" sz="1200"/>
              <a:t> (change to </a:t>
            </a:r>
            <a:r>
              <a:rPr lang="en" sz="1200">
                <a:latin typeface="Courier New"/>
                <a:ea typeface="Courier New"/>
                <a:cs typeface="Courier New"/>
                <a:sym typeface="Courier New"/>
              </a:rPr>
              <a:t>.java</a:t>
            </a:r>
            <a:r>
              <a:rPr lang="en" sz="1200"/>
              <a:t>).</a:t>
            </a:r>
            <a:endParaRPr sz="1200"/>
          </a:p>
          <a:p>
            <a:pPr indent="-298450" lvl="1" marL="914400" rtl="0" algn="l">
              <a:spcBef>
                <a:spcPts val="0"/>
              </a:spcBef>
              <a:spcAft>
                <a:spcPts val="0"/>
              </a:spcAft>
              <a:buSzPts val="1100"/>
              <a:buChar char="○"/>
            </a:pPr>
            <a:r>
              <a:rPr lang="en"/>
              <a:t>The second test should now pass.</a:t>
            </a:r>
            <a:endParaRPr/>
          </a:p>
        </p:txBody>
      </p:sp>
      <p:sp>
        <p:nvSpPr>
          <p:cNvPr id="403" name="Google Shape;403;p47"/>
          <p:cNvSpPr txBox="1"/>
          <p:nvPr>
            <p:ph type="title"/>
          </p:nvPr>
        </p:nvSpPr>
        <p:spPr>
          <a:xfrm>
            <a:off x="1436850" y="26098"/>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HttpRequestParser - parseHeader</a:t>
            </a:r>
            <a:endParaRPr/>
          </a:p>
        </p:txBody>
      </p:sp>
      <p:sp>
        <p:nvSpPr>
          <p:cNvPr id="404" name="Google Shape;404;p4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10.6</a:t>
            </a:r>
            <a:endParaRPr/>
          </a:p>
        </p:txBody>
      </p:sp>
      <p:sp>
        <p:nvSpPr>
          <p:cNvPr id="405" name="Google Shape;405;p47"/>
          <p:cNvSpPr txBox="1"/>
          <p:nvPr>
            <p:ph idx="4" type="body"/>
          </p:nvPr>
        </p:nvSpPr>
        <p:spPr>
          <a:xfrm>
            <a:off x="120075" y="4329043"/>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You may want to </a:t>
            </a:r>
            <a:r>
              <a:rPr b="1" i="1" lang="en">
                <a:solidFill>
                  <a:srgbClr val="FF0000"/>
                </a:solidFill>
              </a:rPr>
              <a:t>add prints</a:t>
            </a:r>
            <a:r>
              <a:rPr lang="en"/>
              <a:t> as you read the parts so you can see if something went wrong.</a:t>
            </a:r>
            <a:endParaRPr/>
          </a:p>
        </p:txBody>
      </p:sp>
      <p:pic>
        <p:nvPicPr>
          <p:cNvPr id="406" name="Google Shape;406;p47"/>
          <p:cNvPicPr preferRelativeResize="0"/>
          <p:nvPr/>
        </p:nvPicPr>
        <p:blipFill>
          <a:blip r:embed="rId3">
            <a:alphaModFix/>
          </a:blip>
          <a:stretch>
            <a:fillRect/>
          </a:stretch>
        </p:blipFill>
        <p:spPr>
          <a:xfrm>
            <a:off x="508575" y="1221750"/>
            <a:ext cx="2234396" cy="30460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8"/>
          <p:cNvSpPr txBox="1"/>
          <p:nvPr>
            <p:ph idx="1" type="body"/>
          </p:nvPr>
        </p:nvSpPr>
        <p:spPr>
          <a:xfrm>
            <a:off x="65250" y="731625"/>
            <a:ext cx="8955900" cy="4311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Finally, let's finish the </a:t>
            </a:r>
            <a:r>
              <a:rPr lang="en">
                <a:latin typeface="Courier New"/>
                <a:ea typeface="Courier New"/>
                <a:cs typeface="Courier New"/>
                <a:sym typeface="Courier New"/>
              </a:rPr>
              <a:t>HttpRequestParser</a:t>
            </a:r>
            <a:r>
              <a:rPr lang="en">
                <a:latin typeface="Arial"/>
                <a:ea typeface="Arial"/>
                <a:cs typeface="Arial"/>
                <a:sym typeface="Arial"/>
              </a:rPr>
              <a:t>.</a:t>
            </a:r>
            <a:endParaRPr>
              <a:latin typeface="Arial"/>
              <a:ea typeface="Arial"/>
              <a:cs typeface="Arial"/>
              <a:sym typeface="Arial"/>
            </a:endParaRPr>
          </a:p>
        </p:txBody>
      </p:sp>
      <p:sp>
        <p:nvSpPr>
          <p:cNvPr id="412" name="Google Shape;412;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48"/>
          <p:cNvSpPr txBox="1"/>
          <p:nvPr>
            <p:ph idx="2" type="body"/>
          </p:nvPr>
        </p:nvSpPr>
        <p:spPr>
          <a:xfrm>
            <a:off x="3143775" y="1424125"/>
            <a:ext cx="5797200" cy="27729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i="1" lang="en"/>
              <a:t>All of the methods will be static.</a:t>
            </a:r>
            <a:endParaRPr i="1"/>
          </a:p>
          <a:p>
            <a:pPr indent="-311150" lvl="0" marL="457200" rtl="0" algn="l">
              <a:spcBef>
                <a:spcPts val="1000"/>
              </a:spcBef>
              <a:spcAft>
                <a:spcPts val="0"/>
              </a:spcAft>
              <a:buSzPts val="1300"/>
              <a:buChar char="●"/>
            </a:pPr>
            <a:r>
              <a:rPr lang="en"/>
              <a:t>Use the UML on the left to help guide your implementation.</a:t>
            </a:r>
            <a:endParaRPr/>
          </a:p>
          <a:p>
            <a:pPr indent="-311150" lvl="0" marL="457200" rtl="0" algn="l">
              <a:spcBef>
                <a:spcPts val="1000"/>
              </a:spcBef>
              <a:spcAft>
                <a:spcPts val="0"/>
              </a:spcAft>
              <a:buSzPts val="1300"/>
              <a:buChar char="●"/>
            </a:pPr>
            <a:r>
              <a:rPr b="1" i="1" lang="en">
                <a:solidFill>
                  <a:srgbClr val="FF0000"/>
                </a:solidFill>
              </a:rPr>
              <a:t>parseBody</a:t>
            </a:r>
            <a:r>
              <a:rPr lang="en"/>
              <a:t> should return the contents of the the request </a:t>
            </a:r>
            <a:endParaRPr/>
          </a:p>
          <a:p>
            <a:pPr indent="-304800" lvl="1" marL="914400" rtl="0" algn="l">
              <a:lnSpc>
                <a:spcPct val="125000"/>
              </a:lnSpc>
              <a:spcBef>
                <a:spcPts val="0"/>
              </a:spcBef>
              <a:spcAft>
                <a:spcPts val="0"/>
              </a:spcAft>
              <a:buSzPts val="1200"/>
              <a:buChar char="○"/>
            </a:pPr>
            <a:r>
              <a:rPr lang="en" sz="1200"/>
              <a:t>if </a:t>
            </a:r>
            <a:r>
              <a:rPr lang="en" sz="1200">
                <a:latin typeface="Courier New"/>
                <a:ea typeface="Courier New"/>
                <a:cs typeface="Courier New"/>
                <a:sym typeface="Courier New"/>
              </a:rPr>
              <a:t>Content-Length</a:t>
            </a:r>
            <a:r>
              <a:rPr lang="en" sz="1200"/>
              <a:t> exists and is greater than </a:t>
            </a:r>
            <a:r>
              <a:rPr lang="en" sz="1200">
                <a:latin typeface="Courier New"/>
                <a:ea typeface="Courier New"/>
                <a:cs typeface="Courier New"/>
                <a:sym typeface="Courier New"/>
              </a:rPr>
              <a:t>0</a:t>
            </a:r>
            <a:r>
              <a:rPr lang="en" sz="1200"/>
              <a:t>.</a:t>
            </a:r>
            <a:endParaRPr sz="1200"/>
          </a:p>
          <a:p>
            <a:pPr indent="-304800" lvl="1" marL="914400" rtl="0" algn="l">
              <a:spcBef>
                <a:spcPts val="0"/>
              </a:spcBef>
              <a:spcAft>
                <a:spcPts val="0"/>
              </a:spcAft>
              <a:buSzPts val="1200"/>
              <a:buChar char="○"/>
            </a:pPr>
            <a:r>
              <a:rPr lang="en" sz="1200"/>
              <a:t>Use the </a:t>
            </a:r>
            <a:r>
              <a:rPr lang="en" sz="1200">
                <a:latin typeface="Courier New"/>
                <a:ea typeface="Courier New"/>
                <a:cs typeface="Courier New"/>
                <a:sym typeface="Courier New"/>
              </a:rPr>
              <a:t>HttpStream.readChars</a:t>
            </a:r>
            <a:r>
              <a:rPr lang="en" sz="1200"/>
              <a:t> method to read </a:t>
            </a:r>
            <a:r>
              <a:rPr lang="en" sz="1200">
                <a:latin typeface="Courier New"/>
                <a:ea typeface="Courier New"/>
                <a:cs typeface="Courier New"/>
                <a:sym typeface="Courier New"/>
              </a:rPr>
              <a:t>Content-Length</a:t>
            </a:r>
            <a:r>
              <a:rPr lang="en" sz="1200"/>
              <a:t> characters since the web form does not newline terminate its body.</a:t>
            </a:r>
            <a:endParaRPr sz="1200"/>
          </a:p>
          <a:p>
            <a:pPr indent="-311150" lvl="0" marL="457200" rtl="0" algn="l">
              <a:spcBef>
                <a:spcPts val="1000"/>
              </a:spcBef>
              <a:spcAft>
                <a:spcPts val="0"/>
              </a:spcAft>
              <a:buSzPts val="1300"/>
              <a:buChar char="●"/>
            </a:pPr>
            <a:r>
              <a:rPr lang="en"/>
              <a:t>Tests have been provided in </a:t>
            </a:r>
            <a:r>
              <a:rPr lang="en">
                <a:latin typeface="Courier New"/>
                <a:ea typeface="Courier New"/>
                <a:cs typeface="Courier New"/>
                <a:sym typeface="Courier New"/>
              </a:rPr>
              <a:t>HttpRequestParserTest</a:t>
            </a:r>
            <a:r>
              <a:rPr lang="en">
                <a:latin typeface="Courier New"/>
                <a:ea typeface="Courier New"/>
                <a:cs typeface="Courier New"/>
                <a:sym typeface="Courier New"/>
              </a:rPr>
              <a:t>.txt</a:t>
            </a:r>
            <a:r>
              <a:rPr lang="en"/>
              <a:t> (change to </a:t>
            </a:r>
            <a:r>
              <a:rPr lang="en">
                <a:latin typeface="Courier New"/>
                <a:ea typeface="Courier New"/>
                <a:cs typeface="Courier New"/>
                <a:sym typeface="Courier New"/>
              </a:rPr>
              <a:t>.java</a:t>
            </a:r>
            <a:r>
              <a:rPr lang="en"/>
              <a:t>).</a:t>
            </a:r>
            <a:endParaRPr/>
          </a:p>
          <a:p>
            <a:pPr indent="-304800" lvl="1" marL="914400" rtl="0" algn="l">
              <a:spcBef>
                <a:spcPts val="0"/>
              </a:spcBef>
              <a:spcAft>
                <a:spcPts val="0"/>
              </a:spcAft>
              <a:buSzPts val="1200"/>
              <a:buChar char="○"/>
            </a:pPr>
            <a:r>
              <a:rPr lang="en" sz="1200"/>
              <a:t>All tests should now pass.</a:t>
            </a:r>
            <a:endParaRPr sz="1200"/>
          </a:p>
        </p:txBody>
      </p:sp>
      <p:sp>
        <p:nvSpPr>
          <p:cNvPr id="414" name="Google Shape;414;p48"/>
          <p:cNvSpPr txBox="1"/>
          <p:nvPr>
            <p:ph type="title"/>
          </p:nvPr>
        </p:nvSpPr>
        <p:spPr>
          <a:xfrm>
            <a:off x="1436850" y="26098"/>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HttpRequestParser</a:t>
            </a:r>
            <a:endParaRPr/>
          </a:p>
        </p:txBody>
      </p:sp>
      <p:sp>
        <p:nvSpPr>
          <p:cNvPr id="415" name="Google Shape;415;p4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10.7</a:t>
            </a:r>
            <a:endParaRPr/>
          </a:p>
        </p:txBody>
      </p:sp>
      <p:sp>
        <p:nvSpPr>
          <p:cNvPr id="416" name="Google Shape;416;p48"/>
          <p:cNvSpPr txBox="1"/>
          <p:nvPr>
            <p:ph idx="4" type="body"/>
          </p:nvPr>
        </p:nvSpPr>
        <p:spPr>
          <a:xfrm>
            <a:off x="120075" y="4329043"/>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You may want to </a:t>
            </a:r>
            <a:r>
              <a:rPr b="1" i="1" lang="en">
                <a:solidFill>
                  <a:srgbClr val="FF0000"/>
                </a:solidFill>
              </a:rPr>
              <a:t>add prints</a:t>
            </a:r>
            <a:r>
              <a:rPr lang="en"/>
              <a:t> as you read the parts so you can see if something went wrong.</a:t>
            </a:r>
            <a:endParaRPr/>
          </a:p>
        </p:txBody>
      </p:sp>
      <p:pic>
        <p:nvPicPr>
          <p:cNvPr id="417" name="Google Shape;417;p48"/>
          <p:cNvPicPr preferRelativeResize="0"/>
          <p:nvPr/>
        </p:nvPicPr>
        <p:blipFill>
          <a:blip r:embed="rId3">
            <a:alphaModFix/>
          </a:blip>
          <a:stretch>
            <a:fillRect/>
          </a:stretch>
        </p:blipFill>
        <p:spPr>
          <a:xfrm>
            <a:off x="508575" y="1221750"/>
            <a:ext cx="2234396" cy="30460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lang="en">
                <a:latin typeface="Courier New"/>
                <a:ea typeface="Courier New"/>
                <a:cs typeface="Courier New"/>
                <a:sym typeface="Courier New"/>
              </a:rPr>
              <a:t>Http</a:t>
            </a:r>
            <a:r>
              <a:rPr lang="en">
                <a:latin typeface="Courier New"/>
                <a:ea typeface="Courier New"/>
                <a:cs typeface="Courier New"/>
                <a:sym typeface="Courier New"/>
              </a:rPr>
              <a:t>ResponseBuilder</a:t>
            </a:r>
            <a:r>
              <a:rPr lang="en"/>
              <a:t> has been provided for you. Take a minute to look over it and ask if you have any questions.</a:t>
            </a:r>
            <a:endParaRPr/>
          </a:p>
        </p:txBody>
      </p:sp>
      <p:sp>
        <p:nvSpPr>
          <p:cNvPr id="423" name="Google Shape;423;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49"/>
          <p:cNvSpPr txBox="1"/>
          <p:nvPr>
            <p:ph idx="2" type="body"/>
          </p:nvPr>
        </p:nvSpPr>
        <p:spPr>
          <a:xfrm>
            <a:off x="3203475" y="1282625"/>
            <a:ext cx="5775900" cy="3903000"/>
          </a:xfrm>
          <a:prstGeom prst="rect">
            <a:avLst/>
          </a:prstGeom>
        </p:spPr>
        <p:txBody>
          <a:bodyPr anchorCtr="0" anchor="t" bIns="91425" lIns="91425" spcFirstLastPara="1" rIns="91425" wrap="square" tIns="91425">
            <a:spAutoFit/>
          </a:bodyPr>
          <a:lstStyle/>
          <a:p>
            <a:pPr indent="-311150" lvl="0" marL="457200" rtl="0" algn="l">
              <a:spcBef>
                <a:spcPts val="1000"/>
              </a:spcBef>
              <a:spcAft>
                <a:spcPts val="0"/>
              </a:spcAft>
              <a:buSzPts val="1300"/>
              <a:buChar char="●"/>
            </a:pPr>
            <a:r>
              <a:rPr lang="en"/>
              <a:t>Since the </a:t>
            </a:r>
            <a:r>
              <a:rPr lang="en">
                <a:latin typeface="Courier New"/>
                <a:ea typeface="Courier New"/>
                <a:cs typeface="Courier New"/>
                <a:sym typeface="Courier New"/>
              </a:rPr>
              <a:t>Http</a:t>
            </a:r>
            <a:r>
              <a:rPr lang="en">
                <a:latin typeface="Courier New"/>
                <a:ea typeface="Courier New"/>
                <a:cs typeface="Courier New"/>
                <a:sym typeface="Courier New"/>
              </a:rPr>
              <a:t>Response</a:t>
            </a:r>
            <a:r>
              <a:rPr lang="en"/>
              <a:t> builder is mostly hard coded text, it has </a:t>
            </a:r>
            <a:r>
              <a:rPr lang="en"/>
              <a:t>been provided</a:t>
            </a:r>
            <a:r>
              <a:rPr lang="en"/>
              <a:t> instead of you having to type it out.</a:t>
            </a:r>
            <a:endParaRPr/>
          </a:p>
          <a:p>
            <a:pPr indent="-311150" lvl="0" marL="457200" rtl="0" algn="l">
              <a:spcBef>
                <a:spcPts val="1000"/>
              </a:spcBef>
              <a:spcAft>
                <a:spcPts val="0"/>
              </a:spcAft>
              <a:buSzPts val="1300"/>
              <a:buChar char="●"/>
            </a:pPr>
            <a:r>
              <a:rPr lang="en"/>
              <a:t>There are four messages in it currently:</a:t>
            </a:r>
            <a:endParaRPr/>
          </a:p>
          <a:p>
            <a:pPr indent="-298450" lvl="1" marL="914400" rtl="0" algn="l">
              <a:spcBef>
                <a:spcPts val="0"/>
              </a:spcBef>
              <a:spcAft>
                <a:spcPts val="0"/>
              </a:spcAft>
              <a:buSzPts val="1100"/>
              <a:buChar char="○"/>
            </a:pPr>
            <a:r>
              <a:rPr lang="en"/>
              <a:t>200 - Message for letting the client know everything went as expected and has the response content.</a:t>
            </a:r>
            <a:endParaRPr/>
          </a:p>
          <a:p>
            <a:pPr indent="-298450" lvl="1" marL="914400" rtl="0" algn="l">
              <a:spcBef>
                <a:spcPts val="0"/>
              </a:spcBef>
              <a:spcAft>
                <a:spcPts val="0"/>
              </a:spcAft>
              <a:buSzPts val="1100"/>
              <a:buChar char="○"/>
            </a:pPr>
            <a:r>
              <a:rPr lang="en"/>
              <a:t>204 - Message that will be used to respond to a client OPTIONS request (more on this later).</a:t>
            </a:r>
            <a:endParaRPr sz="1000"/>
          </a:p>
          <a:p>
            <a:pPr indent="-298450" lvl="1" marL="914400" rtl="0" algn="l">
              <a:spcBef>
                <a:spcPts val="0"/>
              </a:spcBef>
              <a:spcAft>
                <a:spcPts val="0"/>
              </a:spcAft>
              <a:buSzPts val="1100"/>
              <a:buChar char="○"/>
            </a:pPr>
            <a:r>
              <a:rPr lang="en"/>
              <a:t>400 - Message letting the client know the server did not understand the request. Any error message that was generated on the server side will be passed back as the content.</a:t>
            </a:r>
            <a:endParaRPr/>
          </a:p>
          <a:p>
            <a:pPr indent="-298450" lvl="1" marL="914400" rtl="0" algn="l">
              <a:spcBef>
                <a:spcPts val="0"/>
              </a:spcBef>
              <a:spcAft>
                <a:spcPts val="0"/>
              </a:spcAft>
              <a:buSzPts val="1100"/>
              <a:buChar char="○"/>
            </a:pPr>
            <a:r>
              <a:rPr lang="en"/>
              <a:t>404 - Message letting the client know the requested uri is unsupported or incorrect. Any error message that was generated on the server side will be passed back as the content.</a:t>
            </a:r>
            <a:endParaRPr/>
          </a:p>
          <a:p>
            <a:pPr indent="-311150" lvl="0" marL="457200" rtl="0" algn="l">
              <a:spcBef>
                <a:spcPts val="1000"/>
              </a:spcBef>
              <a:spcAft>
                <a:spcPts val="0"/>
              </a:spcAft>
              <a:buSzPts val="1300"/>
              <a:buChar char="●"/>
            </a:pPr>
            <a:r>
              <a:rPr lang="en"/>
              <a:t>The </a:t>
            </a:r>
            <a:r>
              <a:rPr lang="en">
                <a:latin typeface="Courier New"/>
                <a:ea typeface="Courier New"/>
                <a:cs typeface="Courier New"/>
                <a:sym typeface="Courier New"/>
              </a:rPr>
              <a:t>Access-Control-Allow-Origin: *</a:t>
            </a:r>
            <a:r>
              <a:rPr lang="en"/>
              <a:t> line lets the client know its allowed to allowed to use this message. </a:t>
            </a:r>
            <a:endParaRPr/>
          </a:p>
          <a:p>
            <a:pPr indent="-298450" lvl="1" marL="914400" rtl="0" algn="l">
              <a:spcBef>
                <a:spcPts val="0"/>
              </a:spcBef>
              <a:spcAft>
                <a:spcPts val="0"/>
              </a:spcAft>
              <a:buSzPts val="1100"/>
              <a:buChar char="○"/>
            </a:pPr>
            <a:r>
              <a:rPr lang="en"/>
              <a:t>At the moment we </a:t>
            </a:r>
            <a:r>
              <a:rPr lang="en"/>
              <a:t>could leave it off but later on, some of the stuff we use will need it.</a:t>
            </a:r>
            <a:endParaRPr/>
          </a:p>
        </p:txBody>
      </p:sp>
      <p:sp>
        <p:nvSpPr>
          <p:cNvPr id="425" name="Google Shape;425;p49"/>
          <p:cNvSpPr txBox="1"/>
          <p:nvPr>
            <p:ph type="title"/>
          </p:nvPr>
        </p:nvSpPr>
        <p:spPr>
          <a:xfrm>
            <a:off x="1436850" y="18926"/>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Http</a:t>
            </a:r>
            <a:r>
              <a:rPr lang="en"/>
              <a:t>ResponseBuilder</a:t>
            </a:r>
            <a:endParaRPr/>
          </a:p>
        </p:txBody>
      </p:sp>
      <p:sp>
        <p:nvSpPr>
          <p:cNvPr id="426" name="Google Shape;426;p4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10.8</a:t>
            </a:r>
            <a:endParaRPr/>
          </a:p>
        </p:txBody>
      </p:sp>
      <p:sp>
        <p:nvSpPr>
          <p:cNvPr id="427" name="Google Shape;427;p49"/>
          <p:cNvSpPr txBox="1"/>
          <p:nvPr>
            <p:ph idx="4" type="body"/>
          </p:nvPr>
        </p:nvSpPr>
        <p:spPr>
          <a:xfrm>
            <a:off x="141600" y="3397189"/>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Building</a:t>
            </a:r>
            <a:r>
              <a:rPr lang="en"/>
              <a:t> the </a:t>
            </a:r>
            <a:r>
              <a:rPr lang="en"/>
              <a:t>response</a:t>
            </a:r>
            <a:r>
              <a:rPr lang="en"/>
              <a:t> is straightforward but a little wordy. For this reason, the solution has been provided for you.</a:t>
            </a:r>
            <a:endParaRPr/>
          </a:p>
        </p:txBody>
      </p:sp>
      <p:sp>
        <p:nvSpPr>
          <p:cNvPr id="428" name="Google Shape;428;p49"/>
          <p:cNvSpPr txBox="1"/>
          <p:nvPr>
            <p:ph idx="4" type="body"/>
          </p:nvPr>
        </p:nvSpPr>
        <p:spPr>
          <a:xfrm>
            <a:off x="141600" y="4272839"/>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You may also notice an </a:t>
            </a:r>
            <a:r>
              <a:rPr lang="en">
                <a:latin typeface="Courier New"/>
                <a:ea typeface="Courier New"/>
                <a:cs typeface="Courier New"/>
                <a:sym typeface="Courier New"/>
              </a:rPr>
              <a:t>Access-Control-Allow-Headers</a:t>
            </a:r>
            <a:r>
              <a:rPr lang="en"/>
              <a:t> header. We'll cover this later.</a:t>
            </a:r>
            <a:endParaRPr/>
          </a:p>
        </p:txBody>
      </p:sp>
      <p:pic>
        <p:nvPicPr>
          <p:cNvPr id="429" name="Google Shape;429;p49"/>
          <p:cNvPicPr preferRelativeResize="0"/>
          <p:nvPr/>
        </p:nvPicPr>
        <p:blipFill>
          <a:blip r:embed="rId3">
            <a:alphaModFix/>
          </a:blip>
          <a:stretch>
            <a:fillRect/>
          </a:stretch>
        </p:blipFill>
        <p:spPr>
          <a:xfrm>
            <a:off x="416263" y="1398825"/>
            <a:ext cx="2474365" cy="1861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0"/>
          <p:cNvSpPr txBox="1"/>
          <p:nvPr>
            <p:ph idx="1" type="body"/>
          </p:nvPr>
        </p:nvSpPr>
        <p:spPr>
          <a:xfrm>
            <a:off x="65250" y="731625"/>
            <a:ext cx="8955900" cy="4311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we have all the components ready, let's put them together to make a server.</a:t>
            </a:r>
            <a:endParaRPr/>
          </a:p>
        </p:txBody>
      </p:sp>
      <p:sp>
        <p:nvSpPr>
          <p:cNvPr id="435" name="Google Shape;435;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50"/>
          <p:cNvSpPr txBox="1"/>
          <p:nvPr>
            <p:ph idx="2" type="body"/>
          </p:nvPr>
        </p:nvSpPr>
        <p:spPr>
          <a:xfrm>
            <a:off x="3165300" y="1156174"/>
            <a:ext cx="5775900" cy="40158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Create a new </a:t>
            </a:r>
            <a:r>
              <a:rPr lang="en" sz="1200">
                <a:latin typeface="Courier New"/>
                <a:ea typeface="Courier New"/>
                <a:cs typeface="Courier New"/>
                <a:sym typeface="Courier New"/>
              </a:rPr>
              <a:t>HttpWebServer</a:t>
            </a:r>
            <a:r>
              <a:rPr lang="en" sz="1200"/>
              <a:t> in the </a:t>
            </a:r>
            <a:r>
              <a:rPr lang="en" sz="1200">
                <a:latin typeface="Courier New"/>
                <a:ea typeface="Courier New"/>
                <a:cs typeface="Courier New"/>
                <a:sym typeface="Courier New"/>
              </a:rPr>
              <a:t>httpserver</a:t>
            </a:r>
            <a:r>
              <a:rPr lang="en" sz="1200"/>
              <a:t> package.</a:t>
            </a:r>
            <a:endParaRPr sz="1200"/>
          </a:p>
          <a:p>
            <a:pPr indent="-292100" lvl="1" marL="914400" rtl="0" algn="l">
              <a:spcBef>
                <a:spcPts val="0"/>
              </a:spcBef>
              <a:spcAft>
                <a:spcPts val="0"/>
              </a:spcAft>
              <a:buSzPts val="1000"/>
              <a:buChar char="○"/>
            </a:pPr>
            <a:r>
              <a:rPr lang="en" sz="1000"/>
              <a:t>It will be </a:t>
            </a:r>
            <a:r>
              <a:rPr lang="en" sz="1000"/>
              <a:t>modeled</a:t>
            </a:r>
            <a:r>
              <a:rPr lang="en" sz="1000"/>
              <a:t> after the </a:t>
            </a:r>
            <a:r>
              <a:rPr lang="en" sz="1000">
                <a:latin typeface="Courier New"/>
                <a:ea typeface="Courier New"/>
                <a:cs typeface="Courier New"/>
                <a:sym typeface="Courier New"/>
              </a:rPr>
              <a:t>GetRequest</a:t>
            </a:r>
            <a:r>
              <a:rPr lang="en" sz="1000"/>
              <a:t> you did earlier.</a:t>
            </a:r>
            <a:endParaRPr sz="1000"/>
          </a:p>
          <a:p>
            <a:pPr indent="-304800" lvl="0" marL="457200" rtl="0" algn="l">
              <a:spcBef>
                <a:spcPts val="0"/>
              </a:spcBef>
              <a:spcAft>
                <a:spcPts val="0"/>
              </a:spcAft>
              <a:buSzPts val="1200"/>
              <a:buChar char="●"/>
            </a:pPr>
            <a:r>
              <a:rPr lang="en" sz="1200"/>
              <a:t>In </a:t>
            </a:r>
            <a:r>
              <a:rPr lang="en" sz="1200">
                <a:latin typeface="Courier New"/>
                <a:ea typeface="Courier New"/>
                <a:cs typeface="Courier New"/>
                <a:sym typeface="Courier New"/>
              </a:rPr>
              <a:t>start</a:t>
            </a:r>
            <a:r>
              <a:rPr lang="en" sz="1200"/>
              <a:t>: </a:t>
            </a:r>
            <a:endParaRPr sz="1200"/>
          </a:p>
          <a:p>
            <a:pPr indent="-292100" lvl="1" marL="914400" rtl="0" algn="l">
              <a:spcBef>
                <a:spcPts val="0"/>
              </a:spcBef>
              <a:spcAft>
                <a:spcPts val="0"/>
              </a:spcAft>
              <a:buSzPts val="1000"/>
              <a:buChar char="○"/>
            </a:pPr>
            <a:r>
              <a:rPr lang="en" sz="1000"/>
              <a:t>create a </a:t>
            </a:r>
            <a:r>
              <a:rPr lang="en" sz="1000">
                <a:latin typeface="Courier New"/>
                <a:ea typeface="Courier New"/>
                <a:cs typeface="Courier New"/>
                <a:sym typeface="Courier New"/>
              </a:rPr>
              <a:t>ServerSocket</a:t>
            </a:r>
            <a:r>
              <a:rPr lang="en" sz="1000"/>
              <a:t> </a:t>
            </a:r>
            <a:endParaRPr sz="1000"/>
          </a:p>
          <a:p>
            <a:pPr indent="-292100" lvl="1" marL="914400" rtl="0" algn="l">
              <a:spcBef>
                <a:spcPts val="0"/>
              </a:spcBef>
              <a:spcAft>
                <a:spcPts val="0"/>
              </a:spcAft>
              <a:buSzPts val="1000"/>
              <a:buChar char="○"/>
            </a:pPr>
            <a:r>
              <a:rPr lang="en" sz="1000"/>
              <a:t>in a </a:t>
            </a:r>
            <a:r>
              <a:rPr b="1" i="1" lang="en" sz="1000">
                <a:solidFill>
                  <a:srgbClr val="FF0000"/>
                </a:solidFill>
              </a:rPr>
              <a:t>while true</a:t>
            </a:r>
            <a:r>
              <a:rPr lang="en" sz="1000"/>
              <a:t> loop </a:t>
            </a:r>
            <a:endParaRPr sz="1000"/>
          </a:p>
          <a:p>
            <a:pPr indent="-292100" lvl="2" marL="1371600" rtl="0" algn="l">
              <a:spcBef>
                <a:spcPts val="0"/>
              </a:spcBef>
              <a:spcAft>
                <a:spcPts val="0"/>
              </a:spcAft>
              <a:buSzPts val="1000"/>
              <a:buChar char="■"/>
            </a:pPr>
            <a:r>
              <a:rPr lang="en" sz="1000">
                <a:latin typeface="Courier New"/>
                <a:ea typeface="Courier New"/>
                <a:cs typeface="Courier New"/>
                <a:sym typeface="Courier New"/>
              </a:rPr>
              <a:t>accept</a:t>
            </a:r>
            <a:r>
              <a:rPr lang="en" sz="1000"/>
              <a:t> a client connection and </a:t>
            </a:r>
            <a:r>
              <a:rPr lang="en" sz="1000"/>
              <a:t>create the client </a:t>
            </a:r>
            <a:r>
              <a:rPr lang="en" sz="1000">
                <a:latin typeface="Courier New"/>
                <a:ea typeface="Courier New"/>
                <a:cs typeface="Courier New"/>
                <a:sym typeface="Courier New"/>
              </a:rPr>
              <a:t>Socket</a:t>
            </a:r>
            <a:endParaRPr sz="1000">
              <a:latin typeface="Courier New"/>
              <a:ea typeface="Courier New"/>
              <a:cs typeface="Courier New"/>
              <a:sym typeface="Courier New"/>
            </a:endParaRPr>
          </a:p>
          <a:p>
            <a:pPr indent="-292100" lvl="2" marL="1371600" rtl="0" algn="l">
              <a:spcBef>
                <a:spcPts val="0"/>
              </a:spcBef>
              <a:spcAft>
                <a:spcPts val="0"/>
              </a:spcAft>
              <a:buSzPts val="1000"/>
              <a:buChar char="■"/>
            </a:pPr>
            <a:r>
              <a:rPr b="1" i="1" lang="en" sz="1000">
                <a:solidFill>
                  <a:srgbClr val="FF0000"/>
                </a:solidFill>
              </a:rPr>
              <a:t>call</a:t>
            </a:r>
            <a:r>
              <a:rPr lang="en" sz="1000"/>
              <a:t> </a:t>
            </a:r>
            <a:r>
              <a:rPr lang="en" sz="1000">
                <a:latin typeface="Courier New"/>
                <a:ea typeface="Courier New"/>
                <a:cs typeface="Courier New"/>
                <a:sym typeface="Courier New"/>
              </a:rPr>
              <a:t>handleClient</a:t>
            </a:r>
            <a:r>
              <a:rPr lang="en" sz="1000"/>
              <a:t> with the client socket</a:t>
            </a:r>
            <a:endParaRPr sz="1000"/>
          </a:p>
          <a:p>
            <a:pPr indent="-304800" lvl="0" marL="457200" rtl="0" algn="l">
              <a:spcBef>
                <a:spcPts val="0"/>
              </a:spcBef>
              <a:spcAft>
                <a:spcPts val="0"/>
              </a:spcAft>
              <a:buSzPts val="1200"/>
              <a:buChar char="●"/>
            </a:pPr>
            <a:r>
              <a:rPr lang="en" sz="1200">
                <a:latin typeface="Courier New"/>
                <a:ea typeface="Courier New"/>
                <a:cs typeface="Courier New"/>
                <a:sym typeface="Courier New"/>
              </a:rPr>
              <a:t>handleClient</a:t>
            </a:r>
            <a:r>
              <a:rPr lang="en" sz="1200"/>
              <a:t> should:</a:t>
            </a:r>
            <a:endParaRPr sz="1200"/>
          </a:p>
          <a:p>
            <a:pPr indent="-292100" lvl="1" marL="914400" rtl="0" algn="l">
              <a:spcBef>
                <a:spcPts val="0"/>
              </a:spcBef>
              <a:spcAft>
                <a:spcPts val="0"/>
              </a:spcAft>
              <a:buSzPts val="1000"/>
              <a:buChar char="○"/>
            </a:pPr>
            <a:r>
              <a:rPr lang="en" sz="1000"/>
              <a:t>Encapsulate the input and output streams in an </a:t>
            </a:r>
            <a:r>
              <a:rPr lang="en" sz="1000">
                <a:latin typeface="Courier New"/>
                <a:ea typeface="Courier New"/>
                <a:cs typeface="Courier New"/>
                <a:sym typeface="Courier New"/>
              </a:rPr>
              <a:t>HttpStream</a:t>
            </a:r>
            <a:r>
              <a:rPr lang="en" sz="1000"/>
              <a:t> and </a:t>
            </a:r>
            <a:r>
              <a:rPr lang="en" sz="1000">
                <a:latin typeface="Courier New"/>
                <a:ea typeface="Courier New"/>
                <a:cs typeface="Courier New"/>
                <a:sym typeface="Courier New"/>
              </a:rPr>
              <a:t>PrintWriter</a:t>
            </a:r>
            <a:endParaRPr sz="1000">
              <a:latin typeface="Courier New"/>
              <a:ea typeface="Courier New"/>
              <a:cs typeface="Courier New"/>
              <a:sym typeface="Courier New"/>
            </a:endParaRPr>
          </a:p>
          <a:p>
            <a:pPr indent="-292100" lvl="1" marL="914400" rtl="0" algn="l">
              <a:spcBef>
                <a:spcPts val="0"/>
              </a:spcBef>
              <a:spcAft>
                <a:spcPts val="0"/>
              </a:spcAft>
              <a:buSzPts val="1000"/>
              <a:buChar char="○"/>
            </a:pPr>
            <a:r>
              <a:rPr lang="en" sz="1000"/>
              <a:t>Use </a:t>
            </a:r>
            <a:r>
              <a:rPr lang="en" sz="1000">
                <a:latin typeface="Courier New"/>
                <a:ea typeface="Courier New"/>
                <a:cs typeface="Courier New"/>
                <a:sym typeface="Courier New"/>
              </a:rPr>
              <a:t>parseRequest</a:t>
            </a:r>
            <a:r>
              <a:rPr lang="en" sz="1000"/>
              <a:t> to </a:t>
            </a:r>
            <a:r>
              <a:rPr b="1" i="1" lang="en" sz="1000">
                <a:solidFill>
                  <a:srgbClr val="FF0000"/>
                </a:solidFill>
              </a:rPr>
              <a:t>read</a:t>
            </a:r>
            <a:r>
              <a:rPr lang="en" sz="1000"/>
              <a:t> the HTTP Request</a:t>
            </a:r>
            <a:endParaRPr sz="1000"/>
          </a:p>
          <a:p>
            <a:pPr indent="-292100" lvl="1" marL="914400" rtl="0" algn="l">
              <a:spcBef>
                <a:spcPts val="0"/>
              </a:spcBef>
              <a:spcAft>
                <a:spcPts val="0"/>
              </a:spcAft>
              <a:buSzPts val="1000"/>
              <a:buChar char="○"/>
            </a:pPr>
            <a:r>
              <a:rPr b="1" i="1" lang="en" sz="1000">
                <a:solidFill>
                  <a:srgbClr val="FF0000"/>
                </a:solidFill>
              </a:rPr>
              <a:t>Print</a:t>
            </a:r>
            <a:r>
              <a:rPr lang="en" sz="1000"/>
              <a:t> the parsed request</a:t>
            </a:r>
            <a:endParaRPr sz="1000"/>
          </a:p>
          <a:p>
            <a:pPr indent="-292100" lvl="1" marL="914400" rtl="0" algn="l">
              <a:spcBef>
                <a:spcPts val="0"/>
              </a:spcBef>
              <a:spcAft>
                <a:spcPts val="0"/>
              </a:spcAft>
              <a:buSzPts val="1000"/>
              <a:buChar char="○"/>
            </a:pPr>
            <a:r>
              <a:rPr lang="en" sz="1000"/>
              <a:t>Call </a:t>
            </a:r>
            <a:r>
              <a:rPr lang="en" sz="1000">
                <a:latin typeface="Courier New"/>
                <a:ea typeface="Courier New"/>
                <a:cs typeface="Courier New"/>
                <a:sym typeface="Courier New"/>
              </a:rPr>
              <a:t>handleRequest</a:t>
            </a:r>
            <a:r>
              <a:rPr lang="en" sz="1000"/>
              <a:t> to </a:t>
            </a:r>
            <a:r>
              <a:rPr b="1" i="1" lang="en" sz="1000">
                <a:solidFill>
                  <a:srgbClr val="FF0000"/>
                </a:solidFill>
              </a:rPr>
              <a:t>create </a:t>
            </a:r>
            <a:r>
              <a:rPr lang="en" sz="1000"/>
              <a:t>an </a:t>
            </a:r>
            <a:r>
              <a:rPr lang="en" sz="1000">
                <a:latin typeface="Courier New"/>
                <a:ea typeface="Courier New"/>
                <a:cs typeface="Courier New"/>
                <a:sym typeface="Courier New"/>
              </a:rPr>
              <a:t>HttpResponse</a:t>
            </a:r>
            <a:endParaRPr sz="1000">
              <a:latin typeface="Courier New"/>
              <a:ea typeface="Courier New"/>
              <a:cs typeface="Courier New"/>
              <a:sym typeface="Courier New"/>
            </a:endParaRPr>
          </a:p>
          <a:p>
            <a:pPr indent="-292100" lvl="1" marL="914400" rtl="0" algn="l">
              <a:spcBef>
                <a:spcPts val="0"/>
              </a:spcBef>
              <a:spcAft>
                <a:spcPts val="0"/>
              </a:spcAft>
              <a:buSzPts val="1000"/>
              <a:buChar char="○"/>
            </a:pPr>
            <a:r>
              <a:rPr lang="en" sz="1000"/>
              <a:t>Call </a:t>
            </a:r>
            <a:r>
              <a:rPr lang="en" sz="1000">
                <a:latin typeface="Courier New"/>
                <a:ea typeface="Courier New"/>
                <a:cs typeface="Courier New"/>
                <a:sym typeface="Courier New"/>
              </a:rPr>
              <a:t>sendResponse</a:t>
            </a:r>
            <a:r>
              <a:rPr lang="en" sz="1000"/>
              <a:t> to </a:t>
            </a:r>
            <a:r>
              <a:rPr b="1" i="1" lang="en" sz="1000">
                <a:solidFill>
                  <a:srgbClr val="FF0000"/>
                </a:solidFill>
              </a:rPr>
              <a:t>send </a:t>
            </a:r>
            <a:r>
              <a:rPr lang="en" sz="1000"/>
              <a:t>the response to the server</a:t>
            </a:r>
            <a:endParaRPr sz="1000"/>
          </a:p>
          <a:p>
            <a:pPr indent="-292100" lvl="1" marL="914400" rtl="0" algn="l">
              <a:spcBef>
                <a:spcPts val="0"/>
              </a:spcBef>
              <a:spcAft>
                <a:spcPts val="0"/>
              </a:spcAft>
              <a:buSzPts val="1000"/>
              <a:buChar char="○"/>
            </a:pPr>
            <a:r>
              <a:rPr b="1" i="1" lang="en" sz="1000">
                <a:solidFill>
                  <a:srgbClr val="FF0000"/>
                </a:solidFill>
              </a:rPr>
              <a:t>Close</a:t>
            </a:r>
            <a:r>
              <a:rPr lang="en" sz="1000"/>
              <a:t> the socket</a:t>
            </a:r>
            <a:endParaRPr sz="1000"/>
          </a:p>
          <a:p>
            <a:pPr indent="-304800" lvl="0" marL="457200" rtl="0" algn="l">
              <a:spcBef>
                <a:spcPts val="0"/>
              </a:spcBef>
              <a:spcAft>
                <a:spcPts val="0"/>
              </a:spcAft>
              <a:buSzPts val="1200"/>
              <a:buChar char="●"/>
            </a:pPr>
            <a:r>
              <a:rPr lang="en" sz="1200">
                <a:latin typeface="Courier New"/>
                <a:ea typeface="Courier New"/>
                <a:cs typeface="Courier New"/>
                <a:sym typeface="Courier New"/>
              </a:rPr>
              <a:t>sendResponse</a:t>
            </a:r>
            <a:r>
              <a:rPr lang="en" sz="1200"/>
              <a:t> should </a:t>
            </a:r>
            <a:r>
              <a:rPr b="1" lang="en" sz="1200">
                <a:solidFill>
                  <a:srgbClr val="FF0000"/>
                </a:solidFill>
              </a:rPr>
              <a:t>write the response</a:t>
            </a:r>
            <a:r>
              <a:rPr lang="en" sz="1200"/>
              <a:t> to the output stream, flush the stream, and print the response.</a:t>
            </a:r>
            <a:endParaRPr sz="1200"/>
          </a:p>
          <a:p>
            <a:pPr indent="-304800" lvl="0" marL="457200" rtl="0" algn="l">
              <a:spcBef>
                <a:spcPts val="0"/>
              </a:spcBef>
              <a:spcAft>
                <a:spcPts val="0"/>
              </a:spcAft>
              <a:buSzPts val="1200"/>
              <a:buChar char="●"/>
            </a:pPr>
            <a:r>
              <a:rPr lang="en" sz="1200"/>
              <a:t>At the moment, have </a:t>
            </a:r>
            <a:r>
              <a:rPr lang="en" sz="1200">
                <a:solidFill>
                  <a:srgbClr val="666666"/>
                </a:solidFill>
                <a:latin typeface="Courier New"/>
                <a:ea typeface="Courier New"/>
                <a:cs typeface="Courier New"/>
                <a:sym typeface="Courier New"/>
              </a:rPr>
              <a:t>handle</a:t>
            </a:r>
            <a:r>
              <a:rPr lang="en" sz="1200">
                <a:solidFill>
                  <a:srgbClr val="666666"/>
                </a:solidFill>
                <a:latin typeface="Courier New"/>
                <a:ea typeface="Courier New"/>
                <a:cs typeface="Courier New"/>
                <a:sym typeface="Courier New"/>
              </a:rPr>
              <a:t>Request</a:t>
            </a:r>
            <a:r>
              <a:rPr lang="en" sz="1200"/>
              <a:t> create and return a </a:t>
            </a:r>
            <a:r>
              <a:rPr b="1" i="1" lang="en" sz="1200">
                <a:solidFill>
                  <a:srgbClr val="FF0000"/>
                </a:solidFill>
              </a:rPr>
              <a:t>success response</a:t>
            </a:r>
            <a:r>
              <a:rPr lang="en" sz="1200"/>
              <a:t> message with the content, "</a:t>
            </a:r>
            <a:r>
              <a:rPr lang="en" sz="1200">
                <a:latin typeface="Courier New"/>
                <a:ea typeface="Courier New"/>
                <a:cs typeface="Courier New"/>
                <a:sym typeface="Courier New"/>
              </a:rPr>
              <a:t>Request Received!</a:t>
            </a:r>
            <a:r>
              <a:rPr lang="en" sz="1200"/>
              <a:t>"</a:t>
            </a:r>
            <a:endParaRPr sz="1200"/>
          </a:p>
          <a:p>
            <a:pPr indent="-304800" lvl="0" marL="457200" rtl="0" algn="l">
              <a:spcBef>
                <a:spcPts val="0"/>
              </a:spcBef>
              <a:spcAft>
                <a:spcPts val="0"/>
              </a:spcAft>
              <a:buSzPts val="1200"/>
              <a:buChar char="●"/>
            </a:pPr>
            <a:r>
              <a:rPr lang="en" sz="1200"/>
              <a:t>In </a:t>
            </a:r>
            <a:r>
              <a:rPr lang="en" sz="1200">
                <a:latin typeface="Courier New"/>
                <a:ea typeface="Courier New"/>
                <a:cs typeface="Courier New"/>
                <a:sym typeface="Courier New"/>
              </a:rPr>
              <a:t>main</a:t>
            </a:r>
            <a:r>
              <a:rPr lang="en" sz="1200"/>
              <a:t>, run your server, navigate to the provided html page, enter the information and press the submit button. You should get a response.</a:t>
            </a:r>
            <a:endParaRPr sz="1200"/>
          </a:p>
        </p:txBody>
      </p:sp>
      <p:sp>
        <p:nvSpPr>
          <p:cNvPr id="437" name="Google Shape;437;p50"/>
          <p:cNvSpPr txBox="1"/>
          <p:nvPr>
            <p:ph type="title"/>
          </p:nvPr>
        </p:nvSpPr>
        <p:spPr>
          <a:xfrm>
            <a:off x="1436850" y="18926"/>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HttpWebServer</a:t>
            </a:r>
            <a:endParaRPr/>
          </a:p>
        </p:txBody>
      </p:sp>
      <p:sp>
        <p:nvSpPr>
          <p:cNvPr id="438" name="Google Shape;438;p5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10.9</a:t>
            </a:r>
            <a:endParaRPr/>
          </a:p>
        </p:txBody>
      </p:sp>
      <p:sp>
        <p:nvSpPr>
          <p:cNvPr id="439" name="Google Shape;439;p50"/>
          <p:cNvSpPr txBox="1"/>
          <p:nvPr>
            <p:ph idx="4" type="body"/>
          </p:nvPr>
        </p:nvSpPr>
        <p:spPr>
          <a:xfrm>
            <a:off x="141600" y="3884373"/>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Lots of little </a:t>
            </a:r>
            <a:r>
              <a:rPr lang="en"/>
              <a:t>pieces are going to make our server more flexible, reusable, and testable. All good things.</a:t>
            </a:r>
            <a:endParaRPr/>
          </a:p>
        </p:txBody>
      </p:sp>
      <p:pic>
        <p:nvPicPr>
          <p:cNvPr id="440" name="Google Shape;440;p50"/>
          <p:cNvPicPr preferRelativeResize="0"/>
          <p:nvPr/>
        </p:nvPicPr>
        <p:blipFill>
          <a:blip r:embed="rId3">
            <a:alphaModFix/>
          </a:blip>
          <a:stretch>
            <a:fillRect/>
          </a:stretch>
        </p:blipFill>
        <p:spPr>
          <a:xfrm>
            <a:off x="141600" y="1668325"/>
            <a:ext cx="3023700" cy="180684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1"/>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We're almost there but you probably noticed an extra message from the client. That's because your web browser asked it for an icon to display next to the URL (</a:t>
            </a:r>
            <a:r>
              <a:rPr lang="en">
                <a:latin typeface="Courier New"/>
                <a:ea typeface="Courier New"/>
                <a:cs typeface="Courier New"/>
                <a:sym typeface="Courier New"/>
              </a:rPr>
              <a:t>favicon.ico</a:t>
            </a:r>
            <a:r>
              <a:rPr lang="en"/>
              <a:t>). While a pain, most modern browsers do this so we'll need to handle that case.</a:t>
            </a:r>
            <a:endParaRPr/>
          </a:p>
        </p:txBody>
      </p:sp>
      <p:sp>
        <p:nvSpPr>
          <p:cNvPr id="446" name="Google Shape;446;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7" name="Google Shape;447;p51"/>
          <p:cNvSpPr txBox="1"/>
          <p:nvPr>
            <p:ph idx="2" type="body"/>
          </p:nvPr>
        </p:nvSpPr>
        <p:spPr>
          <a:xfrm>
            <a:off x="3165300" y="1729125"/>
            <a:ext cx="5775900" cy="2893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Solving this problem, is</a:t>
            </a:r>
            <a:r>
              <a:rPr lang="en"/>
              <a:t> where the URI comes in, that </a:t>
            </a:r>
            <a:r>
              <a:rPr lang="en"/>
              <a:t>piece of information after the method that we've been collecting.</a:t>
            </a:r>
            <a:endParaRPr/>
          </a:p>
          <a:p>
            <a:pPr indent="-311150" lvl="0" marL="457200" rtl="0" algn="l">
              <a:spcBef>
                <a:spcPts val="1000"/>
              </a:spcBef>
              <a:spcAft>
                <a:spcPts val="0"/>
              </a:spcAft>
              <a:buSzPts val="1300"/>
              <a:buChar char="●"/>
            </a:pPr>
            <a:r>
              <a:rPr lang="en"/>
              <a:t>It informs us of what the request is looking for. </a:t>
            </a:r>
            <a:endParaRPr/>
          </a:p>
          <a:p>
            <a:pPr indent="-311150" lvl="0" marL="457200" rtl="0" algn="l">
              <a:spcBef>
                <a:spcPts val="1000"/>
              </a:spcBef>
              <a:spcAft>
                <a:spcPts val="0"/>
              </a:spcAft>
              <a:buSzPts val="1300"/>
              <a:buChar char="●"/>
            </a:pPr>
            <a:r>
              <a:rPr lang="en"/>
              <a:t>Let's update our code to only accept messages to the "/" URI and handle that icon.</a:t>
            </a:r>
            <a:endParaRPr/>
          </a:p>
          <a:p>
            <a:pPr indent="-298450" lvl="1" marL="914400" rtl="0" algn="l">
              <a:spcBef>
                <a:spcPts val="0"/>
              </a:spcBef>
              <a:spcAft>
                <a:spcPts val="0"/>
              </a:spcAft>
              <a:buSzPts val="1100"/>
              <a:buChar char="○"/>
            </a:pPr>
            <a:r>
              <a:rPr lang="en"/>
              <a:t>In your </a:t>
            </a:r>
            <a:r>
              <a:rPr lang="en">
                <a:solidFill>
                  <a:srgbClr val="FF0000"/>
                </a:solidFill>
                <a:latin typeface="Courier New"/>
                <a:ea typeface="Courier New"/>
                <a:cs typeface="Courier New"/>
                <a:sym typeface="Courier New"/>
              </a:rPr>
              <a:t>handleRequest</a:t>
            </a:r>
            <a:r>
              <a:rPr lang="en"/>
              <a:t>, if the URI is not "</a:t>
            </a:r>
            <a:r>
              <a:rPr lang="en">
                <a:latin typeface="Courier New"/>
                <a:ea typeface="Courier New"/>
                <a:cs typeface="Courier New"/>
                <a:sym typeface="Courier New"/>
              </a:rPr>
              <a:t>/</a:t>
            </a:r>
            <a:r>
              <a:rPr lang="en"/>
              <a:t>", return null.</a:t>
            </a:r>
            <a:endParaRPr/>
          </a:p>
          <a:p>
            <a:pPr indent="-298450" lvl="1" marL="914400" rtl="0" algn="l">
              <a:spcBef>
                <a:spcPts val="0"/>
              </a:spcBef>
              <a:spcAft>
                <a:spcPts val="0"/>
              </a:spcAft>
              <a:buSzPts val="1100"/>
              <a:buChar char="○"/>
            </a:pPr>
            <a:r>
              <a:rPr lang="en"/>
              <a:t>In </a:t>
            </a:r>
            <a:r>
              <a:rPr lang="en">
                <a:solidFill>
                  <a:srgbClr val="FF0000"/>
                </a:solidFill>
                <a:latin typeface="Courier New"/>
                <a:ea typeface="Courier New"/>
                <a:cs typeface="Courier New"/>
                <a:sym typeface="Courier New"/>
              </a:rPr>
              <a:t>handleClient</a:t>
            </a:r>
            <a:r>
              <a:rPr lang="en"/>
              <a:t>,  if handleRequest returns null, send an 404 error response of </a:t>
            </a:r>
            <a:r>
              <a:rPr lang="en"/>
              <a:t>"</a:t>
            </a:r>
            <a:r>
              <a:rPr lang="en">
                <a:latin typeface="Courier New"/>
                <a:ea typeface="Courier New"/>
                <a:cs typeface="Courier New"/>
                <a:sym typeface="Courier New"/>
              </a:rPr>
              <a:t>&lt;URI&gt; not found"</a:t>
            </a:r>
            <a:r>
              <a:rPr lang="en"/>
              <a:t>.</a:t>
            </a:r>
            <a:endParaRPr/>
          </a:p>
          <a:p>
            <a:pPr indent="-298450" lvl="2" marL="1371600" rtl="0" algn="l">
              <a:spcBef>
                <a:spcPts val="0"/>
              </a:spcBef>
              <a:spcAft>
                <a:spcPts val="0"/>
              </a:spcAft>
              <a:buSzPts val="1100"/>
              <a:buChar char="■"/>
            </a:pPr>
            <a:r>
              <a:rPr lang="en"/>
              <a:t>Use the </a:t>
            </a:r>
            <a:r>
              <a:rPr lang="en">
                <a:latin typeface="Courier New"/>
                <a:ea typeface="Courier New"/>
                <a:cs typeface="Courier New"/>
                <a:sym typeface="Courier New"/>
              </a:rPr>
              <a:t>buildNotFoundErrorResponse</a:t>
            </a:r>
            <a:r>
              <a:rPr lang="en"/>
              <a:t> method instead of </a:t>
            </a:r>
            <a:r>
              <a:rPr lang="en">
                <a:latin typeface="Courier New"/>
                <a:ea typeface="Courier New"/>
                <a:cs typeface="Courier New"/>
                <a:sym typeface="Courier New"/>
              </a:rPr>
              <a:t>buildSuccessResponse</a:t>
            </a:r>
            <a:endParaRPr>
              <a:latin typeface="Courier New"/>
              <a:ea typeface="Courier New"/>
              <a:cs typeface="Courier New"/>
              <a:sym typeface="Courier New"/>
            </a:endParaRPr>
          </a:p>
          <a:p>
            <a:pPr indent="-311150" lvl="0" marL="457200" rtl="0" algn="l">
              <a:spcBef>
                <a:spcPts val="1000"/>
              </a:spcBef>
              <a:spcAft>
                <a:spcPts val="0"/>
              </a:spcAft>
              <a:buSzPts val="1300"/>
              <a:buChar char="●"/>
            </a:pPr>
            <a:r>
              <a:rPr lang="en"/>
              <a:t>Restart your server and verify it responds to both requests.</a:t>
            </a:r>
            <a:endParaRPr/>
          </a:p>
        </p:txBody>
      </p:sp>
      <p:sp>
        <p:nvSpPr>
          <p:cNvPr id="448" name="Google Shape;448;p51"/>
          <p:cNvSpPr txBox="1"/>
          <p:nvPr>
            <p:ph type="title"/>
          </p:nvPr>
        </p:nvSpPr>
        <p:spPr>
          <a:xfrm>
            <a:off x="1436850" y="11754"/>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favicon.ico???</a:t>
            </a:r>
            <a:endParaRPr/>
          </a:p>
        </p:txBody>
      </p:sp>
      <p:sp>
        <p:nvSpPr>
          <p:cNvPr id="449" name="Google Shape;449;p5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10.10</a:t>
            </a:r>
            <a:endParaRPr/>
          </a:p>
        </p:txBody>
      </p:sp>
      <p:sp>
        <p:nvSpPr>
          <p:cNvPr id="450" name="Google Shape;450;p51"/>
          <p:cNvSpPr txBox="1"/>
          <p:nvPr>
            <p:ph idx="4" type="body"/>
          </p:nvPr>
        </p:nvSpPr>
        <p:spPr>
          <a:xfrm>
            <a:off x="141600" y="4056495"/>
            <a:ext cx="3023700" cy="92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When dealing with </a:t>
            </a:r>
            <a:r>
              <a:rPr lang="en"/>
              <a:t>commercial</a:t>
            </a:r>
            <a:r>
              <a:rPr lang="en"/>
              <a:t> grade software you'll often find lots of extra stuff. Sometimes we can ignore it but sometimes we have to manage it.</a:t>
            </a:r>
            <a:endParaRPr/>
          </a:p>
        </p:txBody>
      </p:sp>
      <p:pic>
        <p:nvPicPr>
          <p:cNvPr id="451" name="Google Shape;451;p51" title="Favicon.png"/>
          <p:cNvPicPr preferRelativeResize="0"/>
          <p:nvPr/>
        </p:nvPicPr>
        <p:blipFill>
          <a:blip r:embed="rId3">
            <a:alphaModFix/>
          </a:blip>
          <a:stretch>
            <a:fillRect/>
          </a:stretch>
        </p:blipFill>
        <p:spPr>
          <a:xfrm>
            <a:off x="141600" y="1867175"/>
            <a:ext cx="3023700" cy="2015793"/>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Hopefully everything works, if not, raise your hand to get some assistance. At the moment, your sending a static response back, that doesn't do much. We can fix that by </a:t>
            </a:r>
            <a:r>
              <a:rPr lang="en"/>
              <a:t>adding</a:t>
            </a:r>
            <a:r>
              <a:rPr lang="en"/>
              <a:t> some logic to the handleRequest message.</a:t>
            </a:r>
            <a:endParaRPr/>
          </a:p>
        </p:txBody>
      </p:sp>
      <p:sp>
        <p:nvSpPr>
          <p:cNvPr id="457" name="Google Shape;457;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8" name="Google Shape;458;p52"/>
          <p:cNvSpPr txBox="1"/>
          <p:nvPr>
            <p:ph idx="2" type="body"/>
          </p:nvPr>
        </p:nvSpPr>
        <p:spPr>
          <a:xfrm>
            <a:off x="3165300" y="1729125"/>
            <a:ext cx="5775900" cy="3212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Update the </a:t>
            </a:r>
            <a:r>
              <a:rPr lang="en">
                <a:latin typeface="Courier New"/>
                <a:ea typeface="Courier New"/>
                <a:cs typeface="Courier New"/>
                <a:sym typeface="Courier New"/>
              </a:rPr>
              <a:t>handleRequest</a:t>
            </a:r>
            <a:r>
              <a:rPr lang="en"/>
              <a:t> method to use the </a:t>
            </a:r>
            <a:r>
              <a:rPr lang="en"/>
              <a:t>message body.</a:t>
            </a:r>
            <a:endParaRPr/>
          </a:p>
          <a:p>
            <a:pPr indent="-298450" lvl="1" marL="914400" rtl="0" algn="l">
              <a:spcBef>
                <a:spcPts val="0"/>
              </a:spcBef>
              <a:spcAft>
                <a:spcPts val="0"/>
              </a:spcAft>
              <a:buSzPts val="1100"/>
              <a:buChar char="○"/>
            </a:pPr>
            <a:r>
              <a:rPr lang="en"/>
              <a:t>Split the message into parts using "</a:t>
            </a:r>
            <a:r>
              <a:rPr lang="en">
                <a:solidFill>
                  <a:srgbClr val="FF0000"/>
                </a:solidFill>
                <a:latin typeface="Courier New"/>
                <a:ea typeface="Courier New"/>
                <a:cs typeface="Courier New"/>
                <a:sym typeface="Courier New"/>
              </a:rPr>
              <a:t>&amp;</a:t>
            </a:r>
            <a:r>
              <a:rPr lang="en"/>
              <a:t>" as the separator</a:t>
            </a:r>
            <a:endParaRPr/>
          </a:p>
          <a:p>
            <a:pPr indent="-298450" lvl="1" marL="914400" rtl="0" algn="l">
              <a:spcBef>
                <a:spcPts val="0"/>
              </a:spcBef>
              <a:spcAft>
                <a:spcPts val="0"/>
              </a:spcAft>
              <a:buSzPts val="1100"/>
              <a:buChar char="○"/>
            </a:pPr>
            <a:r>
              <a:rPr lang="en"/>
              <a:t>Split each part using "</a:t>
            </a:r>
            <a:r>
              <a:rPr lang="en">
                <a:solidFill>
                  <a:srgbClr val="FF0000"/>
                </a:solidFill>
                <a:latin typeface="Courier New"/>
                <a:ea typeface="Courier New"/>
                <a:cs typeface="Courier New"/>
                <a:sym typeface="Courier New"/>
              </a:rPr>
              <a:t>=</a:t>
            </a:r>
            <a:r>
              <a:rPr lang="en"/>
              <a:t>" as the separator</a:t>
            </a:r>
            <a:endParaRPr/>
          </a:p>
          <a:p>
            <a:pPr indent="-292100" lvl="2" marL="1371600" rtl="0" algn="l">
              <a:spcBef>
                <a:spcPts val="0"/>
              </a:spcBef>
              <a:spcAft>
                <a:spcPts val="0"/>
              </a:spcAft>
              <a:buSzPts val="1000"/>
              <a:buChar char="■"/>
            </a:pPr>
            <a:r>
              <a:rPr lang="en" sz="1000"/>
              <a:t>Alternatively, you could create a dictionary the same way as we did for the headers.</a:t>
            </a:r>
            <a:endParaRPr sz="1000"/>
          </a:p>
          <a:p>
            <a:pPr indent="-298450" lvl="1" marL="914400" rtl="0" algn="l">
              <a:spcBef>
                <a:spcPts val="0"/>
              </a:spcBef>
              <a:spcAft>
                <a:spcPts val="0"/>
              </a:spcAft>
              <a:buSzPts val="1100"/>
              <a:buChar char="○"/>
            </a:pPr>
            <a:r>
              <a:rPr lang="en"/>
              <a:t>Use the data to calculate the users age</a:t>
            </a:r>
            <a:endParaRPr/>
          </a:p>
          <a:p>
            <a:pPr indent="-292100" lvl="2" marL="1371600" rtl="0" algn="l">
              <a:spcBef>
                <a:spcPts val="0"/>
              </a:spcBef>
              <a:spcAft>
                <a:spcPts val="0"/>
              </a:spcAft>
              <a:buSzPts val="1000"/>
              <a:buChar char="■"/>
            </a:pPr>
            <a:r>
              <a:rPr lang="en" sz="1000"/>
              <a:t>If you turn the age into a string in "&lt;year&gt;-&lt;month&gt;-&lt;day&gt;" format you can use </a:t>
            </a:r>
            <a:r>
              <a:rPr lang="en" sz="1000">
                <a:latin typeface="Courier New"/>
                <a:ea typeface="Courier New"/>
                <a:cs typeface="Courier New"/>
                <a:sym typeface="Courier New"/>
              </a:rPr>
              <a:t>String.compareTo</a:t>
            </a:r>
            <a:r>
              <a:rPr lang="en" sz="1000"/>
              <a:t> to check if it's before or after a set date.</a:t>
            </a:r>
            <a:endParaRPr sz="1000"/>
          </a:p>
          <a:p>
            <a:pPr indent="-298450" lvl="1" marL="914400" rtl="0" algn="l">
              <a:spcBef>
                <a:spcPts val="0"/>
              </a:spcBef>
              <a:spcAft>
                <a:spcPts val="0"/>
              </a:spcAft>
              <a:buSzPts val="1100"/>
              <a:buChar char="○"/>
            </a:pPr>
            <a:r>
              <a:rPr lang="en"/>
              <a:t>If the age is </a:t>
            </a:r>
            <a:r>
              <a:rPr b="1" i="1" lang="en">
                <a:solidFill>
                  <a:srgbClr val="FF0000"/>
                </a:solidFill>
              </a:rPr>
              <a:t>21 or older</a:t>
            </a:r>
            <a:r>
              <a:rPr lang="en"/>
              <a:t>, send a congratulatory response message</a:t>
            </a:r>
            <a:endParaRPr/>
          </a:p>
          <a:p>
            <a:pPr indent="-298450" lvl="1" marL="914400" rtl="0" algn="l">
              <a:spcBef>
                <a:spcPts val="0"/>
              </a:spcBef>
              <a:spcAft>
                <a:spcPts val="0"/>
              </a:spcAft>
              <a:buSzPts val="1100"/>
              <a:buChar char="○"/>
            </a:pPr>
            <a:r>
              <a:rPr lang="en"/>
              <a:t>If not, send response indicating they will have to wait a little longer</a:t>
            </a:r>
            <a:endParaRPr/>
          </a:p>
          <a:p>
            <a:pPr indent="-311150" lvl="0" marL="457200" rtl="0" algn="l">
              <a:spcBef>
                <a:spcPts val="1000"/>
              </a:spcBef>
              <a:spcAft>
                <a:spcPts val="0"/>
              </a:spcAft>
              <a:buSzPts val="1300"/>
              <a:buChar char="●"/>
            </a:pPr>
            <a:r>
              <a:rPr lang="en"/>
              <a:t>Run your server again and verify you get the expected response.</a:t>
            </a:r>
            <a:endParaRPr/>
          </a:p>
          <a:p>
            <a:pPr indent="-311150" lvl="0" marL="457200" rtl="0" algn="l">
              <a:spcBef>
                <a:spcPts val="1000"/>
              </a:spcBef>
              <a:spcAft>
                <a:spcPts val="0"/>
              </a:spcAft>
              <a:buSzPts val="1300"/>
              <a:buChar char="●"/>
            </a:pPr>
            <a:r>
              <a:rPr lang="en"/>
              <a:t>If you have time, try and make the response prettier by adding in a little html.</a:t>
            </a:r>
            <a:endParaRPr/>
          </a:p>
          <a:p>
            <a:pPr indent="-298450" lvl="1" marL="914400" rtl="0" algn="l">
              <a:spcBef>
                <a:spcPts val="0"/>
              </a:spcBef>
              <a:spcAft>
                <a:spcPts val="0"/>
              </a:spcAft>
              <a:buSzPts val="1100"/>
              <a:buChar char="○"/>
            </a:pPr>
            <a:r>
              <a:rPr lang="en"/>
              <a:t>You can use AI to help you with the html formatting</a:t>
            </a:r>
            <a:endParaRPr/>
          </a:p>
        </p:txBody>
      </p:sp>
      <p:sp>
        <p:nvSpPr>
          <p:cNvPr id="459" name="Google Shape;459;p52"/>
          <p:cNvSpPr txBox="1"/>
          <p:nvPr>
            <p:ph type="title"/>
          </p:nvPr>
        </p:nvSpPr>
        <p:spPr>
          <a:xfrm>
            <a:off x="1436850" y="18926"/>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Request Handle Logic</a:t>
            </a:r>
            <a:endParaRPr/>
          </a:p>
        </p:txBody>
      </p:sp>
      <p:sp>
        <p:nvSpPr>
          <p:cNvPr id="460" name="Google Shape;460;p5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10.11</a:t>
            </a:r>
            <a:endParaRPr/>
          </a:p>
        </p:txBody>
      </p:sp>
      <p:sp>
        <p:nvSpPr>
          <p:cNvPr id="461" name="Google Shape;461;p52"/>
          <p:cNvSpPr txBox="1"/>
          <p:nvPr>
            <p:ph idx="4" type="body"/>
          </p:nvPr>
        </p:nvSpPr>
        <p:spPr>
          <a:xfrm>
            <a:off x="141600" y="3705079"/>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 used the following HTML for the above response.</a:t>
            </a:r>
            <a:endParaRPr/>
          </a:p>
        </p:txBody>
      </p:sp>
      <p:pic>
        <p:nvPicPr>
          <p:cNvPr id="462" name="Google Shape;462;p52"/>
          <p:cNvPicPr preferRelativeResize="0"/>
          <p:nvPr/>
        </p:nvPicPr>
        <p:blipFill>
          <a:blip r:embed="rId3">
            <a:alphaModFix/>
          </a:blip>
          <a:stretch>
            <a:fillRect/>
          </a:stretch>
        </p:blipFill>
        <p:spPr>
          <a:xfrm>
            <a:off x="141597" y="1900724"/>
            <a:ext cx="3023700" cy="1720747"/>
          </a:xfrm>
          <a:prstGeom prst="rect">
            <a:avLst/>
          </a:prstGeom>
          <a:noFill/>
          <a:ln cap="flat" cmpd="sng" w="19050">
            <a:solidFill>
              <a:schemeClr val="dk1"/>
            </a:solidFill>
            <a:prstDash val="solid"/>
            <a:round/>
            <a:headEnd len="sm" w="sm" type="none"/>
            <a:tailEnd len="sm" w="sm" type="none"/>
          </a:ln>
        </p:spPr>
      </p:pic>
      <p:sp>
        <p:nvSpPr>
          <p:cNvPr id="463" name="Google Shape;463;p52"/>
          <p:cNvSpPr txBox="1"/>
          <p:nvPr>
            <p:ph idx="4" type="body"/>
          </p:nvPr>
        </p:nvSpPr>
        <p:spPr>
          <a:xfrm>
            <a:off x="141600" y="4342779"/>
            <a:ext cx="3023700" cy="529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950">
                <a:solidFill>
                  <a:srgbClr val="1F1F1F"/>
                </a:solidFill>
                <a:latin typeface="Consolas"/>
                <a:ea typeface="Consolas"/>
                <a:cs typeface="Consolas"/>
                <a:sym typeface="Consolas"/>
              </a:rPr>
              <a:t>"&lt;html&gt;&lt;body&gt;&lt;h1&gt;Sorry!&lt;/h1&gt;&lt;p&gt;You are not old enough to drink.&lt;/p&gt;&lt;/body&gt;&lt;/html&gt;"</a:t>
            </a:r>
            <a:endParaRPr sz="1100">
              <a:solidFill>
                <a:srgbClr val="1F1F1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3"/>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Right now, our server only works for one type of request. While we could make a seperate server for each application, it would be better to </a:t>
            </a:r>
            <a:r>
              <a:rPr lang="en"/>
              <a:t>outsource</a:t>
            </a:r>
            <a:r>
              <a:rPr lang="en"/>
              <a:t> the handleRequest to its </a:t>
            </a:r>
            <a:r>
              <a:rPr lang="en"/>
              <a:t>own class.</a:t>
            </a:r>
            <a:endParaRPr/>
          </a:p>
        </p:txBody>
      </p:sp>
      <p:sp>
        <p:nvSpPr>
          <p:cNvPr id="469" name="Google Shape;469;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0" name="Google Shape;470;p53"/>
          <p:cNvSpPr txBox="1"/>
          <p:nvPr>
            <p:ph idx="2" type="body"/>
          </p:nvPr>
        </p:nvSpPr>
        <p:spPr>
          <a:xfrm>
            <a:off x="3165300" y="1576900"/>
            <a:ext cx="5775900" cy="3358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the </a:t>
            </a:r>
            <a:r>
              <a:rPr lang="en">
                <a:latin typeface="Courier New"/>
                <a:ea typeface="Courier New"/>
                <a:cs typeface="Courier New"/>
                <a:sym typeface="Courier New"/>
              </a:rPr>
              <a:t>httpserver </a:t>
            </a:r>
            <a:r>
              <a:rPr lang="en"/>
              <a:t>package, create a </a:t>
            </a:r>
            <a:r>
              <a:rPr lang="en">
                <a:solidFill>
                  <a:srgbClr val="FF0000"/>
                </a:solidFill>
                <a:latin typeface="Courier New"/>
                <a:ea typeface="Courier New"/>
                <a:cs typeface="Courier New"/>
                <a:sym typeface="Courier New"/>
              </a:rPr>
              <a:t>RequestHandler</a:t>
            </a:r>
            <a:r>
              <a:rPr lang="en">
                <a:solidFill>
                  <a:srgbClr val="FF0000"/>
                </a:solidFill>
              </a:rPr>
              <a:t> </a:t>
            </a:r>
            <a:r>
              <a:rPr lang="en"/>
              <a:t>interface.</a:t>
            </a:r>
            <a:endParaRPr/>
          </a:p>
          <a:p>
            <a:pPr indent="-298450" lvl="1" marL="914400" rtl="0" algn="l">
              <a:spcBef>
                <a:spcPts val="0"/>
              </a:spcBef>
              <a:spcAft>
                <a:spcPts val="0"/>
              </a:spcAft>
              <a:buSzPts val="1100"/>
              <a:buChar char="○"/>
            </a:pPr>
            <a:r>
              <a:rPr lang="en"/>
              <a:t>Use the UML on the left as a guide.</a:t>
            </a:r>
            <a:endParaRPr/>
          </a:p>
          <a:p>
            <a:pPr indent="-311150" lvl="0" marL="457200" rtl="0" algn="l">
              <a:spcBef>
                <a:spcPts val="0"/>
              </a:spcBef>
              <a:spcAft>
                <a:spcPts val="0"/>
              </a:spcAft>
              <a:buSzPts val="1300"/>
              <a:buChar char="●"/>
            </a:pPr>
            <a:r>
              <a:rPr lang="en"/>
              <a:t>In </a:t>
            </a:r>
            <a:r>
              <a:rPr lang="en">
                <a:latin typeface="Courier New"/>
                <a:ea typeface="Courier New"/>
                <a:cs typeface="Courier New"/>
                <a:sym typeface="Courier New"/>
              </a:rPr>
              <a:t>HttpWebServer</a:t>
            </a:r>
            <a:r>
              <a:rPr lang="en"/>
              <a:t>, </a:t>
            </a:r>
            <a:r>
              <a:rPr b="1" i="1" lang="en">
                <a:solidFill>
                  <a:srgbClr val="FF0000"/>
                </a:solidFill>
              </a:rPr>
              <a:t>add </a:t>
            </a:r>
            <a:r>
              <a:rPr lang="en"/>
              <a:t>a </a:t>
            </a:r>
            <a:r>
              <a:rPr lang="en">
                <a:latin typeface="Courier New"/>
                <a:ea typeface="Courier New"/>
                <a:cs typeface="Courier New"/>
                <a:sym typeface="Courier New"/>
              </a:rPr>
              <a:t>RequestHandler</a:t>
            </a:r>
            <a:r>
              <a:rPr lang="en"/>
              <a:t> instance to the class.</a:t>
            </a:r>
            <a:endParaRPr/>
          </a:p>
          <a:p>
            <a:pPr indent="-298450" lvl="1" marL="914400" rtl="0" algn="l">
              <a:spcBef>
                <a:spcPts val="0"/>
              </a:spcBef>
              <a:spcAft>
                <a:spcPts val="0"/>
              </a:spcAft>
              <a:buSzPts val="1100"/>
              <a:buChar char="○"/>
            </a:pPr>
            <a:r>
              <a:rPr lang="en"/>
              <a:t>Use the UML as a guide.</a:t>
            </a:r>
            <a:endParaRPr/>
          </a:p>
          <a:p>
            <a:pPr indent="-311150" lvl="0" marL="457200" rtl="0" algn="l">
              <a:spcBef>
                <a:spcPts val="0"/>
              </a:spcBef>
              <a:spcAft>
                <a:spcPts val="0"/>
              </a:spcAft>
              <a:buSzPts val="1300"/>
              <a:buChar char="●"/>
            </a:pPr>
            <a:r>
              <a:rPr b="1" i="1" lang="en">
                <a:solidFill>
                  <a:srgbClr val="FF0000"/>
                </a:solidFill>
              </a:rPr>
              <a:t>Edit </a:t>
            </a:r>
            <a:r>
              <a:rPr lang="en">
                <a:solidFill>
                  <a:srgbClr val="FF0000"/>
                </a:solidFill>
                <a:latin typeface="Courier New"/>
                <a:ea typeface="Courier New"/>
                <a:cs typeface="Courier New"/>
                <a:sym typeface="Courier New"/>
              </a:rPr>
              <a:t>handleClient</a:t>
            </a:r>
            <a:r>
              <a:rPr lang="en"/>
              <a:t> to call </a:t>
            </a:r>
            <a:r>
              <a:rPr lang="en">
                <a:solidFill>
                  <a:srgbClr val="FF0000"/>
                </a:solidFill>
                <a:latin typeface="Courier New"/>
                <a:ea typeface="Courier New"/>
                <a:cs typeface="Courier New"/>
                <a:sym typeface="Courier New"/>
              </a:rPr>
              <a:t>handler.handleRequest</a:t>
            </a:r>
            <a:r>
              <a:rPr lang="en"/>
              <a:t>, instead of </a:t>
            </a:r>
            <a:r>
              <a:rPr lang="en">
                <a:latin typeface="Courier New"/>
                <a:ea typeface="Courier New"/>
                <a:cs typeface="Courier New"/>
                <a:sym typeface="Courier New"/>
              </a:rPr>
              <a:t>handleRequest</a:t>
            </a:r>
            <a:r>
              <a:rPr lang="en"/>
              <a:t>.</a:t>
            </a:r>
            <a:endParaRPr/>
          </a:p>
          <a:p>
            <a:pPr indent="-311150" lvl="0" marL="457200" rtl="0" algn="l">
              <a:spcBef>
                <a:spcPts val="0"/>
              </a:spcBef>
              <a:spcAft>
                <a:spcPts val="0"/>
              </a:spcAft>
              <a:buSzPts val="1300"/>
              <a:buChar char="●"/>
            </a:pPr>
            <a:r>
              <a:rPr lang="en"/>
              <a:t>In the </a:t>
            </a:r>
            <a:r>
              <a:rPr lang="en">
                <a:latin typeface="Courier New"/>
                <a:ea typeface="Courier New"/>
                <a:cs typeface="Courier New"/>
                <a:sym typeface="Courier New"/>
              </a:rPr>
              <a:t>activities</a:t>
            </a:r>
            <a:r>
              <a:rPr lang="en"/>
              <a:t> package, make a </a:t>
            </a:r>
            <a:r>
              <a:rPr lang="en">
                <a:solidFill>
                  <a:srgbClr val="FF0000"/>
                </a:solidFill>
                <a:latin typeface="Courier New"/>
                <a:ea typeface="Courier New"/>
                <a:cs typeface="Courier New"/>
                <a:sym typeface="Courier New"/>
              </a:rPr>
              <a:t>DrinkingAgeHandler</a:t>
            </a:r>
            <a:r>
              <a:rPr lang="en"/>
              <a:t> that implements </a:t>
            </a:r>
            <a:r>
              <a:rPr lang="en">
                <a:latin typeface="Courier New"/>
                <a:ea typeface="Courier New"/>
                <a:cs typeface="Courier New"/>
                <a:sym typeface="Courier New"/>
              </a:rPr>
              <a:t>RequestHandler</a:t>
            </a:r>
            <a:r>
              <a:rPr lang="en"/>
              <a:t>.</a:t>
            </a:r>
            <a:endParaRPr/>
          </a:p>
          <a:p>
            <a:pPr indent="-298450" lvl="1" marL="914400" rtl="0" algn="l">
              <a:spcBef>
                <a:spcPts val="0"/>
              </a:spcBef>
              <a:spcAft>
                <a:spcPts val="0"/>
              </a:spcAft>
              <a:buSzPts val="1100"/>
              <a:buChar char="○"/>
            </a:pPr>
            <a:r>
              <a:rPr lang="en"/>
              <a:t>Cut and paste the </a:t>
            </a:r>
            <a:r>
              <a:rPr lang="en">
                <a:latin typeface="Courier New"/>
                <a:ea typeface="Courier New"/>
                <a:cs typeface="Courier New"/>
                <a:sym typeface="Courier New"/>
              </a:rPr>
              <a:t>handleRequest</a:t>
            </a:r>
            <a:r>
              <a:rPr lang="en"/>
              <a:t> message from </a:t>
            </a:r>
            <a:r>
              <a:rPr lang="en">
                <a:latin typeface="Courier New"/>
                <a:ea typeface="Courier New"/>
                <a:cs typeface="Courier New"/>
                <a:sym typeface="Courier New"/>
              </a:rPr>
              <a:t>HttpWebServer</a:t>
            </a:r>
            <a:r>
              <a:rPr lang="en"/>
              <a:t>.</a:t>
            </a:r>
            <a:endParaRPr/>
          </a:p>
          <a:p>
            <a:pPr indent="-311150" lvl="0" marL="457200" rtl="0" algn="l">
              <a:spcBef>
                <a:spcPts val="0"/>
              </a:spcBef>
              <a:spcAft>
                <a:spcPts val="0"/>
              </a:spcAft>
              <a:buSzPts val="1300"/>
              <a:buChar char="●"/>
            </a:pPr>
            <a:r>
              <a:rPr lang="en"/>
              <a:t>Create a new </a:t>
            </a:r>
            <a:r>
              <a:rPr lang="en">
                <a:latin typeface="Courier New"/>
                <a:ea typeface="Courier New"/>
                <a:cs typeface="Courier New"/>
                <a:sym typeface="Courier New"/>
              </a:rPr>
              <a:t>DrinkingAgeServer</a:t>
            </a:r>
            <a:r>
              <a:rPr lang="en"/>
              <a:t> in activities. The server should:</a:t>
            </a:r>
            <a:endParaRPr/>
          </a:p>
          <a:p>
            <a:pPr indent="-298450" lvl="1" marL="914400" rtl="0" algn="l">
              <a:spcBef>
                <a:spcPts val="0"/>
              </a:spcBef>
              <a:spcAft>
                <a:spcPts val="0"/>
              </a:spcAft>
              <a:buSzPts val="1100"/>
              <a:buChar char="○"/>
            </a:pPr>
            <a:r>
              <a:rPr lang="en"/>
              <a:t>Create an instance of </a:t>
            </a:r>
            <a:r>
              <a:rPr lang="en">
                <a:latin typeface="Courier New"/>
                <a:ea typeface="Courier New"/>
                <a:cs typeface="Courier New"/>
                <a:sym typeface="Courier New"/>
              </a:rPr>
              <a:t>DrinkingAgeHandler</a:t>
            </a:r>
            <a:endParaRPr>
              <a:latin typeface="Courier New"/>
              <a:ea typeface="Courier New"/>
              <a:cs typeface="Courier New"/>
              <a:sym typeface="Courier New"/>
            </a:endParaRPr>
          </a:p>
          <a:p>
            <a:pPr indent="-298450" lvl="1" marL="914400" rtl="0" algn="l">
              <a:spcBef>
                <a:spcPts val="0"/>
              </a:spcBef>
              <a:spcAft>
                <a:spcPts val="0"/>
              </a:spcAft>
              <a:buSzPts val="1100"/>
              <a:buChar char="○"/>
            </a:pPr>
            <a:r>
              <a:rPr lang="en"/>
              <a:t>Create an instance of </a:t>
            </a:r>
            <a:r>
              <a:rPr lang="en">
                <a:latin typeface="Courier New"/>
                <a:ea typeface="Courier New"/>
                <a:cs typeface="Courier New"/>
                <a:sym typeface="Courier New"/>
              </a:rPr>
              <a:t>HttpWebServer</a:t>
            </a:r>
            <a:r>
              <a:rPr lang="en"/>
              <a:t> on port </a:t>
            </a:r>
            <a:r>
              <a:rPr lang="en">
                <a:latin typeface="Courier New"/>
                <a:ea typeface="Courier New"/>
                <a:cs typeface="Courier New"/>
                <a:sym typeface="Courier New"/>
              </a:rPr>
              <a:t>8081</a:t>
            </a:r>
            <a:r>
              <a:rPr lang="en"/>
              <a:t> using the handler created in the previous step.</a:t>
            </a:r>
            <a:endParaRPr/>
          </a:p>
          <a:p>
            <a:pPr indent="-298450" lvl="1" marL="914400" rtl="0" algn="l">
              <a:spcBef>
                <a:spcPts val="0"/>
              </a:spcBef>
              <a:spcAft>
                <a:spcPts val="0"/>
              </a:spcAft>
              <a:buSzPts val="1100"/>
              <a:buChar char="○"/>
            </a:pPr>
            <a:r>
              <a:rPr lang="en"/>
              <a:t>Call start on the server.</a:t>
            </a:r>
            <a:endParaRPr/>
          </a:p>
          <a:p>
            <a:pPr indent="-311150" lvl="0" marL="457200" rtl="0" algn="l">
              <a:spcBef>
                <a:spcPts val="0"/>
              </a:spcBef>
              <a:spcAft>
                <a:spcPts val="0"/>
              </a:spcAft>
              <a:buSzPts val="1300"/>
              <a:buChar char="●"/>
            </a:pPr>
            <a:r>
              <a:rPr lang="en"/>
              <a:t>Run your new server and verify everything works as before.</a:t>
            </a:r>
            <a:endParaRPr/>
          </a:p>
        </p:txBody>
      </p:sp>
      <p:sp>
        <p:nvSpPr>
          <p:cNvPr id="471" name="Google Shape;471;p53"/>
          <p:cNvSpPr txBox="1"/>
          <p:nvPr>
            <p:ph type="title"/>
          </p:nvPr>
        </p:nvSpPr>
        <p:spPr>
          <a:xfrm>
            <a:off x="1436850" y="3856"/>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RequestHandler Interface</a:t>
            </a:r>
            <a:endParaRPr/>
          </a:p>
        </p:txBody>
      </p:sp>
      <p:sp>
        <p:nvSpPr>
          <p:cNvPr id="472" name="Google Shape;472;p5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10.12</a:t>
            </a:r>
            <a:endParaRPr/>
          </a:p>
        </p:txBody>
      </p:sp>
      <p:sp>
        <p:nvSpPr>
          <p:cNvPr id="473" name="Google Shape;473;p53"/>
          <p:cNvSpPr txBox="1"/>
          <p:nvPr>
            <p:ph idx="4" type="body"/>
          </p:nvPr>
        </p:nvSpPr>
        <p:spPr>
          <a:xfrm>
            <a:off x="141600" y="4428564"/>
            <a:ext cx="3023700" cy="523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100"/>
              <a:t>Making </a:t>
            </a:r>
            <a:r>
              <a:rPr lang="en" sz="1100">
                <a:latin typeface="Courier New"/>
                <a:ea typeface="Courier New"/>
                <a:cs typeface="Courier New"/>
                <a:sym typeface="Courier New"/>
              </a:rPr>
              <a:t>handleRequest</a:t>
            </a:r>
            <a:r>
              <a:rPr lang="en" sz="1100"/>
              <a:t> its own object will greatly increase the </a:t>
            </a:r>
            <a:r>
              <a:rPr lang="en" sz="1100"/>
              <a:t>reusability</a:t>
            </a:r>
            <a:r>
              <a:rPr lang="en" sz="1100"/>
              <a:t> of our server.</a:t>
            </a:r>
            <a:endParaRPr sz="1100"/>
          </a:p>
        </p:txBody>
      </p:sp>
      <p:pic>
        <p:nvPicPr>
          <p:cNvPr id="474" name="Google Shape;474;p53"/>
          <p:cNvPicPr preferRelativeResize="0"/>
          <p:nvPr/>
        </p:nvPicPr>
        <p:blipFill>
          <a:blip r:embed="rId3">
            <a:alphaModFix/>
          </a:blip>
          <a:stretch>
            <a:fillRect/>
          </a:stretch>
        </p:blipFill>
        <p:spPr>
          <a:xfrm>
            <a:off x="395838" y="1478900"/>
            <a:ext cx="2515213" cy="28351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4"/>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Guessing Game! </a:t>
            </a:r>
            <a:endParaRPr sz="3400"/>
          </a:p>
        </p:txBody>
      </p:sp>
      <p:sp>
        <p:nvSpPr>
          <p:cNvPr id="480" name="Google Shape;480;p54"/>
          <p:cNvSpPr txBox="1"/>
          <p:nvPr>
            <p:ph idx="1" type="body"/>
          </p:nvPr>
        </p:nvSpPr>
        <p:spPr>
          <a:xfrm>
            <a:off x="65250" y="731625"/>
            <a:ext cx="8955900" cy="808200"/>
          </a:xfrm>
          <a:prstGeom prst="rect">
            <a:avLst/>
          </a:prstGeom>
          <a:noFill/>
          <a:ln>
            <a:noFill/>
          </a:ln>
        </p:spPr>
        <p:txBody>
          <a:bodyPr anchorCtr="0" anchor="t" bIns="34275" lIns="68575" spcFirstLastPara="1" rIns="68575" wrap="square" tIns="34275">
            <a:spAutoFit/>
          </a:bodyPr>
          <a:lstStyle/>
          <a:p>
            <a:pPr indent="0" lvl="0" marL="0" rtl="0" algn="l">
              <a:lnSpc>
                <a:spcPct val="100000"/>
              </a:lnSpc>
              <a:spcBef>
                <a:spcPts val="0"/>
              </a:spcBef>
              <a:spcAft>
                <a:spcPts val="0"/>
              </a:spcAft>
              <a:buClr>
                <a:srgbClr val="000000"/>
              </a:buClr>
              <a:buSzPts val="1800"/>
              <a:buNone/>
            </a:pPr>
            <a:r>
              <a:rPr lang="en"/>
              <a:t>You have been provided with a completely functional implementation of a Guessing Game in the </a:t>
            </a:r>
            <a:r>
              <a:rPr lang="en">
                <a:latin typeface="Courier New"/>
                <a:ea typeface="Courier New"/>
                <a:cs typeface="Courier New"/>
                <a:sym typeface="Courier New"/>
              </a:rPr>
              <a:t>guessing</a:t>
            </a:r>
            <a:r>
              <a:rPr lang="en"/>
              <a:t> package.</a:t>
            </a:r>
            <a:r>
              <a:rPr lang="en"/>
              <a:t> Examine the code now and make sure that you understand how to play the game using the provided CLI.</a:t>
            </a:r>
            <a:endParaRPr/>
          </a:p>
        </p:txBody>
      </p:sp>
      <p:sp>
        <p:nvSpPr>
          <p:cNvPr id="481" name="Google Shape;481;p54"/>
          <p:cNvSpPr txBox="1"/>
          <p:nvPr>
            <p:ph idx="2" type="body"/>
          </p:nvPr>
        </p:nvSpPr>
        <p:spPr>
          <a:xfrm>
            <a:off x="2864200" y="1784200"/>
            <a:ext cx="6019500" cy="3039300"/>
          </a:xfrm>
          <a:prstGeom prst="rect">
            <a:avLst/>
          </a:prstGeom>
          <a:noFill/>
          <a:ln>
            <a:noFill/>
          </a:ln>
        </p:spPr>
        <p:txBody>
          <a:bodyPr anchorCtr="0" anchor="t" bIns="34275" lIns="68575" spcFirstLastPara="1" rIns="68575" wrap="square" tIns="34275">
            <a:spAutoFit/>
          </a:bodyPr>
          <a:lstStyle/>
          <a:p>
            <a:pPr indent="-336550" lvl="0" marL="457200" rtl="0" algn="l">
              <a:lnSpc>
                <a:spcPct val="115000"/>
              </a:lnSpc>
              <a:spcBef>
                <a:spcPts val="0"/>
              </a:spcBef>
              <a:spcAft>
                <a:spcPts val="0"/>
              </a:spcAft>
              <a:buSzPts val="1700"/>
              <a:buChar char="●"/>
            </a:pPr>
            <a:r>
              <a:rPr lang="en" sz="1700"/>
              <a:t>A random number between 1 and 100 is generated by the game.</a:t>
            </a:r>
            <a:endParaRPr sz="1500"/>
          </a:p>
          <a:p>
            <a:pPr indent="-336550" lvl="0" marL="457200" rtl="0" algn="l">
              <a:lnSpc>
                <a:spcPct val="115000"/>
              </a:lnSpc>
              <a:spcBef>
                <a:spcPts val="0"/>
              </a:spcBef>
              <a:spcAft>
                <a:spcPts val="0"/>
              </a:spcAft>
              <a:buSzPts val="1700"/>
              <a:buChar char="●"/>
            </a:pPr>
            <a:r>
              <a:rPr lang="en" sz="1700"/>
              <a:t>The player has 6 guesses to try and find the number.</a:t>
            </a:r>
            <a:endParaRPr sz="1500"/>
          </a:p>
          <a:p>
            <a:pPr indent="-336550" lvl="0" marL="457200" rtl="0" algn="l">
              <a:lnSpc>
                <a:spcPct val="115000"/>
              </a:lnSpc>
              <a:spcBef>
                <a:spcPts val="0"/>
              </a:spcBef>
              <a:spcAft>
                <a:spcPts val="0"/>
              </a:spcAft>
              <a:buSzPts val="1700"/>
              <a:buChar char="●"/>
            </a:pPr>
            <a:r>
              <a:rPr lang="en" sz="1700"/>
              <a:t>The player can restart the game at any time with a new number to guess.</a:t>
            </a:r>
            <a:endParaRPr sz="1500"/>
          </a:p>
          <a:p>
            <a:pPr indent="-336550" lvl="0" marL="457200" rtl="0" algn="l">
              <a:lnSpc>
                <a:spcPct val="115000"/>
              </a:lnSpc>
              <a:spcBef>
                <a:spcPts val="0"/>
              </a:spcBef>
              <a:spcAft>
                <a:spcPts val="0"/>
              </a:spcAft>
              <a:buSzPts val="1700"/>
              <a:buChar char="●"/>
            </a:pPr>
            <a:r>
              <a:rPr lang="en" sz="1700"/>
              <a:t>The </a:t>
            </a:r>
            <a:r>
              <a:rPr lang="en" sz="1700">
                <a:latin typeface="Courier New"/>
                <a:ea typeface="Courier New"/>
                <a:cs typeface="Courier New"/>
                <a:sym typeface="Courier New"/>
              </a:rPr>
              <a:t>LocalGuessingGame</a:t>
            </a:r>
            <a:r>
              <a:rPr lang="en" sz="1700"/>
              <a:t> class will play the game locally from a command line.</a:t>
            </a:r>
            <a:endParaRPr sz="1500"/>
          </a:p>
          <a:p>
            <a:pPr indent="-336550" lvl="1" marL="914400" rtl="0" algn="l">
              <a:lnSpc>
                <a:spcPct val="115000"/>
              </a:lnSpc>
              <a:spcBef>
                <a:spcPts val="0"/>
              </a:spcBef>
              <a:spcAft>
                <a:spcPts val="0"/>
              </a:spcAft>
              <a:buSzPts val="1700"/>
              <a:buChar char="○"/>
            </a:pPr>
            <a:r>
              <a:rPr lang="en" sz="1500"/>
              <a:t>Try it out!</a:t>
            </a:r>
            <a:endParaRPr sz="1500"/>
          </a:p>
          <a:p>
            <a:pPr indent="-336550" lvl="1" marL="914400" rtl="0" algn="l">
              <a:lnSpc>
                <a:spcPct val="115000"/>
              </a:lnSpc>
              <a:spcBef>
                <a:spcPts val="0"/>
              </a:spcBef>
              <a:spcAft>
                <a:spcPts val="0"/>
              </a:spcAft>
              <a:buSzPts val="1700"/>
              <a:buChar char="○"/>
            </a:pPr>
            <a:r>
              <a:rPr lang="en" sz="1500"/>
              <a:t>Look at the code!</a:t>
            </a:r>
            <a:endParaRPr sz="1500"/>
          </a:p>
          <a:p>
            <a:pPr indent="-336550" lvl="1" marL="914400" rtl="0" algn="l">
              <a:lnSpc>
                <a:spcPct val="115000"/>
              </a:lnSpc>
              <a:spcBef>
                <a:spcPts val="0"/>
              </a:spcBef>
              <a:spcAft>
                <a:spcPts val="0"/>
              </a:spcAft>
              <a:buSzPts val="1700"/>
              <a:buChar char="○"/>
            </a:pPr>
            <a:r>
              <a:rPr lang="en" sz="1500"/>
              <a:t>Raise your hand with questions.</a:t>
            </a:r>
            <a:endParaRPr sz="1200"/>
          </a:p>
        </p:txBody>
      </p:sp>
      <p:sp>
        <p:nvSpPr>
          <p:cNvPr id="482" name="Google Shape;482;p54"/>
          <p:cNvSpPr/>
          <p:nvPr/>
        </p:nvSpPr>
        <p:spPr>
          <a:xfrm>
            <a:off x="166082" y="1784188"/>
            <a:ext cx="2534400" cy="1816200"/>
          </a:xfrm>
          <a:prstGeom prst="cloudCallout">
            <a:avLst>
              <a:gd fmla="val -20833" name="adj1"/>
              <a:gd fmla="val 62500" name="adj2"/>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None/>
            </a:pPr>
            <a:r>
              <a:rPr lang="en" sz="1800">
                <a:solidFill>
                  <a:schemeClr val="dk1"/>
                </a:solidFill>
                <a:latin typeface="Shadows Into Light"/>
                <a:ea typeface="Shadows Into Light"/>
                <a:cs typeface="Shadows Into Light"/>
                <a:sym typeface="Shadows Into Light"/>
              </a:rPr>
              <a:t>I’m thinking of a number between 1 and 100.</a:t>
            </a:r>
            <a:endParaRPr sz="1800">
              <a:solidFill>
                <a:schemeClr val="dk1"/>
              </a:solidFill>
              <a:latin typeface="Shadows Into Light"/>
              <a:ea typeface="Shadows Into Light"/>
              <a:cs typeface="Shadows Into Light"/>
              <a:sym typeface="Shadows Into Light"/>
            </a:endParaRPr>
          </a:p>
        </p:txBody>
      </p:sp>
      <p:sp>
        <p:nvSpPr>
          <p:cNvPr id="483" name="Google Shape;483;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5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5"/>
          <p:cNvSpPr txBox="1"/>
          <p:nvPr>
            <p:ph type="title"/>
          </p:nvPr>
        </p:nvSpPr>
        <p:spPr>
          <a:xfrm>
            <a:off x="311725" y="119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2"/>
              </a:buClr>
              <a:buSzPts val="3300"/>
              <a:buFont typeface="Calibri"/>
              <a:buNone/>
            </a:pPr>
            <a:r>
              <a:rPr lang="en"/>
              <a:t>Protocols</a:t>
            </a:r>
            <a:endParaRPr/>
          </a:p>
        </p:txBody>
      </p:sp>
      <p:sp>
        <p:nvSpPr>
          <p:cNvPr id="490" name="Google Shape;490;p55"/>
          <p:cNvSpPr txBox="1"/>
          <p:nvPr>
            <p:ph idx="1" type="body"/>
          </p:nvPr>
        </p:nvSpPr>
        <p:spPr>
          <a:xfrm>
            <a:off x="4644675" y="500925"/>
            <a:ext cx="4166400" cy="4432200"/>
          </a:xfrm>
          <a:prstGeom prst="rect">
            <a:avLst/>
          </a:prstGeom>
          <a:noFill/>
          <a:ln>
            <a:noFill/>
          </a:ln>
        </p:spPr>
        <p:txBody>
          <a:bodyPr anchorCtr="0" anchor="t" bIns="34275" lIns="68575" spcFirstLastPara="1" rIns="68575" wrap="square" tIns="34275">
            <a:normAutofit/>
          </a:bodyPr>
          <a:lstStyle/>
          <a:p>
            <a:pPr indent="-317500" lvl="0" marL="457200" rtl="0" algn="l">
              <a:lnSpc>
                <a:spcPct val="115000"/>
              </a:lnSpc>
              <a:spcBef>
                <a:spcPts val="0"/>
              </a:spcBef>
              <a:spcAft>
                <a:spcPts val="0"/>
              </a:spcAft>
              <a:buSzPts val="1400"/>
              <a:buChar char="●"/>
            </a:pPr>
            <a:r>
              <a:rPr lang="en" sz="1400"/>
              <a:t>In order to communicate, two computers must speak the same </a:t>
            </a:r>
            <a:r>
              <a:rPr b="1" i="1" lang="en" sz="1400">
                <a:solidFill>
                  <a:srgbClr val="FF0000"/>
                </a:solidFill>
              </a:rPr>
              <a:t>language</a:t>
            </a:r>
            <a:endParaRPr b="1" i="1" sz="1400">
              <a:solidFill>
                <a:srgbClr val="FF0000"/>
              </a:solidFill>
            </a:endParaRPr>
          </a:p>
          <a:p>
            <a:pPr indent="-317500" lvl="0" marL="457200" rtl="0" algn="l">
              <a:lnSpc>
                <a:spcPct val="115000"/>
              </a:lnSpc>
              <a:spcBef>
                <a:spcPts val="0"/>
              </a:spcBef>
              <a:spcAft>
                <a:spcPts val="0"/>
              </a:spcAft>
              <a:buSzPts val="1400"/>
              <a:buChar char="●"/>
            </a:pPr>
            <a:r>
              <a:rPr lang="en" sz="1400"/>
              <a:t>A </a:t>
            </a:r>
            <a:r>
              <a:rPr b="1" i="1" lang="en" sz="1400">
                <a:solidFill>
                  <a:srgbClr val="FF0000"/>
                </a:solidFill>
              </a:rPr>
              <a:t>protocol</a:t>
            </a:r>
            <a:r>
              <a:rPr lang="en" sz="1400"/>
              <a:t> is a specification of the format of the messages and the rules governing those messages that two or more machines must follow in order to </a:t>
            </a:r>
            <a:r>
              <a:rPr b="1" i="1" lang="en" sz="1400">
                <a:solidFill>
                  <a:srgbClr val="FF0000"/>
                </a:solidFill>
              </a:rPr>
              <a:t>communicate</a:t>
            </a:r>
            <a:endParaRPr b="1" i="1" sz="1400">
              <a:solidFill>
                <a:srgbClr val="FF0000"/>
              </a:solidFill>
            </a:endParaRPr>
          </a:p>
          <a:p>
            <a:pPr indent="-317500" lvl="0" marL="457200" rtl="0" algn="l">
              <a:lnSpc>
                <a:spcPct val="115000"/>
              </a:lnSpc>
              <a:spcBef>
                <a:spcPts val="0"/>
              </a:spcBef>
              <a:spcAft>
                <a:spcPts val="0"/>
              </a:spcAft>
              <a:buSzPts val="1400"/>
              <a:buChar char="●"/>
            </a:pPr>
            <a:r>
              <a:rPr lang="en" sz="1400"/>
              <a:t>Protocols usually exist in two forms:</a:t>
            </a:r>
            <a:endParaRPr sz="1400"/>
          </a:p>
          <a:p>
            <a:pPr indent="-311150" lvl="1" marL="914400" rtl="0" algn="l">
              <a:lnSpc>
                <a:spcPct val="115000"/>
              </a:lnSpc>
              <a:spcBef>
                <a:spcPts val="0"/>
              </a:spcBef>
              <a:spcAft>
                <a:spcPts val="0"/>
              </a:spcAft>
              <a:buSzPts val="1300"/>
              <a:buChar char="○"/>
            </a:pPr>
            <a:r>
              <a:rPr lang="en" sz="1300"/>
              <a:t>A textual specification meant for humans to </a:t>
            </a:r>
            <a:r>
              <a:rPr b="1" i="1" lang="en" sz="1300">
                <a:solidFill>
                  <a:srgbClr val="FF0000"/>
                </a:solidFill>
              </a:rPr>
              <a:t>read</a:t>
            </a:r>
            <a:r>
              <a:rPr lang="en" sz="1300"/>
              <a:t> and understand</a:t>
            </a:r>
            <a:endParaRPr sz="1300"/>
          </a:p>
          <a:p>
            <a:pPr indent="-304800" lvl="2" marL="1371600" rtl="0" algn="l">
              <a:lnSpc>
                <a:spcPct val="115000"/>
              </a:lnSpc>
              <a:spcBef>
                <a:spcPts val="0"/>
              </a:spcBef>
              <a:spcAft>
                <a:spcPts val="0"/>
              </a:spcAft>
              <a:buSzPts val="1200"/>
              <a:buChar char="■"/>
            </a:pPr>
            <a:r>
              <a:rPr lang="en" sz="1200"/>
              <a:t>This is used by developers to implement the protocol</a:t>
            </a:r>
            <a:endParaRPr sz="1200"/>
          </a:p>
          <a:p>
            <a:pPr indent="-311150" lvl="1" marL="914400" rtl="0" algn="l">
              <a:lnSpc>
                <a:spcPct val="115000"/>
              </a:lnSpc>
              <a:spcBef>
                <a:spcPts val="0"/>
              </a:spcBef>
              <a:spcAft>
                <a:spcPts val="0"/>
              </a:spcAft>
              <a:buSzPts val="1300"/>
              <a:buChar char="○"/>
            </a:pPr>
            <a:r>
              <a:rPr lang="en" sz="1300"/>
              <a:t>A </a:t>
            </a:r>
            <a:r>
              <a:rPr b="1" i="1" lang="en" sz="1300">
                <a:solidFill>
                  <a:srgbClr val="FF0000"/>
                </a:solidFill>
              </a:rPr>
              <a:t>coded</a:t>
            </a:r>
            <a:r>
              <a:rPr lang="en" sz="1300"/>
              <a:t> implementation created by humans for computers to use and understand</a:t>
            </a:r>
            <a:endParaRPr sz="1300"/>
          </a:p>
          <a:p>
            <a:pPr indent="-317500" lvl="0" marL="457200" rtl="0" algn="l">
              <a:lnSpc>
                <a:spcPct val="115000"/>
              </a:lnSpc>
              <a:spcBef>
                <a:spcPts val="0"/>
              </a:spcBef>
              <a:spcAft>
                <a:spcPts val="0"/>
              </a:spcAft>
              <a:buSzPts val="1400"/>
              <a:buChar char="●"/>
            </a:pPr>
            <a:r>
              <a:rPr lang="en" sz="1400"/>
              <a:t>Both forms should specify the precise interpretation of </a:t>
            </a:r>
            <a:r>
              <a:rPr b="1" i="1" lang="en" sz="1400">
                <a:solidFill>
                  <a:srgbClr val="FF0000"/>
                </a:solidFill>
              </a:rPr>
              <a:t>every</a:t>
            </a:r>
            <a:r>
              <a:rPr lang="en" sz="1400"/>
              <a:t> message and how to respond</a:t>
            </a:r>
            <a:endParaRPr sz="1400"/>
          </a:p>
        </p:txBody>
      </p:sp>
      <p:sp>
        <p:nvSpPr>
          <p:cNvPr id="491" name="Google Shape;491;p55"/>
          <p:cNvSpPr/>
          <p:nvPr/>
        </p:nvSpPr>
        <p:spPr>
          <a:xfrm>
            <a:off x="2400125" y="2459351"/>
            <a:ext cx="1084800" cy="1046100"/>
          </a:xfrm>
          <a:prstGeom prst="smileyFace">
            <a:avLst>
              <a:gd fmla="val 4653" name="adj"/>
            </a:avLst>
          </a:prstGeom>
          <a:solidFill>
            <a:srgbClr val="D9D2E9"/>
          </a:solidFill>
          <a:ln cap="flat" cmpd="sng" w="9525">
            <a:solidFill>
              <a:srgbClr val="30303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55"/>
          <p:cNvSpPr/>
          <p:nvPr/>
        </p:nvSpPr>
        <p:spPr>
          <a:xfrm>
            <a:off x="963950" y="1237442"/>
            <a:ext cx="1084800" cy="1046100"/>
          </a:xfrm>
          <a:prstGeom prst="smileyFace">
            <a:avLst>
              <a:gd fmla="val 4653" name="adj"/>
            </a:avLst>
          </a:prstGeom>
          <a:solidFill>
            <a:srgbClr val="F9CB9C"/>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55"/>
          <p:cNvSpPr/>
          <p:nvPr/>
        </p:nvSpPr>
        <p:spPr>
          <a:xfrm>
            <a:off x="2167625" y="990767"/>
            <a:ext cx="1084800" cy="639300"/>
          </a:xfrm>
          <a:prstGeom prst="wedgeRoundRectCallout">
            <a:avLst>
              <a:gd fmla="val -53572" name="adj1"/>
              <a:gd fmla="val 72728" name="adj2"/>
              <a:gd fmla="val 0" name="adj3"/>
            </a:avLst>
          </a:prstGeom>
          <a:solidFill>
            <a:srgbClr val="FFFFFF"/>
          </a:solidFill>
          <a:ln cap="flat" cmpd="sng" w="19050">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sz="2000">
                <a:solidFill>
                  <a:schemeClr val="dk1"/>
                </a:solidFill>
                <a:latin typeface="Calibri"/>
                <a:ea typeface="Calibri"/>
                <a:cs typeface="Calibri"/>
                <a:sym typeface="Calibri"/>
              </a:rPr>
              <a:t>Aloha!</a:t>
            </a:r>
            <a:endParaRPr sz="2000">
              <a:solidFill>
                <a:schemeClr val="dk1"/>
              </a:solidFill>
              <a:latin typeface="Calibri"/>
              <a:ea typeface="Calibri"/>
              <a:cs typeface="Calibri"/>
              <a:sym typeface="Calibri"/>
            </a:endParaRPr>
          </a:p>
        </p:txBody>
      </p:sp>
      <p:sp>
        <p:nvSpPr>
          <p:cNvPr id="494" name="Google Shape;494;p55"/>
          <p:cNvSpPr/>
          <p:nvPr/>
        </p:nvSpPr>
        <p:spPr>
          <a:xfrm>
            <a:off x="1031725" y="2434067"/>
            <a:ext cx="1084800" cy="639300"/>
          </a:xfrm>
          <a:prstGeom prst="wedgeRoundRectCallout">
            <a:avLst>
              <a:gd fmla="val 72569" name="adj1"/>
              <a:gd fmla="val 76158" name="adj2"/>
              <a:gd fmla="val 0" name="adj3"/>
            </a:avLst>
          </a:prstGeom>
          <a:solidFill>
            <a:srgbClr val="FFFFFF"/>
          </a:solidFill>
          <a:ln cap="flat" cmpd="sng" w="19050">
            <a:solidFill>
              <a:srgbClr val="8E7CC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1300">
                <a:solidFill>
                  <a:srgbClr val="212121"/>
                </a:solidFill>
                <a:highlight>
                  <a:srgbClr val="FFFFFF"/>
                </a:highlight>
                <a:latin typeface="Calibri"/>
                <a:ea typeface="Calibri"/>
                <a:cs typeface="Calibri"/>
                <a:sym typeface="Calibri"/>
              </a:rPr>
              <a:t>こんにちは</a:t>
            </a:r>
            <a:endParaRPr b="1" sz="2000">
              <a:solidFill>
                <a:schemeClr val="dk1"/>
              </a:solidFill>
              <a:latin typeface="Calibri"/>
              <a:ea typeface="Calibri"/>
              <a:cs typeface="Calibri"/>
              <a:sym typeface="Calibri"/>
            </a:endParaRPr>
          </a:p>
        </p:txBody>
      </p:sp>
      <p:sp>
        <p:nvSpPr>
          <p:cNvPr id="495" name="Google Shape;495;p55"/>
          <p:cNvSpPr txBox="1"/>
          <p:nvPr/>
        </p:nvSpPr>
        <p:spPr>
          <a:xfrm>
            <a:off x="433000" y="3582400"/>
            <a:ext cx="3504600" cy="6000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If two machines don’t speak the same language, communication is not possible.</a:t>
            </a:r>
            <a:endParaRPr>
              <a:solidFill>
                <a:schemeClr val="dk1"/>
              </a:solidFill>
              <a:latin typeface="Arial"/>
              <a:ea typeface="Arial"/>
              <a:cs typeface="Arial"/>
              <a:sym typeface="Arial"/>
            </a:endParaRPr>
          </a:p>
        </p:txBody>
      </p:sp>
      <p:sp>
        <p:nvSpPr>
          <p:cNvPr id="496" name="Google Shape;496;p55"/>
          <p:cNvSpPr txBox="1"/>
          <p:nvPr/>
        </p:nvSpPr>
        <p:spPr>
          <a:xfrm>
            <a:off x="635875" y="855140"/>
            <a:ext cx="619800" cy="6510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2400">
                <a:solidFill>
                  <a:srgbClr val="F6B26B"/>
                </a:solidFill>
                <a:latin typeface="Calibri"/>
                <a:ea typeface="Calibri"/>
                <a:cs typeface="Calibri"/>
                <a:sym typeface="Calibri"/>
              </a:rPr>
              <a:t>??</a:t>
            </a:r>
            <a:endParaRPr b="1" sz="2400">
              <a:solidFill>
                <a:srgbClr val="F6B26B"/>
              </a:solidFill>
              <a:latin typeface="Calibri"/>
              <a:ea typeface="Calibri"/>
              <a:cs typeface="Calibri"/>
              <a:sym typeface="Calibri"/>
            </a:endParaRPr>
          </a:p>
        </p:txBody>
      </p:sp>
      <p:sp>
        <p:nvSpPr>
          <p:cNvPr id="497" name="Google Shape;497;p55"/>
          <p:cNvSpPr txBox="1"/>
          <p:nvPr/>
        </p:nvSpPr>
        <p:spPr>
          <a:xfrm>
            <a:off x="3074275" y="2054967"/>
            <a:ext cx="619800" cy="6510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lang="en" sz="2400">
                <a:solidFill>
                  <a:srgbClr val="B4A7D6"/>
                </a:solidFill>
                <a:latin typeface="Calibri"/>
                <a:ea typeface="Calibri"/>
                <a:cs typeface="Calibri"/>
                <a:sym typeface="Calibri"/>
              </a:rPr>
              <a:t>??</a:t>
            </a:r>
            <a:endParaRPr b="1" sz="2400">
              <a:solidFill>
                <a:srgbClr val="B4A7D6"/>
              </a:solidFill>
              <a:latin typeface="Calibri"/>
              <a:ea typeface="Calibri"/>
              <a:cs typeface="Calibri"/>
              <a:sym typeface="Calibri"/>
            </a:endParaRPr>
          </a:p>
        </p:txBody>
      </p:sp>
      <p:sp>
        <p:nvSpPr>
          <p:cNvPr id="498" name="Google Shape;498;p55"/>
          <p:cNvSpPr txBox="1"/>
          <p:nvPr/>
        </p:nvSpPr>
        <p:spPr>
          <a:xfrm>
            <a:off x="433000" y="4335550"/>
            <a:ext cx="3504600" cy="600000"/>
          </a:xfrm>
          <a:prstGeom prst="rect">
            <a:avLst/>
          </a:prstGeom>
          <a:solidFill>
            <a:srgbClr val="FFF2CC"/>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chemeClr val="dk1"/>
                </a:solidFill>
                <a:latin typeface="Arial"/>
                <a:ea typeface="Arial"/>
                <a:cs typeface="Arial"/>
                <a:sym typeface="Arial"/>
              </a:rPr>
              <a:t>Let’s design a protocol that uses strings terminated by newlines to communicate!</a:t>
            </a:r>
            <a:endParaRPr>
              <a:solidFill>
                <a:schemeClr val="dk1"/>
              </a:solidFill>
              <a:latin typeface="Arial"/>
              <a:ea typeface="Arial"/>
              <a:cs typeface="Arial"/>
              <a:sym typeface="Arial"/>
            </a:endParaRPr>
          </a:p>
        </p:txBody>
      </p:sp>
      <p:sp>
        <p:nvSpPr>
          <p:cNvPr id="499" name="Google Shape;499;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000"/>
                                        <p:tgtEl>
                                          <p:spTgt spid="4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1000"/>
                                        <p:tgtEl>
                                          <p:spTgt spid="4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1000"/>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1000"/>
                                        <p:tgtEl>
                                          <p:spTgt spid="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1000"/>
                                        <p:tgtEl>
                                          <p:spTgt spid="4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graphicFrame>
        <p:nvGraphicFramePr>
          <p:cNvPr id="504" name="Google Shape;504;p56"/>
          <p:cNvGraphicFramePr/>
          <p:nvPr/>
        </p:nvGraphicFramePr>
        <p:xfrm>
          <a:off x="2928001" y="1916137"/>
          <a:ext cx="3000000" cy="3000000"/>
        </p:xfrm>
        <a:graphic>
          <a:graphicData uri="http://schemas.openxmlformats.org/drawingml/2006/table">
            <a:tbl>
              <a:tblPr>
                <a:noFill/>
                <a:tableStyleId>{A6BC7D69-8298-4041-8F1F-79278DC50952}</a:tableStyleId>
              </a:tblPr>
              <a:tblGrid>
                <a:gridCol w="2757500"/>
                <a:gridCol w="2757500"/>
              </a:tblGrid>
              <a:tr h="776225">
                <a:tc>
                  <a:txBody>
                    <a:bodyPr/>
                    <a:lstStyle/>
                    <a:p>
                      <a:pPr indent="0" lvl="0" marL="0" marR="0" rtl="0" algn="l">
                        <a:spcBef>
                          <a:spcPts val="0"/>
                        </a:spcBef>
                        <a:spcAft>
                          <a:spcPts val="0"/>
                        </a:spcAft>
                        <a:buClr>
                          <a:srgbClr val="FFFFFF"/>
                        </a:buClr>
                        <a:buSzPts val="1800"/>
                        <a:buFont typeface="Calibri"/>
                        <a:buNone/>
                      </a:pPr>
                      <a:r>
                        <a:rPr b="1" lang="en" sz="1800" u="none" cap="none" strike="noStrike">
                          <a:solidFill>
                            <a:srgbClr val="FFFFFF"/>
                          </a:solidFill>
                        </a:rPr>
                        <a:t>Request From Client</a:t>
                      </a:r>
                      <a:endParaRPr b="1" sz="18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Clr>
                          <a:srgbClr val="FFFFFF"/>
                        </a:buClr>
                        <a:buSzPts val="1800"/>
                        <a:buFont typeface="Calibri"/>
                        <a:buNone/>
                      </a:pPr>
                      <a:r>
                        <a:rPr b="1" lang="en" sz="1800" u="none" cap="none" strike="noStrike">
                          <a:solidFill>
                            <a:srgbClr val="FFFFFF"/>
                          </a:solidFill>
                        </a:rPr>
                        <a:t>Response(s) From Server</a:t>
                      </a:r>
                      <a:endParaRPr b="1" sz="18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10100">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9150">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32125">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85125">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05" name="Google Shape;505;p56"/>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Guessing Game Protocol</a:t>
            </a:r>
            <a:endParaRPr sz="3400"/>
          </a:p>
        </p:txBody>
      </p:sp>
      <p:sp>
        <p:nvSpPr>
          <p:cNvPr id="506" name="Google Shape;506;p56"/>
          <p:cNvSpPr txBox="1"/>
          <p:nvPr>
            <p:ph idx="1" type="body"/>
          </p:nvPr>
        </p:nvSpPr>
        <p:spPr>
          <a:xfrm>
            <a:off x="65250" y="731625"/>
            <a:ext cx="8955900" cy="114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800"/>
              <a:buNone/>
            </a:pPr>
            <a:r>
              <a:rPr lang="en">
                <a:solidFill>
                  <a:srgbClr val="666666"/>
                </a:solidFill>
              </a:rPr>
              <a:t>Our ultimate goal is to implement a version of the Guessing Game that can be played over a network connection. Before we do that, we must clearly define the </a:t>
            </a:r>
            <a:r>
              <a:rPr i="1" lang="en">
                <a:solidFill>
                  <a:srgbClr val="666666"/>
                </a:solidFill>
              </a:rPr>
              <a:t>protocol</a:t>
            </a:r>
            <a:r>
              <a:rPr lang="en">
                <a:solidFill>
                  <a:srgbClr val="666666"/>
                </a:solidFill>
              </a:rPr>
              <a:t> that will be used to communicate between the client and server. To keep things simple, we will make sure that each request and response is a single line of text.</a:t>
            </a:r>
            <a:endParaRPr>
              <a:solidFill>
                <a:srgbClr val="666666"/>
              </a:solidFill>
            </a:endParaRPr>
          </a:p>
          <a:p>
            <a:pPr indent="0" lvl="0" marL="0" rtl="0" algn="l">
              <a:lnSpc>
                <a:spcPct val="115000"/>
              </a:lnSpc>
              <a:spcBef>
                <a:spcPts val="0"/>
              </a:spcBef>
              <a:spcAft>
                <a:spcPts val="1600"/>
              </a:spcAft>
              <a:buClr>
                <a:schemeClr val="dk1"/>
              </a:buClr>
              <a:buSzPts val="1800"/>
              <a:buNone/>
            </a:pPr>
            <a:r>
              <a:t/>
            </a:r>
            <a:endParaRPr>
              <a:solidFill>
                <a:srgbClr val="000000"/>
              </a:solidFill>
              <a:latin typeface="Calibri"/>
              <a:ea typeface="Calibri"/>
              <a:cs typeface="Calibri"/>
              <a:sym typeface="Calibri"/>
            </a:endParaRPr>
          </a:p>
        </p:txBody>
      </p:sp>
      <p:sp>
        <p:nvSpPr>
          <p:cNvPr id="507" name="Google Shape;507;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8" name="Google Shape;508;p5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10.14</a:t>
            </a:r>
            <a:endParaRPr/>
          </a:p>
        </p:txBody>
      </p:sp>
      <p:sp>
        <p:nvSpPr>
          <p:cNvPr id="509" name="Google Shape;509;p56"/>
          <p:cNvSpPr/>
          <p:nvPr/>
        </p:nvSpPr>
        <p:spPr>
          <a:xfrm>
            <a:off x="127774" y="2098950"/>
            <a:ext cx="2581200" cy="1792500"/>
          </a:xfrm>
          <a:prstGeom prst="cloudCallout">
            <a:avLst>
              <a:gd fmla="val -20833" name="adj1"/>
              <a:gd fmla="val 62500" name="adj2"/>
            </a:avLst>
          </a:prstGeom>
          <a:solidFill>
            <a:srgbClr val="FFFFFF"/>
          </a:solidFill>
          <a:ln cap="flat" cmpd="sng" w="190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spcBef>
                <a:spcPts val="0"/>
              </a:spcBef>
              <a:spcAft>
                <a:spcPts val="0"/>
              </a:spcAft>
              <a:buClr>
                <a:schemeClr val="dk1"/>
              </a:buClr>
              <a:buSzPts val="1400"/>
              <a:buFont typeface="Shadows Into Light"/>
              <a:buNone/>
            </a:pPr>
            <a:r>
              <a:rPr lang="en" sz="1400">
                <a:solidFill>
                  <a:schemeClr val="dk1"/>
                </a:solidFill>
                <a:latin typeface="Shadows Into Light"/>
                <a:ea typeface="Shadows Into Light"/>
                <a:cs typeface="Shadows Into Light"/>
                <a:sym typeface="Shadows Into Light"/>
              </a:rPr>
              <a:t>I’m thinking of a number between 1 and 100.</a:t>
            </a:r>
            <a:endParaRPr sz="1400">
              <a:solidFill>
                <a:schemeClr val="dk1"/>
              </a:solidFill>
              <a:latin typeface="Shadows Into Light"/>
              <a:ea typeface="Shadows Into Light"/>
              <a:cs typeface="Shadows Into Light"/>
              <a:sym typeface="Shadows Into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graphicFrame>
        <p:nvGraphicFramePr>
          <p:cNvPr id="514" name="Google Shape;514;p57"/>
          <p:cNvGraphicFramePr/>
          <p:nvPr/>
        </p:nvGraphicFramePr>
        <p:xfrm>
          <a:off x="2928001" y="1916137"/>
          <a:ext cx="3000000" cy="3000000"/>
        </p:xfrm>
        <a:graphic>
          <a:graphicData uri="http://schemas.openxmlformats.org/drawingml/2006/table">
            <a:tbl>
              <a:tblPr>
                <a:noFill/>
                <a:tableStyleId>{A6BC7D69-8298-4041-8F1F-79278DC50952}</a:tableStyleId>
              </a:tblPr>
              <a:tblGrid>
                <a:gridCol w="2757500"/>
                <a:gridCol w="2757500"/>
              </a:tblGrid>
              <a:tr h="776225">
                <a:tc>
                  <a:txBody>
                    <a:bodyPr/>
                    <a:lstStyle/>
                    <a:p>
                      <a:pPr indent="0" lvl="0" marL="0" marR="0" rtl="0" algn="l">
                        <a:spcBef>
                          <a:spcPts val="0"/>
                        </a:spcBef>
                        <a:spcAft>
                          <a:spcPts val="0"/>
                        </a:spcAft>
                        <a:buClr>
                          <a:srgbClr val="FFFFFF"/>
                        </a:buClr>
                        <a:buSzPts val="1800"/>
                        <a:buFont typeface="Calibri"/>
                        <a:buNone/>
                      </a:pPr>
                      <a:r>
                        <a:rPr b="1" lang="en" sz="1800" u="none" cap="none" strike="noStrike">
                          <a:solidFill>
                            <a:srgbClr val="FFFFFF"/>
                          </a:solidFill>
                        </a:rPr>
                        <a:t>Request From Client</a:t>
                      </a:r>
                      <a:endParaRPr b="1" sz="18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Clr>
                          <a:srgbClr val="FFFFFF"/>
                        </a:buClr>
                        <a:buSzPts val="1800"/>
                        <a:buFont typeface="Calibri"/>
                        <a:buNone/>
                      </a:pPr>
                      <a:r>
                        <a:rPr b="1" lang="en" sz="1800" u="none" cap="none" strike="noStrike">
                          <a:solidFill>
                            <a:srgbClr val="FFFFFF"/>
                          </a:solidFill>
                        </a:rPr>
                        <a:t>Response(s) From Server</a:t>
                      </a:r>
                      <a:endParaRPr b="1" sz="18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310100">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69150">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32125">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85125">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t/>
                      </a:r>
                      <a:endParaRPr sz="16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15" name="Google Shape;515;p57"/>
          <p:cNvSpPr txBox="1"/>
          <p:nvPr>
            <p:ph type="title"/>
          </p:nvPr>
        </p:nvSpPr>
        <p:spPr>
          <a:xfrm>
            <a:off x="1436850" y="76300"/>
            <a:ext cx="7642500" cy="596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2"/>
              </a:buClr>
              <a:buSzPts val="3400"/>
              <a:buFont typeface="Calibri"/>
              <a:buNone/>
            </a:pPr>
            <a:r>
              <a:rPr lang="en" sz="3400"/>
              <a:t>Guessing Game Protocol</a:t>
            </a:r>
            <a:endParaRPr sz="3400"/>
          </a:p>
        </p:txBody>
      </p:sp>
      <p:sp>
        <p:nvSpPr>
          <p:cNvPr id="516" name="Google Shape;516;p57"/>
          <p:cNvSpPr txBox="1"/>
          <p:nvPr>
            <p:ph idx="1" type="body"/>
          </p:nvPr>
        </p:nvSpPr>
        <p:spPr>
          <a:xfrm>
            <a:off x="65250" y="731625"/>
            <a:ext cx="8955900" cy="114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800"/>
              <a:buNone/>
            </a:pPr>
            <a:r>
              <a:rPr lang="en">
                <a:solidFill>
                  <a:srgbClr val="666666"/>
                </a:solidFill>
              </a:rPr>
              <a:t>Our ultimate goal is to implement a version of the Guessing Game that can be played over a network connection. Before we do that, we must clearly define the </a:t>
            </a:r>
            <a:r>
              <a:rPr i="1" lang="en">
                <a:solidFill>
                  <a:srgbClr val="666666"/>
                </a:solidFill>
              </a:rPr>
              <a:t>protocol</a:t>
            </a:r>
            <a:r>
              <a:rPr lang="en">
                <a:solidFill>
                  <a:srgbClr val="666666"/>
                </a:solidFill>
              </a:rPr>
              <a:t> that will be used to communicate between the client and server. To keep things simple, we will make sure that each request and response is a single line of text.</a:t>
            </a:r>
            <a:endParaRPr>
              <a:solidFill>
                <a:srgbClr val="666666"/>
              </a:solidFill>
            </a:endParaRPr>
          </a:p>
          <a:p>
            <a:pPr indent="0" lvl="0" marL="0" rtl="0" algn="l">
              <a:lnSpc>
                <a:spcPct val="115000"/>
              </a:lnSpc>
              <a:spcBef>
                <a:spcPts val="0"/>
              </a:spcBef>
              <a:spcAft>
                <a:spcPts val="1600"/>
              </a:spcAft>
              <a:buClr>
                <a:schemeClr val="dk1"/>
              </a:buClr>
              <a:buSzPts val="1800"/>
              <a:buNone/>
            </a:pPr>
            <a:r>
              <a:t/>
            </a:r>
            <a:endParaRPr>
              <a:solidFill>
                <a:srgbClr val="000000"/>
              </a:solidFill>
              <a:latin typeface="Calibri"/>
              <a:ea typeface="Calibri"/>
              <a:cs typeface="Calibri"/>
              <a:sym typeface="Calibri"/>
            </a:endParaRPr>
          </a:p>
        </p:txBody>
      </p:sp>
      <p:sp>
        <p:nvSpPr>
          <p:cNvPr id="517" name="Google Shape;517;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8" name="Google Shape;518;p5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10.14</a:t>
            </a:r>
            <a:endParaRPr/>
          </a:p>
        </p:txBody>
      </p:sp>
      <p:sp>
        <p:nvSpPr>
          <p:cNvPr id="519" name="Google Shape;519;p57"/>
          <p:cNvSpPr/>
          <p:nvPr/>
        </p:nvSpPr>
        <p:spPr>
          <a:xfrm>
            <a:off x="127774" y="2098950"/>
            <a:ext cx="2581200" cy="1792500"/>
          </a:xfrm>
          <a:prstGeom prst="cloudCallout">
            <a:avLst>
              <a:gd fmla="val -20833" name="adj1"/>
              <a:gd fmla="val 62500" name="adj2"/>
            </a:avLst>
          </a:prstGeom>
          <a:solidFill>
            <a:srgbClr val="FFFFFF"/>
          </a:solidFill>
          <a:ln cap="flat" cmpd="sng" w="190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spcBef>
                <a:spcPts val="0"/>
              </a:spcBef>
              <a:spcAft>
                <a:spcPts val="0"/>
              </a:spcAft>
              <a:buClr>
                <a:schemeClr val="dk1"/>
              </a:buClr>
              <a:buSzPts val="1400"/>
              <a:buFont typeface="Shadows Into Light"/>
              <a:buNone/>
            </a:pPr>
            <a:r>
              <a:rPr lang="en" sz="1400">
                <a:solidFill>
                  <a:schemeClr val="dk1"/>
                </a:solidFill>
                <a:latin typeface="Shadows Into Light"/>
                <a:ea typeface="Shadows Into Light"/>
                <a:cs typeface="Shadows Into Light"/>
                <a:sym typeface="Shadows Into Light"/>
              </a:rPr>
              <a:t>I’m thinking of a number between 1 and 100.</a:t>
            </a:r>
            <a:endParaRPr sz="1400">
              <a:solidFill>
                <a:schemeClr val="dk1"/>
              </a:solidFill>
              <a:latin typeface="Shadows Into Light"/>
              <a:ea typeface="Shadows Into Light"/>
              <a:cs typeface="Shadows Into Light"/>
              <a:sym typeface="Shadows Into Light"/>
            </a:endParaRPr>
          </a:p>
        </p:txBody>
      </p:sp>
      <p:sp>
        <p:nvSpPr>
          <p:cNvPr id="520" name="Google Shape;520;p57"/>
          <p:cNvSpPr txBox="1"/>
          <p:nvPr>
            <p:ph idx="4" type="body"/>
          </p:nvPr>
        </p:nvSpPr>
        <p:spPr>
          <a:xfrm>
            <a:off x="3034425" y="3117025"/>
            <a:ext cx="2595300" cy="478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800"/>
              <a:buNone/>
            </a:pPr>
            <a:r>
              <a:rPr lang="en">
                <a:solidFill>
                  <a:srgbClr val="FF0000"/>
                </a:solidFill>
              </a:rPr>
              <a:t>RESTART</a:t>
            </a:r>
            <a:endParaRPr>
              <a:solidFill>
                <a:srgbClr val="FF0000"/>
              </a:solidFill>
            </a:endParaRPr>
          </a:p>
        </p:txBody>
      </p:sp>
      <p:sp>
        <p:nvSpPr>
          <p:cNvPr id="521" name="Google Shape;521;p57"/>
          <p:cNvSpPr txBox="1"/>
          <p:nvPr>
            <p:ph idx="4294967295" type="body"/>
          </p:nvPr>
        </p:nvSpPr>
        <p:spPr>
          <a:xfrm>
            <a:off x="3034425" y="2690649"/>
            <a:ext cx="1818300" cy="4269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1600"/>
              </a:spcAft>
              <a:buClr>
                <a:schemeClr val="dk1"/>
              </a:buClr>
              <a:buSzPts val="1800"/>
              <a:buNone/>
            </a:pPr>
            <a:r>
              <a:rPr lang="en">
                <a:solidFill>
                  <a:srgbClr val="FF0000"/>
                </a:solidFill>
              </a:rPr>
              <a:t>QUIT</a:t>
            </a:r>
            <a:endParaRPr>
              <a:solidFill>
                <a:srgbClr val="FF0000"/>
              </a:solidFill>
            </a:endParaRPr>
          </a:p>
        </p:txBody>
      </p:sp>
      <p:sp>
        <p:nvSpPr>
          <p:cNvPr id="522" name="Google Shape;522;p57"/>
          <p:cNvSpPr txBox="1"/>
          <p:nvPr>
            <p:ph idx="4294967295" type="body"/>
          </p:nvPr>
        </p:nvSpPr>
        <p:spPr>
          <a:xfrm>
            <a:off x="5791925" y="2690125"/>
            <a:ext cx="1596300" cy="4269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1600"/>
              </a:spcAft>
              <a:buClr>
                <a:schemeClr val="dk1"/>
              </a:buClr>
              <a:buSzPts val="1800"/>
              <a:buNone/>
            </a:pPr>
            <a:r>
              <a:rPr lang="en">
                <a:solidFill>
                  <a:srgbClr val="FF0000"/>
                </a:solidFill>
              </a:rPr>
              <a:t>GAME_OVER</a:t>
            </a:r>
            <a:endParaRPr>
              <a:solidFill>
                <a:srgbClr val="FF0000"/>
              </a:solidFill>
            </a:endParaRPr>
          </a:p>
        </p:txBody>
      </p:sp>
      <p:sp>
        <p:nvSpPr>
          <p:cNvPr id="523" name="Google Shape;523;p57"/>
          <p:cNvSpPr txBox="1"/>
          <p:nvPr>
            <p:ph idx="4294967295" type="body"/>
          </p:nvPr>
        </p:nvSpPr>
        <p:spPr>
          <a:xfrm>
            <a:off x="3034425" y="3498100"/>
            <a:ext cx="1560900" cy="832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1600"/>
              </a:spcAft>
              <a:buClr>
                <a:schemeClr val="dk1"/>
              </a:buClr>
              <a:buSzPts val="1800"/>
              <a:buNone/>
            </a:pPr>
            <a:r>
              <a:rPr lang="en">
                <a:solidFill>
                  <a:srgbClr val="FF0000"/>
                </a:solidFill>
              </a:rPr>
              <a:t>GUESS #</a:t>
            </a:r>
            <a:endParaRPr>
              <a:solidFill>
                <a:srgbClr val="FF0000"/>
              </a:solidFill>
            </a:endParaRPr>
          </a:p>
        </p:txBody>
      </p:sp>
      <p:sp>
        <p:nvSpPr>
          <p:cNvPr id="524" name="Google Shape;524;p57"/>
          <p:cNvSpPr txBox="1"/>
          <p:nvPr>
            <p:ph idx="4294967295" type="body"/>
          </p:nvPr>
        </p:nvSpPr>
        <p:spPr>
          <a:xfrm>
            <a:off x="5791925" y="3560400"/>
            <a:ext cx="2595300" cy="832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800"/>
              <a:buNone/>
            </a:pPr>
            <a:r>
              <a:rPr lang="en">
                <a:solidFill>
                  <a:srgbClr val="FF0000"/>
                </a:solidFill>
              </a:rPr>
              <a:t>TOO_LOW</a:t>
            </a:r>
            <a:endParaRPr>
              <a:solidFill>
                <a:srgbClr val="FF0000"/>
              </a:solidFill>
            </a:endParaRPr>
          </a:p>
          <a:p>
            <a:pPr indent="0" lvl="0" marL="0" rtl="0" algn="l">
              <a:lnSpc>
                <a:spcPct val="100000"/>
              </a:lnSpc>
              <a:spcBef>
                <a:spcPts val="0"/>
              </a:spcBef>
              <a:spcAft>
                <a:spcPts val="0"/>
              </a:spcAft>
              <a:buClr>
                <a:schemeClr val="dk1"/>
              </a:buClr>
              <a:buSzPts val="1800"/>
              <a:buNone/>
            </a:pPr>
            <a:r>
              <a:rPr lang="en">
                <a:solidFill>
                  <a:srgbClr val="FF0000"/>
                </a:solidFill>
              </a:rPr>
              <a:t>TOO_HIGH</a:t>
            </a:r>
            <a:endParaRPr>
              <a:solidFill>
                <a:srgbClr val="FF0000"/>
              </a:solidFill>
            </a:endParaRPr>
          </a:p>
          <a:p>
            <a:pPr indent="0" lvl="0" marL="0" rtl="0" algn="l">
              <a:lnSpc>
                <a:spcPct val="100000"/>
              </a:lnSpc>
              <a:spcBef>
                <a:spcPts val="0"/>
              </a:spcBef>
              <a:spcAft>
                <a:spcPts val="0"/>
              </a:spcAft>
              <a:buClr>
                <a:schemeClr val="dk1"/>
              </a:buClr>
              <a:buSzPts val="1800"/>
              <a:buNone/>
            </a:pPr>
            <a:r>
              <a:rPr lang="en">
                <a:solidFill>
                  <a:srgbClr val="FF0000"/>
                </a:solidFill>
              </a:rPr>
              <a:t>CORRECT</a:t>
            </a:r>
            <a:endParaRPr>
              <a:solidFill>
                <a:srgbClr val="FF0000"/>
              </a:solidFill>
            </a:endParaRPr>
          </a:p>
          <a:p>
            <a:pPr indent="0" lvl="0" marL="0" rtl="0" algn="l">
              <a:lnSpc>
                <a:spcPct val="100000"/>
              </a:lnSpc>
              <a:spcBef>
                <a:spcPts val="0"/>
              </a:spcBef>
              <a:spcAft>
                <a:spcPts val="1600"/>
              </a:spcAft>
              <a:buClr>
                <a:schemeClr val="dk1"/>
              </a:buClr>
              <a:buSzPts val="1800"/>
              <a:buNone/>
            </a:pPr>
            <a:r>
              <a:rPr lang="en">
                <a:solidFill>
                  <a:srgbClr val="FF0000"/>
                </a:solidFill>
              </a:rPr>
              <a:t>OUT_OF_GUESSES</a:t>
            </a:r>
            <a:endParaRPr>
              <a:solidFill>
                <a:srgbClr val="FF0000"/>
              </a:solidFill>
            </a:endParaRPr>
          </a:p>
        </p:txBody>
      </p:sp>
      <p:sp>
        <p:nvSpPr>
          <p:cNvPr id="525" name="Google Shape;525;p57"/>
          <p:cNvSpPr txBox="1"/>
          <p:nvPr>
            <p:ph idx="4294967295" type="body"/>
          </p:nvPr>
        </p:nvSpPr>
        <p:spPr>
          <a:xfrm>
            <a:off x="3034425" y="4380799"/>
            <a:ext cx="2581200" cy="4836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1600"/>
              </a:spcAft>
              <a:buClr>
                <a:schemeClr val="dk1"/>
              </a:buClr>
              <a:buSzPts val="1800"/>
              <a:buNone/>
            </a:pPr>
            <a:r>
              <a:rPr lang="en">
                <a:solidFill>
                  <a:srgbClr val="FF0000"/>
                </a:solidFill>
              </a:rPr>
              <a:t>bad request (any other message)</a:t>
            </a:r>
            <a:endParaRPr>
              <a:solidFill>
                <a:srgbClr val="FF0000"/>
              </a:solidFill>
            </a:endParaRPr>
          </a:p>
        </p:txBody>
      </p:sp>
      <p:sp>
        <p:nvSpPr>
          <p:cNvPr id="526" name="Google Shape;526;p57"/>
          <p:cNvSpPr txBox="1"/>
          <p:nvPr>
            <p:ph idx="4294967295" type="body"/>
          </p:nvPr>
        </p:nvSpPr>
        <p:spPr>
          <a:xfrm>
            <a:off x="5791925" y="4406875"/>
            <a:ext cx="1560900" cy="4836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1600"/>
              </a:spcAft>
              <a:buClr>
                <a:schemeClr val="dk1"/>
              </a:buClr>
              <a:buSzPts val="1800"/>
              <a:buNone/>
            </a:pPr>
            <a:r>
              <a:rPr lang="en">
                <a:solidFill>
                  <a:srgbClr val="FF0000"/>
                </a:solidFill>
              </a:rPr>
              <a:t>ERROR</a:t>
            </a:r>
            <a:endParaRPr>
              <a:solidFill>
                <a:srgbClr val="FF0000"/>
              </a:solidFill>
            </a:endParaRPr>
          </a:p>
        </p:txBody>
      </p:sp>
      <p:sp>
        <p:nvSpPr>
          <p:cNvPr id="527" name="Google Shape;527;p57"/>
          <p:cNvSpPr txBox="1"/>
          <p:nvPr>
            <p:ph idx="4" type="body"/>
          </p:nvPr>
        </p:nvSpPr>
        <p:spPr>
          <a:xfrm>
            <a:off x="5791925" y="3117025"/>
            <a:ext cx="2581200" cy="478500"/>
          </a:xfrm>
          <a:prstGeom prst="rect">
            <a:avLst/>
          </a:prstGeom>
          <a:noFill/>
          <a:ln>
            <a:noFill/>
          </a:ln>
        </p:spPr>
        <p:txBody>
          <a:bodyPr anchorCtr="0" anchor="ctr" bIns="34275" lIns="68575" spcFirstLastPara="1" rIns="68575" wrap="square" tIns="34275">
            <a:noAutofit/>
          </a:bodyPr>
          <a:lstStyle/>
          <a:p>
            <a:pPr indent="0" lvl="0" marL="0" rtl="0" algn="l">
              <a:lnSpc>
                <a:spcPct val="100000"/>
              </a:lnSpc>
              <a:spcBef>
                <a:spcPts val="0"/>
              </a:spcBef>
              <a:spcAft>
                <a:spcPts val="0"/>
              </a:spcAft>
              <a:buClr>
                <a:schemeClr val="dk1"/>
              </a:buClr>
              <a:buSzPts val="1800"/>
              <a:buNone/>
            </a:pPr>
            <a:r>
              <a:rPr lang="en">
                <a:solidFill>
                  <a:srgbClr val="FF0000"/>
                </a:solidFill>
              </a:rPr>
              <a:t>RESTARTED</a:t>
            </a:r>
            <a:endParaRPr>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8"/>
          <p:cNvSpPr txBox="1"/>
          <p:nvPr>
            <p:ph type="title"/>
          </p:nvPr>
        </p:nvSpPr>
        <p:spPr>
          <a:xfrm>
            <a:off x="1436850" y="76300"/>
            <a:ext cx="7642500" cy="596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2"/>
              </a:buClr>
              <a:buSzPts val="3300"/>
              <a:buFont typeface="Calibri"/>
              <a:buNone/>
            </a:pPr>
            <a:r>
              <a:rPr lang="en"/>
              <a:t>Guessing Game Server</a:t>
            </a:r>
            <a:endParaRPr/>
          </a:p>
        </p:txBody>
      </p:sp>
      <p:sp>
        <p:nvSpPr>
          <p:cNvPr id="534" name="Google Shape;534;p58"/>
          <p:cNvSpPr txBox="1"/>
          <p:nvPr>
            <p:ph idx="1" type="body"/>
          </p:nvPr>
        </p:nvSpPr>
        <p:spPr>
          <a:xfrm>
            <a:off x="65250" y="731625"/>
            <a:ext cx="8955900" cy="11466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0"/>
              </a:spcBef>
              <a:spcAft>
                <a:spcPts val="0"/>
              </a:spcAft>
              <a:buClr>
                <a:srgbClr val="000000"/>
              </a:buClr>
              <a:buSzPts val="1400"/>
              <a:buNone/>
            </a:pPr>
            <a:r>
              <a:rPr lang="en" sz="1400"/>
              <a:t>You will need to write a server that listens for connections from clients and then reads messages from the clients that want to play a game. You already have a perfectly functioning implementation of the Guessing Game, so there is no need to rewrite any of that logic. Instead, your server will use the existing class and interpret messages from the client to decide which  methods to call on the game. Easy! Right?</a:t>
            </a:r>
            <a:endParaRPr/>
          </a:p>
        </p:txBody>
      </p:sp>
      <p:sp>
        <p:nvSpPr>
          <p:cNvPr id="535" name="Google Shape;535;p58"/>
          <p:cNvSpPr txBox="1"/>
          <p:nvPr>
            <p:ph idx="2" type="body"/>
          </p:nvPr>
        </p:nvSpPr>
        <p:spPr>
          <a:xfrm>
            <a:off x="2437150" y="1860725"/>
            <a:ext cx="6320100" cy="3086100"/>
          </a:xfrm>
          <a:prstGeom prst="rect">
            <a:avLst/>
          </a:prstGeom>
          <a:noFill/>
          <a:ln>
            <a:noFill/>
          </a:ln>
        </p:spPr>
        <p:txBody>
          <a:bodyPr anchorCtr="0" anchor="t" bIns="34275" lIns="68575" spcFirstLastPara="1" rIns="68575" wrap="square" tIns="34275">
            <a:spAutoFit/>
          </a:bodyPr>
          <a:lstStyle/>
          <a:p>
            <a:pPr indent="-336550" lvl="0" marL="457200" rtl="0" algn="l">
              <a:lnSpc>
                <a:spcPct val="115000"/>
              </a:lnSpc>
              <a:spcBef>
                <a:spcPts val="0"/>
              </a:spcBef>
              <a:spcAft>
                <a:spcPts val="0"/>
              </a:spcAft>
              <a:buSzPts val="1700"/>
              <a:buChar char="●"/>
            </a:pPr>
            <a:r>
              <a:rPr lang="en" sz="1400"/>
              <a:t>You also already have a working server (</a:t>
            </a:r>
            <a:r>
              <a:rPr lang="en" sz="1400">
                <a:latin typeface="Courier New"/>
                <a:ea typeface="Courier New"/>
                <a:cs typeface="Courier New"/>
                <a:sym typeface="Courier New"/>
              </a:rPr>
              <a:t>HttpServer</a:t>
            </a:r>
            <a:r>
              <a:rPr lang="en" sz="1400"/>
              <a:t>). Now you just need to </a:t>
            </a:r>
            <a:r>
              <a:rPr lang="en" sz="1400"/>
              <a:t>enshrine</a:t>
            </a:r>
            <a:r>
              <a:rPr lang="en" sz="1400"/>
              <a:t> the logic in a </a:t>
            </a:r>
            <a:r>
              <a:rPr lang="en" sz="1400">
                <a:latin typeface="Courier New"/>
                <a:ea typeface="Courier New"/>
                <a:cs typeface="Courier New"/>
                <a:sym typeface="Courier New"/>
              </a:rPr>
              <a:t>RequestHandler</a:t>
            </a:r>
            <a:r>
              <a:rPr lang="en" sz="1400"/>
              <a:t>.</a:t>
            </a:r>
            <a:endParaRPr sz="1400"/>
          </a:p>
          <a:p>
            <a:pPr indent="-336550" lvl="0" marL="457200" rtl="0" algn="l">
              <a:lnSpc>
                <a:spcPct val="115000"/>
              </a:lnSpc>
              <a:spcBef>
                <a:spcPts val="0"/>
              </a:spcBef>
              <a:spcAft>
                <a:spcPts val="0"/>
              </a:spcAft>
              <a:buSzPts val="1700"/>
              <a:buChar char="●"/>
            </a:pPr>
            <a:r>
              <a:rPr lang="en" sz="1400"/>
              <a:t>Create a new </a:t>
            </a:r>
            <a:r>
              <a:rPr lang="en" sz="1400">
                <a:latin typeface="Courier New"/>
                <a:ea typeface="Courier New"/>
                <a:cs typeface="Courier New"/>
                <a:sym typeface="Courier New"/>
              </a:rPr>
              <a:t>GuessingGameHandler</a:t>
            </a:r>
            <a:r>
              <a:rPr lang="en" sz="1400"/>
              <a:t> that implements </a:t>
            </a:r>
            <a:r>
              <a:rPr lang="en" sz="1400">
                <a:latin typeface="Courier New"/>
                <a:ea typeface="Courier New"/>
                <a:cs typeface="Courier New"/>
                <a:sym typeface="Courier New"/>
              </a:rPr>
              <a:t>RequestHandler</a:t>
            </a:r>
            <a:r>
              <a:rPr lang="en" sz="1400"/>
              <a:t> in the </a:t>
            </a:r>
            <a:r>
              <a:rPr lang="en" sz="1400">
                <a:latin typeface="Courier New"/>
                <a:ea typeface="Courier New"/>
                <a:cs typeface="Courier New"/>
                <a:sym typeface="Courier New"/>
              </a:rPr>
              <a:t>guessing</a:t>
            </a:r>
            <a:r>
              <a:rPr lang="en" sz="1400"/>
              <a:t> </a:t>
            </a:r>
            <a:r>
              <a:rPr lang="en" sz="1400"/>
              <a:t>package.</a:t>
            </a:r>
            <a:endParaRPr sz="1400"/>
          </a:p>
          <a:p>
            <a:pPr indent="-317500" lvl="0" marL="457200" rtl="0" algn="l">
              <a:lnSpc>
                <a:spcPct val="115000"/>
              </a:lnSpc>
              <a:spcBef>
                <a:spcPts val="0"/>
              </a:spcBef>
              <a:spcAft>
                <a:spcPts val="0"/>
              </a:spcAft>
              <a:buSzPts val="1400"/>
              <a:buChar char="●"/>
            </a:pPr>
            <a:r>
              <a:rPr lang="en" sz="1400"/>
              <a:t>In the constructor</a:t>
            </a:r>
            <a:endParaRPr sz="1400"/>
          </a:p>
          <a:p>
            <a:pPr indent="-304800" lvl="1" marL="914400" rtl="0" algn="l">
              <a:lnSpc>
                <a:spcPct val="115000"/>
              </a:lnSpc>
              <a:spcBef>
                <a:spcPts val="0"/>
              </a:spcBef>
              <a:spcAft>
                <a:spcPts val="0"/>
              </a:spcAft>
              <a:buSzPts val="1200"/>
              <a:buChar char="○"/>
            </a:pPr>
            <a:r>
              <a:rPr lang="en" sz="1200"/>
              <a:t>Create and store and instance of the Guessing Game</a:t>
            </a:r>
            <a:endParaRPr sz="1200"/>
          </a:p>
          <a:p>
            <a:pPr indent="-336550" lvl="0" marL="457200" rtl="0" algn="l">
              <a:lnSpc>
                <a:spcPct val="115000"/>
              </a:lnSpc>
              <a:spcBef>
                <a:spcPts val="0"/>
              </a:spcBef>
              <a:spcAft>
                <a:spcPts val="0"/>
              </a:spcAft>
              <a:buSzPts val="1700"/>
              <a:buChar char="●"/>
            </a:pPr>
            <a:r>
              <a:rPr lang="en" sz="1400"/>
              <a:t>Add a stub method </a:t>
            </a:r>
            <a:r>
              <a:rPr lang="en" sz="1400">
                <a:latin typeface="Courier New"/>
                <a:ea typeface="Courier New"/>
                <a:cs typeface="Courier New"/>
                <a:sym typeface="Courier New"/>
              </a:rPr>
              <a:t>handleRequest</a:t>
            </a:r>
            <a:r>
              <a:rPr lang="en" sz="1400"/>
              <a:t>, which will be used at a later time to handle the logic.</a:t>
            </a:r>
            <a:endParaRPr sz="1400"/>
          </a:p>
          <a:p>
            <a:pPr indent="-336550" lvl="0" marL="457200" rtl="0" algn="l">
              <a:lnSpc>
                <a:spcPct val="115000"/>
              </a:lnSpc>
              <a:spcBef>
                <a:spcPts val="0"/>
              </a:spcBef>
              <a:spcAft>
                <a:spcPts val="0"/>
              </a:spcAft>
              <a:buSzPts val="1700"/>
              <a:buChar char="●"/>
            </a:pPr>
            <a:r>
              <a:rPr lang="en" sz="1400"/>
              <a:t>Create a </a:t>
            </a:r>
            <a:r>
              <a:rPr lang="en" sz="1400">
                <a:latin typeface="Courier New"/>
                <a:ea typeface="Courier New"/>
                <a:cs typeface="Courier New"/>
                <a:sym typeface="Courier New"/>
              </a:rPr>
              <a:t>GuessingGameServer</a:t>
            </a:r>
            <a:r>
              <a:rPr lang="en" sz="1400"/>
              <a:t> in its own file</a:t>
            </a:r>
            <a:r>
              <a:rPr lang="en" sz="1400"/>
              <a:t>. In its main :</a:t>
            </a:r>
            <a:endParaRPr sz="1400"/>
          </a:p>
          <a:p>
            <a:pPr indent="-304800" lvl="1" marL="914400" rtl="0" algn="l">
              <a:lnSpc>
                <a:spcPct val="115000"/>
              </a:lnSpc>
              <a:spcBef>
                <a:spcPts val="0"/>
              </a:spcBef>
              <a:spcAft>
                <a:spcPts val="0"/>
              </a:spcAft>
              <a:buSzPts val="1200"/>
              <a:buChar char="○"/>
            </a:pPr>
            <a:r>
              <a:rPr lang="en" sz="1200"/>
              <a:t>Create a </a:t>
            </a:r>
            <a:r>
              <a:rPr lang="en" sz="1200">
                <a:latin typeface="Courier New"/>
                <a:ea typeface="Courier New"/>
                <a:cs typeface="Courier New"/>
                <a:sym typeface="Courier New"/>
              </a:rPr>
              <a:t>GuessingGameHandler</a:t>
            </a:r>
            <a:endParaRPr sz="1200">
              <a:latin typeface="Courier New"/>
              <a:ea typeface="Courier New"/>
              <a:cs typeface="Courier New"/>
              <a:sym typeface="Courier New"/>
            </a:endParaRPr>
          </a:p>
          <a:p>
            <a:pPr indent="-304800" lvl="1" marL="914400" rtl="0" algn="l">
              <a:lnSpc>
                <a:spcPct val="115000"/>
              </a:lnSpc>
              <a:spcBef>
                <a:spcPts val="0"/>
              </a:spcBef>
              <a:spcAft>
                <a:spcPts val="0"/>
              </a:spcAft>
              <a:buSzPts val="1200"/>
              <a:buChar char="○"/>
            </a:pPr>
            <a:r>
              <a:rPr lang="en" sz="1200"/>
              <a:t>Create an </a:t>
            </a:r>
            <a:r>
              <a:rPr lang="en" sz="1200">
                <a:latin typeface="Courier New"/>
                <a:ea typeface="Courier New"/>
                <a:cs typeface="Courier New"/>
                <a:sym typeface="Courier New"/>
              </a:rPr>
              <a:t>HttpWebServer</a:t>
            </a:r>
            <a:r>
              <a:rPr lang="en" sz="1200"/>
              <a:t>, using the handler from the first step</a:t>
            </a:r>
            <a:endParaRPr sz="1200"/>
          </a:p>
          <a:p>
            <a:pPr indent="-304800" lvl="1" marL="914400" rtl="0" algn="l">
              <a:lnSpc>
                <a:spcPct val="115000"/>
              </a:lnSpc>
              <a:spcBef>
                <a:spcPts val="0"/>
              </a:spcBef>
              <a:spcAft>
                <a:spcPts val="0"/>
              </a:spcAft>
              <a:buSzPts val="1200"/>
              <a:buChar char="○"/>
            </a:pPr>
            <a:r>
              <a:rPr lang="en" sz="1200"/>
              <a:t>Call </a:t>
            </a:r>
            <a:r>
              <a:rPr lang="en" sz="1200">
                <a:latin typeface="Courier New"/>
                <a:ea typeface="Courier New"/>
                <a:cs typeface="Courier New"/>
                <a:sym typeface="Courier New"/>
              </a:rPr>
              <a:t>start</a:t>
            </a:r>
            <a:r>
              <a:rPr lang="en" sz="1200"/>
              <a:t> of the server</a:t>
            </a:r>
            <a:endParaRPr sz="1200"/>
          </a:p>
        </p:txBody>
      </p:sp>
      <p:sp>
        <p:nvSpPr>
          <p:cNvPr id="536" name="Google Shape;536;p58"/>
          <p:cNvSpPr/>
          <p:nvPr/>
        </p:nvSpPr>
        <p:spPr>
          <a:xfrm>
            <a:off x="127779" y="1870349"/>
            <a:ext cx="2019900" cy="1402800"/>
          </a:xfrm>
          <a:prstGeom prst="cloudCallout">
            <a:avLst>
              <a:gd fmla="val -20833" name="adj1"/>
              <a:gd fmla="val 62500" name="adj2"/>
            </a:avLst>
          </a:prstGeom>
          <a:solidFill>
            <a:srgbClr val="FFFFFF"/>
          </a:solidFill>
          <a:ln cap="flat" cmpd="sng" w="19050">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spcBef>
                <a:spcPts val="0"/>
              </a:spcBef>
              <a:spcAft>
                <a:spcPts val="0"/>
              </a:spcAft>
              <a:buClr>
                <a:schemeClr val="dk1"/>
              </a:buClr>
              <a:buSzPts val="1400"/>
              <a:buFont typeface="Shadows Into Light"/>
              <a:buNone/>
            </a:pPr>
            <a:r>
              <a:rPr lang="en" sz="1400">
                <a:solidFill>
                  <a:schemeClr val="dk1"/>
                </a:solidFill>
                <a:latin typeface="Shadows Into Light"/>
                <a:ea typeface="Shadows Into Light"/>
                <a:cs typeface="Shadows Into Light"/>
                <a:sym typeface="Shadows Into Light"/>
              </a:rPr>
              <a:t>I’m thinking of a number between 1 and 100.</a:t>
            </a:r>
            <a:endParaRPr sz="1400">
              <a:solidFill>
                <a:schemeClr val="dk1"/>
              </a:solidFill>
              <a:latin typeface="Shadows Into Light"/>
              <a:ea typeface="Shadows Into Light"/>
              <a:cs typeface="Shadows Into Light"/>
              <a:sym typeface="Shadows Into Light"/>
            </a:endParaRPr>
          </a:p>
        </p:txBody>
      </p:sp>
      <p:sp>
        <p:nvSpPr>
          <p:cNvPr id="537" name="Google Shape;537;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8" name="Google Shape;538;p5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10.15</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59"/>
          <p:cNvSpPr txBox="1"/>
          <p:nvPr>
            <p:ph type="title"/>
          </p:nvPr>
        </p:nvSpPr>
        <p:spPr>
          <a:xfrm>
            <a:off x="1436850" y="34041"/>
            <a:ext cx="7642500" cy="596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2"/>
              </a:buClr>
              <a:buSzPts val="3300"/>
              <a:buFont typeface="Calibri"/>
              <a:buNone/>
            </a:pPr>
            <a:r>
              <a:rPr lang="en"/>
              <a:t>Guessing Game Handler</a:t>
            </a:r>
            <a:endParaRPr/>
          </a:p>
        </p:txBody>
      </p:sp>
      <p:sp>
        <p:nvSpPr>
          <p:cNvPr id="545" name="Google Shape;545;p59"/>
          <p:cNvSpPr txBox="1"/>
          <p:nvPr>
            <p:ph idx="1" type="body"/>
          </p:nvPr>
        </p:nvSpPr>
        <p:spPr>
          <a:xfrm>
            <a:off x="65250" y="731625"/>
            <a:ext cx="8955900" cy="500100"/>
          </a:xfrm>
          <a:prstGeom prst="rect">
            <a:avLst/>
          </a:prstGeom>
          <a:noFill/>
          <a:ln>
            <a:noFill/>
          </a:ln>
        </p:spPr>
        <p:txBody>
          <a:bodyPr anchorCtr="0" anchor="t" bIns="34275" lIns="68575" spcFirstLastPara="1" rIns="68575" wrap="square" tIns="34275">
            <a:spAutoFit/>
          </a:bodyPr>
          <a:lstStyle/>
          <a:p>
            <a:pPr indent="0" lvl="0" marL="0" rtl="0" algn="l">
              <a:lnSpc>
                <a:spcPct val="100000"/>
              </a:lnSpc>
              <a:spcBef>
                <a:spcPts val="0"/>
              </a:spcBef>
              <a:spcAft>
                <a:spcPts val="0"/>
              </a:spcAft>
              <a:buClr>
                <a:srgbClr val="000000"/>
              </a:buClr>
              <a:buSzPts val="1400"/>
              <a:buNone/>
            </a:pPr>
            <a:r>
              <a:rPr lang="en" sz="1400"/>
              <a:t>The handler isn't finished yet! It will need to read requests from the client, interpret them by calling methods on the game, and return the appropriate response. Update the </a:t>
            </a:r>
            <a:r>
              <a:rPr lang="en" sz="1400">
                <a:latin typeface="Courier New"/>
                <a:ea typeface="Courier New"/>
                <a:cs typeface="Courier New"/>
                <a:sym typeface="Courier New"/>
              </a:rPr>
              <a:t>handleRequest</a:t>
            </a:r>
            <a:r>
              <a:rPr lang="en" sz="1400"/>
              <a:t> method to do this now!</a:t>
            </a:r>
            <a:endParaRPr/>
          </a:p>
        </p:txBody>
      </p:sp>
      <p:sp>
        <p:nvSpPr>
          <p:cNvPr id="546" name="Google Shape;546;p59"/>
          <p:cNvSpPr txBox="1"/>
          <p:nvPr>
            <p:ph idx="2" type="body"/>
          </p:nvPr>
        </p:nvSpPr>
        <p:spPr>
          <a:xfrm>
            <a:off x="3972925" y="1554850"/>
            <a:ext cx="4925100" cy="3110400"/>
          </a:xfrm>
          <a:prstGeom prst="rect">
            <a:avLst/>
          </a:prstGeom>
          <a:noFill/>
          <a:ln>
            <a:noFill/>
          </a:ln>
        </p:spPr>
        <p:txBody>
          <a:bodyPr anchorCtr="0" anchor="t" bIns="34275" lIns="68575" spcFirstLastPara="1" rIns="68575" wrap="square" tIns="34275">
            <a:spAutoFit/>
          </a:bodyPr>
          <a:lstStyle/>
          <a:p>
            <a:pPr indent="-317500" lvl="0" marL="457200" rtl="0" algn="l">
              <a:lnSpc>
                <a:spcPct val="115000"/>
              </a:lnSpc>
              <a:spcBef>
                <a:spcPts val="0"/>
              </a:spcBef>
              <a:spcAft>
                <a:spcPts val="0"/>
              </a:spcAft>
              <a:buSzPts val="1400"/>
              <a:buChar char="●"/>
            </a:pPr>
            <a:r>
              <a:rPr lang="en" sz="1400"/>
              <a:t>If the method is not POST, return null.</a:t>
            </a:r>
            <a:endParaRPr sz="1400"/>
          </a:p>
          <a:p>
            <a:pPr indent="-317500" lvl="0" marL="457200" rtl="0" algn="l">
              <a:lnSpc>
                <a:spcPct val="115000"/>
              </a:lnSpc>
              <a:spcBef>
                <a:spcPts val="0"/>
              </a:spcBef>
              <a:spcAft>
                <a:spcPts val="0"/>
              </a:spcAft>
              <a:buSzPts val="1400"/>
              <a:buChar char="●"/>
            </a:pPr>
            <a:r>
              <a:rPr lang="en" sz="1400"/>
              <a:t>Get</a:t>
            </a:r>
            <a:r>
              <a:rPr lang="en" sz="1400"/>
              <a:t> the body from the </a:t>
            </a:r>
            <a:r>
              <a:rPr lang="en" sz="1400">
                <a:latin typeface="Courier New"/>
                <a:ea typeface="Courier New"/>
                <a:cs typeface="Courier New"/>
                <a:sym typeface="Courier New"/>
              </a:rPr>
              <a:t>HttpRequest</a:t>
            </a:r>
            <a:r>
              <a:rPr lang="en" sz="1400"/>
              <a:t>, this is the request message</a:t>
            </a:r>
            <a:r>
              <a:rPr lang="en" sz="1400"/>
              <a:t>.</a:t>
            </a:r>
            <a:endParaRPr sz="1600"/>
          </a:p>
          <a:p>
            <a:pPr indent="-298450" lvl="1" marL="914400" rtl="0" algn="l">
              <a:lnSpc>
                <a:spcPct val="115000"/>
              </a:lnSpc>
              <a:spcBef>
                <a:spcPts val="0"/>
              </a:spcBef>
              <a:spcAft>
                <a:spcPts val="0"/>
              </a:spcAft>
              <a:buSzPts val="1100"/>
              <a:buChar char="○"/>
            </a:pPr>
            <a:r>
              <a:rPr lang="en"/>
              <a:t>Print the request after it is read.</a:t>
            </a:r>
            <a:endParaRPr/>
          </a:p>
          <a:p>
            <a:pPr indent="-317500" lvl="0" marL="457200" rtl="0" algn="l">
              <a:lnSpc>
                <a:spcPct val="115000"/>
              </a:lnSpc>
              <a:spcBef>
                <a:spcPts val="1000"/>
              </a:spcBef>
              <a:spcAft>
                <a:spcPts val="0"/>
              </a:spcAft>
              <a:buSzPts val="1400"/>
              <a:buChar char="●"/>
            </a:pPr>
            <a:r>
              <a:rPr lang="en" sz="1400"/>
              <a:t>Determine which method to call on the </a:t>
            </a:r>
            <a:r>
              <a:rPr lang="en" sz="1400">
                <a:latin typeface="Courier New"/>
                <a:ea typeface="Courier New"/>
                <a:cs typeface="Courier New"/>
                <a:sym typeface="Courier New"/>
              </a:rPr>
              <a:t>GuessingGameImpl</a:t>
            </a:r>
            <a:r>
              <a:rPr lang="en" sz="1400"/>
              <a:t>.</a:t>
            </a:r>
            <a:endParaRPr sz="1400"/>
          </a:p>
          <a:p>
            <a:pPr indent="-317500" lvl="0" marL="457200" rtl="0" algn="l">
              <a:lnSpc>
                <a:spcPct val="115000"/>
              </a:lnSpc>
              <a:spcBef>
                <a:spcPts val="0"/>
              </a:spcBef>
              <a:spcAft>
                <a:spcPts val="0"/>
              </a:spcAft>
              <a:buSzPts val="1400"/>
              <a:buChar char="●"/>
            </a:pPr>
            <a:r>
              <a:rPr lang="en" sz="1400"/>
              <a:t>Call the method and formulate a response. </a:t>
            </a:r>
            <a:endParaRPr sz="1400"/>
          </a:p>
          <a:p>
            <a:pPr indent="-317500" lvl="0" marL="457200" rtl="0" algn="l">
              <a:lnSpc>
                <a:spcPct val="115000"/>
              </a:lnSpc>
              <a:spcBef>
                <a:spcPts val="0"/>
              </a:spcBef>
              <a:spcAft>
                <a:spcPts val="0"/>
              </a:spcAft>
              <a:buSzPts val="1400"/>
              <a:buChar char="●"/>
            </a:pPr>
            <a:r>
              <a:rPr lang="en" sz="1400"/>
              <a:t>Return the response.</a:t>
            </a:r>
            <a:endParaRPr sz="1600"/>
          </a:p>
          <a:p>
            <a:pPr indent="-298450" lvl="1" marL="914400" rtl="0" algn="l">
              <a:lnSpc>
                <a:spcPct val="115000"/>
              </a:lnSpc>
              <a:spcBef>
                <a:spcPts val="0"/>
              </a:spcBef>
              <a:spcAft>
                <a:spcPts val="0"/>
              </a:spcAft>
              <a:buSzPts val="1100"/>
              <a:buChar char="○"/>
            </a:pPr>
            <a:r>
              <a:rPr lang="en"/>
              <a:t>Print each response before returning it</a:t>
            </a:r>
            <a:endParaRPr/>
          </a:p>
          <a:p>
            <a:pPr indent="-311150" lvl="0" marL="457200" rtl="0" algn="l">
              <a:lnSpc>
                <a:spcPct val="115000"/>
              </a:lnSpc>
              <a:spcBef>
                <a:spcPts val="1000"/>
              </a:spcBef>
              <a:spcAft>
                <a:spcPts val="0"/>
              </a:spcAft>
              <a:buSzPts val="1300"/>
              <a:buChar char="●"/>
            </a:pPr>
            <a:r>
              <a:rPr lang="en"/>
              <a:t>Unit tests have been provided in </a:t>
            </a:r>
            <a:r>
              <a:rPr lang="en">
                <a:latin typeface="Courier New"/>
                <a:ea typeface="Courier New"/>
                <a:cs typeface="Courier New"/>
                <a:sym typeface="Courier New"/>
              </a:rPr>
              <a:t>GuessingGameHandlerTest.txt</a:t>
            </a:r>
            <a:r>
              <a:rPr lang="en"/>
              <a:t> (change to </a:t>
            </a:r>
            <a:r>
              <a:rPr lang="en">
                <a:latin typeface="Courier New"/>
                <a:ea typeface="Courier New"/>
                <a:cs typeface="Courier New"/>
                <a:sym typeface="Courier New"/>
              </a:rPr>
              <a:t>.java</a:t>
            </a:r>
            <a:r>
              <a:rPr lang="en"/>
              <a:t>).</a:t>
            </a:r>
            <a:endParaRPr sz="1300"/>
          </a:p>
          <a:p>
            <a:pPr indent="-311150" lvl="0" marL="457200" rtl="0" algn="l">
              <a:lnSpc>
                <a:spcPct val="115000"/>
              </a:lnSpc>
              <a:spcBef>
                <a:spcPts val="0"/>
              </a:spcBef>
              <a:spcAft>
                <a:spcPts val="0"/>
              </a:spcAft>
              <a:buSzPts val="1300"/>
              <a:buChar char="●"/>
            </a:pPr>
            <a:r>
              <a:rPr lang="en"/>
              <a:t>Run the server and ensure it doesn't </a:t>
            </a:r>
            <a:r>
              <a:rPr lang="en"/>
              <a:t>crash</a:t>
            </a:r>
            <a:endParaRPr/>
          </a:p>
        </p:txBody>
      </p:sp>
      <p:sp>
        <p:nvSpPr>
          <p:cNvPr id="547" name="Google Shape;547;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8" name="Google Shape;548;p5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10.16</a:t>
            </a:r>
            <a:endParaRPr/>
          </a:p>
        </p:txBody>
      </p:sp>
      <p:pic>
        <p:nvPicPr>
          <p:cNvPr id="549" name="Google Shape;549;p59"/>
          <p:cNvPicPr preferRelativeResize="0"/>
          <p:nvPr/>
        </p:nvPicPr>
        <p:blipFill>
          <a:blip r:embed="rId3">
            <a:alphaModFix/>
          </a:blip>
          <a:stretch>
            <a:fillRect/>
          </a:stretch>
        </p:blipFill>
        <p:spPr>
          <a:xfrm>
            <a:off x="206825" y="1573675"/>
            <a:ext cx="3707149" cy="199615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 still need someway to interact with our server. Since we are using HTTP it most likely should be a web page. Since this isn't a course on web development, we'll use AI to fast track us a usable web page.</a:t>
            </a:r>
            <a:endParaRPr/>
          </a:p>
        </p:txBody>
      </p:sp>
      <p:sp>
        <p:nvSpPr>
          <p:cNvPr id="555" name="Google Shape;555;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6" name="Google Shape;556;p60"/>
          <p:cNvSpPr txBox="1"/>
          <p:nvPr>
            <p:ph idx="2" type="body"/>
          </p:nvPr>
        </p:nvSpPr>
        <p:spPr>
          <a:xfrm>
            <a:off x="3165300" y="1540675"/>
            <a:ext cx="5775900" cy="35886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First, ensure the AI tool you have has our </a:t>
            </a:r>
            <a:r>
              <a:rPr lang="en">
                <a:latin typeface="Courier New"/>
                <a:ea typeface="Courier New"/>
                <a:cs typeface="Courier New"/>
                <a:sym typeface="Courier New"/>
              </a:rPr>
              <a:t>GuessingGameHandler</a:t>
            </a:r>
            <a:r>
              <a:rPr lang="en"/>
              <a:t> as its context.</a:t>
            </a:r>
            <a:endParaRPr/>
          </a:p>
          <a:p>
            <a:pPr indent="-298450" lvl="1" marL="914400" rtl="0" algn="l">
              <a:spcBef>
                <a:spcPts val="0"/>
              </a:spcBef>
              <a:spcAft>
                <a:spcPts val="0"/>
              </a:spcAft>
              <a:buSzPts val="1100"/>
              <a:buChar char="○"/>
            </a:pPr>
            <a:r>
              <a:rPr lang="en"/>
              <a:t>In VS code, selecting the file then starting the AI chat will include it as the context.</a:t>
            </a:r>
            <a:endParaRPr/>
          </a:p>
          <a:p>
            <a:pPr indent="-298450" lvl="1" marL="914400" rtl="0" algn="l">
              <a:spcBef>
                <a:spcPts val="0"/>
              </a:spcBef>
              <a:spcAft>
                <a:spcPts val="0"/>
              </a:spcAft>
              <a:buSzPts val="1100"/>
              <a:buChar char="○"/>
            </a:pPr>
            <a:r>
              <a:rPr lang="en"/>
              <a:t>If using AI in a browser, you'll want to drag the file into the AI chat.</a:t>
            </a:r>
            <a:endParaRPr/>
          </a:p>
          <a:p>
            <a:pPr indent="-311150" lvl="0" marL="457200" rtl="0" algn="l">
              <a:spcBef>
                <a:spcPts val="0"/>
              </a:spcBef>
              <a:spcAft>
                <a:spcPts val="0"/>
              </a:spcAft>
              <a:buSzPts val="1300"/>
              <a:buChar char="●"/>
            </a:pPr>
            <a:r>
              <a:rPr lang="en"/>
              <a:t>Ask the AI to create a guessing game html page using forms that matches the protocol in the file.</a:t>
            </a:r>
            <a:endParaRPr/>
          </a:p>
          <a:p>
            <a:pPr indent="-298450" lvl="1" marL="914400" rtl="0" algn="l">
              <a:spcBef>
                <a:spcPts val="0"/>
              </a:spcBef>
              <a:spcAft>
                <a:spcPts val="0"/>
              </a:spcAft>
              <a:buSzPts val="1100"/>
              <a:buChar char="○"/>
            </a:pPr>
            <a:r>
              <a:rPr lang="en"/>
              <a:t>Record what you use for your prompts in a </a:t>
            </a:r>
            <a:r>
              <a:rPr lang="en">
                <a:latin typeface="Courier New"/>
                <a:ea typeface="Courier New"/>
                <a:cs typeface="Courier New"/>
                <a:sym typeface="Courier New"/>
              </a:rPr>
              <a:t>prompt.txt</a:t>
            </a:r>
            <a:r>
              <a:rPr lang="en"/>
              <a:t> file.</a:t>
            </a:r>
            <a:endParaRPr/>
          </a:p>
          <a:p>
            <a:pPr indent="-311150" lvl="0" marL="457200" rtl="0" algn="l">
              <a:spcBef>
                <a:spcPts val="0"/>
              </a:spcBef>
              <a:spcAft>
                <a:spcPts val="0"/>
              </a:spcAft>
              <a:buSzPts val="1300"/>
              <a:buChar char="●"/>
            </a:pPr>
            <a:r>
              <a:rPr lang="en"/>
              <a:t>If using the browser, you'll most likely need to copy the html into a file.</a:t>
            </a:r>
            <a:endParaRPr/>
          </a:p>
          <a:p>
            <a:pPr indent="-298450" lvl="1" marL="914400" rtl="0" algn="l">
              <a:spcBef>
                <a:spcPts val="0"/>
              </a:spcBef>
              <a:spcAft>
                <a:spcPts val="0"/>
              </a:spcAft>
              <a:buSzPts val="1100"/>
              <a:buChar char="○"/>
            </a:pPr>
            <a:r>
              <a:rPr lang="en"/>
              <a:t>If you used VS code with an AI agent, it should make the file for you.</a:t>
            </a:r>
            <a:endParaRPr/>
          </a:p>
          <a:p>
            <a:pPr indent="-311150" lvl="0" marL="457200" rtl="0" algn="l">
              <a:spcBef>
                <a:spcPts val="0"/>
              </a:spcBef>
              <a:spcAft>
                <a:spcPts val="0"/>
              </a:spcAft>
              <a:buSzPts val="1300"/>
              <a:buChar char="●"/>
            </a:pPr>
            <a:r>
              <a:rPr lang="en"/>
              <a:t>If all went well, you should be able to load the web page into your browser and play the game.</a:t>
            </a:r>
            <a:endParaRPr/>
          </a:p>
          <a:p>
            <a:pPr indent="-298450" lvl="1" marL="914400" rtl="0" algn="l">
              <a:spcBef>
                <a:spcPts val="0"/>
              </a:spcBef>
              <a:spcAft>
                <a:spcPts val="0"/>
              </a:spcAft>
              <a:buSzPts val="1100"/>
              <a:buChar char="○"/>
            </a:pPr>
            <a:r>
              <a:rPr lang="en"/>
              <a:t>You may need to give the AI a little more information, most likely the port the server is listening on. Or you can hand edit the generated code to add it.</a:t>
            </a:r>
            <a:endParaRPr/>
          </a:p>
          <a:p>
            <a:pPr indent="-311150" lvl="0" marL="457200" rtl="0" algn="l">
              <a:spcBef>
                <a:spcPts val="0"/>
              </a:spcBef>
              <a:spcAft>
                <a:spcPts val="0"/>
              </a:spcAft>
              <a:buSzPts val="1300"/>
              <a:buChar char="●"/>
            </a:pPr>
            <a:r>
              <a:rPr lang="en"/>
              <a:t>If after a couple attempts you </a:t>
            </a:r>
            <a:r>
              <a:rPr lang="en"/>
              <a:t>aren't</a:t>
            </a:r>
            <a:r>
              <a:rPr lang="en"/>
              <a:t>' getting anything to work, a sample has been provided (</a:t>
            </a:r>
            <a:r>
              <a:rPr lang="en">
                <a:latin typeface="Courier New"/>
                <a:ea typeface="Courier New"/>
                <a:cs typeface="Courier New"/>
                <a:sym typeface="Courier New"/>
              </a:rPr>
              <a:t>activities/view/guessing.html</a:t>
            </a:r>
            <a:r>
              <a:rPr lang="en"/>
              <a:t>).</a:t>
            </a:r>
            <a:endParaRPr/>
          </a:p>
        </p:txBody>
      </p:sp>
      <p:sp>
        <p:nvSpPr>
          <p:cNvPr id="557" name="Google Shape;557;p60"/>
          <p:cNvSpPr txBox="1"/>
          <p:nvPr>
            <p:ph type="title"/>
          </p:nvPr>
        </p:nvSpPr>
        <p:spPr>
          <a:xfrm>
            <a:off x="1436850" y="9893"/>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Creating the Front End</a:t>
            </a:r>
            <a:endParaRPr/>
          </a:p>
        </p:txBody>
      </p:sp>
      <p:sp>
        <p:nvSpPr>
          <p:cNvPr id="558" name="Google Shape;558;p6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10.17</a:t>
            </a:r>
            <a:endParaRPr/>
          </a:p>
        </p:txBody>
      </p:sp>
      <p:sp>
        <p:nvSpPr>
          <p:cNvPr id="559" name="Google Shape;559;p60"/>
          <p:cNvSpPr txBox="1"/>
          <p:nvPr>
            <p:ph idx="4" type="body"/>
          </p:nvPr>
        </p:nvSpPr>
        <p:spPr>
          <a:xfrm>
            <a:off x="141600" y="3975791"/>
            <a:ext cx="30237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webpage AI gave me for the prompt:</a:t>
            </a:r>
            <a:endParaRPr/>
          </a:p>
          <a:p>
            <a:pPr indent="0" lvl="0" marL="0" rtl="0" algn="l">
              <a:spcBef>
                <a:spcPts val="0"/>
              </a:spcBef>
              <a:spcAft>
                <a:spcPts val="0"/>
              </a:spcAft>
              <a:buNone/>
            </a:pPr>
            <a:r>
              <a:rPr lang="en" sz="900">
                <a:latin typeface="Courier New"/>
                <a:ea typeface="Courier New"/>
                <a:cs typeface="Courier New"/>
                <a:sym typeface="Courier New"/>
              </a:rPr>
              <a:t>Create a guessing game html form page that matches the protocol in this file.</a:t>
            </a:r>
            <a:endParaRPr sz="900">
              <a:latin typeface="Courier New"/>
              <a:ea typeface="Courier New"/>
              <a:cs typeface="Courier New"/>
              <a:sym typeface="Courier New"/>
            </a:endParaRPr>
          </a:p>
        </p:txBody>
      </p:sp>
      <p:pic>
        <p:nvPicPr>
          <p:cNvPr id="560" name="Google Shape;560;p60"/>
          <p:cNvPicPr preferRelativeResize="0"/>
          <p:nvPr/>
        </p:nvPicPr>
        <p:blipFill>
          <a:blip r:embed="rId3">
            <a:alphaModFix/>
          </a:blip>
          <a:stretch>
            <a:fillRect/>
          </a:stretch>
        </p:blipFill>
        <p:spPr>
          <a:xfrm>
            <a:off x="141600" y="2134110"/>
            <a:ext cx="3023700" cy="1639748"/>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Hopefully at this point, you are able to play your guessing game. Pretty neat! What happens if you try playing two games at the same time? Try it out and see what happens.</a:t>
            </a:r>
            <a:endParaRPr/>
          </a:p>
        </p:txBody>
      </p:sp>
      <p:sp>
        <p:nvSpPr>
          <p:cNvPr id="566" name="Google Shape;566;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7" name="Google Shape;567;p61"/>
          <p:cNvSpPr txBox="1"/>
          <p:nvPr>
            <p:ph idx="2" type="body"/>
          </p:nvPr>
        </p:nvSpPr>
        <p:spPr>
          <a:xfrm>
            <a:off x="3165300" y="1637275"/>
            <a:ext cx="5775900" cy="19203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Load two copies of your guessing game html file into your browser.</a:t>
            </a:r>
            <a:endParaRPr/>
          </a:p>
          <a:p>
            <a:pPr indent="-311150" lvl="0" marL="457200" rtl="0" algn="l">
              <a:spcBef>
                <a:spcPts val="1000"/>
              </a:spcBef>
              <a:spcAft>
                <a:spcPts val="0"/>
              </a:spcAft>
              <a:buSzPts val="1300"/>
              <a:buChar char="●"/>
            </a:pPr>
            <a:r>
              <a:rPr lang="en"/>
              <a:t>If your server isn't running, make sure to start it.</a:t>
            </a:r>
            <a:endParaRPr/>
          </a:p>
          <a:p>
            <a:pPr indent="-311150" lvl="0" marL="457200" rtl="0" algn="l">
              <a:spcBef>
                <a:spcPts val="1000"/>
              </a:spcBef>
              <a:spcAft>
                <a:spcPts val="0"/>
              </a:spcAft>
              <a:buSzPts val="1300"/>
              <a:buChar char="●"/>
            </a:pPr>
            <a:r>
              <a:rPr lang="en"/>
              <a:t>Try and play two games at the same time, alternating guesses between them.</a:t>
            </a:r>
            <a:endParaRPr/>
          </a:p>
          <a:p>
            <a:pPr indent="-311150" lvl="0" marL="457200" rtl="0" algn="l">
              <a:spcBef>
                <a:spcPts val="1000"/>
              </a:spcBef>
              <a:spcAft>
                <a:spcPts val="1000"/>
              </a:spcAft>
              <a:buSzPts val="1300"/>
              <a:buChar char="●"/>
            </a:pPr>
            <a:r>
              <a:rPr lang="en"/>
              <a:t>In a guessing.txt file, record your thoughts on how this works out and if it's what you would want to happen.</a:t>
            </a:r>
            <a:endParaRPr/>
          </a:p>
        </p:txBody>
      </p:sp>
      <p:sp>
        <p:nvSpPr>
          <p:cNvPr id="568" name="Google Shape;568;p61"/>
          <p:cNvSpPr txBox="1"/>
          <p:nvPr>
            <p:ph type="title"/>
          </p:nvPr>
        </p:nvSpPr>
        <p:spPr>
          <a:xfrm>
            <a:off x="1436850" y="9893"/>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Two Guessing Games</a:t>
            </a:r>
            <a:endParaRPr/>
          </a:p>
        </p:txBody>
      </p:sp>
      <p:sp>
        <p:nvSpPr>
          <p:cNvPr id="569" name="Google Shape;569;p6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10.18</a:t>
            </a:r>
            <a:endParaRPr/>
          </a:p>
        </p:txBody>
      </p:sp>
      <p:sp>
        <p:nvSpPr>
          <p:cNvPr id="570" name="Google Shape;570;p61"/>
          <p:cNvSpPr txBox="1"/>
          <p:nvPr>
            <p:ph idx="4" type="body"/>
          </p:nvPr>
        </p:nvSpPr>
        <p:spPr>
          <a:xfrm>
            <a:off x="141600" y="3873162"/>
            <a:ext cx="3023700" cy="369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Twice the guessing, twice the fun!?</a:t>
            </a:r>
            <a:endParaRPr/>
          </a:p>
        </p:txBody>
      </p:sp>
      <p:pic>
        <p:nvPicPr>
          <p:cNvPr id="571" name="Google Shape;571;p61"/>
          <p:cNvPicPr preferRelativeResize="0"/>
          <p:nvPr/>
        </p:nvPicPr>
        <p:blipFill>
          <a:blip r:embed="rId3">
            <a:alphaModFix/>
          </a:blip>
          <a:stretch>
            <a:fillRect/>
          </a:stretch>
        </p:blipFill>
        <p:spPr>
          <a:xfrm>
            <a:off x="141600" y="1667452"/>
            <a:ext cx="2376100" cy="1288550"/>
          </a:xfrm>
          <a:prstGeom prst="rect">
            <a:avLst/>
          </a:prstGeom>
          <a:noFill/>
          <a:ln cap="flat" cmpd="sng" w="19050">
            <a:solidFill>
              <a:schemeClr val="dk1"/>
            </a:solidFill>
            <a:prstDash val="solid"/>
            <a:round/>
            <a:headEnd len="sm" w="sm" type="none"/>
            <a:tailEnd len="sm" w="sm" type="none"/>
          </a:ln>
        </p:spPr>
      </p:pic>
      <p:pic>
        <p:nvPicPr>
          <p:cNvPr id="572" name="Google Shape;572;p61"/>
          <p:cNvPicPr preferRelativeResize="0"/>
          <p:nvPr/>
        </p:nvPicPr>
        <p:blipFill>
          <a:blip r:embed="rId3">
            <a:alphaModFix/>
          </a:blip>
          <a:stretch>
            <a:fillRect/>
          </a:stretch>
        </p:blipFill>
        <p:spPr>
          <a:xfrm>
            <a:off x="789200" y="2369227"/>
            <a:ext cx="2376100" cy="128855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62"/>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What you most likely noticed when playing two games is you are actually playing one game on two clients.</a:t>
            </a:r>
            <a:endParaRPr/>
          </a:p>
          <a:p>
            <a:pPr indent="-304800" lvl="1" marL="914400" rtl="0" algn="l">
              <a:spcBef>
                <a:spcPts val="0"/>
              </a:spcBef>
              <a:spcAft>
                <a:spcPts val="0"/>
              </a:spcAft>
              <a:buSzPts val="1200"/>
              <a:buChar char="○"/>
            </a:pPr>
            <a:r>
              <a:rPr lang="en" sz="1200"/>
              <a:t>Each attempt affect both but you only see the messages in the client that made this guess</a:t>
            </a:r>
            <a:endParaRPr sz="1200"/>
          </a:p>
          <a:p>
            <a:pPr indent="-304800" lvl="1" marL="914400" rtl="0" algn="l">
              <a:spcBef>
                <a:spcPts val="0"/>
              </a:spcBef>
              <a:spcAft>
                <a:spcPts val="0"/>
              </a:spcAft>
              <a:buSzPts val="1200"/>
              <a:buChar char="○"/>
            </a:pPr>
            <a:r>
              <a:rPr lang="en" sz="1200"/>
              <a:t>This is confusing and really doesn't scale well</a:t>
            </a:r>
            <a:endParaRPr sz="1200"/>
          </a:p>
          <a:p>
            <a:pPr indent="-311150" lvl="0" marL="457200" rtl="0" algn="l">
              <a:spcBef>
                <a:spcPts val="1000"/>
              </a:spcBef>
              <a:spcAft>
                <a:spcPts val="0"/>
              </a:spcAft>
              <a:buSzPts val="1300"/>
              <a:buChar char="●"/>
            </a:pPr>
            <a:r>
              <a:rPr lang="en"/>
              <a:t>Instead of having one </a:t>
            </a:r>
            <a:r>
              <a:rPr lang="en">
                <a:latin typeface="Courier New"/>
                <a:ea typeface="Courier New"/>
                <a:cs typeface="Courier New"/>
                <a:sym typeface="Courier New"/>
              </a:rPr>
              <a:t>GuessingGameImpl</a:t>
            </a:r>
            <a:r>
              <a:rPr lang="en"/>
              <a:t> for every client, what we'd really like is to have one for each client.</a:t>
            </a:r>
            <a:endParaRPr/>
          </a:p>
          <a:p>
            <a:pPr indent="-311150" lvl="0" marL="457200" rtl="0" algn="l">
              <a:spcBef>
                <a:spcPts val="1000"/>
              </a:spcBef>
              <a:spcAft>
                <a:spcPts val="0"/>
              </a:spcAft>
              <a:buSzPts val="1300"/>
              <a:buChar char="●"/>
            </a:pPr>
            <a:r>
              <a:rPr lang="en"/>
              <a:t>This will involve </a:t>
            </a:r>
            <a:r>
              <a:rPr lang="en"/>
              <a:t>a couple updates to our solution which will include:</a:t>
            </a:r>
            <a:endParaRPr/>
          </a:p>
          <a:p>
            <a:pPr indent="-304800" lvl="1" marL="914400" rtl="0" algn="l">
              <a:spcBef>
                <a:spcPts val="0"/>
              </a:spcBef>
              <a:spcAft>
                <a:spcPts val="0"/>
              </a:spcAft>
              <a:buSzPts val="1200"/>
              <a:buChar char="○"/>
            </a:pPr>
            <a:r>
              <a:rPr lang="en" sz="1200"/>
              <a:t>A system to store and look up handlers based on some type of unique identifier</a:t>
            </a:r>
            <a:endParaRPr sz="1200"/>
          </a:p>
          <a:p>
            <a:pPr indent="-304800" lvl="1" marL="914400" rtl="0" algn="l">
              <a:spcBef>
                <a:spcPts val="0"/>
              </a:spcBef>
              <a:spcAft>
                <a:spcPts val="0"/>
              </a:spcAft>
              <a:buSzPts val="1200"/>
              <a:buChar char="○"/>
            </a:pPr>
            <a:r>
              <a:rPr lang="en" sz="1200"/>
              <a:t>Adding a unique identifier to the headers sent by the clients</a:t>
            </a:r>
            <a:endParaRPr sz="1200"/>
          </a:p>
        </p:txBody>
      </p:sp>
      <p:sp>
        <p:nvSpPr>
          <p:cNvPr id="578" name="Google Shape;578;p6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9" name="Google Shape;579;p62"/>
          <p:cNvSpPr txBox="1"/>
          <p:nvPr>
            <p:ph idx="3" type="body"/>
          </p:nvPr>
        </p:nvSpPr>
        <p:spPr>
          <a:xfrm>
            <a:off x="5192225"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Currently all games share the same object. We need a way to give each game client its own object.</a:t>
            </a:r>
            <a:endParaRPr/>
          </a:p>
        </p:txBody>
      </p:sp>
      <p:sp>
        <p:nvSpPr>
          <p:cNvPr id="580" name="Google Shape;580;p62"/>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Multi-Client Servers</a:t>
            </a:r>
            <a:endParaRPr/>
          </a:p>
        </p:txBody>
      </p:sp>
      <p:pic>
        <p:nvPicPr>
          <p:cNvPr id="581" name="Google Shape;581;p62"/>
          <p:cNvPicPr preferRelativeResize="0"/>
          <p:nvPr/>
        </p:nvPicPr>
        <p:blipFill>
          <a:blip r:embed="rId3">
            <a:alphaModFix/>
          </a:blip>
          <a:stretch>
            <a:fillRect/>
          </a:stretch>
        </p:blipFill>
        <p:spPr>
          <a:xfrm>
            <a:off x="5264725" y="1338825"/>
            <a:ext cx="2855689" cy="1548629"/>
          </a:xfrm>
          <a:prstGeom prst="rect">
            <a:avLst/>
          </a:prstGeom>
          <a:noFill/>
          <a:ln cap="flat" cmpd="sng" w="22900">
            <a:solidFill>
              <a:schemeClr val="dk2"/>
            </a:solidFill>
            <a:prstDash val="solid"/>
            <a:round/>
            <a:headEnd len="sm" w="sm" type="none"/>
            <a:tailEnd len="sm" w="sm" type="none"/>
          </a:ln>
        </p:spPr>
      </p:pic>
      <p:pic>
        <p:nvPicPr>
          <p:cNvPr id="582" name="Google Shape;582;p62"/>
          <p:cNvPicPr preferRelativeResize="0"/>
          <p:nvPr/>
        </p:nvPicPr>
        <p:blipFill>
          <a:blip r:embed="rId3">
            <a:alphaModFix/>
          </a:blip>
          <a:stretch>
            <a:fillRect/>
          </a:stretch>
        </p:blipFill>
        <p:spPr>
          <a:xfrm>
            <a:off x="6043036" y="2182245"/>
            <a:ext cx="2855689" cy="1548629"/>
          </a:xfrm>
          <a:prstGeom prst="rect">
            <a:avLst/>
          </a:prstGeom>
          <a:noFill/>
          <a:ln cap="flat" cmpd="sng" w="22900">
            <a:solidFill>
              <a:schemeClr val="dk2"/>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8" name="Google Shape;588;p63"/>
          <p:cNvSpPr txBox="1"/>
          <p:nvPr>
            <p:ph type="title"/>
          </p:nvPr>
        </p:nvSpPr>
        <p:spPr>
          <a:xfrm>
            <a:off x="1436850" y="9893"/>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Server Updates I</a:t>
            </a:r>
            <a:endParaRPr/>
          </a:p>
        </p:txBody>
      </p:sp>
      <p:sp>
        <p:nvSpPr>
          <p:cNvPr id="589" name="Google Shape;589;p63"/>
          <p:cNvSpPr txBox="1"/>
          <p:nvPr>
            <p:ph idx="1" type="body"/>
          </p:nvPr>
        </p:nvSpPr>
        <p:spPr>
          <a:xfrm>
            <a:off x="65250" y="664074"/>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first update involves adding something to keep track of different RequestHandlers by ID. As you probably already guessed, this would be a great place to use a Map.</a:t>
            </a:r>
            <a:endParaRPr/>
          </a:p>
        </p:txBody>
      </p:sp>
      <p:sp>
        <p:nvSpPr>
          <p:cNvPr id="590" name="Google Shape;590;p63"/>
          <p:cNvSpPr txBox="1"/>
          <p:nvPr>
            <p:ph idx="2" type="body"/>
          </p:nvPr>
        </p:nvSpPr>
        <p:spPr>
          <a:xfrm>
            <a:off x="3165450" y="1259856"/>
            <a:ext cx="5775900" cy="3978000"/>
          </a:xfrm>
          <a:prstGeom prst="rect">
            <a:avLst/>
          </a:prstGeom>
        </p:spPr>
        <p:txBody>
          <a:bodyPr anchorCtr="0" anchor="t" bIns="91425" lIns="91425" spcFirstLastPara="1" rIns="91425" wrap="square" tIns="91425">
            <a:spAutoFit/>
          </a:bodyPr>
          <a:lstStyle/>
          <a:p>
            <a:pPr indent="-304800" lvl="0" marL="457200" rtl="0" algn="l">
              <a:spcBef>
                <a:spcPts val="0"/>
              </a:spcBef>
              <a:spcAft>
                <a:spcPts val="0"/>
              </a:spcAft>
              <a:buSzPts val="1200"/>
              <a:buChar char="●"/>
            </a:pPr>
            <a:r>
              <a:rPr lang="en" sz="1200"/>
              <a:t>In your </a:t>
            </a:r>
            <a:r>
              <a:rPr lang="en" sz="1200">
                <a:latin typeface="Courier New"/>
                <a:ea typeface="Courier New"/>
                <a:cs typeface="Courier New"/>
                <a:sym typeface="Courier New"/>
              </a:rPr>
              <a:t>HttpWebServer</a:t>
            </a:r>
            <a:r>
              <a:rPr lang="en" sz="1200"/>
              <a:t>, replace the single instance of </a:t>
            </a:r>
            <a:r>
              <a:rPr lang="en" sz="1200">
                <a:latin typeface="Courier New"/>
                <a:ea typeface="Courier New"/>
                <a:cs typeface="Courier New"/>
                <a:sym typeface="Courier New"/>
              </a:rPr>
              <a:t>RequestHandler</a:t>
            </a:r>
            <a:r>
              <a:rPr lang="en" sz="1200"/>
              <a:t> with </a:t>
            </a:r>
            <a:r>
              <a:rPr lang="en" sz="1200"/>
              <a:t>a </a:t>
            </a:r>
            <a:r>
              <a:rPr lang="en" sz="1200">
                <a:latin typeface="Courier New"/>
                <a:ea typeface="Courier New"/>
                <a:cs typeface="Courier New"/>
                <a:sym typeface="Courier New"/>
              </a:rPr>
              <a:t>Map&lt;String, RequestHandler&gt;</a:t>
            </a:r>
            <a:r>
              <a:rPr lang="en" sz="1200"/>
              <a:t> and initialize it in the constructor.</a:t>
            </a:r>
            <a:endParaRPr sz="1200"/>
          </a:p>
          <a:p>
            <a:pPr indent="-298450" lvl="1" marL="914400" rtl="0" algn="l">
              <a:spcBef>
                <a:spcPts val="0"/>
              </a:spcBef>
              <a:spcAft>
                <a:spcPts val="0"/>
              </a:spcAft>
              <a:buSzPts val="1100"/>
              <a:buChar char="○"/>
            </a:pPr>
            <a:r>
              <a:rPr lang="en"/>
              <a:t>Which type of Map should you use for your implementation?</a:t>
            </a:r>
            <a:endParaRPr/>
          </a:p>
          <a:p>
            <a:pPr indent="-304800" lvl="0" marL="457200" rtl="0" algn="l">
              <a:spcBef>
                <a:spcPts val="1000"/>
              </a:spcBef>
              <a:spcAft>
                <a:spcPts val="0"/>
              </a:spcAft>
              <a:buSzPts val="1200"/>
              <a:buChar char="●"/>
            </a:pPr>
            <a:r>
              <a:rPr lang="en" sz="1200"/>
              <a:t>In </a:t>
            </a:r>
            <a:r>
              <a:rPr lang="en" sz="1200">
                <a:latin typeface="Courier New"/>
                <a:ea typeface="Courier New"/>
                <a:cs typeface="Courier New"/>
                <a:sym typeface="Courier New"/>
              </a:rPr>
              <a:t>handleClient</a:t>
            </a:r>
            <a:r>
              <a:rPr lang="en" sz="1200"/>
              <a:t>, right after parsing the request:</a:t>
            </a:r>
            <a:endParaRPr sz="1200"/>
          </a:p>
          <a:p>
            <a:pPr indent="-298450" lvl="1" marL="914400" rtl="0" algn="l">
              <a:spcBef>
                <a:spcPts val="0"/>
              </a:spcBef>
              <a:spcAft>
                <a:spcPts val="0"/>
              </a:spcAft>
              <a:buSzPts val="1100"/>
              <a:buChar char="○"/>
            </a:pPr>
            <a:r>
              <a:rPr lang="en"/>
              <a:t>Get the session ID from headers using "</a:t>
            </a:r>
            <a:r>
              <a:rPr lang="en">
                <a:latin typeface="Courier New"/>
                <a:ea typeface="Courier New"/>
                <a:cs typeface="Courier New"/>
                <a:sym typeface="Courier New"/>
              </a:rPr>
              <a:t>x-session-id</a:t>
            </a:r>
            <a:r>
              <a:rPr lang="en"/>
              <a:t>" as the header key</a:t>
            </a:r>
            <a:endParaRPr/>
          </a:p>
          <a:p>
            <a:pPr indent="-298450" lvl="1" marL="914400" rtl="0" algn="l">
              <a:spcBef>
                <a:spcPts val="0"/>
              </a:spcBef>
              <a:spcAft>
                <a:spcPts val="0"/>
              </a:spcAft>
              <a:buSzPts val="1100"/>
              <a:buChar char="○"/>
            </a:pPr>
            <a:r>
              <a:rPr lang="en"/>
              <a:t>If the key </a:t>
            </a:r>
            <a:r>
              <a:rPr b="1" i="1" lang="en">
                <a:solidFill>
                  <a:srgbClr val="FF0000"/>
                </a:solidFill>
              </a:rPr>
              <a:t>is found</a:t>
            </a:r>
            <a:r>
              <a:rPr lang="en"/>
              <a:t>, use the returned handler as the request handler</a:t>
            </a:r>
            <a:endParaRPr/>
          </a:p>
          <a:p>
            <a:pPr indent="-298450" lvl="1" marL="914400" rtl="0" algn="l">
              <a:spcBef>
                <a:spcPts val="0"/>
              </a:spcBef>
              <a:spcAft>
                <a:spcPts val="0"/>
              </a:spcAft>
              <a:buSzPts val="1100"/>
              <a:buChar char="○"/>
            </a:pPr>
            <a:r>
              <a:rPr lang="en"/>
              <a:t>If they key is </a:t>
            </a:r>
            <a:r>
              <a:rPr b="1" i="1" lang="en">
                <a:solidFill>
                  <a:srgbClr val="FF0000"/>
                </a:solidFill>
              </a:rPr>
              <a:t>not found</a:t>
            </a:r>
            <a:r>
              <a:rPr lang="en"/>
              <a:t>, create a new </a:t>
            </a:r>
            <a:r>
              <a:rPr lang="en">
                <a:latin typeface="Courier New"/>
                <a:ea typeface="Courier New"/>
                <a:cs typeface="Courier New"/>
                <a:sym typeface="Courier New"/>
              </a:rPr>
              <a:t>GuessingGameHandler</a:t>
            </a:r>
            <a:r>
              <a:rPr lang="en"/>
              <a:t> to use as the request handler and save it in the map</a:t>
            </a:r>
            <a:endParaRPr/>
          </a:p>
          <a:p>
            <a:pPr indent="-304800" lvl="0" marL="457200" rtl="0" algn="l">
              <a:spcBef>
                <a:spcPts val="1000"/>
              </a:spcBef>
              <a:spcAft>
                <a:spcPts val="0"/>
              </a:spcAft>
              <a:buSzPts val="1200"/>
              <a:buChar char="●"/>
            </a:pPr>
            <a:r>
              <a:rPr lang="en" sz="1200"/>
              <a:t>Use AI to add a unique session id named "</a:t>
            </a:r>
            <a:r>
              <a:rPr lang="en" sz="1200">
                <a:latin typeface="Courier New"/>
                <a:ea typeface="Courier New"/>
                <a:cs typeface="Courier New"/>
                <a:sym typeface="Courier New"/>
              </a:rPr>
              <a:t>x-session-id</a:t>
            </a:r>
            <a:r>
              <a:rPr lang="en" sz="1200"/>
              <a:t>" to the header of the request message.</a:t>
            </a:r>
            <a:endParaRPr sz="1200"/>
          </a:p>
          <a:p>
            <a:pPr indent="-298450" lvl="1" marL="914400" rtl="0" algn="l">
              <a:spcBef>
                <a:spcPts val="0"/>
              </a:spcBef>
              <a:spcAft>
                <a:spcPts val="0"/>
              </a:spcAft>
              <a:buSzPts val="1100"/>
              <a:buChar char="○"/>
            </a:pPr>
            <a:r>
              <a:rPr lang="en"/>
              <a:t> Make sure you have your existing html file as the context when making the </a:t>
            </a:r>
            <a:r>
              <a:rPr lang="en"/>
              <a:t>request </a:t>
            </a:r>
            <a:endParaRPr/>
          </a:p>
          <a:p>
            <a:pPr indent="-298450" lvl="1" marL="914400" rtl="0" algn="l">
              <a:spcBef>
                <a:spcPts val="0"/>
              </a:spcBef>
              <a:spcAft>
                <a:spcPts val="0"/>
              </a:spcAft>
              <a:buSzPts val="1100"/>
              <a:buChar char="○"/>
            </a:pPr>
            <a:r>
              <a:rPr lang="en"/>
              <a:t>You can use </a:t>
            </a:r>
            <a:r>
              <a:rPr lang="en">
                <a:latin typeface="Courier New"/>
                <a:ea typeface="Courier New"/>
                <a:cs typeface="Courier New"/>
                <a:sym typeface="Courier New"/>
              </a:rPr>
              <a:t>activites/view/guessing_session_id.html</a:t>
            </a:r>
            <a:r>
              <a:rPr lang="en"/>
              <a:t> if needed</a:t>
            </a:r>
            <a:endParaRPr/>
          </a:p>
          <a:p>
            <a:pPr indent="-304800" lvl="0" marL="457200" rtl="0" algn="l">
              <a:spcBef>
                <a:spcPts val="1000"/>
              </a:spcBef>
              <a:spcAft>
                <a:spcPts val="0"/>
              </a:spcAft>
              <a:buSzPts val="1200"/>
              <a:buChar char="●"/>
            </a:pPr>
            <a:r>
              <a:rPr lang="en" sz="1200"/>
              <a:t>Run your new server and see what happens.</a:t>
            </a:r>
            <a:endParaRPr sz="1200"/>
          </a:p>
          <a:p>
            <a:pPr indent="-298450" lvl="1" marL="914400" rtl="0" algn="l">
              <a:spcBef>
                <a:spcPts val="0"/>
              </a:spcBef>
              <a:spcAft>
                <a:spcPts val="0"/>
              </a:spcAft>
              <a:buSzPts val="1100"/>
              <a:buChar char="○"/>
            </a:pPr>
            <a:r>
              <a:rPr lang="en"/>
              <a:t>As you guessed, there is going to be an error. See if you can find the HTTP message that is causing the problem.</a:t>
            </a:r>
            <a:endParaRPr/>
          </a:p>
        </p:txBody>
      </p:sp>
      <p:sp>
        <p:nvSpPr>
          <p:cNvPr id="591" name="Google Shape;591;p6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10.19</a:t>
            </a:r>
            <a:endParaRPr/>
          </a:p>
        </p:txBody>
      </p:sp>
      <p:sp>
        <p:nvSpPr>
          <p:cNvPr id="592" name="Google Shape;592;p63"/>
          <p:cNvSpPr txBox="1"/>
          <p:nvPr>
            <p:ph idx="4" type="body"/>
          </p:nvPr>
        </p:nvSpPr>
        <p:spPr>
          <a:xfrm>
            <a:off x="141600" y="4156900"/>
            <a:ext cx="3023700" cy="7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150"/>
              <a:t>Somewhere in your AI generated code is going to be a line similar to the highlighted ones. It adds the unique id to the headers. </a:t>
            </a:r>
            <a:endParaRPr sz="1150"/>
          </a:p>
        </p:txBody>
      </p:sp>
      <p:sp>
        <p:nvSpPr>
          <p:cNvPr id="593" name="Google Shape;593;p63"/>
          <p:cNvSpPr txBox="1"/>
          <p:nvPr/>
        </p:nvSpPr>
        <p:spPr>
          <a:xfrm>
            <a:off x="141750" y="1601051"/>
            <a:ext cx="3023700" cy="23703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async function sendCommand(cmd) {</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try {</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addHistory('SEND', cmd);</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const res = await fetch(baseUrl, {</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method: 'POST',</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body: cmd,</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latin typeface="Consolas"/>
                <a:ea typeface="Consolas"/>
                <a:cs typeface="Consolas"/>
                <a:sym typeface="Consolas"/>
              </a:rPr>
              <a:t>          </a:t>
            </a:r>
            <a:r>
              <a:rPr lang="en" sz="850">
                <a:solidFill>
                  <a:srgbClr val="001080"/>
                </a:solidFill>
                <a:latin typeface="Consolas"/>
                <a:ea typeface="Consolas"/>
                <a:cs typeface="Consolas"/>
                <a:sym typeface="Consolas"/>
              </a:rPr>
              <a:t>headers:</a:t>
            </a:r>
            <a:r>
              <a:rPr lang="en" sz="850">
                <a:latin typeface="Consolas"/>
                <a:ea typeface="Consolas"/>
                <a:cs typeface="Consolas"/>
                <a:sym typeface="Consolas"/>
              </a:rPr>
              <a:t> {</a:t>
            </a:r>
            <a:endParaRPr sz="850">
              <a:latin typeface="Consolas"/>
              <a:ea typeface="Consolas"/>
              <a:cs typeface="Consolas"/>
              <a:sym typeface="Consolas"/>
            </a:endParaRPr>
          </a:p>
          <a:p>
            <a:pPr indent="0" lvl="0" marL="0" rtl="0" algn="l">
              <a:lnSpc>
                <a:spcPct val="100000"/>
              </a:lnSpc>
              <a:spcBef>
                <a:spcPts val="0"/>
              </a:spcBef>
              <a:spcAft>
                <a:spcPts val="0"/>
              </a:spcAft>
              <a:buNone/>
            </a:pPr>
            <a:r>
              <a:rPr lang="en" sz="850">
                <a:latin typeface="Consolas"/>
                <a:ea typeface="Consolas"/>
                <a:cs typeface="Consolas"/>
                <a:sym typeface="Consolas"/>
              </a:rPr>
              <a:t>            </a:t>
            </a:r>
            <a:r>
              <a:rPr lang="en" sz="850">
                <a:solidFill>
                  <a:srgbClr val="A31515"/>
                </a:solidFill>
                <a:latin typeface="Consolas"/>
                <a:ea typeface="Consolas"/>
                <a:cs typeface="Consolas"/>
                <a:sym typeface="Consolas"/>
              </a:rPr>
              <a:t>'x-session-id'</a:t>
            </a:r>
            <a:r>
              <a:rPr lang="en" sz="850">
                <a:solidFill>
                  <a:srgbClr val="001080"/>
                </a:solidFill>
                <a:latin typeface="Consolas"/>
                <a:ea typeface="Consolas"/>
                <a:cs typeface="Consolas"/>
                <a:sym typeface="Consolas"/>
              </a:rPr>
              <a:t>:</a:t>
            </a:r>
            <a:r>
              <a:rPr lang="en" sz="850">
                <a:latin typeface="Consolas"/>
                <a:ea typeface="Consolas"/>
                <a:cs typeface="Consolas"/>
                <a:sym typeface="Consolas"/>
              </a:rPr>
              <a:t> </a:t>
            </a:r>
            <a:r>
              <a:rPr lang="en" sz="850">
                <a:solidFill>
                  <a:srgbClr val="0070C1"/>
                </a:solidFill>
                <a:latin typeface="Consolas"/>
                <a:ea typeface="Consolas"/>
                <a:cs typeface="Consolas"/>
                <a:sym typeface="Consolas"/>
              </a:rPr>
              <a:t>sessionId</a:t>
            </a:r>
            <a:endParaRPr sz="850">
              <a:solidFill>
                <a:srgbClr val="0070C1"/>
              </a:solidFill>
              <a:latin typeface="Consolas"/>
              <a:ea typeface="Consolas"/>
              <a:cs typeface="Consolas"/>
              <a:sym typeface="Consolas"/>
            </a:endParaRPr>
          </a:p>
          <a:p>
            <a:pPr indent="0" lvl="0" marL="0" rtl="0" algn="l">
              <a:lnSpc>
                <a:spcPct val="100000"/>
              </a:lnSpc>
              <a:spcBef>
                <a:spcPts val="0"/>
              </a:spcBef>
              <a:spcAft>
                <a:spcPts val="0"/>
              </a:spcAft>
              <a:buNone/>
            </a:pPr>
            <a:r>
              <a:rPr lang="en" sz="850">
                <a:latin typeface="Consolas"/>
                <a:ea typeface="Consolas"/>
                <a:cs typeface="Consolas"/>
                <a:sym typeface="Consolas"/>
              </a:rPr>
              <a:t>          }</a:t>
            </a:r>
            <a:endParaRPr sz="850">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const text = await res.text();</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addHistory('RECV', text);</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applyResponse(text.trim());</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 catch (err) {</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applyResponse('ERROR: ' + err.message);</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t>
            </a:r>
            <a:endParaRPr sz="850">
              <a:solidFill>
                <a:srgbClr val="B7B7B7"/>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850">
                <a:solidFill>
                  <a:srgbClr val="B7B7B7"/>
                </a:solidFill>
                <a:highlight>
                  <a:srgbClr val="FFFFFF"/>
                </a:highlight>
                <a:latin typeface="Consolas"/>
                <a:ea typeface="Consolas"/>
                <a:cs typeface="Consolas"/>
                <a:sym typeface="Consolas"/>
              </a:rPr>
              <a:t>    }</a:t>
            </a:r>
            <a:endParaRPr sz="850">
              <a:solidFill>
                <a:srgbClr val="B7B7B7"/>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issue crept in when we added something new to the request header. The client now sends us a message asking if it has permission to use that field. While a minor pain, it's better to have the additional layer of security. We'll need to tell the client, it is okay to use.</a:t>
            </a:r>
            <a:endParaRPr/>
          </a:p>
        </p:txBody>
      </p:sp>
      <p:sp>
        <p:nvSpPr>
          <p:cNvPr id="599" name="Google Shape;599;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0" name="Google Shape;600;p64"/>
          <p:cNvSpPr txBox="1"/>
          <p:nvPr>
            <p:ph idx="2" type="body"/>
          </p:nvPr>
        </p:nvSpPr>
        <p:spPr>
          <a:xfrm>
            <a:off x="3165300" y="1804350"/>
            <a:ext cx="5775900" cy="2668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Luckily</a:t>
            </a:r>
            <a:r>
              <a:rPr lang="en"/>
              <a:t> we were prepared for this. The </a:t>
            </a:r>
            <a:r>
              <a:rPr lang="en">
                <a:latin typeface="Courier New"/>
                <a:ea typeface="Courier New"/>
                <a:cs typeface="Courier New"/>
                <a:sym typeface="Courier New"/>
              </a:rPr>
              <a:t>buildOptionsResponse</a:t>
            </a:r>
            <a:r>
              <a:rPr lang="en"/>
              <a:t> in </a:t>
            </a:r>
            <a:r>
              <a:rPr lang="en">
                <a:latin typeface="Courier New"/>
                <a:ea typeface="Courier New"/>
                <a:cs typeface="Courier New"/>
                <a:sym typeface="Courier New"/>
              </a:rPr>
              <a:t>HttpResponseBuilder</a:t>
            </a:r>
            <a:r>
              <a:rPr lang="en"/>
              <a:t> was created for this purpose.</a:t>
            </a:r>
            <a:endParaRPr/>
          </a:p>
          <a:p>
            <a:pPr indent="-311150" lvl="0" marL="457200" rtl="0" algn="l">
              <a:spcBef>
                <a:spcPts val="1000"/>
              </a:spcBef>
              <a:spcAft>
                <a:spcPts val="0"/>
              </a:spcAft>
              <a:buSzPts val="1300"/>
              <a:buChar char="●"/>
            </a:pPr>
            <a:r>
              <a:rPr lang="en"/>
              <a:t>First add </a:t>
            </a:r>
            <a:r>
              <a:rPr lang="en">
                <a:latin typeface="Courier New"/>
                <a:ea typeface="Courier New"/>
                <a:cs typeface="Courier New"/>
                <a:sym typeface="Courier New"/>
              </a:rPr>
              <a:t>OPTIONS</a:t>
            </a:r>
            <a:r>
              <a:rPr lang="en"/>
              <a:t> as one of the values in </a:t>
            </a:r>
            <a:r>
              <a:rPr lang="en">
                <a:latin typeface="Courier New"/>
                <a:ea typeface="Courier New"/>
                <a:cs typeface="Courier New"/>
                <a:sym typeface="Courier New"/>
              </a:rPr>
              <a:t>Method</a:t>
            </a:r>
            <a:r>
              <a:rPr lang="en"/>
              <a:t> (see UML).</a:t>
            </a:r>
            <a:endParaRPr/>
          </a:p>
          <a:p>
            <a:pPr indent="-311150" lvl="0" marL="457200" rtl="0" algn="l">
              <a:spcBef>
                <a:spcPts val="1000"/>
              </a:spcBef>
              <a:spcAft>
                <a:spcPts val="0"/>
              </a:spcAft>
              <a:buSzPts val="1300"/>
              <a:buChar char="●"/>
            </a:pPr>
            <a:r>
              <a:rPr lang="en"/>
              <a:t>In </a:t>
            </a:r>
            <a:r>
              <a:rPr lang="en">
                <a:latin typeface="Courier New"/>
                <a:ea typeface="Courier New"/>
                <a:cs typeface="Courier New"/>
                <a:sym typeface="Courier New"/>
              </a:rPr>
              <a:t>HttpWebServer.handleClient</a:t>
            </a:r>
            <a:r>
              <a:rPr lang="en"/>
              <a:t> after parsing the request:</a:t>
            </a:r>
            <a:endParaRPr/>
          </a:p>
          <a:p>
            <a:pPr indent="-298450" lvl="1" marL="914400" rtl="0" algn="l">
              <a:spcBef>
                <a:spcPts val="0"/>
              </a:spcBef>
              <a:spcAft>
                <a:spcPts val="0"/>
              </a:spcAft>
              <a:buSzPts val="1100"/>
              <a:buChar char="○"/>
            </a:pPr>
            <a:r>
              <a:rPr lang="en"/>
              <a:t>Check to see if the request method is </a:t>
            </a:r>
            <a:r>
              <a:rPr lang="en">
                <a:latin typeface="Courier New"/>
                <a:ea typeface="Courier New"/>
                <a:cs typeface="Courier New"/>
                <a:sym typeface="Courier New"/>
              </a:rPr>
              <a:t>OPTIONS</a:t>
            </a:r>
            <a:endParaRPr>
              <a:latin typeface="Courier New"/>
              <a:ea typeface="Courier New"/>
              <a:cs typeface="Courier New"/>
              <a:sym typeface="Courier New"/>
            </a:endParaRPr>
          </a:p>
          <a:p>
            <a:pPr indent="-298450" lvl="1" marL="914400" rtl="0" algn="l">
              <a:spcBef>
                <a:spcPts val="0"/>
              </a:spcBef>
              <a:spcAft>
                <a:spcPts val="0"/>
              </a:spcAft>
              <a:buSzPts val="1100"/>
              <a:buChar char="○"/>
            </a:pPr>
            <a:r>
              <a:rPr lang="en"/>
              <a:t>If it is, use </a:t>
            </a:r>
            <a:r>
              <a:rPr lang="en">
                <a:latin typeface="Courier New"/>
                <a:ea typeface="Courier New"/>
                <a:cs typeface="Courier New"/>
                <a:sym typeface="Courier New"/>
              </a:rPr>
              <a:t>HttpResponseBuilder.buildOptionsResponse</a:t>
            </a:r>
            <a:r>
              <a:rPr lang="en"/>
              <a:t> to create a response</a:t>
            </a:r>
            <a:endParaRPr/>
          </a:p>
          <a:p>
            <a:pPr indent="-298450" lvl="1" marL="914400" rtl="0" algn="l">
              <a:spcBef>
                <a:spcPts val="0"/>
              </a:spcBef>
              <a:spcAft>
                <a:spcPts val="0"/>
              </a:spcAft>
              <a:buSzPts val="1100"/>
              <a:buChar char="○"/>
            </a:pPr>
            <a:r>
              <a:rPr lang="en"/>
              <a:t>Send the response to the client and return </a:t>
            </a:r>
            <a:endParaRPr/>
          </a:p>
          <a:p>
            <a:pPr indent="-311150" lvl="0" marL="457200" rtl="0" algn="l">
              <a:spcBef>
                <a:spcPts val="1000"/>
              </a:spcBef>
              <a:spcAft>
                <a:spcPts val="0"/>
              </a:spcAft>
              <a:buSzPts val="1300"/>
              <a:buChar char="●"/>
            </a:pPr>
            <a:r>
              <a:rPr lang="en"/>
              <a:t>Restart your server and verify everything is running as expected</a:t>
            </a:r>
            <a:endParaRPr/>
          </a:p>
          <a:p>
            <a:pPr indent="-298450" lvl="1" marL="914400" rtl="0" algn="l">
              <a:spcBef>
                <a:spcPts val="0"/>
              </a:spcBef>
              <a:spcAft>
                <a:spcPts val="1000"/>
              </a:spcAft>
              <a:buSzPts val="1100"/>
              <a:buChar char="○"/>
            </a:pPr>
            <a:r>
              <a:rPr lang="en"/>
              <a:t>Raise your hand if you are having a problem you can't solve</a:t>
            </a:r>
            <a:endParaRPr/>
          </a:p>
        </p:txBody>
      </p:sp>
      <p:sp>
        <p:nvSpPr>
          <p:cNvPr id="601" name="Google Shape;601;p64"/>
          <p:cNvSpPr txBox="1"/>
          <p:nvPr>
            <p:ph type="title"/>
          </p:nvPr>
        </p:nvSpPr>
        <p:spPr>
          <a:xfrm>
            <a:off x="1436850" y="9893"/>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Solving </a:t>
            </a:r>
            <a:r>
              <a:rPr lang="en"/>
              <a:t>Problems</a:t>
            </a:r>
            <a:endParaRPr/>
          </a:p>
        </p:txBody>
      </p:sp>
      <p:sp>
        <p:nvSpPr>
          <p:cNvPr id="602" name="Google Shape;602;p6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10.20</a:t>
            </a:r>
            <a:endParaRPr/>
          </a:p>
        </p:txBody>
      </p:sp>
      <p:sp>
        <p:nvSpPr>
          <p:cNvPr id="603" name="Google Shape;603;p64"/>
          <p:cNvSpPr txBox="1"/>
          <p:nvPr>
            <p:ph idx="4" type="body"/>
          </p:nvPr>
        </p:nvSpPr>
        <p:spPr>
          <a:xfrm>
            <a:off x="141600" y="4528375"/>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We'll need to manage OPTIONS in addition to GET and POST.</a:t>
            </a:r>
            <a:endParaRPr/>
          </a:p>
        </p:txBody>
      </p:sp>
      <p:pic>
        <p:nvPicPr>
          <p:cNvPr id="604" name="Google Shape;604;p64"/>
          <p:cNvPicPr preferRelativeResize="0"/>
          <p:nvPr/>
        </p:nvPicPr>
        <p:blipFill>
          <a:blip r:embed="rId3">
            <a:alphaModFix/>
          </a:blip>
          <a:stretch>
            <a:fillRect/>
          </a:stretch>
        </p:blipFill>
        <p:spPr>
          <a:xfrm>
            <a:off x="766813" y="1671975"/>
            <a:ext cx="1773275" cy="2805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5"/>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Everything works but now our generic server is locked into only working with guessing game.</a:t>
            </a:r>
            <a:endParaRPr/>
          </a:p>
          <a:p>
            <a:pPr indent="-311150" lvl="0" marL="457200" rtl="0" algn="l">
              <a:spcBef>
                <a:spcPts val="1000"/>
              </a:spcBef>
              <a:spcAft>
                <a:spcPts val="0"/>
              </a:spcAft>
              <a:buSzPts val="1300"/>
              <a:buChar char="●"/>
            </a:pPr>
            <a:r>
              <a:rPr lang="en"/>
              <a:t>What we really need is some way to store the object we want to construct in a variable.</a:t>
            </a:r>
            <a:endParaRPr/>
          </a:p>
          <a:p>
            <a:pPr indent="-298450" lvl="1" marL="914400" rtl="0" algn="l">
              <a:spcBef>
                <a:spcPts val="0"/>
              </a:spcBef>
              <a:spcAft>
                <a:spcPts val="0"/>
              </a:spcAft>
              <a:buSzPts val="1100"/>
              <a:buChar char="○"/>
            </a:pPr>
            <a:r>
              <a:rPr lang="en"/>
              <a:t>This way, it can be passed in rather than having to be hard coded</a:t>
            </a:r>
            <a:endParaRPr/>
          </a:p>
          <a:p>
            <a:pPr indent="-311150" lvl="0" marL="457200" rtl="0" algn="l">
              <a:spcBef>
                <a:spcPts val="1000"/>
              </a:spcBef>
              <a:spcAft>
                <a:spcPts val="0"/>
              </a:spcAft>
              <a:buSzPts val="1300"/>
              <a:buChar char="●"/>
            </a:pPr>
            <a:r>
              <a:rPr lang="en"/>
              <a:t>At first this might feel almost impossible but it's actually pretty simple, thanks to functional interfaces.</a:t>
            </a:r>
            <a:endParaRPr/>
          </a:p>
          <a:p>
            <a:pPr indent="-311150" lvl="0" marL="457200" rtl="0" algn="l">
              <a:spcBef>
                <a:spcPts val="1000"/>
              </a:spcBef>
              <a:spcAft>
                <a:spcPts val="0"/>
              </a:spcAft>
              <a:buSzPts val="1300"/>
              <a:buChar char="●"/>
            </a:pPr>
            <a:r>
              <a:rPr lang="en"/>
              <a:t>In effect, we'll create a reference to a classes constructor that we can call on demand.</a:t>
            </a:r>
            <a:endParaRPr/>
          </a:p>
          <a:p>
            <a:pPr indent="-311150" lvl="0" marL="457200" rtl="0" algn="l">
              <a:spcBef>
                <a:spcPts val="1000"/>
              </a:spcBef>
              <a:spcAft>
                <a:spcPts val="0"/>
              </a:spcAft>
              <a:buSzPts val="1300"/>
              <a:buChar char="●"/>
            </a:pPr>
            <a:r>
              <a:rPr lang="en"/>
              <a:t>To do this we'll use the </a:t>
            </a:r>
            <a:r>
              <a:rPr lang="en">
                <a:latin typeface="Courier New"/>
                <a:ea typeface="Courier New"/>
                <a:cs typeface="Courier New"/>
                <a:sym typeface="Courier New"/>
              </a:rPr>
              <a:t>Supplier&lt;T&gt;</a:t>
            </a:r>
            <a:r>
              <a:rPr lang="en"/>
              <a:t> interface.</a:t>
            </a:r>
            <a:endParaRPr/>
          </a:p>
          <a:p>
            <a:pPr indent="-298450" lvl="1" marL="914400" rtl="0" algn="l">
              <a:spcBef>
                <a:spcPts val="0"/>
              </a:spcBef>
              <a:spcAft>
                <a:spcPts val="0"/>
              </a:spcAft>
              <a:buSzPts val="1100"/>
              <a:buChar char="○"/>
            </a:pPr>
            <a:r>
              <a:rPr lang="en"/>
              <a:t>Found in </a:t>
            </a:r>
            <a:r>
              <a:rPr lang="en">
                <a:latin typeface="Courier New"/>
                <a:ea typeface="Courier New"/>
                <a:cs typeface="Courier New"/>
                <a:sym typeface="Courier New"/>
              </a:rPr>
              <a:t>java.util.function.Supplier</a:t>
            </a:r>
            <a:endParaRPr>
              <a:latin typeface="Courier New"/>
              <a:ea typeface="Courier New"/>
              <a:cs typeface="Courier New"/>
              <a:sym typeface="Courier New"/>
            </a:endParaRPr>
          </a:p>
          <a:p>
            <a:pPr indent="-298450" lvl="1" marL="914400" rtl="0" algn="l">
              <a:spcBef>
                <a:spcPts val="0"/>
              </a:spcBef>
              <a:spcAft>
                <a:spcPts val="0"/>
              </a:spcAft>
              <a:buSzPts val="1100"/>
              <a:buChar char="○"/>
            </a:pPr>
            <a:r>
              <a:rPr lang="en"/>
              <a:t>Has a single method named </a:t>
            </a:r>
            <a:r>
              <a:rPr lang="en">
                <a:latin typeface="Courier New"/>
                <a:ea typeface="Courier New"/>
                <a:cs typeface="Courier New"/>
                <a:sym typeface="Courier New"/>
              </a:rPr>
              <a:t>get()</a:t>
            </a:r>
            <a:endParaRPr>
              <a:latin typeface="Courier New"/>
              <a:ea typeface="Courier New"/>
              <a:cs typeface="Courier New"/>
              <a:sym typeface="Courier New"/>
            </a:endParaRPr>
          </a:p>
          <a:p>
            <a:pPr indent="-298450" lvl="1" marL="914400" rtl="0" algn="l">
              <a:spcBef>
                <a:spcPts val="0"/>
              </a:spcBef>
              <a:spcAft>
                <a:spcPts val="0"/>
              </a:spcAft>
              <a:buSzPts val="1100"/>
              <a:buChar char="○"/>
            </a:pPr>
            <a:r>
              <a:rPr lang="en"/>
              <a:t>Used to encapsulate a </a:t>
            </a:r>
            <a:r>
              <a:rPr b="1" i="1" lang="en">
                <a:solidFill>
                  <a:srgbClr val="FF0000"/>
                </a:solidFill>
              </a:rPr>
              <a:t>method that creates a class</a:t>
            </a:r>
            <a:r>
              <a:rPr lang="en"/>
              <a:t> as a functional interface</a:t>
            </a:r>
            <a:endParaRPr/>
          </a:p>
        </p:txBody>
      </p:sp>
      <p:sp>
        <p:nvSpPr>
          <p:cNvPr id="610" name="Google Shape;610;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1" name="Google Shape;611;p65"/>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Supplier</a:t>
            </a:r>
            <a:endParaRPr/>
          </a:p>
        </p:txBody>
      </p:sp>
      <p:sp>
        <p:nvSpPr>
          <p:cNvPr id="612" name="Google Shape;612;p65"/>
          <p:cNvSpPr txBox="1"/>
          <p:nvPr>
            <p:ph idx="2" type="body"/>
          </p:nvPr>
        </p:nvSpPr>
        <p:spPr>
          <a:xfrm>
            <a:off x="315425" y="1286175"/>
            <a:ext cx="3706500" cy="2759700"/>
          </a:xfrm>
          <a:prstGeom prst="rect">
            <a:avLst/>
          </a:prstGeom>
          <a:solidFill>
            <a:schemeClr val="lt1"/>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a:t>
            </a:r>
            <a:r>
              <a:rPr lang="en" sz="1050">
                <a:solidFill>
                  <a:srgbClr val="0000FF"/>
                </a:solidFill>
                <a:highlight>
                  <a:srgbClr val="FFFFFF"/>
                </a:highlight>
                <a:latin typeface="Consolas"/>
                <a:ea typeface="Consolas"/>
                <a:cs typeface="Consolas"/>
                <a:sym typeface="Consolas"/>
              </a:rPr>
              <a:t>  public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interface</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Supplier</a:t>
            </a:r>
            <a:r>
              <a:rPr lang="en" sz="1050">
                <a:solidFill>
                  <a:srgbClr val="3B3B3B"/>
                </a:solidFill>
                <a:highlight>
                  <a:srgbClr val="FFFFFF"/>
                </a:highlight>
                <a:latin typeface="Consolas"/>
                <a:ea typeface="Consolas"/>
                <a:cs typeface="Consolas"/>
                <a:sym typeface="Consolas"/>
              </a:rPr>
              <a:t>&lt;</a:t>
            </a:r>
            <a:r>
              <a:rPr lang="en" sz="1050">
                <a:solidFill>
                  <a:srgbClr val="267F99"/>
                </a:solidFill>
                <a:highlight>
                  <a:srgbClr val="FFFFFF"/>
                </a:highlight>
                <a:latin typeface="Consolas"/>
                <a:ea typeface="Consolas"/>
                <a:cs typeface="Consolas"/>
                <a:sym typeface="Consolas"/>
              </a:rPr>
              <a:t>T</a:t>
            </a:r>
            <a:r>
              <a:rPr lang="en" sz="1050">
                <a:solidFill>
                  <a:srgbClr val="3B3B3B"/>
                </a:solidFill>
                <a:highlight>
                  <a:srgbClr val="FFFFFF"/>
                </a:highlight>
                <a:latin typeface="Consolas"/>
                <a:ea typeface="Consolas"/>
                <a:cs typeface="Consolas"/>
                <a:sym typeface="Consolas"/>
              </a:rPr>
              <a:t>&gt;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2</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T</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get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3</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4</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5 </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toString</a:t>
            </a:r>
            <a:r>
              <a:rPr lang="en" sz="1050">
                <a:solidFill>
                  <a:srgbClr val="3B3B3B"/>
                </a:solidFill>
                <a:highlight>
                  <a:srgbClr val="FFFFFF"/>
                </a:highlight>
                <a:latin typeface="Consolas"/>
                <a:ea typeface="Consolas"/>
                <a:cs typeface="Consolas"/>
                <a:sym typeface="Consolas"/>
              </a:rPr>
              <a:t> ()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6</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return</a:t>
            </a:r>
            <a:r>
              <a:rPr lang="en" sz="1050">
                <a:solidFill>
                  <a:srgbClr val="3B3B3B"/>
                </a:solidFill>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"My class string"</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7</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8</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9</a:t>
            </a:r>
            <a:endParaRPr sz="1050">
              <a:solidFill>
                <a:schemeClr val="accent5"/>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10</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static</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main</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args</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11</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Supplier</a:t>
            </a:r>
            <a:r>
              <a:rPr lang="en" sz="1050">
                <a:solidFill>
                  <a:srgbClr val="3B3B3B"/>
                </a:solidFill>
                <a:highlight>
                  <a:srgbClr val="FFFFFF"/>
                </a:highlight>
                <a:latin typeface="Consolas"/>
                <a:ea typeface="Consolas"/>
                <a:cs typeface="Consolas"/>
                <a:sym typeface="Consolas"/>
              </a:rPr>
              <a:t>&lt;</a:t>
            </a:r>
            <a:r>
              <a:rPr lang="en" sz="1050">
                <a:solidFill>
                  <a:srgbClr val="267F99"/>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&gt; </a:t>
            </a:r>
            <a:r>
              <a:rPr lang="en" sz="1050">
                <a:solidFill>
                  <a:srgbClr val="001080"/>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12</a:t>
            </a:r>
            <a:r>
              <a:rPr lang="en" sz="1050">
                <a:solidFill>
                  <a:srgbClr val="3B3B3B"/>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-&gt;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13</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instance</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myClass</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get</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14</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instance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15</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chemeClr val="accent5"/>
                </a:solidFill>
                <a:highlight>
                  <a:srgbClr val="FFFFFF"/>
                </a:highlight>
                <a:latin typeface="Consolas"/>
                <a:ea typeface="Consolas"/>
                <a:cs typeface="Consolas"/>
                <a:sym typeface="Consolas"/>
              </a:rPr>
              <a:t>16</a:t>
            </a:r>
            <a:r>
              <a:rPr lang="en" sz="1050">
                <a:solidFill>
                  <a:srgbClr val="3B3B3B"/>
                </a:solidFill>
                <a:highlight>
                  <a:srgbClr val="FFFFFF"/>
                </a:highlight>
                <a:latin typeface="Consolas"/>
                <a:ea typeface="Consolas"/>
                <a:cs typeface="Consolas"/>
                <a:sym typeface="Consolas"/>
              </a:rPr>
              <a:t> }</a:t>
            </a:r>
            <a:endParaRPr/>
          </a:p>
        </p:txBody>
      </p:sp>
      <p:sp>
        <p:nvSpPr>
          <p:cNvPr id="613" name="Google Shape;613;p65"/>
          <p:cNvSpPr txBox="1"/>
          <p:nvPr>
            <p:ph idx="3" type="body"/>
          </p:nvPr>
        </p:nvSpPr>
        <p:spPr>
          <a:xfrm>
            <a:off x="315425" y="4125872"/>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above is an example implementation of the Supplier interface and an example of how it could be used to store a constructor.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6"/>
          <p:cNvSpPr txBox="1"/>
          <p:nvPr>
            <p:ph type="title"/>
          </p:nvPr>
        </p:nvSpPr>
        <p:spPr>
          <a:xfrm>
            <a:off x="1436850" y="9893"/>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Server Updates II</a:t>
            </a:r>
            <a:endParaRPr/>
          </a:p>
        </p:txBody>
      </p:sp>
      <p:sp>
        <p:nvSpPr>
          <p:cNvPr id="619" name="Google Shape;619;p66"/>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One last step to get our server working with any client rather than only guessing game. We'll need to store the implementation constructor in a Supplier and call it from the supplier instead of directly.</a:t>
            </a:r>
            <a:endParaRPr/>
          </a:p>
        </p:txBody>
      </p:sp>
      <p:sp>
        <p:nvSpPr>
          <p:cNvPr id="620" name="Google Shape;620;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1" name="Google Shape;621;p66"/>
          <p:cNvSpPr txBox="1"/>
          <p:nvPr>
            <p:ph idx="4" type="body"/>
          </p:nvPr>
        </p:nvSpPr>
        <p:spPr>
          <a:xfrm>
            <a:off x="141600" y="4313358"/>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Using a </a:t>
            </a:r>
            <a:r>
              <a:rPr b="1" i="1" lang="en">
                <a:solidFill>
                  <a:srgbClr val="FF0000"/>
                </a:solidFill>
              </a:rPr>
              <a:t>supplier</a:t>
            </a:r>
            <a:r>
              <a:rPr lang="en"/>
              <a:t> let's re-generalize our server to work with any type of </a:t>
            </a:r>
            <a:r>
              <a:rPr lang="en">
                <a:latin typeface="Courier New"/>
                <a:ea typeface="Courier New"/>
                <a:cs typeface="Courier New"/>
                <a:sym typeface="Courier New"/>
              </a:rPr>
              <a:t>RequestHandler</a:t>
            </a:r>
            <a:r>
              <a:rPr lang="en"/>
              <a:t>.</a:t>
            </a:r>
            <a:endParaRPr/>
          </a:p>
        </p:txBody>
      </p:sp>
      <p:sp>
        <p:nvSpPr>
          <p:cNvPr id="622" name="Google Shape;622;p66"/>
          <p:cNvSpPr txBox="1"/>
          <p:nvPr>
            <p:ph idx="2" type="body"/>
          </p:nvPr>
        </p:nvSpPr>
        <p:spPr>
          <a:xfrm>
            <a:off x="3165300" y="1729125"/>
            <a:ext cx="5775900" cy="2464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a:t>
            </a:r>
            <a:r>
              <a:rPr lang="en">
                <a:latin typeface="Courier New"/>
                <a:ea typeface="Courier New"/>
                <a:cs typeface="Courier New"/>
                <a:sym typeface="Courier New"/>
              </a:rPr>
              <a:t>HttpWebServer</a:t>
            </a:r>
            <a:r>
              <a:rPr lang="en"/>
              <a:t>:</a:t>
            </a:r>
            <a:endParaRPr/>
          </a:p>
          <a:p>
            <a:pPr indent="-298450" lvl="1" marL="914400" rtl="0" algn="l">
              <a:spcBef>
                <a:spcPts val="0"/>
              </a:spcBef>
              <a:spcAft>
                <a:spcPts val="0"/>
              </a:spcAft>
              <a:buSzPts val="1100"/>
              <a:buChar char="○"/>
            </a:pPr>
            <a:r>
              <a:rPr lang="en"/>
              <a:t>Add a </a:t>
            </a:r>
            <a:r>
              <a:rPr lang="en">
                <a:latin typeface="Courier New"/>
                <a:ea typeface="Courier New"/>
                <a:cs typeface="Courier New"/>
                <a:sym typeface="Courier New"/>
              </a:rPr>
              <a:t>Supplier&lt;RequestHandler&gt;</a:t>
            </a:r>
            <a:r>
              <a:rPr lang="en"/>
              <a:t> to the class</a:t>
            </a:r>
            <a:endParaRPr/>
          </a:p>
          <a:p>
            <a:pPr indent="-298450" lvl="1" marL="914400" rtl="0" algn="l">
              <a:spcBef>
                <a:spcPts val="0"/>
              </a:spcBef>
              <a:spcAft>
                <a:spcPts val="0"/>
              </a:spcAft>
              <a:buSzPts val="1100"/>
              <a:buChar char="○"/>
            </a:pPr>
            <a:r>
              <a:rPr lang="en"/>
              <a:t>Pass in the supplier through the constructor</a:t>
            </a:r>
            <a:endParaRPr/>
          </a:p>
          <a:p>
            <a:pPr indent="-298450" lvl="1" marL="914400" rtl="0" algn="l">
              <a:spcBef>
                <a:spcPts val="0"/>
              </a:spcBef>
              <a:spcAft>
                <a:spcPts val="0"/>
              </a:spcAft>
              <a:buSzPts val="1100"/>
              <a:buChar char="○"/>
            </a:pPr>
            <a:r>
              <a:rPr lang="en"/>
              <a:t>In handleClient, change the call to </a:t>
            </a:r>
            <a:r>
              <a:rPr lang="en">
                <a:latin typeface="Courier New"/>
                <a:ea typeface="Courier New"/>
                <a:cs typeface="Courier New"/>
                <a:sym typeface="Courier New"/>
              </a:rPr>
              <a:t>new GuessingGameImpl</a:t>
            </a:r>
            <a:r>
              <a:rPr lang="en"/>
              <a:t> to be </a:t>
            </a:r>
            <a:r>
              <a:rPr lang="en">
                <a:latin typeface="Courier New"/>
                <a:ea typeface="Courier New"/>
                <a:cs typeface="Courier New"/>
                <a:sym typeface="Courier New"/>
              </a:rPr>
              <a:t>supplier.get()</a:t>
            </a:r>
            <a:endParaRPr>
              <a:latin typeface="Courier New"/>
              <a:ea typeface="Courier New"/>
              <a:cs typeface="Courier New"/>
              <a:sym typeface="Courier New"/>
            </a:endParaRPr>
          </a:p>
          <a:p>
            <a:pPr indent="-311150" lvl="0" marL="457200" rtl="0" algn="l">
              <a:spcBef>
                <a:spcPts val="1000"/>
              </a:spcBef>
              <a:spcAft>
                <a:spcPts val="0"/>
              </a:spcAft>
              <a:buSzPts val="1300"/>
              <a:buChar char="●"/>
            </a:pPr>
            <a:r>
              <a:rPr lang="en"/>
              <a:t>In </a:t>
            </a:r>
            <a:r>
              <a:rPr lang="en">
                <a:latin typeface="Courier New"/>
                <a:ea typeface="Courier New"/>
                <a:cs typeface="Courier New"/>
                <a:sym typeface="Courier New"/>
              </a:rPr>
              <a:t>GuessingGameServer</a:t>
            </a:r>
            <a:r>
              <a:rPr lang="en"/>
              <a:t>, when creating the </a:t>
            </a:r>
            <a:r>
              <a:rPr lang="en">
                <a:latin typeface="Courier New"/>
                <a:ea typeface="Courier New"/>
                <a:cs typeface="Courier New"/>
                <a:sym typeface="Courier New"/>
              </a:rPr>
              <a:t>HttpWebServer</a:t>
            </a:r>
            <a:r>
              <a:rPr lang="en"/>
              <a:t>:</a:t>
            </a:r>
            <a:endParaRPr/>
          </a:p>
          <a:p>
            <a:pPr indent="-298450" lvl="1" marL="914400" rtl="0" algn="l">
              <a:spcBef>
                <a:spcPts val="0"/>
              </a:spcBef>
              <a:spcAft>
                <a:spcPts val="0"/>
              </a:spcAft>
              <a:buSzPts val="1100"/>
              <a:buChar char="○"/>
            </a:pPr>
            <a:r>
              <a:rPr lang="en"/>
              <a:t>Pass in a reference to the </a:t>
            </a:r>
            <a:r>
              <a:rPr lang="en">
                <a:latin typeface="Courier New"/>
                <a:ea typeface="Courier New"/>
                <a:cs typeface="Courier New"/>
                <a:sym typeface="Courier New"/>
              </a:rPr>
              <a:t>GuessingGameImpl</a:t>
            </a:r>
            <a:r>
              <a:rPr lang="en"/>
              <a:t>'s constructor</a:t>
            </a:r>
            <a:endParaRPr/>
          </a:p>
          <a:p>
            <a:pPr indent="-298450" lvl="1" marL="914400" rtl="0" algn="l">
              <a:spcBef>
                <a:spcPts val="0"/>
              </a:spcBef>
              <a:spcAft>
                <a:spcPts val="0"/>
              </a:spcAft>
              <a:buSzPts val="1100"/>
              <a:buChar char="○"/>
            </a:pPr>
            <a:r>
              <a:rPr lang="en"/>
              <a:t>Use </a:t>
            </a:r>
            <a:r>
              <a:rPr lang="en">
                <a:latin typeface="Courier New"/>
                <a:ea typeface="Courier New"/>
                <a:cs typeface="Courier New"/>
                <a:sym typeface="Courier New"/>
              </a:rPr>
              <a:t>()-&gt; new GuessingGameImpl()</a:t>
            </a:r>
            <a:endParaRPr>
              <a:latin typeface="Courier New"/>
              <a:ea typeface="Courier New"/>
              <a:cs typeface="Courier New"/>
              <a:sym typeface="Courier New"/>
            </a:endParaRPr>
          </a:p>
          <a:p>
            <a:pPr indent="-298450" lvl="1" marL="914400" rtl="0" algn="l">
              <a:spcBef>
                <a:spcPts val="0"/>
              </a:spcBef>
              <a:spcAft>
                <a:spcPts val="0"/>
              </a:spcAft>
              <a:buSzPts val="1100"/>
              <a:buChar char="○"/>
            </a:pPr>
            <a:r>
              <a:rPr lang="en"/>
              <a:t>Or </a:t>
            </a:r>
            <a:r>
              <a:rPr lang="en">
                <a:latin typeface="Courier New"/>
                <a:ea typeface="Courier New"/>
                <a:cs typeface="Courier New"/>
                <a:sym typeface="Courier New"/>
              </a:rPr>
              <a:t>GuessingGameImpl::new</a:t>
            </a:r>
            <a:endParaRPr>
              <a:latin typeface="Courier New"/>
              <a:ea typeface="Courier New"/>
              <a:cs typeface="Courier New"/>
              <a:sym typeface="Courier New"/>
            </a:endParaRPr>
          </a:p>
          <a:p>
            <a:pPr indent="-311150" lvl="0" marL="457200" rtl="0" algn="l">
              <a:spcBef>
                <a:spcPts val="1000"/>
              </a:spcBef>
              <a:spcAft>
                <a:spcPts val="0"/>
              </a:spcAft>
              <a:buSzPts val="1300"/>
              <a:buChar char="●"/>
            </a:pPr>
            <a:r>
              <a:rPr lang="en"/>
              <a:t>Rerun your server and ensure the ractor worked correctly.</a:t>
            </a:r>
            <a:endParaRPr/>
          </a:p>
        </p:txBody>
      </p:sp>
      <p:sp>
        <p:nvSpPr>
          <p:cNvPr id="623" name="Google Shape;623;p6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10.21</a:t>
            </a:r>
            <a:endParaRPr/>
          </a:p>
        </p:txBody>
      </p:sp>
      <p:pic>
        <p:nvPicPr>
          <p:cNvPr id="624" name="Google Shape;624;p66"/>
          <p:cNvPicPr preferRelativeResize="0"/>
          <p:nvPr/>
        </p:nvPicPr>
        <p:blipFill>
          <a:blip r:embed="rId3">
            <a:alphaModFix/>
          </a:blip>
          <a:stretch>
            <a:fillRect/>
          </a:stretch>
        </p:blipFill>
        <p:spPr>
          <a:xfrm>
            <a:off x="141600" y="1729125"/>
            <a:ext cx="3023700" cy="239179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7"/>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We're all done! However, our UI is probably a little </a:t>
            </a:r>
            <a:r>
              <a:rPr lang="en"/>
              <a:t>boring</a:t>
            </a:r>
            <a:r>
              <a:rPr lang="en"/>
              <a:t> looking. There is so much more that a modern web page can do. If you have time, try and use AI to spruce up your drinking age and guessing game html.</a:t>
            </a:r>
            <a:endParaRPr/>
          </a:p>
        </p:txBody>
      </p:sp>
      <p:sp>
        <p:nvSpPr>
          <p:cNvPr id="630" name="Google Shape;630;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1" name="Google Shape;631;p67"/>
          <p:cNvSpPr txBox="1"/>
          <p:nvPr>
            <p:ph idx="2" type="body"/>
          </p:nvPr>
        </p:nvSpPr>
        <p:spPr>
          <a:xfrm>
            <a:off x="3405425" y="1798325"/>
            <a:ext cx="5535900" cy="1915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Use AI to add some flair to the HTML files we created.</a:t>
            </a:r>
            <a:endParaRPr/>
          </a:p>
          <a:p>
            <a:pPr indent="-298450" lvl="1" marL="914400" rtl="0" algn="l">
              <a:spcBef>
                <a:spcPts val="0"/>
              </a:spcBef>
              <a:spcAft>
                <a:spcPts val="0"/>
              </a:spcAft>
              <a:buSzPts val="1100"/>
              <a:buChar char="○"/>
            </a:pPr>
            <a:r>
              <a:rPr lang="en"/>
              <a:t>Occasionally AI can delete needed code when making additions, for this reason you may want to create new files with the changes rather than purely updating.</a:t>
            </a:r>
            <a:endParaRPr/>
          </a:p>
          <a:p>
            <a:pPr indent="-311150" lvl="0" marL="457200" rtl="0" algn="l">
              <a:spcBef>
                <a:spcPts val="1000"/>
              </a:spcBef>
              <a:spcAft>
                <a:spcPts val="0"/>
              </a:spcAft>
              <a:buSzPts val="1300"/>
              <a:buChar char="●"/>
            </a:pPr>
            <a:r>
              <a:rPr lang="en"/>
              <a:t>See what your seatmates are also doing. </a:t>
            </a:r>
            <a:endParaRPr/>
          </a:p>
          <a:p>
            <a:pPr indent="-311150" lvl="0" marL="457200" rtl="0" algn="l">
              <a:spcBef>
                <a:spcPts val="1000"/>
              </a:spcBef>
              <a:spcAft>
                <a:spcPts val="0"/>
              </a:spcAft>
              <a:buSzPts val="1300"/>
              <a:buChar char="●"/>
            </a:pPr>
            <a:r>
              <a:rPr lang="en"/>
              <a:t>Feel free to talk about what prompts you used to get the desired results.</a:t>
            </a:r>
            <a:endParaRPr/>
          </a:p>
        </p:txBody>
      </p:sp>
      <p:sp>
        <p:nvSpPr>
          <p:cNvPr id="632" name="Google Shape;632;p67"/>
          <p:cNvSpPr txBox="1"/>
          <p:nvPr>
            <p:ph type="title"/>
          </p:nvPr>
        </p:nvSpPr>
        <p:spPr>
          <a:xfrm>
            <a:off x="1436850" y="1593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Bonus Round</a:t>
            </a:r>
            <a:endParaRPr/>
          </a:p>
        </p:txBody>
      </p:sp>
      <p:sp>
        <p:nvSpPr>
          <p:cNvPr id="633" name="Google Shape;633;p6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10.22</a:t>
            </a:r>
            <a:endParaRPr u="sng"/>
          </a:p>
        </p:txBody>
      </p:sp>
      <p:sp>
        <p:nvSpPr>
          <p:cNvPr id="634" name="Google Shape;634;p67"/>
          <p:cNvSpPr txBox="1"/>
          <p:nvPr>
            <p:ph idx="4" type="body"/>
          </p:nvPr>
        </p:nvSpPr>
        <p:spPr>
          <a:xfrm>
            <a:off x="124400" y="3873173"/>
            <a:ext cx="32808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This is what my </a:t>
            </a:r>
            <a:r>
              <a:rPr lang="en"/>
              <a:t>guessing</a:t>
            </a:r>
            <a:r>
              <a:rPr lang="en"/>
              <a:t> game looks like after instructioning the AI to "make it pretty".</a:t>
            </a:r>
            <a:endParaRPr/>
          </a:p>
        </p:txBody>
      </p:sp>
      <p:sp>
        <p:nvSpPr>
          <p:cNvPr id="635" name="Google Shape;635;p67"/>
          <p:cNvSpPr txBox="1"/>
          <p:nvPr>
            <p:ph idx="4" type="body"/>
          </p:nvPr>
        </p:nvSpPr>
        <p:spPr>
          <a:xfrm>
            <a:off x="124575" y="4520602"/>
            <a:ext cx="32808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I'm sure you can come up with something even better!</a:t>
            </a:r>
            <a:endParaRPr/>
          </a:p>
        </p:txBody>
      </p:sp>
      <p:pic>
        <p:nvPicPr>
          <p:cNvPr id="636" name="Google Shape;636;p67"/>
          <p:cNvPicPr preferRelativeResize="0"/>
          <p:nvPr/>
        </p:nvPicPr>
        <p:blipFill>
          <a:blip r:embed="rId3">
            <a:alphaModFix/>
          </a:blip>
          <a:stretch>
            <a:fillRect/>
          </a:stretch>
        </p:blipFill>
        <p:spPr>
          <a:xfrm>
            <a:off x="124625" y="1681145"/>
            <a:ext cx="3280800" cy="2090934"/>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8"/>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642" name="Google Shape;642;p68"/>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643" name="Google Shape;643;p68"/>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644" name="Google Shape;644;p68"/>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645" name="Google Shape;645;p68"/>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646" name="Google Shape;646;p68"/>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647" name="Google Shape;647;p68"/>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648" name="Google Shape;648;p68"/>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HTTP</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GET</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POST</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Separation</a:t>
            </a:r>
            <a:r>
              <a:rPr lang="en" sz="1600">
                <a:solidFill>
                  <a:srgbClr val="FF0000"/>
                </a:solidFill>
                <a:latin typeface="Shadows Into Light"/>
                <a:ea typeface="Shadows Into Light"/>
                <a:cs typeface="Shadows Into Light"/>
                <a:sym typeface="Shadows Into Light"/>
              </a:rPr>
              <a:t> of Concerns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HTTP Server</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Request Handler</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Guessing Game</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Protocols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Supplier&lt;T&gt;</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AI HTML generation</a:t>
            </a:r>
            <a:endParaRPr sz="1600">
              <a:solidFill>
                <a:srgbClr val="FF0000"/>
              </a:solidFill>
              <a:latin typeface="Shadows Into Light"/>
              <a:ea typeface="Shadows Into Light"/>
              <a:cs typeface="Shadows Into Light"/>
              <a:sym typeface="Shadows Into Light"/>
            </a:endParaRPr>
          </a:p>
        </p:txBody>
      </p:sp>
      <p:sp>
        <p:nvSpPr>
          <p:cNvPr id="649" name="Google Shape;649;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graphicFrame>
        <p:nvGraphicFramePr>
          <p:cNvPr id="654" name="Google Shape;654;p69"/>
          <p:cNvGraphicFramePr/>
          <p:nvPr/>
        </p:nvGraphicFramePr>
        <p:xfrm>
          <a:off x="-10" y="-9"/>
          <a:ext cx="3000000" cy="3000000"/>
        </p:xfrm>
        <a:graphic>
          <a:graphicData uri="http://schemas.openxmlformats.org/drawingml/2006/table">
            <a:tbl>
              <a:tblPr>
                <a:noFill/>
                <a:tableStyleId>{BF7C4C70-6B9B-4779-A020-29D47D630658}</a:tableStyleId>
              </a:tblPr>
              <a:tblGrid>
                <a:gridCol w="389750"/>
                <a:gridCol w="2148200"/>
                <a:gridCol w="2034050"/>
                <a:gridCol w="4571975"/>
              </a:tblGrid>
              <a:tr h="1326025">
                <a:tc rowSpan="4">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a:txBody>
                    <a:bodyPr/>
                    <a:lstStyle/>
                    <a:p>
                      <a:pPr indent="0" lvl="0" marL="0" rtl="0" algn="l">
                        <a:spcBef>
                          <a:spcPts val="0"/>
                        </a:spcBef>
                        <a:spcAft>
                          <a:spcPts val="0"/>
                        </a:spcAft>
                        <a:buNone/>
                      </a:pPr>
                      <a:r>
                        <a:rPr lang="en" sz="1000" u="sng">
                          <a:solidFill>
                            <a:schemeClr val="hlink"/>
                          </a:solidFill>
                          <a:hlinkClick r:id="rId3"/>
                        </a:rPr>
                        <a:t>InetAddress</a:t>
                      </a:r>
                      <a:endParaRPr sz="1000"/>
                    </a:p>
                    <a:p>
                      <a:pPr indent="0" lvl="0" marL="0" rtl="0" algn="l">
                        <a:spcBef>
                          <a:spcPts val="0"/>
                        </a:spcBef>
                        <a:spcAft>
                          <a:spcPts val="0"/>
                        </a:spcAft>
                        <a:buNone/>
                      </a:pPr>
                      <a:r>
                        <a:rPr b="1" lang="en" sz="1000">
                          <a:latin typeface="Courier New"/>
                          <a:ea typeface="Courier New"/>
                          <a:cs typeface="Courier New"/>
                          <a:sym typeface="Courier New"/>
                        </a:rPr>
                        <a:t>java.net.InetAddress</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getByName(String host)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getLocalHost()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br>
                        <a:rPr lang="en" sz="1000"/>
                      </a:br>
                      <a:br>
                        <a:rPr lang="en" sz="1000">
                          <a:latin typeface="Courier New"/>
                          <a:ea typeface="Courier New"/>
                          <a:cs typeface="Courier New"/>
                          <a:sym typeface="Courier New"/>
                        </a:rPr>
                      </a:br>
                      <a:r>
                        <a:rPr lang="en" sz="1000">
                          <a:latin typeface="Courier New"/>
                          <a:ea typeface="Courier New"/>
                          <a:cs typeface="Courier New"/>
                          <a:sym typeface="Courier New"/>
                        </a:rPr>
                        <a:t>getHostAddress()</a:t>
                      </a:r>
                      <a:br>
                        <a:rPr lang="en" sz="1000">
                          <a:latin typeface="Courier New"/>
                          <a:ea typeface="Courier New"/>
                          <a:cs typeface="Courier New"/>
                          <a:sym typeface="Courier New"/>
                        </a:rPr>
                      </a:br>
                      <a:r>
                        <a:rPr lang="en" sz="1000">
                          <a:latin typeface="Courier New"/>
                          <a:ea typeface="Courier New"/>
                          <a:cs typeface="Courier New"/>
                          <a:sym typeface="Courier New"/>
                        </a:rPr>
                        <a:t>getHostname()</a:t>
                      </a:r>
                      <a:endParaRPr sz="1000">
                        <a:latin typeface="Courier New"/>
                        <a:ea typeface="Courier New"/>
                        <a:cs typeface="Courier New"/>
                        <a:sym typeface="Courier New"/>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u="sng">
                          <a:solidFill>
                            <a:schemeClr val="hlink"/>
                          </a:solidFill>
                          <a:hlinkClick r:id="rId4"/>
                        </a:rPr>
                        <a:t>URL &amp; URLConnection</a:t>
                      </a:r>
                      <a:endParaRPr sz="1000"/>
                    </a:p>
                    <a:p>
                      <a:pPr indent="0" lvl="0" marL="0" rtl="0" algn="l">
                        <a:spcBef>
                          <a:spcPts val="0"/>
                        </a:spcBef>
                        <a:spcAft>
                          <a:spcPts val="0"/>
                        </a:spcAft>
                        <a:buNone/>
                      </a:pPr>
                      <a:r>
                        <a:rPr b="1" lang="en" sz="1000">
                          <a:latin typeface="Courier New"/>
                          <a:ea typeface="Courier New"/>
                          <a:cs typeface="Courier New"/>
                          <a:sym typeface="Courier New"/>
                        </a:rPr>
                        <a:t>java.net.URL</a:t>
                      </a:r>
                      <a:br>
                        <a:rPr lang="en" sz="1000">
                          <a:latin typeface="Courier New"/>
                          <a:ea typeface="Courier New"/>
                          <a:cs typeface="Courier New"/>
                          <a:sym typeface="Courier New"/>
                        </a:rPr>
                      </a:br>
                      <a:r>
                        <a:rPr lang="en" sz="1000">
                          <a:latin typeface="Courier New"/>
                          <a:ea typeface="Courier New"/>
                          <a:cs typeface="Courier New"/>
                          <a:sym typeface="Courier New"/>
                        </a:rPr>
                        <a:t>URL u = new URL(“http://nasa.gov/”);</a:t>
                      </a:r>
                      <a:br>
                        <a:rPr lang="en" sz="1000"/>
                      </a:br>
                      <a:r>
                        <a:rPr lang="en" sz="1000">
                          <a:latin typeface="Courier New"/>
                          <a:ea typeface="Courier New"/>
                          <a:cs typeface="Courier New"/>
                          <a:sym typeface="Courier New"/>
                        </a:rPr>
                        <a:t>openConnection()             getInputStream()</a:t>
                      </a:r>
                      <a:br>
                        <a:rPr lang="en" sz="1000">
                          <a:latin typeface="Courier New"/>
                          <a:ea typeface="Courier New"/>
                          <a:cs typeface="Courier New"/>
                          <a:sym typeface="Courier New"/>
                        </a:rPr>
                      </a:br>
                      <a:r>
                        <a:rPr lang="en" sz="1000">
                          <a:latin typeface="Courier New"/>
                          <a:ea typeface="Courier New"/>
                          <a:cs typeface="Courier New"/>
                          <a:sym typeface="Courier New"/>
                        </a:rPr>
                        <a:t>connect()                    getOutputStream()</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753775">
                <a:tc vMerge="1"/>
                <a:tc gridSpan="2">
                  <a:txBody>
                    <a:bodyPr/>
                    <a:lstStyle/>
                    <a:p>
                      <a:pPr indent="0" lvl="0" marL="0" rtl="0" algn="l">
                        <a:spcBef>
                          <a:spcPts val="0"/>
                        </a:spcBef>
                        <a:spcAft>
                          <a:spcPts val="0"/>
                        </a:spcAft>
                        <a:buNone/>
                      </a:pPr>
                      <a:r>
                        <a:rPr lang="en" sz="1000" u="sng">
                          <a:solidFill>
                            <a:schemeClr val="hlink"/>
                          </a:solidFill>
                          <a:hlinkClick r:id="rId5"/>
                        </a:rPr>
                        <a:t>Sockets</a:t>
                      </a:r>
                      <a:endParaRPr sz="1000"/>
                    </a:p>
                    <a:p>
                      <a:pPr indent="0" lvl="0" marL="0" rtl="0" algn="l">
                        <a:spcBef>
                          <a:spcPts val="0"/>
                        </a:spcBef>
                        <a:spcAft>
                          <a:spcPts val="0"/>
                        </a:spcAft>
                        <a:buNone/>
                      </a:pPr>
                      <a:r>
                        <a:rPr b="1" lang="en" sz="1000">
                          <a:latin typeface="Courier New"/>
                          <a:ea typeface="Courier New"/>
                          <a:cs typeface="Courier New"/>
                          <a:sym typeface="Courier New"/>
                        </a:rPr>
                        <a:t>java.net.Socket</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Socket sock = new Socket(“localhost”, 1234);</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a:txBody>
                    <a:bodyPr/>
                    <a:lstStyle/>
                    <a:p>
                      <a:pPr indent="0" lvl="0" marL="0" rtl="0" algn="l">
                        <a:spcBef>
                          <a:spcPts val="0"/>
                        </a:spcBef>
                        <a:spcAft>
                          <a:spcPts val="0"/>
                        </a:spcAft>
                        <a:buNone/>
                      </a:pPr>
                      <a:r>
                        <a:rPr lang="en" sz="1000" u="sng">
                          <a:solidFill>
                            <a:schemeClr val="hlink"/>
                          </a:solidFill>
                          <a:hlinkClick r:id="rId6"/>
                        </a:rPr>
                        <a:t>OutputStream &amp; PrintWriter</a:t>
                      </a:r>
                      <a:endParaRPr sz="1000"/>
                    </a:p>
                    <a:p>
                      <a:pPr indent="0" lvl="0" marL="0" rtl="0" algn="l">
                        <a:spcBef>
                          <a:spcPts val="0"/>
                        </a:spcBef>
                        <a:spcAft>
                          <a:spcPts val="0"/>
                        </a:spcAft>
                        <a:buNone/>
                      </a:pPr>
                      <a:r>
                        <a:rPr b="1" lang="en" sz="1000">
                          <a:latin typeface="Courier New"/>
                          <a:ea typeface="Courier New"/>
                          <a:cs typeface="Courier New"/>
                          <a:sym typeface="Courier New"/>
                        </a:rPr>
                        <a:t>Socket::getOutputStream()</a:t>
                      </a:r>
                      <a:endParaRPr b="1" sz="1000">
                        <a:latin typeface="Courier New"/>
                        <a:ea typeface="Courier New"/>
                        <a:cs typeface="Courier New"/>
                        <a:sym typeface="Courier New"/>
                      </a:endParaRPr>
                    </a:p>
                    <a:p>
                      <a:pPr indent="0" lvl="0" marL="0" rtl="0" algn="l">
                        <a:spcBef>
                          <a:spcPts val="0"/>
                        </a:spcBef>
                        <a:spcAft>
                          <a:spcPts val="0"/>
                        </a:spcAft>
                        <a:buNone/>
                      </a:pPr>
                      <a:r>
                        <a:rPr b="1" lang="en" sz="1000">
                          <a:latin typeface="Courier New"/>
                          <a:ea typeface="Courier New"/>
                          <a:cs typeface="Courier New"/>
                          <a:sym typeface="Courier New"/>
                        </a:rPr>
                        <a:t>java.io.PrintWriter</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PrintWriter writer = new PrintWriter(stream);</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 sz="1000">
                          <a:latin typeface="Courier New"/>
                          <a:ea typeface="Courier New"/>
                          <a:cs typeface="Courier New"/>
                          <a:sym typeface="Courier New"/>
                        </a:rPr>
                        <a:t>println(String)</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 sz="1000">
                          <a:latin typeface="Courier New"/>
                          <a:ea typeface="Courier New"/>
                          <a:cs typeface="Courier New"/>
                          <a:sym typeface="Courier New"/>
                        </a:rPr>
                        <a:t>write(char[])</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 sz="1000">
                          <a:latin typeface="Courier New"/>
                          <a:ea typeface="Courier New"/>
                          <a:cs typeface="Courier New"/>
                          <a:sym typeface="Courier New"/>
                        </a:rPr>
                        <a:t>flush()</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112125">
                <a:tc vMerge="1"/>
                <a:tc gridSpan="2">
                  <a:txBody>
                    <a:bodyPr/>
                    <a:lstStyle/>
                    <a:p>
                      <a:pPr indent="0" lvl="0" marL="0" rtl="0" algn="l">
                        <a:spcBef>
                          <a:spcPts val="0"/>
                        </a:spcBef>
                        <a:spcAft>
                          <a:spcPts val="0"/>
                        </a:spcAft>
                        <a:buNone/>
                      </a:pPr>
                      <a:r>
                        <a:rPr lang="en" sz="1000" u="sng">
                          <a:solidFill>
                            <a:schemeClr val="hlink"/>
                          </a:solidFill>
                          <a:hlinkClick r:id="rId7"/>
                        </a:rPr>
                        <a:t>InputStream &amp; Scanner</a:t>
                      </a:r>
                      <a:endParaRPr sz="1000"/>
                    </a:p>
                    <a:p>
                      <a:pPr indent="0" lvl="0" marL="0" rtl="0" algn="l">
                        <a:spcBef>
                          <a:spcPts val="0"/>
                        </a:spcBef>
                        <a:spcAft>
                          <a:spcPts val="0"/>
                        </a:spcAft>
                        <a:buNone/>
                      </a:pPr>
                      <a:r>
                        <a:rPr b="1" lang="en" sz="1000">
                          <a:latin typeface="Courier New"/>
                          <a:ea typeface="Courier New"/>
                          <a:cs typeface="Courier New"/>
                          <a:sym typeface="Courier New"/>
                        </a:rPr>
                        <a:t>Socket::getInputStream()</a:t>
                      </a:r>
                      <a:endParaRPr b="1" sz="1000">
                        <a:latin typeface="Courier New"/>
                        <a:ea typeface="Courier New"/>
                        <a:cs typeface="Courier New"/>
                        <a:sym typeface="Courier New"/>
                      </a:endParaRPr>
                    </a:p>
                    <a:p>
                      <a:pPr indent="0" lvl="0" marL="0" rtl="0" algn="l">
                        <a:spcBef>
                          <a:spcPts val="0"/>
                        </a:spcBef>
                        <a:spcAft>
                          <a:spcPts val="0"/>
                        </a:spcAft>
                        <a:buNone/>
                      </a:pPr>
                      <a:r>
                        <a:rPr b="1" lang="en" sz="1000">
                          <a:latin typeface="Courier New"/>
                          <a:ea typeface="Courier New"/>
                          <a:cs typeface="Courier New"/>
                          <a:sym typeface="Courier New"/>
                        </a:rPr>
                        <a:t>java.util.Scanner</a:t>
                      </a:r>
                      <a:endParaRPr b="1"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a:txBody>
                    <a:bodyPr/>
                    <a:lstStyle/>
                    <a:p>
                      <a:pPr indent="0" lvl="0" marL="0" rtl="0" algn="l">
                        <a:spcBef>
                          <a:spcPts val="0"/>
                        </a:spcBef>
                        <a:spcAft>
                          <a:spcPts val="0"/>
                        </a:spcAft>
                        <a:buNone/>
                      </a:pPr>
                      <a:r>
                        <a:rPr lang="en" sz="1000" u="sng">
                          <a:solidFill>
                            <a:schemeClr val="hlink"/>
                          </a:solidFill>
                          <a:hlinkClick r:id="rId8"/>
                        </a:rPr>
                        <a:t>ServerSocket</a:t>
                      </a:r>
                      <a:endParaRPr sz="1000"/>
                    </a:p>
                    <a:p>
                      <a:pPr indent="0" lvl="0" marL="0" rtl="0" algn="l">
                        <a:spcBef>
                          <a:spcPts val="0"/>
                        </a:spcBef>
                        <a:spcAft>
                          <a:spcPts val="0"/>
                        </a:spcAft>
                        <a:buNone/>
                      </a:pPr>
                      <a:r>
                        <a:rPr b="1" lang="en" sz="1000">
                          <a:latin typeface="Courier New"/>
                          <a:ea typeface="Courier New"/>
                          <a:cs typeface="Courier New"/>
                          <a:sym typeface="Courier New"/>
                        </a:rPr>
                        <a:t>java.net.ServerSocket</a:t>
                      </a:r>
                      <a:endParaRPr b="1"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ServerSocket s = new ServerSocket(1234);</a:t>
                      </a:r>
                      <a:endParaRPr sz="1000">
                        <a:latin typeface="Courier New"/>
                        <a:ea typeface="Courier New"/>
                        <a:cs typeface="Courier New"/>
                        <a:sym typeface="Courier New"/>
                      </a:endParaRPr>
                    </a:p>
                    <a:p>
                      <a:pPr indent="-292100" lvl="0" marL="457200" rtl="0" algn="l">
                        <a:spcBef>
                          <a:spcPts val="0"/>
                        </a:spcBef>
                        <a:spcAft>
                          <a:spcPts val="0"/>
                        </a:spcAft>
                        <a:buSzPts val="1000"/>
                        <a:buFont typeface="Courier New"/>
                        <a:buChar char="●"/>
                      </a:pPr>
                      <a:r>
                        <a:rPr lang="en" sz="1000">
                          <a:latin typeface="Courier New"/>
                          <a:ea typeface="Courier New"/>
                          <a:cs typeface="Courier New"/>
                          <a:sym typeface="Courier New"/>
                        </a:rPr>
                        <a:t>accept()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59375">
                <a:tc vMerge="1"/>
                <a:tc gridSpan="3">
                  <a:txBody>
                    <a:bodyPr/>
                    <a:lstStyle/>
                    <a:p>
                      <a:pPr indent="0" lvl="0" marL="0" rtl="0" algn="l">
                        <a:spcBef>
                          <a:spcPts val="0"/>
                        </a:spcBef>
                        <a:spcAft>
                          <a:spcPts val="0"/>
                        </a:spcAft>
                        <a:buNone/>
                      </a:pPr>
                      <a:r>
                        <a:rPr lang="en" sz="1000" u="sng">
                          <a:solidFill>
                            <a:schemeClr val="hlink"/>
                          </a:solidFill>
                          <a:hlinkClick r:id="rId9"/>
                        </a:rPr>
                        <a:t>DatagramPacket &amp; DatagramSocket</a:t>
                      </a:r>
                      <a:endParaRPr sz="1000"/>
                    </a:p>
                    <a:p>
                      <a:pPr indent="0" lvl="0" marL="0" rtl="0" algn="l">
                        <a:spcBef>
                          <a:spcPts val="0"/>
                        </a:spcBef>
                        <a:spcAft>
                          <a:spcPts val="0"/>
                        </a:spcAft>
                        <a:buNone/>
                      </a:pPr>
                      <a:r>
                        <a:rPr b="1" lang="en" sz="1000">
                          <a:latin typeface="Courier New"/>
                          <a:ea typeface="Courier New"/>
                          <a:cs typeface="Courier New"/>
                          <a:sym typeface="Courier New"/>
                        </a:rPr>
                        <a:t>java.net.DatagramPacket</a:t>
                      </a:r>
                      <a:endParaRPr b="1" sz="1000">
                        <a:latin typeface="Courier New"/>
                        <a:ea typeface="Courier New"/>
                        <a:cs typeface="Courier New"/>
                        <a:sym typeface="Courier New"/>
                      </a:endParaRPr>
                    </a:p>
                    <a:p>
                      <a:pPr indent="0" lvl="0" marL="0" rtl="0" algn="l">
                        <a:spcBef>
                          <a:spcPts val="0"/>
                        </a:spcBef>
                        <a:spcAft>
                          <a:spcPts val="0"/>
                        </a:spcAft>
                        <a:buNone/>
                      </a:pPr>
                      <a:r>
                        <a:rPr b="1" lang="en" sz="1000">
                          <a:latin typeface="Courier New"/>
                          <a:ea typeface="Courier New"/>
                          <a:cs typeface="Courier New"/>
                          <a:sym typeface="Courier New"/>
                        </a:rPr>
                        <a:t>java.net.DatagramSocket</a:t>
                      </a:r>
                      <a:endParaRPr b="1"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c hMerge="1"/>
              </a:tr>
            </a:tbl>
          </a:graphicData>
        </a:graphic>
      </p:graphicFrame>
      <p:sp>
        <p:nvSpPr>
          <p:cNvPr id="655" name="Google Shape;655;p69"/>
          <p:cNvSpPr txBox="1"/>
          <p:nvPr/>
        </p:nvSpPr>
        <p:spPr>
          <a:xfrm rot="-5400000">
            <a:off x="-2378350" y="2377688"/>
            <a:ext cx="5151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10: Networking </a:t>
            </a:r>
            <a:endParaRPr sz="1300">
              <a:solidFill>
                <a:schemeClr val="lt1"/>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