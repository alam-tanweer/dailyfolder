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01" r:id="rId1"/>
    <p:sldMasterId id="2147483702" r:id="rId2"/>
    <p:sldMasterId id="2147483703" r:id="rId3"/>
    <p:sldMasterId id="2147483704" r:id="rId4"/>
  </p:sldMasterIdLst>
  <p:notesMasterIdLst>
    <p:notesMasterId r:id="rId6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D16334A-BD30-4DCF-A821-F696FD12572A}">
  <a:tblStyle styleId="{5D16334A-BD30-4DCF-A821-F696FD12572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4E8245F-B79C-49AF-8BD8-D9F0F8A7D024}"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594" autoAdjust="0"/>
  </p:normalViewPr>
  <p:slideViewPr>
    <p:cSldViewPr snapToGrid="0">
      <p:cViewPr varScale="1">
        <p:scale>
          <a:sx n="124" d="100"/>
          <a:sy n="124" d="100"/>
        </p:scale>
        <p:origin x="114" y="6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6" name="Google Shape;33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07526de7e9_0_7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207526de7e9_0_7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207526de7e9_0_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207526de7e9_0_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07526de7e9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07526de7e9_0_9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207526de7e9_0_9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207526de7e9_0_9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07526de7e9_0_10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207526de7e9_0_1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207526de7e9_0_10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207526de7e9_0_10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4" name="Google Shape;43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 An interface!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207526de7e9_0_8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207526de7e9_0_8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3" name="Google Shape;46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dcd928e75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dcd928e75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3" name="Google Shape;49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1899444694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4" name="Google Shape;524;g1899444694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4" name="Google Shape;53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1899444694b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1899444694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1" name="Google Shape;57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Back represents an index where new element will be added.</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1dcff8776e2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1dcff8776e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0" name="Google Shape;600;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1dcff8776e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1dcff8776e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4" name="Google Shape;684;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1dcff8776e2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1dcff8776e2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7" name="Google Shape;747;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0c1f78959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2" name="Google Shape;782;g20c1f7895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2" name="Google Shape;79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20679942d72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2" name="Google Shape;802;g20679942d72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A generic is a class or method that works with many data types. It gives classes an ability to handle multiple data types.</a:t>
            </a:r>
          </a:p>
          <a:p>
            <a:pPr marL="0" lvl="0" indent="0" algn="l" rtl="0">
              <a:lnSpc>
                <a:spcPct val="100000"/>
              </a:lnSpc>
              <a:spcBef>
                <a:spcPts val="0"/>
              </a:spcBef>
              <a:spcAft>
                <a:spcPts val="0"/>
              </a:spcAft>
              <a:buSzPts val="1100"/>
              <a:buNone/>
            </a:pPr>
            <a:r>
              <a:rPr lang="en-US" dirty="0"/>
              <a:t>A generic class uses a </a:t>
            </a:r>
            <a:r>
              <a:rPr lang="en-US" b="1" dirty="0"/>
              <a:t>type parameter</a:t>
            </a:r>
            <a:r>
              <a:rPr lang="en-US" dirty="0"/>
              <a:t>:</a:t>
            </a:r>
          </a:p>
          <a:p>
            <a:pPr marL="0" lvl="0" indent="0" algn="l" rtl="0">
              <a:lnSpc>
                <a:spcPct val="100000"/>
              </a:lnSpc>
              <a:spcBef>
                <a:spcPts val="0"/>
              </a:spcBef>
              <a:spcAft>
                <a:spcPts val="0"/>
              </a:spcAft>
              <a:buSzPts val="1100"/>
              <a:buNone/>
            </a:pPr>
            <a:endParaRPr lang="en-US" dirty="0"/>
          </a:p>
          <a:p>
            <a:r>
              <a:rPr lang="en-US" b="1" dirty="0"/>
              <a:t>✅ Why generics exist</a:t>
            </a:r>
          </a:p>
          <a:p>
            <a:r>
              <a:rPr lang="en-US" dirty="0"/>
              <a:t>Before Java 5:</a:t>
            </a:r>
          </a:p>
          <a:p>
            <a:r>
              <a:rPr lang="en-US" dirty="0"/>
              <a:t>everything was Object</a:t>
            </a:r>
          </a:p>
          <a:p>
            <a:r>
              <a:rPr lang="en-US" dirty="0"/>
              <a:t>constant casting</a:t>
            </a:r>
          </a:p>
          <a:p>
            <a:r>
              <a:rPr lang="en-US" dirty="0"/>
              <a:t>runtime crashes</a:t>
            </a:r>
          </a:p>
          <a:p>
            <a:r>
              <a:rPr lang="en-US" dirty="0"/>
              <a:t>Generics moved errors to compile time.</a:t>
            </a:r>
          </a:p>
          <a:p>
            <a:r>
              <a:rPr lang="en-US" dirty="0"/>
              <a:t>Safer + faster development.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r>
              <a:rPr lang="en-US" b="1" dirty="0"/>
              <a:t>✅ Multiple type parameters</a:t>
            </a:r>
          </a:p>
          <a:p>
            <a:pPr rtl="0"/>
            <a:r>
              <a:rPr lang="en-US" sz="1100" b="0" i="0" u="none" strike="noStrike" cap="none" dirty="0">
                <a:solidFill>
                  <a:srgbClr val="000000"/>
                </a:solidFill>
                <a:latin typeface="Arial"/>
                <a:ea typeface="Arial"/>
                <a:cs typeface="Arial"/>
                <a:sym typeface="Arial"/>
              </a:rPr>
              <a:t>class Pair&lt;K, V&gt; {</a:t>
            </a:r>
          </a:p>
          <a:p>
            <a:pPr rtl="0"/>
            <a:r>
              <a:rPr lang="en-US" sz="1100" b="0" i="0" u="none" strike="noStrike" cap="none" dirty="0">
                <a:solidFill>
                  <a:srgbClr val="000000"/>
                </a:solidFill>
                <a:latin typeface="Arial"/>
                <a:ea typeface="Arial"/>
                <a:cs typeface="Arial"/>
                <a:sym typeface="Arial"/>
              </a:rPr>
              <a:t>    K key;</a:t>
            </a:r>
          </a:p>
          <a:p>
            <a:pPr rtl="0"/>
            <a:r>
              <a:rPr lang="en-US" sz="1100" b="0" i="0" u="none" strike="noStrike" cap="none" dirty="0">
                <a:solidFill>
                  <a:srgbClr val="000000"/>
                </a:solidFill>
                <a:latin typeface="Arial"/>
                <a:ea typeface="Arial"/>
                <a:cs typeface="Arial"/>
                <a:sym typeface="Arial"/>
              </a:rPr>
              <a:t>    V value;</a:t>
            </a:r>
          </a:p>
          <a:p>
            <a:pPr rtl="0"/>
            <a:r>
              <a:rPr lang="en-US" sz="1100" b="0" i="0" u="none" strike="noStrike" cap="none" dirty="0">
                <a:solidFill>
                  <a:srgbClr val="000000"/>
                </a:solidFill>
                <a:latin typeface="Arial"/>
                <a:ea typeface="Arial"/>
                <a:cs typeface="Arial"/>
                <a:sym typeface="Arial"/>
              </a:rPr>
              <a: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r>
              <a:rPr lang="en-US" b="1" dirty="0"/>
              <a:t>✅ Bounded generics</a:t>
            </a:r>
          </a:p>
          <a:p>
            <a:r>
              <a:rPr lang="en-US" dirty="0"/>
              <a:t>Sometimes you want restrictions.</a:t>
            </a:r>
          </a:p>
          <a:p>
            <a:r>
              <a:rPr lang="en-US" dirty="0"/>
              <a:t>Example:</a:t>
            </a:r>
          </a:p>
          <a:p>
            <a:pPr rtl="0"/>
            <a:r>
              <a:rPr lang="en-US" sz="1100" b="0" i="0" u="none" strike="noStrike" cap="none" dirty="0">
                <a:solidFill>
                  <a:srgbClr val="000000"/>
                </a:solidFill>
                <a:latin typeface="Arial"/>
                <a:ea typeface="Arial"/>
                <a:cs typeface="Arial"/>
                <a:sym typeface="Arial"/>
              </a:rPr>
              <a:t>class </a:t>
            </a:r>
            <a:r>
              <a:rPr lang="en-US" sz="1100" b="0" i="0" u="none" strike="noStrike" cap="none" dirty="0" err="1">
                <a:solidFill>
                  <a:srgbClr val="000000"/>
                </a:solidFill>
                <a:latin typeface="Arial"/>
                <a:ea typeface="Arial"/>
                <a:cs typeface="Arial"/>
                <a:sym typeface="Arial"/>
              </a:rPr>
              <a:t>NumberBox</a:t>
            </a:r>
            <a:r>
              <a:rPr lang="en-US" sz="1100" b="0" i="0" u="none" strike="noStrike" cap="none" dirty="0">
                <a:solidFill>
                  <a:srgbClr val="000000"/>
                </a:solidFill>
                <a:latin typeface="Arial"/>
                <a:ea typeface="Arial"/>
                <a:cs typeface="Arial"/>
                <a:sym typeface="Arial"/>
              </a:rPr>
              <a:t>&lt;T extends Number&gt; {</a:t>
            </a:r>
          </a:p>
          <a:p>
            <a:pPr rtl="0"/>
            <a:r>
              <a:rPr lang="en-US" sz="1100" b="0" i="0" u="none" strike="noStrike" cap="none" dirty="0">
                <a:solidFill>
                  <a:srgbClr val="000000"/>
                </a:solidFill>
                <a:latin typeface="Arial"/>
                <a:ea typeface="Arial"/>
                <a:cs typeface="Arial"/>
                <a:sym typeface="Arial"/>
              </a:rPr>
              <a:t>    T value;</a:t>
            </a:r>
          </a:p>
          <a:p>
            <a:pPr rtl="0"/>
            <a:endParaRPr lang="en-US" sz="1100" b="0" i="0" u="none" strike="noStrike" cap="none" dirty="0">
              <a:solidFill>
                <a:srgbClr val="000000"/>
              </a:solidFill>
              <a:latin typeface="Arial"/>
              <a:ea typeface="Arial"/>
              <a:cs typeface="Arial"/>
              <a:sym typeface="Arial"/>
            </a:endParaRPr>
          </a:p>
          <a:p>
            <a:pPr rtl="0"/>
            <a:r>
              <a:rPr lang="en-US" sz="1100" b="0" i="0" u="none" strike="noStrike" cap="none" dirty="0">
                <a:solidFill>
                  <a:srgbClr val="000000"/>
                </a:solidFill>
                <a:latin typeface="Arial"/>
                <a:ea typeface="Arial"/>
                <a:cs typeface="Arial"/>
                <a:sym typeface="Arial"/>
              </a:rPr>
              <a:t>    double square() {</a:t>
            </a:r>
          </a:p>
          <a:p>
            <a:pPr rtl="0"/>
            <a:r>
              <a:rPr lang="en-US" sz="1100" b="0" i="0" u="none" strike="noStrike" cap="none" dirty="0">
                <a:solidFill>
                  <a:srgbClr val="000000"/>
                </a:solidFill>
                <a:latin typeface="Arial"/>
                <a:ea typeface="Arial"/>
                <a:cs typeface="Arial"/>
                <a:sym typeface="Arial"/>
              </a:rPr>
              <a:t>        return </a:t>
            </a:r>
            <a:r>
              <a:rPr lang="en-US" sz="1100" b="0" i="0" u="none" strike="noStrike" cap="none" dirty="0" err="1">
                <a:solidFill>
                  <a:srgbClr val="000000"/>
                </a:solidFill>
                <a:latin typeface="Arial"/>
                <a:ea typeface="Arial"/>
                <a:cs typeface="Arial"/>
                <a:sym typeface="Arial"/>
              </a:rPr>
              <a:t>value.doubleValue</a:t>
            </a:r>
            <a:r>
              <a:rPr lang="en-US" sz="1100" b="0" i="0" u="none" strike="noStrike" cap="none" dirty="0">
                <a:solidFill>
                  <a:srgbClr val="000000"/>
                </a:solidFill>
                <a:latin typeface="Arial"/>
                <a:ea typeface="Arial"/>
                <a:cs typeface="Arial"/>
                <a:sym typeface="Arial"/>
              </a:rPr>
              <a:t>() * </a:t>
            </a:r>
            <a:r>
              <a:rPr lang="en-US" sz="1100" b="0" i="0" u="none" strike="noStrike" cap="none" dirty="0" err="1">
                <a:solidFill>
                  <a:srgbClr val="000000"/>
                </a:solidFill>
                <a:latin typeface="Arial"/>
                <a:ea typeface="Arial"/>
                <a:cs typeface="Arial"/>
                <a:sym typeface="Arial"/>
              </a:rPr>
              <a:t>value.doubleValue</a:t>
            </a:r>
            <a:r>
              <a:rPr lang="en-US" sz="1100" b="0" i="0" u="none" strike="noStrike" cap="none" dirty="0">
                <a:solidFill>
                  <a:srgbClr val="000000"/>
                </a:solidFill>
                <a:latin typeface="Arial"/>
                <a:ea typeface="Arial"/>
                <a:cs typeface="Arial"/>
                <a:sym typeface="Arial"/>
              </a:rPr>
              <a:t>();</a:t>
            </a:r>
          </a:p>
          <a:p>
            <a:pPr rtl="0"/>
            <a:r>
              <a:rPr lang="en-US" sz="1100" b="0" i="0" u="none" strike="noStrike" cap="none" dirty="0">
                <a:solidFill>
                  <a:srgbClr val="000000"/>
                </a:solidFill>
                <a:latin typeface="Arial"/>
                <a:ea typeface="Arial"/>
                <a:cs typeface="Arial"/>
                <a:sym typeface="Arial"/>
              </a:rPr>
              <a:t>    }</a:t>
            </a:r>
          </a:p>
          <a:p>
            <a:pPr rtl="0"/>
            <a:r>
              <a:rPr lang="en-US" sz="1100" b="0" i="0" u="none" strike="noStrike" cap="none" dirty="0">
                <a:solidFill>
                  <a:srgbClr val="000000"/>
                </a:solidFill>
                <a:latin typeface="Arial"/>
                <a:ea typeface="Arial"/>
                <a:cs typeface="Arial"/>
                <a:sym typeface="Arial"/>
              </a:rPr>
              <a: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lang="en-US" dirty="0"/>
          </a:p>
          <a:p>
            <a:r>
              <a:rPr lang="en-US" b="1" dirty="0"/>
              <a:t>✅ Multiple bounds</a:t>
            </a:r>
          </a:p>
          <a:p>
            <a:pPr rtl="0"/>
            <a:r>
              <a:rPr lang="en-US" sz="1100" b="0" i="0" u="none" strike="noStrike" cap="none" dirty="0">
                <a:solidFill>
                  <a:srgbClr val="000000"/>
                </a:solidFill>
                <a:latin typeface="Arial"/>
                <a:ea typeface="Arial"/>
                <a:cs typeface="Arial"/>
                <a:sym typeface="Arial"/>
              </a:rPr>
              <a:t>&lt;T extends Number &amp; Comparable&lt;T&gt;&gt;</a:t>
            </a:r>
          </a:p>
          <a:p>
            <a:r>
              <a:rPr lang="en-US" dirty="0"/>
              <a:t>T must:</a:t>
            </a:r>
          </a:p>
          <a:p>
            <a:r>
              <a:rPr lang="en-US" dirty="0"/>
              <a:t>be a Number</a:t>
            </a:r>
          </a:p>
          <a:p>
            <a:r>
              <a:rPr lang="en-US" dirty="0"/>
              <a:t>implement Comparable</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0679942d72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5" name="Google Shape;825;g20679942d72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0c1f78959b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20c1f78959b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0679942d72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7" name="Google Shape;877;g20679942d72_0_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If I use T instead of </a:t>
            </a:r>
            <a:r>
              <a:rPr lang="en-US" sz="1100" b="0" i="0" u="none" strike="noStrike" cap="none" dirty="0" err="1">
                <a:solidFill>
                  <a:srgbClr val="000000"/>
                </a:solidFill>
                <a:effectLst/>
                <a:latin typeface="Arial"/>
                <a:ea typeface="Arial"/>
                <a:cs typeface="Arial"/>
                <a:sym typeface="Arial"/>
              </a:rPr>
              <a:t>Intf</a:t>
            </a:r>
            <a:r>
              <a:rPr lang="en-US" sz="1100" b="0" i="0" u="none" strike="noStrike" cap="none" dirty="0">
                <a:solidFill>
                  <a:srgbClr val="000000"/>
                </a:solidFill>
                <a:effectLst/>
                <a:latin typeface="Arial"/>
                <a:ea typeface="Arial"/>
                <a:cs typeface="Arial"/>
                <a:sym typeface="Arial"/>
              </a:rPr>
              <a:t>&lt;String&gt; it is an error. It must be implemented at class level.</a:t>
            </a:r>
          </a:p>
          <a:p>
            <a:r>
              <a:rPr lang="en-US" sz="1100" b="0" i="0" u="none" strike="noStrike" cap="none" dirty="0">
                <a:solidFill>
                  <a:srgbClr val="000000"/>
                </a:solidFill>
                <a:effectLst/>
                <a:latin typeface="Arial"/>
                <a:ea typeface="Arial"/>
                <a:cs typeface="Arial"/>
                <a:sym typeface="Arial"/>
              </a:rPr>
              <a:t>public class </a:t>
            </a:r>
            <a:r>
              <a:rPr lang="en-US" sz="1100" b="0" i="0" u="none" strike="noStrike" cap="none" dirty="0" err="1">
                <a:solidFill>
                  <a:srgbClr val="000000"/>
                </a:solidFill>
                <a:effectLst/>
                <a:latin typeface="Arial"/>
                <a:ea typeface="Arial"/>
                <a:cs typeface="Arial"/>
                <a:sym typeface="Arial"/>
              </a:rPr>
              <a:t>IntfC</a:t>
            </a:r>
            <a:r>
              <a:rPr lang="en-US" sz="1100" b="0" i="0" u="none" strike="noStrike" cap="none" dirty="0">
                <a:solidFill>
                  <a:srgbClr val="000000"/>
                </a:solidFill>
                <a:effectLst/>
                <a:latin typeface="Arial"/>
                <a:ea typeface="Arial"/>
                <a:cs typeface="Arial"/>
                <a:sym typeface="Arial"/>
              </a:rPr>
              <a:t> implements </a:t>
            </a:r>
            <a:r>
              <a:rPr lang="en-US" sz="1100" b="0" i="0" u="none" strike="noStrike" cap="none" dirty="0" err="1">
                <a:solidFill>
                  <a:srgbClr val="000000"/>
                </a:solidFill>
                <a:effectLst/>
                <a:latin typeface="Arial"/>
                <a:ea typeface="Arial"/>
                <a:cs typeface="Arial"/>
                <a:sym typeface="Arial"/>
              </a:rPr>
              <a:t>Intf</a:t>
            </a:r>
            <a:r>
              <a:rPr lang="en-US" sz="1100" b="0" i="0" u="none" strike="noStrike" cap="none" dirty="0">
                <a:solidFill>
                  <a:srgbClr val="000000"/>
                </a:solidFill>
                <a:effectLst/>
                <a:latin typeface="Arial"/>
                <a:ea typeface="Arial"/>
                <a:cs typeface="Arial"/>
                <a:sym typeface="Arial"/>
              </a:rPr>
              <a:t>&lt;String&gt; {  </a:t>
            </a:r>
          </a:p>
          <a:p>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    @Override</a:t>
            </a:r>
          </a:p>
          <a:p>
            <a:r>
              <a:rPr lang="en-US" sz="1100" b="0" i="0" u="none" strike="noStrike" cap="none" dirty="0">
                <a:solidFill>
                  <a:srgbClr val="000000"/>
                </a:solidFill>
                <a:effectLst/>
                <a:latin typeface="Arial"/>
                <a:ea typeface="Arial"/>
                <a:cs typeface="Arial"/>
                <a:sym typeface="Arial"/>
              </a:rPr>
              <a:t>    public void print(String value) {</a:t>
            </a:r>
          </a:p>
          <a:p>
            <a:r>
              <a:rPr lang="en-US" sz="1100" b="0" i="0" u="none" strike="noStrike" cap="none" dirty="0">
                <a:solidFill>
                  <a:srgbClr val="000000"/>
                </a:solidFill>
                <a:effectLst/>
                <a:latin typeface="Arial"/>
                <a:ea typeface="Arial"/>
                <a:cs typeface="Arial"/>
                <a:sym typeface="Arial"/>
              </a:rPr>
              <a:t>        // TODO Auto-generated method stub</a:t>
            </a:r>
          </a:p>
          <a:p>
            <a:r>
              <a:rPr lang="en-US" sz="1100" b="0" i="0" u="none" strike="noStrike" cap="none" dirty="0">
                <a:solidFill>
                  <a:srgbClr val="000000"/>
                </a:solidFill>
                <a:effectLst/>
                <a:latin typeface="Arial"/>
                <a:ea typeface="Arial"/>
                <a:cs typeface="Arial"/>
                <a:sym typeface="Arial"/>
              </a:rPr>
              <a:t>        throw new </a:t>
            </a:r>
            <a:r>
              <a:rPr lang="en-US" sz="1100" b="0" i="0" u="none" strike="noStrike" cap="none" dirty="0" err="1">
                <a:solidFill>
                  <a:srgbClr val="000000"/>
                </a:solidFill>
                <a:effectLst/>
                <a:latin typeface="Arial"/>
                <a:ea typeface="Arial"/>
                <a:cs typeface="Arial"/>
                <a:sym typeface="Arial"/>
              </a:rPr>
              <a:t>UnsupportedOperationException</a:t>
            </a:r>
            <a:r>
              <a:rPr lang="en-US" sz="1100" b="0" i="0" u="none" strike="noStrike" cap="none" dirty="0">
                <a:solidFill>
                  <a:srgbClr val="000000"/>
                </a:solidFill>
                <a:effectLst/>
                <a:latin typeface="Arial"/>
                <a:ea typeface="Arial"/>
                <a:cs typeface="Arial"/>
                <a:sym typeface="Arial"/>
              </a:rPr>
              <a:t>("Unimplemented method 'print'");</a:t>
            </a:r>
          </a:p>
          <a:p>
            <a:r>
              <a:rPr lang="en-US" sz="1100" b="0" i="0" u="none" strike="noStrike" cap="none" dirty="0">
                <a:solidFill>
                  <a:srgbClr val="000000"/>
                </a:solidFill>
                <a:effectLst/>
                <a:latin typeface="Arial"/>
                <a:ea typeface="Arial"/>
                <a:cs typeface="Arial"/>
                <a:sym typeface="Arial"/>
              </a:rPr>
              <a:t>    }</a:t>
            </a:r>
          </a:p>
          <a:p>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0c1f78959b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20c1f78959b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a Generic class definition, How do one access the method of a specific generic type package unit05.gen;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You </a:t>
            </a:r>
            <a:r>
              <a:rPr lang="en-US" i="1" dirty="0"/>
              <a:t>cannot directly call methods specific to a concrete type</a:t>
            </a:r>
            <a:r>
              <a:rPr lang="en-US" dirty="0"/>
              <a:t> unless you constrain the generic type.</a:t>
            </a:r>
          </a:p>
          <a:p>
            <a:r>
              <a:rPr lang="en-US" dirty="0"/>
              <a:t>Because inside </a:t>
            </a:r>
            <a:r>
              <a:rPr lang="en-US" sz="1100" b="0" i="0" u="none" strike="noStrike" cap="none" dirty="0">
                <a:solidFill>
                  <a:srgbClr val="000000"/>
                </a:solidFill>
                <a:latin typeface="Arial"/>
                <a:ea typeface="Arial"/>
                <a:cs typeface="Arial"/>
                <a:sym typeface="Arial"/>
              </a:rPr>
              <a:t>Node&lt;T&gt;</a:t>
            </a:r>
            <a:r>
              <a:rPr lang="en-US" dirty="0"/>
              <a:t>, Java only knows:</a:t>
            </a:r>
          </a:p>
          <a:p>
            <a:pPr rtl="0"/>
            <a:r>
              <a:rPr lang="en-US" sz="1100" b="0" i="0" u="none" strike="noStrike" cap="none" dirty="0">
                <a:solidFill>
                  <a:srgbClr val="000000"/>
                </a:solidFill>
                <a:latin typeface="Arial"/>
                <a:ea typeface="Arial"/>
                <a:cs typeface="Arial"/>
                <a:sym typeface="Arial"/>
              </a:rPr>
              <a:t>T is some Object</a:t>
            </a:r>
          </a:p>
          <a:p>
            <a:pPr marL="158750" indent="0" rtl="0">
              <a:buNone/>
            </a:pPr>
            <a:endParaRPr lang="en-US" sz="1100" b="0" i="0" u="none" strike="noStrike" cap="none" dirty="0">
              <a:solidFill>
                <a:srgbClr val="000000"/>
              </a:solidFill>
              <a:latin typeface="Arial"/>
              <a:cs typeface="Arial"/>
              <a:sym typeface="Arial"/>
            </a:endParaRPr>
          </a:p>
          <a:p>
            <a:pPr marL="158750" indent="0" rtl="0">
              <a:buNone/>
            </a:pPr>
            <a:r>
              <a:rPr lang="en-US" b="1" dirty="0"/>
              <a:t>✅ Solution 1 — Use bounded generics</a:t>
            </a:r>
          </a:p>
          <a:p>
            <a:r>
              <a:rPr lang="en-US" dirty="0"/>
              <a:t>If you want access to methods of a specific type, constrain T:</a:t>
            </a:r>
          </a:p>
          <a:p>
            <a:r>
              <a:rPr lang="en-US" b="1" dirty="0"/>
              <a:t>Example: restrict to </a:t>
            </a:r>
            <a:r>
              <a:rPr lang="en-US" b="1" dirty="0" err="1"/>
              <a:t>CharSequence</a:t>
            </a:r>
            <a:endParaRPr lang="en-US" b="1" dirty="0"/>
          </a:p>
          <a:p>
            <a:pPr rtl="0"/>
            <a:r>
              <a:rPr lang="en-US" sz="1100" b="0" i="0" u="none" strike="noStrike" cap="none" dirty="0">
                <a:solidFill>
                  <a:srgbClr val="000000"/>
                </a:solidFill>
                <a:latin typeface="Arial"/>
                <a:ea typeface="Arial"/>
                <a:cs typeface="Arial"/>
                <a:sym typeface="Arial"/>
              </a:rPr>
              <a:t>public class Node</a:t>
            </a:r>
            <a:r>
              <a:rPr lang="en-US" sz="1100" b="1" i="0" u="none" strike="noStrike" cap="none" dirty="0">
                <a:solidFill>
                  <a:srgbClr val="000000"/>
                </a:solidFill>
                <a:latin typeface="Arial"/>
                <a:ea typeface="Arial"/>
                <a:cs typeface="Arial"/>
                <a:sym typeface="Arial"/>
              </a:rPr>
              <a:t>&lt;T extends </a:t>
            </a:r>
            <a:r>
              <a:rPr lang="en-US" sz="1100" b="1" i="0" u="none" strike="noStrike" cap="none" dirty="0" err="1">
                <a:solidFill>
                  <a:srgbClr val="000000"/>
                </a:solidFill>
                <a:latin typeface="Arial"/>
                <a:ea typeface="Arial"/>
                <a:cs typeface="Arial"/>
                <a:sym typeface="Arial"/>
              </a:rPr>
              <a:t>CharSequence</a:t>
            </a:r>
            <a:r>
              <a:rPr lang="en-US" sz="1100" b="1" i="0" u="none" strike="noStrike" cap="none" dirty="0">
                <a:solidFill>
                  <a:srgbClr val="000000"/>
                </a:solidFill>
                <a:latin typeface="Arial"/>
                <a:ea typeface="Arial"/>
                <a:cs typeface="Arial"/>
                <a:sym typeface="Arial"/>
              </a:rPr>
              <a:t>&gt;</a:t>
            </a:r>
          </a:p>
          <a:p>
            <a:r>
              <a:rPr lang="en-US" dirty="0"/>
              <a:t>Now Java knows:</a:t>
            </a:r>
          </a:p>
          <a:p>
            <a:r>
              <a:rPr lang="en-US" dirty="0"/>
              <a:t>👉 T has </a:t>
            </a:r>
            <a:r>
              <a:rPr lang="en-US" dirty="0" err="1"/>
              <a:t>CharSequence</a:t>
            </a:r>
            <a:r>
              <a:rPr lang="en-US" dirty="0"/>
              <a:t> methods</a:t>
            </a:r>
          </a:p>
          <a:p>
            <a:pPr marL="0" lvl="0" indent="0" algn="l" rtl="0">
              <a:spcBef>
                <a:spcPts val="0"/>
              </a:spcBef>
              <a:spcAft>
                <a:spcPts val="0"/>
              </a:spcAft>
              <a:buNone/>
            </a:pPr>
            <a:endParaRPr lang="en-US" dirty="0"/>
          </a:p>
          <a:p>
            <a:r>
              <a:rPr lang="en-US" b="1" dirty="0"/>
              <a:t>✅ Solution 2 — Use an interface bound</a:t>
            </a:r>
          </a:p>
          <a:p>
            <a:r>
              <a:rPr lang="en-US" dirty="0"/>
              <a:t>Best practice: design an interface.</a:t>
            </a:r>
          </a:p>
          <a:p>
            <a:pPr rtl="0"/>
            <a:r>
              <a:rPr lang="en-US" sz="1100" b="0" i="0" u="none" strike="noStrike" cap="none" dirty="0">
                <a:solidFill>
                  <a:srgbClr val="000000"/>
                </a:solidFill>
                <a:latin typeface="Arial"/>
                <a:ea typeface="Arial"/>
                <a:cs typeface="Arial"/>
                <a:sym typeface="Arial"/>
              </a:rPr>
              <a:t>interface Printable {</a:t>
            </a:r>
          </a:p>
          <a:p>
            <a:pPr rtl="0"/>
            <a:r>
              <a:rPr lang="en-US" sz="1100" b="0" i="0" u="none" strike="noStrike" cap="none" dirty="0">
                <a:solidFill>
                  <a:srgbClr val="000000"/>
                </a:solidFill>
                <a:latin typeface="Arial"/>
                <a:ea typeface="Arial"/>
                <a:cs typeface="Arial"/>
                <a:sym typeface="Arial"/>
              </a:rPr>
              <a:t>    void print();</a:t>
            </a:r>
          </a:p>
          <a:p>
            <a:pPr rtl="0"/>
            <a:r>
              <a:rPr lang="en-US" sz="1100" b="0" i="0" u="none" strike="noStrike" cap="none" dirty="0">
                <a:solidFill>
                  <a:srgbClr val="000000"/>
                </a:solidFill>
                <a:latin typeface="Arial"/>
                <a:ea typeface="Arial"/>
                <a:cs typeface="Arial"/>
                <a:sym typeface="Arial"/>
              </a:rPr>
              <a:t>}</a:t>
            </a:r>
          </a:p>
          <a:p>
            <a:r>
              <a:rPr lang="en-US" dirty="0"/>
              <a:t>Then:</a:t>
            </a:r>
          </a:p>
          <a:p>
            <a:pPr rtl="0"/>
            <a:r>
              <a:rPr lang="en-US" sz="1100" b="0" i="0" u="none" strike="noStrike" cap="none" dirty="0">
                <a:solidFill>
                  <a:srgbClr val="000000"/>
                </a:solidFill>
                <a:latin typeface="Arial"/>
                <a:ea typeface="Arial"/>
                <a:cs typeface="Arial"/>
                <a:sym typeface="Arial"/>
              </a:rPr>
              <a:t>public class Node&lt;T extends Printable&gt;</a:t>
            </a:r>
          </a:p>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0679942d72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4" name="Google Shape;904;g20679942d72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899444694b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1899444694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0679942d72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0" name="Google Shape;930;g20679942d72_0_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0679942d72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8" name="Google Shape;948;g20679942d72_0_1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 </a:t>
            </a:r>
            <a:r>
              <a:rPr lang="en-US" sz="1100" b="0" i="0" u="none" strike="noStrike" cap="none" dirty="0" err="1">
                <a:solidFill>
                  <a:srgbClr val="000000"/>
                </a:solidFill>
                <a:effectLst/>
                <a:latin typeface="Arial"/>
                <a:ea typeface="Arial"/>
                <a:cs typeface="Arial"/>
                <a:sym typeface="Arial"/>
              </a:rPr>
              <a:t>abc</a:t>
            </a:r>
            <a:r>
              <a:rPr lang="en-US" sz="1100" b="0" i="0" u="none" strike="noStrike" cap="none" dirty="0">
                <a:solidFill>
                  <a:srgbClr val="000000"/>
                </a:solidFill>
                <a:effectLst/>
                <a:latin typeface="Arial"/>
                <a:ea typeface="Arial"/>
                <a:cs typeface="Arial"/>
                <a:sym typeface="Arial"/>
              </a:rPr>
              <a:t> = new T[]{};</a:t>
            </a:r>
          </a:p>
          <a:p>
            <a:pPr marL="0" lvl="0" indent="0" algn="l" rtl="0">
              <a:lnSpc>
                <a:spcPct val="100000"/>
              </a:lnSpc>
              <a:spcBef>
                <a:spcPts val="0"/>
              </a:spcBef>
              <a:spcAft>
                <a:spcPts val="0"/>
              </a:spcAft>
              <a:buSzPts val="1100"/>
              <a:buNone/>
            </a:pPr>
            <a:r>
              <a:rPr lang="en-US" dirty="0" err="1"/>
              <a:t>Errror</a:t>
            </a:r>
            <a:r>
              <a:rPr lang="en-US" dirty="0"/>
              <a:t> -&gt; Can’t create generic array of T</a:t>
            </a: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1899444694b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1899444694b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0679942d72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6" name="Google Shape;986;g20679942d72_0_1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1899444694b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1899444694b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0679942d72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3" name="Google Shape;1013;g20679942d72_0_1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1899444694b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1899444694b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g1899444694b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0" name="Google Shape;1060;g1899444694b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0679942d72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1" name="Google Shape;1071;g20679942d72_0_2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0679942d72_0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9" name="Google Shape;1089;g20679942d72_0_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07526de7e9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4" name="Google Shape;1104;g207526de7e9_0_3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1899444694b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7" name="Google Shape;1117;g1899444694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g1899444694b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8" name="Google Shape;1128;g1899444694b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You will get an error that it is not </a:t>
            </a:r>
            <a:r>
              <a:rPr lang="en-US" dirty="0" err="1"/>
              <a:t>iterable</a:t>
            </a:r>
            <a:r>
              <a:rPr lang="en-US" dirty="0"/>
              <a:t>.</a:t>
            </a:r>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207526de7e9_0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9" name="Google Shape;1139;g207526de7e9_0_3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207526de7e9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7" name="Google Shape;1157;g207526de7e9_0_3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Talk about the default method and what problem it solves</a:t>
            </a:r>
          </a:p>
          <a:p>
            <a:pPr marL="0" lvl="0" indent="0" algn="l" rtl="0">
              <a:lnSpc>
                <a:spcPct val="100000"/>
              </a:lnSpc>
              <a:spcBef>
                <a:spcPts val="0"/>
              </a:spcBef>
              <a:spcAft>
                <a:spcPts val="0"/>
              </a:spcAft>
              <a:buSzPts val="1100"/>
              <a:buNone/>
            </a:pPr>
            <a:r>
              <a:rPr lang="en-US" dirty="0"/>
              <a:t>==============================================</a:t>
            </a:r>
          </a:p>
          <a:p>
            <a:pPr marL="0" lvl="0" indent="0" algn="l" rtl="0">
              <a:lnSpc>
                <a:spcPct val="100000"/>
              </a:lnSpc>
              <a:spcBef>
                <a:spcPts val="0"/>
              </a:spcBef>
              <a:spcAft>
                <a:spcPts val="0"/>
              </a:spcAft>
              <a:buSzPts val="1100"/>
              <a:buNone/>
            </a:pPr>
            <a:r>
              <a:rPr lang="en-US" dirty="0"/>
              <a:t>interface A {</a:t>
            </a:r>
          </a:p>
          <a:p>
            <a:pPr marL="0" lvl="0" indent="0" algn="l" rtl="0">
              <a:lnSpc>
                <a:spcPct val="100000"/>
              </a:lnSpc>
              <a:spcBef>
                <a:spcPts val="0"/>
              </a:spcBef>
              <a:spcAft>
                <a:spcPts val="0"/>
              </a:spcAft>
              <a:buSzPts val="1100"/>
              <a:buNone/>
            </a:pPr>
            <a:r>
              <a:rPr lang="en-US" dirty="0"/>
              <a:t>    void </a:t>
            </a:r>
            <a:r>
              <a:rPr lang="en-US" dirty="0" err="1"/>
              <a:t>methodA</a:t>
            </a:r>
            <a:r>
              <a:rPr lang="en-US" dirty="0"/>
              <a:t>();</a:t>
            </a:r>
          </a:p>
          <a:p>
            <a:pPr marL="0" lvl="0" indent="0" algn="l" rtl="0">
              <a:lnSpc>
                <a:spcPct val="100000"/>
              </a:lnSpc>
              <a:spcBef>
                <a:spcPts val="0"/>
              </a:spcBef>
              <a:spcAft>
                <a:spcPts val="0"/>
              </a:spcAft>
              <a:buSzPts val="1100"/>
              <a:buNone/>
            </a:pPr>
            <a:r>
              <a:rPr lang="en-US" dirty="0"/>
              <a: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interface B {</a:t>
            </a:r>
          </a:p>
          <a:p>
            <a:pPr marL="0" lvl="0" indent="0" algn="l" rtl="0">
              <a:lnSpc>
                <a:spcPct val="100000"/>
              </a:lnSpc>
              <a:spcBef>
                <a:spcPts val="0"/>
              </a:spcBef>
              <a:spcAft>
                <a:spcPts val="0"/>
              </a:spcAft>
              <a:buSzPts val="1100"/>
              <a:buNone/>
            </a:pPr>
            <a:r>
              <a:rPr lang="en-US" dirty="0"/>
              <a:t>    void </a:t>
            </a:r>
            <a:r>
              <a:rPr lang="en-US" dirty="0" err="1"/>
              <a:t>methodB</a:t>
            </a:r>
            <a:r>
              <a:rPr lang="en-US" dirty="0"/>
              <a:t>();</a:t>
            </a:r>
          </a:p>
          <a:p>
            <a:pPr marL="0" lvl="0" indent="0" algn="l" rtl="0">
              <a:lnSpc>
                <a:spcPct val="100000"/>
              </a:lnSpc>
              <a:spcBef>
                <a:spcPts val="0"/>
              </a:spcBef>
              <a:spcAft>
                <a:spcPts val="0"/>
              </a:spcAft>
              <a:buSzPts val="1100"/>
              <a:buNone/>
            </a:pPr>
            <a:r>
              <a:rPr lang="en-US" dirty="0"/>
              <a: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interface C extends A, B {</a:t>
            </a:r>
          </a:p>
          <a:p>
            <a:pPr marL="0" lvl="0" indent="0" algn="l" rtl="0">
              <a:lnSpc>
                <a:spcPct val="100000"/>
              </a:lnSpc>
              <a:spcBef>
                <a:spcPts val="0"/>
              </a:spcBef>
              <a:spcAft>
                <a:spcPts val="0"/>
              </a:spcAft>
              <a:buSzPts val="1100"/>
              <a:buNone/>
            </a:pPr>
            <a:r>
              <a:rPr lang="en-US" dirty="0"/>
              <a:t>    void </a:t>
            </a:r>
            <a:r>
              <a:rPr lang="en-US" dirty="0" err="1"/>
              <a:t>methodC</a:t>
            </a:r>
            <a:r>
              <a:rPr lang="en-US" dirty="0"/>
              <a:t>();</a:t>
            </a:r>
          </a:p>
          <a:p>
            <a:pPr marL="0" lvl="0" indent="0" algn="l" rtl="0">
              <a:lnSpc>
                <a:spcPct val="100000"/>
              </a:lnSpc>
              <a:spcBef>
                <a:spcPts val="0"/>
              </a:spcBef>
              <a:spcAft>
                <a:spcPts val="0"/>
              </a:spcAft>
              <a:buSzPts val="1100"/>
              <a:buNone/>
            </a:pPr>
            <a:r>
              <a:rPr lang="en-US" dirty="0"/>
              <a:t>}</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Now any class that implements </a:t>
            </a:r>
            <a:r>
              <a:rPr lang="en-US" sz="1100" b="0" i="0" u="none" strike="noStrike" cap="none" dirty="0">
                <a:solidFill>
                  <a:srgbClr val="000000"/>
                </a:solidFill>
                <a:latin typeface="Arial"/>
                <a:ea typeface="Arial"/>
                <a:cs typeface="Arial"/>
                <a:sym typeface="Arial"/>
              </a:rPr>
              <a:t>C</a:t>
            </a:r>
            <a:r>
              <a:rPr lang="en-US" dirty="0"/>
              <a:t> must implement </a:t>
            </a:r>
            <a:r>
              <a:rPr lang="en-US" b="1" dirty="0"/>
              <a:t>all methods</a:t>
            </a:r>
            <a:r>
              <a:rPr lang="en-US" dirty="0"/>
              <a:t>:</a:t>
            </a:r>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207526de7e9_0_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4" name="Google Shape;1174;g207526de7e9_0_3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USE SPARINGLY.</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1"/>
        <p:cNvGrpSpPr/>
        <p:nvPr/>
      </p:nvGrpSpPr>
      <p:grpSpPr>
        <a:xfrm>
          <a:off x="0" y="0"/>
          <a:ext cx="0" cy="0"/>
          <a:chOff x="0" y="0"/>
          <a:chExt cx="0" cy="0"/>
        </a:xfrm>
      </p:grpSpPr>
      <p:sp>
        <p:nvSpPr>
          <p:cNvPr id="1202" name="Google Shape;1202;g1899444694b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3" name="Google Shape;1203;g1899444694b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You will get error.</a:t>
            </a:r>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4"/>
        <p:cNvGrpSpPr/>
        <p:nvPr/>
      </p:nvGrpSpPr>
      <p:grpSpPr>
        <a:xfrm>
          <a:off x="0" y="0"/>
          <a:ext cx="0" cy="0"/>
          <a:chOff x="0" y="0"/>
          <a:chExt cx="0" cy="0"/>
        </a:xfrm>
      </p:grpSpPr>
      <p:sp>
        <p:nvSpPr>
          <p:cNvPr id="1215" name="Google Shape;1215;g1899444694b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6" name="Google Shape;1216;g1899444694b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g1899444694b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7" name="Google Shape;1227;g1899444694b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1899444694b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7" name="Google Shape;1237;g1899444694b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g1899444694b_0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9" name="Google Shape;1249;g1899444694b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g1899444694b_0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0" name="Google Shape;1260;g1899444694b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899444694b_0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899444694b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207526de7e9_0_4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0" name="Google Shape;1280;g207526de7e9_0_4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g207526de7e9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1" name="Google Shape;1291;g207526de7e9_0_4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0"/>
        <p:cNvGrpSpPr/>
        <p:nvPr/>
      </p:nvGrpSpPr>
      <p:grpSpPr>
        <a:xfrm>
          <a:off x="0" y="0"/>
          <a:ext cx="0" cy="0"/>
          <a:chOff x="0" y="0"/>
          <a:chExt cx="0" cy="0"/>
        </a:xfrm>
      </p:grpSpPr>
      <p:sp>
        <p:nvSpPr>
          <p:cNvPr id="1301" name="Google Shape;1301;g207526de7e9_0_4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2" name="Google Shape;1302;g207526de7e9_0_4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The data structures we have covered and that are available to use are in green.</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8"/>
        <p:cNvGrpSpPr/>
        <p:nvPr/>
      </p:nvGrpSpPr>
      <p:grpSpPr>
        <a:xfrm>
          <a:off x="0" y="0"/>
          <a:ext cx="0" cy="0"/>
          <a:chOff x="0" y="0"/>
          <a:chExt cx="0" cy="0"/>
        </a:xfrm>
      </p:grpSpPr>
      <p:sp>
        <p:nvSpPr>
          <p:cNvPr id="1349" name="Google Shape;1349;g3372d44b2a9_3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0" name="Google Shape;1350;g3372d44b2a9_3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4"/>
        <p:cNvGrpSpPr/>
        <p:nvPr/>
      </p:nvGrpSpPr>
      <p:grpSpPr>
        <a:xfrm>
          <a:off x="0" y="0"/>
          <a:ext cx="0" cy="0"/>
          <a:chOff x="0" y="0"/>
          <a:chExt cx="0" cy="0"/>
        </a:xfrm>
      </p:grpSpPr>
      <p:sp>
        <p:nvSpPr>
          <p:cNvPr id="1355" name="Google Shape;1355;g3372d44b2a9_3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6" name="Google Shape;1356;g3372d44b2a9_3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0"/>
        <p:cNvGrpSpPr/>
        <p:nvPr/>
      </p:nvGrpSpPr>
      <p:grpSpPr>
        <a:xfrm>
          <a:off x="0" y="0"/>
          <a:ext cx="0" cy="0"/>
          <a:chOff x="0" y="0"/>
          <a:chExt cx="0" cy="0"/>
        </a:xfrm>
      </p:grpSpPr>
      <p:sp>
        <p:nvSpPr>
          <p:cNvPr id="1361" name="Google Shape;1361;g207526de7e9_0_5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2" name="Google Shape;1362;g207526de7e9_0_5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3"/>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1">
  <p:cSld name="AUTOLAYOUT_1">
    <p:bg>
      <p:bgPr>
        <a:solidFill>
          <a:srgbClr val="FFFFFF"/>
        </a:solidFill>
        <a:effectLst/>
      </p:bgPr>
    </p:bg>
    <p:spTree>
      <p:nvGrpSpPr>
        <p:cNvPr id="1" name="Shape 18"/>
        <p:cNvGrpSpPr/>
        <p:nvPr/>
      </p:nvGrpSpPr>
      <p:grpSpPr>
        <a:xfrm>
          <a:off x="0" y="0"/>
          <a:ext cx="0" cy="0"/>
          <a:chOff x="0" y="0"/>
          <a:chExt cx="0" cy="0"/>
        </a:xfrm>
      </p:grpSpPr>
      <p:sp>
        <p:nvSpPr>
          <p:cNvPr id="19" name="Google Shape;19;p4"/>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3600"/>
              <a:buNone/>
              <a:defRPr sz="3600" b="1">
                <a:solidFill>
                  <a:schemeClr val="dk1"/>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24" name="Google Shape;24;p4"/>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a:lnSpc>
                <a:spcPct val="115000"/>
              </a:lnSpc>
              <a:spcBef>
                <a:spcPts val="0"/>
              </a:spcBef>
              <a:spcAft>
                <a:spcPts val="0"/>
              </a:spcAft>
              <a:buClr>
                <a:schemeClr val="dk2"/>
              </a:buClr>
              <a:buSzPts val="1600"/>
              <a:buChar char="●"/>
              <a:defRPr sz="1600">
                <a:solidFill>
                  <a:schemeClr val="dk2"/>
                </a:solidFill>
              </a:defRPr>
            </a:lvl1pPr>
            <a:lvl2pPr marL="914400" lvl="1" indent="-298450" algn="l">
              <a:lnSpc>
                <a:spcPct val="115000"/>
              </a:lnSpc>
              <a:spcBef>
                <a:spcPts val="1600"/>
              </a:spcBef>
              <a:spcAft>
                <a:spcPts val="0"/>
              </a:spcAft>
              <a:buClr>
                <a:schemeClr val="dk2"/>
              </a:buClr>
              <a:buSzPts val="1100"/>
              <a:buChar char="○"/>
              <a:defRPr sz="1400">
                <a:solidFill>
                  <a:schemeClr val="dk2"/>
                </a:solidFill>
              </a:defRPr>
            </a:lvl2pPr>
            <a:lvl3pPr marL="1371600" lvl="2" indent="-298450" algn="l">
              <a:lnSpc>
                <a:spcPct val="115000"/>
              </a:lnSpc>
              <a:spcBef>
                <a:spcPts val="1600"/>
              </a:spcBef>
              <a:spcAft>
                <a:spcPts val="0"/>
              </a:spcAft>
              <a:buClr>
                <a:schemeClr val="dk2"/>
              </a:buClr>
              <a:buSzPts val="1100"/>
              <a:buChar char="■"/>
              <a:defRPr sz="1400">
                <a:solidFill>
                  <a:schemeClr val="dk2"/>
                </a:solidFill>
              </a:defRPr>
            </a:lvl3pPr>
            <a:lvl4pPr marL="1828800" lvl="3" indent="-298450" algn="l">
              <a:lnSpc>
                <a:spcPct val="115000"/>
              </a:lnSpc>
              <a:spcBef>
                <a:spcPts val="1600"/>
              </a:spcBef>
              <a:spcAft>
                <a:spcPts val="0"/>
              </a:spcAft>
              <a:buClr>
                <a:schemeClr val="dk2"/>
              </a:buClr>
              <a:buSzPts val="1100"/>
              <a:buChar char="●"/>
              <a:defRPr sz="1400">
                <a:solidFill>
                  <a:schemeClr val="dk2"/>
                </a:solidFill>
              </a:defRPr>
            </a:lvl4pPr>
            <a:lvl5pPr marL="2286000" lvl="4" indent="-298450" algn="l">
              <a:lnSpc>
                <a:spcPct val="115000"/>
              </a:lnSpc>
              <a:spcBef>
                <a:spcPts val="1600"/>
              </a:spcBef>
              <a:spcAft>
                <a:spcPts val="0"/>
              </a:spcAft>
              <a:buClr>
                <a:schemeClr val="dk2"/>
              </a:buClr>
              <a:buSzPts val="1100"/>
              <a:buChar char="○"/>
              <a:defRPr sz="1400">
                <a:solidFill>
                  <a:schemeClr val="dk2"/>
                </a:solidFill>
              </a:defRPr>
            </a:lvl5pPr>
            <a:lvl6pPr marL="2743200" lvl="5" indent="-298450" algn="l">
              <a:lnSpc>
                <a:spcPct val="115000"/>
              </a:lnSpc>
              <a:spcBef>
                <a:spcPts val="1600"/>
              </a:spcBef>
              <a:spcAft>
                <a:spcPts val="0"/>
              </a:spcAft>
              <a:buClr>
                <a:schemeClr val="dk2"/>
              </a:buClr>
              <a:buSzPts val="1100"/>
              <a:buChar char="■"/>
              <a:defRPr sz="1400">
                <a:solidFill>
                  <a:schemeClr val="dk2"/>
                </a:solidFill>
              </a:defRPr>
            </a:lvl6pPr>
            <a:lvl7pPr marL="3200400" lvl="6" indent="-298450" algn="l">
              <a:lnSpc>
                <a:spcPct val="115000"/>
              </a:lnSpc>
              <a:spcBef>
                <a:spcPts val="1600"/>
              </a:spcBef>
              <a:spcAft>
                <a:spcPts val="0"/>
              </a:spcAft>
              <a:buClr>
                <a:schemeClr val="dk2"/>
              </a:buClr>
              <a:buSzPts val="1100"/>
              <a:buChar char="●"/>
              <a:defRPr sz="1400">
                <a:solidFill>
                  <a:schemeClr val="dk2"/>
                </a:solidFill>
              </a:defRPr>
            </a:lvl7pPr>
            <a:lvl8pPr marL="3657600" lvl="7" indent="-298450" algn="l">
              <a:lnSpc>
                <a:spcPct val="115000"/>
              </a:lnSpc>
              <a:spcBef>
                <a:spcPts val="1600"/>
              </a:spcBef>
              <a:spcAft>
                <a:spcPts val="0"/>
              </a:spcAft>
              <a:buClr>
                <a:schemeClr val="dk2"/>
              </a:buClr>
              <a:buSzPts val="1100"/>
              <a:buChar char="○"/>
              <a:defRPr sz="1400">
                <a:solidFill>
                  <a:schemeClr val="dk2"/>
                </a:solidFill>
              </a:defRPr>
            </a:lvl8pPr>
            <a:lvl9pPr marL="4114800" lvl="8" indent="-298450" algn="l">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26" name="Google Shape;26;p4"/>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7" name="Google Shape;27;p4"/>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8" name="Google Shape;28;p4"/>
          <p:cNvSpPr txBox="1">
            <a:spLocks noGrp="1"/>
          </p:cNvSpPr>
          <p:nvPr>
            <p:ph type="title" idx="4"/>
          </p:nvPr>
        </p:nvSpPr>
        <p:spPr>
          <a:xfrm>
            <a:off x="427525" y="32875"/>
            <a:ext cx="933900" cy="749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rgbClr val="FFFFFF"/>
                </a:solidFill>
                <a:latin typeface="Roboto"/>
                <a:ea typeface="Roboto"/>
                <a:cs typeface="Roboto"/>
                <a:sym typeface="Roboto"/>
              </a:defRPr>
            </a:lvl1pPr>
            <a:lvl2pPr lvl="1" algn="l">
              <a:lnSpc>
                <a:spcPct val="100000"/>
              </a:lnSpc>
              <a:spcBef>
                <a:spcPts val="0"/>
              </a:spcBef>
              <a:spcAft>
                <a:spcPts val="0"/>
              </a:spcAft>
              <a:buSzPts val="2800"/>
              <a:buNone/>
              <a:defRPr>
                <a:latin typeface="Roboto"/>
                <a:ea typeface="Roboto"/>
                <a:cs typeface="Roboto"/>
                <a:sym typeface="Roboto"/>
              </a:defRPr>
            </a:lvl2pPr>
            <a:lvl3pPr lvl="2" algn="l">
              <a:lnSpc>
                <a:spcPct val="100000"/>
              </a:lnSpc>
              <a:spcBef>
                <a:spcPts val="0"/>
              </a:spcBef>
              <a:spcAft>
                <a:spcPts val="0"/>
              </a:spcAft>
              <a:buSzPts val="2800"/>
              <a:buNone/>
              <a:defRPr>
                <a:latin typeface="Roboto"/>
                <a:ea typeface="Roboto"/>
                <a:cs typeface="Roboto"/>
                <a:sym typeface="Roboto"/>
              </a:defRPr>
            </a:lvl3pPr>
            <a:lvl4pPr lvl="3" algn="l">
              <a:lnSpc>
                <a:spcPct val="100000"/>
              </a:lnSpc>
              <a:spcBef>
                <a:spcPts val="0"/>
              </a:spcBef>
              <a:spcAft>
                <a:spcPts val="0"/>
              </a:spcAft>
              <a:buSzPts val="2800"/>
              <a:buNone/>
              <a:defRPr>
                <a:latin typeface="Roboto"/>
                <a:ea typeface="Roboto"/>
                <a:cs typeface="Roboto"/>
                <a:sym typeface="Roboto"/>
              </a:defRPr>
            </a:lvl4pPr>
            <a:lvl5pPr lvl="4" algn="l">
              <a:lnSpc>
                <a:spcPct val="100000"/>
              </a:lnSpc>
              <a:spcBef>
                <a:spcPts val="0"/>
              </a:spcBef>
              <a:spcAft>
                <a:spcPts val="0"/>
              </a:spcAft>
              <a:buSzPts val="2800"/>
              <a:buNone/>
              <a:defRPr>
                <a:latin typeface="Roboto"/>
                <a:ea typeface="Roboto"/>
                <a:cs typeface="Roboto"/>
                <a:sym typeface="Roboto"/>
              </a:defRPr>
            </a:lvl5pPr>
            <a:lvl6pPr lvl="5" algn="l">
              <a:lnSpc>
                <a:spcPct val="100000"/>
              </a:lnSpc>
              <a:spcBef>
                <a:spcPts val="0"/>
              </a:spcBef>
              <a:spcAft>
                <a:spcPts val="0"/>
              </a:spcAft>
              <a:buSzPts val="2800"/>
              <a:buNone/>
              <a:defRPr>
                <a:latin typeface="Roboto"/>
                <a:ea typeface="Roboto"/>
                <a:cs typeface="Roboto"/>
                <a:sym typeface="Roboto"/>
              </a:defRPr>
            </a:lvl6pPr>
            <a:lvl7pPr lvl="6" algn="l">
              <a:lnSpc>
                <a:spcPct val="100000"/>
              </a:lnSpc>
              <a:spcBef>
                <a:spcPts val="0"/>
              </a:spcBef>
              <a:spcAft>
                <a:spcPts val="0"/>
              </a:spcAft>
              <a:buSzPts val="2800"/>
              <a:buNone/>
              <a:defRPr>
                <a:latin typeface="Roboto"/>
                <a:ea typeface="Roboto"/>
                <a:cs typeface="Roboto"/>
                <a:sym typeface="Roboto"/>
              </a:defRPr>
            </a:lvl7pPr>
            <a:lvl8pPr lvl="7" algn="l">
              <a:lnSpc>
                <a:spcPct val="100000"/>
              </a:lnSpc>
              <a:spcBef>
                <a:spcPts val="0"/>
              </a:spcBef>
              <a:spcAft>
                <a:spcPts val="0"/>
              </a:spcAft>
              <a:buSzPts val="2800"/>
              <a:buNone/>
              <a:defRPr>
                <a:latin typeface="Roboto"/>
                <a:ea typeface="Roboto"/>
                <a:cs typeface="Roboto"/>
                <a:sym typeface="Roboto"/>
              </a:defRPr>
            </a:lvl8pPr>
            <a:lvl9pPr lvl="8" algn="l">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
        <p:nvSpPr>
          <p:cNvPr id="30" name="Google Shape;30;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sp>
        <p:nvSpPr>
          <p:cNvPr id="32" name="Google Shape;32;p6"/>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33" name="Google Shape;33;p6"/>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6"/>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body" idx="1"/>
          </p:nvPr>
        </p:nvSpPr>
        <p:spPr>
          <a:xfrm>
            <a:off x="46446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37" name="Google Shape;37;p6"/>
          <p:cNvSpPr txBox="1">
            <a:spLocks noGrp="1"/>
          </p:cNvSpPr>
          <p:nvPr>
            <p:ph type="body" idx="2"/>
          </p:nvPr>
        </p:nvSpPr>
        <p:spPr>
          <a:xfrm>
            <a:off x="3154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298450" algn="l">
              <a:lnSpc>
                <a:spcPct val="115000"/>
              </a:lnSpc>
              <a:spcBef>
                <a:spcPts val="1600"/>
              </a:spcBef>
              <a:spcAft>
                <a:spcPts val="0"/>
              </a:spcAft>
              <a:buClr>
                <a:srgbClr val="FFFFFF"/>
              </a:buClr>
              <a:buSzPts val="1100"/>
              <a:buChar char="○"/>
              <a:defRPr>
                <a:solidFill>
                  <a:srgbClr val="FFFFFF"/>
                </a:solidFill>
              </a:defRPr>
            </a:lvl2pPr>
            <a:lvl3pPr marL="1371600" lvl="2" indent="-298450" algn="l">
              <a:lnSpc>
                <a:spcPct val="115000"/>
              </a:lnSpc>
              <a:spcBef>
                <a:spcPts val="1600"/>
              </a:spcBef>
              <a:spcAft>
                <a:spcPts val="0"/>
              </a:spcAft>
              <a:buClr>
                <a:srgbClr val="FFFFFF"/>
              </a:buClr>
              <a:buSzPts val="1100"/>
              <a:buChar char="■"/>
              <a:defRPr>
                <a:solidFill>
                  <a:srgbClr val="FFFFFF"/>
                </a:solidFill>
              </a:defRPr>
            </a:lvl3pPr>
            <a:lvl4pPr marL="1828800" lvl="3" indent="-298450" algn="l">
              <a:lnSpc>
                <a:spcPct val="115000"/>
              </a:lnSpc>
              <a:spcBef>
                <a:spcPts val="1600"/>
              </a:spcBef>
              <a:spcAft>
                <a:spcPts val="0"/>
              </a:spcAft>
              <a:buClr>
                <a:srgbClr val="FFFFFF"/>
              </a:buClr>
              <a:buSzPts val="1100"/>
              <a:buChar char="●"/>
              <a:defRPr>
                <a:solidFill>
                  <a:srgbClr val="FFFFFF"/>
                </a:solidFill>
              </a:defRPr>
            </a:lvl4pPr>
            <a:lvl5pPr marL="2286000" lvl="4" indent="-298450" algn="l">
              <a:lnSpc>
                <a:spcPct val="115000"/>
              </a:lnSpc>
              <a:spcBef>
                <a:spcPts val="1600"/>
              </a:spcBef>
              <a:spcAft>
                <a:spcPts val="0"/>
              </a:spcAft>
              <a:buClr>
                <a:srgbClr val="FFFFFF"/>
              </a:buClr>
              <a:buSzPts val="1100"/>
              <a:buChar char="○"/>
              <a:defRPr>
                <a:solidFill>
                  <a:srgbClr val="FFFFFF"/>
                </a:solidFill>
              </a:defRPr>
            </a:lvl5pPr>
            <a:lvl6pPr marL="2743200" lvl="5" indent="-298450" algn="l">
              <a:lnSpc>
                <a:spcPct val="115000"/>
              </a:lnSpc>
              <a:spcBef>
                <a:spcPts val="1600"/>
              </a:spcBef>
              <a:spcAft>
                <a:spcPts val="0"/>
              </a:spcAft>
              <a:buClr>
                <a:srgbClr val="FFFFFF"/>
              </a:buClr>
              <a:buSzPts val="1100"/>
              <a:buChar char="■"/>
              <a:defRPr>
                <a:solidFill>
                  <a:srgbClr val="FFFFFF"/>
                </a:solidFill>
              </a:defRPr>
            </a:lvl6pPr>
            <a:lvl7pPr marL="3200400" lvl="6" indent="-298450" algn="l">
              <a:lnSpc>
                <a:spcPct val="115000"/>
              </a:lnSpc>
              <a:spcBef>
                <a:spcPts val="1600"/>
              </a:spcBef>
              <a:spcAft>
                <a:spcPts val="0"/>
              </a:spcAft>
              <a:buClr>
                <a:srgbClr val="FFFFFF"/>
              </a:buClr>
              <a:buSzPts val="1100"/>
              <a:buChar char="●"/>
              <a:defRPr>
                <a:solidFill>
                  <a:srgbClr val="FFFFFF"/>
                </a:solidFill>
              </a:defRPr>
            </a:lvl7pPr>
            <a:lvl8pPr marL="3657600" lvl="7" indent="-298450" algn="l">
              <a:lnSpc>
                <a:spcPct val="115000"/>
              </a:lnSpc>
              <a:spcBef>
                <a:spcPts val="1600"/>
              </a:spcBef>
              <a:spcAft>
                <a:spcPts val="0"/>
              </a:spcAft>
              <a:buClr>
                <a:srgbClr val="FFFFFF"/>
              </a:buClr>
              <a:buSzPts val="1100"/>
              <a:buChar char="○"/>
              <a:defRPr>
                <a:solidFill>
                  <a:srgbClr val="FFFFFF"/>
                </a:solidFill>
              </a:defRPr>
            </a:lvl8pPr>
            <a:lvl9pPr marL="4114800" lvl="8" indent="-298450" algn="l">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38" name="Google Shape;38;p6"/>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9"/>
        <p:cNvGrpSpPr/>
        <p:nvPr/>
      </p:nvGrpSpPr>
      <p:grpSpPr>
        <a:xfrm>
          <a:off x="0" y="0"/>
          <a:ext cx="0" cy="0"/>
          <a:chOff x="0" y="0"/>
          <a:chExt cx="0" cy="0"/>
        </a:xfrm>
      </p:grpSpPr>
      <p:sp>
        <p:nvSpPr>
          <p:cNvPr id="40" name="Google Shape;40;p7"/>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7"/>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117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48324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44" name="Google Shape;44;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5"/>
        <p:cNvGrpSpPr/>
        <p:nvPr/>
      </p:nvGrpSpPr>
      <p:grpSpPr>
        <a:xfrm>
          <a:off x="0" y="0"/>
          <a:ext cx="0" cy="0"/>
          <a:chOff x="0" y="0"/>
          <a:chExt cx="0" cy="0"/>
        </a:xfrm>
      </p:grpSpPr>
      <p:sp>
        <p:nvSpPr>
          <p:cNvPr id="46" name="Google Shape;46;p8"/>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8" name="Google Shape;48;p8"/>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49" name="Google Shape;49;p8"/>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50" name="Google Shape;50;p8"/>
          <p:cNvSpPr txBox="1">
            <a:spLocks noGrp="1"/>
          </p:cNvSpPr>
          <p:nvPr>
            <p:ph type="body" idx="1"/>
          </p:nvPr>
        </p:nvSpPr>
        <p:spPr>
          <a:xfrm>
            <a:off x="3012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1" name="Google Shape;51;p8"/>
          <p:cNvSpPr txBox="1">
            <a:spLocks noGrp="1"/>
          </p:cNvSpPr>
          <p:nvPr>
            <p:ph type="body" idx="2"/>
          </p:nvPr>
        </p:nvSpPr>
        <p:spPr>
          <a:xfrm>
            <a:off x="51922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298450" algn="l">
              <a:lnSpc>
                <a:spcPct val="115000"/>
              </a:lnSpc>
              <a:spcBef>
                <a:spcPts val="1600"/>
              </a:spcBef>
              <a:spcAft>
                <a:spcPts val="0"/>
              </a:spcAft>
              <a:buClr>
                <a:srgbClr val="FFFFFF"/>
              </a:buClr>
              <a:buSzPts val="1100"/>
              <a:buChar char="○"/>
              <a:defRPr>
                <a:solidFill>
                  <a:srgbClr val="FFFFFF"/>
                </a:solidFill>
              </a:defRPr>
            </a:lvl2pPr>
            <a:lvl3pPr marL="1371600" lvl="2" indent="-298450" algn="l">
              <a:lnSpc>
                <a:spcPct val="115000"/>
              </a:lnSpc>
              <a:spcBef>
                <a:spcPts val="1600"/>
              </a:spcBef>
              <a:spcAft>
                <a:spcPts val="0"/>
              </a:spcAft>
              <a:buClr>
                <a:srgbClr val="FFFFFF"/>
              </a:buClr>
              <a:buSzPts val="1100"/>
              <a:buChar char="■"/>
              <a:defRPr>
                <a:solidFill>
                  <a:srgbClr val="FFFFFF"/>
                </a:solidFill>
              </a:defRPr>
            </a:lvl3pPr>
            <a:lvl4pPr marL="1828800" lvl="3" indent="-298450" algn="l">
              <a:lnSpc>
                <a:spcPct val="115000"/>
              </a:lnSpc>
              <a:spcBef>
                <a:spcPts val="1600"/>
              </a:spcBef>
              <a:spcAft>
                <a:spcPts val="0"/>
              </a:spcAft>
              <a:buClr>
                <a:srgbClr val="FFFFFF"/>
              </a:buClr>
              <a:buSzPts val="1100"/>
              <a:buChar char="●"/>
              <a:defRPr>
                <a:solidFill>
                  <a:srgbClr val="FFFFFF"/>
                </a:solidFill>
              </a:defRPr>
            </a:lvl4pPr>
            <a:lvl5pPr marL="2286000" lvl="4" indent="-298450" algn="l">
              <a:lnSpc>
                <a:spcPct val="115000"/>
              </a:lnSpc>
              <a:spcBef>
                <a:spcPts val="1600"/>
              </a:spcBef>
              <a:spcAft>
                <a:spcPts val="0"/>
              </a:spcAft>
              <a:buClr>
                <a:srgbClr val="FFFFFF"/>
              </a:buClr>
              <a:buSzPts val="1100"/>
              <a:buChar char="○"/>
              <a:defRPr>
                <a:solidFill>
                  <a:srgbClr val="FFFFFF"/>
                </a:solidFill>
              </a:defRPr>
            </a:lvl5pPr>
            <a:lvl6pPr marL="2743200" lvl="5" indent="-298450" algn="l">
              <a:lnSpc>
                <a:spcPct val="115000"/>
              </a:lnSpc>
              <a:spcBef>
                <a:spcPts val="1600"/>
              </a:spcBef>
              <a:spcAft>
                <a:spcPts val="0"/>
              </a:spcAft>
              <a:buClr>
                <a:srgbClr val="FFFFFF"/>
              </a:buClr>
              <a:buSzPts val="1100"/>
              <a:buChar char="■"/>
              <a:defRPr>
                <a:solidFill>
                  <a:srgbClr val="FFFFFF"/>
                </a:solidFill>
              </a:defRPr>
            </a:lvl6pPr>
            <a:lvl7pPr marL="3200400" lvl="6" indent="-298450" algn="l">
              <a:lnSpc>
                <a:spcPct val="115000"/>
              </a:lnSpc>
              <a:spcBef>
                <a:spcPts val="1600"/>
              </a:spcBef>
              <a:spcAft>
                <a:spcPts val="0"/>
              </a:spcAft>
              <a:buClr>
                <a:srgbClr val="FFFFFF"/>
              </a:buClr>
              <a:buSzPts val="1100"/>
              <a:buChar char="●"/>
              <a:defRPr>
                <a:solidFill>
                  <a:srgbClr val="FFFFFF"/>
                </a:solidFill>
              </a:defRPr>
            </a:lvl7pPr>
            <a:lvl8pPr marL="3657600" lvl="7" indent="-298450" algn="l">
              <a:lnSpc>
                <a:spcPct val="115000"/>
              </a:lnSpc>
              <a:spcBef>
                <a:spcPts val="1600"/>
              </a:spcBef>
              <a:spcAft>
                <a:spcPts val="0"/>
              </a:spcAft>
              <a:buClr>
                <a:srgbClr val="FFFFFF"/>
              </a:buClr>
              <a:buSzPts val="1100"/>
              <a:buChar char="○"/>
              <a:defRPr>
                <a:solidFill>
                  <a:srgbClr val="FFFFFF"/>
                </a:solidFill>
              </a:defRPr>
            </a:lvl8pPr>
            <a:lvl9pPr marL="4114800" lvl="8" indent="-298450" algn="l">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52" name="Google Shape;52;p8"/>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53"/>
        <p:cNvGrpSpPr/>
        <p:nvPr/>
      </p:nvGrpSpPr>
      <p:grpSpPr>
        <a:xfrm>
          <a:off x="0" y="0"/>
          <a:ext cx="0" cy="0"/>
          <a:chOff x="0" y="0"/>
          <a:chExt cx="0" cy="0"/>
        </a:xfrm>
      </p:grpSpPr>
      <p:sp>
        <p:nvSpPr>
          <p:cNvPr id="54" name="Google Shape;54;p9"/>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55" name="Google Shape;55;p9"/>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56" name="Google Shape;56;p9"/>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57" name="Google Shape;57;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311675" y="798600"/>
            <a:ext cx="6247800" cy="3546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60" name="Google Shape;6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1"/>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11"/>
          <p:cNvSpPr txBox="1">
            <a:spLocks noGrp="1"/>
          </p:cNvSpPr>
          <p:nvPr>
            <p:ph type="title"/>
          </p:nvPr>
        </p:nvSpPr>
        <p:spPr>
          <a:xfrm>
            <a:off x="311300" y="500925"/>
            <a:ext cx="3704400" cy="20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64" name="Google Shape;64;p11"/>
          <p:cNvSpPr txBox="1">
            <a:spLocks noGrp="1"/>
          </p:cNvSpPr>
          <p:nvPr>
            <p:ph type="subTitle" idx="1"/>
          </p:nvPr>
        </p:nvSpPr>
        <p:spPr>
          <a:xfrm>
            <a:off x="304800" y="2626725"/>
            <a:ext cx="3704400" cy="926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65" name="Google Shape;65;p11"/>
          <p:cNvSpPr txBox="1">
            <a:spLocks noGrp="1"/>
          </p:cNvSpPr>
          <p:nvPr>
            <p:ph type="body" idx="2"/>
          </p:nvPr>
        </p:nvSpPr>
        <p:spPr>
          <a:xfrm>
            <a:off x="4879025" y="500925"/>
            <a:ext cx="3954000" cy="4111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66" name="Google Shape;6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7"/>
        <p:cNvGrpSpPr/>
        <p:nvPr/>
      </p:nvGrpSpPr>
      <p:grpSpPr>
        <a:xfrm>
          <a:off x="0" y="0"/>
          <a:ext cx="0" cy="0"/>
          <a:chOff x="0" y="0"/>
          <a:chExt cx="0" cy="0"/>
        </a:xfrm>
      </p:grpSpPr>
      <p:sp>
        <p:nvSpPr>
          <p:cNvPr id="68" name="Google Shape;68;p12"/>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12"/>
          <p:cNvSpPr txBox="1">
            <a:spLocks noGrp="1"/>
          </p:cNvSpPr>
          <p:nvPr>
            <p:ph type="body" idx="1"/>
          </p:nvPr>
        </p:nvSpPr>
        <p:spPr>
          <a:xfrm>
            <a:off x="311700" y="4521400"/>
            <a:ext cx="7979400" cy="4605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70" name="Google Shape;70;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sp>
        <p:nvSpPr>
          <p:cNvPr id="72" name="Google Shape;72;p13"/>
          <p:cNvSpPr txBox="1">
            <a:spLocks noGrp="1"/>
          </p:cNvSpPr>
          <p:nvPr>
            <p:ph type="title" hasCustomPrompt="1"/>
          </p:nvPr>
        </p:nvSpPr>
        <p:spPr>
          <a:xfrm>
            <a:off x="311750" y="831175"/>
            <a:ext cx="5334900" cy="1244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73" name="Google Shape;73;p13"/>
          <p:cNvSpPr txBox="1">
            <a:spLocks noGrp="1"/>
          </p:cNvSpPr>
          <p:nvPr>
            <p:ph type="body" idx="1"/>
          </p:nvPr>
        </p:nvSpPr>
        <p:spPr>
          <a:xfrm>
            <a:off x="311700" y="2121425"/>
            <a:ext cx="5334900" cy="9426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chemeClr val="accent2"/>
              </a:buClr>
              <a:buSzPts val="1300"/>
              <a:buChar char="●"/>
              <a:defRPr>
                <a:solidFill>
                  <a:schemeClr val="accent2"/>
                </a:solidFill>
              </a:defRPr>
            </a:lvl1pPr>
            <a:lvl2pPr marL="914400" lvl="1" indent="-298450" algn="l">
              <a:lnSpc>
                <a:spcPct val="115000"/>
              </a:lnSpc>
              <a:spcBef>
                <a:spcPts val="1600"/>
              </a:spcBef>
              <a:spcAft>
                <a:spcPts val="0"/>
              </a:spcAft>
              <a:buClr>
                <a:schemeClr val="accent2"/>
              </a:buClr>
              <a:buSzPts val="1100"/>
              <a:buChar char="○"/>
              <a:defRPr>
                <a:solidFill>
                  <a:schemeClr val="accent2"/>
                </a:solidFill>
              </a:defRPr>
            </a:lvl2pPr>
            <a:lvl3pPr marL="1371600" lvl="2" indent="-298450" algn="l">
              <a:lnSpc>
                <a:spcPct val="115000"/>
              </a:lnSpc>
              <a:spcBef>
                <a:spcPts val="1600"/>
              </a:spcBef>
              <a:spcAft>
                <a:spcPts val="0"/>
              </a:spcAft>
              <a:buClr>
                <a:schemeClr val="accent2"/>
              </a:buClr>
              <a:buSzPts val="1100"/>
              <a:buChar char="■"/>
              <a:defRPr>
                <a:solidFill>
                  <a:schemeClr val="accent2"/>
                </a:solidFill>
              </a:defRPr>
            </a:lvl3pPr>
            <a:lvl4pPr marL="1828800" lvl="3" indent="-298450" algn="l">
              <a:lnSpc>
                <a:spcPct val="115000"/>
              </a:lnSpc>
              <a:spcBef>
                <a:spcPts val="1600"/>
              </a:spcBef>
              <a:spcAft>
                <a:spcPts val="0"/>
              </a:spcAft>
              <a:buClr>
                <a:schemeClr val="accent2"/>
              </a:buClr>
              <a:buSzPts val="1100"/>
              <a:buChar char="●"/>
              <a:defRPr>
                <a:solidFill>
                  <a:schemeClr val="accent2"/>
                </a:solidFill>
              </a:defRPr>
            </a:lvl4pPr>
            <a:lvl5pPr marL="2286000" lvl="4" indent="-298450" algn="l">
              <a:lnSpc>
                <a:spcPct val="115000"/>
              </a:lnSpc>
              <a:spcBef>
                <a:spcPts val="1600"/>
              </a:spcBef>
              <a:spcAft>
                <a:spcPts val="0"/>
              </a:spcAft>
              <a:buClr>
                <a:schemeClr val="accent2"/>
              </a:buClr>
              <a:buSzPts val="1100"/>
              <a:buChar char="○"/>
              <a:defRPr>
                <a:solidFill>
                  <a:schemeClr val="accent2"/>
                </a:solidFill>
              </a:defRPr>
            </a:lvl5pPr>
            <a:lvl6pPr marL="2743200" lvl="5" indent="-298450" algn="l">
              <a:lnSpc>
                <a:spcPct val="115000"/>
              </a:lnSpc>
              <a:spcBef>
                <a:spcPts val="1600"/>
              </a:spcBef>
              <a:spcAft>
                <a:spcPts val="0"/>
              </a:spcAft>
              <a:buClr>
                <a:schemeClr val="accent2"/>
              </a:buClr>
              <a:buSzPts val="1100"/>
              <a:buChar char="■"/>
              <a:defRPr>
                <a:solidFill>
                  <a:schemeClr val="accent2"/>
                </a:solidFill>
              </a:defRPr>
            </a:lvl6pPr>
            <a:lvl7pPr marL="3200400" lvl="6" indent="-298450" algn="l">
              <a:lnSpc>
                <a:spcPct val="115000"/>
              </a:lnSpc>
              <a:spcBef>
                <a:spcPts val="1600"/>
              </a:spcBef>
              <a:spcAft>
                <a:spcPts val="0"/>
              </a:spcAft>
              <a:buClr>
                <a:schemeClr val="accent2"/>
              </a:buClr>
              <a:buSzPts val="1100"/>
              <a:buChar char="●"/>
              <a:defRPr>
                <a:solidFill>
                  <a:schemeClr val="accent2"/>
                </a:solidFill>
              </a:defRPr>
            </a:lvl7pPr>
            <a:lvl8pPr marL="3657600" lvl="7" indent="-298450" algn="l">
              <a:lnSpc>
                <a:spcPct val="115000"/>
              </a:lnSpc>
              <a:spcBef>
                <a:spcPts val="1600"/>
              </a:spcBef>
              <a:spcAft>
                <a:spcPts val="0"/>
              </a:spcAft>
              <a:buClr>
                <a:schemeClr val="accent2"/>
              </a:buClr>
              <a:buSzPts val="1100"/>
              <a:buChar char="○"/>
              <a:defRPr>
                <a:solidFill>
                  <a:schemeClr val="accent2"/>
                </a:solidFill>
              </a:defRPr>
            </a:lvl8pPr>
            <a:lvl9pPr marL="4114800" lvl="8" indent="-298450" algn="l">
              <a:lnSpc>
                <a:spcPct val="115000"/>
              </a:lnSpc>
              <a:spcBef>
                <a:spcPts val="1600"/>
              </a:spcBef>
              <a:spcAft>
                <a:spcPts val="1600"/>
              </a:spcAft>
              <a:buClr>
                <a:schemeClr val="accent2"/>
              </a:buClr>
              <a:buSzPts val="1100"/>
              <a:buChar char="■"/>
              <a:defRPr>
                <a:solidFill>
                  <a:schemeClr val="accent2"/>
                </a:solidFill>
              </a:defRPr>
            </a:lvl9pPr>
          </a:lstStyle>
          <a:p>
            <a:endParaRPr/>
          </a:p>
        </p:txBody>
      </p:sp>
      <p:sp>
        <p:nvSpPr>
          <p:cNvPr id="74" name="Google Shape;74;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75"/>
        <p:cNvGrpSpPr/>
        <p:nvPr/>
      </p:nvGrpSpPr>
      <p:grpSpPr>
        <a:xfrm>
          <a:off x="0" y="0"/>
          <a:ext cx="0" cy="0"/>
          <a:chOff x="0" y="0"/>
          <a:chExt cx="0" cy="0"/>
        </a:xfrm>
      </p:grpSpPr>
      <p:sp>
        <p:nvSpPr>
          <p:cNvPr id="76" name="Google Shape;76;p1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8" name="Google Shape;78;p14"/>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79" name="Google Shape;7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2" name="Google Shape;82;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83" name="Google Shape;83;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84"/>
        <p:cNvGrpSpPr/>
        <p:nvPr/>
      </p:nvGrpSpPr>
      <p:grpSpPr>
        <a:xfrm>
          <a:off x="0" y="0"/>
          <a:ext cx="0" cy="0"/>
          <a:chOff x="0" y="0"/>
          <a:chExt cx="0" cy="0"/>
        </a:xfrm>
      </p:grpSpPr>
      <p:sp>
        <p:nvSpPr>
          <p:cNvPr id="85" name="Google Shape;85;p16"/>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87" name="Google Shape;87;p16"/>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88" name="Google Shape;88;p16"/>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9" name="Google Shape;89;p16"/>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1" name="Google Shape;91;p16"/>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6"/>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93" name="Google Shape;93;p16"/>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8"/>
        <p:cNvGrpSpPr/>
        <p:nvPr/>
      </p:nvGrpSpPr>
      <p:grpSpPr>
        <a:xfrm>
          <a:off x="0" y="0"/>
          <a:ext cx="0" cy="0"/>
          <a:chOff x="0" y="0"/>
          <a:chExt cx="0" cy="0"/>
        </a:xfrm>
      </p:grpSpPr>
      <p:sp>
        <p:nvSpPr>
          <p:cNvPr id="99" name="Google Shape;99;p18"/>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00" name="Google Shape;100;p18"/>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3600"/>
              <a:buNone/>
              <a:defRPr sz="3600"/>
            </a:lvl1pPr>
            <a:lvl2pPr lvl="1" algn="l" rtl="0">
              <a:lnSpc>
                <a:spcPct val="100000"/>
              </a:lnSpc>
              <a:spcBef>
                <a:spcPts val="0"/>
              </a:spcBef>
              <a:spcAft>
                <a:spcPts val="0"/>
              </a:spcAft>
              <a:buSzPts val="3600"/>
              <a:buNone/>
              <a:defRPr sz="3600"/>
            </a:lvl2pPr>
            <a:lvl3pPr lvl="2" algn="l" rtl="0">
              <a:lnSpc>
                <a:spcPct val="100000"/>
              </a:lnSpc>
              <a:spcBef>
                <a:spcPts val="0"/>
              </a:spcBef>
              <a:spcAft>
                <a:spcPts val="0"/>
              </a:spcAft>
              <a:buSzPts val="3600"/>
              <a:buNone/>
              <a:defRPr sz="3600"/>
            </a:lvl3pPr>
            <a:lvl4pPr lvl="3" algn="l" rtl="0">
              <a:lnSpc>
                <a:spcPct val="100000"/>
              </a:lnSpc>
              <a:spcBef>
                <a:spcPts val="0"/>
              </a:spcBef>
              <a:spcAft>
                <a:spcPts val="0"/>
              </a:spcAft>
              <a:buSzPts val="3600"/>
              <a:buNone/>
              <a:defRPr sz="3600"/>
            </a:lvl4pPr>
            <a:lvl5pPr lvl="4" algn="l" rtl="0">
              <a:lnSpc>
                <a:spcPct val="100000"/>
              </a:lnSpc>
              <a:spcBef>
                <a:spcPts val="0"/>
              </a:spcBef>
              <a:spcAft>
                <a:spcPts val="0"/>
              </a:spcAft>
              <a:buSzPts val="3600"/>
              <a:buNone/>
              <a:defRPr sz="3600"/>
            </a:lvl5pPr>
            <a:lvl6pPr lvl="5" algn="l" rtl="0">
              <a:lnSpc>
                <a:spcPct val="100000"/>
              </a:lnSpc>
              <a:spcBef>
                <a:spcPts val="0"/>
              </a:spcBef>
              <a:spcAft>
                <a:spcPts val="0"/>
              </a:spcAft>
              <a:buSzPts val="3600"/>
              <a:buNone/>
              <a:defRPr sz="3600"/>
            </a:lvl6pPr>
            <a:lvl7pPr lvl="6" algn="l" rtl="0">
              <a:lnSpc>
                <a:spcPct val="100000"/>
              </a:lnSpc>
              <a:spcBef>
                <a:spcPts val="0"/>
              </a:spcBef>
              <a:spcAft>
                <a:spcPts val="0"/>
              </a:spcAft>
              <a:buSzPts val="3600"/>
              <a:buNone/>
              <a:defRPr sz="3600"/>
            </a:lvl7pPr>
            <a:lvl8pPr lvl="7" algn="l" rtl="0">
              <a:lnSpc>
                <a:spcPct val="100000"/>
              </a:lnSpc>
              <a:spcBef>
                <a:spcPts val="0"/>
              </a:spcBef>
              <a:spcAft>
                <a:spcPts val="0"/>
              </a:spcAft>
              <a:buSzPts val="3600"/>
              <a:buNone/>
              <a:defRPr sz="3600"/>
            </a:lvl8pPr>
            <a:lvl9pPr lvl="8" algn="l" rtl="0">
              <a:lnSpc>
                <a:spcPct val="100000"/>
              </a:lnSpc>
              <a:spcBef>
                <a:spcPts val="0"/>
              </a:spcBef>
              <a:spcAft>
                <a:spcPts val="0"/>
              </a:spcAft>
              <a:buSzPts val="3600"/>
              <a:buNone/>
              <a:defRPr sz="3600"/>
            </a:lvl9pPr>
          </a:lstStyle>
          <a:p>
            <a:endParaRPr/>
          </a:p>
        </p:txBody>
      </p:sp>
      <p:sp>
        <p:nvSpPr>
          <p:cNvPr id="101" name="Google Shape;101;p18"/>
          <p:cNvSpPr txBox="1">
            <a:spLocks noGrp="1"/>
          </p:cNvSpPr>
          <p:nvPr>
            <p:ph type="subTitle" idx="1"/>
          </p:nvPr>
        </p:nvSpPr>
        <p:spPr>
          <a:xfrm>
            <a:off x="311700" y="1878560"/>
            <a:ext cx="4242600" cy="7383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2"/>
              </a:buClr>
              <a:buSzPts val="1600"/>
              <a:buNone/>
              <a:defRPr sz="1600">
                <a:solidFill>
                  <a:schemeClr val="lt2"/>
                </a:solidFill>
              </a:defRPr>
            </a:lvl1pPr>
            <a:lvl2pPr lvl="1" algn="l" rtl="0">
              <a:lnSpc>
                <a:spcPct val="100000"/>
              </a:lnSpc>
              <a:spcBef>
                <a:spcPts val="0"/>
              </a:spcBef>
              <a:spcAft>
                <a:spcPts val="0"/>
              </a:spcAft>
              <a:buClr>
                <a:schemeClr val="lt2"/>
              </a:buClr>
              <a:buSzPts val="1600"/>
              <a:buNone/>
              <a:defRPr sz="1600">
                <a:solidFill>
                  <a:schemeClr val="lt2"/>
                </a:solidFill>
              </a:defRPr>
            </a:lvl2pPr>
            <a:lvl3pPr lvl="2" algn="l" rtl="0">
              <a:lnSpc>
                <a:spcPct val="100000"/>
              </a:lnSpc>
              <a:spcBef>
                <a:spcPts val="0"/>
              </a:spcBef>
              <a:spcAft>
                <a:spcPts val="0"/>
              </a:spcAft>
              <a:buClr>
                <a:schemeClr val="lt2"/>
              </a:buClr>
              <a:buSzPts val="1600"/>
              <a:buNone/>
              <a:defRPr sz="1600">
                <a:solidFill>
                  <a:schemeClr val="lt2"/>
                </a:solidFill>
              </a:defRPr>
            </a:lvl3pPr>
            <a:lvl4pPr lvl="3" algn="l" rtl="0">
              <a:lnSpc>
                <a:spcPct val="100000"/>
              </a:lnSpc>
              <a:spcBef>
                <a:spcPts val="0"/>
              </a:spcBef>
              <a:spcAft>
                <a:spcPts val="0"/>
              </a:spcAft>
              <a:buClr>
                <a:schemeClr val="lt2"/>
              </a:buClr>
              <a:buSzPts val="1600"/>
              <a:buNone/>
              <a:defRPr sz="1600">
                <a:solidFill>
                  <a:schemeClr val="lt2"/>
                </a:solidFill>
              </a:defRPr>
            </a:lvl4pPr>
            <a:lvl5pPr lvl="4" algn="l" rtl="0">
              <a:lnSpc>
                <a:spcPct val="100000"/>
              </a:lnSpc>
              <a:spcBef>
                <a:spcPts val="0"/>
              </a:spcBef>
              <a:spcAft>
                <a:spcPts val="0"/>
              </a:spcAft>
              <a:buClr>
                <a:schemeClr val="lt2"/>
              </a:buClr>
              <a:buSzPts val="1600"/>
              <a:buNone/>
              <a:defRPr sz="1600">
                <a:solidFill>
                  <a:schemeClr val="lt2"/>
                </a:solidFill>
              </a:defRPr>
            </a:lvl5pPr>
            <a:lvl6pPr lvl="5" algn="l" rtl="0">
              <a:lnSpc>
                <a:spcPct val="100000"/>
              </a:lnSpc>
              <a:spcBef>
                <a:spcPts val="0"/>
              </a:spcBef>
              <a:spcAft>
                <a:spcPts val="0"/>
              </a:spcAft>
              <a:buClr>
                <a:schemeClr val="lt2"/>
              </a:buClr>
              <a:buSzPts val="1600"/>
              <a:buNone/>
              <a:defRPr sz="1600">
                <a:solidFill>
                  <a:schemeClr val="lt2"/>
                </a:solidFill>
              </a:defRPr>
            </a:lvl6pPr>
            <a:lvl7pPr lvl="6" algn="l" rtl="0">
              <a:lnSpc>
                <a:spcPct val="100000"/>
              </a:lnSpc>
              <a:spcBef>
                <a:spcPts val="0"/>
              </a:spcBef>
              <a:spcAft>
                <a:spcPts val="0"/>
              </a:spcAft>
              <a:buClr>
                <a:schemeClr val="lt2"/>
              </a:buClr>
              <a:buSzPts val="1600"/>
              <a:buNone/>
              <a:defRPr sz="1600">
                <a:solidFill>
                  <a:schemeClr val="lt2"/>
                </a:solidFill>
              </a:defRPr>
            </a:lvl7pPr>
            <a:lvl8pPr lvl="7" algn="l" rtl="0">
              <a:lnSpc>
                <a:spcPct val="100000"/>
              </a:lnSpc>
              <a:spcBef>
                <a:spcPts val="0"/>
              </a:spcBef>
              <a:spcAft>
                <a:spcPts val="0"/>
              </a:spcAft>
              <a:buClr>
                <a:schemeClr val="lt2"/>
              </a:buClr>
              <a:buSzPts val="1600"/>
              <a:buNone/>
              <a:defRPr sz="1600">
                <a:solidFill>
                  <a:schemeClr val="lt2"/>
                </a:solidFill>
              </a:defRPr>
            </a:lvl8pPr>
            <a:lvl9pPr lvl="8" algn="l"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02" name="Google Shape;10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3"/>
        <p:cNvGrpSpPr/>
        <p:nvPr/>
      </p:nvGrpSpPr>
      <p:grpSpPr>
        <a:xfrm>
          <a:off x="0" y="0"/>
          <a:ext cx="0" cy="0"/>
          <a:chOff x="0" y="0"/>
          <a:chExt cx="0" cy="0"/>
        </a:xfrm>
      </p:grpSpPr>
      <p:sp>
        <p:nvSpPr>
          <p:cNvPr id="104" name="Google Shape;104;p19"/>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9"/>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06" name="Google Shape;10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1">
  <p:cSld name="AUTOLAYOUT_1">
    <p:bg>
      <p:bgPr>
        <a:solidFill>
          <a:srgbClr val="FFFFFF"/>
        </a:solidFill>
        <a:effectLst/>
      </p:bgPr>
    </p:bg>
    <p:spTree>
      <p:nvGrpSpPr>
        <p:cNvPr id="1" name="Shape 107"/>
        <p:cNvGrpSpPr/>
        <p:nvPr/>
      </p:nvGrpSpPr>
      <p:grpSpPr>
        <a:xfrm>
          <a:off x="0" y="0"/>
          <a:ext cx="0" cy="0"/>
          <a:chOff x="0" y="0"/>
          <a:chExt cx="0" cy="0"/>
        </a:xfrm>
      </p:grpSpPr>
      <p:sp>
        <p:nvSpPr>
          <p:cNvPr id="108" name="Google Shape;108;p20"/>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20"/>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20"/>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20"/>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20"/>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13" name="Google Shape;113;p20"/>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14" name="Google Shape;114;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15" name="Google Shape;115;p20"/>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6" name="Google Shape;116;p20"/>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17" name="Google Shape;117;p20"/>
          <p:cNvSpPr txBox="1">
            <a:spLocks noGrp="1"/>
          </p:cNvSpPr>
          <p:nvPr>
            <p:ph type="title" idx="4"/>
          </p:nvPr>
        </p:nvSpPr>
        <p:spPr>
          <a:xfrm>
            <a:off x="427525" y="32875"/>
            <a:ext cx="933900" cy="7497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2400">
                <a:solidFill>
                  <a:srgbClr val="FFFFFF"/>
                </a:solidFill>
                <a:latin typeface="Roboto"/>
                <a:ea typeface="Roboto"/>
                <a:cs typeface="Roboto"/>
                <a:sym typeface="Roboto"/>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8"/>
        <p:cNvGrpSpPr/>
        <p:nvPr/>
      </p:nvGrpSpPr>
      <p:grpSpPr>
        <a:xfrm>
          <a:off x="0" y="0"/>
          <a:ext cx="0" cy="0"/>
          <a:chOff x="0" y="0"/>
          <a:chExt cx="0" cy="0"/>
        </a:xfrm>
      </p:grpSpPr>
      <p:sp>
        <p:nvSpPr>
          <p:cNvPr id="119" name="Google Shape;119;p21"/>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20" name="Google Shape;120;p21"/>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21"/>
          <p:cNvSpPr txBox="1">
            <a:spLocks noGrp="1"/>
          </p:cNvSpPr>
          <p:nvPr>
            <p:ph type="title"/>
          </p:nvPr>
        </p:nvSpPr>
        <p:spPr>
          <a:xfrm>
            <a:off x="3117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22" name="Google Shape;122;p21"/>
          <p:cNvSpPr txBox="1">
            <a:spLocks noGrp="1"/>
          </p:cNvSpPr>
          <p:nvPr>
            <p:ph type="body" idx="1"/>
          </p:nvPr>
        </p:nvSpPr>
        <p:spPr>
          <a:xfrm>
            <a:off x="46446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23" name="Google Shape;123;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2"/>
          </p:nvPr>
        </p:nvSpPr>
        <p:spPr>
          <a:xfrm>
            <a:off x="3154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rgbClr val="FFFFFF"/>
              </a:buClr>
              <a:buSzPts val="1300"/>
              <a:buChar char="●"/>
              <a:defRPr>
                <a:solidFill>
                  <a:srgbClr val="FFFFFF"/>
                </a:solidFill>
              </a:defRPr>
            </a:lvl1pPr>
            <a:lvl2pPr marL="914400" lvl="1" indent="-298450" algn="l" rtl="0">
              <a:lnSpc>
                <a:spcPct val="115000"/>
              </a:lnSpc>
              <a:spcBef>
                <a:spcPts val="1600"/>
              </a:spcBef>
              <a:spcAft>
                <a:spcPts val="0"/>
              </a:spcAft>
              <a:buClr>
                <a:srgbClr val="FFFFFF"/>
              </a:buClr>
              <a:buSzPts val="1100"/>
              <a:buChar char="○"/>
              <a:defRPr>
                <a:solidFill>
                  <a:srgbClr val="FFFFFF"/>
                </a:solidFill>
              </a:defRPr>
            </a:lvl2pPr>
            <a:lvl3pPr marL="1371600" lvl="2" indent="-298450" algn="l" rtl="0">
              <a:lnSpc>
                <a:spcPct val="115000"/>
              </a:lnSpc>
              <a:spcBef>
                <a:spcPts val="1600"/>
              </a:spcBef>
              <a:spcAft>
                <a:spcPts val="0"/>
              </a:spcAft>
              <a:buClr>
                <a:srgbClr val="FFFFFF"/>
              </a:buClr>
              <a:buSzPts val="1100"/>
              <a:buChar char="■"/>
              <a:defRPr>
                <a:solidFill>
                  <a:srgbClr val="FFFFFF"/>
                </a:solidFill>
              </a:defRPr>
            </a:lvl3pPr>
            <a:lvl4pPr marL="1828800" lvl="3" indent="-298450" algn="l" rtl="0">
              <a:lnSpc>
                <a:spcPct val="115000"/>
              </a:lnSpc>
              <a:spcBef>
                <a:spcPts val="1600"/>
              </a:spcBef>
              <a:spcAft>
                <a:spcPts val="0"/>
              </a:spcAft>
              <a:buClr>
                <a:srgbClr val="FFFFFF"/>
              </a:buClr>
              <a:buSzPts val="1100"/>
              <a:buChar char="●"/>
              <a:defRPr>
                <a:solidFill>
                  <a:srgbClr val="FFFFFF"/>
                </a:solidFill>
              </a:defRPr>
            </a:lvl4pPr>
            <a:lvl5pPr marL="2286000" lvl="4" indent="-298450" algn="l" rtl="0">
              <a:lnSpc>
                <a:spcPct val="115000"/>
              </a:lnSpc>
              <a:spcBef>
                <a:spcPts val="1600"/>
              </a:spcBef>
              <a:spcAft>
                <a:spcPts val="0"/>
              </a:spcAft>
              <a:buClr>
                <a:srgbClr val="FFFFFF"/>
              </a:buClr>
              <a:buSzPts val="1100"/>
              <a:buChar char="○"/>
              <a:defRPr>
                <a:solidFill>
                  <a:srgbClr val="FFFFFF"/>
                </a:solidFill>
              </a:defRPr>
            </a:lvl5pPr>
            <a:lvl6pPr marL="2743200" lvl="5" indent="-298450" algn="l" rtl="0">
              <a:lnSpc>
                <a:spcPct val="115000"/>
              </a:lnSpc>
              <a:spcBef>
                <a:spcPts val="1600"/>
              </a:spcBef>
              <a:spcAft>
                <a:spcPts val="0"/>
              </a:spcAft>
              <a:buClr>
                <a:srgbClr val="FFFFFF"/>
              </a:buClr>
              <a:buSzPts val="1100"/>
              <a:buChar char="■"/>
              <a:defRPr>
                <a:solidFill>
                  <a:srgbClr val="FFFFFF"/>
                </a:solidFill>
              </a:defRPr>
            </a:lvl6pPr>
            <a:lvl7pPr marL="3200400" lvl="6" indent="-298450" algn="l" rtl="0">
              <a:lnSpc>
                <a:spcPct val="115000"/>
              </a:lnSpc>
              <a:spcBef>
                <a:spcPts val="1600"/>
              </a:spcBef>
              <a:spcAft>
                <a:spcPts val="0"/>
              </a:spcAft>
              <a:buClr>
                <a:srgbClr val="FFFFFF"/>
              </a:buClr>
              <a:buSzPts val="1100"/>
              <a:buChar char="●"/>
              <a:defRPr>
                <a:solidFill>
                  <a:srgbClr val="FFFFFF"/>
                </a:solidFill>
              </a:defRPr>
            </a:lvl7pPr>
            <a:lvl8pPr marL="3657600" lvl="7" indent="-298450" algn="l" rtl="0">
              <a:lnSpc>
                <a:spcPct val="115000"/>
              </a:lnSpc>
              <a:spcBef>
                <a:spcPts val="1600"/>
              </a:spcBef>
              <a:spcAft>
                <a:spcPts val="0"/>
              </a:spcAft>
              <a:buClr>
                <a:srgbClr val="FFFFFF"/>
              </a:buClr>
              <a:buSzPts val="1100"/>
              <a:buChar char="○"/>
              <a:defRPr>
                <a:solidFill>
                  <a:srgbClr val="FFFFFF"/>
                </a:solidFill>
              </a:defRPr>
            </a:lvl8pPr>
            <a:lvl9pPr marL="4114800" lvl="8" indent="-298450" algn="l" rtl="0">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125" name="Google Shape;125;p21"/>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6"/>
        <p:cNvGrpSpPr/>
        <p:nvPr/>
      </p:nvGrpSpPr>
      <p:grpSpPr>
        <a:xfrm>
          <a:off x="0" y="0"/>
          <a:ext cx="0" cy="0"/>
          <a:chOff x="0" y="0"/>
          <a:chExt cx="0" cy="0"/>
        </a:xfrm>
      </p:grpSpPr>
      <p:sp>
        <p:nvSpPr>
          <p:cNvPr id="127" name="Google Shape;127;p22"/>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22"/>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29" name="Google Shape;129;p22"/>
          <p:cNvSpPr txBox="1">
            <a:spLocks noGrp="1"/>
          </p:cNvSpPr>
          <p:nvPr>
            <p:ph type="body" idx="1"/>
          </p:nvPr>
        </p:nvSpPr>
        <p:spPr>
          <a:xfrm>
            <a:off x="3117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30" name="Google Shape;130;p22"/>
          <p:cNvSpPr txBox="1">
            <a:spLocks noGrp="1"/>
          </p:cNvSpPr>
          <p:nvPr>
            <p:ph type="body" idx="2"/>
          </p:nvPr>
        </p:nvSpPr>
        <p:spPr>
          <a:xfrm>
            <a:off x="4832400" y="1505700"/>
            <a:ext cx="3999900" cy="30762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2"/>
        <p:cNvGrpSpPr/>
        <p:nvPr/>
      </p:nvGrpSpPr>
      <p:grpSpPr>
        <a:xfrm>
          <a:off x="0" y="0"/>
          <a:ext cx="0" cy="0"/>
          <a:chOff x="0" y="0"/>
          <a:chExt cx="0" cy="0"/>
        </a:xfrm>
      </p:grpSpPr>
      <p:sp>
        <p:nvSpPr>
          <p:cNvPr id="133" name="Google Shape;133;p23"/>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23"/>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135" name="Google Shape;135;p23"/>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36" name="Google Shape;136;p23"/>
          <p:cNvSpPr txBox="1">
            <a:spLocks noGrp="1"/>
          </p:cNvSpPr>
          <p:nvPr>
            <p:ph type="title"/>
          </p:nvPr>
        </p:nvSpPr>
        <p:spPr>
          <a:xfrm>
            <a:off x="52647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37" name="Google Shape;137;p23"/>
          <p:cNvSpPr txBox="1">
            <a:spLocks noGrp="1"/>
          </p:cNvSpPr>
          <p:nvPr>
            <p:ph type="body" idx="1"/>
          </p:nvPr>
        </p:nvSpPr>
        <p:spPr>
          <a:xfrm>
            <a:off x="301275" y="500925"/>
            <a:ext cx="4166400" cy="44322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38" name="Google Shape;138;p23"/>
          <p:cNvSpPr txBox="1">
            <a:spLocks noGrp="1"/>
          </p:cNvSpPr>
          <p:nvPr>
            <p:ph type="body" idx="2"/>
          </p:nvPr>
        </p:nvSpPr>
        <p:spPr>
          <a:xfrm>
            <a:off x="5192225" y="1286175"/>
            <a:ext cx="3706500" cy="26973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rgbClr val="FFFFFF"/>
              </a:buClr>
              <a:buSzPts val="1300"/>
              <a:buChar char="●"/>
              <a:defRPr>
                <a:solidFill>
                  <a:srgbClr val="FFFFFF"/>
                </a:solidFill>
              </a:defRPr>
            </a:lvl1pPr>
            <a:lvl2pPr marL="914400" lvl="1" indent="-298450" algn="l" rtl="0">
              <a:lnSpc>
                <a:spcPct val="115000"/>
              </a:lnSpc>
              <a:spcBef>
                <a:spcPts val="1600"/>
              </a:spcBef>
              <a:spcAft>
                <a:spcPts val="0"/>
              </a:spcAft>
              <a:buClr>
                <a:srgbClr val="FFFFFF"/>
              </a:buClr>
              <a:buSzPts val="1100"/>
              <a:buChar char="○"/>
              <a:defRPr>
                <a:solidFill>
                  <a:srgbClr val="FFFFFF"/>
                </a:solidFill>
              </a:defRPr>
            </a:lvl2pPr>
            <a:lvl3pPr marL="1371600" lvl="2" indent="-298450" algn="l" rtl="0">
              <a:lnSpc>
                <a:spcPct val="115000"/>
              </a:lnSpc>
              <a:spcBef>
                <a:spcPts val="1600"/>
              </a:spcBef>
              <a:spcAft>
                <a:spcPts val="0"/>
              </a:spcAft>
              <a:buClr>
                <a:srgbClr val="FFFFFF"/>
              </a:buClr>
              <a:buSzPts val="1100"/>
              <a:buChar char="■"/>
              <a:defRPr>
                <a:solidFill>
                  <a:srgbClr val="FFFFFF"/>
                </a:solidFill>
              </a:defRPr>
            </a:lvl3pPr>
            <a:lvl4pPr marL="1828800" lvl="3" indent="-298450" algn="l" rtl="0">
              <a:lnSpc>
                <a:spcPct val="115000"/>
              </a:lnSpc>
              <a:spcBef>
                <a:spcPts val="1600"/>
              </a:spcBef>
              <a:spcAft>
                <a:spcPts val="0"/>
              </a:spcAft>
              <a:buClr>
                <a:srgbClr val="FFFFFF"/>
              </a:buClr>
              <a:buSzPts val="1100"/>
              <a:buChar char="●"/>
              <a:defRPr>
                <a:solidFill>
                  <a:srgbClr val="FFFFFF"/>
                </a:solidFill>
              </a:defRPr>
            </a:lvl4pPr>
            <a:lvl5pPr marL="2286000" lvl="4" indent="-298450" algn="l" rtl="0">
              <a:lnSpc>
                <a:spcPct val="115000"/>
              </a:lnSpc>
              <a:spcBef>
                <a:spcPts val="1600"/>
              </a:spcBef>
              <a:spcAft>
                <a:spcPts val="0"/>
              </a:spcAft>
              <a:buClr>
                <a:srgbClr val="FFFFFF"/>
              </a:buClr>
              <a:buSzPts val="1100"/>
              <a:buChar char="○"/>
              <a:defRPr>
                <a:solidFill>
                  <a:srgbClr val="FFFFFF"/>
                </a:solidFill>
              </a:defRPr>
            </a:lvl5pPr>
            <a:lvl6pPr marL="2743200" lvl="5" indent="-298450" algn="l" rtl="0">
              <a:lnSpc>
                <a:spcPct val="115000"/>
              </a:lnSpc>
              <a:spcBef>
                <a:spcPts val="1600"/>
              </a:spcBef>
              <a:spcAft>
                <a:spcPts val="0"/>
              </a:spcAft>
              <a:buClr>
                <a:srgbClr val="FFFFFF"/>
              </a:buClr>
              <a:buSzPts val="1100"/>
              <a:buChar char="■"/>
              <a:defRPr>
                <a:solidFill>
                  <a:srgbClr val="FFFFFF"/>
                </a:solidFill>
              </a:defRPr>
            </a:lvl6pPr>
            <a:lvl7pPr marL="3200400" lvl="6" indent="-298450" algn="l" rtl="0">
              <a:lnSpc>
                <a:spcPct val="115000"/>
              </a:lnSpc>
              <a:spcBef>
                <a:spcPts val="1600"/>
              </a:spcBef>
              <a:spcAft>
                <a:spcPts val="0"/>
              </a:spcAft>
              <a:buClr>
                <a:srgbClr val="FFFFFF"/>
              </a:buClr>
              <a:buSzPts val="1100"/>
              <a:buChar char="●"/>
              <a:defRPr>
                <a:solidFill>
                  <a:srgbClr val="FFFFFF"/>
                </a:solidFill>
              </a:defRPr>
            </a:lvl7pPr>
            <a:lvl8pPr marL="3657600" lvl="7" indent="-298450" algn="l" rtl="0">
              <a:lnSpc>
                <a:spcPct val="115000"/>
              </a:lnSpc>
              <a:spcBef>
                <a:spcPts val="1600"/>
              </a:spcBef>
              <a:spcAft>
                <a:spcPts val="0"/>
              </a:spcAft>
              <a:buClr>
                <a:srgbClr val="FFFFFF"/>
              </a:buClr>
              <a:buSzPts val="1100"/>
              <a:buChar char="○"/>
              <a:defRPr>
                <a:solidFill>
                  <a:srgbClr val="FFFFFF"/>
                </a:solidFill>
              </a:defRPr>
            </a:lvl8pPr>
            <a:lvl9pPr marL="4114800" lvl="8" indent="-298450" algn="l" rtl="0">
              <a:lnSpc>
                <a:spcPct val="115000"/>
              </a:lnSpc>
              <a:spcBef>
                <a:spcPts val="1600"/>
              </a:spcBef>
              <a:spcAft>
                <a:spcPts val="1600"/>
              </a:spcAft>
              <a:buClr>
                <a:srgbClr val="FFFFFF"/>
              </a:buClr>
              <a:buSzPts val="1100"/>
              <a:buChar char="■"/>
              <a:defRPr>
                <a:solidFill>
                  <a:srgbClr val="FFFFFF"/>
                </a:solidFill>
              </a:defRPr>
            </a:lvl9pPr>
          </a:lstStyle>
          <a:p>
            <a:endParaRPr/>
          </a:p>
        </p:txBody>
      </p:sp>
      <p:sp>
        <p:nvSpPr>
          <p:cNvPr id="139" name="Google Shape;139;p23"/>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0"/>
        <p:cNvGrpSpPr/>
        <p:nvPr/>
      </p:nvGrpSpPr>
      <p:grpSpPr>
        <a:xfrm>
          <a:off x="0" y="0"/>
          <a:ext cx="0" cy="0"/>
          <a:chOff x="0" y="0"/>
          <a:chExt cx="0" cy="0"/>
        </a:xfrm>
      </p:grpSpPr>
      <p:sp>
        <p:nvSpPr>
          <p:cNvPr id="141" name="Google Shape;141;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42"/>
        <p:cNvGrpSpPr/>
        <p:nvPr/>
      </p:nvGrpSpPr>
      <p:grpSpPr>
        <a:xfrm>
          <a:off x="0" y="0"/>
          <a:ext cx="0" cy="0"/>
          <a:chOff x="0" y="0"/>
          <a:chExt cx="0" cy="0"/>
        </a:xfrm>
      </p:grpSpPr>
      <p:sp>
        <p:nvSpPr>
          <p:cNvPr id="143" name="Google Shape;143;p25"/>
          <p:cNvSpPr txBox="1">
            <a:spLocks noGrp="1"/>
          </p:cNvSpPr>
          <p:nvPr>
            <p:ph type="title" hasCustomPrompt="1"/>
          </p:nvPr>
        </p:nvSpPr>
        <p:spPr>
          <a:xfrm>
            <a:off x="311750" y="831175"/>
            <a:ext cx="5334900" cy="12447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Clr>
                <a:schemeClr val="lt1"/>
              </a:buClr>
              <a:buSzPts val="10000"/>
              <a:buNone/>
              <a:defRPr sz="10000">
                <a:solidFill>
                  <a:schemeClr val="lt1"/>
                </a:solidFill>
              </a:defRPr>
            </a:lvl1pPr>
            <a:lvl2pPr lvl="1" algn="l" rtl="0">
              <a:lnSpc>
                <a:spcPct val="100000"/>
              </a:lnSpc>
              <a:spcBef>
                <a:spcPts val="0"/>
              </a:spcBef>
              <a:spcAft>
                <a:spcPts val="0"/>
              </a:spcAft>
              <a:buClr>
                <a:schemeClr val="lt1"/>
              </a:buClr>
              <a:buSzPts val="10000"/>
              <a:buNone/>
              <a:defRPr sz="10000">
                <a:solidFill>
                  <a:schemeClr val="lt1"/>
                </a:solidFill>
              </a:defRPr>
            </a:lvl2pPr>
            <a:lvl3pPr lvl="2" algn="l" rtl="0">
              <a:lnSpc>
                <a:spcPct val="100000"/>
              </a:lnSpc>
              <a:spcBef>
                <a:spcPts val="0"/>
              </a:spcBef>
              <a:spcAft>
                <a:spcPts val="0"/>
              </a:spcAft>
              <a:buClr>
                <a:schemeClr val="lt1"/>
              </a:buClr>
              <a:buSzPts val="10000"/>
              <a:buNone/>
              <a:defRPr sz="10000">
                <a:solidFill>
                  <a:schemeClr val="lt1"/>
                </a:solidFill>
              </a:defRPr>
            </a:lvl3pPr>
            <a:lvl4pPr lvl="3" algn="l" rtl="0">
              <a:lnSpc>
                <a:spcPct val="100000"/>
              </a:lnSpc>
              <a:spcBef>
                <a:spcPts val="0"/>
              </a:spcBef>
              <a:spcAft>
                <a:spcPts val="0"/>
              </a:spcAft>
              <a:buClr>
                <a:schemeClr val="lt1"/>
              </a:buClr>
              <a:buSzPts val="10000"/>
              <a:buNone/>
              <a:defRPr sz="10000">
                <a:solidFill>
                  <a:schemeClr val="lt1"/>
                </a:solidFill>
              </a:defRPr>
            </a:lvl4pPr>
            <a:lvl5pPr lvl="4" algn="l" rtl="0">
              <a:lnSpc>
                <a:spcPct val="100000"/>
              </a:lnSpc>
              <a:spcBef>
                <a:spcPts val="0"/>
              </a:spcBef>
              <a:spcAft>
                <a:spcPts val="0"/>
              </a:spcAft>
              <a:buClr>
                <a:schemeClr val="lt1"/>
              </a:buClr>
              <a:buSzPts val="10000"/>
              <a:buNone/>
              <a:defRPr sz="10000">
                <a:solidFill>
                  <a:schemeClr val="lt1"/>
                </a:solidFill>
              </a:defRPr>
            </a:lvl5pPr>
            <a:lvl6pPr lvl="5" algn="l" rtl="0">
              <a:lnSpc>
                <a:spcPct val="100000"/>
              </a:lnSpc>
              <a:spcBef>
                <a:spcPts val="0"/>
              </a:spcBef>
              <a:spcAft>
                <a:spcPts val="0"/>
              </a:spcAft>
              <a:buClr>
                <a:schemeClr val="lt1"/>
              </a:buClr>
              <a:buSzPts val="10000"/>
              <a:buNone/>
              <a:defRPr sz="10000">
                <a:solidFill>
                  <a:schemeClr val="lt1"/>
                </a:solidFill>
              </a:defRPr>
            </a:lvl6pPr>
            <a:lvl7pPr lvl="6" algn="l" rtl="0">
              <a:lnSpc>
                <a:spcPct val="100000"/>
              </a:lnSpc>
              <a:spcBef>
                <a:spcPts val="0"/>
              </a:spcBef>
              <a:spcAft>
                <a:spcPts val="0"/>
              </a:spcAft>
              <a:buClr>
                <a:schemeClr val="lt1"/>
              </a:buClr>
              <a:buSzPts val="10000"/>
              <a:buNone/>
              <a:defRPr sz="10000">
                <a:solidFill>
                  <a:schemeClr val="lt1"/>
                </a:solidFill>
              </a:defRPr>
            </a:lvl7pPr>
            <a:lvl8pPr lvl="7" algn="l" rtl="0">
              <a:lnSpc>
                <a:spcPct val="100000"/>
              </a:lnSpc>
              <a:spcBef>
                <a:spcPts val="0"/>
              </a:spcBef>
              <a:spcAft>
                <a:spcPts val="0"/>
              </a:spcAft>
              <a:buClr>
                <a:schemeClr val="lt1"/>
              </a:buClr>
              <a:buSzPts val="10000"/>
              <a:buNone/>
              <a:defRPr sz="10000">
                <a:solidFill>
                  <a:schemeClr val="lt1"/>
                </a:solidFill>
              </a:defRPr>
            </a:lvl8pPr>
            <a:lvl9pPr lvl="8" algn="l" rtl="0">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144" name="Google Shape;144;p25"/>
          <p:cNvSpPr txBox="1">
            <a:spLocks noGrp="1"/>
          </p:cNvSpPr>
          <p:nvPr>
            <p:ph type="body" idx="1"/>
          </p:nvPr>
        </p:nvSpPr>
        <p:spPr>
          <a:xfrm>
            <a:off x="311700" y="2121425"/>
            <a:ext cx="5334900" cy="9426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accent2"/>
              </a:buClr>
              <a:buSzPts val="1300"/>
              <a:buChar char="●"/>
              <a:defRPr>
                <a:solidFill>
                  <a:schemeClr val="accent2"/>
                </a:solidFill>
              </a:defRPr>
            </a:lvl1pPr>
            <a:lvl2pPr marL="914400" lvl="1" indent="-298450" algn="l" rtl="0">
              <a:lnSpc>
                <a:spcPct val="115000"/>
              </a:lnSpc>
              <a:spcBef>
                <a:spcPts val="1600"/>
              </a:spcBef>
              <a:spcAft>
                <a:spcPts val="0"/>
              </a:spcAft>
              <a:buClr>
                <a:schemeClr val="accent2"/>
              </a:buClr>
              <a:buSzPts val="1100"/>
              <a:buChar char="○"/>
              <a:defRPr>
                <a:solidFill>
                  <a:schemeClr val="accent2"/>
                </a:solidFill>
              </a:defRPr>
            </a:lvl2pPr>
            <a:lvl3pPr marL="1371600" lvl="2" indent="-298450" algn="l" rtl="0">
              <a:lnSpc>
                <a:spcPct val="115000"/>
              </a:lnSpc>
              <a:spcBef>
                <a:spcPts val="1600"/>
              </a:spcBef>
              <a:spcAft>
                <a:spcPts val="0"/>
              </a:spcAft>
              <a:buClr>
                <a:schemeClr val="accent2"/>
              </a:buClr>
              <a:buSzPts val="1100"/>
              <a:buChar char="■"/>
              <a:defRPr>
                <a:solidFill>
                  <a:schemeClr val="accent2"/>
                </a:solidFill>
              </a:defRPr>
            </a:lvl3pPr>
            <a:lvl4pPr marL="1828800" lvl="3" indent="-298450" algn="l" rtl="0">
              <a:lnSpc>
                <a:spcPct val="115000"/>
              </a:lnSpc>
              <a:spcBef>
                <a:spcPts val="1600"/>
              </a:spcBef>
              <a:spcAft>
                <a:spcPts val="0"/>
              </a:spcAft>
              <a:buClr>
                <a:schemeClr val="accent2"/>
              </a:buClr>
              <a:buSzPts val="1100"/>
              <a:buChar char="●"/>
              <a:defRPr>
                <a:solidFill>
                  <a:schemeClr val="accent2"/>
                </a:solidFill>
              </a:defRPr>
            </a:lvl4pPr>
            <a:lvl5pPr marL="2286000" lvl="4" indent="-298450" algn="l" rtl="0">
              <a:lnSpc>
                <a:spcPct val="115000"/>
              </a:lnSpc>
              <a:spcBef>
                <a:spcPts val="1600"/>
              </a:spcBef>
              <a:spcAft>
                <a:spcPts val="0"/>
              </a:spcAft>
              <a:buClr>
                <a:schemeClr val="accent2"/>
              </a:buClr>
              <a:buSzPts val="1100"/>
              <a:buChar char="○"/>
              <a:defRPr>
                <a:solidFill>
                  <a:schemeClr val="accent2"/>
                </a:solidFill>
              </a:defRPr>
            </a:lvl5pPr>
            <a:lvl6pPr marL="2743200" lvl="5" indent="-298450" algn="l" rtl="0">
              <a:lnSpc>
                <a:spcPct val="115000"/>
              </a:lnSpc>
              <a:spcBef>
                <a:spcPts val="1600"/>
              </a:spcBef>
              <a:spcAft>
                <a:spcPts val="0"/>
              </a:spcAft>
              <a:buClr>
                <a:schemeClr val="accent2"/>
              </a:buClr>
              <a:buSzPts val="1100"/>
              <a:buChar char="■"/>
              <a:defRPr>
                <a:solidFill>
                  <a:schemeClr val="accent2"/>
                </a:solidFill>
              </a:defRPr>
            </a:lvl6pPr>
            <a:lvl7pPr marL="3200400" lvl="6" indent="-298450" algn="l" rtl="0">
              <a:lnSpc>
                <a:spcPct val="115000"/>
              </a:lnSpc>
              <a:spcBef>
                <a:spcPts val="1600"/>
              </a:spcBef>
              <a:spcAft>
                <a:spcPts val="0"/>
              </a:spcAft>
              <a:buClr>
                <a:schemeClr val="accent2"/>
              </a:buClr>
              <a:buSzPts val="1100"/>
              <a:buChar char="●"/>
              <a:defRPr>
                <a:solidFill>
                  <a:schemeClr val="accent2"/>
                </a:solidFill>
              </a:defRPr>
            </a:lvl7pPr>
            <a:lvl8pPr marL="3657600" lvl="7" indent="-298450" algn="l" rtl="0">
              <a:lnSpc>
                <a:spcPct val="115000"/>
              </a:lnSpc>
              <a:spcBef>
                <a:spcPts val="1600"/>
              </a:spcBef>
              <a:spcAft>
                <a:spcPts val="0"/>
              </a:spcAft>
              <a:buClr>
                <a:schemeClr val="accent2"/>
              </a:buClr>
              <a:buSzPts val="1100"/>
              <a:buChar char="○"/>
              <a:defRPr>
                <a:solidFill>
                  <a:schemeClr val="accent2"/>
                </a:solidFill>
              </a:defRPr>
            </a:lvl8pPr>
            <a:lvl9pPr marL="4114800" lvl="8" indent="-298450" algn="l" rtl="0">
              <a:lnSpc>
                <a:spcPct val="115000"/>
              </a:lnSpc>
              <a:spcBef>
                <a:spcPts val="1600"/>
              </a:spcBef>
              <a:spcAft>
                <a:spcPts val="1600"/>
              </a:spcAft>
              <a:buClr>
                <a:schemeClr val="accent2"/>
              </a:buClr>
              <a:buSzPts val="1100"/>
              <a:buChar char="■"/>
              <a:defRPr>
                <a:solidFill>
                  <a:schemeClr val="accent2"/>
                </a:solidFill>
              </a:defRPr>
            </a:lvl9pPr>
          </a:lstStyle>
          <a:p>
            <a:endParaRPr/>
          </a:p>
        </p:txBody>
      </p:sp>
      <p:sp>
        <p:nvSpPr>
          <p:cNvPr id="145" name="Google Shape;145;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6"/>
        <p:cNvGrpSpPr/>
        <p:nvPr/>
      </p:nvGrpSpPr>
      <p:grpSpPr>
        <a:xfrm>
          <a:off x="0" y="0"/>
          <a:ext cx="0" cy="0"/>
          <a:chOff x="0" y="0"/>
          <a:chExt cx="0" cy="0"/>
        </a:xfrm>
      </p:grpSpPr>
      <p:sp>
        <p:nvSpPr>
          <p:cNvPr id="147" name="Google Shape;147;p26"/>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48" name="Google Shape;148;p26"/>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49" name="Google Shape;149;p26"/>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3600"/>
              <a:buNone/>
              <a:defRPr sz="3600"/>
            </a:lvl1pPr>
            <a:lvl2pPr lvl="1" algn="l" rtl="0">
              <a:lnSpc>
                <a:spcPct val="100000"/>
              </a:lnSpc>
              <a:spcBef>
                <a:spcPts val="0"/>
              </a:spcBef>
              <a:spcAft>
                <a:spcPts val="0"/>
              </a:spcAft>
              <a:buSzPts val="3600"/>
              <a:buNone/>
              <a:defRPr sz="3600"/>
            </a:lvl2pPr>
            <a:lvl3pPr lvl="2" algn="l" rtl="0">
              <a:lnSpc>
                <a:spcPct val="100000"/>
              </a:lnSpc>
              <a:spcBef>
                <a:spcPts val="0"/>
              </a:spcBef>
              <a:spcAft>
                <a:spcPts val="0"/>
              </a:spcAft>
              <a:buSzPts val="3600"/>
              <a:buNone/>
              <a:defRPr sz="3600"/>
            </a:lvl3pPr>
            <a:lvl4pPr lvl="3" algn="l" rtl="0">
              <a:lnSpc>
                <a:spcPct val="100000"/>
              </a:lnSpc>
              <a:spcBef>
                <a:spcPts val="0"/>
              </a:spcBef>
              <a:spcAft>
                <a:spcPts val="0"/>
              </a:spcAft>
              <a:buSzPts val="3600"/>
              <a:buNone/>
              <a:defRPr sz="3600"/>
            </a:lvl4pPr>
            <a:lvl5pPr lvl="4" algn="l" rtl="0">
              <a:lnSpc>
                <a:spcPct val="100000"/>
              </a:lnSpc>
              <a:spcBef>
                <a:spcPts val="0"/>
              </a:spcBef>
              <a:spcAft>
                <a:spcPts val="0"/>
              </a:spcAft>
              <a:buSzPts val="3600"/>
              <a:buNone/>
              <a:defRPr sz="3600"/>
            </a:lvl5pPr>
            <a:lvl6pPr lvl="5" algn="l" rtl="0">
              <a:lnSpc>
                <a:spcPct val="100000"/>
              </a:lnSpc>
              <a:spcBef>
                <a:spcPts val="0"/>
              </a:spcBef>
              <a:spcAft>
                <a:spcPts val="0"/>
              </a:spcAft>
              <a:buSzPts val="3600"/>
              <a:buNone/>
              <a:defRPr sz="3600"/>
            </a:lvl6pPr>
            <a:lvl7pPr lvl="6" algn="l" rtl="0">
              <a:lnSpc>
                <a:spcPct val="100000"/>
              </a:lnSpc>
              <a:spcBef>
                <a:spcPts val="0"/>
              </a:spcBef>
              <a:spcAft>
                <a:spcPts val="0"/>
              </a:spcAft>
              <a:buSzPts val="3600"/>
              <a:buNone/>
              <a:defRPr sz="3600"/>
            </a:lvl7pPr>
            <a:lvl8pPr lvl="7" algn="l" rtl="0">
              <a:lnSpc>
                <a:spcPct val="100000"/>
              </a:lnSpc>
              <a:spcBef>
                <a:spcPts val="0"/>
              </a:spcBef>
              <a:spcAft>
                <a:spcPts val="0"/>
              </a:spcAft>
              <a:buSzPts val="3600"/>
              <a:buNone/>
              <a:defRPr sz="3600"/>
            </a:lvl8pPr>
            <a:lvl9pPr lvl="8" algn="l" rtl="0">
              <a:lnSpc>
                <a:spcPct val="100000"/>
              </a:lnSpc>
              <a:spcBef>
                <a:spcPts val="0"/>
              </a:spcBef>
              <a:spcAft>
                <a:spcPts val="0"/>
              </a:spcAft>
              <a:buSzPts val="3600"/>
              <a:buNone/>
              <a:defRPr sz="3600"/>
            </a:lvl9pPr>
          </a:lstStyle>
          <a:p>
            <a:endParaRPr/>
          </a:p>
        </p:txBody>
      </p:sp>
      <p:sp>
        <p:nvSpPr>
          <p:cNvPr id="150" name="Google Shape;150;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51"/>
        <p:cNvGrpSpPr/>
        <p:nvPr/>
      </p:nvGrpSpPr>
      <p:grpSpPr>
        <a:xfrm>
          <a:off x="0" y="0"/>
          <a:ext cx="0" cy="0"/>
          <a:chOff x="0" y="0"/>
          <a:chExt cx="0" cy="0"/>
        </a:xfrm>
      </p:grpSpPr>
      <p:sp>
        <p:nvSpPr>
          <p:cNvPr id="152" name="Google Shape;152;p27"/>
          <p:cNvSpPr txBox="1">
            <a:spLocks noGrp="1"/>
          </p:cNvSpPr>
          <p:nvPr>
            <p:ph type="title"/>
          </p:nvPr>
        </p:nvSpPr>
        <p:spPr>
          <a:xfrm>
            <a:off x="311675" y="798600"/>
            <a:ext cx="6247800" cy="35463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3600"/>
              <a:buNone/>
              <a:defRPr sz="3600"/>
            </a:lvl1pPr>
            <a:lvl2pPr lvl="1" algn="l" rtl="0">
              <a:lnSpc>
                <a:spcPct val="100000"/>
              </a:lnSpc>
              <a:spcBef>
                <a:spcPts val="0"/>
              </a:spcBef>
              <a:spcAft>
                <a:spcPts val="0"/>
              </a:spcAft>
              <a:buSzPts val="3600"/>
              <a:buNone/>
              <a:defRPr sz="3600"/>
            </a:lvl2pPr>
            <a:lvl3pPr lvl="2" algn="l" rtl="0">
              <a:lnSpc>
                <a:spcPct val="100000"/>
              </a:lnSpc>
              <a:spcBef>
                <a:spcPts val="0"/>
              </a:spcBef>
              <a:spcAft>
                <a:spcPts val="0"/>
              </a:spcAft>
              <a:buSzPts val="3600"/>
              <a:buNone/>
              <a:defRPr sz="3600"/>
            </a:lvl3pPr>
            <a:lvl4pPr lvl="3" algn="l" rtl="0">
              <a:lnSpc>
                <a:spcPct val="100000"/>
              </a:lnSpc>
              <a:spcBef>
                <a:spcPts val="0"/>
              </a:spcBef>
              <a:spcAft>
                <a:spcPts val="0"/>
              </a:spcAft>
              <a:buSzPts val="3600"/>
              <a:buNone/>
              <a:defRPr sz="3600"/>
            </a:lvl4pPr>
            <a:lvl5pPr lvl="4" algn="l" rtl="0">
              <a:lnSpc>
                <a:spcPct val="100000"/>
              </a:lnSpc>
              <a:spcBef>
                <a:spcPts val="0"/>
              </a:spcBef>
              <a:spcAft>
                <a:spcPts val="0"/>
              </a:spcAft>
              <a:buSzPts val="3600"/>
              <a:buNone/>
              <a:defRPr sz="3600"/>
            </a:lvl5pPr>
            <a:lvl6pPr lvl="5" algn="l" rtl="0">
              <a:lnSpc>
                <a:spcPct val="100000"/>
              </a:lnSpc>
              <a:spcBef>
                <a:spcPts val="0"/>
              </a:spcBef>
              <a:spcAft>
                <a:spcPts val="0"/>
              </a:spcAft>
              <a:buSzPts val="3600"/>
              <a:buNone/>
              <a:defRPr sz="3600"/>
            </a:lvl6pPr>
            <a:lvl7pPr lvl="6" algn="l" rtl="0">
              <a:lnSpc>
                <a:spcPct val="100000"/>
              </a:lnSpc>
              <a:spcBef>
                <a:spcPts val="0"/>
              </a:spcBef>
              <a:spcAft>
                <a:spcPts val="0"/>
              </a:spcAft>
              <a:buSzPts val="3600"/>
              <a:buNone/>
              <a:defRPr sz="3600"/>
            </a:lvl7pPr>
            <a:lvl8pPr lvl="7" algn="l" rtl="0">
              <a:lnSpc>
                <a:spcPct val="100000"/>
              </a:lnSpc>
              <a:spcBef>
                <a:spcPts val="0"/>
              </a:spcBef>
              <a:spcAft>
                <a:spcPts val="0"/>
              </a:spcAft>
              <a:buSzPts val="3600"/>
              <a:buNone/>
              <a:defRPr sz="3600"/>
            </a:lvl8pPr>
            <a:lvl9pPr lvl="8" algn="l" rtl="0">
              <a:lnSpc>
                <a:spcPct val="100000"/>
              </a:lnSpc>
              <a:spcBef>
                <a:spcPts val="0"/>
              </a:spcBef>
              <a:spcAft>
                <a:spcPts val="0"/>
              </a:spcAft>
              <a:buSzPts val="3600"/>
              <a:buNone/>
              <a:defRPr sz="3600"/>
            </a:lvl9pPr>
          </a:lstStyle>
          <a:p>
            <a:endParaRPr/>
          </a:p>
        </p:txBody>
      </p:sp>
      <p:sp>
        <p:nvSpPr>
          <p:cNvPr id="153" name="Google Shape;153;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4"/>
        <p:cNvGrpSpPr/>
        <p:nvPr/>
      </p:nvGrpSpPr>
      <p:grpSpPr>
        <a:xfrm>
          <a:off x="0" y="0"/>
          <a:ext cx="0" cy="0"/>
          <a:chOff x="0" y="0"/>
          <a:chExt cx="0" cy="0"/>
        </a:xfrm>
      </p:grpSpPr>
      <p:sp>
        <p:nvSpPr>
          <p:cNvPr id="155" name="Google Shape;155;p28"/>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28"/>
          <p:cNvSpPr txBox="1">
            <a:spLocks noGrp="1"/>
          </p:cNvSpPr>
          <p:nvPr>
            <p:ph type="title"/>
          </p:nvPr>
        </p:nvSpPr>
        <p:spPr>
          <a:xfrm>
            <a:off x="311300" y="500925"/>
            <a:ext cx="3704400" cy="20496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57" name="Google Shape;157;p28"/>
          <p:cNvSpPr txBox="1">
            <a:spLocks noGrp="1"/>
          </p:cNvSpPr>
          <p:nvPr>
            <p:ph type="subTitle" idx="1"/>
          </p:nvPr>
        </p:nvSpPr>
        <p:spPr>
          <a:xfrm>
            <a:off x="304800" y="2626725"/>
            <a:ext cx="3704400" cy="926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accent2"/>
              </a:buClr>
              <a:buSzPts val="1600"/>
              <a:buNone/>
              <a:defRPr sz="1600">
                <a:solidFill>
                  <a:schemeClr val="accent2"/>
                </a:solidFill>
              </a:defRPr>
            </a:lvl1pPr>
            <a:lvl2pPr lvl="1" algn="l" rtl="0">
              <a:lnSpc>
                <a:spcPct val="100000"/>
              </a:lnSpc>
              <a:spcBef>
                <a:spcPts val="0"/>
              </a:spcBef>
              <a:spcAft>
                <a:spcPts val="0"/>
              </a:spcAft>
              <a:buClr>
                <a:schemeClr val="accent2"/>
              </a:buClr>
              <a:buSzPts val="1600"/>
              <a:buNone/>
              <a:defRPr sz="1600">
                <a:solidFill>
                  <a:schemeClr val="accent2"/>
                </a:solidFill>
              </a:defRPr>
            </a:lvl2pPr>
            <a:lvl3pPr lvl="2" algn="l" rtl="0">
              <a:lnSpc>
                <a:spcPct val="100000"/>
              </a:lnSpc>
              <a:spcBef>
                <a:spcPts val="0"/>
              </a:spcBef>
              <a:spcAft>
                <a:spcPts val="0"/>
              </a:spcAft>
              <a:buClr>
                <a:schemeClr val="accent2"/>
              </a:buClr>
              <a:buSzPts val="1600"/>
              <a:buNone/>
              <a:defRPr sz="1600">
                <a:solidFill>
                  <a:schemeClr val="accent2"/>
                </a:solidFill>
              </a:defRPr>
            </a:lvl3pPr>
            <a:lvl4pPr lvl="3" algn="l" rtl="0">
              <a:lnSpc>
                <a:spcPct val="100000"/>
              </a:lnSpc>
              <a:spcBef>
                <a:spcPts val="0"/>
              </a:spcBef>
              <a:spcAft>
                <a:spcPts val="0"/>
              </a:spcAft>
              <a:buClr>
                <a:schemeClr val="accent2"/>
              </a:buClr>
              <a:buSzPts val="1600"/>
              <a:buNone/>
              <a:defRPr sz="1600">
                <a:solidFill>
                  <a:schemeClr val="accent2"/>
                </a:solidFill>
              </a:defRPr>
            </a:lvl4pPr>
            <a:lvl5pPr lvl="4" algn="l" rtl="0">
              <a:lnSpc>
                <a:spcPct val="100000"/>
              </a:lnSpc>
              <a:spcBef>
                <a:spcPts val="0"/>
              </a:spcBef>
              <a:spcAft>
                <a:spcPts val="0"/>
              </a:spcAft>
              <a:buClr>
                <a:schemeClr val="accent2"/>
              </a:buClr>
              <a:buSzPts val="1600"/>
              <a:buNone/>
              <a:defRPr sz="1600">
                <a:solidFill>
                  <a:schemeClr val="accent2"/>
                </a:solidFill>
              </a:defRPr>
            </a:lvl5pPr>
            <a:lvl6pPr lvl="5" algn="l" rtl="0">
              <a:lnSpc>
                <a:spcPct val="100000"/>
              </a:lnSpc>
              <a:spcBef>
                <a:spcPts val="0"/>
              </a:spcBef>
              <a:spcAft>
                <a:spcPts val="0"/>
              </a:spcAft>
              <a:buClr>
                <a:schemeClr val="accent2"/>
              </a:buClr>
              <a:buSzPts val="1600"/>
              <a:buNone/>
              <a:defRPr sz="1600">
                <a:solidFill>
                  <a:schemeClr val="accent2"/>
                </a:solidFill>
              </a:defRPr>
            </a:lvl6pPr>
            <a:lvl7pPr lvl="6" algn="l" rtl="0">
              <a:lnSpc>
                <a:spcPct val="100000"/>
              </a:lnSpc>
              <a:spcBef>
                <a:spcPts val="0"/>
              </a:spcBef>
              <a:spcAft>
                <a:spcPts val="0"/>
              </a:spcAft>
              <a:buClr>
                <a:schemeClr val="accent2"/>
              </a:buClr>
              <a:buSzPts val="1600"/>
              <a:buNone/>
              <a:defRPr sz="1600">
                <a:solidFill>
                  <a:schemeClr val="accent2"/>
                </a:solidFill>
              </a:defRPr>
            </a:lvl7pPr>
            <a:lvl8pPr lvl="7" algn="l" rtl="0">
              <a:lnSpc>
                <a:spcPct val="100000"/>
              </a:lnSpc>
              <a:spcBef>
                <a:spcPts val="0"/>
              </a:spcBef>
              <a:spcAft>
                <a:spcPts val="0"/>
              </a:spcAft>
              <a:buClr>
                <a:schemeClr val="accent2"/>
              </a:buClr>
              <a:buSzPts val="1600"/>
              <a:buNone/>
              <a:defRPr sz="1600">
                <a:solidFill>
                  <a:schemeClr val="accent2"/>
                </a:solidFill>
              </a:defRPr>
            </a:lvl8pPr>
            <a:lvl9pPr lvl="8" algn="l"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58" name="Google Shape;158;p28"/>
          <p:cNvSpPr txBox="1">
            <a:spLocks noGrp="1"/>
          </p:cNvSpPr>
          <p:nvPr>
            <p:ph type="body" idx="2"/>
          </p:nvPr>
        </p:nvSpPr>
        <p:spPr>
          <a:xfrm>
            <a:off x="4879025" y="500925"/>
            <a:ext cx="3954000" cy="4111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59" name="Google Shape;159;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0"/>
        <p:cNvGrpSpPr/>
        <p:nvPr/>
      </p:nvGrpSpPr>
      <p:grpSpPr>
        <a:xfrm>
          <a:off x="0" y="0"/>
          <a:ext cx="0" cy="0"/>
          <a:chOff x="0" y="0"/>
          <a:chExt cx="0" cy="0"/>
        </a:xfrm>
      </p:grpSpPr>
      <p:sp>
        <p:nvSpPr>
          <p:cNvPr id="161" name="Google Shape;161;p29"/>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29"/>
          <p:cNvSpPr txBox="1">
            <a:spLocks noGrp="1"/>
          </p:cNvSpPr>
          <p:nvPr>
            <p:ph type="body" idx="1"/>
          </p:nvPr>
        </p:nvSpPr>
        <p:spPr>
          <a:xfrm>
            <a:off x="311700" y="4521400"/>
            <a:ext cx="7979400" cy="460500"/>
          </a:xfrm>
          <a:prstGeom prst="rect">
            <a:avLst/>
          </a:prstGeom>
          <a:noFill/>
          <a:ln>
            <a:noFill/>
          </a:ln>
        </p:spPr>
        <p:txBody>
          <a:bodyPr spcFirstLastPara="1" wrap="square" lIns="91425" tIns="91425" rIns="91425" bIns="91425" anchor="ctr" anchorCtr="0">
            <a:noAutofit/>
          </a:bodyPr>
          <a:lstStyle>
            <a:lvl1pPr marL="457200" lvl="0" indent="-228600" algn="l"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63" name="Google Shape;163;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64"/>
        <p:cNvGrpSpPr/>
        <p:nvPr/>
      </p:nvGrpSpPr>
      <p:grpSpPr>
        <a:xfrm>
          <a:off x="0" y="0"/>
          <a:ext cx="0" cy="0"/>
          <a:chOff x="0" y="0"/>
          <a:chExt cx="0" cy="0"/>
        </a:xfrm>
      </p:grpSpPr>
      <p:sp>
        <p:nvSpPr>
          <p:cNvPr id="165" name="Google Shape;165;p30"/>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3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67" name="Google Shape;167;p30"/>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68" name="Google Shape;16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169"/>
        <p:cNvGrpSpPr/>
        <p:nvPr/>
      </p:nvGrpSpPr>
      <p:grpSpPr>
        <a:xfrm>
          <a:off x="0" y="0"/>
          <a:ext cx="0" cy="0"/>
          <a:chOff x="0" y="0"/>
          <a:chExt cx="0" cy="0"/>
        </a:xfrm>
      </p:grpSpPr>
      <p:sp>
        <p:nvSpPr>
          <p:cNvPr id="170" name="Google Shape;170;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71" name="Google Shape;171;p3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72" name="Google Shape;172;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77"/>
        <p:cNvGrpSpPr/>
        <p:nvPr/>
      </p:nvGrpSpPr>
      <p:grpSpPr>
        <a:xfrm>
          <a:off x="0" y="0"/>
          <a:ext cx="0" cy="0"/>
          <a:chOff x="0" y="0"/>
          <a:chExt cx="0" cy="0"/>
        </a:xfrm>
      </p:grpSpPr>
      <p:sp>
        <p:nvSpPr>
          <p:cNvPr id="178" name="Google Shape;178;p33"/>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79" name="Google Shape;179;p33"/>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80" name="Google Shape;180;p33"/>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81" name="Google Shape;181;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82"/>
        <p:cNvGrpSpPr/>
        <p:nvPr/>
      </p:nvGrpSpPr>
      <p:grpSpPr>
        <a:xfrm>
          <a:off x="0" y="0"/>
          <a:ext cx="0" cy="0"/>
          <a:chOff x="0" y="0"/>
          <a:chExt cx="0" cy="0"/>
        </a:xfrm>
      </p:grpSpPr>
      <p:sp>
        <p:nvSpPr>
          <p:cNvPr id="183" name="Google Shape;183;p34"/>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84" name="Google Shape;184;p34"/>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85" name="Google Shape;185;p34"/>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86" name="Google Shape;186;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7"/>
        <p:cNvGrpSpPr/>
        <p:nvPr/>
      </p:nvGrpSpPr>
      <p:grpSpPr>
        <a:xfrm>
          <a:off x="0" y="0"/>
          <a:ext cx="0" cy="0"/>
          <a:chOff x="0" y="0"/>
          <a:chExt cx="0" cy="0"/>
        </a:xfrm>
      </p:grpSpPr>
      <p:sp>
        <p:nvSpPr>
          <p:cNvPr id="188" name="Google Shape;188;p35"/>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89" name="Google Shape;189;p35"/>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5"/>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91" name="Google Shape;191;p35"/>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92" name="Google Shape;192;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93" name="Google Shape;193;p35"/>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94" name="Google Shape;194;p35"/>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2921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2pPr>
            <a:lvl3pPr marL="1371600" lvl="2" indent="-2921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3pPr>
            <a:lvl4pPr marL="1828800" lvl="3" indent="-2921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4pPr>
            <a:lvl5pPr marL="2286000" lvl="4" indent="-2921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5pPr>
            <a:lvl6pPr marL="2743200" lvl="5" indent="-2921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6pPr>
            <a:lvl7pPr marL="3200400" lvl="6" indent="-2921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7pPr>
            <a:lvl8pPr marL="3657600" lvl="7" indent="-2921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8pPr>
            <a:lvl9pPr marL="4114800" lvl="8" indent="-2921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5"/>
        <p:cNvGrpSpPr/>
        <p:nvPr/>
      </p:nvGrpSpPr>
      <p:grpSpPr>
        <a:xfrm>
          <a:off x="0" y="0"/>
          <a:ext cx="0" cy="0"/>
          <a:chOff x="0" y="0"/>
          <a:chExt cx="0" cy="0"/>
        </a:xfrm>
      </p:grpSpPr>
      <p:sp>
        <p:nvSpPr>
          <p:cNvPr id="196" name="Google Shape;196;p3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98" name="Google Shape;198;p36"/>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99" name="Google Shape;199;p36"/>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00" name="Google Shape;200;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1"/>
        <p:cNvGrpSpPr/>
        <p:nvPr/>
      </p:nvGrpSpPr>
      <p:grpSpPr>
        <a:xfrm>
          <a:off x="0" y="0"/>
          <a:ext cx="0" cy="0"/>
          <a:chOff x="0" y="0"/>
          <a:chExt cx="0" cy="0"/>
        </a:xfrm>
      </p:grpSpPr>
      <p:sp>
        <p:nvSpPr>
          <p:cNvPr id="202" name="Google Shape;202;p37"/>
          <p:cNvSpPr/>
          <p:nvPr/>
        </p:nvSpPr>
        <p:spPr>
          <a:xfrm>
            <a:off x="0" y="0"/>
            <a:ext cx="9144000" cy="623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7"/>
          <p:cNvSpPr txBox="1">
            <a:spLocks noGrp="1"/>
          </p:cNvSpPr>
          <p:nvPr>
            <p:ph type="title"/>
          </p:nvPr>
        </p:nvSpPr>
        <p:spPr>
          <a:xfrm>
            <a:off x="311725" y="13576"/>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4" name="Google Shape;204;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5"/>
        <p:cNvGrpSpPr/>
        <p:nvPr/>
      </p:nvGrpSpPr>
      <p:grpSpPr>
        <a:xfrm>
          <a:off x="0" y="0"/>
          <a:ext cx="0" cy="0"/>
          <a:chOff x="0" y="0"/>
          <a:chExt cx="0" cy="0"/>
        </a:xfrm>
      </p:grpSpPr>
      <p:sp>
        <p:nvSpPr>
          <p:cNvPr id="206" name="Google Shape;206;p38"/>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8"/>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08" name="Google Shape;208;p3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09" name="Google Shape;209;p38"/>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10" name="Google Shape;210;p38"/>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11" name="Google Shape;211;p38"/>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rtl="0">
              <a:lnSpc>
                <a:spcPct val="100000"/>
              </a:lnSpc>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212" name="Google Shape;212;p38"/>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13"/>
        <p:cNvGrpSpPr/>
        <p:nvPr/>
      </p:nvGrpSpPr>
      <p:grpSpPr>
        <a:xfrm>
          <a:off x="0" y="0"/>
          <a:ext cx="0" cy="0"/>
          <a:chOff x="0" y="0"/>
          <a:chExt cx="0" cy="0"/>
        </a:xfrm>
      </p:grpSpPr>
      <p:sp>
        <p:nvSpPr>
          <p:cNvPr id="214" name="Google Shape;214;p39"/>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15" name="Google Shape;215;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16"/>
        <p:cNvGrpSpPr/>
        <p:nvPr/>
      </p:nvGrpSpPr>
      <p:grpSpPr>
        <a:xfrm>
          <a:off x="0" y="0"/>
          <a:ext cx="0" cy="0"/>
          <a:chOff x="0" y="0"/>
          <a:chExt cx="0" cy="0"/>
        </a:xfrm>
      </p:grpSpPr>
      <p:sp>
        <p:nvSpPr>
          <p:cNvPr id="217" name="Google Shape;217;p40"/>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40"/>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19" name="Google Shape;219;p40"/>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20" name="Google Shape;220;p40"/>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221" name="Google Shape;221;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2"/>
        <p:cNvGrpSpPr/>
        <p:nvPr/>
      </p:nvGrpSpPr>
      <p:grpSpPr>
        <a:xfrm>
          <a:off x="0" y="0"/>
          <a:ext cx="0" cy="0"/>
          <a:chOff x="0" y="0"/>
          <a:chExt cx="0" cy="0"/>
        </a:xfrm>
      </p:grpSpPr>
      <p:sp>
        <p:nvSpPr>
          <p:cNvPr id="223" name="Google Shape;223;p41"/>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1"/>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25" name="Google Shape;225;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26"/>
        <p:cNvGrpSpPr/>
        <p:nvPr/>
      </p:nvGrpSpPr>
      <p:grpSpPr>
        <a:xfrm>
          <a:off x="0" y="0"/>
          <a:ext cx="0" cy="0"/>
          <a:chOff x="0" y="0"/>
          <a:chExt cx="0" cy="0"/>
        </a:xfrm>
      </p:grpSpPr>
      <p:sp>
        <p:nvSpPr>
          <p:cNvPr id="227" name="Google Shape;227;p42"/>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228" name="Google Shape;228;p42"/>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229" name="Google Shape;229;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0"/>
        <p:cNvGrpSpPr/>
        <p:nvPr/>
      </p:nvGrpSpPr>
      <p:grpSpPr>
        <a:xfrm>
          <a:off x="0" y="0"/>
          <a:ext cx="0" cy="0"/>
          <a:chOff x="0" y="0"/>
          <a:chExt cx="0" cy="0"/>
        </a:xfrm>
      </p:grpSpPr>
      <p:sp>
        <p:nvSpPr>
          <p:cNvPr id="231" name="Google Shape;231;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236"/>
        <p:cNvGrpSpPr/>
        <p:nvPr/>
      </p:nvGrpSpPr>
      <p:grpSpPr>
        <a:xfrm>
          <a:off x="0" y="0"/>
          <a:ext cx="0" cy="0"/>
          <a:chOff x="0" y="0"/>
          <a:chExt cx="0" cy="0"/>
        </a:xfrm>
      </p:grpSpPr>
      <p:sp>
        <p:nvSpPr>
          <p:cNvPr id="237" name="Google Shape;237;p45"/>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38" name="Google Shape;238;p45"/>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39" name="Google Shape;239;p45"/>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240" name="Google Shape;240;p4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241"/>
        <p:cNvGrpSpPr/>
        <p:nvPr/>
      </p:nvGrpSpPr>
      <p:grpSpPr>
        <a:xfrm>
          <a:off x="0" y="0"/>
          <a:ext cx="0" cy="0"/>
          <a:chOff x="0" y="0"/>
          <a:chExt cx="0" cy="0"/>
        </a:xfrm>
      </p:grpSpPr>
      <p:sp>
        <p:nvSpPr>
          <p:cNvPr id="242" name="Google Shape;242;p46"/>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243" name="Google Shape;243;p46"/>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244" name="Google Shape;244;p46"/>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45" name="Google Shape;245;p4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6"/>
        <p:cNvGrpSpPr/>
        <p:nvPr/>
      </p:nvGrpSpPr>
      <p:grpSpPr>
        <a:xfrm>
          <a:off x="0" y="0"/>
          <a:ext cx="0" cy="0"/>
          <a:chOff x="0" y="0"/>
          <a:chExt cx="0" cy="0"/>
        </a:xfrm>
      </p:grpSpPr>
      <p:sp>
        <p:nvSpPr>
          <p:cNvPr id="247" name="Google Shape;247;p47"/>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48" name="Google Shape;248;p47"/>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47"/>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50" name="Google Shape;250;p47"/>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51" name="Google Shape;251;p4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2" name="Google Shape;252;p47"/>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53" name="Google Shape;253;p47"/>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4"/>
        <p:cNvGrpSpPr/>
        <p:nvPr/>
      </p:nvGrpSpPr>
      <p:grpSpPr>
        <a:xfrm>
          <a:off x="0" y="0"/>
          <a:ext cx="0" cy="0"/>
          <a:chOff x="0" y="0"/>
          <a:chExt cx="0" cy="0"/>
        </a:xfrm>
      </p:grpSpPr>
      <p:sp>
        <p:nvSpPr>
          <p:cNvPr id="255" name="Google Shape;255;p48"/>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8"/>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57" name="Google Shape;257;p48"/>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58" name="Google Shape;258;p48"/>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59" name="Google Shape;259;p4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0"/>
        <p:cNvGrpSpPr/>
        <p:nvPr/>
      </p:nvGrpSpPr>
      <p:grpSpPr>
        <a:xfrm>
          <a:off x="0" y="0"/>
          <a:ext cx="0" cy="0"/>
          <a:chOff x="0" y="0"/>
          <a:chExt cx="0" cy="0"/>
        </a:xfrm>
      </p:grpSpPr>
      <p:sp>
        <p:nvSpPr>
          <p:cNvPr id="261" name="Google Shape;261;p49"/>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9"/>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63" name="Google Shape;263;p4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4"/>
        <p:cNvGrpSpPr/>
        <p:nvPr/>
      </p:nvGrpSpPr>
      <p:grpSpPr>
        <a:xfrm>
          <a:off x="0" y="0"/>
          <a:ext cx="0" cy="0"/>
          <a:chOff x="0" y="0"/>
          <a:chExt cx="0" cy="0"/>
        </a:xfrm>
      </p:grpSpPr>
      <p:sp>
        <p:nvSpPr>
          <p:cNvPr id="265" name="Google Shape;265;p50"/>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50"/>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67" name="Google Shape;267;p50"/>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68" name="Google Shape;268;p50"/>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69" name="Google Shape;269;p50"/>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70" name="Google Shape;270;p50"/>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71" name="Google Shape;271;p50"/>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72"/>
        <p:cNvGrpSpPr/>
        <p:nvPr/>
      </p:nvGrpSpPr>
      <p:grpSpPr>
        <a:xfrm>
          <a:off x="0" y="0"/>
          <a:ext cx="0" cy="0"/>
          <a:chOff x="0" y="0"/>
          <a:chExt cx="0" cy="0"/>
        </a:xfrm>
      </p:grpSpPr>
      <p:sp>
        <p:nvSpPr>
          <p:cNvPr id="273" name="Google Shape;273;p51"/>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74" name="Google Shape;274;p5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5"/>
        <p:cNvGrpSpPr/>
        <p:nvPr/>
      </p:nvGrpSpPr>
      <p:grpSpPr>
        <a:xfrm>
          <a:off x="0" y="0"/>
          <a:ext cx="0" cy="0"/>
          <a:chOff x="0" y="0"/>
          <a:chExt cx="0" cy="0"/>
        </a:xfrm>
      </p:grpSpPr>
      <p:sp>
        <p:nvSpPr>
          <p:cNvPr id="276" name="Google Shape;276;p52"/>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2"/>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78" name="Google Shape;278;p52"/>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79" name="Google Shape;279;p52"/>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80" name="Google Shape;280;p5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81"/>
        <p:cNvGrpSpPr/>
        <p:nvPr/>
      </p:nvGrpSpPr>
      <p:grpSpPr>
        <a:xfrm>
          <a:off x="0" y="0"/>
          <a:ext cx="0" cy="0"/>
          <a:chOff x="0" y="0"/>
          <a:chExt cx="0" cy="0"/>
        </a:xfrm>
      </p:grpSpPr>
      <p:sp>
        <p:nvSpPr>
          <p:cNvPr id="282" name="Google Shape;282;p53"/>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53"/>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84" name="Google Shape;284;p5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85"/>
        <p:cNvGrpSpPr/>
        <p:nvPr/>
      </p:nvGrpSpPr>
      <p:grpSpPr>
        <a:xfrm>
          <a:off x="0" y="0"/>
          <a:ext cx="0" cy="0"/>
          <a:chOff x="0" y="0"/>
          <a:chExt cx="0" cy="0"/>
        </a:xfrm>
      </p:grpSpPr>
      <p:sp>
        <p:nvSpPr>
          <p:cNvPr id="286" name="Google Shape;286;p54"/>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87" name="Google Shape;287;p54"/>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288" name="Google Shape;288;p5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9"/>
        <p:cNvGrpSpPr/>
        <p:nvPr/>
      </p:nvGrpSpPr>
      <p:grpSpPr>
        <a:xfrm>
          <a:off x="0" y="0"/>
          <a:ext cx="0" cy="0"/>
          <a:chOff x="0" y="0"/>
          <a:chExt cx="0" cy="0"/>
        </a:xfrm>
      </p:grpSpPr>
      <p:sp>
        <p:nvSpPr>
          <p:cNvPr id="290" name="Google Shape;290;p5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91"/>
        <p:cNvGrpSpPr/>
        <p:nvPr/>
      </p:nvGrpSpPr>
      <p:grpSpPr>
        <a:xfrm>
          <a:off x="0" y="0"/>
          <a:ext cx="0" cy="0"/>
          <a:chOff x="0" y="0"/>
          <a:chExt cx="0" cy="0"/>
        </a:xfrm>
      </p:grpSpPr>
      <p:sp>
        <p:nvSpPr>
          <p:cNvPr id="292" name="Google Shape;292;p5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56"/>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4" name="Google Shape;294;p5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95" name="Google Shape;295;p5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96"/>
        <p:cNvGrpSpPr/>
        <p:nvPr/>
      </p:nvGrpSpPr>
      <p:grpSpPr>
        <a:xfrm>
          <a:off x="0" y="0"/>
          <a:ext cx="0" cy="0"/>
          <a:chOff x="0" y="0"/>
          <a:chExt cx="0" cy="0"/>
        </a:xfrm>
      </p:grpSpPr>
      <p:sp>
        <p:nvSpPr>
          <p:cNvPr id="297" name="Google Shape;297;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8" name="Google Shape;298;p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99" name="Google Shape;299;p57"/>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1pPr>
            <a:lvl2pPr marR="0" lvl="1"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2pPr>
            <a:lvl3pPr marR="0" lvl="2"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3pPr>
            <a:lvl4pPr marR="0" lvl="3"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4pPr>
            <a:lvl5pPr marR="0" lvl="4"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5pPr>
            <a:lvl6pPr marR="0" lvl="5"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6pPr>
            <a:lvl7pPr marR="0" lvl="6"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7pPr>
            <a:lvl8pPr marR="0" lvl="7"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8pPr>
            <a:lvl9pPr marR="0" lvl="8"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1pPr>
            <a:lvl2pPr marR="0" lvl="1"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2pPr>
            <a:lvl3pPr marR="0" lvl="2"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3pPr>
            <a:lvl4pPr marR="0" lvl="3"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4pPr>
            <a:lvl5pPr marR="0" lvl="4"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5pPr>
            <a:lvl6pPr marR="0" lvl="5"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6pPr>
            <a:lvl7pPr marR="0" lvl="6"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7pPr>
            <a:lvl8pPr marR="0" lvl="7"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8pPr>
            <a:lvl9pPr marR="0" lvl="8" algn="l" rtl="0">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9pPr>
          </a:lstStyle>
          <a:p>
            <a:endParaRPr/>
          </a:p>
        </p:txBody>
      </p:sp>
      <p:sp>
        <p:nvSpPr>
          <p:cNvPr id="96" name="Google Shape;96;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160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1600"/>
              </a:spcBef>
              <a:spcAft>
                <a:spcPts val="160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endParaRPr/>
          </a:p>
        </p:txBody>
      </p:sp>
      <p:sp>
        <p:nvSpPr>
          <p:cNvPr id="97" name="Google Shape;97;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73"/>
        <p:cNvGrpSpPr/>
        <p:nvPr/>
      </p:nvGrpSpPr>
      <p:grpSpPr>
        <a:xfrm>
          <a:off x="0" y="0"/>
          <a:ext cx="0" cy="0"/>
          <a:chOff x="0" y="0"/>
          <a:chExt cx="0" cy="0"/>
        </a:xfrm>
      </p:grpSpPr>
      <p:sp>
        <p:nvSpPr>
          <p:cNvPr id="174" name="Google Shape;174;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75" name="Google Shape;175;p3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76" name="Google Shape;176;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232"/>
        <p:cNvGrpSpPr/>
        <p:nvPr/>
      </p:nvGrpSpPr>
      <p:grpSpPr>
        <a:xfrm>
          <a:off x="0" y="0"/>
          <a:ext cx="0" cy="0"/>
          <a:chOff x="0" y="0"/>
          <a:chExt cx="0" cy="0"/>
        </a:xfrm>
      </p:grpSpPr>
      <p:sp>
        <p:nvSpPr>
          <p:cNvPr id="233" name="Google Shape;233;p4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234" name="Google Shape;234;p4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235" name="Google Shape;235;p44"/>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5.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4.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15.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15.xml"/><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5.xml"/><Relationship Id="rId1" Type="http://schemas.openxmlformats.org/officeDocument/2006/relationships/slideLayout" Target="../slideLayouts/slideLayout15.xml"/><Relationship Id="rId4" Type="http://schemas.openxmlformats.org/officeDocument/2006/relationships/image" Target="../media/image24.png"/></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hyperlink" Target="https://docs.oracle.com/en/java/javase/15/docs/api/java.base/java/util/List.html" TargetMode="External"/><Relationship Id="rId7" Type="http://schemas.openxmlformats.org/officeDocument/2006/relationships/hyperlink" Target="https://docs.oracle.com/en/java/javase/15/docs/api/java.base/java/util/Stack.html" TargetMode="External"/><Relationship Id="rId2" Type="http://schemas.openxmlformats.org/officeDocument/2006/relationships/notesSlide" Target="../notesSlides/notesSlide59.xml"/><Relationship Id="rId1" Type="http://schemas.openxmlformats.org/officeDocument/2006/relationships/slideLayout" Target="../slideLayouts/slideLayout21.xml"/><Relationship Id="rId6" Type="http://schemas.openxmlformats.org/officeDocument/2006/relationships/hyperlink" Target="https://docs.oracle.com/en/java/javase/15/docs/api/java.base/java/util/Queue.html" TargetMode="External"/><Relationship Id="rId5" Type="http://schemas.openxmlformats.org/officeDocument/2006/relationships/hyperlink" Target="https://docs.oracle.com/en/java/javase/15/docs/api/java.base/java/util/LinkedList.html" TargetMode="External"/><Relationship Id="rId4" Type="http://schemas.openxmlformats.org/officeDocument/2006/relationships/hyperlink" Target="https://docs.oracle.com/en/java/javase/15/docs/api/java.base/java/util/ArrayList.html" TargetMode="Externa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8" Type="http://schemas.openxmlformats.org/officeDocument/2006/relationships/hyperlink" Target="https://docs.google.com/presentation/d/1MqTl9-z9tgfBPi5ulJd6QJSR-lbnt6A09pmA2VlgRX8/edit#slide=id.g207526de7e9_0_358" TargetMode="External"/><Relationship Id="rId3" Type="http://schemas.openxmlformats.org/officeDocument/2006/relationships/hyperlink" Target="https://docs.google.com/presentation/d/1MqTl9-z9tgfBPi5ulJd6QJSR-lbnt6A09pmA2VlgRX8/edit#slide=id.g20679942d72_0_27" TargetMode="External"/><Relationship Id="rId7" Type="http://schemas.openxmlformats.org/officeDocument/2006/relationships/hyperlink" Target="https://docs.google.com/presentation/d/1MqTl9-z9tgfBPi5ulJd6QJSR-lbnt6A09pmA2VlgRX8/edit#slide=id.g207526de7e9_0_344" TargetMode="External"/><Relationship Id="rId2" Type="http://schemas.openxmlformats.org/officeDocument/2006/relationships/notesSlide" Target="../notesSlides/notesSlide61.xml"/><Relationship Id="rId1" Type="http://schemas.openxmlformats.org/officeDocument/2006/relationships/slideLayout" Target="../slideLayouts/slideLayout51.xml"/><Relationship Id="rId6" Type="http://schemas.openxmlformats.org/officeDocument/2006/relationships/hyperlink" Target="https://docs.google.com/presentation/d/1MqTl9-z9tgfBPi5ulJd6QJSR-lbnt6A09pmA2VlgRX8/edit#slide=id.g207526de7e9_0_308" TargetMode="External"/><Relationship Id="rId5" Type="http://schemas.openxmlformats.org/officeDocument/2006/relationships/hyperlink" Target="https://docs.google.com/presentation/d/1MqTl9-z9tgfBPi5ulJd6QJSR-lbnt6A09pmA2VlgRX8/edit#slide=id.g20679942d72_0_104" TargetMode="External"/><Relationship Id="rId4" Type="http://schemas.openxmlformats.org/officeDocument/2006/relationships/hyperlink" Target="https://docs.google.com/presentation/d/1MqTl9-z9tgfBPi5ulJd6QJSR-lbnt6A09pmA2VlgRX8/edit#slide=id.g20679942d72_0_83"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docs.google.com/presentation/d/1MqTl9-z9tgfBPi5ulJd6QJSR-lbnt6A09pmA2VlgRX8/edit#slide=id.g207526de7e9_0_370" TargetMode="External"/><Relationship Id="rId2" Type="http://schemas.openxmlformats.org/officeDocument/2006/relationships/notesSlide" Target="../notesSlides/notesSlide62.xml"/><Relationship Id="rId1" Type="http://schemas.openxmlformats.org/officeDocument/2006/relationships/slideLayout" Target="../slideLayouts/slideLayout51.xml"/><Relationship Id="rId4" Type="http://schemas.openxmlformats.org/officeDocument/2006/relationships/hyperlink" Target="https://docs.google.com/presentation/d/1MqTl9-z9tgfBPi5ulJd6QJSR-lbnt6A09pmA2VlgRX8/edit#slide=id.g207526de7e9_0_446"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3.xml"/><Relationship Id="rId1" Type="http://schemas.openxmlformats.org/officeDocument/2006/relationships/slideLayout" Target="../slideLayouts/slideLayout20.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8"/>
          <p:cNvSpPr txBox="1">
            <a:spLocks noGrp="1"/>
          </p:cNvSpPr>
          <p:nvPr>
            <p:ph type="ctrTitle"/>
          </p:nvPr>
        </p:nvSpPr>
        <p:spPr>
          <a:xfrm>
            <a:off x="311700" y="539725"/>
            <a:ext cx="8520600" cy="1282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
              <a:t>GCIS-124</a:t>
            </a:r>
            <a:endParaRPr/>
          </a:p>
          <a:p>
            <a:pPr marL="0" lvl="0" indent="0" algn="l" rtl="0">
              <a:lnSpc>
                <a:spcPct val="100000"/>
              </a:lnSpc>
              <a:spcBef>
                <a:spcPts val="0"/>
              </a:spcBef>
              <a:spcAft>
                <a:spcPts val="0"/>
              </a:spcAft>
              <a:buSzPts val="3600"/>
              <a:buNone/>
            </a:pPr>
            <a:r>
              <a:rPr lang="en" sz="3100"/>
              <a:t>Software Development &amp; Problem Solving</a:t>
            </a:r>
            <a:endParaRPr sz="3100"/>
          </a:p>
        </p:txBody>
      </p:sp>
      <p:sp>
        <p:nvSpPr>
          <p:cNvPr id="305" name="Google Shape;305;p58"/>
          <p:cNvSpPr txBox="1">
            <a:spLocks noGrp="1"/>
          </p:cNvSpPr>
          <p:nvPr>
            <p:ph type="subTitle" idx="1"/>
          </p:nvPr>
        </p:nvSpPr>
        <p:spPr>
          <a:xfrm>
            <a:off x="311700" y="1878550"/>
            <a:ext cx="4491300" cy="738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sz="2600" i="1"/>
              <a:t>5: Data Structures I</a:t>
            </a:r>
            <a:endParaRPr sz="2600" i="1"/>
          </a:p>
        </p:txBody>
      </p:sp>
      <p:grpSp>
        <p:nvGrpSpPr>
          <p:cNvPr id="306" name="Google Shape;306;p58"/>
          <p:cNvGrpSpPr/>
          <p:nvPr/>
        </p:nvGrpSpPr>
        <p:grpSpPr>
          <a:xfrm>
            <a:off x="5001999" y="4264475"/>
            <a:ext cx="3908400" cy="738300"/>
            <a:chOff x="5001999" y="4264475"/>
            <a:chExt cx="3908400" cy="738300"/>
          </a:xfrm>
        </p:grpSpPr>
        <p:sp>
          <p:nvSpPr>
            <p:cNvPr id="307" name="Google Shape;307;p58"/>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8" name="Google Shape;308;p58"/>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a:t>
            </a:fld>
            <a:endParaRPr/>
          </a:p>
        </p:txBody>
      </p:sp>
      <p:pic>
        <p:nvPicPr>
          <p:cNvPr id="314" name="Google Shape;314;p59"/>
          <p:cNvPicPr preferRelativeResize="0"/>
          <p:nvPr/>
        </p:nvPicPr>
        <p:blipFill rotWithShape="1">
          <a:blip r:embed="rId3">
            <a:alphaModFix/>
          </a:blip>
          <a:srcRect/>
          <a:stretch/>
        </p:blipFill>
        <p:spPr>
          <a:xfrm>
            <a:off x="152400" y="0"/>
            <a:ext cx="8832578" cy="5143500"/>
          </a:xfrm>
          <a:prstGeom prst="rect">
            <a:avLst/>
          </a:prstGeom>
          <a:noFill/>
          <a:ln>
            <a:noFill/>
          </a:ln>
        </p:spPr>
      </p:pic>
      <p:sp>
        <p:nvSpPr>
          <p:cNvPr id="315" name="Google Shape;315;p59"/>
          <p:cNvSpPr/>
          <p:nvPr/>
        </p:nvSpPr>
        <p:spPr>
          <a:xfrm>
            <a:off x="501375" y="364250"/>
            <a:ext cx="4134000" cy="1229100"/>
          </a:xfrm>
          <a:prstGeom prst="roundRect">
            <a:avLst>
              <a:gd name="adj" fmla="val 16667"/>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Much of the content we are going to talk about today is </a:t>
            </a:r>
            <a:r>
              <a:rPr lang="en" sz="2000" b="1" i="1" u="none" strike="noStrike" cap="none">
                <a:solidFill>
                  <a:srgbClr val="FF0000"/>
                </a:solidFill>
                <a:latin typeface="Arial"/>
                <a:ea typeface="Arial"/>
                <a:cs typeface="Arial"/>
                <a:sym typeface="Arial"/>
              </a:rPr>
              <a:t>review</a:t>
            </a:r>
            <a:r>
              <a:rPr lang="en" sz="2000" b="0" i="0" u="none" strike="noStrike" cap="none">
                <a:solidFill>
                  <a:srgbClr val="FF0000"/>
                </a:solidFill>
                <a:latin typeface="Arial"/>
                <a:ea typeface="Arial"/>
                <a:cs typeface="Arial"/>
                <a:sym typeface="Arial"/>
              </a:rPr>
              <a:t> </a:t>
            </a:r>
            <a:r>
              <a:rPr lang="en" sz="2000" b="0" i="0" u="none" strike="noStrike" cap="none">
                <a:solidFill>
                  <a:srgbClr val="000000"/>
                </a:solidFill>
                <a:latin typeface="Arial"/>
                <a:ea typeface="Arial"/>
                <a:cs typeface="Arial"/>
                <a:sym typeface="Arial"/>
              </a:rPr>
              <a:t>from the first course in this sequence.</a:t>
            </a:r>
            <a:endParaRPr sz="2000" b="0" i="0" u="none" strike="noStrike" cap="none">
              <a:solidFill>
                <a:srgbClr val="000000"/>
              </a:solidFill>
              <a:latin typeface="Arial"/>
              <a:ea typeface="Arial"/>
              <a:cs typeface="Arial"/>
              <a:sym typeface="Arial"/>
            </a:endParaRPr>
          </a:p>
        </p:txBody>
      </p:sp>
      <p:sp>
        <p:nvSpPr>
          <p:cNvPr id="316" name="Google Shape;316;p59"/>
          <p:cNvSpPr/>
          <p:nvPr/>
        </p:nvSpPr>
        <p:spPr>
          <a:xfrm>
            <a:off x="4037975" y="3578100"/>
            <a:ext cx="4403100" cy="1229100"/>
          </a:xfrm>
          <a:prstGeom prst="roundRect">
            <a:avLst>
              <a:gd name="adj" fmla="val 16667"/>
            </a:avLst>
          </a:prstGeom>
          <a:solidFill>
            <a:srgbClr val="FFFFF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Some of it will be discussed</a:t>
            </a:r>
            <a:r>
              <a:rPr lang="en" sz="2000" b="0" i="0" u="none" strike="noStrike" cap="none">
                <a:solidFill>
                  <a:srgbClr val="FF0000"/>
                </a:solidFill>
                <a:latin typeface="Arial"/>
                <a:ea typeface="Arial"/>
                <a:cs typeface="Arial"/>
                <a:sym typeface="Arial"/>
              </a:rPr>
              <a:t> </a:t>
            </a:r>
            <a:r>
              <a:rPr lang="en" sz="2000" b="1" i="1" u="none" strike="noStrike" cap="none">
                <a:solidFill>
                  <a:srgbClr val="FF0000"/>
                </a:solidFill>
                <a:latin typeface="Arial"/>
                <a:ea typeface="Arial"/>
                <a:cs typeface="Arial"/>
                <a:sym typeface="Arial"/>
              </a:rPr>
              <a:t>very quickly</a:t>
            </a:r>
            <a:r>
              <a:rPr lang="en" sz="2000" b="0" i="0" u="none" strike="noStrike" cap="none">
                <a:solidFill>
                  <a:srgbClr val="000000"/>
                </a:solidFill>
                <a:latin typeface="Arial"/>
                <a:ea typeface="Arial"/>
                <a:cs typeface="Arial"/>
                <a:sym typeface="Arial"/>
              </a:rPr>
              <a:t> unless there are questions. If you have a question, </a:t>
            </a:r>
            <a:r>
              <a:rPr lang="en" sz="2000" b="1" i="1" u="none" strike="noStrike" cap="none">
                <a:solidFill>
                  <a:srgbClr val="FF0000"/>
                </a:solidFill>
                <a:latin typeface="Arial"/>
                <a:ea typeface="Arial"/>
                <a:cs typeface="Arial"/>
                <a:sym typeface="Arial"/>
              </a:rPr>
              <a:t>please ask!</a:t>
            </a:r>
            <a:endParaRPr sz="2000" b="1" i="1" u="none" strike="noStrike" cap="none">
              <a:solidFill>
                <a:srgbClr val="FF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gtEl>
                                        <p:attrNameLst>
                                          <p:attrName>style.visibility</p:attrName>
                                        </p:attrNameLst>
                                      </p:cBhvr>
                                      <p:to>
                                        <p:strVal val="visible"/>
                                      </p:to>
                                    </p:set>
                                    <p:animEffect transition="in" filter="fade">
                                      <p:cBhvr>
                                        <p:cTn id="7" dur="1000"/>
                                        <p:tgtEl>
                                          <p:spTgt spid="3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6"/>
                                        </p:tgtEl>
                                        <p:attrNameLst>
                                          <p:attrName>style.visibility</p:attrName>
                                        </p:attrNameLst>
                                      </p:cBhvr>
                                      <p:to>
                                        <p:strVal val="visible"/>
                                      </p:to>
                                    </p:set>
                                    <p:animEffect transition="in" filter="fade">
                                      <p:cBhvr>
                                        <p:cTn id="12" dur="1000"/>
                                        <p:tgtEl>
                                          <p:spTgt spid="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60"/>
          <p:cNvSpPr txBox="1">
            <a:spLocks noGrp="1"/>
          </p:cNvSpPr>
          <p:nvPr>
            <p:ph type="title"/>
          </p:nvPr>
        </p:nvSpPr>
        <p:spPr>
          <a:xfrm>
            <a:off x="311725" y="2723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Data Structures</a:t>
            </a:r>
            <a:endParaRPr/>
          </a:p>
        </p:txBody>
      </p:sp>
      <p:sp>
        <p:nvSpPr>
          <p:cNvPr id="322" name="Google Shape;322;p60"/>
          <p:cNvSpPr txBox="1">
            <a:spLocks noGrp="1"/>
          </p:cNvSpPr>
          <p:nvPr>
            <p:ph type="body" idx="1"/>
          </p:nvPr>
        </p:nvSpPr>
        <p:spPr>
          <a:xfrm>
            <a:off x="4568475" y="119925"/>
            <a:ext cx="4166400" cy="47835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In this unit we will begin exploring </a:t>
            </a:r>
            <a:r>
              <a:rPr lang="en" b="1" i="1" dirty="0">
                <a:solidFill>
                  <a:srgbClr val="FF0000"/>
                </a:solidFill>
              </a:rPr>
              <a:t>abstract data types</a:t>
            </a:r>
            <a:r>
              <a:rPr lang="en" dirty="0"/>
              <a:t>.</a:t>
            </a:r>
            <a:endParaRPr dirty="0"/>
          </a:p>
          <a:p>
            <a:pPr marL="914400" lvl="1" indent="-298450" algn="l" rtl="0">
              <a:lnSpc>
                <a:spcPct val="115000"/>
              </a:lnSpc>
              <a:spcBef>
                <a:spcPts val="0"/>
              </a:spcBef>
              <a:spcAft>
                <a:spcPts val="0"/>
              </a:spcAft>
              <a:buSzPts val="1100"/>
              <a:buChar char="○"/>
            </a:pPr>
            <a:r>
              <a:rPr lang="en" dirty="0">
                <a:highlight>
                  <a:srgbClr val="FFFF00"/>
                </a:highlight>
              </a:rPr>
              <a:t>An abstract data type describes the behavior of a data structure from the perspective of its user without providing any implementation details.</a:t>
            </a:r>
            <a:endParaRPr dirty="0">
              <a:highlight>
                <a:srgbClr val="FFFF00"/>
              </a:highlight>
            </a:endParaRPr>
          </a:p>
          <a:p>
            <a:pPr marL="914400" lvl="1" indent="-298450" algn="l" rtl="0">
              <a:lnSpc>
                <a:spcPct val="115000"/>
              </a:lnSpc>
              <a:spcBef>
                <a:spcPts val="0"/>
              </a:spcBef>
              <a:spcAft>
                <a:spcPts val="0"/>
              </a:spcAft>
              <a:buSzPts val="1100"/>
              <a:buChar char="○"/>
            </a:pPr>
            <a:r>
              <a:rPr lang="en" dirty="0"/>
              <a:t>Every abstract data type (ADT) may be implemented in </a:t>
            </a:r>
            <a:r>
              <a:rPr lang="en" dirty="0">
                <a:highlight>
                  <a:srgbClr val="FFFF00"/>
                </a:highlight>
              </a:rPr>
              <a:t>more than one way.</a:t>
            </a:r>
            <a:endParaRPr dirty="0">
              <a:highlight>
                <a:srgbClr val="FFFF00"/>
              </a:highlight>
            </a:endParaRPr>
          </a:p>
          <a:p>
            <a:pPr marL="914400" lvl="1" indent="-298450" algn="l" rtl="0">
              <a:lnSpc>
                <a:spcPct val="115000"/>
              </a:lnSpc>
              <a:spcBef>
                <a:spcPts val="0"/>
              </a:spcBef>
              <a:spcAft>
                <a:spcPts val="0"/>
              </a:spcAft>
              <a:buSzPts val="1100"/>
              <a:buChar char="○"/>
            </a:pPr>
            <a:r>
              <a:rPr lang="en" dirty="0"/>
              <a:t>When solving a new problem, </a:t>
            </a:r>
            <a:r>
              <a:rPr lang="en" dirty="0">
                <a:highlight>
                  <a:srgbClr val="FFFF00"/>
                </a:highlight>
              </a:rPr>
              <a:t>choosing the most efficient implementation </a:t>
            </a:r>
            <a:r>
              <a:rPr lang="en" dirty="0"/>
              <a:t>is just as important as choosing the correct data structure.</a:t>
            </a:r>
            <a:endParaRPr dirty="0"/>
          </a:p>
          <a:p>
            <a:pPr marL="457200" lvl="0" indent="-311150" algn="l" rtl="0">
              <a:lnSpc>
                <a:spcPct val="115000"/>
              </a:lnSpc>
              <a:spcBef>
                <a:spcPts val="1000"/>
              </a:spcBef>
              <a:spcAft>
                <a:spcPts val="0"/>
              </a:spcAft>
              <a:buSzPts val="1300"/>
              <a:buChar char="●"/>
            </a:pPr>
            <a:r>
              <a:rPr lang="en" dirty="0"/>
              <a:t>We will examine several different abstract data types, and implement each in multiple ways. Topics will include:</a:t>
            </a:r>
            <a:endParaRPr dirty="0"/>
          </a:p>
          <a:p>
            <a:pPr marL="914400" lvl="1" indent="-298450" algn="l" rtl="0">
              <a:lnSpc>
                <a:spcPct val="115000"/>
              </a:lnSpc>
              <a:spcBef>
                <a:spcPts val="0"/>
              </a:spcBef>
              <a:spcAft>
                <a:spcPts val="0"/>
              </a:spcAft>
              <a:buSzPts val="1100"/>
              <a:buChar char="○"/>
            </a:pPr>
            <a:r>
              <a:rPr lang="en" dirty="0"/>
              <a:t>Queues</a:t>
            </a:r>
            <a:endParaRPr dirty="0"/>
          </a:p>
          <a:p>
            <a:pPr marL="914400" lvl="1" indent="-298450" algn="l" rtl="0">
              <a:lnSpc>
                <a:spcPct val="115000"/>
              </a:lnSpc>
              <a:spcBef>
                <a:spcPts val="0"/>
              </a:spcBef>
              <a:spcAft>
                <a:spcPts val="0"/>
              </a:spcAft>
              <a:buSzPts val="1100"/>
              <a:buChar char="○"/>
            </a:pPr>
            <a:r>
              <a:rPr lang="en" dirty="0"/>
              <a:t>Generics</a:t>
            </a:r>
            <a:endParaRPr dirty="0"/>
          </a:p>
          <a:p>
            <a:pPr marL="914400" lvl="1" indent="-298450" algn="l" rtl="0">
              <a:lnSpc>
                <a:spcPct val="115000"/>
              </a:lnSpc>
              <a:spcBef>
                <a:spcPts val="0"/>
              </a:spcBef>
              <a:spcAft>
                <a:spcPts val="0"/>
              </a:spcAft>
              <a:buSzPts val="1100"/>
              <a:buChar char="○"/>
            </a:pPr>
            <a:r>
              <a:rPr lang="en" dirty="0"/>
              <a:t>Lists</a:t>
            </a:r>
            <a:endParaRPr dirty="0"/>
          </a:p>
          <a:p>
            <a:pPr marL="914400" lvl="1" indent="-298450" algn="l" rtl="0">
              <a:lnSpc>
                <a:spcPct val="115000"/>
              </a:lnSpc>
              <a:spcBef>
                <a:spcPts val="0"/>
              </a:spcBef>
              <a:spcAft>
                <a:spcPts val="0"/>
              </a:spcAft>
              <a:buSzPts val="1100"/>
              <a:buChar char="○"/>
            </a:pPr>
            <a:r>
              <a:rPr lang="en" dirty="0"/>
              <a:t>Iterators</a:t>
            </a:r>
            <a:endParaRPr dirty="0"/>
          </a:p>
          <a:p>
            <a:pPr marL="914400" lvl="1" indent="-298450" algn="l" rtl="0">
              <a:lnSpc>
                <a:spcPct val="115000"/>
              </a:lnSpc>
              <a:spcBef>
                <a:spcPts val="0"/>
              </a:spcBef>
              <a:spcAft>
                <a:spcPts val="0"/>
              </a:spcAft>
              <a:buSzPts val="1100"/>
              <a:buChar char="○"/>
            </a:pPr>
            <a:r>
              <a:rPr lang="en" dirty="0"/>
              <a:t>The Java Collections Framework (JCF)</a:t>
            </a:r>
            <a:endParaRPr dirty="0"/>
          </a:p>
          <a:p>
            <a:pPr marL="457200" lvl="0" indent="-311150" algn="l" rtl="0">
              <a:lnSpc>
                <a:spcPct val="115000"/>
              </a:lnSpc>
              <a:spcBef>
                <a:spcPts val="1000"/>
              </a:spcBef>
              <a:spcAft>
                <a:spcPts val="0"/>
              </a:spcAft>
              <a:buSzPts val="1300"/>
              <a:buChar char="●"/>
            </a:pPr>
            <a:r>
              <a:rPr lang="en" dirty="0"/>
              <a:t>Today we will specifically focus on a data structure with which you are already familiar: the </a:t>
            </a:r>
            <a:r>
              <a:rPr lang="en" b="1" i="1" dirty="0">
                <a:solidFill>
                  <a:srgbClr val="FF0000"/>
                </a:solidFill>
                <a:highlight>
                  <a:srgbClr val="FFFF00"/>
                </a:highlight>
              </a:rPr>
              <a:t>queue</a:t>
            </a:r>
            <a:r>
              <a:rPr lang="en" dirty="0">
                <a:highlight>
                  <a:srgbClr val="FFFF00"/>
                </a:highlight>
              </a:rPr>
              <a:t>.</a:t>
            </a:r>
            <a:endParaRPr dirty="0">
              <a:highlight>
                <a:srgbClr val="FFFF00"/>
              </a:highlight>
            </a:endParaRPr>
          </a:p>
        </p:txBody>
      </p:sp>
      <p:sp>
        <p:nvSpPr>
          <p:cNvPr id="323" name="Google Shape;323;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3</a:t>
            </a:fld>
            <a:endParaRPr/>
          </a:p>
        </p:txBody>
      </p:sp>
      <p:sp>
        <p:nvSpPr>
          <p:cNvPr id="324" name="Google Shape;324;p60"/>
          <p:cNvSpPr txBox="1">
            <a:spLocks noGrp="1"/>
          </p:cNvSpPr>
          <p:nvPr>
            <p:ph type="body" idx="3"/>
          </p:nvPr>
        </p:nvSpPr>
        <p:spPr>
          <a:xfrm>
            <a:off x="260425" y="2420675"/>
            <a:ext cx="3706500" cy="71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You are already familiar with many data structures </a:t>
            </a:r>
            <a:r>
              <a:rPr lang="en" sz="1200" b="1" i="1">
                <a:solidFill>
                  <a:srgbClr val="FF0000"/>
                </a:solidFill>
              </a:rPr>
              <a:t>from the perspective of a user</a:t>
            </a:r>
            <a:r>
              <a:rPr lang="en" sz="1200"/>
              <a:t> including arrays, queues, stacks, lists, sets, and dictionaries.</a:t>
            </a:r>
            <a:endParaRPr sz="1200"/>
          </a:p>
        </p:txBody>
      </p:sp>
      <p:grpSp>
        <p:nvGrpSpPr>
          <p:cNvPr id="325" name="Google Shape;325;p60"/>
          <p:cNvGrpSpPr/>
          <p:nvPr/>
        </p:nvGrpSpPr>
        <p:grpSpPr>
          <a:xfrm>
            <a:off x="206414" y="1108047"/>
            <a:ext cx="3814500" cy="1197789"/>
            <a:chOff x="260414" y="1960022"/>
            <a:chExt cx="3814500" cy="1197789"/>
          </a:xfrm>
        </p:grpSpPr>
        <p:cxnSp>
          <p:nvCxnSpPr>
            <p:cNvPr id="326" name="Google Shape;326;p60"/>
            <p:cNvCxnSpPr/>
            <p:nvPr/>
          </p:nvCxnSpPr>
          <p:spPr>
            <a:xfrm rot="10800000">
              <a:off x="260414" y="2581000"/>
              <a:ext cx="3814500" cy="0"/>
            </a:xfrm>
            <a:prstGeom prst="straightConnector1">
              <a:avLst/>
            </a:prstGeom>
            <a:noFill/>
            <a:ln w="76200" cap="flat" cmpd="sng">
              <a:solidFill>
                <a:srgbClr val="FF9900"/>
              </a:solidFill>
              <a:prstDash val="solid"/>
              <a:round/>
              <a:headEnd type="none" w="sm" len="sm"/>
              <a:tailEnd type="triangle" w="med" len="med"/>
            </a:ln>
          </p:spPr>
        </p:cxnSp>
        <p:pic>
          <p:nvPicPr>
            <p:cNvPr id="327" name="Google Shape;327;p60"/>
            <p:cNvPicPr preferRelativeResize="0"/>
            <p:nvPr/>
          </p:nvPicPr>
          <p:blipFill rotWithShape="1">
            <a:blip r:embed="rId3">
              <a:alphaModFix/>
            </a:blip>
            <a:srcRect/>
            <a:stretch/>
          </p:blipFill>
          <p:spPr>
            <a:xfrm>
              <a:off x="3261013" y="1960036"/>
              <a:ext cx="685875" cy="1197764"/>
            </a:xfrm>
            <a:prstGeom prst="rect">
              <a:avLst/>
            </a:prstGeom>
            <a:noFill/>
            <a:ln>
              <a:noFill/>
            </a:ln>
          </p:spPr>
        </p:pic>
        <p:pic>
          <p:nvPicPr>
            <p:cNvPr id="328" name="Google Shape;328;p60"/>
            <p:cNvPicPr preferRelativeResize="0"/>
            <p:nvPr/>
          </p:nvPicPr>
          <p:blipFill rotWithShape="1">
            <a:blip r:embed="rId4">
              <a:alphaModFix/>
            </a:blip>
            <a:srcRect/>
            <a:stretch/>
          </p:blipFill>
          <p:spPr>
            <a:xfrm>
              <a:off x="1020294" y="1960028"/>
              <a:ext cx="685878" cy="1197775"/>
            </a:xfrm>
            <a:prstGeom prst="rect">
              <a:avLst/>
            </a:prstGeom>
            <a:noFill/>
            <a:ln>
              <a:noFill/>
            </a:ln>
          </p:spPr>
        </p:pic>
        <p:pic>
          <p:nvPicPr>
            <p:cNvPr id="329" name="Google Shape;329;p60"/>
            <p:cNvPicPr preferRelativeResize="0"/>
            <p:nvPr/>
          </p:nvPicPr>
          <p:blipFill rotWithShape="1">
            <a:blip r:embed="rId5">
              <a:alphaModFix/>
            </a:blip>
            <a:srcRect/>
            <a:stretch/>
          </p:blipFill>
          <p:spPr>
            <a:xfrm>
              <a:off x="443331" y="1960037"/>
              <a:ext cx="456704" cy="1197774"/>
            </a:xfrm>
            <a:prstGeom prst="rect">
              <a:avLst/>
            </a:prstGeom>
            <a:noFill/>
            <a:ln>
              <a:noFill/>
            </a:ln>
          </p:spPr>
        </p:pic>
        <p:pic>
          <p:nvPicPr>
            <p:cNvPr id="330" name="Google Shape;330;p60"/>
            <p:cNvPicPr preferRelativeResize="0"/>
            <p:nvPr/>
          </p:nvPicPr>
          <p:blipFill rotWithShape="1">
            <a:blip r:embed="rId6">
              <a:alphaModFix/>
            </a:blip>
            <a:srcRect/>
            <a:stretch/>
          </p:blipFill>
          <p:spPr>
            <a:xfrm>
              <a:off x="1805777" y="1960025"/>
              <a:ext cx="570161" cy="1197774"/>
            </a:xfrm>
            <a:prstGeom prst="rect">
              <a:avLst/>
            </a:prstGeom>
            <a:noFill/>
            <a:ln>
              <a:noFill/>
            </a:ln>
          </p:spPr>
        </p:pic>
        <p:pic>
          <p:nvPicPr>
            <p:cNvPr id="331" name="Google Shape;331;p60"/>
            <p:cNvPicPr preferRelativeResize="0"/>
            <p:nvPr/>
          </p:nvPicPr>
          <p:blipFill rotWithShape="1">
            <a:blip r:embed="rId7">
              <a:alphaModFix/>
            </a:blip>
            <a:srcRect/>
            <a:stretch/>
          </p:blipFill>
          <p:spPr>
            <a:xfrm>
              <a:off x="2418495" y="1960022"/>
              <a:ext cx="799949" cy="1197774"/>
            </a:xfrm>
            <a:prstGeom prst="rect">
              <a:avLst/>
            </a:prstGeom>
            <a:noFill/>
            <a:ln>
              <a:noFill/>
            </a:ln>
          </p:spPr>
        </p:pic>
      </p:grpSp>
      <p:sp>
        <p:nvSpPr>
          <p:cNvPr id="332" name="Google Shape;332;p60"/>
          <p:cNvSpPr txBox="1">
            <a:spLocks noGrp="1"/>
          </p:cNvSpPr>
          <p:nvPr>
            <p:ph type="body" idx="3"/>
          </p:nvPr>
        </p:nvSpPr>
        <p:spPr>
          <a:xfrm>
            <a:off x="260425" y="3245104"/>
            <a:ext cx="3706500" cy="71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In this unit we will learn how </a:t>
            </a:r>
            <a:r>
              <a:rPr lang="en" sz="1200" b="1" i="1">
                <a:solidFill>
                  <a:srgbClr val="FF0000"/>
                </a:solidFill>
              </a:rPr>
              <a:t>different implementations</a:t>
            </a:r>
            <a:r>
              <a:rPr lang="en" sz="1200"/>
              <a:t> of many of these data structures work.</a:t>
            </a:r>
            <a:endParaRPr sz="1200"/>
          </a:p>
        </p:txBody>
      </p:sp>
      <p:sp>
        <p:nvSpPr>
          <p:cNvPr id="333" name="Google Shape;333;p60"/>
          <p:cNvSpPr txBox="1">
            <a:spLocks noGrp="1"/>
          </p:cNvSpPr>
          <p:nvPr>
            <p:ph type="body" idx="3"/>
          </p:nvPr>
        </p:nvSpPr>
        <p:spPr>
          <a:xfrm>
            <a:off x="260425" y="4069533"/>
            <a:ext cx="3706500" cy="714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We will also examine the situational </a:t>
            </a:r>
            <a:r>
              <a:rPr lang="en" sz="1200" b="1" i="1" dirty="0">
                <a:solidFill>
                  <a:srgbClr val="FF0000"/>
                </a:solidFill>
                <a:highlight>
                  <a:srgbClr val="FFFF00"/>
                </a:highlight>
              </a:rPr>
              <a:t>strengths and weaknesses</a:t>
            </a:r>
            <a:r>
              <a:rPr lang="en" sz="1200" dirty="0">
                <a:highlight>
                  <a:srgbClr val="FFFF00"/>
                </a:highlight>
              </a:rPr>
              <a:t> of each implementation in terms of </a:t>
            </a:r>
            <a:r>
              <a:rPr lang="en" sz="1200" b="1" i="1" dirty="0">
                <a:solidFill>
                  <a:srgbClr val="FF0000"/>
                </a:solidFill>
                <a:highlight>
                  <a:srgbClr val="FFFF00"/>
                </a:highlight>
              </a:rPr>
              <a:t>complexity</a:t>
            </a:r>
            <a:r>
              <a:rPr lang="en" sz="1200" dirty="0">
                <a:solidFill>
                  <a:srgbClr val="FF0000"/>
                </a:solidFill>
              </a:rPr>
              <a:t> </a:t>
            </a:r>
            <a:r>
              <a:rPr lang="en" sz="1200" dirty="0"/>
              <a:t>(both space and time).</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2">
                                            <p:txEl>
                                              <p:pRg st="0" end="0"/>
                                            </p:txEl>
                                          </p:spTgt>
                                        </p:tgtEl>
                                        <p:attrNameLst>
                                          <p:attrName>style.visibility</p:attrName>
                                        </p:attrNameLst>
                                      </p:cBhvr>
                                      <p:to>
                                        <p:strVal val="visible"/>
                                      </p:to>
                                    </p:set>
                                    <p:animEffect transition="in" filter="fade">
                                      <p:cBhvr>
                                        <p:cTn id="7" dur="1000"/>
                                        <p:tgtEl>
                                          <p:spTgt spid="3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2">
                                            <p:txEl>
                                              <p:pRg st="1" end="1"/>
                                            </p:txEl>
                                          </p:spTgt>
                                        </p:tgtEl>
                                        <p:attrNameLst>
                                          <p:attrName>style.visibility</p:attrName>
                                        </p:attrNameLst>
                                      </p:cBhvr>
                                      <p:to>
                                        <p:strVal val="visible"/>
                                      </p:to>
                                    </p:set>
                                    <p:animEffect transition="in" filter="fade">
                                      <p:cBhvr>
                                        <p:cTn id="12" dur="1000"/>
                                        <p:tgtEl>
                                          <p:spTgt spid="3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2">
                                            <p:txEl>
                                              <p:pRg st="2" end="2"/>
                                            </p:txEl>
                                          </p:spTgt>
                                        </p:tgtEl>
                                        <p:attrNameLst>
                                          <p:attrName>style.visibility</p:attrName>
                                        </p:attrNameLst>
                                      </p:cBhvr>
                                      <p:to>
                                        <p:strVal val="visible"/>
                                      </p:to>
                                    </p:set>
                                    <p:animEffect transition="in" filter="fade">
                                      <p:cBhvr>
                                        <p:cTn id="17" dur="1000"/>
                                        <p:tgtEl>
                                          <p:spTgt spid="3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2">
                                            <p:txEl>
                                              <p:pRg st="3" end="3"/>
                                            </p:txEl>
                                          </p:spTgt>
                                        </p:tgtEl>
                                        <p:attrNameLst>
                                          <p:attrName>style.visibility</p:attrName>
                                        </p:attrNameLst>
                                      </p:cBhvr>
                                      <p:to>
                                        <p:strVal val="visible"/>
                                      </p:to>
                                    </p:set>
                                    <p:animEffect transition="in" filter="fade">
                                      <p:cBhvr>
                                        <p:cTn id="22" dur="1000"/>
                                        <p:tgtEl>
                                          <p:spTgt spid="3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2">
                                            <p:txEl>
                                              <p:pRg st="4" end="4"/>
                                            </p:txEl>
                                          </p:spTgt>
                                        </p:tgtEl>
                                        <p:attrNameLst>
                                          <p:attrName>style.visibility</p:attrName>
                                        </p:attrNameLst>
                                      </p:cBhvr>
                                      <p:to>
                                        <p:strVal val="visible"/>
                                      </p:to>
                                    </p:set>
                                    <p:animEffect transition="in" filter="fade">
                                      <p:cBhvr>
                                        <p:cTn id="27" dur="1000"/>
                                        <p:tgtEl>
                                          <p:spTgt spid="3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2">
                                            <p:txEl>
                                              <p:pRg st="5" end="5"/>
                                            </p:txEl>
                                          </p:spTgt>
                                        </p:tgtEl>
                                        <p:attrNameLst>
                                          <p:attrName>style.visibility</p:attrName>
                                        </p:attrNameLst>
                                      </p:cBhvr>
                                      <p:to>
                                        <p:strVal val="visible"/>
                                      </p:to>
                                    </p:set>
                                    <p:animEffect transition="in" filter="fade">
                                      <p:cBhvr>
                                        <p:cTn id="32" dur="1000"/>
                                        <p:tgtEl>
                                          <p:spTgt spid="3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2">
                                            <p:txEl>
                                              <p:pRg st="6" end="6"/>
                                            </p:txEl>
                                          </p:spTgt>
                                        </p:tgtEl>
                                        <p:attrNameLst>
                                          <p:attrName>style.visibility</p:attrName>
                                        </p:attrNameLst>
                                      </p:cBhvr>
                                      <p:to>
                                        <p:strVal val="visible"/>
                                      </p:to>
                                    </p:set>
                                    <p:animEffect transition="in" filter="fade">
                                      <p:cBhvr>
                                        <p:cTn id="37" dur="1000"/>
                                        <p:tgtEl>
                                          <p:spTgt spid="32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2">
                                            <p:txEl>
                                              <p:pRg st="7" end="7"/>
                                            </p:txEl>
                                          </p:spTgt>
                                        </p:tgtEl>
                                        <p:attrNameLst>
                                          <p:attrName>style.visibility</p:attrName>
                                        </p:attrNameLst>
                                      </p:cBhvr>
                                      <p:to>
                                        <p:strVal val="visible"/>
                                      </p:to>
                                    </p:set>
                                    <p:animEffect transition="in" filter="fade">
                                      <p:cBhvr>
                                        <p:cTn id="42" dur="1000"/>
                                        <p:tgtEl>
                                          <p:spTgt spid="32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22">
                                            <p:txEl>
                                              <p:pRg st="8" end="8"/>
                                            </p:txEl>
                                          </p:spTgt>
                                        </p:tgtEl>
                                        <p:attrNameLst>
                                          <p:attrName>style.visibility</p:attrName>
                                        </p:attrNameLst>
                                      </p:cBhvr>
                                      <p:to>
                                        <p:strVal val="visible"/>
                                      </p:to>
                                    </p:set>
                                    <p:animEffect transition="in" filter="fade">
                                      <p:cBhvr>
                                        <p:cTn id="47" dur="1000"/>
                                        <p:tgtEl>
                                          <p:spTgt spid="32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22">
                                            <p:txEl>
                                              <p:pRg st="9" end="9"/>
                                            </p:txEl>
                                          </p:spTgt>
                                        </p:tgtEl>
                                        <p:attrNameLst>
                                          <p:attrName>style.visibility</p:attrName>
                                        </p:attrNameLst>
                                      </p:cBhvr>
                                      <p:to>
                                        <p:strVal val="visible"/>
                                      </p:to>
                                    </p:set>
                                    <p:animEffect transition="in" filter="fade">
                                      <p:cBhvr>
                                        <p:cTn id="52" dur="1000"/>
                                        <p:tgtEl>
                                          <p:spTgt spid="32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22">
                                            <p:txEl>
                                              <p:pRg st="10" end="10"/>
                                            </p:txEl>
                                          </p:spTgt>
                                        </p:tgtEl>
                                        <p:attrNameLst>
                                          <p:attrName>style.visibility</p:attrName>
                                        </p:attrNameLst>
                                      </p:cBhvr>
                                      <p:to>
                                        <p:strVal val="visible"/>
                                      </p:to>
                                    </p:set>
                                    <p:animEffect transition="in" filter="fade">
                                      <p:cBhvr>
                                        <p:cTn id="57" dur="1000"/>
                                        <p:tgtEl>
                                          <p:spTgt spid="32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24"/>
                                        </p:tgtEl>
                                        <p:attrNameLst>
                                          <p:attrName>style.visibility</p:attrName>
                                        </p:attrNameLst>
                                      </p:cBhvr>
                                      <p:to>
                                        <p:strVal val="visible"/>
                                      </p:to>
                                    </p:set>
                                    <p:animEffect transition="in" filter="fade">
                                      <p:cBhvr>
                                        <p:cTn id="62" dur="1000"/>
                                        <p:tgtEl>
                                          <p:spTgt spid="32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32"/>
                                        </p:tgtEl>
                                        <p:attrNameLst>
                                          <p:attrName>style.visibility</p:attrName>
                                        </p:attrNameLst>
                                      </p:cBhvr>
                                      <p:to>
                                        <p:strVal val="visible"/>
                                      </p:to>
                                    </p:set>
                                    <p:animEffect transition="in" filter="fade">
                                      <p:cBhvr>
                                        <p:cTn id="67" dur="1000"/>
                                        <p:tgtEl>
                                          <p:spTgt spid="33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33"/>
                                        </p:tgtEl>
                                        <p:attrNameLst>
                                          <p:attrName>style.visibility</p:attrName>
                                        </p:attrNameLst>
                                      </p:cBhvr>
                                      <p:to>
                                        <p:strVal val="visible"/>
                                      </p:to>
                                    </p:set>
                                    <p:animEffect transition="in" filter="fade">
                                      <p:cBhvr>
                                        <p:cTn id="72" dur="1000"/>
                                        <p:tgtEl>
                                          <p:spTgt spid="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61"/>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Abstract Data Types</a:t>
            </a:r>
            <a:endParaRPr/>
          </a:p>
        </p:txBody>
      </p:sp>
      <p:sp>
        <p:nvSpPr>
          <p:cNvPr id="339" name="Google Shape;339;p61"/>
          <p:cNvSpPr txBox="1">
            <a:spLocks noGrp="1"/>
          </p:cNvSpPr>
          <p:nvPr>
            <p:ph type="body" idx="1"/>
          </p:nvPr>
        </p:nvSpPr>
        <p:spPr>
          <a:xfrm>
            <a:off x="118275" y="1329817"/>
            <a:ext cx="4369800" cy="3724066"/>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highlight>
                  <a:srgbClr val="FFFF00"/>
                </a:highlight>
              </a:rPr>
              <a:t>A </a:t>
            </a:r>
            <a:r>
              <a:rPr lang="en" b="1" i="1" dirty="0">
                <a:solidFill>
                  <a:srgbClr val="FF0000"/>
                </a:solidFill>
                <a:highlight>
                  <a:srgbClr val="FFFF00"/>
                </a:highlight>
              </a:rPr>
              <a:t>data structure </a:t>
            </a:r>
            <a:r>
              <a:rPr lang="en" dirty="0">
                <a:highlight>
                  <a:srgbClr val="FFFF00"/>
                </a:highlight>
              </a:rPr>
              <a:t>is a grouping of related data.</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We refer to the data as </a:t>
            </a:r>
            <a:r>
              <a:rPr lang="en" b="1" i="1" dirty="0">
                <a:solidFill>
                  <a:srgbClr val="FF0000"/>
                </a:solidFill>
                <a:highlight>
                  <a:srgbClr val="FFFF00"/>
                </a:highlight>
              </a:rPr>
              <a:t>elements</a:t>
            </a:r>
            <a:r>
              <a:rPr lang="en" dirty="0">
                <a:highlight>
                  <a:srgbClr val="FFFF00"/>
                </a:highlight>
              </a:rPr>
              <a:t>.</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t>Most data structures provide some common operations including </a:t>
            </a:r>
            <a:r>
              <a:rPr lang="en" b="1" i="1" dirty="0">
                <a:solidFill>
                  <a:srgbClr val="FF0000"/>
                </a:solidFill>
                <a:highlight>
                  <a:srgbClr val="FFFF00"/>
                </a:highlight>
              </a:rPr>
              <a:t>store</a:t>
            </a:r>
            <a:r>
              <a:rPr lang="en" dirty="0">
                <a:highlight>
                  <a:srgbClr val="FFFF00"/>
                </a:highlight>
              </a:rPr>
              <a:t>, </a:t>
            </a:r>
            <a:r>
              <a:rPr lang="en" b="1" i="1" dirty="0">
                <a:solidFill>
                  <a:srgbClr val="FF0000"/>
                </a:solidFill>
                <a:highlight>
                  <a:srgbClr val="FFFF00"/>
                </a:highlight>
              </a:rPr>
              <a:t>retrieve</a:t>
            </a:r>
            <a:r>
              <a:rPr lang="en" dirty="0">
                <a:highlight>
                  <a:srgbClr val="FFFF00"/>
                </a:highlight>
              </a:rPr>
              <a:t>, </a:t>
            </a:r>
            <a:r>
              <a:rPr lang="en" b="1" i="1" dirty="0">
                <a:solidFill>
                  <a:srgbClr val="FF0000"/>
                </a:solidFill>
                <a:highlight>
                  <a:srgbClr val="FFFF00"/>
                </a:highlight>
              </a:rPr>
              <a:t>remove</a:t>
            </a:r>
            <a:r>
              <a:rPr lang="en" dirty="0"/>
              <a:t>, and </a:t>
            </a:r>
            <a:r>
              <a:rPr lang="en" b="1" i="1" dirty="0">
                <a:solidFill>
                  <a:srgbClr val="FF0000"/>
                </a:solidFill>
              </a:rPr>
              <a:t>size</a:t>
            </a:r>
            <a:r>
              <a:rPr lang="en" dirty="0"/>
              <a:t>.</a:t>
            </a:r>
            <a:endParaRPr dirty="0"/>
          </a:p>
          <a:p>
            <a:pPr marL="457200" lvl="0" indent="-311150" algn="l" rtl="0">
              <a:lnSpc>
                <a:spcPct val="100000"/>
              </a:lnSpc>
              <a:spcBef>
                <a:spcPts val="1000"/>
              </a:spcBef>
              <a:spcAft>
                <a:spcPts val="0"/>
              </a:spcAft>
              <a:buSzPts val="1300"/>
              <a:buChar char="●"/>
            </a:pPr>
            <a:r>
              <a:rPr lang="en" dirty="0"/>
              <a:t>An </a:t>
            </a:r>
            <a:r>
              <a:rPr lang="en" b="1" i="1" dirty="0">
                <a:solidFill>
                  <a:srgbClr val="FF0000"/>
                </a:solidFill>
              </a:rPr>
              <a:t>abstract data type</a:t>
            </a:r>
            <a:r>
              <a:rPr lang="en" dirty="0"/>
              <a:t> (</a:t>
            </a:r>
            <a:r>
              <a:rPr lang="en" b="1" i="1" dirty="0">
                <a:solidFill>
                  <a:srgbClr val="FF0000"/>
                </a:solidFill>
              </a:rPr>
              <a:t>ADT</a:t>
            </a:r>
            <a:r>
              <a:rPr lang="en" dirty="0"/>
              <a:t>) defines the behavior of a data structure from the point of view of its </a:t>
            </a:r>
            <a:r>
              <a:rPr lang="en" b="1" i="1" dirty="0">
                <a:solidFill>
                  <a:srgbClr val="FF0000"/>
                </a:solidFill>
              </a:rPr>
              <a:t>user</a:t>
            </a:r>
            <a:r>
              <a:rPr lang="en" dirty="0"/>
              <a:t>.</a:t>
            </a:r>
            <a:endParaRPr dirty="0"/>
          </a:p>
          <a:p>
            <a:pPr marL="914400" lvl="1" indent="-298450" algn="l" rtl="0">
              <a:lnSpc>
                <a:spcPct val="100000"/>
              </a:lnSpc>
              <a:spcBef>
                <a:spcPts val="0"/>
              </a:spcBef>
              <a:spcAft>
                <a:spcPts val="0"/>
              </a:spcAft>
              <a:buSzPts val="1100"/>
              <a:buChar char="○"/>
            </a:pPr>
            <a:r>
              <a:rPr lang="en" dirty="0"/>
              <a:t>This includes the possible values and the operations available.</a:t>
            </a:r>
            <a:endParaRPr dirty="0"/>
          </a:p>
          <a:p>
            <a:pPr marL="457200" lvl="0" indent="-311150" algn="l" rtl="0">
              <a:lnSpc>
                <a:spcPct val="100000"/>
              </a:lnSpc>
              <a:spcBef>
                <a:spcPts val="1000"/>
              </a:spcBef>
              <a:spcAft>
                <a:spcPts val="0"/>
              </a:spcAft>
              <a:buSzPts val="1300"/>
              <a:buChar char="●"/>
            </a:pPr>
            <a:r>
              <a:rPr lang="en" dirty="0"/>
              <a:t>Choosing the ADT that provides operations suitable for solving a problem usually isn't enough.</a:t>
            </a:r>
            <a:endParaRPr dirty="0"/>
          </a:p>
          <a:p>
            <a:pPr marL="914400" lvl="1" indent="-298450" algn="l" rtl="0">
              <a:lnSpc>
                <a:spcPct val="100000"/>
              </a:lnSpc>
              <a:spcBef>
                <a:spcPts val="0"/>
              </a:spcBef>
              <a:spcAft>
                <a:spcPts val="0"/>
              </a:spcAft>
              <a:buSzPts val="1100"/>
              <a:buChar char="○"/>
            </a:pPr>
            <a:r>
              <a:rPr lang="en" dirty="0"/>
              <a:t>Each ADT may be implemented in </a:t>
            </a:r>
            <a:r>
              <a:rPr lang="en" b="1" i="1" dirty="0">
                <a:solidFill>
                  <a:srgbClr val="FF0000"/>
                </a:solidFill>
                <a:highlight>
                  <a:srgbClr val="FFFF00"/>
                </a:highlight>
              </a:rPr>
              <a:t>multiple ways</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Choosing the </a:t>
            </a:r>
            <a:r>
              <a:rPr lang="en" b="1" i="1" dirty="0">
                <a:solidFill>
                  <a:srgbClr val="FF0000"/>
                </a:solidFill>
                <a:highlight>
                  <a:srgbClr val="FFFF00"/>
                </a:highlight>
              </a:rPr>
              <a:t>correct implementation</a:t>
            </a:r>
            <a:r>
              <a:rPr lang="en" dirty="0">
                <a:highlight>
                  <a:srgbClr val="FFFF00"/>
                </a:highlight>
              </a:rPr>
              <a:t> </a:t>
            </a:r>
            <a:r>
              <a:rPr lang="en" dirty="0"/>
              <a:t>is also important.</a:t>
            </a:r>
            <a:endParaRPr dirty="0"/>
          </a:p>
          <a:p>
            <a:pPr marL="914400" lvl="1" indent="-298450" algn="l" rtl="0">
              <a:lnSpc>
                <a:spcPct val="100000"/>
              </a:lnSpc>
              <a:spcBef>
                <a:spcPts val="0"/>
              </a:spcBef>
              <a:spcAft>
                <a:spcPts val="0"/>
              </a:spcAft>
              <a:buSzPts val="1100"/>
              <a:buChar char="○"/>
            </a:pPr>
            <a:r>
              <a:rPr lang="en" dirty="0"/>
              <a:t>This requires understanding the </a:t>
            </a:r>
            <a:r>
              <a:rPr lang="en" b="1" i="1" dirty="0">
                <a:solidFill>
                  <a:srgbClr val="FF0000"/>
                </a:solidFill>
                <a:highlight>
                  <a:srgbClr val="FFFF00"/>
                </a:highlight>
              </a:rPr>
              <a:t>complexity</a:t>
            </a:r>
            <a:r>
              <a:rPr lang="en" dirty="0">
                <a:solidFill>
                  <a:srgbClr val="FF0000"/>
                </a:solidFill>
              </a:rPr>
              <a:t> </a:t>
            </a:r>
            <a:r>
              <a:rPr lang="en" dirty="0"/>
              <a:t>of each operation under different circumstances. </a:t>
            </a:r>
            <a:endParaRPr dirty="0"/>
          </a:p>
        </p:txBody>
      </p:sp>
      <p:sp>
        <p:nvSpPr>
          <p:cNvPr id="340" name="Google Shape;340;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4</a:t>
            </a:fld>
            <a:endParaRPr/>
          </a:p>
        </p:txBody>
      </p:sp>
      <p:sp>
        <p:nvSpPr>
          <p:cNvPr id="341" name="Google Shape;341;p61"/>
          <p:cNvSpPr txBox="1">
            <a:spLocks noGrp="1"/>
          </p:cNvSpPr>
          <p:nvPr>
            <p:ph type="body" idx="2"/>
          </p:nvPr>
        </p:nvSpPr>
        <p:spPr>
          <a:xfrm>
            <a:off x="4680000" y="3372124"/>
            <a:ext cx="39999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solidFill>
                  <a:srgbClr val="000000"/>
                </a:solidFill>
                <a:latin typeface="Arial"/>
                <a:ea typeface="Arial"/>
                <a:cs typeface="Arial"/>
                <a:sym typeface="Arial"/>
              </a:rPr>
              <a:t>Choosing the correct </a:t>
            </a:r>
            <a:r>
              <a:rPr lang="en" sz="1200" b="1" i="1" dirty="0">
                <a:solidFill>
                  <a:srgbClr val="FF0000"/>
                </a:solidFill>
                <a:highlight>
                  <a:srgbClr val="FFFF00"/>
                </a:highlight>
                <a:latin typeface="Arial"/>
                <a:ea typeface="Arial"/>
                <a:cs typeface="Arial"/>
                <a:sym typeface="Arial"/>
              </a:rPr>
              <a:t>abstract data type</a:t>
            </a:r>
            <a:r>
              <a:rPr lang="en" sz="1200" dirty="0">
                <a:solidFill>
                  <a:srgbClr val="000000"/>
                </a:solidFill>
                <a:highlight>
                  <a:srgbClr val="FFFF00"/>
                </a:highlight>
                <a:latin typeface="Arial"/>
                <a:ea typeface="Arial"/>
                <a:cs typeface="Arial"/>
                <a:sym typeface="Arial"/>
              </a:rPr>
              <a:t> </a:t>
            </a:r>
            <a:r>
              <a:rPr lang="en" sz="1200" dirty="0">
                <a:solidFill>
                  <a:srgbClr val="000000"/>
                </a:solidFill>
                <a:latin typeface="Arial"/>
                <a:ea typeface="Arial"/>
                <a:cs typeface="Arial"/>
                <a:sym typeface="Arial"/>
              </a:rPr>
              <a:t>involves understanding the nature and constraints of the problem being solved.</a:t>
            </a:r>
            <a:endParaRPr sz="1200" dirty="0">
              <a:solidFill>
                <a:srgbClr val="000000"/>
              </a:solidFill>
              <a:latin typeface="Arial"/>
              <a:ea typeface="Arial"/>
              <a:cs typeface="Arial"/>
              <a:sym typeface="Arial"/>
            </a:endParaRPr>
          </a:p>
        </p:txBody>
      </p:sp>
      <p:sp>
        <p:nvSpPr>
          <p:cNvPr id="342" name="Google Shape;342;p61"/>
          <p:cNvSpPr txBox="1">
            <a:spLocks noGrp="1"/>
          </p:cNvSpPr>
          <p:nvPr>
            <p:ph type="body" idx="2"/>
          </p:nvPr>
        </p:nvSpPr>
        <p:spPr>
          <a:xfrm>
            <a:off x="4680000" y="4119000"/>
            <a:ext cx="3999900" cy="861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solidFill>
                  <a:srgbClr val="000000"/>
                </a:solidFill>
                <a:latin typeface="Arial"/>
                <a:ea typeface="Arial"/>
                <a:cs typeface="Arial"/>
                <a:sym typeface="Arial"/>
              </a:rPr>
              <a:t>Choosing the correct </a:t>
            </a:r>
            <a:r>
              <a:rPr lang="en" sz="1200" b="1" i="1" dirty="0">
                <a:solidFill>
                  <a:srgbClr val="FF0000"/>
                </a:solidFill>
                <a:highlight>
                  <a:srgbClr val="FFFF00"/>
                </a:highlight>
                <a:latin typeface="Arial"/>
                <a:ea typeface="Arial"/>
                <a:cs typeface="Arial"/>
                <a:sym typeface="Arial"/>
              </a:rPr>
              <a:t>implementation</a:t>
            </a:r>
            <a:r>
              <a:rPr lang="en" sz="1200" dirty="0">
                <a:solidFill>
                  <a:srgbClr val="FF0000"/>
                </a:solidFill>
                <a:highlight>
                  <a:srgbClr val="FFFF00"/>
                </a:highlight>
                <a:latin typeface="Arial"/>
                <a:ea typeface="Arial"/>
                <a:cs typeface="Arial"/>
                <a:sym typeface="Arial"/>
              </a:rPr>
              <a:t> </a:t>
            </a:r>
            <a:r>
              <a:rPr lang="en" sz="1200" dirty="0">
                <a:solidFill>
                  <a:srgbClr val="000000"/>
                </a:solidFill>
                <a:highlight>
                  <a:srgbClr val="FFFF00"/>
                </a:highlight>
                <a:latin typeface="Arial"/>
                <a:ea typeface="Arial"/>
                <a:cs typeface="Arial"/>
                <a:sym typeface="Arial"/>
              </a:rPr>
              <a:t>involves understanding which </a:t>
            </a:r>
            <a:r>
              <a:rPr lang="en" sz="1200" b="1" i="1" dirty="0">
                <a:solidFill>
                  <a:srgbClr val="FF0000"/>
                </a:solidFill>
                <a:highlight>
                  <a:srgbClr val="FFFF00"/>
                </a:highlight>
                <a:latin typeface="Arial"/>
                <a:ea typeface="Arial"/>
                <a:cs typeface="Arial"/>
                <a:sym typeface="Arial"/>
              </a:rPr>
              <a:t>operations </a:t>
            </a:r>
            <a:r>
              <a:rPr lang="en" sz="1200" dirty="0">
                <a:solidFill>
                  <a:srgbClr val="000000"/>
                </a:solidFill>
                <a:highlight>
                  <a:srgbClr val="FFFF00"/>
                </a:highlight>
                <a:latin typeface="Arial"/>
                <a:ea typeface="Arial"/>
                <a:cs typeface="Arial"/>
                <a:sym typeface="Arial"/>
              </a:rPr>
              <a:t>will be used the most, and which of the available options provides the</a:t>
            </a:r>
            <a:r>
              <a:rPr lang="en" sz="1200" dirty="0">
                <a:solidFill>
                  <a:srgbClr val="FF0000"/>
                </a:solidFill>
                <a:highlight>
                  <a:srgbClr val="FFFF00"/>
                </a:highlight>
                <a:latin typeface="Arial"/>
                <a:ea typeface="Arial"/>
                <a:cs typeface="Arial"/>
                <a:sym typeface="Arial"/>
              </a:rPr>
              <a:t> </a:t>
            </a:r>
            <a:r>
              <a:rPr lang="en" sz="1200" b="1" i="1" dirty="0">
                <a:solidFill>
                  <a:srgbClr val="FF0000"/>
                </a:solidFill>
                <a:highlight>
                  <a:srgbClr val="FFFF00"/>
                </a:highlight>
                <a:latin typeface="Arial"/>
                <a:ea typeface="Arial"/>
                <a:cs typeface="Arial"/>
                <a:sym typeface="Arial"/>
              </a:rPr>
              <a:t>most efficient implementation</a:t>
            </a:r>
            <a:r>
              <a:rPr lang="en" sz="1200" dirty="0">
                <a:solidFill>
                  <a:srgbClr val="000000"/>
                </a:solidFill>
                <a:highlight>
                  <a:srgbClr val="FFFF00"/>
                </a:highlight>
                <a:latin typeface="Arial"/>
                <a:ea typeface="Arial"/>
                <a:cs typeface="Arial"/>
                <a:sym typeface="Arial"/>
              </a:rPr>
              <a:t> </a:t>
            </a:r>
            <a:r>
              <a:rPr lang="en" sz="1200" dirty="0">
                <a:solidFill>
                  <a:srgbClr val="000000"/>
                </a:solidFill>
                <a:latin typeface="Arial"/>
                <a:ea typeface="Arial"/>
                <a:cs typeface="Arial"/>
                <a:sym typeface="Arial"/>
              </a:rPr>
              <a:t>of those operations. </a:t>
            </a:r>
            <a:endParaRPr sz="1200" dirty="0">
              <a:solidFill>
                <a:srgbClr val="000000"/>
              </a:solidFill>
              <a:latin typeface="Arial"/>
              <a:ea typeface="Arial"/>
              <a:cs typeface="Arial"/>
              <a:sym typeface="Arial"/>
            </a:endParaRPr>
          </a:p>
        </p:txBody>
      </p:sp>
      <p:pic>
        <p:nvPicPr>
          <p:cNvPr id="343" name="Google Shape;343;p61" descr="queue.jpg"/>
          <p:cNvPicPr preferRelativeResize="0"/>
          <p:nvPr/>
        </p:nvPicPr>
        <p:blipFill rotWithShape="1">
          <a:blip r:embed="rId3">
            <a:alphaModFix/>
          </a:blip>
          <a:srcRect/>
          <a:stretch/>
        </p:blipFill>
        <p:spPr>
          <a:xfrm>
            <a:off x="6542443" y="1356875"/>
            <a:ext cx="1985057" cy="1928375"/>
          </a:xfrm>
          <a:prstGeom prst="rect">
            <a:avLst/>
          </a:prstGeom>
          <a:noFill/>
          <a:ln>
            <a:noFill/>
          </a:ln>
        </p:spPr>
      </p:pic>
      <p:pic>
        <p:nvPicPr>
          <p:cNvPr id="344" name="Google Shape;344;p61"/>
          <p:cNvPicPr preferRelativeResize="0"/>
          <p:nvPr/>
        </p:nvPicPr>
        <p:blipFill rotWithShape="1">
          <a:blip r:embed="rId4">
            <a:alphaModFix/>
          </a:blip>
          <a:srcRect t="6379" b="7413"/>
          <a:stretch/>
        </p:blipFill>
        <p:spPr>
          <a:xfrm>
            <a:off x="4832400" y="1356875"/>
            <a:ext cx="1865175" cy="1966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9">
                                            <p:txEl>
                                              <p:pRg st="0" end="0"/>
                                            </p:txEl>
                                          </p:spTgt>
                                        </p:tgtEl>
                                        <p:attrNameLst>
                                          <p:attrName>style.visibility</p:attrName>
                                        </p:attrNameLst>
                                      </p:cBhvr>
                                      <p:to>
                                        <p:strVal val="visible"/>
                                      </p:to>
                                    </p:set>
                                    <p:animEffect transition="in" filter="fade">
                                      <p:cBhvr>
                                        <p:cTn id="7" dur="1000"/>
                                        <p:tgtEl>
                                          <p:spTgt spid="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9">
                                            <p:txEl>
                                              <p:pRg st="1" end="1"/>
                                            </p:txEl>
                                          </p:spTgt>
                                        </p:tgtEl>
                                        <p:attrNameLst>
                                          <p:attrName>style.visibility</p:attrName>
                                        </p:attrNameLst>
                                      </p:cBhvr>
                                      <p:to>
                                        <p:strVal val="visible"/>
                                      </p:to>
                                    </p:set>
                                    <p:animEffect transition="in" filter="fade">
                                      <p:cBhvr>
                                        <p:cTn id="12" dur="1000"/>
                                        <p:tgtEl>
                                          <p:spTgt spid="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9">
                                            <p:txEl>
                                              <p:pRg st="2" end="2"/>
                                            </p:txEl>
                                          </p:spTgt>
                                        </p:tgtEl>
                                        <p:attrNameLst>
                                          <p:attrName>style.visibility</p:attrName>
                                        </p:attrNameLst>
                                      </p:cBhvr>
                                      <p:to>
                                        <p:strVal val="visible"/>
                                      </p:to>
                                    </p:set>
                                    <p:animEffect transition="in" filter="fade">
                                      <p:cBhvr>
                                        <p:cTn id="17" dur="1000"/>
                                        <p:tgtEl>
                                          <p:spTgt spid="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9">
                                            <p:txEl>
                                              <p:pRg st="3" end="3"/>
                                            </p:txEl>
                                          </p:spTgt>
                                        </p:tgtEl>
                                        <p:attrNameLst>
                                          <p:attrName>style.visibility</p:attrName>
                                        </p:attrNameLst>
                                      </p:cBhvr>
                                      <p:to>
                                        <p:strVal val="visible"/>
                                      </p:to>
                                    </p:set>
                                    <p:animEffect transition="in" filter="fade">
                                      <p:cBhvr>
                                        <p:cTn id="22" dur="1000"/>
                                        <p:tgtEl>
                                          <p:spTgt spid="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9">
                                            <p:txEl>
                                              <p:pRg st="4" end="4"/>
                                            </p:txEl>
                                          </p:spTgt>
                                        </p:tgtEl>
                                        <p:attrNameLst>
                                          <p:attrName>style.visibility</p:attrName>
                                        </p:attrNameLst>
                                      </p:cBhvr>
                                      <p:to>
                                        <p:strVal val="visible"/>
                                      </p:to>
                                    </p:set>
                                    <p:animEffect transition="in" filter="fade">
                                      <p:cBhvr>
                                        <p:cTn id="27" dur="1000"/>
                                        <p:tgtEl>
                                          <p:spTgt spid="3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9">
                                            <p:txEl>
                                              <p:pRg st="5" end="5"/>
                                            </p:txEl>
                                          </p:spTgt>
                                        </p:tgtEl>
                                        <p:attrNameLst>
                                          <p:attrName>style.visibility</p:attrName>
                                        </p:attrNameLst>
                                      </p:cBhvr>
                                      <p:to>
                                        <p:strVal val="visible"/>
                                      </p:to>
                                    </p:set>
                                    <p:animEffect transition="in" filter="fade">
                                      <p:cBhvr>
                                        <p:cTn id="32" dur="1000"/>
                                        <p:tgtEl>
                                          <p:spTgt spid="3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9">
                                            <p:txEl>
                                              <p:pRg st="6" end="6"/>
                                            </p:txEl>
                                          </p:spTgt>
                                        </p:tgtEl>
                                        <p:attrNameLst>
                                          <p:attrName>style.visibility</p:attrName>
                                        </p:attrNameLst>
                                      </p:cBhvr>
                                      <p:to>
                                        <p:strVal val="visible"/>
                                      </p:to>
                                    </p:set>
                                    <p:animEffect transition="in" filter="fade">
                                      <p:cBhvr>
                                        <p:cTn id="37" dur="1000"/>
                                        <p:tgtEl>
                                          <p:spTgt spid="3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9">
                                            <p:txEl>
                                              <p:pRg st="7" end="7"/>
                                            </p:txEl>
                                          </p:spTgt>
                                        </p:tgtEl>
                                        <p:attrNameLst>
                                          <p:attrName>style.visibility</p:attrName>
                                        </p:attrNameLst>
                                      </p:cBhvr>
                                      <p:to>
                                        <p:strVal val="visible"/>
                                      </p:to>
                                    </p:set>
                                    <p:animEffect transition="in" filter="fade">
                                      <p:cBhvr>
                                        <p:cTn id="42" dur="1000"/>
                                        <p:tgtEl>
                                          <p:spTgt spid="33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39">
                                            <p:txEl>
                                              <p:pRg st="8" end="8"/>
                                            </p:txEl>
                                          </p:spTgt>
                                        </p:tgtEl>
                                        <p:attrNameLst>
                                          <p:attrName>style.visibility</p:attrName>
                                        </p:attrNameLst>
                                      </p:cBhvr>
                                      <p:to>
                                        <p:strVal val="visible"/>
                                      </p:to>
                                    </p:set>
                                    <p:animEffect transition="in" filter="fade">
                                      <p:cBhvr>
                                        <p:cTn id="47" dur="1000"/>
                                        <p:tgtEl>
                                          <p:spTgt spid="33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41"/>
                                        </p:tgtEl>
                                        <p:attrNameLst>
                                          <p:attrName>style.visibility</p:attrName>
                                        </p:attrNameLst>
                                      </p:cBhvr>
                                      <p:to>
                                        <p:strVal val="visible"/>
                                      </p:to>
                                    </p:set>
                                    <p:animEffect transition="in" filter="fade">
                                      <p:cBhvr>
                                        <p:cTn id="52" dur="1000"/>
                                        <p:tgtEl>
                                          <p:spTgt spid="34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42"/>
                                        </p:tgtEl>
                                        <p:attrNameLst>
                                          <p:attrName>style.visibility</p:attrName>
                                        </p:attrNameLst>
                                      </p:cBhvr>
                                      <p:to>
                                        <p:strVal val="visible"/>
                                      </p:to>
                                    </p:set>
                                    <p:animEffect transition="in" filter="fade">
                                      <p:cBhvr>
                                        <p:cTn id="57" dur="1000"/>
                                        <p:tgtEl>
                                          <p:spTgt spid="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62"/>
          <p:cNvSpPr txBox="1">
            <a:spLocks noGrp="1"/>
          </p:cNvSpPr>
          <p:nvPr>
            <p:ph type="body" idx="1"/>
          </p:nvPr>
        </p:nvSpPr>
        <p:spPr>
          <a:xfrm>
            <a:off x="65250" y="731625"/>
            <a:ext cx="8955900" cy="1128484"/>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dirty="0"/>
              <a:t>An </a:t>
            </a:r>
            <a:r>
              <a:rPr lang="en" b="1" i="1" dirty="0">
                <a:solidFill>
                  <a:srgbClr val="FF0000"/>
                </a:solidFill>
                <a:highlight>
                  <a:srgbClr val="FFFF00"/>
                </a:highlight>
              </a:rPr>
              <a:t>abstract data type</a:t>
            </a:r>
            <a:r>
              <a:rPr lang="en" dirty="0">
                <a:highlight>
                  <a:srgbClr val="FFFF00"/>
                </a:highlight>
              </a:rPr>
              <a:t> describes the capabilities of a data structure from the perspective of its user </a:t>
            </a:r>
            <a:r>
              <a:rPr lang="en" dirty="0"/>
              <a:t>without revealing any implementation details. Read each description and write the name of the abstract data type that best fits the description.</a:t>
            </a:r>
            <a:endParaRPr dirty="0"/>
          </a:p>
        </p:txBody>
      </p:sp>
      <p:sp>
        <p:nvSpPr>
          <p:cNvPr id="350" name="Google Shape;350;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351" name="Google Shape;351;p6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Identify Abstract Data Types</a:t>
            </a:r>
            <a:endParaRPr/>
          </a:p>
        </p:txBody>
      </p:sp>
      <p:sp>
        <p:nvSpPr>
          <p:cNvPr id="352" name="Google Shape;352;p6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a:t>
            </a:r>
            <a:endParaRPr/>
          </a:p>
        </p:txBody>
      </p:sp>
      <p:graphicFrame>
        <p:nvGraphicFramePr>
          <p:cNvPr id="353" name="Google Shape;353;p62"/>
          <p:cNvGraphicFramePr/>
          <p:nvPr>
            <p:extLst>
              <p:ext uri="{D42A27DB-BD31-4B8C-83A1-F6EECF244321}">
                <p14:modId xmlns:p14="http://schemas.microsoft.com/office/powerpoint/2010/main" val="77633914"/>
              </p:ext>
            </p:extLst>
          </p:nvPr>
        </p:nvGraphicFramePr>
        <p:xfrm>
          <a:off x="1614725" y="1733550"/>
          <a:ext cx="7239000" cy="2969200"/>
        </p:xfrm>
        <a:graphic>
          <a:graphicData uri="http://schemas.openxmlformats.org/drawingml/2006/table">
            <a:tbl>
              <a:tblPr>
                <a:noFill/>
                <a:tableStyleId>{5D16334A-BD30-4DCF-A821-F696FD12572A}</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tblGrid>
              <a:tr h="250687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dirty="0"/>
                        <a:t>A </a:t>
                      </a:r>
                      <a:r>
                        <a:rPr lang="en" sz="1100" b="1" i="1" u="none" strike="noStrike" cap="none" dirty="0">
                          <a:solidFill>
                            <a:srgbClr val="FF0000"/>
                          </a:solidFill>
                        </a:rPr>
                        <a:t>first-in, first-out</a:t>
                      </a:r>
                      <a:r>
                        <a:rPr lang="en" sz="1100" u="none" strike="noStrike" cap="none" dirty="0"/>
                        <a:t> (</a:t>
                      </a:r>
                      <a:r>
                        <a:rPr lang="en" sz="1100" b="1" i="1" u="none" strike="noStrike" cap="none" dirty="0">
                          <a:solidFill>
                            <a:srgbClr val="FF0000"/>
                          </a:solidFill>
                        </a:rPr>
                        <a:t>FIFO</a:t>
                      </a:r>
                      <a:r>
                        <a:rPr lang="en" sz="1100" u="none" strike="noStrike" cap="none" dirty="0"/>
                        <a:t>) data structure; elements are removed in the same order that they were added. </a:t>
                      </a:r>
                      <a:r>
                        <a:rPr lang="en" sz="1100" u="none" strike="noStrike" cap="none" dirty="0">
                          <a:highlight>
                            <a:srgbClr val="FFFF00"/>
                          </a:highlight>
                        </a:rPr>
                        <a:t>Does not provide random access.</a:t>
                      </a:r>
                      <a:endParaRPr sz="1100" u="none" strike="noStrike" cap="none" dirty="0">
                        <a:highlight>
                          <a:srgbClr val="FFFF00"/>
                        </a:high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dirty="0"/>
                        <a:t>Stores </a:t>
                      </a:r>
                      <a:r>
                        <a:rPr lang="en" sz="1100" b="1" i="1" u="none" strike="noStrike" cap="none" dirty="0">
                          <a:solidFill>
                            <a:srgbClr val="FF0000"/>
                          </a:solidFill>
                        </a:rPr>
                        <a:t>key/value pairs</a:t>
                      </a:r>
                      <a:r>
                        <a:rPr lang="en" sz="1100" u="none" strike="noStrike" cap="none" dirty="0"/>
                        <a:t>. Once added, a key can be used to retrieve its corresponding value. </a:t>
                      </a:r>
                      <a:r>
                        <a:rPr lang="en" sz="1100" u="none" strike="noStrike" cap="none" dirty="0">
                          <a:highlight>
                            <a:srgbClr val="FFFF00"/>
                          </a:highlight>
                        </a:rPr>
                        <a:t>Keys are unique; </a:t>
                      </a:r>
                      <a:r>
                        <a:rPr lang="en" sz="1100" u="none" strike="noStrike" cap="none" dirty="0"/>
                        <a:t>if the same key is used more than once, the previous value is </a:t>
                      </a:r>
                      <a:r>
                        <a:rPr lang="en" sz="1100" b="1" i="1" u="none" strike="noStrike" cap="none" dirty="0">
                          <a:solidFill>
                            <a:srgbClr val="FF0000"/>
                          </a:solidFill>
                        </a:rPr>
                        <a:t>replaced</a:t>
                      </a:r>
                      <a:r>
                        <a:rPr lang="en" sz="1100" u="none" strike="noStrike" cap="none" dirty="0"/>
                        <a:t>. Keys are not maintained in any particular order.</a:t>
                      </a:r>
                      <a:endParaRPr sz="11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dirty="0"/>
                        <a:t>A </a:t>
                      </a:r>
                      <a:r>
                        <a:rPr lang="en" sz="1100" b="1" i="1" u="none" strike="noStrike" cap="none" dirty="0">
                          <a:solidFill>
                            <a:srgbClr val="FF0000"/>
                          </a:solidFill>
                        </a:rPr>
                        <a:t>last-in, first out</a:t>
                      </a:r>
                      <a:r>
                        <a:rPr lang="en" sz="1100" u="none" strike="noStrike" cap="none" dirty="0"/>
                        <a:t> (</a:t>
                      </a:r>
                      <a:r>
                        <a:rPr lang="en" sz="1100" b="1" i="1" u="none" strike="noStrike" cap="none" dirty="0">
                          <a:solidFill>
                            <a:srgbClr val="FF0000"/>
                          </a:solidFill>
                        </a:rPr>
                        <a:t>LIFO</a:t>
                      </a:r>
                      <a:r>
                        <a:rPr lang="en" sz="1100" u="none" strike="noStrike" cap="none" dirty="0"/>
                        <a:t>) data structure. Elements are removed in the opposite order that they were added. </a:t>
                      </a:r>
                      <a:r>
                        <a:rPr lang="en" sz="1100" u="none" strike="noStrike" cap="none" dirty="0">
                          <a:highlight>
                            <a:srgbClr val="FFFF00"/>
                          </a:highlight>
                        </a:rPr>
                        <a:t>Does not provide random access.</a:t>
                      </a:r>
                      <a:endParaRPr sz="1100" u="none" strike="noStrike" cap="none" dirty="0">
                        <a:highlight>
                          <a:srgbClr val="FFFF00"/>
                        </a:highlight>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dirty="0"/>
                        <a:t>Stores </a:t>
                      </a:r>
                      <a:r>
                        <a:rPr lang="en" sz="1100" b="1" i="1" u="none" strike="noStrike" cap="none" dirty="0">
                          <a:solidFill>
                            <a:srgbClr val="FF0000"/>
                          </a:solidFill>
                        </a:rPr>
                        <a:t>unique</a:t>
                      </a:r>
                      <a:r>
                        <a:rPr lang="en" sz="1100" u="none" strike="noStrike" cap="none" dirty="0">
                          <a:solidFill>
                            <a:srgbClr val="FF0000"/>
                          </a:solidFill>
                        </a:rPr>
                        <a:t> </a:t>
                      </a:r>
                      <a:r>
                        <a:rPr lang="en" sz="1100" u="none" strike="noStrike" cap="none" dirty="0"/>
                        <a:t>elements, meaning that duplicates are </a:t>
                      </a:r>
                      <a:r>
                        <a:rPr lang="en" sz="1100" b="1" i="1" u="none" strike="noStrike" cap="none" dirty="0">
                          <a:solidFill>
                            <a:srgbClr val="FF0000"/>
                          </a:solidFill>
                        </a:rPr>
                        <a:t>ignored</a:t>
                      </a:r>
                      <a:r>
                        <a:rPr lang="en" sz="1100" u="none" strike="noStrike" cap="none" dirty="0"/>
                        <a:t>. Elements are not maintained in any particular order.</a:t>
                      </a:r>
                      <a:endParaRPr sz="11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dirty="0"/>
                        <a:t>A </a:t>
                      </a:r>
                      <a:r>
                        <a:rPr lang="en" sz="1100" b="1" i="1" u="none" strike="noStrike" cap="none" dirty="0">
                          <a:solidFill>
                            <a:srgbClr val="FF0000"/>
                          </a:solidFill>
                        </a:rPr>
                        <a:t>variable length</a:t>
                      </a:r>
                      <a:r>
                        <a:rPr lang="en" sz="1100" u="none" strike="noStrike" cap="none" dirty="0"/>
                        <a:t> data structure that grows in size as elements are added, and shrinks as they are removed. Elements are maintained in the order that they are added, and can be accessed using an index.</a:t>
                      </a:r>
                      <a:endParaRPr sz="11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623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354" name="Google Shape;354;p62"/>
          <p:cNvPicPr preferRelativeResize="0"/>
          <p:nvPr/>
        </p:nvPicPr>
        <p:blipFill rotWithShape="1">
          <a:blip r:embed="rId3">
            <a:alphaModFix/>
          </a:blip>
          <a:srcRect l="10187" r="18623"/>
          <a:stretch/>
        </p:blipFill>
        <p:spPr>
          <a:xfrm>
            <a:off x="129526" y="1745433"/>
            <a:ext cx="1381450" cy="1844050"/>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63"/>
          <p:cNvSpPr txBox="1">
            <a:spLocks noGrp="1"/>
          </p:cNvSpPr>
          <p:nvPr>
            <p:ph type="body" idx="1"/>
          </p:nvPr>
        </p:nvSpPr>
        <p:spPr>
          <a:xfrm>
            <a:off x="65250" y="731625"/>
            <a:ext cx="8955900" cy="9234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An </a:t>
            </a:r>
            <a:r>
              <a:rPr lang="en" b="1" i="1">
                <a:solidFill>
                  <a:srgbClr val="FF0000"/>
                </a:solidFill>
              </a:rPr>
              <a:t>abstract data type</a:t>
            </a:r>
            <a:r>
              <a:rPr lang="en"/>
              <a:t> describes the capabilities of a data structure from the perspective of its user without revealing any implementation details. Read each description and write the name of the abstract data type that best fits the description.</a:t>
            </a:r>
            <a:endParaRPr/>
          </a:p>
        </p:txBody>
      </p:sp>
      <p:sp>
        <p:nvSpPr>
          <p:cNvPr id="360" name="Google Shape;360;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sp>
        <p:nvSpPr>
          <p:cNvPr id="361" name="Google Shape;361;p6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Identify Abstract Data Types</a:t>
            </a:r>
            <a:endParaRPr/>
          </a:p>
        </p:txBody>
      </p:sp>
      <p:sp>
        <p:nvSpPr>
          <p:cNvPr id="362" name="Google Shape;362;p6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a:t>
            </a:r>
            <a:endParaRPr/>
          </a:p>
        </p:txBody>
      </p:sp>
      <p:graphicFrame>
        <p:nvGraphicFramePr>
          <p:cNvPr id="363" name="Google Shape;363;p63"/>
          <p:cNvGraphicFramePr/>
          <p:nvPr/>
        </p:nvGraphicFramePr>
        <p:xfrm>
          <a:off x="1614725" y="1733550"/>
          <a:ext cx="7239000" cy="2969200"/>
        </p:xfrm>
        <a:graphic>
          <a:graphicData uri="http://schemas.openxmlformats.org/drawingml/2006/table">
            <a:tbl>
              <a:tblPr>
                <a:noFill/>
                <a:tableStyleId>{5D16334A-BD30-4DCF-A821-F696FD12572A}</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tblGrid>
              <a:tr h="2506875">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 </a:t>
                      </a:r>
                      <a:r>
                        <a:rPr lang="en" sz="1100" b="1" i="1" u="none" strike="noStrike" cap="none">
                          <a:solidFill>
                            <a:srgbClr val="FF0000"/>
                          </a:solidFill>
                        </a:rPr>
                        <a:t>first-in, first-out</a:t>
                      </a:r>
                      <a:r>
                        <a:rPr lang="en" sz="1100" u="none" strike="noStrike" cap="none"/>
                        <a:t> (</a:t>
                      </a:r>
                      <a:r>
                        <a:rPr lang="en" sz="1100" b="1" i="1" u="none" strike="noStrike" cap="none">
                          <a:solidFill>
                            <a:srgbClr val="FF0000"/>
                          </a:solidFill>
                        </a:rPr>
                        <a:t>FIFO</a:t>
                      </a:r>
                      <a:r>
                        <a:rPr lang="en" sz="1100" u="none" strike="noStrike" cap="none"/>
                        <a:t>) data structure; elements are removed in the same order that they were added. Does not provide random access.</a:t>
                      </a:r>
                      <a:endParaRPr sz="11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Stores </a:t>
                      </a:r>
                      <a:r>
                        <a:rPr lang="en" sz="1100" b="1" i="1" u="none" strike="noStrike" cap="none">
                          <a:solidFill>
                            <a:srgbClr val="FF0000"/>
                          </a:solidFill>
                        </a:rPr>
                        <a:t>key/value pairs</a:t>
                      </a:r>
                      <a:r>
                        <a:rPr lang="en" sz="1100" u="none" strike="noStrike" cap="none"/>
                        <a:t>. Once added, a key can be used to retrieve its corresponding value. Keys are unique; if the same key is used more than once, the previous value is </a:t>
                      </a:r>
                      <a:r>
                        <a:rPr lang="en" sz="1100" b="1" i="1" u="none" strike="noStrike" cap="none">
                          <a:solidFill>
                            <a:srgbClr val="FF0000"/>
                          </a:solidFill>
                        </a:rPr>
                        <a:t>replaced</a:t>
                      </a:r>
                      <a:r>
                        <a:rPr lang="en" sz="1100" u="none" strike="noStrike" cap="none"/>
                        <a:t>. Keys are not maintained in any particular order.</a:t>
                      </a:r>
                      <a:endParaRPr sz="11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 </a:t>
                      </a:r>
                      <a:r>
                        <a:rPr lang="en" sz="1100" b="1" i="1" u="none" strike="noStrike" cap="none">
                          <a:solidFill>
                            <a:srgbClr val="FF0000"/>
                          </a:solidFill>
                        </a:rPr>
                        <a:t>last-in, first out</a:t>
                      </a:r>
                      <a:r>
                        <a:rPr lang="en" sz="1100" u="none" strike="noStrike" cap="none"/>
                        <a:t> (</a:t>
                      </a:r>
                      <a:r>
                        <a:rPr lang="en" sz="1100" b="1" i="1" u="none" strike="noStrike" cap="none">
                          <a:solidFill>
                            <a:srgbClr val="FF0000"/>
                          </a:solidFill>
                        </a:rPr>
                        <a:t>LIFO</a:t>
                      </a:r>
                      <a:r>
                        <a:rPr lang="en" sz="1100" u="none" strike="noStrike" cap="none"/>
                        <a:t>) data structure. Elements are removed in the opposite order that they were added. Does not provide random access.</a:t>
                      </a:r>
                      <a:endParaRPr sz="11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Stores </a:t>
                      </a:r>
                      <a:r>
                        <a:rPr lang="en" sz="1100" b="1" i="1" u="none" strike="noStrike" cap="none">
                          <a:solidFill>
                            <a:srgbClr val="FF0000"/>
                          </a:solidFill>
                        </a:rPr>
                        <a:t>unique</a:t>
                      </a:r>
                      <a:r>
                        <a:rPr lang="en" sz="1100" u="none" strike="noStrike" cap="none">
                          <a:solidFill>
                            <a:srgbClr val="FF0000"/>
                          </a:solidFill>
                        </a:rPr>
                        <a:t> </a:t>
                      </a:r>
                      <a:r>
                        <a:rPr lang="en" sz="1100" u="none" strike="noStrike" cap="none"/>
                        <a:t>elements, meaning that duplicates are </a:t>
                      </a:r>
                      <a:r>
                        <a:rPr lang="en" sz="1100" b="1" i="1" u="none" strike="noStrike" cap="none">
                          <a:solidFill>
                            <a:srgbClr val="FF0000"/>
                          </a:solidFill>
                        </a:rPr>
                        <a:t>ignored</a:t>
                      </a:r>
                      <a:r>
                        <a:rPr lang="en" sz="1100" u="none" strike="noStrike" cap="none"/>
                        <a:t>. Elements are not maintained in any particular order.</a:t>
                      </a:r>
                      <a:endParaRPr sz="11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 </a:t>
                      </a:r>
                      <a:r>
                        <a:rPr lang="en" sz="1100" b="1" i="1" u="none" strike="noStrike" cap="none">
                          <a:solidFill>
                            <a:srgbClr val="FF0000"/>
                          </a:solidFill>
                        </a:rPr>
                        <a:t>variable length</a:t>
                      </a:r>
                      <a:r>
                        <a:rPr lang="en" sz="1100" u="none" strike="noStrike" cap="none"/>
                        <a:t> data structure that grows in size as elements are added, and shrinks as they are removed. Elements are maintained in the order that they are added, and can be accessed using an index.</a:t>
                      </a:r>
                      <a:endParaRPr sz="11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623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364" name="Google Shape;364;p63"/>
          <p:cNvPicPr preferRelativeResize="0"/>
          <p:nvPr/>
        </p:nvPicPr>
        <p:blipFill rotWithShape="1">
          <a:blip r:embed="rId3">
            <a:alphaModFix/>
          </a:blip>
          <a:srcRect l="10187" r="18623"/>
          <a:stretch/>
        </p:blipFill>
        <p:spPr>
          <a:xfrm>
            <a:off x="129526" y="1745433"/>
            <a:ext cx="1381450" cy="1844050"/>
          </a:xfrm>
          <a:prstGeom prst="rect">
            <a:avLst/>
          </a:prstGeom>
          <a:noFill/>
          <a:ln w="19050" cap="flat" cmpd="sng">
            <a:solidFill>
              <a:schemeClr val="dk2"/>
            </a:solidFill>
            <a:prstDash val="solid"/>
            <a:round/>
            <a:headEnd type="none" w="sm" len="sm"/>
            <a:tailEnd type="none" w="sm" len="sm"/>
          </a:ln>
        </p:spPr>
      </p:pic>
      <p:sp>
        <p:nvSpPr>
          <p:cNvPr id="365" name="Google Shape;365;p63"/>
          <p:cNvSpPr txBox="1"/>
          <p:nvPr/>
        </p:nvSpPr>
        <p:spPr>
          <a:xfrm>
            <a:off x="1652425" y="4270325"/>
            <a:ext cx="13815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QUEUE</a:t>
            </a:r>
            <a:endParaRPr sz="1800" b="0" i="0" u="none" strike="noStrike" cap="none">
              <a:solidFill>
                <a:srgbClr val="FF0000"/>
              </a:solidFill>
              <a:latin typeface="Shadows Into Light"/>
              <a:ea typeface="Shadows Into Light"/>
              <a:cs typeface="Shadows Into Light"/>
              <a:sym typeface="Shadows Into Light"/>
            </a:endParaRPr>
          </a:p>
        </p:txBody>
      </p:sp>
      <p:sp>
        <p:nvSpPr>
          <p:cNvPr id="366" name="Google Shape;366;p63"/>
          <p:cNvSpPr txBox="1"/>
          <p:nvPr/>
        </p:nvSpPr>
        <p:spPr>
          <a:xfrm>
            <a:off x="3093796" y="4270325"/>
            <a:ext cx="13815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DICTIONARY</a:t>
            </a:r>
            <a:endParaRPr sz="1800" b="0" i="0" u="none" strike="noStrike" cap="none">
              <a:solidFill>
                <a:srgbClr val="FF0000"/>
              </a:solidFill>
              <a:latin typeface="Shadows Into Light"/>
              <a:ea typeface="Shadows Into Light"/>
              <a:cs typeface="Shadows Into Light"/>
              <a:sym typeface="Shadows Into Light"/>
            </a:endParaRPr>
          </a:p>
        </p:txBody>
      </p:sp>
      <p:sp>
        <p:nvSpPr>
          <p:cNvPr id="367" name="Google Shape;367;p63"/>
          <p:cNvSpPr txBox="1"/>
          <p:nvPr/>
        </p:nvSpPr>
        <p:spPr>
          <a:xfrm>
            <a:off x="4541596" y="4270325"/>
            <a:ext cx="13815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STACK</a:t>
            </a:r>
            <a:endParaRPr sz="1800" b="0" i="0" u="none" strike="noStrike" cap="none">
              <a:solidFill>
                <a:srgbClr val="FF0000"/>
              </a:solidFill>
              <a:latin typeface="Shadows Into Light"/>
              <a:ea typeface="Shadows Into Light"/>
              <a:cs typeface="Shadows Into Light"/>
              <a:sym typeface="Shadows Into Light"/>
            </a:endParaRPr>
          </a:p>
        </p:txBody>
      </p:sp>
      <p:sp>
        <p:nvSpPr>
          <p:cNvPr id="368" name="Google Shape;368;p63"/>
          <p:cNvSpPr txBox="1"/>
          <p:nvPr/>
        </p:nvSpPr>
        <p:spPr>
          <a:xfrm>
            <a:off x="5989396" y="4270325"/>
            <a:ext cx="13815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SET</a:t>
            </a:r>
            <a:endParaRPr sz="1800" b="0" i="0" u="none" strike="noStrike" cap="none">
              <a:solidFill>
                <a:srgbClr val="FF0000"/>
              </a:solidFill>
              <a:latin typeface="Shadows Into Light"/>
              <a:ea typeface="Shadows Into Light"/>
              <a:cs typeface="Shadows Into Light"/>
              <a:sym typeface="Shadows Into Light"/>
            </a:endParaRPr>
          </a:p>
        </p:txBody>
      </p:sp>
      <p:sp>
        <p:nvSpPr>
          <p:cNvPr id="369" name="Google Shape;369;p63"/>
          <p:cNvSpPr txBox="1"/>
          <p:nvPr/>
        </p:nvSpPr>
        <p:spPr>
          <a:xfrm>
            <a:off x="7437196" y="4270325"/>
            <a:ext cx="13815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FF0000"/>
                </a:solidFill>
                <a:latin typeface="Shadows Into Light"/>
                <a:ea typeface="Shadows Into Light"/>
                <a:cs typeface="Shadows Into Light"/>
                <a:sym typeface="Shadows Into Light"/>
              </a:rPr>
              <a:t>LIST</a:t>
            </a:r>
            <a:endParaRPr sz="1800" b="0" i="0" u="none" strike="noStrike" cap="none">
              <a:solidFill>
                <a:srgbClr val="FF0000"/>
              </a:solidFill>
              <a:latin typeface="Shadows Into Light"/>
              <a:ea typeface="Shadows Into Light"/>
              <a:cs typeface="Shadows Into Light"/>
              <a:sym typeface="Shadows Into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5"/>
                                        </p:tgtEl>
                                        <p:attrNameLst>
                                          <p:attrName>style.visibility</p:attrName>
                                        </p:attrNameLst>
                                      </p:cBhvr>
                                      <p:to>
                                        <p:strVal val="visible"/>
                                      </p:to>
                                    </p:set>
                                    <p:animEffect transition="in" filter="fade">
                                      <p:cBhvr>
                                        <p:cTn id="7" dur="1000"/>
                                        <p:tgtEl>
                                          <p:spTgt spid="3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6"/>
                                        </p:tgtEl>
                                        <p:attrNameLst>
                                          <p:attrName>style.visibility</p:attrName>
                                        </p:attrNameLst>
                                      </p:cBhvr>
                                      <p:to>
                                        <p:strVal val="visible"/>
                                      </p:to>
                                    </p:set>
                                    <p:animEffect transition="in" filter="fade">
                                      <p:cBhvr>
                                        <p:cTn id="12" dur="1000"/>
                                        <p:tgtEl>
                                          <p:spTgt spid="3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7"/>
                                        </p:tgtEl>
                                        <p:attrNameLst>
                                          <p:attrName>style.visibility</p:attrName>
                                        </p:attrNameLst>
                                      </p:cBhvr>
                                      <p:to>
                                        <p:strVal val="visible"/>
                                      </p:to>
                                    </p:set>
                                    <p:animEffect transition="in" filter="fade">
                                      <p:cBhvr>
                                        <p:cTn id="17" dur="1000"/>
                                        <p:tgtEl>
                                          <p:spTgt spid="3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8"/>
                                        </p:tgtEl>
                                        <p:attrNameLst>
                                          <p:attrName>style.visibility</p:attrName>
                                        </p:attrNameLst>
                                      </p:cBhvr>
                                      <p:to>
                                        <p:strVal val="visible"/>
                                      </p:to>
                                    </p:set>
                                    <p:animEffect transition="in" filter="fade">
                                      <p:cBhvr>
                                        <p:cTn id="22" dur="1000"/>
                                        <p:tgtEl>
                                          <p:spTgt spid="36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9"/>
                                        </p:tgtEl>
                                        <p:attrNameLst>
                                          <p:attrName>style.visibility</p:attrName>
                                        </p:attrNameLst>
                                      </p:cBhvr>
                                      <p:to>
                                        <p:strVal val="visible"/>
                                      </p:to>
                                    </p:set>
                                    <p:animEffect transition="in" filter="fade">
                                      <p:cBhvr>
                                        <p:cTn id="27" dur="1000"/>
                                        <p:tgtEl>
                                          <p:spTgt spid="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374" name="Google Shape;374;p64"/>
          <p:cNvPicPr preferRelativeResize="0"/>
          <p:nvPr/>
        </p:nvPicPr>
        <p:blipFill>
          <a:blip r:embed="rId3">
            <a:alphaModFix/>
          </a:blip>
          <a:stretch>
            <a:fillRect/>
          </a:stretch>
        </p:blipFill>
        <p:spPr>
          <a:xfrm>
            <a:off x="6986274" y="2128137"/>
            <a:ext cx="1886826" cy="923801"/>
          </a:xfrm>
          <a:prstGeom prst="rect">
            <a:avLst/>
          </a:prstGeom>
          <a:noFill/>
          <a:ln>
            <a:noFill/>
          </a:ln>
        </p:spPr>
      </p:pic>
      <p:sp>
        <p:nvSpPr>
          <p:cNvPr id="375" name="Google Shape;375;p64"/>
          <p:cNvSpPr txBox="1">
            <a:spLocks noGrp="1"/>
          </p:cNvSpPr>
          <p:nvPr>
            <p:ph type="title"/>
          </p:nvPr>
        </p:nvSpPr>
        <p:spPr>
          <a:xfrm>
            <a:off x="5188525" y="196125"/>
            <a:ext cx="37065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Recursive Data Structures</a:t>
            </a:r>
            <a:endParaRPr/>
          </a:p>
        </p:txBody>
      </p:sp>
      <p:sp>
        <p:nvSpPr>
          <p:cNvPr id="376" name="Google Shape;376;p64"/>
          <p:cNvSpPr txBox="1">
            <a:spLocks noGrp="1"/>
          </p:cNvSpPr>
          <p:nvPr>
            <p:ph type="body" idx="1"/>
          </p:nvPr>
        </p:nvSpPr>
        <p:spPr>
          <a:xfrm>
            <a:off x="453675" y="119925"/>
            <a:ext cx="4166400" cy="4792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By now, you all know that a </a:t>
            </a:r>
            <a:r>
              <a:rPr lang="en" b="1" i="1" dirty="0">
                <a:solidFill>
                  <a:srgbClr val="FF0000"/>
                </a:solidFill>
                <a:highlight>
                  <a:srgbClr val="FFFF00"/>
                </a:highlight>
              </a:rPr>
              <a:t>recursive function</a:t>
            </a:r>
            <a:r>
              <a:rPr lang="en" dirty="0">
                <a:highlight>
                  <a:srgbClr val="FFFF00"/>
                </a:highlight>
              </a:rPr>
              <a:t> </a:t>
            </a:r>
            <a:r>
              <a:rPr lang="en" dirty="0"/>
              <a:t>is one that calls itself.</a:t>
            </a:r>
            <a:endParaRPr dirty="0"/>
          </a:p>
          <a:p>
            <a:pPr marL="457200" lvl="0" indent="-311150" algn="l" rtl="0">
              <a:spcBef>
                <a:spcPts val="1000"/>
              </a:spcBef>
              <a:spcAft>
                <a:spcPts val="0"/>
              </a:spcAft>
              <a:buSzPts val="1300"/>
              <a:buChar char="●"/>
            </a:pPr>
            <a:r>
              <a:rPr lang="en" dirty="0"/>
              <a:t>Similarly, a </a:t>
            </a:r>
            <a:r>
              <a:rPr lang="en" b="1" i="1" dirty="0">
                <a:solidFill>
                  <a:srgbClr val="FF0000"/>
                </a:solidFill>
                <a:highlight>
                  <a:srgbClr val="FFFF00"/>
                </a:highlight>
              </a:rPr>
              <a:t>recursive data structure</a:t>
            </a:r>
            <a:r>
              <a:rPr lang="en" dirty="0">
                <a:highlight>
                  <a:srgbClr val="FFFF00"/>
                </a:highlight>
              </a:rPr>
              <a:t> </a:t>
            </a:r>
            <a:r>
              <a:rPr lang="en" dirty="0"/>
              <a:t>is one that comprises a class (or classes) that has at least one field </a:t>
            </a:r>
            <a:r>
              <a:rPr lang="en" b="1" i="1" dirty="0">
                <a:solidFill>
                  <a:srgbClr val="FF0000"/>
                </a:solidFill>
                <a:highlight>
                  <a:srgbClr val="FFFF00"/>
                </a:highlight>
              </a:rPr>
              <a:t>of its own type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These kinds of data structures can be used to build </a:t>
            </a:r>
            <a:r>
              <a:rPr lang="en" b="1" i="1" dirty="0">
                <a:solidFill>
                  <a:srgbClr val="FF0000"/>
                </a:solidFill>
                <a:highlight>
                  <a:srgbClr val="FFFF00"/>
                </a:highlight>
              </a:rPr>
              <a:t>linked sequences</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A linked sequence can be used as the basis for implementing many different data structures.</a:t>
            </a:r>
            <a:endParaRPr dirty="0"/>
          </a:p>
          <a:p>
            <a:pPr marL="457200" lvl="0" indent="-311150" algn="l" rtl="0">
              <a:spcBef>
                <a:spcPts val="1000"/>
              </a:spcBef>
              <a:spcAft>
                <a:spcPts val="0"/>
              </a:spcAft>
              <a:buSzPts val="1300"/>
              <a:buChar char="●"/>
            </a:pPr>
            <a:r>
              <a:rPr lang="en" dirty="0"/>
              <a:t>The simplest kind of recursive data structure is the </a:t>
            </a:r>
            <a:r>
              <a:rPr lang="en" b="1" i="1" dirty="0">
                <a:solidFill>
                  <a:srgbClr val="FF0000"/>
                </a:solidFill>
                <a:highlight>
                  <a:srgbClr val="FFFF00"/>
                </a:highlight>
              </a:rPr>
              <a:t>node</a:t>
            </a:r>
            <a:r>
              <a:rPr lang="en" dirty="0"/>
              <a:t>, which typically has two fields:</a:t>
            </a:r>
            <a:endParaRPr dirty="0"/>
          </a:p>
          <a:p>
            <a:pPr marL="914400" lvl="1" indent="-298450" algn="l" rtl="0">
              <a:spcBef>
                <a:spcPts val="0"/>
              </a:spcBef>
              <a:spcAft>
                <a:spcPts val="0"/>
              </a:spcAft>
              <a:buSzPts val="1100"/>
              <a:buChar char="○"/>
            </a:pPr>
            <a:r>
              <a:rPr lang="en" dirty="0"/>
              <a:t>A value of some type, e.g. an </a:t>
            </a:r>
            <a:r>
              <a:rPr lang="en" dirty="0">
                <a:latin typeface="Courier New"/>
                <a:ea typeface="Courier New"/>
                <a:cs typeface="Courier New"/>
                <a:sym typeface="Courier New"/>
              </a:rPr>
              <a:t>int</a:t>
            </a:r>
            <a:r>
              <a:rPr lang="en" dirty="0"/>
              <a:t>.</a:t>
            </a:r>
            <a:endParaRPr dirty="0"/>
          </a:p>
          <a:p>
            <a:pPr marL="914400" lvl="1" indent="-298450" algn="l" rtl="0">
              <a:spcBef>
                <a:spcPts val="0"/>
              </a:spcBef>
              <a:spcAft>
                <a:spcPts val="0"/>
              </a:spcAft>
              <a:buSzPts val="1100"/>
              <a:buChar char="○"/>
            </a:pPr>
            <a:r>
              <a:rPr lang="en" dirty="0"/>
              <a:t>A reference to the next node in the sequence (which may be </a:t>
            </a:r>
            <a:r>
              <a:rPr lang="en" dirty="0">
                <a:latin typeface="Courier New"/>
                <a:ea typeface="Courier New"/>
                <a:cs typeface="Courier New"/>
                <a:sym typeface="Courier New"/>
              </a:rPr>
              <a:t>null</a:t>
            </a:r>
            <a:r>
              <a:rPr lang="en" dirty="0"/>
              <a:t>).</a:t>
            </a:r>
            <a:endParaRPr dirty="0"/>
          </a:p>
          <a:p>
            <a:pPr marL="457200" lvl="0" indent="-311150" algn="l" rtl="0">
              <a:spcBef>
                <a:spcPts val="1000"/>
              </a:spcBef>
              <a:spcAft>
                <a:spcPts val="0"/>
              </a:spcAft>
              <a:buSzPts val="1300"/>
              <a:buChar char="●"/>
            </a:pPr>
            <a:r>
              <a:rPr lang="en" dirty="0"/>
              <a:t>A sequence of nodes can be created by </a:t>
            </a:r>
            <a:r>
              <a:rPr lang="en" dirty="0">
                <a:highlight>
                  <a:srgbClr val="FFFF00"/>
                </a:highlight>
              </a:rPr>
              <a:t>joining the nodes together </a:t>
            </a:r>
            <a:r>
              <a:rPr lang="en" dirty="0"/>
              <a:t>- each of which refers to the next node in the sequence.</a:t>
            </a:r>
            <a:endParaRPr dirty="0"/>
          </a:p>
          <a:p>
            <a:pPr marL="914400" lvl="1" indent="-298450" algn="l" rtl="0">
              <a:spcBef>
                <a:spcPts val="0"/>
              </a:spcBef>
              <a:spcAft>
                <a:spcPts val="0"/>
              </a:spcAft>
              <a:buSzPts val="1100"/>
              <a:buChar char="○"/>
            </a:pPr>
            <a:r>
              <a:rPr lang="en" dirty="0"/>
              <a:t>The first node is referred to as the </a:t>
            </a:r>
            <a:r>
              <a:rPr lang="en" b="1" i="1" dirty="0">
                <a:solidFill>
                  <a:srgbClr val="FF0000"/>
                </a:solidFill>
                <a:highlight>
                  <a:srgbClr val="FFFF00"/>
                </a:highlight>
              </a:rPr>
              <a:t>head</a:t>
            </a:r>
            <a:r>
              <a:rPr lang="en" dirty="0"/>
              <a:t>.</a:t>
            </a:r>
            <a:endParaRPr dirty="0"/>
          </a:p>
          <a:p>
            <a:pPr marL="914400" lvl="1" indent="-298450" algn="l" rtl="0">
              <a:spcBef>
                <a:spcPts val="0"/>
              </a:spcBef>
              <a:spcAft>
                <a:spcPts val="0"/>
              </a:spcAft>
              <a:buSzPts val="1100"/>
              <a:buChar char="○"/>
            </a:pPr>
            <a:r>
              <a:rPr lang="en" dirty="0"/>
              <a:t>The last node is referred to as the </a:t>
            </a:r>
            <a:r>
              <a:rPr lang="en" b="1" i="1" dirty="0">
                <a:solidFill>
                  <a:srgbClr val="FF0000"/>
                </a:solidFill>
                <a:highlight>
                  <a:srgbClr val="FFFF00"/>
                </a:highlight>
              </a:rPr>
              <a:t>tail</a:t>
            </a:r>
            <a:r>
              <a:rPr lang="en" dirty="0">
                <a:solidFill>
                  <a:srgbClr val="FF0000"/>
                </a:solidFill>
              </a:rPr>
              <a:t> </a:t>
            </a:r>
            <a:r>
              <a:rPr lang="en" dirty="0"/>
              <a:t>- the tail's next node is </a:t>
            </a:r>
            <a:r>
              <a:rPr lang="en" dirty="0">
                <a:latin typeface="Courier New"/>
                <a:ea typeface="Courier New"/>
                <a:cs typeface="Courier New"/>
                <a:sym typeface="Courier New"/>
              </a:rPr>
              <a:t>null</a:t>
            </a:r>
            <a:r>
              <a:rPr lang="en" dirty="0"/>
              <a:t>.</a:t>
            </a:r>
            <a:endParaRPr dirty="0"/>
          </a:p>
        </p:txBody>
      </p:sp>
      <p:sp>
        <p:nvSpPr>
          <p:cNvPr id="377" name="Google Shape;377;p64"/>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a:t>
            </a:fld>
            <a:endParaRPr/>
          </a:p>
        </p:txBody>
      </p:sp>
      <p:sp>
        <p:nvSpPr>
          <p:cNvPr id="378" name="Google Shape;378;p64"/>
          <p:cNvSpPr txBox="1">
            <a:spLocks noGrp="1"/>
          </p:cNvSpPr>
          <p:nvPr>
            <p:ph type="body" idx="3"/>
          </p:nvPr>
        </p:nvSpPr>
        <p:spPr>
          <a:xfrm>
            <a:off x="5192225" y="4089650"/>
            <a:ext cx="37065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Let's examine how nodes work by using an analogy that most of you should intuitively understand: </a:t>
            </a:r>
            <a:r>
              <a:rPr lang="en" b="1" i="1">
                <a:solidFill>
                  <a:srgbClr val="FF0000"/>
                </a:solidFill>
              </a:rPr>
              <a:t>train cars</a:t>
            </a:r>
            <a:r>
              <a:rPr lang="en"/>
              <a:t>.</a:t>
            </a:r>
            <a:endParaRPr/>
          </a:p>
        </p:txBody>
      </p:sp>
      <p:pic>
        <p:nvPicPr>
          <p:cNvPr id="379" name="Google Shape;379;p64"/>
          <p:cNvPicPr preferRelativeResize="0"/>
          <p:nvPr/>
        </p:nvPicPr>
        <p:blipFill>
          <a:blip r:embed="rId4">
            <a:alphaModFix/>
          </a:blip>
          <a:stretch>
            <a:fillRect/>
          </a:stretch>
        </p:blipFill>
        <p:spPr>
          <a:xfrm>
            <a:off x="5192225" y="1308150"/>
            <a:ext cx="1829175" cy="786650"/>
          </a:xfrm>
          <a:prstGeom prst="rect">
            <a:avLst/>
          </a:prstGeom>
          <a:noFill/>
          <a:ln>
            <a:noFill/>
          </a:ln>
        </p:spPr>
      </p:pic>
      <p:pic>
        <p:nvPicPr>
          <p:cNvPr id="380" name="Google Shape;380;p64"/>
          <p:cNvPicPr preferRelativeResize="0"/>
          <p:nvPr/>
        </p:nvPicPr>
        <p:blipFill>
          <a:blip r:embed="rId5">
            <a:alphaModFix/>
          </a:blip>
          <a:stretch>
            <a:fillRect/>
          </a:stretch>
        </p:blipFill>
        <p:spPr>
          <a:xfrm>
            <a:off x="5188525" y="3128141"/>
            <a:ext cx="2013475" cy="87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7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78"/>
                                        </p:tgtEl>
                                        <p:attrNameLst>
                                          <p:attrName>style.visibility</p:attrName>
                                        </p:attrNameLst>
                                      </p:cBhvr>
                                      <p:to>
                                        <p:strVal val="visible"/>
                                      </p:to>
                                    </p:set>
                                    <p:animEffect transition="in" filter="fade">
                                      <p:cBhvr>
                                        <p:cTn id="47" dur="1000"/>
                                        <p:tgtEl>
                                          <p:spTgt spid="378"/>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379"/>
                                        </p:tgtEl>
                                        <p:attrNameLst>
                                          <p:attrName>style.visibility</p:attrName>
                                        </p:attrNameLst>
                                      </p:cBhvr>
                                      <p:to>
                                        <p:strVal val="visible"/>
                                      </p:to>
                                    </p:set>
                                    <p:animEffect transition="in" filter="fade">
                                      <p:cBhvr>
                                        <p:cTn id="51" dur="1000"/>
                                        <p:tgtEl>
                                          <p:spTgt spid="379"/>
                                        </p:tgtEl>
                                      </p:cBhvr>
                                    </p:animEffect>
                                  </p:childTnLst>
                                </p:cTn>
                              </p:par>
                            </p:childTnLst>
                          </p:cTn>
                        </p:par>
                        <p:par>
                          <p:cTn id="52" fill="hold">
                            <p:stCondLst>
                              <p:cond delay="2000"/>
                            </p:stCondLst>
                            <p:childTnLst>
                              <p:par>
                                <p:cTn id="53" presetID="10" presetClass="entr" presetSubtype="0" fill="hold" nodeType="afterEffect">
                                  <p:stCondLst>
                                    <p:cond delay="0"/>
                                  </p:stCondLst>
                                  <p:childTnLst>
                                    <p:set>
                                      <p:cBhvr>
                                        <p:cTn id="54" dur="1" fill="hold">
                                          <p:stCondLst>
                                            <p:cond delay="0"/>
                                          </p:stCondLst>
                                        </p:cTn>
                                        <p:tgtEl>
                                          <p:spTgt spid="374"/>
                                        </p:tgtEl>
                                        <p:attrNameLst>
                                          <p:attrName>style.visibility</p:attrName>
                                        </p:attrNameLst>
                                      </p:cBhvr>
                                      <p:to>
                                        <p:strVal val="visible"/>
                                      </p:to>
                                    </p:set>
                                    <p:animEffect transition="in" filter="fade">
                                      <p:cBhvr>
                                        <p:cTn id="55" dur="1000"/>
                                        <p:tgtEl>
                                          <p:spTgt spid="374"/>
                                        </p:tgtEl>
                                      </p:cBhvr>
                                    </p:animEffect>
                                  </p:childTnLst>
                                </p:cTn>
                              </p:par>
                            </p:childTnLst>
                          </p:cTn>
                        </p:par>
                        <p:par>
                          <p:cTn id="56" fill="hold">
                            <p:stCondLst>
                              <p:cond delay="3000"/>
                            </p:stCondLst>
                            <p:childTnLst>
                              <p:par>
                                <p:cTn id="57" presetID="10" presetClass="entr" presetSubtype="0" fill="hold" nodeType="afterEffect">
                                  <p:stCondLst>
                                    <p:cond delay="0"/>
                                  </p:stCondLst>
                                  <p:childTnLst>
                                    <p:set>
                                      <p:cBhvr>
                                        <p:cTn id="58" dur="1" fill="hold">
                                          <p:stCondLst>
                                            <p:cond delay="0"/>
                                          </p:stCondLst>
                                        </p:cTn>
                                        <p:tgtEl>
                                          <p:spTgt spid="380"/>
                                        </p:tgtEl>
                                        <p:attrNameLst>
                                          <p:attrName>style.visibility</p:attrName>
                                        </p:attrNameLst>
                                      </p:cBhvr>
                                      <p:to>
                                        <p:strVal val="visible"/>
                                      </p:to>
                                    </p:set>
                                    <p:animEffect transition="in" filter="fade">
                                      <p:cBhvr>
                                        <p:cTn id="59" dur="1000"/>
                                        <p:tgtEl>
                                          <p:spTgt spid="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65"/>
          <p:cNvSpPr txBox="1">
            <a:spLocks noGrp="1"/>
          </p:cNvSpPr>
          <p:nvPr>
            <p:ph type="body" idx="4294967295"/>
          </p:nvPr>
        </p:nvSpPr>
        <p:spPr>
          <a:xfrm>
            <a:off x="6809926" y="4111225"/>
            <a:ext cx="20931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100">
                <a:solidFill>
                  <a:srgbClr val="000000"/>
                </a:solidFill>
                <a:latin typeface="Arial"/>
                <a:ea typeface="Arial"/>
                <a:cs typeface="Arial"/>
                <a:sym typeface="Arial"/>
              </a:rPr>
              <a:t>The first node is the </a:t>
            </a:r>
            <a:r>
              <a:rPr lang="en" sz="1100" b="1" i="1">
                <a:solidFill>
                  <a:srgbClr val="FF0000"/>
                </a:solidFill>
                <a:latin typeface="Arial"/>
                <a:ea typeface="Arial"/>
                <a:cs typeface="Arial"/>
                <a:sym typeface="Arial"/>
              </a:rPr>
              <a:t>head</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and the last node is the </a:t>
            </a:r>
            <a:r>
              <a:rPr lang="en" sz="1100" b="1" i="1">
                <a:solidFill>
                  <a:srgbClr val="FF0000"/>
                </a:solidFill>
                <a:latin typeface="Arial"/>
                <a:ea typeface="Arial"/>
                <a:cs typeface="Arial"/>
                <a:sym typeface="Arial"/>
              </a:rPr>
              <a:t>tail</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of the sequence. The tail has no next node.</a:t>
            </a:r>
            <a:endParaRPr sz="1100">
              <a:solidFill>
                <a:srgbClr val="000000"/>
              </a:solidFill>
              <a:latin typeface="Arial"/>
              <a:ea typeface="Arial"/>
              <a:cs typeface="Arial"/>
              <a:sym typeface="Arial"/>
            </a:endParaRPr>
          </a:p>
        </p:txBody>
      </p:sp>
      <p:sp>
        <p:nvSpPr>
          <p:cNvPr id="386" name="Google Shape;386;p65"/>
          <p:cNvSpPr txBox="1">
            <a:spLocks noGrp="1"/>
          </p:cNvSpPr>
          <p:nvPr>
            <p:ph type="sldNum" idx="12"/>
          </p:nvPr>
        </p:nvSpPr>
        <p:spPr>
          <a:xfrm>
            <a:off x="9627" y="4749892"/>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a:t>
            </a:fld>
            <a:endParaRPr/>
          </a:p>
        </p:txBody>
      </p:sp>
      <p:sp>
        <p:nvSpPr>
          <p:cNvPr id="387" name="Google Shape;387;p65"/>
          <p:cNvSpPr txBox="1">
            <a:spLocks noGrp="1"/>
          </p:cNvSpPr>
          <p:nvPr>
            <p:ph type="title"/>
          </p:nvPr>
        </p:nvSpPr>
        <p:spPr>
          <a:xfrm>
            <a:off x="311725" y="13576"/>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Visualizing a Linked-Sequence of Nodes</a:t>
            </a:r>
            <a:endParaRPr/>
          </a:p>
        </p:txBody>
      </p:sp>
      <p:pic>
        <p:nvPicPr>
          <p:cNvPr id="388" name="Google Shape;388;p65"/>
          <p:cNvPicPr preferRelativeResize="0"/>
          <p:nvPr/>
        </p:nvPicPr>
        <p:blipFill>
          <a:blip r:embed="rId3">
            <a:alphaModFix/>
          </a:blip>
          <a:stretch>
            <a:fillRect/>
          </a:stretch>
        </p:blipFill>
        <p:spPr>
          <a:xfrm>
            <a:off x="565363" y="1688113"/>
            <a:ext cx="1829175" cy="786650"/>
          </a:xfrm>
          <a:prstGeom prst="rect">
            <a:avLst/>
          </a:prstGeom>
          <a:noFill/>
          <a:ln>
            <a:noFill/>
          </a:ln>
        </p:spPr>
      </p:pic>
      <p:sp>
        <p:nvSpPr>
          <p:cNvPr id="389" name="Google Shape;389;p65"/>
          <p:cNvSpPr txBox="1">
            <a:spLocks noGrp="1"/>
          </p:cNvSpPr>
          <p:nvPr>
            <p:ph type="body" idx="4294967295"/>
          </p:nvPr>
        </p:nvSpPr>
        <p:spPr>
          <a:xfrm>
            <a:off x="264783" y="701325"/>
            <a:ext cx="20931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100">
                <a:solidFill>
                  <a:srgbClr val="000000"/>
                </a:solidFill>
                <a:latin typeface="Arial"/>
                <a:ea typeface="Arial"/>
                <a:cs typeface="Arial"/>
                <a:sym typeface="Arial"/>
              </a:rPr>
              <a:t>Every train car carries something of </a:t>
            </a:r>
            <a:r>
              <a:rPr lang="en" sz="1100" b="1" i="1">
                <a:solidFill>
                  <a:srgbClr val="FF0000"/>
                </a:solidFill>
                <a:latin typeface="Arial"/>
                <a:ea typeface="Arial"/>
                <a:cs typeface="Arial"/>
                <a:sym typeface="Arial"/>
              </a:rPr>
              <a:t>value</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inside of it, e.g. cargo, passengers, or the engineer.</a:t>
            </a:r>
            <a:endParaRPr sz="1100">
              <a:solidFill>
                <a:srgbClr val="000000"/>
              </a:solidFill>
              <a:latin typeface="Arial"/>
              <a:ea typeface="Arial"/>
              <a:cs typeface="Arial"/>
              <a:sym typeface="Arial"/>
            </a:endParaRPr>
          </a:p>
        </p:txBody>
      </p:sp>
      <p:sp>
        <p:nvSpPr>
          <p:cNvPr id="390" name="Google Shape;390;p65"/>
          <p:cNvSpPr txBox="1">
            <a:spLocks noGrp="1"/>
          </p:cNvSpPr>
          <p:nvPr>
            <p:ph type="body" idx="4294967295"/>
          </p:nvPr>
        </p:nvSpPr>
        <p:spPr>
          <a:xfrm>
            <a:off x="2446497" y="701325"/>
            <a:ext cx="20931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100">
                <a:solidFill>
                  <a:srgbClr val="000000"/>
                </a:solidFill>
                <a:latin typeface="Arial"/>
                <a:ea typeface="Arial"/>
                <a:cs typeface="Arial"/>
                <a:sym typeface="Arial"/>
              </a:rPr>
              <a:t>Each train car is connected to the </a:t>
            </a:r>
            <a:r>
              <a:rPr lang="en" sz="1100" b="1" i="1">
                <a:solidFill>
                  <a:srgbClr val="FF0000"/>
                </a:solidFill>
                <a:latin typeface="Arial"/>
                <a:ea typeface="Arial"/>
                <a:cs typeface="Arial"/>
                <a:sym typeface="Arial"/>
              </a:rPr>
              <a:t>next</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car in the train.</a:t>
            </a:r>
            <a:endParaRPr sz="1100">
              <a:solidFill>
                <a:srgbClr val="000000"/>
              </a:solidFill>
              <a:latin typeface="Arial"/>
              <a:ea typeface="Arial"/>
              <a:cs typeface="Arial"/>
              <a:sym typeface="Arial"/>
            </a:endParaRPr>
          </a:p>
        </p:txBody>
      </p:sp>
      <p:graphicFrame>
        <p:nvGraphicFramePr>
          <p:cNvPr id="391" name="Google Shape;391;p65"/>
          <p:cNvGraphicFramePr/>
          <p:nvPr/>
        </p:nvGraphicFramePr>
        <p:xfrm>
          <a:off x="702650" y="2842175"/>
          <a:ext cx="1402200" cy="1051470"/>
        </p:xfrm>
        <a:graphic>
          <a:graphicData uri="http://schemas.openxmlformats.org/drawingml/2006/table">
            <a:tbl>
              <a:tblPr>
                <a:noFill/>
                <a:tableStyleId>{F4E8245F-B79C-49AF-8BD8-D9F0F8A7D024}</a:tableStyleId>
              </a:tblPr>
              <a:tblGrid>
                <a:gridCol w="701100">
                  <a:extLst>
                    <a:ext uri="{9D8B030D-6E8A-4147-A177-3AD203B41FA5}">
                      <a16:colId xmlns:a16="http://schemas.microsoft.com/office/drawing/2014/main" val="20000"/>
                    </a:ext>
                  </a:extLst>
                </a:gridCol>
                <a:gridCol w="7011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sz="1100">
                          <a:latin typeface="Courier New"/>
                          <a:ea typeface="Courier New"/>
                          <a:cs typeface="Courier New"/>
                          <a:sym typeface="Courier New"/>
                        </a:rPr>
                        <a:t>Node</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100">
                          <a:latin typeface="Courier New"/>
                          <a:ea typeface="Courier New"/>
                          <a:cs typeface="Courier New"/>
                          <a:sym typeface="Courier New"/>
                        </a:rPr>
                        <a:t>value</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100">
                          <a:latin typeface="Courier New"/>
                          <a:ea typeface="Courier New"/>
                          <a:cs typeface="Courier New"/>
                          <a:sym typeface="Courier New"/>
                        </a:rPr>
                        <a:t>5</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92" name="Google Shape;392;p65"/>
          <p:cNvSpPr txBox="1">
            <a:spLocks noGrp="1"/>
          </p:cNvSpPr>
          <p:nvPr>
            <p:ph type="body" idx="4294967295"/>
          </p:nvPr>
        </p:nvSpPr>
        <p:spPr>
          <a:xfrm>
            <a:off x="264775" y="4111225"/>
            <a:ext cx="20931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100">
                <a:solidFill>
                  <a:srgbClr val="000000"/>
                </a:solidFill>
                <a:latin typeface="Arial"/>
                <a:ea typeface="Arial"/>
                <a:cs typeface="Arial"/>
                <a:sym typeface="Arial"/>
              </a:rPr>
              <a:t>Every node has a </a:t>
            </a:r>
            <a:r>
              <a:rPr lang="en" sz="1100" b="1" i="1">
                <a:solidFill>
                  <a:srgbClr val="FF0000"/>
                </a:solidFill>
                <a:latin typeface="Arial"/>
                <a:ea typeface="Arial"/>
                <a:cs typeface="Arial"/>
                <a:sym typeface="Arial"/>
              </a:rPr>
              <a:t>value</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as well, e.g. an </a:t>
            </a:r>
            <a:r>
              <a:rPr lang="en" sz="1100">
                <a:solidFill>
                  <a:srgbClr val="000000"/>
                </a:solidFill>
                <a:latin typeface="Courier New"/>
                <a:ea typeface="Courier New"/>
                <a:cs typeface="Courier New"/>
                <a:sym typeface="Courier New"/>
              </a:rPr>
              <a:t>int</a:t>
            </a:r>
            <a:r>
              <a:rPr lang="en" sz="1100">
                <a:solidFill>
                  <a:srgbClr val="000000"/>
                </a:solidFill>
                <a:latin typeface="Arial"/>
                <a:ea typeface="Arial"/>
                <a:cs typeface="Arial"/>
                <a:sym typeface="Arial"/>
              </a:rPr>
              <a:t> or a </a:t>
            </a:r>
            <a:r>
              <a:rPr lang="en" sz="1100">
                <a:solidFill>
                  <a:srgbClr val="000000"/>
                </a:solidFill>
                <a:latin typeface="Courier New"/>
                <a:ea typeface="Courier New"/>
                <a:cs typeface="Courier New"/>
                <a:sym typeface="Courier New"/>
              </a:rPr>
              <a:t>String</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p:txBody>
      </p:sp>
      <p:sp>
        <p:nvSpPr>
          <p:cNvPr id="393" name="Google Shape;393;p65"/>
          <p:cNvSpPr txBox="1">
            <a:spLocks noGrp="1"/>
          </p:cNvSpPr>
          <p:nvPr>
            <p:ph type="body" idx="4294967295"/>
          </p:nvPr>
        </p:nvSpPr>
        <p:spPr>
          <a:xfrm>
            <a:off x="4628211" y="701325"/>
            <a:ext cx="20931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100">
                <a:solidFill>
                  <a:srgbClr val="000000"/>
                </a:solidFill>
                <a:latin typeface="Arial"/>
                <a:ea typeface="Arial"/>
                <a:cs typeface="Arial"/>
                <a:sym typeface="Arial"/>
              </a:rPr>
              <a:t>Together, the </a:t>
            </a:r>
            <a:r>
              <a:rPr lang="en" sz="1100" b="1" i="1">
                <a:solidFill>
                  <a:srgbClr val="FF0000"/>
                </a:solidFill>
                <a:latin typeface="Arial"/>
                <a:ea typeface="Arial"/>
                <a:cs typeface="Arial"/>
                <a:sym typeface="Arial"/>
              </a:rPr>
              <a:t>sequence</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of cars form the train.</a:t>
            </a:r>
            <a:endParaRPr sz="1100">
              <a:solidFill>
                <a:srgbClr val="000000"/>
              </a:solidFill>
              <a:latin typeface="Arial"/>
              <a:ea typeface="Arial"/>
              <a:cs typeface="Arial"/>
              <a:sym typeface="Arial"/>
            </a:endParaRPr>
          </a:p>
        </p:txBody>
      </p:sp>
      <p:sp>
        <p:nvSpPr>
          <p:cNvPr id="394" name="Google Shape;394;p65"/>
          <p:cNvSpPr txBox="1">
            <a:spLocks noGrp="1"/>
          </p:cNvSpPr>
          <p:nvPr>
            <p:ph type="body" idx="4294967295"/>
          </p:nvPr>
        </p:nvSpPr>
        <p:spPr>
          <a:xfrm>
            <a:off x="6809926" y="701325"/>
            <a:ext cx="20931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100">
                <a:solidFill>
                  <a:srgbClr val="000000"/>
                </a:solidFill>
                <a:latin typeface="Arial"/>
                <a:ea typeface="Arial"/>
                <a:cs typeface="Arial"/>
                <a:sym typeface="Arial"/>
              </a:rPr>
              <a:t>The first car is the </a:t>
            </a:r>
            <a:r>
              <a:rPr lang="en" sz="1100" b="1" i="1">
                <a:solidFill>
                  <a:srgbClr val="FF0000"/>
                </a:solidFill>
                <a:latin typeface="Arial"/>
                <a:ea typeface="Arial"/>
                <a:cs typeface="Arial"/>
                <a:sym typeface="Arial"/>
              </a:rPr>
              <a:t>head</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and the last car is the </a:t>
            </a:r>
            <a:r>
              <a:rPr lang="en" sz="1100" b="1" i="1">
                <a:solidFill>
                  <a:srgbClr val="FF0000"/>
                </a:solidFill>
                <a:latin typeface="Arial"/>
                <a:ea typeface="Arial"/>
                <a:cs typeface="Arial"/>
                <a:sym typeface="Arial"/>
              </a:rPr>
              <a:t>tail</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of the sequence. The tail has no next car.</a:t>
            </a:r>
            <a:endParaRPr sz="1100">
              <a:solidFill>
                <a:srgbClr val="000000"/>
              </a:solidFill>
              <a:latin typeface="Arial"/>
              <a:ea typeface="Arial"/>
              <a:cs typeface="Arial"/>
              <a:sym typeface="Arial"/>
            </a:endParaRPr>
          </a:p>
        </p:txBody>
      </p:sp>
      <p:pic>
        <p:nvPicPr>
          <p:cNvPr id="395" name="Google Shape;395;p65"/>
          <p:cNvPicPr preferRelativeResize="0"/>
          <p:nvPr/>
        </p:nvPicPr>
        <p:blipFill>
          <a:blip r:embed="rId4">
            <a:alphaModFix/>
          </a:blip>
          <a:stretch>
            <a:fillRect/>
          </a:stretch>
        </p:blipFill>
        <p:spPr>
          <a:xfrm>
            <a:off x="2203850" y="1730673"/>
            <a:ext cx="1829149" cy="748501"/>
          </a:xfrm>
          <a:prstGeom prst="rect">
            <a:avLst/>
          </a:prstGeom>
          <a:noFill/>
          <a:ln>
            <a:noFill/>
          </a:ln>
        </p:spPr>
      </p:pic>
      <p:pic>
        <p:nvPicPr>
          <p:cNvPr id="396" name="Google Shape;396;p65"/>
          <p:cNvPicPr preferRelativeResize="0"/>
          <p:nvPr/>
        </p:nvPicPr>
        <p:blipFill>
          <a:blip r:embed="rId5">
            <a:alphaModFix/>
          </a:blip>
          <a:stretch>
            <a:fillRect/>
          </a:stretch>
        </p:blipFill>
        <p:spPr>
          <a:xfrm>
            <a:off x="5000019" y="1698130"/>
            <a:ext cx="1829149" cy="748520"/>
          </a:xfrm>
          <a:prstGeom prst="rect">
            <a:avLst/>
          </a:prstGeom>
          <a:noFill/>
          <a:ln>
            <a:noFill/>
          </a:ln>
        </p:spPr>
      </p:pic>
      <p:pic>
        <p:nvPicPr>
          <p:cNvPr id="397" name="Google Shape;397;p65"/>
          <p:cNvPicPr preferRelativeResize="0"/>
          <p:nvPr/>
        </p:nvPicPr>
        <p:blipFill>
          <a:blip r:embed="rId6">
            <a:alphaModFix/>
          </a:blip>
          <a:stretch>
            <a:fillRect/>
          </a:stretch>
        </p:blipFill>
        <p:spPr>
          <a:xfrm>
            <a:off x="3806525" y="1919550"/>
            <a:ext cx="1312200" cy="572875"/>
          </a:xfrm>
          <a:prstGeom prst="rect">
            <a:avLst/>
          </a:prstGeom>
          <a:noFill/>
          <a:ln>
            <a:noFill/>
          </a:ln>
        </p:spPr>
      </p:pic>
      <p:pic>
        <p:nvPicPr>
          <p:cNvPr id="398" name="Google Shape;398;p65"/>
          <p:cNvPicPr preferRelativeResize="0"/>
          <p:nvPr/>
        </p:nvPicPr>
        <p:blipFill>
          <a:blip r:embed="rId7">
            <a:alphaModFix/>
          </a:blip>
          <a:stretch>
            <a:fillRect/>
          </a:stretch>
        </p:blipFill>
        <p:spPr>
          <a:xfrm>
            <a:off x="6735250" y="1660850"/>
            <a:ext cx="1593825" cy="780325"/>
          </a:xfrm>
          <a:prstGeom prst="rect">
            <a:avLst/>
          </a:prstGeom>
          <a:noFill/>
          <a:ln>
            <a:noFill/>
          </a:ln>
        </p:spPr>
      </p:pic>
      <p:sp>
        <p:nvSpPr>
          <p:cNvPr id="399" name="Google Shape;399;p65"/>
          <p:cNvSpPr txBox="1">
            <a:spLocks noGrp="1"/>
          </p:cNvSpPr>
          <p:nvPr>
            <p:ph type="body" idx="4294967295"/>
          </p:nvPr>
        </p:nvSpPr>
        <p:spPr>
          <a:xfrm>
            <a:off x="2446497" y="4111225"/>
            <a:ext cx="20931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100">
                <a:solidFill>
                  <a:srgbClr val="000000"/>
                </a:solidFill>
                <a:latin typeface="Arial"/>
                <a:ea typeface="Arial"/>
                <a:cs typeface="Arial"/>
                <a:sym typeface="Arial"/>
              </a:rPr>
              <a:t>Each node has a </a:t>
            </a:r>
            <a:r>
              <a:rPr lang="en" sz="1100" b="1" i="1">
                <a:solidFill>
                  <a:srgbClr val="FF0000"/>
                </a:solidFill>
                <a:latin typeface="Arial"/>
                <a:ea typeface="Arial"/>
                <a:cs typeface="Arial"/>
                <a:sym typeface="Arial"/>
              </a:rPr>
              <a:t>reference</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to the next node in the sequence that connects them together.</a:t>
            </a:r>
            <a:endParaRPr sz="1100">
              <a:solidFill>
                <a:srgbClr val="000000"/>
              </a:solidFill>
              <a:latin typeface="Arial"/>
              <a:ea typeface="Arial"/>
              <a:cs typeface="Arial"/>
              <a:sym typeface="Arial"/>
            </a:endParaRPr>
          </a:p>
        </p:txBody>
      </p:sp>
      <p:graphicFrame>
        <p:nvGraphicFramePr>
          <p:cNvPr id="400" name="Google Shape;400;p65"/>
          <p:cNvGraphicFramePr/>
          <p:nvPr/>
        </p:nvGraphicFramePr>
        <p:xfrm>
          <a:off x="2760050" y="2842175"/>
          <a:ext cx="1402200" cy="1051470"/>
        </p:xfrm>
        <a:graphic>
          <a:graphicData uri="http://schemas.openxmlformats.org/drawingml/2006/table">
            <a:tbl>
              <a:tblPr>
                <a:noFill/>
                <a:tableStyleId>{F4E8245F-B79C-49AF-8BD8-D9F0F8A7D024}</a:tableStyleId>
              </a:tblPr>
              <a:tblGrid>
                <a:gridCol w="701100">
                  <a:extLst>
                    <a:ext uri="{9D8B030D-6E8A-4147-A177-3AD203B41FA5}">
                      <a16:colId xmlns:a16="http://schemas.microsoft.com/office/drawing/2014/main" val="20000"/>
                    </a:ext>
                  </a:extLst>
                </a:gridCol>
                <a:gridCol w="7011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sz="1100">
                          <a:latin typeface="Courier New"/>
                          <a:ea typeface="Courier New"/>
                          <a:cs typeface="Courier New"/>
                          <a:sym typeface="Courier New"/>
                        </a:rPr>
                        <a:t>Node</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100">
                          <a:latin typeface="Courier New"/>
                          <a:ea typeface="Courier New"/>
                          <a:cs typeface="Courier New"/>
                          <a:sym typeface="Courier New"/>
                        </a:rPr>
                        <a:t>value</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Courier New"/>
                          <a:ea typeface="Courier New"/>
                          <a:cs typeface="Courier New"/>
                          <a:sym typeface="Courier New"/>
                        </a:rPr>
                        <a:t>next</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100">
                          <a:latin typeface="Courier New"/>
                          <a:ea typeface="Courier New"/>
                          <a:cs typeface="Courier New"/>
                          <a:sym typeface="Courier New"/>
                        </a:rPr>
                        <a:t>6</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401" name="Google Shape;401;p65"/>
          <p:cNvGrpSpPr/>
          <p:nvPr/>
        </p:nvGrpSpPr>
        <p:grpSpPr>
          <a:xfrm>
            <a:off x="1449081" y="3190913"/>
            <a:ext cx="1309769" cy="520313"/>
            <a:chOff x="1449081" y="3190913"/>
            <a:chExt cx="1309769" cy="520313"/>
          </a:xfrm>
        </p:grpSpPr>
        <p:cxnSp>
          <p:nvCxnSpPr>
            <p:cNvPr id="402" name="Google Shape;402;p65"/>
            <p:cNvCxnSpPr/>
            <p:nvPr/>
          </p:nvCxnSpPr>
          <p:spPr>
            <a:xfrm>
              <a:off x="1770950" y="3711225"/>
              <a:ext cx="987900" cy="0"/>
            </a:xfrm>
            <a:prstGeom prst="straightConnector1">
              <a:avLst/>
            </a:prstGeom>
            <a:noFill/>
            <a:ln w="19050" cap="flat" cmpd="sng">
              <a:solidFill>
                <a:srgbClr val="FF0000"/>
              </a:solidFill>
              <a:prstDash val="solid"/>
              <a:round/>
              <a:headEnd type="none" w="med" len="med"/>
              <a:tailEnd type="triangle" w="med" len="med"/>
            </a:ln>
          </p:spPr>
        </p:cxnSp>
        <p:sp>
          <p:nvSpPr>
            <p:cNvPr id="403" name="Google Shape;403;p65"/>
            <p:cNvSpPr txBox="1"/>
            <p:nvPr/>
          </p:nvSpPr>
          <p:spPr>
            <a:xfrm>
              <a:off x="1449081" y="3190913"/>
              <a:ext cx="6054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latin typeface="Courier New"/>
                  <a:ea typeface="Courier New"/>
                  <a:cs typeface="Courier New"/>
                  <a:sym typeface="Courier New"/>
                </a:rPr>
                <a:t>next</a:t>
              </a:r>
              <a:endParaRPr/>
            </a:p>
          </p:txBody>
        </p:sp>
      </p:grpSp>
      <p:graphicFrame>
        <p:nvGraphicFramePr>
          <p:cNvPr id="404" name="Google Shape;404;p65"/>
          <p:cNvGraphicFramePr/>
          <p:nvPr/>
        </p:nvGraphicFramePr>
        <p:xfrm>
          <a:off x="4817450" y="2842175"/>
          <a:ext cx="1402200" cy="1051470"/>
        </p:xfrm>
        <a:graphic>
          <a:graphicData uri="http://schemas.openxmlformats.org/drawingml/2006/table">
            <a:tbl>
              <a:tblPr>
                <a:noFill/>
                <a:tableStyleId>{F4E8245F-B79C-49AF-8BD8-D9F0F8A7D024}</a:tableStyleId>
              </a:tblPr>
              <a:tblGrid>
                <a:gridCol w="701100">
                  <a:extLst>
                    <a:ext uri="{9D8B030D-6E8A-4147-A177-3AD203B41FA5}">
                      <a16:colId xmlns:a16="http://schemas.microsoft.com/office/drawing/2014/main" val="20000"/>
                    </a:ext>
                  </a:extLst>
                </a:gridCol>
                <a:gridCol w="7011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sz="1100">
                          <a:latin typeface="Courier New"/>
                          <a:ea typeface="Courier New"/>
                          <a:cs typeface="Courier New"/>
                          <a:sym typeface="Courier New"/>
                        </a:rPr>
                        <a:t>Node</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100">
                          <a:latin typeface="Courier New"/>
                          <a:ea typeface="Courier New"/>
                          <a:cs typeface="Courier New"/>
                          <a:sym typeface="Courier New"/>
                        </a:rPr>
                        <a:t>value</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Courier New"/>
                          <a:ea typeface="Courier New"/>
                          <a:cs typeface="Courier New"/>
                          <a:sym typeface="Courier New"/>
                        </a:rPr>
                        <a:t>next</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100">
                          <a:latin typeface="Courier New"/>
                          <a:ea typeface="Courier New"/>
                          <a:cs typeface="Courier New"/>
                          <a:sym typeface="Courier New"/>
                        </a:rPr>
                        <a:t>2</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405" name="Google Shape;405;p65"/>
          <p:cNvCxnSpPr/>
          <p:nvPr/>
        </p:nvCxnSpPr>
        <p:spPr>
          <a:xfrm>
            <a:off x="3828350" y="3711225"/>
            <a:ext cx="987900" cy="0"/>
          </a:xfrm>
          <a:prstGeom prst="straightConnector1">
            <a:avLst/>
          </a:prstGeom>
          <a:noFill/>
          <a:ln w="19050" cap="flat" cmpd="sng">
            <a:solidFill>
              <a:srgbClr val="FF0000"/>
            </a:solidFill>
            <a:prstDash val="solid"/>
            <a:round/>
            <a:headEnd type="none" w="med" len="med"/>
            <a:tailEnd type="triangle" w="med" len="med"/>
          </a:ln>
        </p:spPr>
      </p:cxnSp>
      <p:graphicFrame>
        <p:nvGraphicFramePr>
          <p:cNvPr id="406" name="Google Shape;406;p65"/>
          <p:cNvGraphicFramePr/>
          <p:nvPr/>
        </p:nvGraphicFramePr>
        <p:xfrm>
          <a:off x="6874850" y="2842175"/>
          <a:ext cx="1402200" cy="1051470"/>
        </p:xfrm>
        <a:graphic>
          <a:graphicData uri="http://schemas.openxmlformats.org/drawingml/2006/table">
            <a:tbl>
              <a:tblPr>
                <a:noFill/>
                <a:tableStyleId>{F4E8245F-B79C-49AF-8BD8-D9F0F8A7D024}</a:tableStyleId>
              </a:tblPr>
              <a:tblGrid>
                <a:gridCol w="701100">
                  <a:extLst>
                    <a:ext uri="{9D8B030D-6E8A-4147-A177-3AD203B41FA5}">
                      <a16:colId xmlns:a16="http://schemas.microsoft.com/office/drawing/2014/main" val="20000"/>
                    </a:ext>
                  </a:extLst>
                </a:gridCol>
                <a:gridCol w="701100">
                  <a:extLst>
                    <a:ext uri="{9D8B030D-6E8A-4147-A177-3AD203B41FA5}">
                      <a16:colId xmlns:a16="http://schemas.microsoft.com/office/drawing/2014/main" val="20001"/>
                    </a:ext>
                  </a:extLst>
                </a:gridCol>
              </a:tblGrid>
              <a:tr h="0">
                <a:tc gridSpan="2">
                  <a:txBody>
                    <a:bodyPr/>
                    <a:lstStyle/>
                    <a:p>
                      <a:pPr marL="0" lvl="0" indent="0" algn="ctr" rtl="0">
                        <a:spcBef>
                          <a:spcPts val="0"/>
                        </a:spcBef>
                        <a:spcAft>
                          <a:spcPts val="0"/>
                        </a:spcAft>
                        <a:buNone/>
                      </a:pPr>
                      <a:r>
                        <a:rPr lang="en" sz="1100">
                          <a:latin typeface="Courier New"/>
                          <a:ea typeface="Courier New"/>
                          <a:cs typeface="Courier New"/>
                          <a:sym typeface="Courier New"/>
                        </a:rPr>
                        <a:t>Node</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 sz="1100">
                          <a:latin typeface="Courier New"/>
                          <a:ea typeface="Courier New"/>
                          <a:cs typeface="Courier New"/>
                          <a:sym typeface="Courier New"/>
                        </a:rPr>
                        <a:t>value</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Courier New"/>
                          <a:ea typeface="Courier New"/>
                          <a:cs typeface="Courier New"/>
                          <a:sym typeface="Courier New"/>
                        </a:rPr>
                        <a:t>next</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 sz="1100">
                          <a:latin typeface="Courier New"/>
                          <a:ea typeface="Courier New"/>
                          <a:cs typeface="Courier New"/>
                          <a:sym typeface="Courier New"/>
                        </a:rPr>
                        <a:t>1</a:t>
                      </a: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1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407" name="Google Shape;407;p65"/>
          <p:cNvCxnSpPr/>
          <p:nvPr/>
        </p:nvCxnSpPr>
        <p:spPr>
          <a:xfrm>
            <a:off x="5885750" y="3711225"/>
            <a:ext cx="987900" cy="0"/>
          </a:xfrm>
          <a:prstGeom prst="straightConnector1">
            <a:avLst/>
          </a:prstGeom>
          <a:noFill/>
          <a:ln w="19050" cap="flat" cmpd="sng">
            <a:solidFill>
              <a:srgbClr val="FF0000"/>
            </a:solidFill>
            <a:prstDash val="solid"/>
            <a:round/>
            <a:headEnd type="none" w="med" len="med"/>
            <a:tailEnd type="triangle" w="med" len="med"/>
          </a:ln>
        </p:spPr>
      </p:cxnSp>
      <p:sp>
        <p:nvSpPr>
          <p:cNvPr id="408" name="Google Shape;408;p65"/>
          <p:cNvSpPr txBox="1">
            <a:spLocks noGrp="1"/>
          </p:cNvSpPr>
          <p:nvPr>
            <p:ph type="body" idx="4294967295"/>
          </p:nvPr>
        </p:nvSpPr>
        <p:spPr>
          <a:xfrm>
            <a:off x="4628222" y="4111225"/>
            <a:ext cx="20931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100">
                <a:solidFill>
                  <a:srgbClr val="000000"/>
                </a:solidFill>
                <a:latin typeface="Arial"/>
                <a:ea typeface="Arial"/>
                <a:cs typeface="Arial"/>
                <a:sym typeface="Arial"/>
              </a:rPr>
              <a:t>Together the nodes form a </a:t>
            </a:r>
            <a:r>
              <a:rPr lang="en" sz="1100" b="1" i="1">
                <a:solidFill>
                  <a:srgbClr val="FF0000"/>
                </a:solidFill>
                <a:latin typeface="Arial"/>
                <a:ea typeface="Arial"/>
                <a:cs typeface="Arial"/>
                <a:sym typeface="Arial"/>
              </a:rPr>
              <a:t>sequence of nodes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p:txBody>
      </p:sp>
      <p:sp>
        <p:nvSpPr>
          <p:cNvPr id="409" name="Google Shape;409;p65"/>
          <p:cNvSpPr txBox="1"/>
          <p:nvPr/>
        </p:nvSpPr>
        <p:spPr>
          <a:xfrm>
            <a:off x="7621281" y="3538046"/>
            <a:ext cx="6054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0000"/>
                </a:solidFill>
                <a:latin typeface="Courier New"/>
                <a:ea typeface="Courier New"/>
                <a:cs typeface="Courier New"/>
                <a:sym typeface="Courier New"/>
              </a:rPr>
              <a:t>null</a:t>
            </a:r>
            <a:endParaRPr>
              <a:solidFill>
                <a:srgbClr val="FF0000"/>
              </a:solidFill>
            </a:endParaRPr>
          </a:p>
        </p:txBody>
      </p:sp>
      <p:sp>
        <p:nvSpPr>
          <p:cNvPr id="410" name="Google Shape;410;p65"/>
          <p:cNvSpPr txBox="1"/>
          <p:nvPr/>
        </p:nvSpPr>
        <p:spPr>
          <a:xfrm>
            <a:off x="1093600" y="2458158"/>
            <a:ext cx="6054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FF0000"/>
                </a:solidFill>
                <a:latin typeface="Roboto"/>
                <a:ea typeface="Roboto"/>
                <a:cs typeface="Roboto"/>
                <a:sym typeface="Roboto"/>
              </a:rPr>
              <a:t>head</a:t>
            </a:r>
            <a:endParaRPr sz="1200" b="1">
              <a:solidFill>
                <a:srgbClr val="FF0000"/>
              </a:solidFill>
              <a:latin typeface="Roboto"/>
              <a:ea typeface="Roboto"/>
              <a:cs typeface="Roboto"/>
              <a:sym typeface="Roboto"/>
            </a:endParaRPr>
          </a:p>
        </p:txBody>
      </p:sp>
      <p:sp>
        <p:nvSpPr>
          <p:cNvPr id="411" name="Google Shape;411;p65"/>
          <p:cNvSpPr txBox="1"/>
          <p:nvPr/>
        </p:nvSpPr>
        <p:spPr>
          <a:xfrm>
            <a:off x="7258744" y="2458158"/>
            <a:ext cx="6054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FF0000"/>
                </a:solidFill>
                <a:latin typeface="Roboto"/>
                <a:ea typeface="Roboto"/>
                <a:cs typeface="Roboto"/>
                <a:sym typeface="Roboto"/>
              </a:rPr>
              <a:t>tail</a:t>
            </a:r>
            <a:endParaRPr sz="1200" b="1">
              <a:solidFill>
                <a:srgbClr val="FF0000"/>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9"/>
                                        </p:tgtEl>
                                        <p:attrNameLst>
                                          <p:attrName>style.visibility</p:attrName>
                                        </p:attrNameLst>
                                      </p:cBhvr>
                                      <p:to>
                                        <p:strVal val="visible"/>
                                      </p:to>
                                    </p:set>
                                    <p:animEffect transition="in" filter="fade">
                                      <p:cBhvr>
                                        <p:cTn id="7" dur="1000"/>
                                        <p:tgtEl>
                                          <p:spTgt spid="389"/>
                                        </p:tgtEl>
                                      </p:cBhvr>
                                    </p:animEffect>
                                  </p:childTnLst>
                                </p:cTn>
                              </p:par>
                              <p:par>
                                <p:cTn id="8" presetID="10" presetClass="entr" presetSubtype="0" fill="hold" nodeType="withEffect">
                                  <p:stCondLst>
                                    <p:cond delay="0"/>
                                  </p:stCondLst>
                                  <p:childTnLst>
                                    <p:set>
                                      <p:cBhvr>
                                        <p:cTn id="9" dur="1" fill="hold">
                                          <p:stCondLst>
                                            <p:cond delay="0"/>
                                          </p:stCondLst>
                                        </p:cTn>
                                        <p:tgtEl>
                                          <p:spTgt spid="388"/>
                                        </p:tgtEl>
                                        <p:attrNameLst>
                                          <p:attrName>style.visibility</p:attrName>
                                        </p:attrNameLst>
                                      </p:cBhvr>
                                      <p:to>
                                        <p:strVal val="visible"/>
                                      </p:to>
                                    </p:set>
                                    <p:animEffect transition="in" filter="fade">
                                      <p:cBhvr>
                                        <p:cTn id="10" dur="1000"/>
                                        <p:tgtEl>
                                          <p:spTgt spid="38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92"/>
                                        </p:tgtEl>
                                        <p:attrNameLst>
                                          <p:attrName>style.visibility</p:attrName>
                                        </p:attrNameLst>
                                      </p:cBhvr>
                                      <p:to>
                                        <p:strVal val="visible"/>
                                      </p:to>
                                    </p:set>
                                    <p:animEffect transition="in" filter="fade">
                                      <p:cBhvr>
                                        <p:cTn id="15" dur="1000"/>
                                        <p:tgtEl>
                                          <p:spTgt spid="392"/>
                                        </p:tgtEl>
                                      </p:cBhvr>
                                    </p:animEffect>
                                  </p:childTnLst>
                                </p:cTn>
                              </p:par>
                              <p:par>
                                <p:cTn id="16" presetID="10" presetClass="entr" presetSubtype="0" fill="hold" nodeType="withEffect">
                                  <p:stCondLst>
                                    <p:cond delay="0"/>
                                  </p:stCondLst>
                                  <p:childTnLst>
                                    <p:set>
                                      <p:cBhvr>
                                        <p:cTn id="17" dur="1" fill="hold">
                                          <p:stCondLst>
                                            <p:cond delay="0"/>
                                          </p:stCondLst>
                                        </p:cTn>
                                        <p:tgtEl>
                                          <p:spTgt spid="391"/>
                                        </p:tgtEl>
                                        <p:attrNameLst>
                                          <p:attrName>style.visibility</p:attrName>
                                        </p:attrNameLst>
                                      </p:cBhvr>
                                      <p:to>
                                        <p:strVal val="visible"/>
                                      </p:to>
                                    </p:set>
                                    <p:animEffect transition="in" filter="fade">
                                      <p:cBhvr>
                                        <p:cTn id="18" dur="1000"/>
                                        <p:tgtEl>
                                          <p:spTgt spid="39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90"/>
                                        </p:tgtEl>
                                        <p:attrNameLst>
                                          <p:attrName>style.visibility</p:attrName>
                                        </p:attrNameLst>
                                      </p:cBhvr>
                                      <p:to>
                                        <p:strVal val="visible"/>
                                      </p:to>
                                    </p:set>
                                    <p:animEffect transition="in" filter="fade">
                                      <p:cBhvr>
                                        <p:cTn id="23" dur="1000"/>
                                        <p:tgtEl>
                                          <p:spTgt spid="390"/>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395"/>
                                        </p:tgtEl>
                                        <p:attrNameLst>
                                          <p:attrName>style.visibility</p:attrName>
                                        </p:attrNameLst>
                                      </p:cBhvr>
                                      <p:to>
                                        <p:strVal val="visible"/>
                                      </p:to>
                                    </p:set>
                                    <p:animEffect transition="in" filter="fade">
                                      <p:cBhvr>
                                        <p:cTn id="27" dur="1000"/>
                                        <p:tgtEl>
                                          <p:spTgt spid="39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99"/>
                                        </p:tgtEl>
                                        <p:attrNameLst>
                                          <p:attrName>style.visibility</p:attrName>
                                        </p:attrNameLst>
                                      </p:cBhvr>
                                      <p:to>
                                        <p:strVal val="visible"/>
                                      </p:to>
                                    </p:set>
                                    <p:animEffect transition="in" filter="fade">
                                      <p:cBhvr>
                                        <p:cTn id="32" dur="1000"/>
                                        <p:tgtEl>
                                          <p:spTgt spid="399"/>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401"/>
                                        </p:tgtEl>
                                        <p:attrNameLst>
                                          <p:attrName>style.visibility</p:attrName>
                                        </p:attrNameLst>
                                      </p:cBhvr>
                                      <p:to>
                                        <p:strVal val="visible"/>
                                      </p:to>
                                    </p:set>
                                    <p:animEffect transition="in" filter="fade">
                                      <p:cBhvr>
                                        <p:cTn id="36" dur="1000"/>
                                        <p:tgtEl>
                                          <p:spTgt spid="401"/>
                                        </p:tgtEl>
                                      </p:cBhvr>
                                    </p:animEffect>
                                  </p:childTnLst>
                                </p:cTn>
                              </p:par>
                              <p:par>
                                <p:cTn id="37" presetID="10" presetClass="entr" presetSubtype="0" fill="hold" nodeType="withEffect">
                                  <p:stCondLst>
                                    <p:cond delay="0"/>
                                  </p:stCondLst>
                                  <p:childTnLst>
                                    <p:set>
                                      <p:cBhvr>
                                        <p:cTn id="38" dur="1" fill="hold">
                                          <p:stCondLst>
                                            <p:cond delay="0"/>
                                          </p:stCondLst>
                                        </p:cTn>
                                        <p:tgtEl>
                                          <p:spTgt spid="400"/>
                                        </p:tgtEl>
                                        <p:attrNameLst>
                                          <p:attrName>style.visibility</p:attrName>
                                        </p:attrNameLst>
                                      </p:cBhvr>
                                      <p:to>
                                        <p:strVal val="visible"/>
                                      </p:to>
                                    </p:set>
                                    <p:animEffect transition="in" filter="fade">
                                      <p:cBhvr>
                                        <p:cTn id="39" dur="1000"/>
                                        <p:tgtEl>
                                          <p:spTgt spid="40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93"/>
                                        </p:tgtEl>
                                        <p:attrNameLst>
                                          <p:attrName>style.visibility</p:attrName>
                                        </p:attrNameLst>
                                      </p:cBhvr>
                                      <p:to>
                                        <p:strVal val="visible"/>
                                      </p:to>
                                    </p:set>
                                    <p:animEffect transition="in" filter="fade">
                                      <p:cBhvr>
                                        <p:cTn id="44" dur="1000"/>
                                        <p:tgtEl>
                                          <p:spTgt spid="393"/>
                                        </p:tgtEl>
                                      </p:cBhvr>
                                    </p:animEffect>
                                  </p:childTnLst>
                                </p:cTn>
                              </p:par>
                            </p:childTnLst>
                          </p:cTn>
                        </p:par>
                        <p:par>
                          <p:cTn id="45" fill="hold">
                            <p:stCondLst>
                              <p:cond delay="1000"/>
                            </p:stCondLst>
                            <p:childTnLst>
                              <p:par>
                                <p:cTn id="46" presetID="10" presetClass="entr" presetSubtype="0" fill="hold" nodeType="afterEffect">
                                  <p:stCondLst>
                                    <p:cond delay="0"/>
                                  </p:stCondLst>
                                  <p:childTnLst>
                                    <p:set>
                                      <p:cBhvr>
                                        <p:cTn id="47" dur="1" fill="hold">
                                          <p:stCondLst>
                                            <p:cond delay="0"/>
                                          </p:stCondLst>
                                        </p:cTn>
                                        <p:tgtEl>
                                          <p:spTgt spid="397"/>
                                        </p:tgtEl>
                                        <p:attrNameLst>
                                          <p:attrName>style.visibility</p:attrName>
                                        </p:attrNameLst>
                                      </p:cBhvr>
                                      <p:to>
                                        <p:strVal val="visible"/>
                                      </p:to>
                                    </p:set>
                                    <p:animEffect transition="in" filter="fade">
                                      <p:cBhvr>
                                        <p:cTn id="48" dur="1000"/>
                                        <p:tgtEl>
                                          <p:spTgt spid="397"/>
                                        </p:tgtEl>
                                      </p:cBhvr>
                                    </p:animEffect>
                                  </p:childTnLst>
                                </p:cTn>
                              </p:par>
                            </p:childTnLst>
                          </p:cTn>
                        </p:par>
                        <p:par>
                          <p:cTn id="49" fill="hold">
                            <p:stCondLst>
                              <p:cond delay="2000"/>
                            </p:stCondLst>
                            <p:childTnLst>
                              <p:par>
                                <p:cTn id="50" presetID="10" presetClass="entr" presetSubtype="0" fill="hold" nodeType="afterEffect">
                                  <p:stCondLst>
                                    <p:cond delay="0"/>
                                  </p:stCondLst>
                                  <p:childTnLst>
                                    <p:set>
                                      <p:cBhvr>
                                        <p:cTn id="51" dur="1" fill="hold">
                                          <p:stCondLst>
                                            <p:cond delay="0"/>
                                          </p:stCondLst>
                                        </p:cTn>
                                        <p:tgtEl>
                                          <p:spTgt spid="396"/>
                                        </p:tgtEl>
                                        <p:attrNameLst>
                                          <p:attrName>style.visibility</p:attrName>
                                        </p:attrNameLst>
                                      </p:cBhvr>
                                      <p:to>
                                        <p:strVal val="visible"/>
                                      </p:to>
                                    </p:set>
                                    <p:animEffect transition="in" filter="fade">
                                      <p:cBhvr>
                                        <p:cTn id="52" dur="1100"/>
                                        <p:tgtEl>
                                          <p:spTgt spid="396"/>
                                        </p:tgtEl>
                                      </p:cBhvr>
                                    </p:animEffect>
                                  </p:childTnLst>
                                </p:cTn>
                              </p:par>
                            </p:childTnLst>
                          </p:cTn>
                        </p:par>
                        <p:par>
                          <p:cTn id="53" fill="hold">
                            <p:stCondLst>
                              <p:cond delay="3100"/>
                            </p:stCondLst>
                            <p:childTnLst>
                              <p:par>
                                <p:cTn id="54" presetID="10" presetClass="entr" presetSubtype="0" fill="hold" nodeType="afterEffect">
                                  <p:stCondLst>
                                    <p:cond delay="0"/>
                                  </p:stCondLst>
                                  <p:childTnLst>
                                    <p:set>
                                      <p:cBhvr>
                                        <p:cTn id="55" dur="1" fill="hold">
                                          <p:stCondLst>
                                            <p:cond delay="0"/>
                                          </p:stCondLst>
                                        </p:cTn>
                                        <p:tgtEl>
                                          <p:spTgt spid="398"/>
                                        </p:tgtEl>
                                        <p:attrNameLst>
                                          <p:attrName>style.visibility</p:attrName>
                                        </p:attrNameLst>
                                      </p:cBhvr>
                                      <p:to>
                                        <p:strVal val="visible"/>
                                      </p:to>
                                    </p:set>
                                    <p:animEffect transition="in" filter="fade">
                                      <p:cBhvr>
                                        <p:cTn id="56" dur="1000"/>
                                        <p:tgtEl>
                                          <p:spTgt spid="39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08"/>
                                        </p:tgtEl>
                                        <p:attrNameLst>
                                          <p:attrName>style.visibility</p:attrName>
                                        </p:attrNameLst>
                                      </p:cBhvr>
                                      <p:to>
                                        <p:strVal val="visible"/>
                                      </p:to>
                                    </p:set>
                                    <p:animEffect transition="in" filter="fade">
                                      <p:cBhvr>
                                        <p:cTn id="61" dur="1000"/>
                                        <p:tgtEl>
                                          <p:spTgt spid="408"/>
                                        </p:tgtEl>
                                      </p:cBhvr>
                                    </p:animEffect>
                                  </p:childTnLst>
                                </p:cTn>
                              </p:par>
                            </p:childTnLst>
                          </p:cTn>
                        </p:par>
                        <p:par>
                          <p:cTn id="62" fill="hold">
                            <p:stCondLst>
                              <p:cond delay="1000"/>
                            </p:stCondLst>
                            <p:childTnLst>
                              <p:par>
                                <p:cTn id="63" presetID="10" presetClass="entr" presetSubtype="0" fill="hold" nodeType="afterEffect">
                                  <p:stCondLst>
                                    <p:cond delay="0"/>
                                  </p:stCondLst>
                                  <p:childTnLst>
                                    <p:set>
                                      <p:cBhvr>
                                        <p:cTn id="64" dur="1" fill="hold">
                                          <p:stCondLst>
                                            <p:cond delay="0"/>
                                          </p:stCondLst>
                                        </p:cTn>
                                        <p:tgtEl>
                                          <p:spTgt spid="405"/>
                                        </p:tgtEl>
                                        <p:attrNameLst>
                                          <p:attrName>style.visibility</p:attrName>
                                        </p:attrNameLst>
                                      </p:cBhvr>
                                      <p:to>
                                        <p:strVal val="visible"/>
                                      </p:to>
                                    </p:set>
                                    <p:animEffect transition="in" filter="fade">
                                      <p:cBhvr>
                                        <p:cTn id="65" dur="1000"/>
                                        <p:tgtEl>
                                          <p:spTgt spid="405"/>
                                        </p:tgtEl>
                                      </p:cBhvr>
                                    </p:animEffect>
                                  </p:childTnLst>
                                </p:cTn>
                              </p:par>
                              <p:par>
                                <p:cTn id="66" presetID="10" presetClass="entr" presetSubtype="0" fill="hold" nodeType="withEffect">
                                  <p:stCondLst>
                                    <p:cond delay="0"/>
                                  </p:stCondLst>
                                  <p:childTnLst>
                                    <p:set>
                                      <p:cBhvr>
                                        <p:cTn id="67" dur="1" fill="hold">
                                          <p:stCondLst>
                                            <p:cond delay="0"/>
                                          </p:stCondLst>
                                        </p:cTn>
                                        <p:tgtEl>
                                          <p:spTgt spid="404"/>
                                        </p:tgtEl>
                                        <p:attrNameLst>
                                          <p:attrName>style.visibility</p:attrName>
                                        </p:attrNameLst>
                                      </p:cBhvr>
                                      <p:to>
                                        <p:strVal val="visible"/>
                                      </p:to>
                                    </p:set>
                                    <p:animEffect transition="in" filter="fade">
                                      <p:cBhvr>
                                        <p:cTn id="68" dur="1000"/>
                                        <p:tgtEl>
                                          <p:spTgt spid="404"/>
                                        </p:tgtEl>
                                      </p:cBhvr>
                                    </p:animEffect>
                                  </p:childTnLst>
                                </p:cTn>
                              </p:par>
                            </p:childTnLst>
                          </p:cTn>
                        </p:par>
                        <p:par>
                          <p:cTn id="69" fill="hold">
                            <p:stCondLst>
                              <p:cond delay="2000"/>
                            </p:stCondLst>
                            <p:childTnLst>
                              <p:par>
                                <p:cTn id="70" presetID="10" presetClass="entr" presetSubtype="0" fill="hold" nodeType="afterEffect">
                                  <p:stCondLst>
                                    <p:cond delay="0"/>
                                  </p:stCondLst>
                                  <p:childTnLst>
                                    <p:set>
                                      <p:cBhvr>
                                        <p:cTn id="71" dur="1" fill="hold">
                                          <p:stCondLst>
                                            <p:cond delay="0"/>
                                          </p:stCondLst>
                                        </p:cTn>
                                        <p:tgtEl>
                                          <p:spTgt spid="407"/>
                                        </p:tgtEl>
                                        <p:attrNameLst>
                                          <p:attrName>style.visibility</p:attrName>
                                        </p:attrNameLst>
                                      </p:cBhvr>
                                      <p:to>
                                        <p:strVal val="visible"/>
                                      </p:to>
                                    </p:set>
                                    <p:animEffect transition="in" filter="fade">
                                      <p:cBhvr>
                                        <p:cTn id="72" dur="1000"/>
                                        <p:tgtEl>
                                          <p:spTgt spid="407"/>
                                        </p:tgtEl>
                                      </p:cBhvr>
                                    </p:animEffect>
                                  </p:childTnLst>
                                </p:cTn>
                              </p:par>
                              <p:par>
                                <p:cTn id="73" presetID="10" presetClass="entr" presetSubtype="0" fill="hold" nodeType="withEffect">
                                  <p:stCondLst>
                                    <p:cond delay="0"/>
                                  </p:stCondLst>
                                  <p:childTnLst>
                                    <p:set>
                                      <p:cBhvr>
                                        <p:cTn id="74" dur="1" fill="hold">
                                          <p:stCondLst>
                                            <p:cond delay="0"/>
                                          </p:stCondLst>
                                        </p:cTn>
                                        <p:tgtEl>
                                          <p:spTgt spid="406"/>
                                        </p:tgtEl>
                                        <p:attrNameLst>
                                          <p:attrName>style.visibility</p:attrName>
                                        </p:attrNameLst>
                                      </p:cBhvr>
                                      <p:to>
                                        <p:strVal val="visible"/>
                                      </p:to>
                                    </p:set>
                                    <p:animEffect transition="in" filter="fade">
                                      <p:cBhvr>
                                        <p:cTn id="75" dur="1000"/>
                                        <p:tgtEl>
                                          <p:spTgt spid="406"/>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394"/>
                                        </p:tgtEl>
                                        <p:attrNameLst>
                                          <p:attrName>style.visibility</p:attrName>
                                        </p:attrNameLst>
                                      </p:cBhvr>
                                      <p:to>
                                        <p:strVal val="visible"/>
                                      </p:to>
                                    </p:set>
                                    <p:animEffect transition="in" filter="fade">
                                      <p:cBhvr>
                                        <p:cTn id="80" dur="1000"/>
                                        <p:tgtEl>
                                          <p:spTgt spid="394"/>
                                        </p:tgtEl>
                                      </p:cBhvr>
                                    </p:animEffect>
                                  </p:childTnLst>
                                </p:cTn>
                              </p:par>
                            </p:childTnLst>
                          </p:cTn>
                        </p:par>
                        <p:par>
                          <p:cTn id="81" fill="hold">
                            <p:stCondLst>
                              <p:cond delay="1000"/>
                            </p:stCondLst>
                            <p:childTnLst>
                              <p:par>
                                <p:cTn id="82" presetID="10" presetClass="entr" presetSubtype="0" fill="hold" nodeType="afterEffect">
                                  <p:stCondLst>
                                    <p:cond delay="0"/>
                                  </p:stCondLst>
                                  <p:childTnLst>
                                    <p:set>
                                      <p:cBhvr>
                                        <p:cTn id="83" dur="1" fill="hold">
                                          <p:stCondLst>
                                            <p:cond delay="0"/>
                                          </p:stCondLst>
                                        </p:cTn>
                                        <p:tgtEl>
                                          <p:spTgt spid="410"/>
                                        </p:tgtEl>
                                        <p:attrNameLst>
                                          <p:attrName>style.visibility</p:attrName>
                                        </p:attrNameLst>
                                      </p:cBhvr>
                                      <p:to>
                                        <p:strVal val="visible"/>
                                      </p:to>
                                    </p:set>
                                    <p:animEffect transition="in" filter="fade">
                                      <p:cBhvr>
                                        <p:cTn id="84" dur="1000"/>
                                        <p:tgtEl>
                                          <p:spTgt spid="410"/>
                                        </p:tgtEl>
                                      </p:cBhvr>
                                    </p:animEffect>
                                  </p:childTnLst>
                                </p:cTn>
                              </p:par>
                              <p:par>
                                <p:cTn id="85" presetID="10" presetClass="entr" presetSubtype="0" fill="hold" nodeType="withEffect">
                                  <p:stCondLst>
                                    <p:cond delay="0"/>
                                  </p:stCondLst>
                                  <p:childTnLst>
                                    <p:set>
                                      <p:cBhvr>
                                        <p:cTn id="86" dur="1" fill="hold">
                                          <p:stCondLst>
                                            <p:cond delay="0"/>
                                          </p:stCondLst>
                                        </p:cTn>
                                        <p:tgtEl>
                                          <p:spTgt spid="411"/>
                                        </p:tgtEl>
                                        <p:attrNameLst>
                                          <p:attrName>style.visibility</p:attrName>
                                        </p:attrNameLst>
                                      </p:cBhvr>
                                      <p:to>
                                        <p:strVal val="visible"/>
                                      </p:to>
                                    </p:set>
                                    <p:animEffect transition="in" filter="fade">
                                      <p:cBhvr>
                                        <p:cTn id="87" dur="1000"/>
                                        <p:tgtEl>
                                          <p:spTgt spid="41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385"/>
                                        </p:tgtEl>
                                        <p:attrNameLst>
                                          <p:attrName>style.visibility</p:attrName>
                                        </p:attrNameLst>
                                      </p:cBhvr>
                                      <p:to>
                                        <p:strVal val="visible"/>
                                      </p:to>
                                    </p:set>
                                    <p:animEffect transition="in" filter="fade">
                                      <p:cBhvr>
                                        <p:cTn id="92" dur="1000"/>
                                        <p:tgtEl>
                                          <p:spTgt spid="385"/>
                                        </p:tgtEl>
                                      </p:cBhvr>
                                    </p:animEffect>
                                  </p:childTnLst>
                                </p:cTn>
                              </p:par>
                            </p:childTnLst>
                          </p:cTn>
                        </p:par>
                        <p:par>
                          <p:cTn id="93" fill="hold">
                            <p:stCondLst>
                              <p:cond delay="1000"/>
                            </p:stCondLst>
                            <p:childTnLst>
                              <p:par>
                                <p:cTn id="94" presetID="10" presetClass="entr" presetSubtype="0" fill="hold" nodeType="afterEffect">
                                  <p:stCondLst>
                                    <p:cond delay="0"/>
                                  </p:stCondLst>
                                  <p:childTnLst>
                                    <p:set>
                                      <p:cBhvr>
                                        <p:cTn id="95" dur="1" fill="hold">
                                          <p:stCondLst>
                                            <p:cond delay="0"/>
                                          </p:stCondLst>
                                        </p:cTn>
                                        <p:tgtEl>
                                          <p:spTgt spid="409"/>
                                        </p:tgtEl>
                                        <p:attrNameLst>
                                          <p:attrName>style.visibility</p:attrName>
                                        </p:attrNameLst>
                                      </p:cBhvr>
                                      <p:to>
                                        <p:strVal val="visible"/>
                                      </p:to>
                                    </p:set>
                                    <p:animEffect transition="in" filter="fade">
                                      <p:cBhvr>
                                        <p:cTn id="96" dur="1000"/>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6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The diagram below is an example of a "box-and-pointer" visualization of the sequence of nodes containing the values </a:t>
            </a:r>
            <a:r>
              <a:rPr lang="en">
                <a:latin typeface="Courier New"/>
                <a:ea typeface="Courier New"/>
                <a:cs typeface="Courier New"/>
                <a:sym typeface="Courier New"/>
              </a:rPr>
              <a:t>5</a:t>
            </a:r>
            <a:r>
              <a:rPr lang="en"/>
              <a:t>, </a:t>
            </a:r>
            <a:r>
              <a:rPr lang="en">
                <a:latin typeface="Courier New"/>
                <a:ea typeface="Courier New"/>
                <a:cs typeface="Courier New"/>
                <a:sym typeface="Courier New"/>
              </a:rPr>
              <a:t>6</a:t>
            </a:r>
            <a:r>
              <a:rPr lang="en"/>
              <a:t>, </a:t>
            </a:r>
            <a:r>
              <a:rPr lang="en">
                <a:latin typeface="Courier New"/>
                <a:ea typeface="Courier New"/>
                <a:cs typeface="Courier New"/>
                <a:sym typeface="Courier New"/>
              </a:rPr>
              <a:t>2</a:t>
            </a:r>
            <a:r>
              <a:rPr lang="en"/>
              <a:t>, and </a:t>
            </a:r>
            <a:r>
              <a:rPr lang="en">
                <a:latin typeface="Courier New"/>
                <a:ea typeface="Courier New"/>
                <a:cs typeface="Courier New"/>
                <a:sym typeface="Courier New"/>
              </a:rPr>
              <a:t>1</a:t>
            </a:r>
            <a:r>
              <a:rPr lang="en"/>
              <a:t>. Drawing diagrams like this can help to understand how the objects in a sequence work and are connected together. Try it now!</a:t>
            </a:r>
            <a:endParaRPr/>
          </a:p>
        </p:txBody>
      </p:sp>
      <p:sp>
        <p:nvSpPr>
          <p:cNvPr id="417" name="Google Shape;417;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418" name="Google Shape;418;p66"/>
          <p:cNvSpPr txBox="1">
            <a:spLocks noGrp="1"/>
          </p:cNvSpPr>
          <p:nvPr>
            <p:ph type="body" idx="2"/>
          </p:nvPr>
        </p:nvSpPr>
        <p:spPr>
          <a:xfrm>
            <a:off x="362525" y="3248475"/>
            <a:ext cx="8030400" cy="15354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Using a sheet of paper and a pen or pencil (or a whiteboard!), draw a separate "box-and-pointer" diagram for-each of the following sequences. Be sure to label the head and the tail of each sequence:</a:t>
            </a:r>
            <a:endParaRPr dirty="0"/>
          </a:p>
          <a:p>
            <a:pPr marL="914400" lvl="1" indent="-311150" algn="l" rtl="0">
              <a:spcBef>
                <a:spcPts val="0"/>
              </a:spcBef>
              <a:spcAft>
                <a:spcPts val="0"/>
              </a:spcAft>
              <a:buSzPts val="1300"/>
              <a:buFont typeface="Courier New"/>
              <a:buChar char="○"/>
            </a:pPr>
            <a:r>
              <a:rPr lang="en" sz="1300" dirty="0">
                <a:latin typeface="Courier New"/>
                <a:ea typeface="Courier New"/>
                <a:cs typeface="Courier New"/>
                <a:sym typeface="Courier New"/>
              </a:rPr>
              <a:t>1</a:t>
            </a:r>
            <a:endParaRPr sz="1300" dirty="0">
              <a:latin typeface="Courier New"/>
              <a:ea typeface="Courier New"/>
              <a:cs typeface="Courier New"/>
              <a:sym typeface="Courier New"/>
            </a:endParaRPr>
          </a:p>
          <a:p>
            <a:pPr marL="914400" lvl="1" indent="-311150" algn="l" rtl="0">
              <a:spcBef>
                <a:spcPts val="0"/>
              </a:spcBef>
              <a:spcAft>
                <a:spcPts val="0"/>
              </a:spcAft>
              <a:buSzPts val="1300"/>
              <a:buChar char="○"/>
            </a:pPr>
            <a:r>
              <a:rPr lang="en" sz="1300" dirty="0">
                <a:latin typeface="Courier New"/>
                <a:ea typeface="Courier New"/>
                <a:cs typeface="Courier New"/>
                <a:sym typeface="Courier New"/>
              </a:rPr>
              <a:t>2</a:t>
            </a:r>
            <a:r>
              <a:rPr lang="en" sz="1300" dirty="0"/>
              <a:t>, </a:t>
            </a:r>
            <a:r>
              <a:rPr lang="en" sz="1300" dirty="0">
                <a:latin typeface="Courier New"/>
                <a:ea typeface="Courier New"/>
                <a:cs typeface="Courier New"/>
                <a:sym typeface="Courier New"/>
              </a:rPr>
              <a:t>3</a:t>
            </a:r>
            <a:endParaRPr sz="1300" dirty="0">
              <a:latin typeface="Courier New"/>
              <a:ea typeface="Courier New"/>
              <a:cs typeface="Courier New"/>
              <a:sym typeface="Courier New"/>
            </a:endParaRPr>
          </a:p>
          <a:p>
            <a:pPr marL="914400" lvl="1" indent="-311150" algn="l" rtl="0">
              <a:spcBef>
                <a:spcPts val="0"/>
              </a:spcBef>
              <a:spcAft>
                <a:spcPts val="0"/>
              </a:spcAft>
              <a:buSzPts val="1300"/>
              <a:buChar char="○"/>
            </a:pPr>
            <a:r>
              <a:rPr lang="en" sz="1300" dirty="0">
                <a:latin typeface="Courier New"/>
                <a:ea typeface="Courier New"/>
                <a:cs typeface="Courier New"/>
                <a:sym typeface="Courier New"/>
              </a:rPr>
              <a:t>5</a:t>
            </a:r>
            <a:r>
              <a:rPr lang="en" sz="1300" dirty="0"/>
              <a:t>, </a:t>
            </a:r>
            <a:r>
              <a:rPr lang="en" sz="1300" dirty="0">
                <a:latin typeface="Courier New"/>
                <a:ea typeface="Courier New"/>
                <a:cs typeface="Courier New"/>
                <a:sym typeface="Courier New"/>
              </a:rPr>
              <a:t>7</a:t>
            </a:r>
            <a:r>
              <a:rPr lang="en" sz="1300" dirty="0"/>
              <a:t>, </a:t>
            </a:r>
            <a:r>
              <a:rPr lang="en" sz="1300" dirty="0">
                <a:latin typeface="Courier New"/>
                <a:ea typeface="Courier New"/>
                <a:cs typeface="Courier New"/>
                <a:sym typeface="Courier New"/>
              </a:rPr>
              <a:t>11</a:t>
            </a:r>
            <a:r>
              <a:rPr lang="en" sz="1300" dirty="0"/>
              <a:t>, </a:t>
            </a:r>
            <a:r>
              <a:rPr lang="en" sz="1300" dirty="0">
                <a:latin typeface="Courier New"/>
                <a:ea typeface="Courier New"/>
                <a:cs typeface="Courier New"/>
                <a:sym typeface="Courier New"/>
              </a:rPr>
              <a:t>13</a:t>
            </a:r>
            <a:endParaRPr sz="1300" dirty="0">
              <a:latin typeface="Courier New"/>
              <a:ea typeface="Courier New"/>
              <a:cs typeface="Courier New"/>
              <a:sym typeface="Courier New"/>
            </a:endParaRPr>
          </a:p>
          <a:p>
            <a:pPr marL="457200" lvl="0" indent="-311150" algn="l" rtl="0">
              <a:spcBef>
                <a:spcPts val="0"/>
              </a:spcBef>
              <a:spcAft>
                <a:spcPts val="0"/>
              </a:spcAft>
              <a:buSzPts val="1300"/>
              <a:buChar char="●"/>
            </a:pPr>
            <a:r>
              <a:rPr lang="en" dirty="0"/>
              <a:t>Now add a new value to the end of each sequence. How does the "tail" in each sequence change?</a:t>
            </a:r>
            <a:endParaRPr dirty="0"/>
          </a:p>
        </p:txBody>
      </p:sp>
      <p:sp>
        <p:nvSpPr>
          <p:cNvPr id="419" name="Google Shape;419;p6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Visualizing a Sequence of Nodes</a:t>
            </a:r>
            <a:endParaRPr/>
          </a:p>
        </p:txBody>
      </p:sp>
      <p:sp>
        <p:nvSpPr>
          <p:cNvPr id="420" name="Google Shape;420;p6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5.2</a:t>
            </a:r>
            <a:endParaRPr/>
          </a:p>
        </p:txBody>
      </p:sp>
      <p:pic>
        <p:nvPicPr>
          <p:cNvPr id="421" name="Google Shape;421;p66"/>
          <p:cNvPicPr preferRelativeResize="0"/>
          <p:nvPr/>
        </p:nvPicPr>
        <p:blipFill>
          <a:blip r:embed="rId3">
            <a:alphaModFix/>
          </a:blip>
          <a:stretch>
            <a:fillRect/>
          </a:stretch>
        </p:blipFill>
        <p:spPr>
          <a:xfrm>
            <a:off x="1131050" y="1749113"/>
            <a:ext cx="6997924" cy="1305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7"/>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Clr>
                <a:srgbClr val="000000"/>
              </a:buClr>
              <a:buSzPts val="1600"/>
              <a:buFont typeface="Arial"/>
              <a:buNone/>
            </a:pPr>
            <a:r>
              <a:rPr lang="en" dirty="0"/>
              <a:t>We will be using </a:t>
            </a:r>
            <a:r>
              <a:rPr lang="en" b="1" i="1" dirty="0">
                <a:solidFill>
                  <a:srgbClr val="FF0000"/>
                </a:solidFill>
              </a:rPr>
              <a:t>nodes</a:t>
            </a:r>
            <a:r>
              <a:rPr lang="en" dirty="0">
                <a:solidFill>
                  <a:srgbClr val="FF0000"/>
                </a:solidFill>
              </a:rPr>
              <a:t> </a:t>
            </a:r>
            <a:r>
              <a:rPr lang="en" dirty="0"/>
              <a:t>to implement some of the abstract data types that we talk about in this unit. The first step to creating any node-based data structure is to create a </a:t>
            </a:r>
            <a:r>
              <a:rPr lang="en" dirty="0">
                <a:latin typeface="Courier New"/>
                <a:ea typeface="Courier New"/>
                <a:cs typeface="Courier New"/>
                <a:sym typeface="Courier New"/>
              </a:rPr>
              <a:t>Node</a:t>
            </a:r>
            <a:r>
              <a:rPr lang="en" dirty="0"/>
              <a:t> class.</a:t>
            </a:r>
            <a:endParaRPr dirty="0"/>
          </a:p>
        </p:txBody>
      </p:sp>
      <p:sp>
        <p:nvSpPr>
          <p:cNvPr id="427" name="Google Shape;427;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sp>
        <p:nvSpPr>
          <p:cNvPr id="428" name="Google Shape;428;p67"/>
          <p:cNvSpPr txBox="1">
            <a:spLocks noGrp="1"/>
          </p:cNvSpPr>
          <p:nvPr>
            <p:ph type="body" idx="2"/>
          </p:nvPr>
        </p:nvSpPr>
        <p:spPr>
          <a:xfrm>
            <a:off x="3414025" y="1555925"/>
            <a:ext cx="5527200" cy="2839208"/>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Create a new package named "</a:t>
            </a:r>
            <a:r>
              <a:rPr lang="en" sz="1400" dirty="0">
                <a:solidFill>
                  <a:srgbClr val="FF0000"/>
                </a:solidFill>
                <a:latin typeface="Courier New"/>
                <a:ea typeface="Courier New"/>
                <a:cs typeface="Courier New"/>
                <a:sym typeface="Courier New"/>
              </a:rPr>
              <a:t>unit05.mcf</a:t>
            </a:r>
            <a:r>
              <a:rPr lang="en" sz="1400" dirty="0"/>
              <a:t>" (short for "my collections framework") and use it for all of the code that you write in this unit unless otherwise instructed.</a:t>
            </a:r>
            <a:endParaRPr sz="1400" dirty="0"/>
          </a:p>
          <a:p>
            <a:pPr marL="457200" lvl="0" indent="-317500" algn="l" rtl="0">
              <a:spcBef>
                <a:spcPts val="0"/>
              </a:spcBef>
              <a:spcAft>
                <a:spcPts val="0"/>
              </a:spcAft>
              <a:buSzPts val="1400"/>
              <a:buChar char="●"/>
            </a:pPr>
            <a:r>
              <a:rPr lang="en" sz="1400" dirty="0"/>
              <a:t>Create a new Java class named </a:t>
            </a:r>
            <a:r>
              <a:rPr lang="en" sz="1400" dirty="0">
                <a:highlight>
                  <a:srgbClr val="FFFF00"/>
                </a:highlight>
              </a:rPr>
              <a:t>"</a:t>
            </a:r>
            <a:r>
              <a:rPr lang="en" sz="1400" dirty="0">
                <a:solidFill>
                  <a:srgbClr val="FF0000"/>
                </a:solidFill>
                <a:highlight>
                  <a:srgbClr val="FFFF00"/>
                </a:highlight>
                <a:latin typeface="Courier New"/>
                <a:ea typeface="Courier New"/>
                <a:cs typeface="Courier New"/>
                <a:sym typeface="Courier New"/>
              </a:rPr>
              <a:t>Node</a:t>
            </a:r>
            <a:r>
              <a:rPr lang="en" sz="1400" dirty="0">
                <a:highlight>
                  <a:srgbClr val="FFFF00"/>
                </a:highlight>
              </a:rPr>
              <a:t>".</a:t>
            </a:r>
            <a:endParaRPr sz="1400" dirty="0">
              <a:highlight>
                <a:srgbClr val="FFFF00"/>
              </a:highlight>
            </a:endParaRPr>
          </a:p>
          <a:p>
            <a:pPr marL="914400" lvl="1" indent="-304800" algn="l" rtl="0">
              <a:spcBef>
                <a:spcPts val="0"/>
              </a:spcBef>
              <a:spcAft>
                <a:spcPts val="0"/>
              </a:spcAft>
              <a:buSzPts val="1200"/>
              <a:buChar char="○"/>
            </a:pPr>
            <a:r>
              <a:rPr lang="en" sz="1200" dirty="0"/>
              <a:t>Use the UML diagram to the left as a guide to implementing your </a:t>
            </a:r>
            <a:r>
              <a:rPr lang="en" sz="1200" dirty="0">
                <a:latin typeface="Courier New"/>
                <a:ea typeface="Courier New"/>
                <a:cs typeface="Courier New"/>
                <a:sym typeface="Courier New"/>
              </a:rPr>
              <a:t>Node</a:t>
            </a:r>
            <a:r>
              <a:rPr lang="en" sz="1200" dirty="0"/>
              <a:t> class.</a:t>
            </a:r>
            <a:endParaRPr sz="1200" dirty="0"/>
          </a:p>
          <a:p>
            <a:pPr marL="457200" lvl="0" indent="-317500" algn="l" rtl="0">
              <a:spcBef>
                <a:spcPts val="0"/>
              </a:spcBef>
              <a:spcAft>
                <a:spcPts val="0"/>
              </a:spcAft>
              <a:buSzPts val="1400"/>
              <a:buChar char="●"/>
            </a:pPr>
            <a:r>
              <a:rPr lang="en" sz="1400" dirty="0"/>
              <a:t>The string representation of a node should match the following format: </a:t>
            </a:r>
            <a:r>
              <a:rPr lang="en" sz="1400" dirty="0">
                <a:latin typeface="Courier New"/>
                <a:ea typeface="Courier New"/>
                <a:cs typeface="Courier New"/>
                <a:sym typeface="Courier New"/>
              </a:rPr>
              <a:t>"&lt;value&gt; -&gt; &lt;next&gt;"</a:t>
            </a:r>
            <a:endParaRPr sz="1400" dirty="0">
              <a:latin typeface="Courier New"/>
              <a:ea typeface="Courier New"/>
              <a:cs typeface="Courier New"/>
              <a:sym typeface="Courier New"/>
            </a:endParaRPr>
          </a:p>
          <a:p>
            <a:pPr marL="914400" lvl="1" indent="-317500" algn="l" rtl="0">
              <a:spcBef>
                <a:spcPts val="0"/>
              </a:spcBef>
              <a:spcAft>
                <a:spcPts val="0"/>
              </a:spcAft>
              <a:buSzPts val="1400"/>
              <a:buChar char="○"/>
            </a:pPr>
            <a:r>
              <a:rPr lang="en" sz="1400" dirty="0"/>
              <a:t>e.g. </a:t>
            </a:r>
            <a:r>
              <a:rPr lang="en" sz="1400" dirty="0">
                <a:latin typeface="Courier New"/>
                <a:ea typeface="Courier New"/>
                <a:cs typeface="Courier New"/>
                <a:sym typeface="Courier New"/>
              </a:rPr>
              <a:t>"5 -&gt; 4 -&gt; null"</a:t>
            </a:r>
            <a:endParaRPr sz="1400" dirty="0">
              <a:latin typeface="Courier New"/>
              <a:ea typeface="Courier New"/>
              <a:cs typeface="Courier New"/>
              <a:sym typeface="Courier New"/>
            </a:endParaRPr>
          </a:p>
          <a:p>
            <a:pPr marL="457200" lvl="0" indent="-317500" algn="l" rtl="0">
              <a:spcBef>
                <a:spcPts val="0"/>
              </a:spcBef>
              <a:spcAft>
                <a:spcPts val="0"/>
              </a:spcAft>
              <a:buSzPts val="1400"/>
              <a:buChar char="●"/>
            </a:pPr>
            <a:r>
              <a:rPr lang="en" sz="1400" dirty="0"/>
              <a:t>Define a </a:t>
            </a:r>
            <a:r>
              <a:rPr lang="en" sz="1400" dirty="0">
                <a:solidFill>
                  <a:srgbClr val="FF0000"/>
                </a:solidFill>
                <a:latin typeface="Courier New"/>
                <a:ea typeface="Courier New"/>
                <a:cs typeface="Courier New"/>
                <a:sym typeface="Courier New"/>
              </a:rPr>
              <a:t>main</a:t>
            </a:r>
            <a:r>
              <a:rPr lang="en" sz="1400" dirty="0"/>
              <a:t> method with an appropriate signature and use it to test your new </a:t>
            </a:r>
            <a:r>
              <a:rPr lang="en" sz="1400" dirty="0">
                <a:latin typeface="Courier New"/>
                <a:ea typeface="Courier New"/>
                <a:cs typeface="Courier New"/>
                <a:sym typeface="Courier New"/>
              </a:rPr>
              <a:t>Node</a:t>
            </a:r>
            <a:r>
              <a:rPr lang="en" sz="1400" dirty="0"/>
              <a:t> class.</a:t>
            </a:r>
            <a:endParaRPr sz="1400" b="1" dirty="0"/>
          </a:p>
        </p:txBody>
      </p:sp>
      <p:sp>
        <p:nvSpPr>
          <p:cNvPr id="429" name="Google Shape;429;p6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Node Class</a:t>
            </a:r>
            <a:endParaRPr/>
          </a:p>
        </p:txBody>
      </p:sp>
      <p:sp>
        <p:nvSpPr>
          <p:cNvPr id="430" name="Google Shape;430;p6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5.3</a:t>
            </a:r>
            <a:endParaRPr/>
          </a:p>
        </p:txBody>
      </p:sp>
      <p:graphicFrame>
        <p:nvGraphicFramePr>
          <p:cNvPr id="431" name="Google Shape;431;p67"/>
          <p:cNvGraphicFramePr/>
          <p:nvPr/>
        </p:nvGraphicFramePr>
        <p:xfrm>
          <a:off x="281200" y="1619250"/>
          <a:ext cx="3057700" cy="2331660"/>
        </p:xfrm>
        <a:graphic>
          <a:graphicData uri="http://schemas.openxmlformats.org/drawingml/2006/table">
            <a:tbl>
              <a:tblPr>
                <a:noFill/>
                <a:tableStyleId>{5D16334A-BD30-4DCF-A821-F696FD12572A}</a:tableStyleId>
              </a:tblPr>
              <a:tblGrid>
                <a:gridCol w="3057700">
                  <a:extLst>
                    <a:ext uri="{9D8B030D-6E8A-4147-A177-3AD203B41FA5}">
                      <a16:colId xmlns:a16="http://schemas.microsoft.com/office/drawing/2014/main" val="20000"/>
                    </a:ext>
                  </a:extLst>
                </a:gridCol>
              </a:tblGrid>
              <a:tr h="38100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Node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 value: String</a:t>
                      </a:r>
                      <a:endParaRPr sz="10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 next: Node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280125">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dirty="0">
                          <a:latin typeface="Consolas"/>
                          <a:ea typeface="Consolas"/>
                          <a:cs typeface="Consolas"/>
                          <a:sym typeface="Consolas"/>
                        </a:rPr>
                        <a:t>+ &lt;&lt;create&gt;&gt; Node(value: String)</a:t>
                      </a:r>
                      <a:endParaRPr sz="1200" u="none" strike="noStrike" cap="none" dirty="0">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200" u="none" strike="noStrike" cap="none" dirty="0">
                          <a:latin typeface="Consolas"/>
                          <a:ea typeface="Consolas"/>
                          <a:cs typeface="Consolas"/>
                          <a:sym typeface="Consolas"/>
                        </a:rPr>
                        <a:t>+ &lt;&lt;create&gt;&gt; Node(value: String, </a:t>
                      </a:r>
                      <a:endParaRPr sz="1200" u="none" strike="noStrike" cap="none" dirty="0">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200" dirty="0">
                          <a:latin typeface="Consolas"/>
                          <a:ea typeface="Consolas"/>
                          <a:cs typeface="Consolas"/>
                          <a:sym typeface="Consolas"/>
                        </a:rPr>
                        <a:t>                  </a:t>
                      </a:r>
                      <a:r>
                        <a:rPr lang="en" sz="1200" u="none" strike="noStrike" cap="none" dirty="0">
                          <a:latin typeface="Consolas"/>
                          <a:ea typeface="Consolas"/>
                          <a:cs typeface="Consolas"/>
                          <a:sym typeface="Consolas"/>
                        </a:rPr>
                        <a:t>next: Node)</a:t>
                      </a:r>
                      <a:endParaRPr sz="1200" u="none" strike="noStrike" cap="none" dirty="0">
                        <a:latin typeface="Consolas"/>
                        <a:ea typeface="Consolas"/>
                        <a:cs typeface="Consolas"/>
                        <a:sym typeface="Consolas"/>
                      </a:endParaRPr>
                    </a:p>
                    <a:p>
                      <a:pPr marL="0" lvl="0" indent="0" algn="l" rtl="0">
                        <a:spcBef>
                          <a:spcPts val="0"/>
                        </a:spcBef>
                        <a:spcAft>
                          <a:spcPts val="0"/>
                        </a:spcAft>
                        <a:buClr>
                          <a:srgbClr val="000000"/>
                        </a:buClr>
                        <a:buSzPts val="1000"/>
                        <a:buFont typeface="Arial"/>
                        <a:buNone/>
                      </a:pPr>
                      <a:r>
                        <a:rPr lang="en" sz="1200" dirty="0">
                          <a:latin typeface="Consolas"/>
                          <a:ea typeface="Consolas"/>
                          <a:cs typeface="Consolas"/>
                          <a:sym typeface="Consolas"/>
                        </a:rPr>
                        <a:t>+ setValue(value: String)</a:t>
                      </a:r>
                      <a:endParaRPr sz="1200" dirty="0">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200" u="none" strike="noStrike" cap="none" dirty="0">
                          <a:latin typeface="Consolas"/>
                          <a:ea typeface="Consolas"/>
                          <a:cs typeface="Consolas"/>
                          <a:sym typeface="Consolas"/>
                        </a:rPr>
                        <a:t>+ getValue(): String</a:t>
                      </a:r>
                      <a:endParaRPr sz="1200" dirty="0">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200" u="none" strike="noStrike" cap="none" dirty="0">
                          <a:latin typeface="Consolas"/>
                          <a:ea typeface="Consolas"/>
                          <a:cs typeface="Consolas"/>
                          <a:sym typeface="Consolas"/>
                        </a:rPr>
                        <a:t>+ setNext(next: Node)</a:t>
                      </a:r>
                      <a:endParaRPr sz="1200" u="none" strike="noStrike" cap="none" dirty="0">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200" u="none" strike="noStrike" cap="none" dirty="0">
                          <a:latin typeface="Consolas"/>
                          <a:ea typeface="Consolas"/>
                          <a:cs typeface="Consolas"/>
                          <a:sym typeface="Consolas"/>
                        </a:rPr>
                        <a:t>+ getNext(): Node</a:t>
                      </a:r>
                      <a:endParaRPr sz="1200" u="none" strike="noStrike" cap="none" dirty="0">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cxnSp>
        <p:nvCxnSpPr>
          <p:cNvPr id="436" name="Google Shape;436;p68"/>
          <p:cNvCxnSpPr/>
          <p:nvPr/>
        </p:nvCxnSpPr>
        <p:spPr>
          <a:xfrm rot="10800000">
            <a:off x="5137214" y="2581000"/>
            <a:ext cx="3814500" cy="0"/>
          </a:xfrm>
          <a:prstGeom prst="straightConnector1">
            <a:avLst/>
          </a:prstGeom>
          <a:noFill/>
          <a:ln w="76200" cap="flat" cmpd="sng">
            <a:solidFill>
              <a:srgbClr val="FF9900"/>
            </a:solidFill>
            <a:prstDash val="solid"/>
            <a:round/>
            <a:headEnd type="none" w="sm" len="sm"/>
            <a:tailEnd type="triangle" w="med" len="med"/>
          </a:ln>
        </p:spPr>
      </p:cxnSp>
      <p:sp>
        <p:nvSpPr>
          <p:cNvPr id="437" name="Google Shape;437;p68"/>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000"/>
              <a:buNone/>
            </a:pPr>
            <a:fld id="{00000000-1234-1234-1234-123412341234}" type="slidenum">
              <a:rPr lang="en"/>
              <a:t>11</a:t>
            </a:fld>
            <a:endParaRPr/>
          </a:p>
        </p:txBody>
      </p:sp>
      <p:sp>
        <p:nvSpPr>
          <p:cNvPr id="438" name="Google Shape;438;p68"/>
          <p:cNvSpPr txBox="1">
            <a:spLocks noGrp="1"/>
          </p:cNvSpPr>
          <p:nvPr>
            <p:ph type="title"/>
          </p:nvPr>
        </p:nvSpPr>
        <p:spPr>
          <a:xfrm>
            <a:off x="5188525" y="437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dirty="0"/>
              <a:t>Queues</a:t>
            </a:r>
            <a:endParaRPr dirty="0"/>
          </a:p>
        </p:txBody>
      </p:sp>
      <p:sp>
        <p:nvSpPr>
          <p:cNvPr id="439" name="Google Shape;439;p68"/>
          <p:cNvSpPr txBox="1">
            <a:spLocks noGrp="1"/>
          </p:cNvSpPr>
          <p:nvPr>
            <p:ph type="body" idx="1"/>
          </p:nvPr>
        </p:nvSpPr>
        <p:spPr>
          <a:xfrm>
            <a:off x="301275" y="43725"/>
            <a:ext cx="4405200" cy="50487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A </a:t>
            </a:r>
            <a:r>
              <a:rPr lang="en" b="1" i="1" dirty="0">
                <a:solidFill>
                  <a:srgbClr val="FF0000"/>
                </a:solidFill>
                <a:highlight>
                  <a:srgbClr val="FFFF00"/>
                </a:highlight>
              </a:rPr>
              <a:t>queue</a:t>
            </a:r>
            <a:r>
              <a:rPr lang="en" dirty="0">
                <a:solidFill>
                  <a:srgbClr val="FF0000"/>
                </a:solidFill>
              </a:rPr>
              <a:t> </a:t>
            </a:r>
            <a:r>
              <a:rPr lang="en" dirty="0"/>
              <a:t>is an abstract data type that provides at least the following operations:</a:t>
            </a:r>
            <a:endParaRPr dirty="0"/>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enqueue</a:t>
            </a:r>
            <a:r>
              <a:rPr lang="en" dirty="0">
                <a:solidFill>
                  <a:srgbClr val="FF0000"/>
                </a:solidFill>
              </a:rPr>
              <a:t> </a:t>
            </a:r>
            <a:r>
              <a:rPr lang="en" dirty="0"/>
              <a:t>- adds an element to the </a:t>
            </a:r>
            <a:r>
              <a:rPr lang="en" b="1" i="1" dirty="0">
                <a:solidFill>
                  <a:srgbClr val="FF0000"/>
                </a:solidFill>
              </a:rPr>
              <a:t>back</a:t>
            </a:r>
            <a:r>
              <a:rPr lang="en" dirty="0">
                <a:solidFill>
                  <a:srgbClr val="FF0000"/>
                </a:solidFill>
              </a:rPr>
              <a:t> </a:t>
            </a:r>
            <a:r>
              <a:rPr lang="en" dirty="0"/>
              <a:t>of the queue.</a:t>
            </a:r>
            <a:endParaRPr dirty="0"/>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dequeue</a:t>
            </a:r>
            <a:r>
              <a:rPr lang="en" dirty="0">
                <a:solidFill>
                  <a:srgbClr val="FF0000"/>
                </a:solidFill>
              </a:rPr>
              <a:t> </a:t>
            </a:r>
            <a:r>
              <a:rPr lang="en" dirty="0"/>
              <a:t>- removes an element from the </a:t>
            </a:r>
            <a:r>
              <a:rPr lang="en" b="1" i="1" dirty="0">
                <a:solidFill>
                  <a:srgbClr val="FF0000"/>
                </a:solidFill>
              </a:rPr>
              <a:t>front</a:t>
            </a:r>
            <a:r>
              <a:rPr lang="en" dirty="0">
                <a:solidFill>
                  <a:srgbClr val="FF0000"/>
                </a:solidFill>
              </a:rPr>
              <a:t> </a:t>
            </a:r>
            <a:r>
              <a:rPr lang="en" dirty="0"/>
              <a:t>of the queue.</a:t>
            </a:r>
            <a:endParaRPr dirty="0"/>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size</a:t>
            </a:r>
            <a:r>
              <a:rPr lang="en" dirty="0">
                <a:solidFill>
                  <a:srgbClr val="FF0000"/>
                </a:solidFill>
              </a:rPr>
              <a:t> </a:t>
            </a:r>
            <a:r>
              <a:rPr lang="en" dirty="0"/>
              <a:t>- returns the number of elements currently in the queue.</a:t>
            </a:r>
            <a:endParaRPr dirty="0"/>
          </a:p>
          <a:p>
            <a:pPr marL="457200" lvl="0" indent="-311150" algn="l" rtl="0">
              <a:lnSpc>
                <a:spcPct val="100000"/>
              </a:lnSpc>
              <a:spcBef>
                <a:spcPts val="1000"/>
              </a:spcBef>
              <a:spcAft>
                <a:spcPts val="0"/>
              </a:spcAft>
              <a:buSzPts val="1300"/>
              <a:buChar char="●"/>
            </a:pPr>
            <a:r>
              <a:rPr lang="en" dirty="0"/>
              <a:t>A queue </a:t>
            </a:r>
            <a:r>
              <a:rPr lang="en" b="1" i="1" dirty="0">
                <a:solidFill>
                  <a:srgbClr val="FF0000"/>
                </a:solidFill>
              </a:rPr>
              <a:t>may</a:t>
            </a:r>
            <a:r>
              <a:rPr lang="en" dirty="0">
                <a:solidFill>
                  <a:srgbClr val="FF0000"/>
                </a:solidFill>
              </a:rPr>
              <a:t> </a:t>
            </a:r>
            <a:r>
              <a:rPr lang="en" dirty="0"/>
              <a:t>also provide additional operations:</a:t>
            </a:r>
            <a:endParaRPr dirty="0"/>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front</a:t>
            </a:r>
            <a:r>
              <a:rPr lang="en" dirty="0">
                <a:solidFill>
                  <a:srgbClr val="FF0000"/>
                </a:solidFill>
              </a:rPr>
              <a:t> </a:t>
            </a:r>
            <a:r>
              <a:rPr lang="en" dirty="0"/>
              <a:t>- returns but does not remove the element at the front of the queue.</a:t>
            </a:r>
            <a:endParaRPr dirty="0"/>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back</a:t>
            </a:r>
            <a:r>
              <a:rPr lang="en" dirty="0">
                <a:solidFill>
                  <a:srgbClr val="FF0000"/>
                </a:solidFill>
              </a:rPr>
              <a:t> </a:t>
            </a:r>
            <a:r>
              <a:rPr lang="en" dirty="0"/>
              <a:t>- returns but does not remove the element at the back of the queue.</a:t>
            </a:r>
            <a:endParaRPr dirty="0"/>
          </a:p>
          <a:p>
            <a:pPr marL="914400" lvl="1" indent="-298450" algn="l" rtl="0">
              <a:lnSpc>
                <a:spcPct val="100000"/>
              </a:lnSpc>
              <a:spcBef>
                <a:spcPts val="0"/>
              </a:spcBef>
              <a:spcAft>
                <a:spcPts val="0"/>
              </a:spcAft>
              <a:buSzPts val="1100"/>
              <a:buChar char="○"/>
            </a:pPr>
            <a:r>
              <a:rPr lang="en" b="1" i="1" dirty="0">
                <a:solidFill>
                  <a:srgbClr val="FF0000"/>
                </a:solidFill>
                <a:highlight>
                  <a:srgbClr val="FFFF00"/>
                </a:highlight>
              </a:rPr>
              <a:t>is empty</a:t>
            </a:r>
            <a:r>
              <a:rPr lang="en" dirty="0">
                <a:highlight>
                  <a:srgbClr val="FFFF00"/>
                </a:highlight>
              </a:rPr>
              <a:t> </a:t>
            </a:r>
            <a:r>
              <a:rPr lang="en" dirty="0"/>
              <a:t>- returns </a:t>
            </a:r>
            <a:r>
              <a:rPr lang="en" dirty="0">
                <a:latin typeface="Courier New"/>
                <a:ea typeface="Courier New"/>
                <a:cs typeface="Courier New"/>
                <a:sym typeface="Courier New"/>
              </a:rPr>
              <a:t>true</a:t>
            </a:r>
            <a:r>
              <a:rPr lang="en" dirty="0"/>
              <a:t> if the queue is empty, and </a:t>
            </a:r>
            <a:r>
              <a:rPr lang="en" dirty="0">
                <a:latin typeface="Courier New"/>
                <a:ea typeface="Courier New"/>
                <a:cs typeface="Courier New"/>
                <a:sym typeface="Courier New"/>
              </a:rPr>
              <a:t>false</a:t>
            </a:r>
            <a:r>
              <a:rPr lang="en" dirty="0"/>
              <a:t> otherwise.</a:t>
            </a:r>
            <a:endParaRPr dirty="0"/>
          </a:p>
          <a:p>
            <a:pPr marL="457200" lvl="0" indent="-311150" algn="l" rtl="0">
              <a:lnSpc>
                <a:spcPct val="100000"/>
              </a:lnSpc>
              <a:spcBef>
                <a:spcPts val="1000"/>
              </a:spcBef>
              <a:spcAft>
                <a:spcPts val="0"/>
              </a:spcAft>
              <a:buSzPts val="1300"/>
              <a:buChar char="●"/>
            </a:pPr>
            <a:r>
              <a:rPr lang="en" dirty="0"/>
              <a:t>A queue stores its elements in </a:t>
            </a:r>
            <a:r>
              <a:rPr lang="en" b="1" i="1" u="sng" dirty="0">
                <a:solidFill>
                  <a:srgbClr val="FF0000"/>
                </a:solidFill>
              </a:rPr>
              <a:t>F</a:t>
            </a:r>
            <a:r>
              <a:rPr lang="en" b="1" i="1" dirty="0">
                <a:solidFill>
                  <a:srgbClr val="FF0000"/>
                </a:solidFill>
              </a:rPr>
              <a:t>irst-</a:t>
            </a:r>
            <a:r>
              <a:rPr lang="en" b="1" i="1" u="sng" dirty="0">
                <a:solidFill>
                  <a:srgbClr val="FF0000"/>
                </a:solidFill>
              </a:rPr>
              <a:t>I</a:t>
            </a:r>
            <a:r>
              <a:rPr lang="en" b="1" i="1" dirty="0">
                <a:solidFill>
                  <a:srgbClr val="FF0000"/>
                </a:solidFill>
              </a:rPr>
              <a:t>n, </a:t>
            </a:r>
            <a:r>
              <a:rPr lang="en" b="1" i="1" u="sng" dirty="0">
                <a:solidFill>
                  <a:srgbClr val="FF0000"/>
                </a:solidFill>
              </a:rPr>
              <a:t>F</a:t>
            </a:r>
            <a:r>
              <a:rPr lang="en" b="1" i="1" dirty="0">
                <a:solidFill>
                  <a:srgbClr val="FF0000"/>
                </a:solidFill>
              </a:rPr>
              <a:t>irst-</a:t>
            </a:r>
            <a:r>
              <a:rPr lang="en" b="1" i="1" u="sng" dirty="0">
                <a:solidFill>
                  <a:srgbClr val="FF0000"/>
                </a:solidFill>
              </a:rPr>
              <a:t>O</a:t>
            </a:r>
            <a:r>
              <a:rPr lang="en" b="1" i="1" dirty="0">
                <a:solidFill>
                  <a:srgbClr val="FF0000"/>
                </a:solidFill>
              </a:rPr>
              <a:t>ut</a:t>
            </a:r>
            <a:r>
              <a:rPr lang="en" dirty="0"/>
              <a:t> (</a:t>
            </a:r>
            <a:r>
              <a:rPr lang="en" b="1" i="1" dirty="0">
                <a:solidFill>
                  <a:srgbClr val="FF0000"/>
                </a:solidFill>
              </a:rPr>
              <a:t>FIFO</a:t>
            </a:r>
            <a:r>
              <a:rPr lang="en" dirty="0"/>
              <a:t>) order.</a:t>
            </a:r>
            <a:endParaRPr dirty="0"/>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rPr>
              <a:t>first</a:t>
            </a:r>
            <a:r>
              <a:rPr lang="en" dirty="0">
                <a:solidFill>
                  <a:srgbClr val="FF0000"/>
                </a:solidFill>
              </a:rPr>
              <a:t> </a:t>
            </a:r>
            <a:r>
              <a:rPr lang="en" dirty="0"/>
              <a:t>element to be enqueued is the </a:t>
            </a:r>
            <a:r>
              <a:rPr lang="en" b="1" i="1" dirty="0">
                <a:solidFill>
                  <a:srgbClr val="FF0000"/>
                </a:solidFill>
              </a:rPr>
              <a:t>first</a:t>
            </a:r>
            <a:r>
              <a:rPr lang="en" dirty="0">
                <a:solidFill>
                  <a:srgbClr val="FF0000"/>
                </a:solidFill>
              </a:rPr>
              <a:t> </a:t>
            </a:r>
            <a:r>
              <a:rPr lang="en" dirty="0"/>
              <a:t>element to be dequeued.</a:t>
            </a:r>
            <a:endParaRPr dirty="0"/>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rPr>
              <a:t>last</a:t>
            </a:r>
            <a:r>
              <a:rPr lang="en" dirty="0">
                <a:solidFill>
                  <a:srgbClr val="FF0000"/>
                </a:solidFill>
              </a:rPr>
              <a:t> </a:t>
            </a:r>
            <a:r>
              <a:rPr lang="en" dirty="0"/>
              <a:t>element to be enqueued is the </a:t>
            </a:r>
            <a:r>
              <a:rPr lang="en" b="1" i="1" dirty="0">
                <a:solidFill>
                  <a:srgbClr val="FF0000"/>
                </a:solidFill>
              </a:rPr>
              <a:t>last</a:t>
            </a:r>
            <a:r>
              <a:rPr lang="en" dirty="0">
                <a:solidFill>
                  <a:srgbClr val="FF0000"/>
                </a:solidFill>
              </a:rPr>
              <a:t> </a:t>
            </a:r>
            <a:r>
              <a:rPr lang="en" dirty="0"/>
              <a:t>element to be dequeued.</a:t>
            </a:r>
            <a:endParaRPr dirty="0"/>
          </a:p>
          <a:p>
            <a:pPr marL="457200" lvl="0" indent="-311150" algn="l" rtl="0">
              <a:lnSpc>
                <a:spcPct val="100000"/>
              </a:lnSpc>
              <a:spcBef>
                <a:spcPts val="1000"/>
              </a:spcBef>
              <a:spcAft>
                <a:spcPts val="0"/>
              </a:spcAft>
              <a:buSzPts val="1300"/>
              <a:buChar char="●"/>
            </a:pPr>
            <a:r>
              <a:rPr lang="en" dirty="0"/>
              <a:t>The queue abstract data type </a:t>
            </a:r>
            <a:r>
              <a:rPr lang="en" b="1" i="1" dirty="0">
                <a:solidFill>
                  <a:srgbClr val="FF0000"/>
                </a:solidFill>
                <a:highlight>
                  <a:srgbClr val="FFFF00"/>
                </a:highlight>
              </a:rPr>
              <a:t>defines</a:t>
            </a:r>
            <a:r>
              <a:rPr lang="en" dirty="0">
                <a:solidFill>
                  <a:srgbClr val="FF0000"/>
                </a:solidFill>
              </a:rPr>
              <a:t> </a:t>
            </a:r>
            <a:r>
              <a:rPr lang="en" dirty="0"/>
              <a:t>its behavior from the perspective of its user, but does not include </a:t>
            </a:r>
            <a:r>
              <a:rPr lang="en" b="1" i="1" dirty="0">
                <a:solidFill>
                  <a:srgbClr val="FF0000"/>
                </a:solidFill>
                <a:highlight>
                  <a:srgbClr val="FFFF00"/>
                </a:highlight>
              </a:rPr>
              <a:t>implementation</a:t>
            </a:r>
            <a:r>
              <a:rPr lang="en" b="1" i="1" dirty="0">
                <a:solidFill>
                  <a:srgbClr val="FF0000"/>
                </a:solidFill>
              </a:rPr>
              <a:t> </a:t>
            </a:r>
            <a:r>
              <a:rPr lang="en" dirty="0"/>
              <a:t>details.</a:t>
            </a:r>
            <a:endParaRPr dirty="0"/>
          </a:p>
          <a:p>
            <a:pPr marL="914400" lvl="1" indent="-298450" algn="l" rtl="0">
              <a:lnSpc>
                <a:spcPct val="100000"/>
              </a:lnSpc>
              <a:spcBef>
                <a:spcPts val="0"/>
              </a:spcBef>
              <a:spcAft>
                <a:spcPts val="0"/>
              </a:spcAft>
              <a:buSzPts val="1100"/>
              <a:buChar char="○"/>
            </a:pPr>
            <a:r>
              <a:rPr lang="en" dirty="0"/>
              <a:t>What Java feature can be used to </a:t>
            </a:r>
            <a:r>
              <a:rPr lang="en" b="1" i="1" dirty="0">
                <a:solidFill>
                  <a:srgbClr val="FF0000"/>
                </a:solidFill>
              </a:rPr>
              <a:t>define</a:t>
            </a:r>
            <a:r>
              <a:rPr lang="en" dirty="0">
                <a:solidFill>
                  <a:srgbClr val="FF0000"/>
                </a:solidFill>
              </a:rPr>
              <a:t> </a:t>
            </a:r>
            <a:r>
              <a:rPr lang="en" dirty="0"/>
              <a:t>required behavior without providing an </a:t>
            </a:r>
            <a:r>
              <a:rPr lang="en" b="1" i="1" dirty="0">
                <a:solidFill>
                  <a:srgbClr val="FF0000"/>
                </a:solidFill>
              </a:rPr>
              <a:t>implementation</a:t>
            </a:r>
            <a:r>
              <a:rPr lang="en" dirty="0"/>
              <a:t>?</a:t>
            </a:r>
            <a:endParaRPr dirty="0"/>
          </a:p>
        </p:txBody>
      </p:sp>
      <p:sp>
        <p:nvSpPr>
          <p:cNvPr id="440" name="Google Shape;440;p68"/>
          <p:cNvSpPr txBox="1">
            <a:spLocks noGrp="1"/>
          </p:cNvSpPr>
          <p:nvPr>
            <p:ph type="body" idx="3"/>
          </p:nvPr>
        </p:nvSpPr>
        <p:spPr>
          <a:xfrm>
            <a:off x="5188525" y="687725"/>
            <a:ext cx="3706500" cy="50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A real-world analog for a queue is a line at the bank, a grocery store checkout, or the DMV.</a:t>
            </a:r>
            <a:endParaRPr sz="1200"/>
          </a:p>
        </p:txBody>
      </p:sp>
      <p:pic>
        <p:nvPicPr>
          <p:cNvPr id="441" name="Google Shape;441;p68"/>
          <p:cNvPicPr preferRelativeResize="0"/>
          <p:nvPr/>
        </p:nvPicPr>
        <p:blipFill rotWithShape="1">
          <a:blip r:embed="rId3">
            <a:alphaModFix/>
          </a:blip>
          <a:srcRect/>
          <a:stretch/>
        </p:blipFill>
        <p:spPr>
          <a:xfrm>
            <a:off x="8137813" y="1960036"/>
            <a:ext cx="685875" cy="1197764"/>
          </a:xfrm>
          <a:prstGeom prst="rect">
            <a:avLst/>
          </a:prstGeom>
          <a:noFill/>
          <a:ln>
            <a:noFill/>
          </a:ln>
        </p:spPr>
      </p:pic>
      <p:pic>
        <p:nvPicPr>
          <p:cNvPr id="442" name="Google Shape;442;p68"/>
          <p:cNvPicPr preferRelativeResize="0"/>
          <p:nvPr/>
        </p:nvPicPr>
        <p:blipFill rotWithShape="1">
          <a:blip r:embed="rId4">
            <a:alphaModFix/>
          </a:blip>
          <a:srcRect/>
          <a:stretch/>
        </p:blipFill>
        <p:spPr>
          <a:xfrm>
            <a:off x="5897094" y="1960028"/>
            <a:ext cx="685878" cy="1197775"/>
          </a:xfrm>
          <a:prstGeom prst="rect">
            <a:avLst/>
          </a:prstGeom>
          <a:noFill/>
          <a:ln>
            <a:noFill/>
          </a:ln>
        </p:spPr>
      </p:pic>
      <p:pic>
        <p:nvPicPr>
          <p:cNvPr id="443" name="Google Shape;443;p68"/>
          <p:cNvPicPr preferRelativeResize="0"/>
          <p:nvPr/>
        </p:nvPicPr>
        <p:blipFill rotWithShape="1">
          <a:blip r:embed="rId5">
            <a:alphaModFix/>
          </a:blip>
          <a:srcRect/>
          <a:stretch/>
        </p:blipFill>
        <p:spPr>
          <a:xfrm>
            <a:off x="5320131" y="1960037"/>
            <a:ext cx="456704" cy="1197774"/>
          </a:xfrm>
          <a:prstGeom prst="rect">
            <a:avLst/>
          </a:prstGeom>
          <a:noFill/>
          <a:ln>
            <a:noFill/>
          </a:ln>
        </p:spPr>
      </p:pic>
      <p:pic>
        <p:nvPicPr>
          <p:cNvPr id="444" name="Google Shape;444;p68"/>
          <p:cNvPicPr preferRelativeResize="0"/>
          <p:nvPr/>
        </p:nvPicPr>
        <p:blipFill rotWithShape="1">
          <a:blip r:embed="rId6">
            <a:alphaModFix/>
          </a:blip>
          <a:srcRect/>
          <a:stretch/>
        </p:blipFill>
        <p:spPr>
          <a:xfrm>
            <a:off x="6682577" y="1960025"/>
            <a:ext cx="570161" cy="1197774"/>
          </a:xfrm>
          <a:prstGeom prst="rect">
            <a:avLst/>
          </a:prstGeom>
          <a:noFill/>
          <a:ln>
            <a:noFill/>
          </a:ln>
        </p:spPr>
      </p:pic>
      <p:pic>
        <p:nvPicPr>
          <p:cNvPr id="445" name="Google Shape;445;p68"/>
          <p:cNvPicPr preferRelativeResize="0"/>
          <p:nvPr/>
        </p:nvPicPr>
        <p:blipFill rotWithShape="1">
          <a:blip r:embed="rId7">
            <a:alphaModFix/>
          </a:blip>
          <a:srcRect/>
          <a:stretch/>
        </p:blipFill>
        <p:spPr>
          <a:xfrm>
            <a:off x="7295295" y="1960022"/>
            <a:ext cx="799949" cy="1197774"/>
          </a:xfrm>
          <a:prstGeom prst="rect">
            <a:avLst/>
          </a:prstGeom>
          <a:noFill/>
          <a:ln>
            <a:noFill/>
          </a:ln>
        </p:spPr>
      </p:pic>
      <p:sp>
        <p:nvSpPr>
          <p:cNvPr id="446" name="Google Shape;446;p68"/>
          <p:cNvSpPr txBox="1">
            <a:spLocks noGrp="1"/>
          </p:cNvSpPr>
          <p:nvPr>
            <p:ph type="body" idx="3"/>
          </p:nvPr>
        </p:nvSpPr>
        <p:spPr>
          <a:xfrm>
            <a:off x="5191225" y="3272475"/>
            <a:ext cx="3706500" cy="50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highlight>
                  <a:srgbClr val="FFFF00"/>
                </a:highlight>
              </a:rPr>
              <a:t>The person that is </a:t>
            </a:r>
            <a:r>
              <a:rPr lang="en" sz="1200" b="1" i="1" dirty="0">
                <a:solidFill>
                  <a:srgbClr val="FF0000"/>
                </a:solidFill>
                <a:highlight>
                  <a:srgbClr val="FFFF00"/>
                </a:highlight>
              </a:rPr>
              <a:t>first-in</a:t>
            </a:r>
            <a:r>
              <a:rPr lang="en" sz="1200" dirty="0">
                <a:highlight>
                  <a:srgbClr val="FFFF00"/>
                </a:highlight>
              </a:rPr>
              <a:t> the line is the person that is </a:t>
            </a:r>
            <a:r>
              <a:rPr lang="en" sz="1200" b="1" i="1" dirty="0">
                <a:solidFill>
                  <a:srgbClr val="FF0000"/>
                </a:solidFill>
                <a:highlight>
                  <a:srgbClr val="FFFF00"/>
                </a:highlight>
              </a:rPr>
              <a:t>first-out</a:t>
            </a:r>
            <a:r>
              <a:rPr lang="en" sz="1200" dirty="0">
                <a:highlight>
                  <a:srgbClr val="FFFF00"/>
                </a:highlight>
              </a:rPr>
              <a:t> when the next employee is available.</a:t>
            </a:r>
            <a:endParaRPr sz="1200" dirty="0">
              <a:highlight>
                <a:srgbClr val="FFFF00"/>
              </a:highlight>
            </a:endParaRPr>
          </a:p>
        </p:txBody>
      </p:sp>
      <p:sp>
        <p:nvSpPr>
          <p:cNvPr id="447" name="Google Shape;447;p68"/>
          <p:cNvSpPr txBox="1">
            <a:spLocks noGrp="1"/>
          </p:cNvSpPr>
          <p:nvPr>
            <p:ph type="body" idx="3"/>
          </p:nvPr>
        </p:nvSpPr>
        <p:spPr>
          <a:xfrm>
            <a:off x="5188525" y="1273224"/>
            <a:ext cx="3706500" cy="50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People get into line as they arrive, entering at the </a:t>
            </a:r>
            <a:r>
              <a:rPr lang="en" sz="1200" b="1" i="1">
                <a:solidFill>
                  <a:srgbClr val="FF0000"/>
                </a:solidFill>
              </a:rPr>
              <a:t>back</a:t>
            </a:r>
            <a:r>
              <a:rPr lang="en" sz="1200"/>
              <a:t>...</a:t>
            </a:r>
            <a:endParaRPr sz="1200"/>
          </a:p>
        </p:txBody>
      </p:sp>
      <p:sp>
        <p:nvSpPr>
          <p:cNvPr id="448" name="Google Shape;448;p68"/>
          <p:cNvSpPr txBox="1">
            <a:spLocks noGrp="1"/>
          </p:cNvSpPr>
          <p:nvPr>
            <p:ph type="body" idx="3"/>
          </p:nvPr>
        </p:nvSpPr>
        <p:spPr>
          <a:xfrm>
            <a:off x="5188525" y="3844900"/>
            <a:ext cx="3706500" cy="50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highlight>
                  <a:srgbClr val="FFFF00"/>
                </a:highlight>
              </a:rPr>
              <a:t>Another way to say this is that the person that has been in line the </a:t>
            </a:r>
            <a:r>
              <a:rPr lang="en" sz="1200" b="1" i="1" dirty="0">
                <a:solidFill>
                  <a:srgbClr val="FF0000"/>
                </a:solidFill>
                <a:highlight>
                  <a:srgbClr val="FFFF00"/>
                </a:highlight>
              </a:rPr>
              <a:t>longest </a:t>
            </a:r>
            <a:r>
              <a:rPr lang="en" sz="1200" dirty="0">
                <a:highlight>
                  <a:srgbClr val="FFFF00"/>
                </a:highlight>
              </a:rPr>
              <a:t>is the next to leave.</a:t>
            </a:r>
            <a:endParaRPr sz="1200" dirty="0">
              <a:highlight>
                <a:srgbClr val="FFFF00"/>
              </a:highlight>
            </a:endParaRPr>
          </a:p>
        </p:txBody>
      </p:sp>
      <p:sp>
        <p:nvSpPr>
          <p:cNvPr id="449" name="Google Shape;449;p68"/>
          <p:cNvSpPr txBox="1">
            <a:spLocks noGrp="1"/>
          </p:cNvSpPr>
          <p:nvPr>
            <p:ph type="body" idx="3"/>
          </p:nvPr>
        </p:nvSpPr>
        <p:spPr>
          <a:xfrm>
            <a:off x="5188525" y="4417325"/>
            <a:ext cx="3706500" cy="50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When people do leave, they leave from the </a:t>
            </a:r>
            <a:r>
              <a:rPr lang="en" sz="1200" b="1" i="1" dirty="0">
                <a:solidFill>
                  <a:srgbClr val="FF0000"/>
                </a:solidFill>
              </a:rPr>
              <a:t>front</a:t>
            </a:r>
            <a:r>
              <a:rPr lang="en" sz="1200" dirty="0">
                <a:solidFill>
                  <a:srgbClr val="FF0000"/>
                </a:solidFill>
              </a:rPr>
              <a:t> </a:t>
            </a:r>
            <a:r>
              <a:rPr lang="en" sz="1200" dirty="0"/>
              <a:t>of the line.</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3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3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3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40"/>
                                        </p:tgtEl>
                                        <p:attrNameLst>
                                          <p:attrName>style.visibility</p:attrName>
                                        </p:attrNameLst>
                                      </p:cBhvr>
                                      <p:to>
                                        <p:strVal val="visible"/>
                                      </p:to>
                                    </p:set>
                                    <p:animEffect transition="in" filter="fade">
                                      <p:cBhvr>
                                        <p:cTn id="59" dur="1000"/>
                                        <p:tgtEl>
                                          <p:spTgt spid="44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47"/>
                                        </p:tgtEl>
                                        <p:attrNameLst>
                                          <p:attrName>style.visibility</p:attrName>
                                        </p:attrNameLst>
                                      </p:cBhvr>
                                      <p:to>
                                        <p:strVal val="visible"/>
                                      </p:to>
                                    </p:set>
                                    <p:animEffect transition="in" filter="fade">
                                      <p:cBhvr>
                                        <p:cTn id="64" dur="1000"/>
                                        <p:tgtEl>
                                          <p:spTgt spid="447"/>
                                        </p:tgtEl>
                                      </p:cBhvr>
                                    </p:animEffect>
                                  </p:childTnLst>
                                </p:cTn>
                              </p:par>
                              <p:par>
                                <p:cTn id="65" presetID="10" presetClass="entr" presetSubtype="0" fill="hold" nodeType="withEffect">
                                  <p:stCondLst>
                                    <p:cond delay="0"/>
                                  </p:stCondLst>
                                  <p:childTnLst>
                                    <p:set>
                                      <p:cBhvr>
                                        <p:cTn id="66" dur="1" fill="hold">
                                          <p:stCondLst>
                                            <p:cond delay="0"/>
                                          </p:stCondLst>
                                        </p:cTn>
                                        <p:tgtEl>
                                          <p:spTgt spid="436"/>
                                        </p:tgtEl>
                                        <p:attrNameLst>
                                          <p:attrName>style.visibility</p:attrName>
                                        </p:attrNameLst>
                                      </p:cBhvr>
                                      <p:to>
                                        <p:strVal val="visible"/>
                                      </p:to>
                                    </p:set>
                                    <p:animEffect transition="in" filter="fade">
                                      <p:cBhvr>
                                        <p:cTn id="67" dur="1000"/>
                                        <p:tgtEl>
                                          <p:spTgt spid="436"/>
                                        </p:tgtEl>
                                      </p:cBhvr>
                                    </p:animEffect>
                                  </p:childTnLst>
                                </p:cTn>
                              </p:par>
                            </p:childTnLst>
                          </p:cTn>
                        </p:par>
                        <p:par>
                          <p:cTn id="68" fill="hold">
                            <p:stCondLst>
                              <p:cond delay="1000"/>
                            </p:stCondLst>
                            <p:childTnLst>
                              <p:par>
                                <p:cTn id="69" presetID="2" presetClass="entr" presetSubtype="2" fill="hold" nodeType="afterEffect">
                                  <p:stCondLst>
                                    <p:cond delay="0"/>
                                  </p:stCondLst>
                                  <p:childTnLst>
                                    <p:set>
                                      <p:cBhvr>
                                        <p:cTn id="70" dur="1" fill="hold">
                                          <p:stCondLst>
                                            <p:cond delay="0"/>
                                          </p:stCondLst>
                                        </p:cTn>
                                        <p:tgtEl>
                                          <p:spTgt spid="443"/>
                                        </p:tgtEl>
                                        <p:attrNameLst>
                                          <p:attrName>style.visibility</p:attrName>
                                        </p:attrNameLst>
                                      </p:cBhvr>
                                      <p:to>
                                        <p:strVal val="visible"/>
                                      </p:to>
                                    </p:set>
                                    <p:anim calcmode="lin" valueType="num">
                                      <p:cBhvr additive="base">
                                        <p:cTn id="71" dur="1000"/>
                                        <p:tgtEl>
                                          <p:spTgt spid="443"/>
                                        </p:tgtEl>
                                        <p:attrNameLst>
                                          <p:attrName>ppt_x</p:attrName>
                                        </p:attrNameLst>
                                      </p:cBhvr>
                                      <p:tavLst>
                                        <p:tav tm="0">
                                          <p:val>
                                            <p:strVal val="#ppt_x+1"/>
                                          </p:val>
                                        </p:tav>
                                        <p:tav tm="100000">
                                          <p:val>
                                            <p:strVal val="#ppt_x"/>
                                          </p:val>
                                        </p:tav>
                                      </p:tavLst>
                                    </p:anim>
                                  </p:childTnLst>
                                </p:cTn>
                              </p:par>
                            </p:childTnLst>
                          </p:cTn>
                        </p:par>
                        <p:par>
                          <p:cTn id="72" fill="hold">
                            <p:stCondLst>
                              <p:cond delay="2000"/>
                            </p:stCondLst>
                            <p:childTnLst>
                              <p:par>
                                <p:cTn id="73" presetID="2" presetClass="entr" presetSubtype="2" fill="hold" nodeType="afterEffect">
                                  <p:stCondLst>
                                    <p:cond delay="0"/>
                                  </p:stCondLst>
                                  <p:childTnLst>
                                    <p:set>
                                      <p:cBhvr>
                                        <p:cTn id="74" dur="1" fill="hold">
                                          <p:stCondLst>
                                            <p:cond delay="0"/>
                                          </p:stCondLst>
                                        </p:cTn>
                                        <p:tgtEl>
                                          <p:spTgt spid="442"/>
                                        </p:tgtEl>
                                        <p:attrNameLst>
                                          <p:attrName>style.visibility</p:attrName>
                                        </p:attrNameLst>
                                      </p:cBhvr>
                                      <p:to>
                                        <p:strVal val="visible"/>
                                      </p:to>
                                    </p:set>
                                    <p:anim calcmode="lin" valueType="num">
                                      <p:cBhvr additive="base">
                                        <p:cTn id="75" dur="1000"/>
                                        <p:tgtEl>
                                          <p:spTgt spid="442"/>
                                        </p:tgtEl>
                                        <p:attrNameLst>
                                          <p:attrName>ppt_x</p:attrName>
                                        </p:attrNameLst>
                                      </p:cBhvr>
                                      <p:tavLst>
                                        <p:tav tm="0">
                                          <p:val>
                                            <p:strVal val="#ppt_x+1"/>
                                          </p:val>
                                        </p:tav>
                                        <p:tav tm="100000">
                                          <p:val>
                                            <p:strVal val="#ppt_x"/>
                                          </p:val>
                                        </p:tav>
                                      </p:tavLst>
                                    </p:anim>
                                  </p:childTnLst>
                                </p:cTn>
                              </p:par>
                            </p:childTnLst>
                          </p:cTn>
                        </p:par>
                        <p:par>
                          <p:cTn id="76" fill="hold">
                            <p:stCondLst>
                              <p:cond delay="3000"/>
                            </p:stCondLst>
                            <p:childTnLst>
                              <p:par>
                                <p:cTn id="77" presetID="2" presetClass="entr" presetSubtype="2" fill="hold" nodeType="afterEffect">
                                  <p:stCondLst>
                                    <p:cond delay="0"/>
                                  </p:stCondLst>
                                  <p:childTnLst>
                                    <p:set>
                                      <p:cBhvr>
                                        <p:cTn id="78" dur="1" fill="hold">
                                          <p:stCondLst>
                                            <p:cond delay="0"/>
                                          </p:stCondLst>
                                        </p:cTn>
                                        <p:tgtEl>
                                          <p:spTgt spid="444"/>
                                        </p:tgtEl>
                                        <p:attrNameLst>
                                          <p:attrName>style.visibility</p:attrName>
                                        </p:attrNameLst>
                                      </p:cBhvr>
                                      <p:to>
                                        <p:strVal val="visible"/>
                                      </p:to>
                                    </p:set>
                                    <p:anim calcmode="lin" valueType="num">
                                      <p:cBhvr additive="base">
                                        <p:cTn id="79" dur="1000"/>
                                        <p:tgtEl>
                                          <p:spTgt spid="444"/>
                                        </p:tgtEl>
                                        <p:attrNameLst>
                                          <p:attrName>ppt_x</p:attrName>
                                        </p:attrNameLst>
                                      </p:cBhvr>
                                      <p:tavLst>
                                        <p:tav tm="0">
                                          <p:val>
                                            <p:strVal val="#ppt_x+1"/>
                                          </p:val>
                                        </p:tav>
                                        <p:tav tm="100000">
                                          <p:val>
                                            <p:strVal val="#ppt_x"/>
                                          </p:val>
                                        </p:tav>
                                      </p:tavLst>
                                    </p:anim>
                                  </p:childTnLst>
                                </p:cTn>
                              </p:par>
                            </p:childTnLst>
                          </p:cTn>
                        </p:par>
                        <p:par>
                          <p:cTn id="80" fill="hold">
                            <p:stCondLst>
                              <p:cond delay="4000"/>
                            </p:stCondLst>
                            <p:childTnLst>
                              <p:par>
                                <p:cTn id="81" presetID="2" presetClass="entr" presetSubtype="2" fill="hold" nodeType="afterEffect">
                                  <p:stCondLst>
                                    <p:cond delay="0"/>
                                  </p:stCondLst>
                                  <p:childTnLst>
                                    <p:set>
                                      <p:cBhvr>
                                        <p:cTn id="82" dur="1" fill="hold">
                                          <p:stCondLst>
                                            <p:cond delay="0"/>
                                          </p:stCondLst>
                                        </p:cTn>
                                        <p:tgtEl>
                                          <p:spTgt spid="445"/>
                                        </p:tgtEl>
                                        <p:attrNameLst>
                                          <p:attrName>style.visibility</p:attrName>
                                        </p:attrNameLst>
                                      </p:cBhvr>
                                      <p:to>
                                        <p:strVal val="visible"/>
                                      </p:to>
                                    </p:set>
                                    <p:anim calcmode="lin" valueType="num">
                                      <p:cBhvr additive="base">
                                        <p:cTn id="83" dur="1000"/>
                                        <p:tgtEl>
                                          <p:spTgt spid="445"/>
                                        </p:tgtEl>
                                        <p:attrNameLst>
                                          <p:attrName>ppt_x</p:attrName>
                                        </p:attrNameLst>
                                      </p:cBhvr>
                                      <p:tavLst>
                                        <p:tav tm="0">
                                          <p:val>
                                            <p:strVal val="#ppt_x+1"/>
                                          </p:val>
                                        </p:tav>
                                        <p:tav tm="100000">
                                          <p:val>
                                            <p:strVal val="#ppt_x"/>
                                          </p:val>
                                        </p:tav>
                                      </p:tavLst>
                                    </p:anim>
                                  </p:childTnLst>
                                </p:cTn>
                              </p:par>
                            </p:childTnLst>
                          </p:cTn>
                        </p:par>
                        <p:par>
                          <p:cTn id="84" fill="hold">
                            <p:stCondLst>
                              <p:cond delay="5000"/>
                            </p:stCondLst>
                            <p:childTnLst>
                              <p:par>
                                <p:cTn id="85" presetID="2" presetClass="entr" presetSubtype="2" fill="hold" nodeType="afterEffect">
                                  <p:stCondLst>
                                    <p:cond delay="0"/>
                                  </p:stCondLst>
                                  <p:childTnLst>
                                    <p:set>
                                      <p:cBhvr>
                                        <p:cTn id="86" dur="1" fill="hold">
                                          <p:stCondLst>
                                            <p:cond delay="0"/>
                                          </p:stCondLst>
                                        </p:cTn>
                                        <p:tgtEl>
                                          <p:spTgt spid="441"/>
                                        </p:tgtEl>
                                        <p:attrNameLst>
                                          <p:attrName>style.visibility</p:attrName>
                                        </p:attrNameLst>
                                      </p:cBhvr>
                                      <p:to>
                                        <p:strVal val="visible"/>
                                      </p:to>
                                    </p:set>
                                    <p:anim calcmode="lin" valueType="num">
                                      <p:cBhvr additive="base">
                                        <p:cTn id="87" dur="1000"/>
                                        <p:tgtEl>
                                          <p:spTgt spid="441"/>
                                        </p:tgtEl>
                                        <p:attrNameLst>
                                          <p:attrName>ppt_x</p:attrName>
                                        </p:attrNameLst>
                                      </p:cBhvr>
                                      <p:tavLst>
                                        <p:tav tm="0">
                                          <p:val>
                                            <p:strVal val="#ppt_x+1"/>
                                          </p:val>
                                        </p:tav>
                                        <p:tav tm="100000">
                                          <p:val>
                                            <p:strVal val="#ppt_x"/>
                                          </p:val>
                                        </p:tav>
                                      </p:tavLst>
                                    </p:anim>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446"/>
                                        </p:tgtEl>
                                        <p:attrNameLst>
                                          <p:attrName>style.visibility</p:attrName>
                                        </p:attrNameLst>
                                      </p:cBhvr>
                                      <p:to>
                                        <p:strVal val="visible"/>
                                      </p:to>
                                    </p:set>
                                    <p:animEffect transition="in" filter="fade">
                                      <p:cBhvr>
                                        <p:cTn id="92" dur="1000"/>
                                        <p:tgtEl>
                                          <p:spTgt spid="446"/>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448"/>
                                        </p:tgtEl>
                                        <p:attrNameLst>
                                          <p:attrName>style.visibility</p:attrName>
                                        </p:attrNameLst>
                                      </p:cBhvr>
                                      <p:to>
                                        <p:strVal val="visible"/>
                                      </p:to>
                                    </p:set>
                                    <p:animEffect transition="in" filter="fade">
                                      <p:cBhvr>
                                        <p:cTn id="97" dur="1000"/>
                                        <p:tgtEl>
                                          <p:spTgt spid="448"/>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449"/>
                                        </p:tgtEl>
                                        <p:attrNameLst>
                                          <p:attrName>style.visibility</p:attrName>
                                        </p:attrNameLst>
                                      </p:cBhvr>
                                      <p:to>
                                        <p:strVal val="visible"/>
                                      </p:to>
                                    </p:set>
                                    <p:animEffect transition="in" filter="fade">
                                      <p:cBhvr>
                                        <p:cTn id="102" dur="1000"/>
                                        <p:tgtEl>
                                          <p:spTgt spid="449"/>
                                        </p:tgtEl>
                                      </p:cBhvr>
                                    </p:animEffect>
                                  </p:childTnLst>
                                </p:cTn>
                              </p:par>
                            </p:childTnLst>
                          </p:cTn>
                        </p:par>
                        <p:par>
                          <p:cTn id="103" fill="hold">
                            <p:stCondLst>
                              <p:cond delay="1000"/>
                            </p:stCondLst>
                            <p:childTnLst>
                              <p:par>
                                <p:cTn id="104" presetID="2" presetClass="exit" presetSubtype="8" fill="hold" nodeType="afterEffect">
                                  <p:stCondLst>
                                    <p:cond delay="0"/>
                                  </p:stCondLst>
                                  <p:childTnLst>
                                    <p:anim calcmode="lin" valueType="num">
                                      <p:cBhvr additive="base">
                                        <p:cTn id="105" dur="1000"/>
                                        <p:tgtEl>
                                          <p:spTgt spid="443"/>
                                        </p:tgtEl>
                                        <p:attrNameLst>
                                          <p:attrName>ppt_x</p:attrName>
                                        </p:attrNameLst>
                                      </p:cBhvr>
                                      <p:tavLst>
                                        <p:tav tm="0">
                                          <p:val>
                                            <p:strVal val="#ppt_x"/>
                                          </p:val>
                                        </p:tav>
                                        <p:tav tm="100000">
                                          <p:val>
                                            <p:strVal val="#ppt_x-1"/>
                                          </p:val>
                                        </p:tav>
                                      </p:tavLst>
                                    </p:anim>
                                    <p:set>
                                      <p:cBhvr>
                                        <p:cTn id="106" dur="1" fill="hold">
                                          <p:stCondLst>
                                            <p:cond delay="1000"/>
                                          </p:stCondLst>
                                        </p:cTn>
                                        <p:tgtEl>
                                          <p:spTgt spid="443"/>
                                        </p:tgtEl>
                                        <p:attrNameLst>
                                          <p:attrName>style.visibility</p:attrName>
                                        </p:attrNameLst>
                                      </p:cBhvr>
                                      <p:to>
                                        <p:strVal val="hidden"/>
                                      </p:to>
                                    </p:set>
                                  </p:childTnLst>
                                </p:cTn>
                              </p:par>
                            </p:childTnLst>
                          </p:cTn>
                        </p:par>
                        <p:par>
                          <p:cTn id="107" fill="hold">
                            <p:stCondLst>
                              <p:cond delay="2000"/>
                            </p:stCondLst>
                            <p:childTnLst>
                              <p:par>
                                <p:cTn id="108" presetID="2" presetClass="exit" presetSubtype="8" fill="hold" nodeType="afterEffect">
                                  <p:stCondLst>
                                    <p:cond delay="0"/>
                                  </p:stCondLst>
                                  <p:childTnLst>
                                    <p:anim calcmode="lin" valueType="num">
                                      <p:cBhvr additive="base">
                                        <p:cTn id="109" dur="1000"/>
                                        <p:tgtEl>
                                          <p:spTgt spid="442"/>
                                        </p:tgtEl>
                                        <p:attrNameLst>
                                          <p:attrName>ppt_x</p:attrName>
                                        </p:attrNameLst>
                                      </p:cBhvr>
                                      <p:tavLst>
                                        <p:tav tm="0">
                                          <p:val>
                                            <p:strVal val="#ppt_x"/>
                                          </p:val>
                                        </p:tav>
                                        <p:tav tm="100000">
                                          <p:val>
                                            <p:strVal val="#ppt_x-1"/>
                                          </p:val>
                                        </p:tav>
                                      </p:tavLst>
                                    </p:anim>
                                    <p:set>
                                      <p:cBhvr>
                                        <p:cTn id="110" dur="1" fill="hold">
                                          <p:stCondLst>
                                            <p:cond delay="1000"/>
                                          </p:stCondLst>
                                        </p:cTn>
                                        <p:tgtEl>
                                          <p:spTgt spid="442"/>
                                        </p:tgtEl>
                                        <p:attrNameLst>
                                          <p:attrName>style.visibility</p:attrName>
                                        </p:attrNameLst>
                                      </p:cBhvr>
                                      <p:to>
                                        <p:strVal val="hidden"/>
                                      </p:to>
                                    </p:set>
                                  </p:childTnLst>
                                </p:cTn>
                              </p:par>
                            </p:childTnLst>
                          </p:cTn>
                        </p:par>
                        <p:par>
                          <p:cTn id="111" fill="hold">
                            <p:stCondLst>
                              <p:cond delay="3000"/>
                            </p:stCondLst>
                            <p:childTnLst>
                              <p:par>
                                <p:cTn id="112" presetID="2" presetClass="exit" presetSubtype="8" fill="hold" nodeType="afterEffect">
                                  <p:stCondLst>
                                    <p:cond delay="0"/>
                                  </p:stCondLst>
                                  <p:childTnLst>
                                    <p:anim calcmode="lin" valueType="num">
                                      <p:cBhvr additive="base">
                                        <p:cTn id="113" dur="1000"/>
                                        <p:tgtEl>
                                          <p:spTgt spid="444"/>
                                        </p:tgtEl>
                                        <p:attrNameLst>
                                          <p:attrName>ppt_x</p:attrName>
                                        </p:attrNameLst>
                                      </p:cBhvr>
                                      <p:tavLst>
                                        <p:tav tm="0">
                                          <p:val>
                                            <p:strVal val="#ppt_x"/>
                                          </p:val>
                                        </p:tav>
                                        <p:tav tm="100000">
                                          <p:val>
                                            <p:strVal val="#ppt_x-1"/>
                                          </p:val>
                                        </p:tav>
                                      </p:tavLst>
                                    </p:anim>
                                    <p:set>
                                      <p:cBhvr>
                                        <p:cTn id="114" dur="1" fill="hold">
                                          <p:stCondLst>
                                            <p:cond delay="1000"/>
                                          </p:stCondLst>
                                        </p:cTn>
                                        <p:tgtEl>
                                          <p:spTgt spid="444"/>
                                        </p:tgtEl>
                                        <p:attrNameLst>
                                          <p:attrName>style.visibility</p:attrName>
                                        </p:attrNameLst>
                                      </p:cBhvr>
                                      <p:to>
                                        <p:strVal val="hidden"/>
                                      </p:to>
                                    </p:set>
                                  </p:childTnLst>
                                </p:cTn>
                              </p:par>
                            </p:childTnLst>
                          </p:cTn>
                        </p:par>
                        <p:par>
                          <p:cTn id="115" fill="hold">
                            <p:stCondLst>
                              <p:cond delay="4000"/>
                            </p:stCondLst>
                            <p:childTnLst>
                              <p:par>
                                <p:cTn id="116" presetID="2" presetClass="exit" presetSubtype="8" fill="hold" nodeType="afterEffect">
                                  <p:stCondLst>
                                    <p:cond delay="0"/>
                                  </p:stCondLst>
                                  <p:childTnLst>
                                    <p:anim calcmode="lin" valueType="num">
                                      <p:cBhvr additive="base">
                                        <p:cTn id="117" dur="1000"/>
                                        <p:tgtEl>
                                          <p:spTgt spid="445"/>
                                        </p:tgtEl>
                                        <p:attrNameLst>
                                          <p:attrName>ppt_x</p:attrName>
                                        </p:attrNameLst>
                                      </p:cBhvr>
                                      <p:tavLst>
                                        <p:tav tm="0">
                                          <p:val>
                                            <p:strVal val="#ppt_x"/>
                                          </p:val>
                                        </p:tav>
                                        <p:tav tm="100000">
                                          <p:val>
                                            <p:strVal val="#ppt_x-1"/>
                                          </p:val>
                                        </p:tav>
                                      </p:tavLst>
                                    </p:anim>
                                    <p:set>
                                      <p:cBhvr>
                                        <p:cTn id="118" dur="1" fill="hold">
                                          <p:stCondLst>
                                            <p:cond delay="1000"/>
                                          </p:stCondLst>
                                        </p:cTn>
                                        <p:tgtEl>
                                          <p:spTgt spid="445"/>
                                        </p:tgtEl>
                                        <p:attrNameLst>
                                          <p:attrName>style.visibility</p:attrName>
                                        </p:attrNameLst>
                                      </p:cBhvr>
                                      <p:to>
                                        <p:strVal val="hidden"/>
                                      </p:to>
                                    </p:set>
                                  </p:childTnLst>
                                </p:cTn>
                              </p:par>
                            </p:childTnLst>
                          </p:cTn>
                        </p:par>
                        <p:par>
                          <p:cTn id="119" fill="hold">
                            <p:stCondLst>
                              <p:cond delay="5000"/>
                            </p:stCondLst>
                            <p:childTnLst>
                              <p:par>
                                <p:cTn id="120" presetID="2" presetClass="exit" presetSubtype="8" fill="hold" nodeType="afterEffect">
                                  <p:stCondLst>
                                    <p:cond delay="0"/>
                                  </p:stCondLst>
                                  <p:childTnLst>
                                    <p:anim calcmode="lin" valueType="num">
                                      <p:cBhvr additive="base">
                                        <p:cTn id="121" dur="1000"/>
                                        <p:tgtEl>
                                          <p:spTgt spid="441"/>
                                        </p:tgtEl>
                                        <p:attrNameLst>
                                          <p:attrName>ppt_x</p:attrName>
                                        </p:attrNameLst>
                                      </p:cBhvr>
                                      <p:tavLst>
                                        <p:tav tm="0">
                                          <p:val>
                                            <p:strVal val="#ppt_x"/>
                                          </p:val>
                                        </p:tav>
                                        <p:tav tm="100000">
                                          <p:val>
                                            <p:strVal val="#ppt_x-1"/>
                                          </p:val>
                                        </p:tav>
                                      </p:tavLst>
                                    </p:anim>
                                    <p:set>
                                      <p:cBhvr>
                                        <p:cTn id="122" dur="1" fill="hold">
                                          <p:stCondLst>
                                            <p:cond delay="1000"/>
                                          </p:stCondLst>
                                        </p:cTn>
                                        <p:tgtEl>
                                          <p:spTgt spid="4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6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Remember: the Queue abstract data type should </a:t>
            </a:r>
            <a:r>
              <a:rPr lang="en" b="1" i="1">
                <a:solidFill>
                  <a:srgbClr val="FF0000"/>
                </a:solidFill>
              </a:rPr>
              <a:t>define</a:t>
            </a:r>
            <a:r>
              <a:rPr lang="en">
                <a:solidFill>
                  <a:srgbClr val="FF0000"/>
                </a:solidFill>
              </a:rPr>
              <a:t> </a:t>
            </a:r>
            <a:r>
              <a:rPr lang="en"/>
              <a:t>the behavior that all queues have without describing the </a:t>
            </a:r>
            <a:r>
              <a:rPr lang="en" b="1" i="1">
                <a:solidFill>
                  <a:srgbClr val="FF0000"/>
                </a:solidFill>
              </a:rPr>
              <a:t>implementation</a:t>
            </a:r>
            <a:r>
              <a:rPr lang="en"/>
              <a:t>. A Java interface is the ideal mechanism for defining behavior without implementing it. Create an interface for a Queue.</a:t>
            </a:r>
            <a:endParaRPr/>
          </a:p>
        </p:txBody>
      </p:sp>
      <p:sp>
        <p:nvSpPr>
          <p:cNvPr id="455" name="Google Shape;455;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456" name="Google Shape;456;p69"/>
          <p:cNvSpPr txBox="1">
            <a:spLocks noGrp="1"/>
          </p:cNvSpPr>
          <p:nvPr>
            <p:ph type="body" idx="2"/>
          </p:nvPr>
        </p:nvSpPr>
        <p:spPr>
          <a:xfrm>
            <a:off x="3278725" y="1814150"/>
            <a:ext cx="5535000" cy="6810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Use the UML to the left as a guide to create a new Java interface named "</a:t>
            </a:r>
            <a:r>
              <a:rPr lang="en" sz="1500" dirty="0">
                <a:solidFill>
                  <a:srgbClr val="FF0000"/>
                </a:solidFill>
                <a:latin typeface="Courier New"/>
                <a:ea typeface="Courier New"/>
                <a:cs typeface="Courier New"/>
                <a:sym typeface="Courier New"/>
              </a:rPr>
              <a:t>Queue</a:t>
            </a:r>
            <a:r>
              <a:rPr lang="en" sz="1500" dirty="0"/>
              <a:t>" in the mcf package.</a:t>
            </a:r>
            <a:endParaRPr sz="1500" dirty="0"/>
          </a:p>
        </p:txBody>
      </p:sp>
      <p:sp>
        <p:nvSpPr>
          <p:cNvPr id="457" name="Google Shape;457;p6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Queue Abstract Data Type</a:t>
            </a:r>
            <a:endParaRPr/>
          </a:p>
        </p:txBody>
      </p:sp>
      <p:sp>
        <p:nvSpPr>
          <p:cNvPr id="458" name="Google Shape;458;p6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5.4</a:t>
            </a:r>
            <a:endParaRPr/>
          </a:p>
        </p:txBody>
      </p:sp>
      <p:sp>
        <p:nvSpPr>
          <p:cNvPr id="459" name="Google Shape;459;p69"/>
          <p:cNvSpPr txBox="1">
            <a:spLocks noGrp="1"/>
          </p:cNvSpPr>
          <p:nvPr>
            <p:ph type="body" idx="4"/>
          </p:nvPr>
        </p:nvSpPr>
        <p:spPr>
          <a:xfrm>
            <a:off x="303275" y="4286126"/>
            <a:ext cx="27003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Use the UML diagram as a guide to create an interface to represent a Queue.</a:t>
            </a:r>
            <a:endParaRPr/>
          </a:p>
        </p:txBody>
      </p:sp>
      <p:graphicFrame>
        <p:nvGraphicFramePr>
          <p:cNvPr id="460" name="Google Shape;460;p69"/>
          <p:cNvGraphicFramePr/>
          <p:nvPr/>
        </p:nvGraphicFramePr>
        <p:xfrm>
          <a:off x="303263" y="1805325"/>
          <a:ext cx="2700375" cy="2377345"/>
        </p:xfrm>
        <a:graphic>
          <a:graphicData uri="http://schemas.openxmlformats.org/drawingml/2006/table">
            <a:tbl>
              <a:tblPr>
                <a:noFill/>
                <a:tableStyleId>{5D16334A-BD30-4DCF-A821-F696FD12572A}</a:tableStyleId>
              </a:tblPr>
              <a:tblGrid>
                <a:gridCol w="2700375">
                  <a:extLst>
                    <a:ext uri="{9D8B030D-6E8A-4147-A177-3AD203B41FA5}">
                      <a16:colId xmlns:a16="http://schemas.microsoft.com/office/drawing/2014/main" val="20000"/>
                    </a:ext>
                  </a:extLst>
                </a:gridCol>
              </a:tblGrid>
              <a:tr h="609575">
                <a:tc>
                  <a:txBody>
                    <a:bodyPr/>
                    <a:lstStyle/>
                    <a:p>
                      <a:pPr marL="0" marR="0" lvl="0" indent="0" algn="ctr" rtl="0">
                        <a:lnSpc>
                          <a:spcPct val="100000"/>
                        </a:lnSpc>
                        <a:spcBef>
                          <a:spcPts val="0"/>
                        </a:spcBef>
                        <a:spcAft>
                          <a:spcPts val="0"/>
                        </a:spcAft>
                        <a:buClr>
                          <a:srgbClr val="000000"/>
                        </a:buClr>
                        <a:buSzPts val="1000"/>
                        <a:buFont typeface="Arial"/>
                        <a:buNone/>
                      </a:pPr>
                      <a:r>
                        <a:rPr lang="en" sz="1300" i="1" u="none" strike="noStrike" cap="none">
                          <a:latin typeface="Consolas"/>
                          <a:ea typeface="Consolas"/>
                          <a:cs typeface="Consolas"/>
                          <a:sym typeface="Consolas"/>
                        </a:rPr>
                        <a:t>&lt;&lt;interface&gt;&gt;</a:t>
                      </a:r>
                      <a:endParaRPr sz="1300" i="1" u="none" strike="noStrike" cap="none">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300" i="1" u="none" strike="noStrike" cap="none">
                          <a:latin typeface="Consolas"/>
                          <a:ea typeface="Consolas"/>
                          <a:cs typeface="Consolas"/>
                          <a:sym typeface="Consolas"/>
                        </a:rPr>
                        <a:t>Queue</a:t>
                      </a:r>
                      <a:endParaRPr sz="1300"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96200">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249650">
                <a:tc>
                  <a:txBody>
                    <a:bodyPr/>
                    <a:lstStyle/>
                    <a:p>
                      <a:pPr marL="0" marR="0" lvl="0" indent="0" algn="l" rtl="0">
                        <a:lnSpc>
                          <a:spcPct val="100000"/>
                        </a:lnSpc>
                        <a:spcBef>
                          <a:spcPts val="0"/>
                        </a:spcBef>
                        <a:spcAft>
                          <a:spcPts val="0"/>
                        </a:spcAft>
                        <a:buClr>
                          <a:srgbClr val="000000"/>
                        </a:buClr>
                        <a:buSzPts val="1000"/>
                        <a:buFont typeface="Arial"/>
                        <a:buNone/>
                      </a:pPr>
                      <a:r>
                        <a:rPr lang="en" sz="1300" i="1" u="none" strike="noStrike" cap="none">
                          <a:latin typeface="Consolas"/>
                          <a:ea typeface="Consolas"/>
                          <a:cs typeface="Consolas"/>
                          <a:sym typeface="Consolas"/>
                        </a:rPr>
                        <a:t>+ enqueue(value: String)</a:t>
                      </a:r>
                      <a:endParaRPr sz="13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300" i="1" u="none" strike="noStrike" cap="none">
                          <a:latin typeface="Consolas"/>
                          <a:ea typeface="Consolas"/>
                          <a:cs typeface="Consolas"/>
                          <a:sym typeface="Consolas"/>
                        </a:rPr>
                        <a:t>+ dequeue(): String</a:t>
                      </a:r>
                      <a:endParaRPr sz="13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300" i="1" u="none" strike="noStrike" cap="none">
                          <a:latin typeface="Consolas"/>
                          <a:ea typeface="Consolas"/>
                          <a:cs typeface="Consolas"/>
                          <a:sym typeface="Consolas"/>
                        </a:rPr>
                        <a:t>+ size(): int</a:t>
                      </a:r>
                      <a:endParaRPr sz="1300"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300" i="1">
                          <a:solidFill>
                            <a:srgbClr val="FF0000"/>
                          </a:solidFill>
                          <a:latin typeface="Consolas"/>
                          <a:ea typeface="Consolas"/>
                          <a:cs typeface="Consolas"/>
                          <a:sym typeface="Consolas"/>
                        </a:rPr>
                        <a:t>+ front(): String</a:t>
                      </a:r>
                      <a:endParaRPr sz="1300" i="1">
                        <a:solidFill>
                          <a:srgbClr val="FF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300" i="1">
                          <a:solidFill>
                            <a:srgbClr val="FF0000"/>
                          </a:solidFill>
                          <a:latin typeface="Consolas"/>
                          <a:ea typeface="Consolas"/>
                          <a:cs typeface="Consolas"/>
                          <a:sym typeface="Consolas"/>
                        </a:rPr>
                        <a:t>+ back(): String</a:t>
                      </a:r>
                      <a:endParaRPr sz="1300" i="1">
                        <a:solidFill>
                          <a:srgbClr val="FF000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300" i="1">
                          <a:solidFill>
                            <a:srgbClr val="FF0000"/>
                          </a:solidFill>
                          <a:latin typeface="Consolas"/>
                          <a:ea typeface="Consolas"/>
                          <a:cs typeface="Consolas"/>
                          <a:sym typeface="Consolas"/>
                        </a:rPr>
                        <a:t>+ isEmpty(): boolean</a:t>
                      </a:r>
                      <a:endParaRPr sz="1300" i="1">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70"/>
          <p:cNvSpPr txBox="1">
            <a:spLocks noGrp="1"/>
          </p:cNvSpPr>
          <p:nvPr>
            <p:ph type="title"/>
          </p:nvPr>
        </p:nvSpPr>
        <p:spPr>
          <a:xfrm>
            <a:off x="311725" y="11578"/>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700"/>
              <a:t>Node-Based Queues</a:t>
            </a:r>
            <a:endParaRPr sz="2700"/>
          </a:p>
        </p:txBody>
      </p:sp>
      <p:sp>
        <p:nvSpPr>
          <p:cNvPr id="466" name="Google Shape;466;p70"/>
          <p:cNvSpPr txBox="1">
            <a:spLocks noGrp="1"/>
          </p:cNvSpPr>
          <p:nvPr>
            <p:ph type="body" idx="1"/>
          </p:nvPr>
        </p:nvSpPr>
        <p:spPr>
          <a:xfrm>
            <a:off x="4357325" y="82075"/>
            <a:ext cx="4435800" cy="48810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One possible implementation of a queue is built using a </a:t>
            </a:r>
            <a:r>
              <a:rPr lang="en" b="1" i="1" dirty="0">
                <a:solidFill>
                  <a:srgbClr val="FF0000"/>
                </a:solidFill>
              </a:rPr>
              <a:t>linked sequence</a:t>
            </a:r>
            <a:r>
              <a:rPr lang="en" dirty="0"/>
              <a:t>.</a:t>
            </a:r>
            <a:endParaRPr dirty="0"/>
          </a:p>
          <a:p>
            <a:pPr marL="457200" lvl="0" indent="-311150" algn="l" rtl="0">
              <a:lnSpc>
                <a:spcPct val="115000"/>
              </a:lnSpc>
              <a:spcBef>
                <a:spcPts val="1000"/>
              </a:spcBef>
              <a:spcAft>
                <a:spcPts val="0"/>
              </a:spcAft>
              <a:buSzPts val="1300"/>
              <a:buChar char="●"/>
            </a:pPr>
            <a:r>
              <a:rPr lang="en" dirty="0"/>
              <a:t>You should recall that a </a:t>
            </a:r>
            <a:r>
              <a:rPr lang="en" b="1" i="1" dirty="0">
                <a:solidFill>
                  <a:srgbClr val="FF0000"/>
                </a:solidFill>
                <a:highlight>
                  <a:srgbClr val="FFFF00"/>
                </a:highlight>
              </a:rPr>
              <a:t>linked sequence</a:t>
            </a:r>
            <a:r>
              <a:rPr lang="en" dirty="0">
                <a:highlight>
                  <a:srgbClr val="FFFF00"/>
                </a:highlight>
              </a:rPr>
              <a:t> </a:t>
            </a:r>
            <a:r>
              <a:rPr lang="en" dirty="0"/>
              <a:t>is defined as:</a:t>
            </a:r>
            <a:endParaRPr dirty="0"/>
          </a:p>
          <a:p>
            <a:pPr marL="914400" lvl="1" indent="-298450" algn="l" rtl="0">
              <a:lnSpc>
                <a:spcPct val="115000"/>
              </a:lnSpc>
              <a:spcBef>
                <a:spcPts val="0"/>
              </a:spcBef>
              <a:spcAft>
                <a:spcPts val="0"/>
              </a:spcAft>
              <a:buSzPts val="1100"/>
              <a:buChar char="○"/>
            </a:pPr>
            <a:r>
              <a:rPr lang="en" dirty="0">
                <a:highlight>
                  <a:srgbClr val="FFFF00"/>
                </a:highlight>
              </a:rPr>
              <a:t>The </a:t>
            </a:r>
            <a:r>
              <a:rPr lang="en" b="1" i="1" dirty="0">
                <a:solidFill>
                  <a:srgbClr val="FF0000"/>
                </a:solidFill>
                <a:highlight>
                  <a:srgbClr val="FFFF00"/>
                </a:highlight>
              </a:rPr>
              <a:t>empty sequence</a:t>
            </a:r>
            <a:r>
              <a:rPr lang="en" dirty="0">
                <a:highlight>
                  <a:srgbClr val="FFFF00"/>
                </a:highlight>
              </a:rPr>
              <a:t>, which contains no values and is represented as </a:t>
            </a:r>
            <a:r>
              <a:rPr lang="en" dirty="0">
                <a:solidFill>
                  <a:srgbClr val="FF0000"/>
                </a:solidFill>
                <a:highlight>
                  <a:srgbClr val="FFFF00"/>
                </a:highlight>
                <a:latin typeface="Courier New"/>
                <a:ea typeface="Courier New"/>
                <a:cs typeface="Courier New"/>
                <a:sym typeface="Courier New"/>
              </a:rPr>
              <a:t>null</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At least one </a:t>
            </a:r>
            <a:r>
              <a:rPr lang="en" b="1" i="1" dirty="0">
                <a:solidFill>
                  <a:srgbClr val="FF0000"/>
                </a:solidFill>
              </a:rPr>
              <a:t>node</a:t>
            </a:r>
            <a:r>
              <a:rPr lang="en" dirty="0">
                <a:solidFill>
                  <a:srgbClr val="FF0000"/>
                </a:solidFill>
              </a:rPr>
              <a:t> </a:t>
            </a:r>
            <a:r>
              <a:rPr lang="en" dirty="0"/>
              <a:t>that contains:</a:t>
            </a:r>
            <a:endParaRPr dirty="0"/>
          </a:p>
          <a:p>
            <a:pPr marL="1371600" lvl="2" indent="-298450" algn="l" rtl="0">
              <a:lnSpc>
                <a:spcPct val="115000"/>
              </a:lnSpc>
              <a:spcBef>
                <a:spcPts val="0"/>
              </a:spcBef>
              <a:spcAft>
                <a:spcPts val="0"/>
              </a:spcAft>
              <a:buSzPts val="1100"/>
              <a:buChar char="■"/>
            </a:pPr>
            <a:r>
              <a:rPr lang="en" dirty="0"/>
              <a:t>A </a:t>
            </a:r>
            <a:r>
              <a:rPr lang="en" b="1" i="1" dirty="0">
                <a:solidFill>
                  <a:srgbClr val="FF0000"/>
                </a:solidFill>
              </a:rPr>
              <a:t>value </a:t>
            </a:r>
            <a:r>
              <a:rPr lang="en" dirty="0"/>
              <a:t>of some type, e.g. an </a:t>
            </a:r>
            <a:r>
              <a:rPr lang="en" dirty="0">
                <a:latin typeface="Courier New"/>
                <a:ea typeface="Courier New"/>
                <a:cs typeface="Courier New"/>
                <a:sym typeface="Courier New"/>
              </a:rPr>
              <a:t>String</a:t>
            </a:r>
            <a:r>
              <a:rPr lang="en" dirty="0"/>
              <a:t>.</a:t>
            </a:r>
            <a:endParaRPr dirty="0"/>
          </a:p>
          <a:p>
            <a:pPr marL="1371600" lvl="2" indent="-298450" algn="l" rtl="0">
              <a:lnSpc>
                <a:spcPct val="115000"/>
              </a:lnSpc>
              <a:spcBef>
                <a:spcPts val="0"/>
              </a:spcBef>
              <a:spcAft>
                <a:spcPts val="0"/>
              </a:spcAft>
              <a:buSzPts val="1100"/>
              <a:buChar char="■"/>
            </a:pPr>
            <a:r>
              <a:rPr lang="en" dirty="0">
                <a:highlight>
                  <a:srgbClr val="FFFF00"/>
                </a:highlight>
              </a:rPr>
              <a:t>A reference to the </a:t>
            </a:r>
            <a:r>
              <a:rPr lang="en" b="1" i="1" dirty="0">
                <a:solidFill>
                  <a:srgbClr val="FF0000"/>
                </a:solidFill>
                <a:highlight>
                  <a:srgbClr val="FFFF00"/>
                </a:highlight>
              </a:rPr>
              <a:t>next</a:t>
            </a:r>
            <a:r>
              <a:rPr lang="en" dirty="0">
                <a:solidFill>
                  <a:srgbClr val="FF0000"/>
                </a:solidFill>
                <a:highlight>
                  <a:srgbClr val="FFFF00"/>
                </a:highlight>
              </a:rPr>
              <a:t> </a:t>
            </a:r>
            <a:r>
              <a:rPr lang="en" dirty="0">
                <a:highlight>
                  <a:srgbClr val="FFFF00"/>
                </a:highlight>
              </a:rPr>
              <a:t>node in the sequence, which may be </a:t>
            </a:r>
            <a:r>
              <a:rPr lang="en" dirty="0">
                <a:highlight>
                  <a:srgbClr val="FFFF00"/>
                </a:highlight>
                <a:latin typeface="Courier New"/>
                <a:ea typeface="Courier New"/>
                <a:cs typeface="Courier New"/>
                <a:sym typeface="Courier New"/>
              </a:rPr>
              <a:t>null</a:t>
            </a:r>
            <a:r>
              <a:rPr lang="en" dirty="0">
                <a:highlight>
                  <a:srgbClr val="FFFF00"/>
                </a:highlight>
              </a:rPr>
              <a:t>.</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A </a:t>
            </a:r>
            <a:r>
              <a:rPr lang="en" b="1" i="1" dirty="0">
                <a:solidFill>
                  <a:srgbClr val="FF0000"/>
                </a:solidFill>
              </a:rPr>
              <a:t>node-based queue</a:t>
            </a:r>
            <a:r>
              <a:rPr lang="en" dirty="0"/>
              <a:t> keeps track of </a:t>
            </a:r>
            <a:r>
              <a:rPr lang="en" dirty="0">
                <a:solidFill>
                  <a:srgbClr val="FF0000"/>
                </a:solidFill>
              </a:rPr>
              <a:t>three </a:t>
            </a:r>
            <a:r>
              <a:rPr lang="en" dirty="0"/>
              <a:t>values.</a:t>
            </a:r>
            <a:endParaRPr dirty="0"/>
          </a:p>
          <a:p>
            <a:pPr marL="914400" lvl="1" indent="-298450" algn="l" rtl="0">
              <a:lnSpc>
                <a:spcPct val="115000"/>
              </a:lnSpc>
              <a:spcBef>
                <a:spcPts val="0"/>
              </a:spcBef>
              <a:spcAft>
                <a:spcPts val="0"/>
              </a:spcAft>
              <a:buSzPts val="1100"/>
              <a:buChar char="○"/>
            </a:pPr>
            <a:r>
              <a:rPr lang="en" dirty="0"/>
              <a:t>The node at the </a:t>
            </a:r>
            <a:r>
              <a:rPr lang="en" b="1" i="1" dirty="0">
                <a:solidFill>
                  <a:srgbClr val="FF0000"/>
                </a:solidFill>
                <a:highlight>
                  <a:srgbClr val="FFFF00"/>
                </a:highlight>
              </a:rPr>
              <a:t>front</a:t>
            </a:r>
            <a:r>
              <a:rPr lang="en" dirty="0">
                <a:solidFill>
                  <a:srgbClr val="FF0000"/>
                </a:solidFill>
              </a:rPr>
              <a:t> </a:t>
            </a:r>
            <a:r>
              <a:rPr lang="en" dirty="0"/>
              <a:t>of the queue.</a:t>
            </a:r>
            <a:endParaRPr dirty="0"/>
          </a:p>
          <a:p>
            <a:pPr marL="914400" lvl="1" indent="-298450" algn="l" rtl="0">
              <a:lnSpc>
                <a:spcPct val="115000"/>
              </a:lnSpc>
              <a:spcBef>
                <a:spcPts val="0"/>
              </a:spcBef>
              <a:spcAft>
                <a:spcPts val="0"/>
              </a:spcAft>
              <a:buSzPts val="1100"/>
              <a:buChar char="○"/>
            </a:pPr>
            <a:r>
              <a:rPr lang="en" dirty="0"/>
              <a:t>The node at the </a:t>
            </a:r>
            <a:r>
              <a:rPr lang="en" b="1" i="1" dirty="0">
                <a:solidFill>
                  <a:srgbClr val="FF0000"/>
                </a:solidFill>
                <a:highlight>
                  <a:srgbClr val="FFFF00"/>
                </a:highlight>
              </a:rPr>
              <a:t>back</a:t>
            </a:r>
            <a:r>
              <a:rPr lang="en" dirty="0">
                <a:solidFill>
                  <a:srgbClr val="FF0000"/>
                </a:solidFill>
              </a:rPr>
              <a:t> </a:t>
            </a:r>
            <a:r>
              <a:rPr lang="en" dirty="0"/>
              <a:t>of the queue.</a:t>
            </a:r>
            <a:endParaRPr dirty="0"/>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highlight>
                  <a:srgbClr val="FFFF00"/>
                </a:highlight>
              </a:rPr>
              <a:t>size</a:t>
            </a:r>
            <a:r>
              <a:rPr lang="en" dirty="0">
                <a:solidFill>
                  <a:srgbClr val="FF0000"/>
                </a:solidFill>
              </a:rPr>
              <a:t> </a:t>
            </a:r>
            <a:r>
              <a:rPr lang="en" dirty="0"/>
              <a:t>of the queue - the total number of nodes including the front and the back.</a:t>
            </a:r>
            <a:endParaRPr dirty="0"/>
          </a:p>
          <a:p>
            <a:pPr marL="457200" lvl="0" indent="-311150" algn="l" rtl="0">
              <a:lnSpc>
                <a:spcPct val="115000"/>
              </a:lnSpc>
              <a:spcBef>
                <a:spcPts val="1000"/>
              </a:spcBef>
              <a:spcAft>
                <a:spcPts val="0"/>
              </a:spcAft>
              <a:buSzPts val="1300"/>
              <a:buChar char="●"/>
            </a:pPr>
            <a:r>
              <a:rPr lang="en" dirty="0"/>
              <a:t>There are some special conditions that need to be considered:</a:t>
            </a:r>
            <a:endParaRPr dirty="0"/>
          </a:p>
          <a:p>
            <a:pPr marL="914400" lvl="1" indent="-298450" algn="l" rtl="0">
              <a:lnSpc>
                <a:spcPct val="115000"/>
              </a:lnSpc>
              <a:spcBef>
                <a:spcPts val="0"/>
              </a:spcBef>
              <a:spcAft>
                <a:spcPts val="0"/>
              </a:spcAft>
              <a:buSzPts val="1100"/>
              <a:buChar char="○"/>
            </a:pPr>
            <a:r>
              <a:rPr lang="en" dirty="0"/>
              <a:t>If the queue is empty, </a:t>
            </a:r>
            <a:r>
              <a:rPr lang="en" b="1" i="1" dirty="0">
                <a:solidFill>
                  <a:srgbClr val="FF0000"/>
                </a:solidFill>
                <a:highlight>
                  <a:srgbClr val="FFFF00"/>
                </a:highlight>
              </a:rPr>
              <a:t>both</a:t>
            </a:r>
            <a:r>
              <a:rPr lang="en" dirty="0">
                <a:solidFill>
                  <a:srgbClr val="FF0000"/>
                </a:solidFill>
              </a:rPr>
              <a:t> </a:t>
            </a:r>
            <a:r>
              <a:rPr lang="en" dirty="0"/>
              <a:t>the front and back are </a:t>
            </a:r>
            <a:r>
              <a:rPr lang="en" dirty="0">
                <a:solidFill>
                  <a:srgbClr val="FF0000"/>
                </a:solidFill>
                <a:latin typeface="Courier New"/>
                <a:ea typeface="Courier New"/>
                <a:cs typeface="Courier New"/>
                <a:sym typeface="Courier New"/>
              </a:rPr>
              <a:t>null</a:t>
            </a:r>
            <a:r>
              <a:rPr lang="en" dirty="0"/>
              <a:t>.</a:t>
            </a:r>
            <a:endParaRPr dirty="0"/>
          </a:p>
          <a:p>
            <a:pPr marL="914400" lvl="1" indent="-298450" algn="l" rtl="0">
              <a:lnSpc>
                <a:spcPct val="115000"/>
              </a:lnSpc>
              <a:spcBef>
                <a:spcPts val="0"/>
              </a:spcBef>
              <a:spcAft>
                <a:spcPts val="0"/>
              </a:spcAft>
              <a:buSzPts val="1100"/>
              <a:buChar char="○"/>
            </a:pPr>
            <a:r>
              <a:rPr lang="en" dirty="0">
                <a:highlight>
                  <a:srgbClr val="FFFF00"/>
                </a:highlight>
              </a:rPr>
              <a:t>If there is only </a:t>
            </a:r>
            <a:r>
              <a:rPr lang="en" b="1" i="1" dirty="0">
                <a:solidFill>
                  <a:srgbClr val="FF0000"/>
                </a:solidFill>
                <a:highlight>
                  <a:srgbClr val="FFFF00"/>
                </a:highlight>
              </a:rPr>
              <a:t>one</a:t>
            </a:r>
            <a:r>
              <a:rPr lang="en" dirty="0">
                <a:solidFill>
                  <a:srgbClr val="FF0000"/>
                </a:solidFill>
                <a:highlight>
                  <a:srgbClr val="FFFF00"/>
                </a:highlight>
              </a:rPr>
              <a:t> </a:t>
            </a:r>
            <a:r>
              <a:rPr lang="en" dirty="0">
                <a:highlight>
                  <a:srgbClr val="FFFF00"/>
                </a:highlight>
              </a:rPr>
              <a:t>value in the queue, </a:t>
            </a:r>
            <a:r>
              <a:rPr lang="en" b="1" i="1" dirty="0">
                <a:solidFill>
                  <a:srgbClr val="FF0000"/>
                </a:solidFill>
                <a:highlight>
                  <a:srgbClr val="FFFF00"/>
                </a:highlight>
              </a:rPr>
              <a:t>both</a:t>
            </a:r>
            <a:r>
              <a:rPr lang="en" dirty="0">
                <a:highlight>
                  <a:srgbClr val="FFFF00"/>
                </a:highlight>
              </a:rPr>
              <a:t> the front and back refer to the </a:t>
            </a:r>
            <a:r>
              <a:rPr lang="en" b="1" i="1" dirty="0">
                <a:solidFill>
                  <a:srgbClr val="FF0000"/>
                </a:solidFill>
                <a:highlight>
                  <a:srgbClr val="FFFF00"/>
                </a:highlight>
              </a:rPr>
              <a:t>same </a:t>
            </a:r>
            <a:r>
              <a:rPr lang="en" dirty="0">
                <a:highlight>
                  <a:srgbClr val="FFFF00"/>
                </a:highlight>
              </a:rPr>
              <a:t>node.</a:t>
            </a:r>
            <a:endParaRPr dirty="0">
              <a:highlight>
                <a:srgbClr val="FFFF00"/>
              </a:highlight>
            </a:endParaRPr>
          </a:p>
        </p:txBody>
      </p:sp>
      <p:sp>
        <p:nvSpPr>
          <p:cNvPr id="467" name="Google Shape;467;p70"/>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13</a:t>
            </a:fld>
            <a:endParaRPr/>
          </a:p>
        </p:txBody>
      </p:sp>
      <p:sp>
        <p:nvSpPr>
          <p:cNvPr id="468" name="Google Shape;468;p70"/>
          <p:cNvSpPr txBox="1">
            <a:spLocks noGrp="1"/>
          </p:cNvSpPr>
          <p:nvPr>
            <p:ph type="body" idx="3"/>
          </p:nvPr>
        </p:nvSpPr>
        <p:spPr>
          <a:xfrm>
            <a:off x="318150" y="548250"/>
            <a:ext cx="3706500" cy="468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A </a:t>
            </a:r>
            <a:r>
              <a:rPr lang="en" sz="1200" b="1" i="1" dirty="0">
                <a:solidFill>
                  <a:srgbClr val="FF0000"/>
                </a:solidFill>
              </a:rPr>
              <a:t>node-based queue</a:t>
            </a:r>
            <a:r>
              <a:rPr lang="en" sz="1200" dirty="0"/>
              <a:t> uses linked nodes to store values. The </a:t>
            </a:r>
            <a:r>
              <a:rPr lang="en" sz="1200" b="1" i="1" dirty="0">
                <a:solidFill>
                  <a:srgbClr val="FF0000"/>
                </a:solidFill>
              </a:rPr>
              <a:t>oldest</a:t>
            </a:r>
            <a:r>
              <a:rPr lang="en" sz="1200" dirty="0">
                <a:solidFill>
                  <a:srgbClr val="FF0000"/>
                </a:solidFill>
              </a:rPr>
              <a:t> </a:t>
            </a:r>
            <a:r>
              <a:rPr lang="en" sz="1200" dirty="0"/>
              <a:t>node is the </a:t>
            </a:r>
            <a:r>
              <a:rPr lang="en" sz="1200" b="1" i="1" dirty="0">
                <a:solidFill>
                  <a:srgbClr val="FF0000"/>
                </a:solidFill>
              </a:rPr>
              <a:t>front</a:t>
            </a:r>
            <a:r>
              <a:rPr lang="en" sz="1200" dirty="0"/>
              <a:t>...</a:t>
            </a:r>
            <a:endParaRPr sz="1200" dirty="0"/>
          </a:p>
        </p:txBody>
      </p:sp>
      <p:sp>
        <p:nvSpPr>
          <p:cNvPr id="469" name="Google Shape;469;p70"/>
          <p:cNvSpPr txBox="1">
            <a:spLocks noGrp="1"/>
          </p:cNvSpPr>
          <p:nvPr>
            <p:ph type="body" idx="3"/>
          </p:nvPr>
        </p:nvSpPr>
        <p:spPr>
          <a:xfrm>
            <a:off x="318154" y="4152044"/>
            <a:ext cx="3706500" cy="352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highlight>
                  <a:srgbClr val="FFFF00"/>
                </a:highlight>
              </a:rPr>
              <a:t>...and the </a:t>
            </a:r>
            <a:r>
              <a:rPr lang="en" sz="1200" b="1" i="1" dirty="0">
                <a:solidFill>
                  <a:srgbClr val="FF0000"/>
                </a:solidFill>
                <a:highlight>
                  <a:srgbClr val="FFFF00"/>
                </a:highlight>
              </a:rPr>
              <a:t>newest</a:t>
            </a:r>
            <a:r>
              <a:rPr lang="en" sz="1200" dirty="0">
                <a:solidFill>
                  <a:srgbClr val="FF0000"/>
                </a:solidFill>
                <a:highlight>
                  <a:srgbClr val="FFFF00"/>
                </a:highlight>
              </a:rPr>
              <a:t> </a:t>
            </a:r>
            <a:r>
              <a:rPr lang="en" sz="1200" dirty="0">
                <a:highlight>
                  <a:srgbClr val="FFFF00"/>
                </a:highlight>
              </a:rPr>
              <a:t>node is the </a:t>
            </a:r>
            <a:r>
              <a:rPr lang="en" sz="1200" b="1" i="1" dirty="0">
                <a:solidFill>
                  <a:srgbClr val="FF0000"/>
                </a:solidFill>
                <a:highlight>
                  <a:srgbClr val="FFFF00"/>
                </a:highlight>
              </a:rPr>
              <a:t>back</a:t>
            </a:r>
            <a:r>
              <a:rPr lang="en" sz="1200" dirty="0">
                <a:highlight>
                  <a:srgbClr val="FFFF00"/>
                </a:highlight>
              </a:rPr>
              <a:t>.</a:t>
            </a:r>
            <a:endParaRPr sz="1200" dirty="0">
              <a:highlight>
                <a:srgbClr val="FFFF00"/>
              </a:highlight>
            </a:endParaRPr>
          </a:p>
        </p:txBody>
      </p:sp>
      <p:graphicFrame>
        <p:nvGraphicFramePr>
          <p:cNvPr id="470" name="Google Shape;470;p70"/>
          <p:cNvGraphicFramePr/>
          <p:nvPr/>
        </p:nvGraphicFramePr>
        <p:xfrm>
          <a:off x="2466904" y="1065234"/>
          <a:ext cx="983750" cy="914310"/>
        </p:xfrm>
        <a:graphic>
          <a:graphicData uri="http://schemas.openxmlformats.org/drawingml/2006/table">
            <a:tbl>
              <a:tblPr>
                <a:noFill/>
                <a:tableStyleId>{5D16334A-BD30-4DCF-A821-F696FD12572A}</a:tableStyleId>
              </a:tblPr>
              <a:tblGrid>
                <a:gridCol w="491875">
                  <a:extLst>
                    <a:ext uri="{9D8B030D-6E8A-4147-A177-3AD203B41FA5}">
                      <a16:colId xmlns:a16="http://schemas.microsoft.com/office/drawing/2014/main" val="20000"/>
                    </a:ext>
                  </a:extLst>
                </a:gridCol>
                <a:gridCol w="491875">
                  <a:extLst>
                    <a:ext uri="{9D8B030D-6E8A-4147-A177-3AD203B41FA5}">
                      <a16:colId xmlns:a16="http://schemas.microsoft.com/office/drawing/2014/main" val="20001"/>
                    </a:ext>
                  </a:extLst>
                </a:gridCol>
              </a:tblGrid>
              <a:tr h="0">
                <a:tc gridSpan="2">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Node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value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solidFill>
                            <a:srgbClr val="FF0000"/>
                          </a:solidFill>
                          <a:latin typeface="Consolas"/>
                          <a:ea typeface="Consolas"/>
                          <a:cs typeface="Consolas"/>
                          <a:sym typeface="Consolas"/>
                        </a:rPr>
                        <a:t>"a"</a:t>
                      </a: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next</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471" name="Google Shape;471;p70"/>
          <p:cNvGraphicFramePr/>
          <p:nvPr/>
        </p:nvGraphicFramePr>
        <p:xfrm>
          <a:off x="2466912" y="3179548"/>
          <a:ext cx="983750" cy="914310"/>
        </p:xfrm>
        <a:graphic>
          <a:graphicData uri="http://schemas.openxmlformats.org/drawingml/2006/table">
            <a:tbl>
              <a:tblPr>
                <a:noFill/>
                <a:tableStyleId>{5D16334A-BD30-4DCF-A821-F696FD12572A}</a:tableStyleId>
              </a:tblPr>
              <a:tblGrid>
                <a:gridCol w="491875">
                  <a:extLst>
                    <a:ext uri="{9D8B030D-6E8A-4147-A177-3AD203B41FA5}">
                      <a16:colId xmlns:a16="http://schemas.microsoft.com/office/drawing/2014/main" val="20000"/>
                    </a:ext>
                  </a:extLst>
                </a:gridCol>
                <a:gridCol w="491875">
                  <a:extLst>
                    <a:ext uri="{9D8B030D-6E8A-4147-A177-3AD203B41FA5}">
                      <a16:colId xmlns:a16="http://schemas.microsoft.com/office/drawing/2014/main" val="20001"/>
                    </a:ext>
                  </a:extLst>
                </a:gridCol>
              </a:tblGrid>
              <a:tr h="0">
                <a:tc gridSpan="2">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Node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value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solidFill>
                            <a:srgbClr val="FF0000"/>
                          </a:solidFill>
                          <a:latin typeface="Consolas"/>
                          <a:ea typeface="Consolas"/>
                          <a:cs typeface="Consolas"/>
                          <a:sym typeface="Consolas"/>
                        </a:rPr>
                        <a:t>"c"</a:t>
                      </a: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next</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solidFill>
                            <a:srgbClr val="FF0000"/>
                          </a:solidFill>
                          <a:latin typeface="Consolas"/>
                          <a:ea typeface="Consolas"/>
                          <a:cs typeface="Consolas"/>
                          <a:sym typeface="Consolas"/>
                        </a:rPr>
                        <a:t>null</a:t>
                      </a: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472" name="Google Shape;472;p70"/>
          <p:cNvGraphicFramePr/>
          <p:nvPr/>
        </p:nvGraphicFramePr>
        <p:xfrm>
          <a:off x="2466901" y="2119176"/>
          <a:ext cx="983750" cy="914310"/>
        </p:xfrm>
        <a:graphic>
          <a:graphicData uri="http://schemas.openxmlformats.org/drawingml/2006/table">
            <a:tbl>
              <a:tblPr>
                <a:noFill/>
                <a:tableStyleId>{5D16334A-BD30-4DCF-A821-F696FD12572A}</a:tableStyleId>
              </a:tblPr>
              <a:tblGrid>
                <a:gridCol w="491875">
                  <a:extLst>
                    <a:ext uri="{9D8B030D-6E8A-4147-A177-3AD203B41FA5}">
                      <a16:colId xmlns:a16="http://schemas.microsoft.com/office/drawing/2014/main" val="20000"/>
                    </a:ext>
                  </a:extLst>
                </a:gridCol>
                <a:gridCol w="491875">
                  <a:extLst>
                    <a:ext uri="{9D8B030D-6E8A-4147-A177-3AD203B41FA5}">
                      <a16:colId xmlns:a16="http://schemas.microsoft.com/office/drawing/2014/main" val="20001"/>
                    </a:ext>
                  </a:extLst>
                </a:gridCol>
              </a:tblGrid>
              <a:tr h="0">
                <a:tc gridSpan="2">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Node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value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solidFill>
                            <a:srgbClr val="FF0000"/>
                          </a:solidFill>
                          <a:latin typeface="Consolas"/>
                          <a:ea typeface="Consolas"/>
                          <a:cs typeface="Consolas"/>
                          <a:sym typeface="Consolas"/>
                        </a:rPr>
                        <a:t>"b"</a:t>
                      </a: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next</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473" name="Google Shape;473;p70"/>
          <p:cNvGraphicFramePr/>
          <p:nvPr/>
        </p:nvGraphicFramePr>
        <p:xfrm>
          <a:off x="879304" y="1065235"/>
          <a:ext cx="983750" cy="1219080"/>
        </p:xfrm>
        <a:graphic>
          <a:graphicData uri="http://schemas.openxmlformats.org/drawingml/2006/table">
            <a:tbl>
              <a:tblPr>
                <a:noFill/>
                <a:tableStyleId>{5D16334A-BD30-4DCF-A821-F696FD12572A}</a:tableStyleId>
              </a:tblPr>
              <a:tblGrid>
                <a:gridCol w="491875">
                  <a:extLst>
                    <a:ext uri="{9D8B030D-6E8A-4147-A177-3AD203B41FA5}">
                      <a16:colId xmlns:a16="http://schemas.microsoft.com/office/drawing/2014/main" val="20000"/>
                    </a:ext>
                  </a:extLst>
                </a:gridCol>
                <a:gridCol w="491875">
                  <a:extLst>
                    <a:ext uri="{9D8B030D-6E8A-4147-A177-3AD203B41FA5}">
                      <a16:colId xmlns:a16="http://schemas.microsoft.com/office/drawing/2014/main" val="20001"/>
                    </a:ext>
                  </a:extLst>
                </a:gridCol>
              </a:tblGrid>
              <a:tr h="0">
                <a:tc gridSpan="2">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NodeQueue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front</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back</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size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3</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474" name="Google Shape;474;p70"/>
          <p:cNvSpPr/>
          <p:nvPr/>
        </p:nvSpPr>
        <p:spPr>
          <a:xfrm>
            <a:off x="1610875" y="1198047"/>
            <a:ext cx="867950" cy="321475"/>
          </a:xfrm>
          <a:custGeom>
            <a:avLst/>
            <a:gdLst/>
            <a:ahLst/>
            <a:cxnLst/>
            <a:rect l="l" t="t" r="r" b="b"/>
            <a:pathLst>
              <a:path w="34718" h="12859" extrusionOk="0">
                <a:moveTo>
                  <a:pt x="0" y="12859"/>
                </a:moveTo>
                <a:lnTo>
                  <a:pt x="18259" y="12859"/>
                </a:lnTo>
                <a:lnTo>
                  <a:pt x="18259" y="0"/>
                </a:lnTo>
                <a:lnTo>
                  <a:pt x="34718" y="0"/>
                </a:lnTo>
              </a:path>
            </a:pathLst>
          </a:custGeom>
          <a:noFill/>
          <a:ln w="19050" cap="flat" cmpd="sng">
            <a:solidFill>
              <a:srgbClr val="FF0000"/>
            </a:solidFill>
            <a:prstDash val="solid"/>
            <a:round/>
            <a:headEnd type="none" w="sm" len="sm"/>
            <a:tailEnd type="triangle" w="med" len="med"/>
          </a:ln>
        </p:spPr>
        <p:txBody>
          <a:bodyPr/>
          <a:lstStyle/>
          <a:p>
            <a:endParaRPr lang="en-US"/>
          </a:p>
        </p:txBody>
      </p:sp>
      <p:sp>
        <p:nvSpPr>
          <p:cNvPr id="475" name="Google Shape;475;p70"/>
          <p:cNvSpPr txBox="1">
            <a:spLocks noGrp="1"/>
          </p:cNvSpPr>
          <p:nvPr>
            <p:ph type="body" idx="3"/>
          </p:nvPr>
        </p:nvSpPr>
        <p:spPr>
          <a:xfrm>
            <a:off x="318150" y="4590890"/>
            <a:ext cx="3706500" cy="468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Any remaining values added in between form a </a:t>
            </a:r>
            <a:r>
              <a:rPr lang="en" sz="1200" b="1" i="1" dirty="0">
                <a:solidFill>
                  <a:srgbClr val="FF0000"/>
                </a:solidFill>
              </a:rPr>
              <a:t>linked sequence</a:t>
            </a:r>
            <a:r>
              <a:rPr lang="en" sz="1200" dirty="0"/>
              <a:t> between the front and back.</a:t>
            </a:r>
            <a:endParaRPr sz="1200" dirty="0"/>
          </a:p>
        </p:txBody>
      </p:sp>
      <p:sp>
        <p:nvSpPr>
          <p:cNvPr id="476" name="Google Shape;476;p70"/>
          <p:cNvSpPr/>
          <p:nvPr/>
        </p:nvSpPr>
        <p:spPr>
          <a:xfrm>
            <a:off x="1607425" y="1826225"/>
            <a:ext cx="867941" cy="1453025"/>
          </a:xfrm>
          <a:custGeom>
            <a:avLst/>
            <a:gdLst/>
            <a:ahLst/>
            <a:cxnLst/>
            <a:rect l="l" t="t" r="r" b="b"/>
            <a:pathLst>
              <a:path w="33175" h="58121" extrusionOk="0">
                <a:moveTo>
                  <a:pt x="0" y="0"/>
                </a:moveTo>
                <a:lnTo>
                  <a:pt x="16973" y="0"/>
                </a:lnTo>
                <a:lnTo>
                  <a:pt x="16973" y="58121"/>
                </a:lnTo>
                <a:lnTo>
                  <a:pt x="33175" y="58121"/>
                </a:lnTo>
              </a:path>
            </a:pathLst>
          </a:custGeom>
          <a:noFill/>
          <a:ln w="19050" cap="flat" cmpd="sng">
            <a:solidFill>
              <a:srgbClr val="FF0000"/>
            </a:solidFill>
            <a:prstDash val="solid"/>
            <a:round/>
            <a:headEnd type="none" w="sm" len="sm"/>
            <a:tailEnd type="triangle" w="med" len="med"/>
          </a:ln>
        </p:spPr>
        <p:txBody>
          <a:bodyPr/>
          <a:lstStyle/>
          <a:p>
            <a:endParaRPr lang="en-US"/>
          </a:p>
        </p:txBody>
      </p:sp>
      <p:cxnSp>
        <p:nvCxnSpPr>
          <p:cNvPr id="477" name="Google Shape;477;p70"/>
          <p:cNvCxnSpPr/>
          <p:nvPr/>
        </p:nvCxnSpPr>
        <p:spPr>
          <a:xfrm>
            <a:off x="3214775" y="1863849"/>
            <a:ext cx="0" cy="270000"/>
          </a:xfrm>
          <a:prstGeom prst="straightConnector1">
            <a:avLst/>
          </a:prstGeom>
          <a:noFill/>
          <a:ln w="19050" cap="flat" cmpd="sng">
            <a:solidFill>
              <a:srgbClr val="FF0000"/>
            </a:solidFill>
            <a:prstDash val="solid"/>
            <a:round/>
            <a:headEnd type="none" w="sm" len="sm"/>
            <a:tailEnd type="triangle" w="med" len="med"/>
          </a:ln>
        </p:spPr>
      </p:cxnSp>
      <p:cxnSp>
        <p:nvCxnSpPr>
          <p:cNvPr id="478" name="Google Shape;478;p70"/>
          <p:cNvCxnSpPr/>
          <p:nvPr/>
        </p:nvCxnSpPr>
        <p:spPr>
          <a:xfrm>
            <a:off x="3214775" y="2917790"/>
            <a:ext cx="0" cy="270000"/>
          </a:xfrm>
          <a:prstGeom prst="straightConnector1">
            <a:avLst/>
          </a:prstGeom>
          <a:noFill/>
          <a:ln w="19050" cap="flat" cmpd="sng">
            <a:solidFill>
              <a:srgbClr val="FF0000"/>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6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6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6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6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6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6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6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68"/>
                                        </p:tgtEl>
                                        <p:attrNameLst>
                                          <p:attrName>style.visibility</p:attrName>
                                        </p:attrNameLst>
                                      </p:cBhvr>
                                      <p:to>
                                        <p:strVal val="visible"/>
                                      </p:to>
                                    </p:set>
                                    <p:animEffect transition="in" filter="fade">
                                      <p:cBhvr>
                                        <p:cTn id="59" dur="1000"/>
                                        <p:tgtEl>
                                          <p:spTgt spid="468"/>
                                        </p:tgtEl>
                                      </p:cBhvr>
                                    </p:animEffect>
                                  </p:childTnLst>
                                </p:cTn>
                              </p:par>
                              <p:par>
                                <p:cTn id="60" presetID="10" presetClass="entr" presetSubtype="0" fill="hold" nodeType="withEffect">
                                  <p:stCondLst>
                                    <p:cond delay="0"/>
                                  </p:stCondLst>
                                  <p:childTnLst>
                                    <p:set>
                                      <p:cBhvr>
                                        <p:cTn id="61" dur="1" fill="hold">
                                          <p:stCondLst>
                                            <p:cond delay="0"/>
                                          </p:stCondLst>
                                        </p:cTn>
                                        <p:tgtEl>
                                          <p:spTgt spid="473"/>
                                        </p:tgtEl>
                                        <p:attrNameLst>
                                          <p:attrName>style.visibility</p:attrName>
                                        </p:attrNameLst>
                                      </p:cBhvr>
                                      <p:to>
                                        <p:strVal val="visible"/>
                                      </p:to>
                                    </p:set>
                                    <p:animEffect transition="in" filter="fade">
                                      <p:cBhvr>
                                        <p:cTn id="62" dur="1000"/>
                                        <p:tgtEl>
                                          <p:spTgt spid="473"/>
                                        </p:tgtEl>
                                      </p:cBhvr>
                                    </p:animEffect>
                                  </p:childTnLst>
                                </p:cTn>
                              </p:par>
                            </p:childTnLst>
                          </p:cTn>
                        </p:par>
                        <p:par>
                          <p:cTn id="63" fill="hold">
                            <p:stCondLst>
                              <p:cond delay="1000"/>
                            </p:stCondLst>
                            <p:childTnLst>
                              <p:par>
                                <p:cTn id="64" presetID="10" presetClass="entr" presetSubtype="0" fill="hold" nodeType="afterEffect">
                                  <p:stCondLst>
                                    <p:cond delay="0"/>
                                  </p:stCondLst>
                                  <p:childTnLst>
                                    <p:set>
                                      <p:cBhvr>
                                        <p:cTn id="65" dur="1" fill="hold">
                                          <p:stCondLst>
                                            <p:cond delay="0"/>
                                          </p:stCondLst>
                                        </p:cTn>
                                        <p:tgtEl>
                                          <p:spTgt spid="470"/>
                                        </p:tgtEl>
                                        <p:attrNameLst>
                                          <p:attrName>style.visibility</p:attrName>
                                        </p:attrNameLst>
                                      </p:cBhvr>
                                      <p:to>
                                        <p:strVal val="visible"/>
                                      </p:to>
                                    </p:set>
                                    <p:animEffect transition="in" filter="fade">
                                      <p:cBhvr>
                                        <p:cTn id="66" dur="1000"/>
                                        <p:tgtEl>
                                          <p:spTgt spid="470"/>
                                        </p:tgtEl>
                                      </p:cBhvr>
                                    </p:animEffect>
                                  </p:childTnLst>
                                </p:cTn>
                              </p:par>
                              <p:par>
                                <p:cTn id="67" presetID="10" presetClass="entr" presetSubtype="0" fill="hold" nodeType="withEffect">
                                  <p:stCondLst>
                                    <p:cond delay="0"/>
                                  </p:stCondLst>
                                  <p:childTnLst>
                                    <p:set>
                                      <p:cBhvr>
                                        <p:cTn id="68" dur="1" fill="hold">
                                          <p:stCondLst>
                                            <p:cond delay="0"/>
                                          </p:stCondLst>
                                        </p:cTn>
                                        <p:tgtEl>
                                          <p:spTgt spid="474"/>
                                        </p:tgtEl>
                                        <p:attrNameLst>
                                          <p:attrName>style.visibility</p:attrName>
                                        </p:attrNameLst>
                                      </p:cBhvr>
                                      <p:to>
                                        <p:strVal val="visible"/>
                                      </p:to>
                                    </p:set>
                                    <p:animEffect transition="in" filter="fade">
                                      <p:cBhvr>
                                        <p:cTn id="69" dur="1000"/>
                                        <p:tgtEl>
                                          <p:spTgt spid="47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469"/>
                                        </p:tgtEl>
                                        <p:attrNameLst>
                                          <p:attrName>style.visibility</p:attrName>
                                        </p:attrNameLst>
                                      </p:cBhvr>
                                      <p:to>
                                        <p:strVal val="visible"/>
                                      </p:to>
                                    </p:set>
                                    <p:animEffect transition="in" filter="fade">
                                      <p:cBhvr>
                                        <p:cTn id="74" dur="1000"/>
                                        <p:tgtEl>
                                          <p:spTgt spid="469"/>
                                        </p:tgtEl>
                                      </p:cBhvr>
                                    </p:animEffect>
                                  </p:childTnLst>
                                </p:cTn>
                              </p:par>
                            </p:childTnLst>
                          </p:cTn>
                        </p:par>
                        <p:par>
                          <p:cTn id="75" fill="hold">
                            <p:stCondLst>
                              <p:cond delay="1000"/>
                            </p:stCondLst>
                            <p:childTnLst>
                              <p:par>
                                <p:cTn id="76" presetID="10" presetClass="entr" presetSubtype="0" fill="hold" nodeType="afterEffect">
                                  <p:stCondLst>
                                    <p:cond delay="0"/>
                                  </p:stCondLst>
                                  <p:childTnLst>
                                    <p:set>
                                      <p:cBhvr>
                                        <p:cTn id="77" dur="1" fill="hold">
                                          <p:stCondLst>
                                            <p:cond delay="0"/>
                                          </p:stCondLst>
                                        </p:cTn>
                                        <p:tgtEl>
                                          <p:spTgt spid="471"/>
                                        </p:tgtEl>
                                        <p:attrNameLst>
                                          <p:attrName>style.visibility</p:attrName>
                                        </p:attrNameLst>
                                      </p:cBhvr>
                                      <p:to>
                                        <p:strVal val="visible"/>
                                      </p:to>
                                    </p:set>
                                    <p:animEffect transition="in" filter="fade">
                                      <p:cBhvr>
                                        <p:cTn id="78" dur="1000"/>
                                        <p:tgtEl>
                                          <p:spTgt spid="471"/>
                                        </p:tgtEl>
                                      </p:cBhvr>
                                    </p:animEffect>
                                  </p:childTnLst>
                                </p:cTn>
                              </p:par>
                              <p:par>
                                <p:cTn id="79" presetID="10" presetClass="entr" presetSubtype="0" fill="hold" nodeType="withEffect">
                                  <p:stCondLst>
                                    <p:cond delay="0"/>
                                  </p:stCondLst>
                                  <p:childTnLst>
                                    <p:set>
                                      <p:cBhvr>
                                        <p:cTn id="80" dur="1" fill="hold">
                                          <p:stCondLst>
                                            <p:cond delay="0"/>
                                          </p:stCondLst>
                                        </p:cTn>
                                        <p:tgtEl>
                                          <p:spTgt spid="476"/>
                                        </p:tgtEl>
                                        <p:attrNameLst>
                                          <p:attrName>style.visibility</p:attrName>
                                        </p:attrNameLst>
                                      </p:cBhvr>
                                      <p:to>
                                        <p:strVal val="visible"/>
                                      </p:to>
                                    </p:set>
                                    <p:animEffect transition="in" filter="fade">
                                      <p:cBhvr>
                                        <p:cTn id="81" dur="1000"/>
                                        <p:tgtEl>
                                          <p:spTgt spid="476"/>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475"/>
                                        </p:tgtEl>
                                        <p:attrNameLst>
                                          <p:attrName>style.visibility</p:attrName>
                                        </p:attrNameLst>
                                      </p:cBhvr>
                                      <p:to>
                                        <p:strVal val="visible"/>
                                      </p:to>
                                    </p:set>
                                    <p:animEffect transition="in" filter="fade">
                                      <p:cBhvr>
                                        <p:cTn id="86" dur="1000"/>
                                        <p:tgtEl>
                                          <p:spTgt spid="475"/>
                                        </p:tgtEl>
                                      </p:cBhvr>
                                    </p:animEffect>
                                  </p:childTnLst>
                                </p:cTn>
                              </p:par>
                            </p:childTnLst>
                          </p:cTn>
                        </p:par>
                        <p:par>
                          <p:cTn id="87" fill="hold">
                            <p:stCondLst>
                              <p:cond delay="1000"/>
                            </p:stCondLst>
                            <p:childTnLst>
                              <p:par>
                                <p:cTn id="88" presetID="10" presetClass="entr" presetSubtype="0" fill="hold" nodeType="afterEffect">
                                  <p:stCondLst>
                                    <p:cond delay="0"/>
                                  </p:stCondLst>
                                  <p:childTnLst>
                                    <p:set>
                                      <p:cBhvr>
                                        <p:cTn id="89" dur="1" fill="hold">
                                          <p:stCondLst>
                                            <p:cond delay="0"/>
                                          </p:stCondLst>
                                        </p:cTn>
                                        <p:tgtEl>
                                          <p:spTgt spid="472"/>
                                        </p:tgtEl>
                                        <p:attrNameLst>
                                          <p:attrName>style.visibility</p:attrName>
                                        </p:attrNameLst>
                                      </p:cBhvr>
                                      <p:to>
                                        <p:strVal val="visible"/>
                                      </p:to>
                                    </p:set>
                                    <p:animEffect transition="in" filter="fade">
                                      <p:cBhvr>
                                        <p:cTn id="90" dur="1000"/>
                                        <p:tgtEl>
                                          <p:spTgt spid="472"/>
                                        </p:tgtEl>
                                      </p:cBhvr>
                                    </p:animEffect>
                                  </p:childTnLst>
                                </p:cTn>
                              </p:par>
                              <p:par>
                                <p:cTn id="91" presetID="10" presetClass="entr" presetSubtype="0" fill="hold" nodeType="withEffect">
                                  <p:stCondLst>
                                    <p:cond delay="0"/>
                                  </p:stCondLst>
                                  <p:childTnLst>
                                    <p:set>
                                      <p:cBhvr>
                                        <p:cTn id="92" dur="1" fill="hold">
                                          <p:stCondLst>
                                            <p:cond delay="0"/>
                                          </p:stCondLst>
                                        </p:cTn>
                                        <p:tgtEl>
                                          <p:spTgt spid="477"/>
                                        </p:tgtEl>
                                        <p:attrNameLst>
                                          <p:attrName>style.visibility</p:attrName>
                                        </p:attrNameLst>
                                      </p:cBhvr>
                                      <p:to>
                                        <p:strVal val="visible"/>
                                      </p:to>
                                    </p:set>
                                    <p:animEffect transition="in" filter="fade">
                                      <p:cBhvr>
                                        <p:cTn id="93" dur="1000"/>
                                        <p:tgtEl>
                                          <p:spTgt spid="477"/>
                                        </p:tgtEl>
                                      </p:cBhvr>
                                    </p:animEffect>
                                  </p:childTnLst>
                                </p:cTn>
                              </p:par>
                              <p:par>
                                <p:cTn id="94" presetID="10" presetClass="entr" presetSubtype="0" fill="hold" nodeType="withEffect">
                                  <p:stCondLst>
                                    <p:cond delay="0"/>
                                  </p:stCondLst>
                                  <p:childTnLst>
                                    <p:set>
                                      <p:cBhvr>
                                        <p:cTn id="95" dur="1" fill="hold">
                                          <p:stCondLst>
                                            <p:cond delay="0"/>
                                          </p:stCondLst>
                                        </p:cTn>
                                        <p:tgtEl>
                                          <p:spTgt spid="478"/>
                                        </p:tgtEl>
                                        <p:attrNameLst>
                                          <p:attrName>style.visibility</p:attrName>
                                        </p:attrNameLst>
                                      </p:cBhvr>
                                      <p:to>
                                        <p:strVal val="visible"/>
                                      </p:to>
                                    </p:set>
                                    <p:animEffect transition="in" filter="fade">
                                      <p:cBhvr>
                                        <p:cTn id="96" dur="1000"/>
                                        <p:tgtEl>
                                          <p:spTgt spid="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7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Our first implementation of a Queue will use Nodes to store the values that are added to the Queue. Begin your implementation of a Node-based Queue.</a:t>
            </a:r>
            <a:endParaRPr b="1" dirty="0"/>
          </a:p>
        </p:txBody>
      </p:sp>
      <p:sp>
        <p:nvSpPr>
          <p:cNvPr id="484" name="Google Shape;484;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sp>
        <p:nvSpPr>
          <p:cNvPr id="485" name="Google Shape;485;p71"/>
          <p:cNvSpPr txBox="1">
            <a:spLocks noGrp="1"/>
          </p:cNvSpPr>
          <p:nvPr>
            <p:ph type="body" idx="2"/>
          </p:nvPr>
        </p:nvSpPr>
        <p:spPr>
          <a:xfrm>
            <a:off x="3234350" y="1471425"/>
            <a:ext cx="5721600" cy="3617883"/>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Create a new Java class named "</a:t>
            </a:r>
            <a:r>
              <a:rPr lang="en" sz="1600" dirty="0">
                <a:solidFill>
                  <a:srgbClr val="FF0000"/>
                </a:solidFill>
                <a:latin typeface="Courier New"/>
                <a:ea typeface="Courier New"/>
                <a:cs typeface="Courier New"/>
                <a:sym typeface="Courier New"/>
              </a:rPr>
              <a:t>NodeQueue</a:t>
            </a:r>
            <a:r>
              <a:rPr lang="en" sz="1600" dirty="0"/>
              <a:t>".</a:t>
            </a:r>
            <a:endParaRPr sz="1600" dirty="0"/>
          </a:p>
          <a:p>
            <a:pPr marL="914400" lvl="1" indent="-317500" algn="l" rtl="0">
              <a:spcBef>
                <a:spcPts val="0"/>
              </a:spcBef>
              <a:spcAft>
                <a:spcPts val="0"/>
              </a:spcAft>
              <a:buSzPts val="1400"/>
              <a:buChar char="○"/>
            </a:pPr>
            <a:r>
              <a:rPr lang="en" sz="1400" dirty="0"/>
              <a:t>Use the UML to the left as a guide to begin implementing your </a:t>
            </a:r>
            <a:r>
              <a:rPr lang="en" sz="1400" dirty="0">
                <a:latin typeface="Courier New"/>
                <a:ea typeface="Courier New"/>
                <a:cs typeface="Courier New"/>
                <a:sym typeface="Courier New"/>
              </a:rPr>
              <a:t>NodeQueue</a:t>
            </a:r>
            <a:r>
              <a:rPr lang="en" sz="1400" dirty="0"/>
              <a:t>.</a:t>
            </a:r>
            <a:endParaRPr sz="1400" dirty="0"/>
          </a:p>
          <a:p>
            <a:pPr marL="914400" lvl="1" indent="-317500" algn="l" rtl="0">
              <a:spcBef>
                <a:spcPts val="0"/>
              </a:spcBef>
              <a:spcAft>
                <a:spcPts val="0"/>
              </a:spcAft>
              <a:buSzPts val="1400"/>
              <a:buChar char="○"/>
            </a:pPr>
            <a:r>
              <a:rPr lang="en" sz="1400" dirty="0">
                <a:highlight>
                  <a:srgbClr val="FFFF00"/>
                </a:highlight>
              </a:rPr>
              <a:t>For now focus on </a:t>
            </a:r>
            <a:r>
              <a:rPr lang="en" sz="1400" b="1" i="1" dirty="0">
                <a:solidFill>
                  <a:srgbClr val="FF0000"/>
                </a:solidFill>
                <a:highlight>
                  <a:srgbClr val="FFFF00"/>
                </a:highlight>
              </a:rPr>
              <a:t>fields </a:t>
            </a:r>
            <a:r>
              <a:rPr lang="en" sz="1400" dirty="0">
                <a:highlight>
                  <a:srgbClr val="FFFF00"/>
                </a:highlight>
              </a:rPr>
              <a:t>and </a:t>
            </a:r>
            <a:r>
              <a:rPr lang="en" sz="1400" b="1" i="1" dirty="0">
                <a:solidFill>
                  <a:srgbClr val="FF0000"/>
                </a:solidFill>
                <a:highlight>
                  <a:srgbClr val="FFFF00"/>
                </a:highlight>
              </a:rPr>
              <a:t>constructors</a:t>
            </a:r>
            <a:r>
              <a:rPr lang="en" sz="1400" dirty="0">
                <a:highlight>
                  <a:srgbClr val="FFFF00"/>
                </a:highlight>
              </a:rPr>
              <a:t>.</a:t>
            </a:r>
            <a:endParaRPr sz="1400" dirty="0">
              <a:highlight>
                <a:srgbClr val="FFFF00"/>
              </a:highlight>
            </a:endParaRPr>
          </a:p>
          <a:p>
            <a:pPr marL="914400" lvl="1" indent="-317500" algn="l" rtl="0">
              <a:spcBef>
                <a:spcPts val="0"/>
              </a:spcBef>
              <a:spcAft>
                <a:spcPts val="0"/>
              </a:spcAft>
              <a:buSzPts val="1400"/>
              <a:buChar char="○"/>
            </a:pPr>
            <a:r>
              <a:rPr lang="en" sz="1400" dirty="0">
                <a:highlight>
                  <a:srgbClr val="FFFF00"/>
                </a:highlight>
              </a:rPr>
              <a:t>Implement the </a:t>
            </a:r>
            <a:r>
              <a:rPr lang="en" sz="1400" dirty="0">
                <a:solidFill>
                  <a:srgbClr val="FF0000"/>
                </a:solidFill>
                <a:highlight>
                  <a:srgbClr val="FFFF00"/>
                </a:highlight>
                <a:latin typeface="Courier New"/>
                <a:ea typeface="Courier New"/>
                <a:cs typeface="Courier New"/>
                <a:sym typeface="Courier New"/>
              </a:rPr>
              <a:t>size</a:t>
            </a:r>
            <a:r>
              <a:rPr lang="en" sz="1400" dirty="0">
                <a:highlight>
                  <a:srgbClr val="FFFF00"/>
                </a:highlight>
              </a:rPr>
              <a:t> method.</a:t>
            </a:r>
            <a:endParaRPr sz="1400" dirty="0">
              <a:highlight>
                <a:srgbClr val="FFFF00"/>
              </a:highlight>
            </a:endParaRPr>
          </a:p>
          <a:p>
            <a:pPr marL="914400" lvl="1" indent="-317500" algn="l" rtl="0">
              <a:spcBef>
                <a:spcPts val="0"/>
              </a:spcBef>
              <a:spcAft>
                <a:spcPts val="0"/>
              </a:spcAft>
              <a:buSzPts val="1400"/>
              <a:buChar char="○"/>
            </a:pPr>
            <a:r>
              <a:rPr lang="en" sz="1400" b="1" i="1" dirty="0">
                <a:solidFill>
                  <a:srgbClr val="FF0000"/>
                </a:solidFill>
              </a:rPr>
              <a:t>Stub-out</a:t>
            </a:r>
            <a:r>
              <a:rPr lang="en" sz="1400" dirty="0"/>
              <a:t> any other methods required by </a:t>
            </a:r>
            <a:r>
              <a:rPr lang="en" sz="1400" dirty="0">
                <a:highlight>
                  <a:srgbClr val="FFFF00"/>
                </a:highlight>
              </a:rPr>
              <a:t>the </a:t>
            </a:r>
            <a:r>
              <a:rPr lang="en" sz="1400" dirty="0">
                <a:highlight>
                  <a:srgbClr val="FFFF00"/>
                </a:highlight>
                <a:latin typeface="Courier New"/>
                <a:ea typeface="Courier New"/>
                <a:cs typeface="Courier New"/>
                <a:sym typeface="Courier New"/>
              </a:rPr>
              <a:t>Queue</a:t>
            </a:r>
            <a:r>
              <a:rPr lang="en" sz="1400" dirty="0">
                <a:highlight>
                  <a:srgbClr val="FFFF00"/>
                </a:highlight>
              </a:rPr>
              <a:t> interface.</a:t>
            </a:r>
            <a:endParaRPr sz="1400" dirty="0">
              <a:highlight>
                <a:srgbClr val="FFFF00"/>
              </a:highlight>
            </a:endParaRPr>
          </a:p>
          <a:p>
            <a:pPr marL="457200" lvl="0" indent="-330200" algn="l" rtl="0">
              <a:spcBef>
                <a:spcPts val="0"/>
              </a:spcBef>
              <a:spcAft>
                <a:spcPts val="0"/>
              </a:spcAft>
              <a:buSzPts val="1600"/>
              <a:buChar char="●"/>
            </a:pPr>
            <a:r>
              <a:rPr lang="en" sz="1600" dirty="0"/>
              <a:t>Implement a toString() method that returns a string in the format </a:t>
            </a:r>
            <a:r>
              <a:rPr lang="en" sz="1600" dirty="0">
                <a:latin typeface="Courier New"/>
                <a:ea typeface="Courier New"/>
                <a:cs typeface="Courier New"/>
                <a:sym typeface="Courier New"/>
              </a:rPr>
              <a:t>"&lt;size&gt;, &lt;front&gt;"</a:t>
            </a:r>
            <a:endParaRPr sz="1600" dirty="0">
              <a:latin typeface="Courier New"/>
              <a:ea typeface="Courier New"/>
              <a:cs typeface="Courier New"/>
              <a:sym typeface="Courier New"/>
            </a:endParaRPr>
          </a:p>
          <a:p>
            <a:pPr marL="914400" lvl="1" indent="-317500" algn="l" rtl="0">
              <a:spcBef>
                <a:spcPts val="0"/>
              </a:spcBef>
              <a:spcAft>
                <a:spcPts val="0"/>
              </a:spcAft>
              <a:buSzPts val="1400"/>
              <a:buChar char="○"/>
            </a:pPr>
            <a:r>
              <a:rPr lang="en" sz="1400" dirty="0"/>
              <a:t>e.g. </a:t>
            </a:r>
            <a:r>
              <a:rPr lang="en" sz="1400" dirty="0">
                <a:latin typeface="Courier New"/>
                <a:ea typeface="Courier New"/>
                <a:cs typeface="Courier New"/>
                <a:sym typeface="Courier New"/>
              </a:rPr>
              <a:t>"2, 5 -&gt; 4 -&gt; null"</a:t>
            </a:r>
            <a:r>
              <a:rPr lang="en" sz="1400" dirty="0"/>
              <a:t>.</a:t>
            </a:r>
            <a:endParaRPr sz="1400" dirty="0"/>
          </a:p>
          <a:p>
            <a:pPr marL="457200" lvl="0" indent="-330200" algn="l" rtl="0">
              <a:spcBef>
                <a:spcPts val="0"/>
              </a:spcBef>
              <a:spcAft>
                <a:spcPts val="0"/>
              </a:spcAft>
              <a:buSzPts val="1600"/>
              <a:buChar char="●"/>
            </a:pPr>
            <a:r>
              <a:rPr lang="en" sz="1600" dirty="0"/>
              <a:t>Define a </a:t>
            </a:r>
            <a:r>
              <a:rPr lang="en" sz="1600" dirty="0">
                <a:latin typeface="Courier New"/>
                <a:ea typeface="Courier New"/>
                <a:cs typeface="Courier New"/>
                <a:sym typeface="Courier New"/>
              </a:rPr>
              <a:t>main</a:t>
            </a:r>
            <a:r>
              <a:rPr lang="en" sz="1600" dirty="0"/>
              <a:t> method with the appropriate signature and use it to create an instance of the new class and print it to standard output.</a:t>
            </a:r>
            <a:endParaRPr sz="1600" dirty="0"/>
          </a:p>
        </p:txBody>
      </p:sp>
      <p:sp>
        <p:nvSpPr>
          <p:cNvPr id="486" name="Google Shape;486;p7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Node-Based Queue</a:t>
            </a:r>
            <a:endParaRPr/>
          </a:p>
        </p:txBody>
      </p:sp>
      <p:sp>
        <p:nvSpPr>
          <p:cNvPr id="487" name="Google Shape;487;p7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5.5</a:t>
            </a:r>
            <a:endParaRPr/>
          </a:p>
        </p:txBody>
      </p:sp>
      <p:pic>
        <p:nvPicPr>
          <p:cNvPr id="488" name="Google Shape;488;p71"/>
          <p:cNvPicPr preferRelativeResize="0"/>
          <p:nvPr/>
        </p:nvPicPr>
        <p:blipFill rotWithShape="1">
          <a:blip r:embed="rId3">
            <a:alphaModFix/>
          </a:blip>
          <a:srcRect/>
          <a:stretch/>
        </p:blipFill>
        <p:spPr>
          <a:xfrm>
            <a:off x="145903" y="1532901"/>
            <a:ext cx="2953127" cy="2261849"/>
          </a:xfrm>
          <a:prstGeom prst="rect">
            <a:avLst/>
          </a:prstGeom>
          <a:noFill/>
          <a:ln>
            <a:noFill/>
          </a:ln>
        </p:spPr>
      </p:pic>
      <p:sp>
        <p:nvSpPr>
          <p:cNvPr id="489" name="Google Shape;489;p71"/>
          <p:cNvSpPr txBox="1">
            <a:spLocks noGrp="1"/>
          </p:cNvSpPr>
          <p:nvPr>
            <p:ph type="body" idx="4"/>
          </p:nvPr>
        </p:nvSpPr>
        <p:spPr>
          <a:xfrm>
            <a:off x="178050" y="3927025"/>
            <a:ext cx="2913300" cy="852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In UML, an </a:t>
            </a:r>
            <a:r>
              <a:rPr lang="en" sz="1200" b="1" i="1">
                <a:solidFill>
                  <a:srgbClr val="FF0000"/>
                </a:solidFill>
                <a:latin typeface="Arial"/>
                <a:ea typeface="Arial"/>
                <a:cs typeface="Arial"/>
                <a:sym typeface="Arial"/>
              </a:rPr>
              <a:t>association </a:t>
            </a:r>
            <a:r>
              <a:rPr lang="en" sz="1200">
                <a:solidFill>
                  <a:srgbClr val="000000"/>
                </a:solidFill>
                <a:latin typeface="Arial"/>
                <a:ea typeface="Arial"/>
                <a:cs typeface="Arial"/>
                <a:sym typeface="Arial"/>
              </a:rPr>
              <a:t>indicates that one class </a:t>
            </a:r>
            <a:r>
              <a:rPr lang="en" sz="1200" b="1" i="1">
                <a:solidFill>
                  <a:srgbClr val="FF0000"/>
                </a:solidFill>
                <a:latin typeface="Arial"/>
                <a:ea typeface="Arial"/>
                <a:cs typeface="Arial"/>
                <a:sym typeface="Arial"/>
              </a:rPr>
              <a:t>uses </a:t>
            </a:r>
            <a:r>
              <a:rPr lang="en" sz="1200">
                <a:solidFill>
                  <a:srgbClr val="000000"/>
                </a:solidFill>
                <a:latin typeface="Arial"/>
                <a:ea typeface="Arial"/>
                <a:cs typeface="Arial"/>
                <a:sym typeface="Arial"/>
              </a:rPr>
              <a:t>another in some way, e.g. as a field. This is indicated with a solid line ending in an open arrow.</a:t>
            </a:r>
            <a:endParaRPr/>
          </a:p>
        </p:txBody>
      </p:sp>
      <p:sp>
        <p:nvSpPr>
          <p:cNvPr id="490" name="Google Shape;490;p71"/>
          <p:cNvSpPr/>
          <p:nvPr/>
        </p:nvSpPr>
        <p:spPr>
          <a:xfrm>
            <a:off x="1714500" y="2889950"/>
            <a:ext cx="129775" cy="1033175"/>
          </a:xfrm>
          <a:custGeom>
            <a:avLst/>
            <a:gdLst/>
            <a:ahLst/>
            <a:cxnLst/>
            <a:rect l="l" t="t" r="r" b="b"/>
            <a:pathLst>
              <a:path w="5191" h="41327" extrusionOk="0">
                <a:moveTo>
                  <a:pt x="0" y="41327"/>
                </a:moveTo>
                <a:cubicBezTo>
                  <a:pt x="849" y="37933"/>
                  <a:pt x="4692" y="27851"/>
                  <a:pt x="5091" y="20963"/>
                </a:cubicBezTo>
                <a:cubicBezTo>
                  <a:pt x="5490" y="14075"/>
                  <a:pt x="2845" y="3494"/>
                  <a:pt x="2396"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2"/>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Closer Look at Enqueuing</a:t>
            </a:r>
            <a:endParaRPr/>
          </a:p>
        </p:txBody>
      </p:sp>
      <p:sp>
        <p:nvSpPr>
          <p:cNvPr id="496" name="Google Shape;496;p7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15</a:t>
            </a:fld>
            <a:endParaRPr/>
          </a:p>
        </p:txBody>
      </p:sp>
      <p:sp>
        <p:nvSpPr>
          <p:cNvPr id="497" name="Google Shape;497;p72"/>
          <p:cNvSpPr txBox="1">
            <a:spLocks noGrp="1"/>
          </p:cNvSpPr>
          <p:nvPr>
            <p:ph type="body" idx="4294967295"/>
          </p:nvPr>
        </p:nvSpPr>
        <p:spPr>
          <a:xfrm>
            <a:off x="336600" y="1449725"/>
            <a:ext cx="25617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An </a:t>
            </a:r>
            <a:r>
              <a:rPr lang="en" sz="1200" b="1" i="1">
                <a:solidFill>
                  <a:srgbClr val="FF0000"/>
                </a:solidFill>
                <a:latin typeface="Arial"/>
                <a:ea typeface="Arial"/>
                <a:cs typeface="Arial"/>
                <a:sym typeface="Arial"/>
              </a:rPr>
              <a:t>empty</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queue has a </a:t>
            </a:r>
            <a:r>
              <a:rPr lang="en" sz="1200" b="1" i="1">
                <a:solidFill>
                  <a:srgbClr val="FF0000"/>
                </a:solidFill>
                <a:latin typeface="Arial"/>
                <a:ea typeface="Arial"/>
                <a:cs typeface="Arial"/>
                <a:sym typeface="Arial"/>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a:t>
            </a:r>
            <a:r>
              <a:rPr lang="en" sz="1200">
                <a:solidFill>
                  <a:srgbClr val="FF0000"/>
                </a:solidFill>
                <a:latin typeface="Arial"/>
                <a:ea typeface="Arial"/>
                <a:cs typeface="Arial"/>
                <a:sym typeface="Arial"/>
              </a:rPr>
              <a:t>0</a:t>
            </a:r>
            <a:r>
              <a:rPr lang="en" sz="1200">
                <a:solidFill>
                  <a:srgbClr val="000000"/>
                </a:solidFill>
                <a:latin typeface="Arial"/>
                <a:ea typeface="Arial"/>
                <a:cs typeface="Arial"/>
                <a:sym typeface="Arial"/>
              </a:rPr>
              <a:t>, and both the </a:t>
            </a:r>
            <a:r>
              <a:rPr lang="en" sz="1200" b="1" i="1">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a:t>
            </a:r>
            <a:r>
              <a:rPr lang="en" sz="1200" b="1" i="1">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are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498" name="Google Shape;498;p72"/>
          <p:cNvSpPr txBox="1">
            <a:spLocks noGrp="1"/>
          </p:cNvSpPr>
          <p:nvPr>
            <p:ph type="body" idx="4294967295"/>
          </p:nvPr>
        </p:nvSpPr>
        <p:spPr>
          <a:xfrm>
            <a:off x="3284458" y="1449725"/>
            <a:ext cx="25617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When the </a:t>
            </a:r>
            <a:r>
              <a:rPr lang="en" sz="1200" b="1" i="1">
                <a:solidFill>
                  <a:srgbClr val="FF0000"/>
                </a:solidFill>
                <a:latin typeface="Arial"/>
                <a:ea typeface="Arial"/>
                <a:cs typeface="Arial"/>
                <a:sym typeface="Arial"/>
              </a:rPr>
              <a:t>first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value is </a:t>
            </a:r>
            <a:r>
              <a:rPr lang="en" sz="1200" b="1" i="1">
                <a:solidFill>
                  <a:srgbClr val="FF0000"/>
                </a:solidFill>
                <a:latin typeface="Arial"/>
                <a:ea typeface="Arial"/>
                <a:cs typeface="Arial"/>
                <a:sym typeface="Arial"/>
              </a:rPr>
              <a:t>enqueued</a:t>
            </a:r>
            <a:r>
              <a:rPr lang="en" sz="1200">
                <a:solidFill>
                  <a:srgbClr val="000000"/>
                </a:solidFill>
                <a:latin typeface="Arial"/>
                <a:ea typeface="Arial"/>
                <a:cs typeface="Arial"/>
                <a:sym typeface="Arial"/>
              </a:rPr>
              <a:t>, a new </a:t>
            </a:r>
            <a:r>
              <a:rPr lang="en" sz="1200" b="1" i="1">
                <a:solidFill>
                  <a:srgbClr val="FF0000"/>
                </a:solidFill>
                <a:latin typeface="Arial"/>
                <a:ea typeface="Arial"/>
                <a:cs typeface="Arial"/>
                <a:sym typeface="Arial"/>
              </a:rPr>
              <a:t>node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created to hold the value.</a:t>
            </a:r>
            <a:endParaRPr sz="1200">
              <a:solidFill>
                <a:srgbClr val="FF0000"/>
              </a:solidFill>
              <a:latin typeface="Courier New"/>
              <a:ea typeface="Courier New"/>
              <a:cs typeface="Courier New"/>
              <a:sym typeface="Courier New"/>
            </a:endParaRPr>
          </a:p>
        </p:txBody>
      </p:sp>
      <p:graphicFrame>
        <p:nvGraphicFramePr>
          <p:cNvPr id="499" name="Google Shape;499;p72"/>
          <p:cNvGraphicFramePr/>
          <p:nvPr/>
        </p:nvGraphicFramePr>
        <p:xfrm>
          <a:off x="3376462" y="2355537"/>
          <a:ext cx="1074550" cy="134100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Queue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size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0</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front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back</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500" name="Google Shape;500;p72"/>
          <p:cNvGraphicFramePr/>
          <p:nvPr/>
        </p:nvGraphicFramePr>
        <p:xfrm>
          <a:off x="4679612" y="2694369"/>
          <a:ext cx="1074550" cy="100575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Node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value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"a"</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next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501" name="Google Shape;501;p72"/>
          <p:cNvGraphicFramePr/>
          <p:nvPr/>
        </p:nvGraphicFramePr>
        <p:xfrm>
          <a:off x="935875" y="2355525"/>
          <a:ext cx="1074550" cy="134100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Queue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size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0</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front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back</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grpSp>
        <p:nvGrpSpPr>
          <p:cNvPr id="502" name="Google Shape;502;p72"/>
          <p:cNvGrpSpPr/>
          <p:nvPr/>
        </p:nvGrpSpPr>
        <p:grpSpPr>
          <a:xfrm>
            <a:off x="3969700" y="2404612"/>
            <a:ext cx="1131587" cy="891409"/>
            <a:chOff x="3279050" y="2526537"/>
            <a:chExt cx="1131587" cy="891409"/>
          </a:xfrm>
        </p:grpSpPr>
        <p:sp>
          <p:nvSpPr>
            <p:cNvPr id="503" name="Google Shape;503;p72"/>
            <p:cNvSpPr/>
            <p:nvPr/>
          </p:nvSpPr>
          <p:spPr>
            <a:xfrm>
              <a:off x="3279050" y="3231646"/>
              <a:ext cx="360000" cy="1863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72"/>
            <p:cNvSpPr/>
            <p:nvPr/>
          </p:nvSpPr>
          <p:spPr>
            <a:xfrm>
              <a:off x="3375512" y="2526537"/>
              <a:ext cx="1035125" cy="784400"/>
            </a:xfrm>
            <a:custGeom>
              <a:avLst/>
              <a:gdLst/>
              <a:ahLst/>
              <a:cxnLst/>
              <a:rect l="l" t="t" r="r" b="b"/>
              <a:pathLst>
                <a:path w="41405" h="31376" extrusionOk="0">
                  <a:moveTo>
                    <a:pt x="0" y="31376"/>
                  </a:moveTo>
                  <a:lnTo>
                    <a:pt x="19288" y="31376"/>
                  </a:lnTo>
                  <a:lnTo>
                    <a:pt x="19288" y="0"/>
                  </a:lnTo>
                  <a:lnTo>
                    <a:pt x="41405" y="0"/>
                  </a:lnTo>
                  <a:lnTo>
                    <a:pt x="41405" y="11830"/>
                  </a:lnTo>
                </a:path>
              </a:pathLst>
            </a:custGeom>
            <a:noFill/>
            <a:ln w="19050" cap="flat" cmpd="sng">
              <a:solidFill>
                <a:srgbClr val="FF0000"/>
              </a:solidFill>
              <a:prstDash val="solid"/>
              <a:round/>
              <a:headEnd type="none" w="sm" len="sm"/>
              <a:tailEnd type="triangle" w="med" len="med"/>
            </a:ln>
          </p:spPr>
          <p:txBody>
            <a:bodyPr/>
            <a:lstStyle/>
            <a:p>
              <a:endParaRPr lang="en-US"/>
            </a:p>
          </p:txBody>
        </p:sp>
      </p:grpSp>
      <p:grpSp>
        <p:nvGrpSpPr>
          <p:cNvPr id="505" name="Google Shape;505;p72"/>
          <p:cNvGrpSpPr/>
          <p:nvPr/>
        </p:nvGrpSpPr>
        <p:grpSpPr>
          <a:xfrm>
            <a:off x="3969700" y="3420950"/>
            <a:ext cx="1131652" cy="462437"/>
            <a:chOff x="3279050" y="3542875"/>
            <a:chExt cx="1131652" cy="462437"/>
          </a:xfrm>
        </p:grpSpPr>
        <p:sp>
          <p:nvSpPr>
            <p:cNvPr id="506" name="Google Shape;506;p72"/>
            <p:cNvSpPr/>
            <p:nvPr/>
          </p:nvSpPr>
          <p:spPr>
            <a:xfrm>
              <a:off x="3279050" y="3542875"/>
              <a:ext cx="360000" cy="1863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72"/>
            <p:cNvSpPr/>
            <p:nvPr/>
          </p:nvSpPr>
          <p:spPr>
            <a:xfrm>
              <a:off x="3375537" y="3683837"/>
              <a:ext cx="1035165" cy="321475"/>
            </a:xfrm>
            <a:custGeom>
              <a:avLst/>
              <a:gdLst/>
              <a:ahLst/>
              <a:cxnLst/>
              <a:rect l="l" t="t" r="r" b="b"/>
              <a:pathLst>
                <a:path w="40377" h="12859" extrusionOk="0">
                  <a:moveTo>
                    <a:pt x="0" y="0"/>
                  </a:moveTo>
                  <a:lnTo>
                    <a:pt x="17231" y="0"/>
                  </a:lnTo>
                  <a:lnTo>
                    <a:pt x="17231" y="12859"/>
                  </a:lnTo>
                  <a:lnTo>
                    <a:pt x="40377" y="12859"/>
                  </a:lnTo>
                  <a:lnTo>
                    <a:pt x="40377" y="10287"/>
                  </a:lnTo>
                  <a:lnTo>
                    <a:pt x="40377" y="5401"/>
                  </a:lnTo>
                </a:path>
              </a:pathLst>
            </a:custGeom>
            <a:noFill/>
            <a:ln w="19050" cap="flat" cmpd="sng">
              <a:solidFill>
                <a:srgbClr val="FF0000"/>
              </a:solidFill>
              <a:prstDash val="solid"/>
              <a:round/>
              <a:headEnd type="none" w="sm" len="sm"/>
              <a:tailEnd type="triangle" w="med" len="med"/>
            </a:ln>
          </p:spPr>
          <p:txBody>
            <a:bodyPr/>
            <a:lstStyle/>
            <a:p>
              <a:endParaRPr lang="en-US"/>
            </a:p>
          </p:txBody>
        </p:sp>
      </p:grpSp>
      <p:sp>
        <p:nvSpPr>
          <p:cNvPr id="508" name="Google Shape;508;p72"/>
          <p:cNvSpPr txBox="1">
            <a:spLocks noGrp="1"/>
          </p:cNvSpPr>
          <p:nvPr>
            <p:ph type="body" idx="4294967295"/>
          </p:nvPr>
        </p:nvSpPr>
        <p:spPr>
          <a:xfrm>
            <a:off x="3297850" y="4160700"/>
            <a:ext cx="25617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b="1" i="1">
                <a:solidFill>
                  <a:srgbClr val="FF0000"/>
                </a:solidFill>
                <a:latin typeface="Arial"/>
                <a:ea typeface="Arial"/>
                <a:cs typeface="Arial"/>
                <a:sym typeface="Arial"/>
              </a:rPr>
              <a:t>Both</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the front </a:t>
            </a:r>
            <a:r>
              <a:rPr lang="en" sz="1200" b="1" i="1">
                <a:solidFill>
                  <a:srgbClr val="FF0000"/>
                </a:solidFill>
                <a:latin typeface="Arial"/>
                <a:ea typeface="Arial"/>
                <a:cs typeface="Arial"/>
                <a:sym typeface="Arial"/>
              </a:rPr>
              <a:t>and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the back are changed to refer to the new node, and </a:t>
            </a:r>
            <a:r>
              <a:rPr lang="en" sz="1200" b="1" i="1">
                <a:solidFill>
                  <a:srgbClr val="FF0000"/>
                </a:solidFill>
                <a:latin typeface="Arial"/>
                <a:ea typeface="Arial"/>
                <a:cs typeface="Arial"/>
                <a:sym typeface="Arial"/>
              </a:rPr>
              <a:t>size </a:t>
            </a:r>
            <a:r>
              <a:rPr lang="en" sz="1200">
                <a:solidFill>
                  <a:srgbClr val="000000"/>
                </a:solidFill>
                <a:latin typeface="Arial"/>
                <a:ea typeface="Arial"/>
                <a:cs typeface="Arial"/>
                <a:sym typeface="Arial"/>
              </a:rPr>
              <a:t>is incremented.</a:t>
            </a:r>
            <a:endParaRPr sz="1200">
              <a:solidFill>
                <a:srgbClr val="FF0000"/>
              </a:solidFill>
              <a:latin typeface="Arial"/>
              <a:ea typeface="Arial"/>
              <a:cs typeface="Arial"/>
              <a:sym typeface="Arial"/>
            </a:endParaRPr>
          </a:p>
        </p:txBody>
      </p:sp>
      <p:sp>
        <p:nvSpPr>
          <p:cNvPr id="509" name="Google Shape;509;p72"/>
          <p:cNvSpPr txBox="1">
            <a:spLocks noGrp="1"/>
          </p:cNvSpPr>
          <p:nvPr>
            <p:ph type="body" idx="4294967295"/>
          </p:nvPr>
        </p:nvSpPr>
        <p:spPr>
          <a:xfrm>
            <a:off x="6245700" y="1449725"/>
            <a:ext cx="25617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As each new value is enqueued, a new node is created and becomes the </a:t>
            </a:r>
            <a:r>
              <a:rPr lang="en" sz="1200" b="1" i="1">
                <a:solidFill>
                  <a:srgbClr val="FF0000"/>
                </a:solidFill>
                <a:latin typeface="Arial"/>
                <a:ea typeface="Arial"/>
                <a:cs typeface="Arial"/>
                <a:sym typeface="Arial"/>
              </a:rPr>
              <a:t>new back</a:t>
            </a:r>
            <a:r>
              <a:rPr lang="en" sz="1200">
                <a:solidFill>
                  <a:srgbClr val="000000"/>
                </a:solidFill>
                <a:latin typeface="Arial"/>
                <a:ea typeface="Arial"/>
                <a:cs typeface="Arial"/>
                <a:sym typeface="Arial"/>
              </a:rPr>
              <a:t> of the queue.</a:t>
            </a:r>
            <a:endParaRPr sz="1200">
              <a:solidFill>
                <a:srgbClr val="FF0000"/>
              </a:solidFill>
              <a:latin typeface="Courier New"/>
              <a:ea typeface="Courier New"/>
              <a:cs typeface="Courier New"/>
              <a:sym typeface="Courier New"/>
            </a:endParaRPr>
          </a:p>
        </p:txBody>
      </p:sp>
      <p:sp>
        <p:nvSpPr>
          <p:cNvPr id="510" name="Google Shape;510;p72"/>
          <p:cNvSpPr txBox="1"/>
          <p:nvPr/>
        </p:nvSpPr>
        <p:spPr>
          <a:xfrm>
            <a:off x="3935698" y="2752054"/>
            <a:ext cx="205800" cy="2184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1</a:t>
            </a:r>
            <a:endParaRPr sz="1000" b="0" i="0" u="none" strike="noStrike" cap="none">
              <a:solidFill>
                <a:srgbClr val="FF0000"/>
              </a:solidFill>
              <a:latin typeface="Consolas"/>
              <a:ea typeface="Consolas"/>
              <a:cs typeface="Consolas"/>
              <a:sym typeface="Consolas"/>
            </a:endParaRPr>
          </a:p>
        </p:txBody>
      </p:sp>
      <p:graphicFrame>
        <p:nvGraphicFramePr>
          <p:cNvPr id="511" name="Google Shape;511;p72"/>
          <p:cNvGraphicFramePr/>
          <p:nvPr/>
        </p:nvGraphicFramePr>
        <p:xfrm>
          <a:off x="6337712" y="2355537"/>
          <a:ext cx="1074550" cy="134100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Queue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size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1</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front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back</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512" name="Google Shape;512;p72"/>
          <p:cNvGraphicFramePr/>
          <p:nvPr/>
        </p:nvGraphicFramePr>
        <p:xfrm>
          <a:off x="7640862" y="2694369"/>
          <a:ext cx="1074550" cy="100575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Node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value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"a"</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next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513" name="Google Shape;513;p72"/>
          <p:cNvGrpSpPr/>
          <p:nvPr/>
        </p:nvGrpSpPr>
        <p:grpSpPr>
          <a:xfrm>
            <a:off x="6930950" y="2404612"/>
            <a:ext cx="1131587" cy="891409"/>
            <a:chOff x="3279050" y="2526537"/>
            <a:chExt cx="1131587" cy="891409"/>
          </a:xfrm>
        </p:grpSpPr>
        <p:sp>
          <p:nvSpPr>
            <p:cNvPr id="514" name="Google Shape;514;p72"/>
            <p:cNvSpPr/>
            <p:nvPr/>
          </p:nvSpPr>
          <p:spPr>
            <a:xfrm>
              <a:off x="3279050" y="3231646"/>
              <a:ext cx="360000" cy="1863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72"/>
            <p:cNvSpPr/>
            <p:nvPr/>
          </p:nvSpPr>
          <p:spPr>
            <a:xfrm>
              <a:off x="3375512" y="2526537"/>
              <a:ext cx="1035125" cy="784400"/>
            </a:xfrm>
            <a:custGeom>
              <a:avLst/>
              <a:gdLst/>
              <a:ahLst/>
              <a:cxnLst/>
              <a:rect l="l" t="t" r="r" b="b"/>
              <a:pathLst>
                <a:path w="41405" h="31376" extrusionOk="0">
                  <a:moveTo>
                    <a:pt x="0" y="31376"/>
                  </a:moveTo>
                  <a:lnTo>
                    <a:pt x="19288" y="31376"/>
                  </a:lnTo>
                  <a:lnTo>
                    <a:pt x="19288" y="0"/>
                  </a:lnTo>
                  <a:lnTo>
                    <a:pt x="41405" y="0"/>
                  </a:lnTo>
                  <a:lnTo>
                    <a:pt x="41405" y="11830"/>
                  </a:lnTo>
                </a:path>
              </a:pathLst>
            </a:custGeom>
            <a:noFill/>
            <a:ln w="19050" cap="flat" cmpd="sng">
              <a:solidFill>
                <a:srgbClr val="FF0000"/>
              </a:solidFill>
              <a:prstDash val="solid"/>
              <a:round/>
              <a:headEnd type="none" w="sm" len="sm"/>
              <a:tailEnd type="triangle" w="med" len="med"/>
            </a:ln>
          </p:spPr>
          <p:txBody>
            <a:bodyPr/>
            <a:lstStyle/>
            <a:p>
              <a:endParaRPr lang="en-US"/>
            </a:p>
          </p:txBody>
        </p:sp>
      </p:grpSp>
      <p:graphicFrame>
        <p:nvGraphicFramePr>
          <p:cNvPr id="516" name="Google Shape;516;p72"/>
          <p:cNvGraphicFramePr/>
          <p:nvPr/>
        </p:nvGraphicFramePr>
        <p:xfrm>
          <a:off x="7640862" y="3989769"/>
          <a:ext cx="1074550" cy="100575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Node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value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"b"</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next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17" name="Google Shape;517;p72"/>
          <p:cNvSpPr/>
          <p:nvPr/>
        </p:nvSpPr>
        <p:spPr>
          <a:xfrm>
            <a:off x="7097146" y="3536425"/>
            <a:ext cx="546500" cy="623650"/>
          </a:xfrm>
          <a:custGeom>
            <a:avLst/>
            <a:gdLst/>
            <a:ahLst/>
            <a:cxnLst/>
            <a:rect l="l" t="t" r="r" b="b"/>
            <a:pathLst>
              <a:path w="21860" h="24946" extrusionOk="0">
                <a:moveTo>
                  <a:pt x="0" y="0"/>
                </a:moveTo>
                <a:lnTo>
                  <a:pt x="0" y="24946"/>
                </a:lnTo>
                <a:lnTo>
                  <a:pt x="21860" y="24946"/>
                </a:lnTo>
              </a:path>
            </a:pathLst>
          </a:custGeom>
          <a:noFill/>
          <a:ln w="19050" cap="flat" cmpd="sng">
            <a:solidFill>
              <a:srgbClr val="FF0000"/>
            </a:solidFill>
            <a:prstDash val="solid"/>
            <a:round/>
            <a:headEnd type="none" w="sm" len="sm"/>
            <a:tailEnd type="triangle" w="med" len="med"/>
          </a:ln>
        </p:spPr>
        <p:txBody>
          <a:bodyPr/>
          <a:lstStyle/>
          <a:p>
            <a:endParaRPr lang="en-US"/>
          </a:p>
        </p:txBody>
      </p:sp>
      <p:grpSp>
        <p:nvGrpSpPr>
          <p:cNvPr id="518" name="Google Shape;518;p72"/>
          <p:cNvGrpSpPr/>
          <p:nvPr/>
        </p:nvGrpSpPr>
        <p:grpSpPr>
          <a:xfrm>
            <a:off x="8244350" y="3451200"/>
            <a:ext cx="360000" cy="534306"/>
            <a:chOff x="7795250" y="3451200"/>
            <a:chExt cx="360000" cy="534306"/>
          </a:xfrm>
        </p:grpSpPr>
        <p:sp>
          <p:nvSpPr>
            <p:cNvPr id="519" name="Google Shape;519;p72"/>
            <p:cNvSpPr/>
            <p:nvPr/>
          </p:nvSpPr>
          <p:spPr>
            <a:xfrm>
              <a:off x="7795250" y="3451200"/>
              <a:ext cx="360000" cy="1863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20" name="Google Shape;520;p72"/>
            <p:cNvCxnSpPr/>
            <p:nvPr/>
          </p:nvCxnSpPr>
          <p:spPr>
            <a:xfrm>
              <a:off x="7975250" y="3572406"/>
              <a:ext cx="0" cy="413100"/>
            </a:xfrm>
            <a:prstGeom prst="straightConnector1">
              <a:avLst/>
            </a:prstGeom>
            <a:noFill/>
            <a:ln w="19050" cap="flat" cmpd="sng">
              <a:solidFill>
                <a:srgbClr val="FF0000"/>
              </a:solidFill>
              <a:prstDash val="solid"/>
              <a:round/>
              <a:headEnd type="none" w="sm" len="sm"/>
              <a:tailEnd type="triangle" w="med" len="med"/>
            </a:ln>
          </p:spPr>
        </p:cxnSp>
      </p:grpSp>
      <p:sp>
        <p:nvSpPr>
          <p:cNvPr id="521" name="Google Shape;521;p72"/>
          <p:cNvSpPr txBox="1"/>
          <p:nvPr/>
        </p:nvSpPr>
        <p:spPr>
          <a:xfrm>
            <a:off x="6907498" y="2739196"/>
            <a:ext cx="205800" cy="2184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2</a:t>
            </a:r>
            <a:endParaRPr sz="1000" b="0" i="0" u="none" strike="noStrike" cap="none">
              <a:solidFill>
                <a:srgbClr val="FF0000"/>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7"/>
                                        </p:tgtEl>
                                        <p:attrNameLst>
                                          <p:attrName>style.visibility</p:attrName>
                                        </p:attrNameLst>
                                      </p:cBhvr>
                                      <p:to>
                                        <p:strVal val="visible"/>
                                      </p:to>
                                    </p:set>
                                    <p:animEffect transition="in" filter="fade">
                                      <p:cBhvr>
                                        <p:cTn id="7" dur="1000"/>
                                        <p:tgtEl>
                                          <p:spTgt spid="49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01"/>
                                        </p:tgtEl>
                                        <p:attrNameLst>
                                          <p:attrName>style.visibility</p:attrName>
                                        </p:attrNameLst>
                                      </p:cBhvr>
                                      <p:to>
                                        <p:strVal val="visible"/>
                                      </p:to>
                                    </p:set>
                                    <p:animEffect transition="in" filter="fade">
                                      <p:cBhvr>
                                        <p:cTn id="11" dur="1000"/>
                                        <p:tgtEl>
                                          <p:spTgt spid="50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98"/>
                                        </p:tgtEl>
                                        <p:attrNameLst>
                                          <p:attrName>style.visibility</p:attrName>
                                        </p:attrNameLst>
                                      </p:cBhvr>
                                      <p:to>
                                        <p:strVal val="visible"/>
                                      </p:to>
                                    </p:set>
                                    <p:animEffect transition="in" filter="fade">
                                      <p:cBhvr>
                                        <p:cTn id="16" dur="1000"/>
                                        <p:tgtEl>
                                          <p:spTgt spid="498"/>
                                        </p:tgtEl>
                                      </p:cBhvr>
                                    </p:animEffect>
                                  </p:childTnLst>
                                </p:cTn>
                              </p:par>
                              <p:par>
                                <p:cTn id="17" presetID="10" presetClass="entr" presetSubtype="0" fill="hold" nodeType="withEffect">
                                  <p:stCondLst>
                                    <p:cond delay="0"/>
                                  </p:stCondLst>
                                  <p:childTnLst>
                                    <p:set>
                                      <p:cBhvr>
                                        <p:cTn id="18" dur="1" fill="hold">
                                          <p:stCondLst>
                                            <p:cond delay="0"/>
                                          </p:stCondLst>
                                        </p:cTn>
                                        <p:tgtEl>
                                          <p:spTgt spid="499"/>
                                        </p:tgtEl>
                                        <p:attrNameLst>
                                          <p:attrName>style.visibility</p:attrName>
                                        </p:attrNameLst>
                                      </p:cBhvr>
                                      <p:to>
                                        <p:strVal val="visible"/>
                                      </p:to>
                                    </p:set>
                                    <p:animEffect transition="in" filter="fade">
                                      <p:cBhvr>
                                        <p:cTn id="19" dur="1000"/>
                                        <p:tgtEl>
                                          <p:spTgt spid="499"/>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500"/>
                                        </p:tgtEl>
                                        <p:attrNameLst>
                                          <p:attrName>style.visibility</p:attrName>
                                        </p:attrNameLst>
                                      </p:cBhvr>
                                      <p:to>
                                        <p:strVal val="visible"/>
                                      </p:to>
                                    </p:set>
                                    <p:animEffect transition="in" filter="fade">
                                      <p:cBhvr>
                                        <p:cTn id="23" dur="1000"/>
                                        <p:tgtEl>
                                          <p:spTgt spid="50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08"/>
                                        </p:tgtEl>
                                        <p:attrNameLst>
                                          <p:attrName>style.visibility</p:attrName>
                                        </p:attrNameLst>
                                      </p:cBhvr>
                                      <p:to>
                                        <p:strVal val="visible"/>
                                      </p:to>
                                    </p:set>
                                    <p:animEffect transition="in" filter="fade">
                                      <p:cBhvr>
                                        <p:cTn id="28" dur="1000"/>
                                        <p:tgtEl>
                                          <p:spTgt spid="508"/>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502"/>
                                        </p:tgtEl>
                                        <p:attrNameLst>
                                          <p:attrName>style.visibility</p:attrName>
                                        </p:attrNameLst>
                                      </p:cBhvr>
                                      <p:to>
                                        <p:strVal val="visible"/>
                                      </p:to>
                                    </p:set>
                                    <p:animEffect transition="in" filter="fade">
                                      <p:cBhvr>
                                        <p:cTn id="32" dur="1000"/>
                                        <p:tgtEl>
                                          <p:spTgt spid="502"/>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505"/>
                                        </p:tgtEl>
                                        <p:attrNameLst>
                                          <p:attrName>style.visibility</p:attrName>
                                        </p:attrNameLst>
                                      </p:cBhvr>
                                      <p:to>
                                        <p:strVal val="visible"/>
                                      </p:to>
                                    </p:set>
                                    <p:animEffect transition="in" filter="fade">
                                      <p:cBhvr>
                                        <p:cTn id="36" dur="1000"/>
                                        <p:tgtEl>
                                          <p:spTgt spid="505"/>
                                        </p:tgtEl>
                                      </p:cBhvr>
                                    </p:animEffect>
                                  </p:childTnLst>
                                </p:cTn>
                              </p:par>
                            </p:childTnLst>
                          </p:cTn>
                        </p:par>
                        <p:par>
                          <p:cTn id="37" fill="hold">
                            <p:stCondLst>
                              <p:cond delay="3000"/>
                            </p:stCondLst>
                            <p:childTnLst>
                              <p:par>
                                <p:cTn id="38" presetID="10" presetClass="entr" presetSubtype="0" fill="hold" nodeType="afterEffect">
                                  <p:stCondLst>
                                    <p:cond delay="0"/>
                                  </p:stCondLst>
                                  <p:childTnLst>
                                    <p:set>
                                      <p:cBhvr>
                                        <p:cTn id="39" dur="1" fill="hold">
                                          <p:stCondLst>
                                            <p:cond delay="0"/>
                                          </p:stCondLst>
                                        </p:cTn>
                                        <p:tgtEl>
                                          <p:spTgt spid="510"/>
                                        </p:tgtEl>
                                        <p:attrNameLst>
                                          <p:attrName>style.visibility</p:attrName>
                                        </p:attrNameLst>
                                      </p:cBhvr>
                                      <p:to>
                                        <p:strVal val="visible"/>
                                      </p:to>
                                    </p:set>
                                    <p:animEffect transition="in" filter="fade">
                                      <p:cBhvr>
                                        <p:cTn id="40" dur="1000"/>
                                        <p:tgtEl>
                                          <p:spTgt spid="51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09"/>
                                        </p:tgtEl>
                                        <p:attrNameLst>
                                          <p:attrName>style.visibility</p:attrName>
                                        </p:attrNameLst>
                                      </p:cBhvr>
                                      <p:to>
                                        <p:strVal val="visible"/>
                                      </p:to>
                                    </p:set>
                                    <p:animEffect transition="in" filter="fade">
                                      <p:cBhvr>
                                        <p:cTn id="45" dur="1000"/>
                                        <p:tgtEl>
                                          <p:spTgt spid="50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12"/>
                                        </p:tgtEl>
                                        <p:attrNameLst>
                                          <p:attrName>style.visibility</p:attrName>
                                        </p:attrNameLst>
                                      </p:cBhvr>
                                      <p:to>
                                        <p:strVal val="visible"/>
                                      </p:to>
                                    </p:set>
                                    <p:animEffect transition="in" filter="fade">
                                      <p:cBhvr>
                                        <p:cTn id="50" dur="1000"/>
                                        <p:tgtEl>
                                          <p:spTgt spid="512"/>
                                        </p:tgtEl>
                                      </p:cBhvr>
                                    </p:animEffect>
                                  </p:childTnLst>
                                </p:cTn>
                              </p:par>
                              <p:par>
                                <p:cTn id="51" presetID="10" presetClass="entr" presetSubtype="0" fill="hold" nodeType="withEffect">
                                  <p:stCondLst>
                                    <p:cond delay="0"/>
                                  </p:stCondLst>
                                  <p:childTnLst>
                                    <p:set>
                                      <p:cBhvr>
                                        <p:cTn id="52" dur="1" fill="hold">
                                          <p:stCondLst>
                                            <p:cond delay="0"/>
                                          </p:stCondLst>
                                        </p:cTn>
                                        <p:tgtEl>
                                          <p:spTgt spid="513"/>
                                        </p:tgtEl>
                                        <p:attrNameLst>
                                          <p:attrName>style.visibility</p:attrName>
                                        </p:attrNameLst>
                                      </p:cBhvr>
                                      <p:to>
                                        <p:strVal val="visible"/>
                                      </p:to>
                                    </p:set>
                                    <p:animEffect transition="in" filter="fade">
                                      <p:cBhvr>
                                        <p:cTn id="53" dur="1000"/>
                                        <p:tgtEl>
                                          <p:spTgt spid="513"/>
                                        </p:tgtEl>
                                      </p:cBhvr>
                                    </p:animEffect>
                                  </p:childTnLst>
                                </p:cTn>
                              </p:par>
                              <p:par>
                                <p:cTn id="54" presetID="10" presetClass="entr" presetSubtype="0" fill="hold" nodeType="withEffect">
                                  <p:stCondLst>
                                    <p:cond delay="0"/>
                                  </p:stCondLst>
                                  <p:childTnLst>
                                    <p:set>
                                      <p:cBhvr>
                                        <p:cTn id="55" dur="1" fill="hold">
                                          <p:stCondLst>
                                            <p:cond delay="0"/>
                                          </p:stCondLst>
                                        </p:cTn>
                                        <p:tgtEl>
                                          <p:spTgt spid="511"/>
                                        </p:tgtEl>
                                        <p:attrNameLst>
                                          <p:attrName>style.visibility</p:attrName>
                                        </p:attrNameLst>
                                      </p:cBhvr>
                                      <p:to>
                                        <p:strVal val="visible"/>
                                      </p:to>
                                    </p:set>
                                    <p:animEffect transition="in" filter="fade">
                                      <p:cBhvr>
                                        <p:cTn id="56" dur="1000"/>
                                        <p:tgtEl>
                                          <p:spTgt spid="511"/>
                                        </p:tgtEl>
                                      </p:cBhvr>
                                    </p:animEffect>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516"/>
                                        </p:tgtEl>
                                        <p:attrNameLst>
                                          <p:attrName>style.visibility</p:attrName>
                                        </p:attrNameLst>
                                      </p:cBhvr>
                                      <p:to>
                                        <p:strVal val="visible"/>
                                      </p:to>
                                    </p:set>
                                    <p:animEffect transition="in" filter="fade">
                                      <p:cBhvr>
                                        <p:cTn id="60" dur="1000"/>
                                        <p:tgtEl>
                                          <p:spTgt spid="516"/>
                                        </p:tgtEl>
                                      </p:cBhvr>
                                    </p:animEffect>
                                  </p:childTnLst>
                                </p:cTn>
                              </p:par>
                            </p:childTnLst>
                          </p:cTn>
                        </p:par>
                        <p:par>
                          <p:cTn id="61" fill="hold">
                            <p:stCondLst>
                              <p:cond delay="2000"/>
                            </p:stCondLst>
                            <p:childTnLst>
                              <p:par>
                                <p:cTn id="62" presetID="10" presetClass="entr" presetSubtype="0" fill="hold" nodeType="afterEffect">
                                  <p:stCondLst>
                                    <p:cond delay="0"/>
                                  </p:stCondLst>
                                  <p:childTnLst>
                                    <p:set>
                                      <p:cBhvr>
                                        <p:cTn id="63" dur="1" fill="hold">
                                          <p:stCondLst>
                                            <p:cond delay="0"/>
                                          </p:stCondLst>
                                        </p:cTn>
                                        <p:tgtEl>
                                          <p:spTgt spid="518"/>
                                        </p:tgtEl>
                                        <p:attrNameLst>
                                          <p:attrName>style.visibility</p:attrName>
                                        </p:attrNameLst>
                                      </p:cBhvr>
                                      <p:to>
                                        <p:strVal val="visible"/>
                                      </p:to>
                                    </p:set>
                                    <p:animEffect transition="in" filter="fade">
                                      <p:cBhvr>
                                        <p:cTn id="64" dur="1000"/>
                                        <p:tgtEl>
                                          <p:spTgt spid="518"/>
                                        </p:tgtEl>
                                      </p:cBhvr>
                                    </p:animEffect>
                                  </p:childTnLst>
                                </p:cTn>
                              </p:par>
                            </p:childTnLst>
                          </p:cTn>
                        </p:par>
                        <p:par>
                          <p:cTn id="65" fill="hold">
                            <p:stCondLst>
                              <p:cond delay="3000"/>
                            </p:stCondLst>
                            <p:childTnLst>
                              <p:par>
                                <p:cTn id="66" presetID="10" presetClass="entr" presetSubtype="0" fill="hold" nodeType="afterEffect">
                                  <p:stCondLst>
                                    <p:cond delay="0"/>
                                  </p:stCondLst>
                                  <p:childTnLst>
                                    <p:set>
                                      <p:cBhvr>
                                        <p:cTn id="67" dur="1" fill="hold">
                                          <p:stCondLst>
                                            <p:cond delay="0"/>
                                          </p:stCondLst>
                                        </p:cTn>
                                        <p:tgtEl>
                                          <p:spTgt spid="517"/>
                                        </p:tgtEl>
                                        <p:attrNameLst>
                                          <p:attrName>style.visibility</p:attrName>
                                        </p:attrNameLst>
                                      </p:cBhvr>
                                      <p:to>
                                        <p:strVal val="visible"/>
                                      </p:to>
                                    </p:set>
                                    <p:animEffect transition="in" filter="fade">
                                      <p:cBhvr>
                                        <p:cTn id="68" dur="1000"/>
                                        <p:tgtEl>
                                          <p:spTgt spid="517"/>
                                        </p:tgtEl>
                                      </p:cBhvr>
                                    </p:animEffect>
                                  </p:childTnLst>
                                </p:cTn>
                              </p:par>
                            </p:childTnLst>
                          </p:cTn>
                        </p:par>
                        <p:par>
                          <p:cTn id="69" fill="hold">
                            <p:stCondLst>
                              <p:cond delay="4000"/>
                            </p:stCondLst>
                            <p:childTnLst>
                              <p:par>
                                <p:cTn id="70" presetID="10" presetClass="entr" presetSubtype="0" fill="hold" nodeType="afterEffect">
                                  <p:stCondLst>
                                    <p:cond delay="0"/>
                                  </p:stCondLst>
                                  <p:childTnLst>
                                    <p:set>
                                      <p:cBhvr>
                                        <p:cTn id="71" dur="1" fill="hold">
                                          <p:stCondLst>
                                            <p:cond delay="0"/>
                                          </p:stCondLst>
                                        </p:cTn>
                                        <p:tgtEl>
                                          <p:spTgt spid="521"/>
                                        </p:tgtEl>
                                        <p:attrNameLst>
                                          <p:attrName>style.visibility</p:attrName>
                                        </p:attrNameLst>
                                      </p:cBhvr>
                                      <p:to>
                                        <p:strVal val="visible"/>
                                      </p:to>
                                    </p:set>
                                    <p:animEffect transition="in" filter="fade">
                                      <p:cBhvr>
                                        <p:cTn id="72" dur="1000"/>
                                        <p:tgtEl>
                                          <p:spTgt spid="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pic>
        <p:nvPicPr>
          <p:cNvPr id="526" name="Google Shape;526;p73"/>
          <p:cNvPicPr preferRelativeResize="0"/>
          <p:nvPr/>
        </p:nvPicPr>
        <p:blipFill rotWithShape="1">
          <a:blip r:embed="rId3">
            <a:alphaModFix/>
          </a:blip>
          <a:srcRect/>
          <a:stretch/>
        </p:blipFill>
        <p:spPr>
          <a:xfrm>
            <a:off x="304800" y="1426600"/>
            <a:ext cx="2335851" cy="3576125"/>
          </a:xfrm>
          <a:prstGeom prst="rect">
            <a:avLst/>
          </a:prstGeom>
          <a:noFill/>
          <a:ln>
            <a:noFill/>
          </a:ln>
        </p:spPr>
      </p:pic>
      <p:sp>
        <p:nvSpPr>
          <p:cNvPr id="527" name="Google Shape;527;p7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first essential functionality that we will implement on the Node-based Queue is the enqueue method, which adds new elements to the back of the queue.</a:t>
            </a:r>
            <a:endParaRPr/>
          </a:p>
        </p:txBody>
      </p:sp>
      <p:sp>
        <p:nvSpPr>
          <p:cNvPr id="528" name="Google Shape;528;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529" name="Google Shape;529;p73"/>
          <p:cNvSpPr txBox="1">
            <a:spLocks noGrp="1"/>
          </p:cNvSpPr>
          <p:nvPr>
            <p:ph type="body" idx="2"/>
          </p:nvPr>
        </p:nvSpPr>
        <p:spPr>
          <a:xfrm>
            <a:off x="2939625" y="1555925"/>
            <a:ext cx="6001500" cy="3263940"/>
          </a:xfrm>
          <a:prstGeom prst="rect">
            <a:avLst/>
          </a:prstGeom>
        </p:spPr>
        <p:txBody>
          <a:bodyPr spcFirstLastPara="1" wrap="square" lIns="91425" tIns="91425" rIns="91425" bIns="91425" anchor="t" anchorCtr="0">
            <a:spAutoFit/>
          </a:bodyPr>
          <a:lstStyle/>
          <a:p>
            <a:pPr marL="457200" lvl="0" indent="-349250" algn="l" rtl="0">
              <a:spcBef>
                <a:spcPts val="0"/>
              </a:spcBef>
              <a:spcAft>
                <a:spcPts val="0"/>
              </a:spcAft>
              <a:buSzPts val="1900"/>
              <a:buChar char="●"/>
            </a:pPr>
            <a:r>
              <a:rPr lang="en" sz="1900" dirty="0"/>
              <a:t>Open your </a:t>
            </a:r>
            <a:r>
              <a:rPr lang="en" sz="1900" dirty="0">
                <a:latin typeface="Courier New"/>
                <a:ea typeface="Courier New"/>
                <a:cs typeface="Courier New"/>
                <a:sym typeface="Courier New"/>
              </a:rPr>
              <a:t>NodeQueue</a:t>
            </a:r>
            <a:r>
              <a:rPr lang="en" sz="1900" dirty="0"/>
              <a:t> class and implement the </a:t>
            </a:r>
            <a:r>
              <a:rPr lang="en" sz="1900" dirty="0">
                <a:solidFill>
                  <a:srgbClr val="FF0000"/>
                </a:solidFill>
                <a:latin typeface="Courier New"/>
                <a:ea typeface="Courier New"/>
                <a:cs typeface="Courier New"/>
                <a:sym typeface="Courier New"/>
              </a:rPr>
              <a:t>enqueue</a:t>
            </a:r>
            <a:r>
              <a:rPr lang="en" sz="1900" dirty="0">
                <a:solidFill>
                  <a:srgbClr val="FF0000"/>
                </a:solidFill>
              </a:rPr>
              <a:t> </a:t>
            </a:r>
            <a:r>
              <a:rPr lang="en" sz="1900" b="1" i="1" dirty="0">
                <a:solidFill>
                  <a:srgbClr val="FF0000"/>
                </a:solidFill>
              </a:rPr>
              <a:t>method</a:t>
            </a:r>
            <a:r>
              <a:rPr lang="en" sz="1900" dirty="0"/>
              <a:t>.</a:t>
            </a:r>
            <a:endParaRPr sz="1900" dirty="0"/>
          </a:p>
          <a:p>
            <a:pPr marL="914400" lvl="1" indent="-336550" algn="l" rtl="0">
              <a:spcBef>
                <a:spcPts val="0"/>
              </a:spcBef>
              <a:spcAft>
                <a:spcPts val="0"/>
              </a:spcAft>
              <a:buSzPts val="1700"/>
              <a:buChar char="○"/>
            </a:pPr>
            <a:r>
              <a:rPr lang="en" sz="1700" dirty="0"/>
              <a:t>Make a </a:t>
            </a:r>
            <a:r>
              <a:rPr lang="en" sz="1700" b="1" i="1" dirty="0">
                <a:solidFill>
                  <a:srgbClr val="FF0000"/>
                </a:solidFill>
              </a:rPr>
              <a:t>new </a:t>
            </a:r>
            <a:r>
              <a:rPr lang="en" sz="1700" dirty="0">
                <a:latin typeface="Courier New"/>
                <a:ea typeface="Courier New"/>
                <a:cs typeface="Courier New"/>
                <a:sym typeface="Courier New"/>
              </a:rPr>
              <a:t>Node</a:t>
            </a:r>
            <a:r>
              <a:rPr lang="en" sz="1700" dirty="0"/>
              <a:t> with the value that is being enqueued..</a:t>
            </a:r>
            <a:endParaRPr sz="1700" dirty="0"/>
          </a:p>
          <a:p>
            <a:pPr marL="914400" lvl="1" indent="-336550" algn="l" rtl="0">
              <a:spcBef>
                <a:spcPts val="0"/>
              </a:spcBef>
              <a:spcAft>
                <a:spcPts val="0"/>
              </a:spcAft>
              <a:buSzPts val="1700"/>
              <a:buChar char="○"/>
            </a:pPr>
            <a:r>
              <a:rPr lang="en" sz="1700" dirty="0"/>
              <a:t>If the </a:t>
            </a:r>
            <a:r>
              <a:rPr lang="en" sz="1700" dirty="0">
                <a:latin typeface="Courier New"/>
                <a:ea typeface="Courier New"/>
                <a:cs typeface="Courier New"/>
                <a:sym typeface="Courier New"/>
              </a:rPr>
              <a:t>front</a:t>
            </a:r>
            <a:r>
              <a:rPr lang="en" sz="1700" dirty="0"/>
              <a:t> is </a:t>
            </a:r>
            <a:r>
              <a:rPr lang="en" sz="1700" dirty="0">
                <a:solidFill>
                  <a:srgbClr val="FF0000"/>
                </a:solidFill>
                <a:latin typeface="Courier New"/>
                <a:ea typeface="Courier New"/>
                <a:cs typeface="Courier New"/>
                <a:sym typeface="Courier New"/>
              </a:rPr>
              <a:t>null</a:t>
            </a:r>
            <a:r>
              <a:rPr lang="en" sz="1700" dirty="0"/>
              <a:t>, the new </a:t>
            </a:r>
            <a:r>
              <a:rPr lang="en" sz="1700" dirty="0">
                <a:latin typeface="Courier New"/>
                <a:ea typeface="Courier New"/>
                <a:cs typeface="Courier New"/>
                <a:sym typeface="Courier New"/>
              </a:rPr>
              <a:t>Node</a:t>
            </a:r>
            <a:r>
              <a:rPr lang="en" sz="1700" dirty="0"/>
              <a:t> becomes the</a:t>
            </a:r>
            <a:r>
              <a:rPr lang="en" sz="1700" dirty="0">
                <a:solidFill>
                  <a:srgbClr val="FF0000"/>
                </a:solidFill>
              </a:rPr>
              <a:t> </a:t>
            </a:r>
            <a:r>
              <a:rPr lang="en" sz="1700" b="1" i="1" dirty="0">
                <a:solidFill>
                  <a:srgbClr val="FF0000"/>
                </a:solidFill>
              </a:rPr>
              <a:t>new </a:t>
            </a:r>
            <a:r>
              <a:rPr lang="en" sz="1700" dirty="0">
                <a:solidFill>
                  <a:srgbClr val="FF0000"/>
                </a:solidFill>
                <a:latin typeface="Courier New"/>
                <a:ea typeface="Courier New"/>
                <a:cs typeface="Courier New"/>
                <a:sym typeface="Courier New"/>
              </a:rPr>
              <a:t>front</a:t>
            </a:r>
            <a:r>
              <a:rPr lang="en" sz="1700" dirty="0">
                <a:solidFill>
                  <a:srgbClr val="FF0000"/>
                </a:solidFill>
              </a:rPr>
              <a:t> </a:t>
            </a:r>
            <a:r>
              <a:rPr lang="en" sz="1700" b="1" i="1" dirty="0">
                <a:solidFill>
                  <a:srgbClr val="FF0000"/>
                </a:solidFill>
              </a:rPr>
              <a:t>and</a:t>
            </a:r>
            <a:r>
              <a:rPr lang="en" sz="1700" dirty="0">
                <a:solidFill>
                  <a:srgbClr val="FF0000"/>
                </a:solidFill>
              </a:rPr>
              <a:t> </a:t>
            </a:r>
            <a:r>
              <a:rPr lang="en" sz="1700" dirty="0">
                <a:solidFill>
                  <a:srgbClr val="FF0000"/>
                </a:solidFill>
                <a:latin typeface="Courier New"/>
                <a:ea typeface="Courier New"/>
                <a:cs typeface="Courier New"/>
                <a:sym typeface="Courier New"/>
              </a:rPr>
              <a:t>back</a:t>
            </a:r>
            <a:r>
              <a:rPr lang="en" sz="1700" dirty="0"/>
              <a:t> of the queue.</a:t>
            </a:r>
            <a:endParaRPr sz="1700" dirty="0"/>
          </a:p>
          <a:p>
            <a:pPr marL="914400" lvl="1" indent="-336550" algn="l" rtl="0">
              <a:spcBef>
                <a:spcPts val="0"/>
              </a:spcBef>
              <a:spcAft>
                <a:spcPts val="0"/>
              </a:spcAft>
              <a:buSzPts val="1700"/>
              <a:buChar char="○"/>
            </a:pPr>
            <a:r>
              <a:rPr lang="en" sz="1700" dirty="0"/>
              <a:t>Otherwise, the new </a:t>
            </a:r>
            <a:r>
              <a:rPr lang="en" sz="1700" dirty="0">
                <a:latin typeface="Courier New"/>
                <a:ea typeface="Courier New"/>
                <a:cs typeface="Courier New"/>
                <a:sym typeface="Courier New"/>
              </a:rPr>
              <a:t>Node</a:t>
            </a:r>
            <a:r>
              <a:rPr lang="en" sz="1700" dirty="0"/>
              <a:t> is the </a:t>
            </a:r>
            <a:r>
              <a:rPr lang="en" sz="1700" b="1" i="1" dirty="0">
                <a:solidFill>
                  <a:srgbClr val="FF0000"/>
                </a:solidFill>
              </a:rPr>
              <a:t>new </a:t>
            </a:r>
            <a:r>
              <a:rPr lang="en" sz="1700" dirty="0">
                <a:solidFill>
                  <a:srgbClr val="FF0000"/>
                </a:solidFill>
                <a:latin typeface="Courier New"/>
                <a:ea typeface="Courier New"/>
                <a:cs typeface="Courier New"/>
                <a:sym typeface="Courier New"/>
              </a:rPr>
              <a:t>back</a:t>
            </a:r>
            <a:r>
              <a:rPr lang="en" sz="1700" dirty="0"/>
              <a:t> of the queue.</a:t>
            </a:r>
            <a:endParaRPr sz="1700" dirty="0"/>
          </a:p>
          <a:p>
            <a:pPr marL="914400" lvl="1" indent="-336550" algn="l" rtl="0">
              <a:spcBef>
                <a:spcPts val="0"/>
              </a:spcBef>
              <a:spcAft>
                <a:spcPts val="0"/>
              </a:spcAft>
              <a:buSzPts val="1700"/>
              <a:buChar char="○"/>
            </a:pPr>
            <a:r>
              <a:rPr lang="en" sz="1700" dirty="0">
                <a:highlight>
                  <a:srgbClr val="FFFF00"/>
                </a:highlight>
              </a:rPr>
              <a:t>Don't forget to </a:t>
            </a:r>
            <a:r>
              <a:rPr lang="en" sz="1700" b="1" i="1" dirty="0">
                <a:solidFill>
                  <a:srgbClr val="FF0000"/>
                </a:solidFill>
                <a:highlight>
                  <a:srgbClr val="FFFF00"/>
                </a:highlight>
              </a:rPr>
              <a:t>increment </a:t>
            </a:r>
            <a:r>
              <a:rPr lang="en" sz="1700" dirty="0">
                <a:solidFill>
                  <a:srgbClr val="FF0000"/>
                </a:solidFill>
                <a:highlight>
                  <a:srgbClr val="FFFF00"/>
                </a:highlight>
                <a:latin typeface="Courier New"/>
                <a:ea typeface="Courier New"/>
                <a:cs typeface="Courier New"/>
                <a:sym typeface="Courier New"/>
              </a:rPr>
              <a:t>size</a:t>
            </a:r>
            <a:r>
              <a:rPr lang="en" sz="1700" dirty="0">
                <a:highlight>
                  <a:srgbClr val="FFFF00"/>
                </a:highlight>
              </a:rPr>
              <a:t>!</a:t>
            </a:r>
            <a:endParaRPr sz="1700" dirty="0">
              <a:highlight>
                <a:srgbClr val="FFFF00"/>
              </a:highlight>
            </a:endParaRPr>
          </a:p>
          <a:p>
            <a:pPr marL="457200" lvl="0" indent="-336550" algn="l" rtl="0">
              <a:spcBef>
                <a:spcPts val="0"/>
              </a:spcBef>
              <a:spcAft>
                <a:spcPts val="0"/>
              </a:spcAft>
              <a:buSzPts val="1700"/>
              <a:buChar char="●"/>
            </a:pPr>
            <a:r>
              <a:rPr lang="en" sz="1700" dirty="0"/>
              <a:t>Use </a:t>
            </a:r>
            <a:r>
              <a:rPr lang="en" sz="1700" dirty="0">
                <a:latin typeface="Courier New"/>
                <a:ea typeface="Courier New"/>
                <a:cs typeface="Courier New"/>
                <a:sym typeface="Courier New"/>
              </a:rPr>
              <a:t>main</a:t>
            </a:r>
            <a:r>
              <a:rPr lang="en" sz="1700" dirty="0"/>
              <a:t> to enqueue a few values and print the queue.</a:t>
            </a:r>
            <a:endParaRPr sz="1700" dirty="0"/>
          </a:p>
        </p:txBody>
      </p:sp>
      <p:sp>
        <p:nvSpPr>
          <p:cNvPr id="530" name="Google Shape;530;p7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Enqueue Using Nodes</a:t>
            </a:r>
            <a:endParaRPr/>
          </a:p>
        </p:txBody>
      </p:sp>
      <p:sp>
        <p:nvSpPr>
          <p:cNvPr id="531" name="Google Shape;531;p7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graphicFrame>
        <p:nvGraphicFramePr>
          <p:cNvPr id="536" name="Google Shape;536;p74"/>
          <p:cNvGraphicFramePr/>
          <p:nvPr/>
        </p:nvGraphicFramePr>
        <p:xfrm>
          <a:off x="4662633" y="2694369"/>
          <a:ext cx="1074550" cy="100575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Node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value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123</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next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537" name="Google Shape;537;p74"/>
          <p:cNvCxnSpPr/>
          <p:nvPr/>
        </p:nvCxnSpPr>
        <p:spPr>
          <a:xfrm>
            <a:off x="5446121" y="3572406"/>
            <a:ext cx="0" cy="413100"/>
          </a:xfrm>
          <a:prstGeom prst="straightConnector1">
            <a:avLst/>
          </a:prstGeom>
          <a:noFill/>
          <a:ln w="19050" cap="flat" cmpd="sng">
            <a:solidFill>
              <a:srgbClr val="FF0000"/>
            </a:solidFill>
            <a:prstDash val="solid"/>
            <a:round/>
            <a:headEnd type="none" w="sm" len="sm"/>
            <a:tailEnd type="triangle" w="med" len="med"/>
          </a:ln>
        </p:spPr>
      </p:cxnSp>
      <p:sp>
        <p:nvSpPr>
          <p:cNvPr id="538" name="Google Shape;538;p74"/>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Closer Look at Dequeuing</a:t>
            </a:r>
            <a:endParaRPr/>
          </a:p>
        </p:txBody>
      </p:sp>
      <p:sp>
        <p:nvSpPr>
          <p:cNvPr id="539" name="Google Shape;539;p7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17</a:t>
            </a:fld>
            <a:endParaRPr/>
          </a:p>
        </p:txBody>
      </p:sp>
      <p:graphicFrame>
        <p:nvGraphicFramePr>
          <p:cNvPr id="540" name="Google Shape;540;p74"/>
          <p:cNvGraphicFramePr/>
          <p:nvPr/>
        </p:nvGraphicFramePr>
        <p:xfrm>
          <a:off x="317912" y="2355537"/>
          <a:ext cx="1074550" cy="134100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Queue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size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2</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front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back</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541" name="Google Shape;541;p74"/>
          <p:cNvGraphicFramePr/>
          <p:nvPr/>
        </p:nvGraphicFramePr>
        <p:xfrm>
          <a:off x="1621062" y="2694369"/>
          <a:ext cx="1074550" cy="100575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Node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value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"a"</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next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42" name="Google Shape;542;p74"/>
          <p:cNvSpPr/>
          <p:nvPr/>
        </p:nvSpPr>
        <p:spPr>
          <a:xfrm>
            <a:off x="1007612" y="2404612"/>
            <a:ext cx="1035125" cy="784400"/>
          </a:xfrm>
          <a:custGeom>
            <a:avLst/>
            <a:gdLst/>
            <a:ahLst/>
            <a:cxnLst/>
            <a:rect l="l" t="t" r="r" b="b"/>
            <a:pathLst>
              <a:path w="41405" h="31376" extrusionOk="0">
                <a:moveTo>
                  <a:pt x="0" y="31376"/>
                </a:moveTo>
                <a:lnTo>
                  <a:pt x="19288" y="31376"/>
                </a:lnTo>
                <a:lnTo>
                  <a:pt x="19288" y="0"/>
                </a:lnTo>
                <a:lnTo>
                  <a:pt x="41405" y="0"/>
                </a:lnTo>
                <a:lnTo>
                  <a:pt x="41405" y="11830"/>
                </a:lnTo>
              </a:path>
            </a:pathLst>
          </a:custGeom>
          <a:noFill/>
          <a:ln w="19050" cap="flat" cmpd="sng">
            <a:solidFill>
              <a:srgbClr val="FF0000"/>
            </a:solidFill>
            <a:prstDash val="solid"/>
            <a:round/>
            <a:headEnd type="none" w="sm" len="sm"/>
            <a:tailEnd type="triangle" w="med" len="med"/>
          </a:ln>
        </p:spPr>
        <p:txBody>
          <a:bodyPr/>
          <a:lstStyle/>
          <a:p>
            <a:endParaRPr lang="en-US"/>
          </a:p>
        </p:txBody>
      </p:sp>
      <p:graphicFrame>
        <p:nvGraphicFramePr>
          <p:cNvPr id="543" name="Google Shape;543;p74"/>
          <p:cNvGraphicFramePr/>
          <p:nvPr/>
        </p:nvGraphicFramePr>
        <p:xfrm>
          <a:off x="1621062" y="3989769"/>
          <a:ext cx="1074550" cy="100575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Node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value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"b"</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next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44" name="Google Shape;544;p74"/>
          <p:cNvSpPr/>
          <p:nvPr/>
        </p:nvSpPr>
        <p:spPr>
          <a:xfrm>
            <a:off x="1077350" y="3536425"/>
            <a:ext cx="546500" cy="732976"/>
          </a:xfrm>
          <a:custGeom>
            <a:avLst/>
            <a:gdLst/>
            <a:ahLst/>
            <a:cxnLst/>
            <a:rect l="l" t="t" r="r" b="b"/>
            <a:pathLst>
              <a:path w="21860" h="24946" extrusionOk="0">
                <a:moveTo>
                  <a:pt x="0" y="0"/>
                </a:moveTo>
                <a:lnTo>
                  <a:pt x="0" y="24946"/>
                </a:lnTo>
                <a:lnTo>
                  <a:pt x="21860" y="24946"/>
                </a:lnTo>
              </a:path>
            </a:pathLst>
          </a:custGeom>
          <a:noFill/>
          <a:ln w="19050" cap="flat" cmpd="sng">
            <a:solidFill>
              <a:srgbClr val="FF0000"/>
            </a:solidFill>
            <a:prstDash val="solid"/>
            <a:round/>
            <a:headEnd type="none" w="sm" len="sm"/>
            <a:tailEnd type="triangle" w="med" len="med"/>
          </a:ln>
        </p:spPr>
        <p:txBody>
          <a:bodyPr/>
          <a:lstStyle/>
          <a:p>
            <a:endParaRPr lang="en-US"/>
          </a:p>
        </p:txBody>
      </p:sp>
      <p:cxnSp>
        <p:nvCxnSpPr>
          <p:cNvPr id="545" name="Google Shape;545;p74"/>
          <p:cNvCxnSpPr/>
          <p:nvPr/>
        </p:nvCxnSpPr>
        <p:spPr>
          <a:xfrm>
            <a:off x="2404550" y="3572406"/>
            <a:ext cx="0" cy="413100"/>
          </a:xfrm>
          <a:prstGeom prst="straightConnector1">
            <a:avLst/>
          </a:prstGeom>
          <a:noFill/>
          <a:ln w="19050" cap="flat" cmpd="sng">
            <a:solidFill>
              <a:srgbClr val="FF0000"/>
            </a:solidFill>
            <a:prstDash val="solid"/>
            <a:round/>
            <a:headEnd type="none" w="sm" len="sm"/>
            <a:tailEnd type="triangle" w="med" len="med"/>
          </a:ln>
        </p:spPr>
      </p:cxnSp>
      <p:sp>
        <p:nvSpPr>
          <p:cNvPr id="546" name="Google Shape;546;p74"/>
          <p:cNvSpPr txBox="1">
            <a:spLocks noGrp="1"/>
          </p:cNvSpPr>
          <p:nvPr>
            <p:ph type="body" idx="4294967295"/>
          </p:nvPr>
        </p:nvSpPr>
        <p:spPr>
          <a:xfrm>
            <a:off x="336600" y="1449725"/>
            <a:ext cx="25617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When a value is </a:t>
            </a:r>
            <a:r>
              <a:rPr lang="en" sz="1200" b="1" i="1">
                <a:solidFill>
                  <a:srgbClr val="FF0000"/>
                </a:solidFill>
                <a:latin typeface="Arial"/>
                <a:ea typeface="Arial"/>
                <a:cs typeface="Arial"/>
                <a:sym typeface="Arial"/>
              </a:rPr>
              <a:t>dequeued</a:t>
            </a:r>
            <a:r>
              <a:rPr lang="en" sz="1200">
                <a:solidFill>
                  <a:srgbClr val="000000"/>
                </a:solidFill>
                <a:latin typeface="Arial"/>
                <a:ea typeface="Arial"/>
                <a:cs typeface="Arial"/>
                <a:sym typeface="Arial"/>
              </a:rPr>
              <a:t>, it is always removed from the </a:t>
            </a:r>
            <a:r>
              <a:rPr lang="en" sz="1200" b="1" i="1">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queue.</a:t>
            </a:r>
            <a:endParaRPr sz="1200">
              <a:solidFill>
                <a:srgbClr val="000000"/>
              </a:solidFill>
              <a:latin typeface="Arial"/>
              <a:ea typeface="Arial"/>
              <a:cs typeface="Arial"/>
              <a:sym typeface="Arial"/>
            </a:endParaRPr>
          </a:p>
        </p:txBody>
      </p:sp>
      <p:sp>
        <p:nvSpPr>
          <p:cNvPr id="547" name="Google Shape;547;p74"/>
          <p:cNvSpPr txBox="1">
            <a:spLocks noGrp="1"/>
          </p:cNvSpPr>
          <p:nvPr>
            <p:ph type="body" idx="4294967295"/>
          </p:nvPr>
        </p:nvSpPr>
        <p:spPr>
          <a:xfrm>
            <a:off x="3284458" y="1449725"/>
            <a:ext cx="25617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lang="en" sz="1200" b="1" i="1">
                <a:solidFill>
                  <a:srgbClr val="FF0000"/>
                </a:solidFill>
                <a:latin typeface="Arial"/>
                <a:ea typeface="Arial"/>
                <a:cs typeface="Arial"/>
                <a:sym typeface="Arial"/>
              </a:rPr>
              <a:t>new</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front is changed to the </a:t>
            </a:r>
            <a:r>
              <a:rPr lang="en" sz="1200" b="1" i="1">
                <a:solidFill>
                  <a:srgbClr val="FF0000"/>
                </a:solidFill>
                <a:latin typeface="Arial"/>
                <a:ea typeface="Arial"/>
                <a:cs typeface="Arial"/>
                <a:sym typeface="Arial"/>
              </a:rPr>
              <a:t>old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front's next node, and </a:t>
            </a:r>
            <a:r>
              <a:rPr lang="en" sz="1200" b="1" i="1">
                <a:solidFill>
                  <a:srgbClr val="FF0000"/>
                </a:solidFill>
                <a:latin typeface="Arial"/>
                <a:ea typeface="Arial"/>
                <a:cs typeface="Arial"/>
                <a:sym typeface="Arial"/>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decremented.</a:t>
            </a:r>
            <a:endParaRPr sz="1200">
              <a:solidFill>
                <a:srgbClr val="FF0000"/>
              </a:solidFill>
              <a:latin typeface="Arial"/>
              <a:ea typeface="Arial"/>
              <a:cs typeface="Arial"/>
              <a:sym typeface="Arial"/>
            </a:endParaRPr>
          </a:p>
        </p:txBody>
      </p:sp>
      <p:sp>
        <p:nvSpPr>
          <p:cNvPr id="548" name="Google Shape;548;p74"/>
          <p:cNvSpPr txBox="1">
            <a:spLocks noGrp="1"/>
          </p:cNvSpPr>
          <p:nvPr>
            <p:ph type="body" idx="4294967295"/>
          </p:nvPr>
        </p:nvSpPr>
        <p:spPr>
          <a:xfrm>
            <a:off x="6245700" y="1449725"/>
            <a:ext cx="25617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If the front's next node is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then the queue is empty; </a:t>
            </a:r>
            <a:r>
              <a:rPr lang="en" sz="1200" b="1" i="1">
                <a:solidFill>
                  <a:srgbClr val="FF0000"/>
                </a:solidFill>
                <a:latin typeface="Arial"/>
                <a:ea typeface="Arial"/>
                <a:cs typeface="Arial"/>
                <a:sym typeface="Arial"/>
              </a:rPr>
              <a:t>both</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the front </a:t>
            </a:r>
            <a:r>
              <a:rPr lang="en" sz="1200" b="1" i="1">
                <a:solidFill>
                  <a:srgbClr val="FF0000"/>
                </a:solidFill>
                <a:latin typeface="Arial"/>
                <a:ea typeface="Arial"/>
                <a:cs typeface="Arial"/>
                <a:sym typeface="Arial"/>
              </a:rPr>
              <a:t>and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back are set to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a:t>
            </a:r>
            <a:endParaRPr sz="1200">
              <a:solidFill>
                <a:srgbClr val="FF0000"/>
              </a:solidFill>
              <a:latin typeface="Arial"/>
              <a:ea typeface="Arial"/>
              <a:cs typeface="Arial"/>
              <a:sym typeface="Arial"/>
            </a:endParaRPr>
          </a:p>
        </p:txBody>
      </p:sp>
      <p:graphicFrame>
        <p:nvGraphicFramePr>
          <p:cNvPr id="549" name="Google Shape;549;p74"/>
          <p:cNvGraphicFramePr/>
          <p:nvPr/>
        </p:nvGraphicFramePr>
        <p:xfrm>
          <a:off x="3359482" y="2355537"/>
          <a:ext cx="1074550" cy="134100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Queue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size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2</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front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back</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50" name="Google Shape;550;p74"/>
          <p:cNvSpPr/>
          <p:nvPr/>
        </p:nvSpPr>
        <p:spPr>
          <a:xfrm>
            <a:off x="4118924" y="3536425"/>
            <a:ext cx="546500" cy="732976"/>
          </a:xfrm>
          <a:custGeom>
            <a:avLst/>
            <a:gdLst/>
            <a:ahLst/>
            <a:cxnLst/>
            <a:rect l="l" t="t" r="r" b="b"/>
            <a:pathLst>
              <a:path w="21860" h="24946" extrusionOk="0">
                <a:moveTo>
                  <a:pt x="0" y="0"/>
                </a:moveTo>
                <a:lnTo>
                  <a:pt x="0" y="24946"/>
                </a:lnTo>
                <a:lnTo>
                  <a:pt x="21860" y="24946"/>
                </a:lnTo>
              </a:path>
            </a:pathLst>
          </a:custGeom>
          <a:noFill/>
          <a:ln w="19050" cap="flat" cmpd="sng">
            <a:solidFill>
              <a:srgbClr val="FF0000"/>
            </a:solidFill>
            <a:prstDash val="solid"/>
            <a:round/>
            <a:headEnd type="none" w="sm" len="sm"/>
            <a:tailEnd type="triangle" w="med" len="med"/>
          </a:ln>
        </p:spPr>
        <p:txBody>
          <a:bodyPr/>
          <a:lstStyle/>
          <a:p>
            <a:endParaRPr lang="en-US"/>
          </a:p>
        </p:txBody>
      </p:sp>
      <p:sp>
        <p:nvSpPr>
          <p:cNvPr id="551" name="Google Shape;551;p74"/>
          <p:cNvSpPr txBox="1"/>
          <p:nvPr/>
        </p:nvSpPr>
        <p:spPr>
          <a:xfrm>
            <a:off x="3909981" y="2745625"/>
            <a:ext cx="205800" cy="2184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1</a:t>
            </a:r>
            <a:endParaRPr sz="1000" b="0" i="0" u="none" strike="noStrike" cap="none">
              <a:solidFill>
                <a:srgbClr val="FF0000"/>
              </a:solidFill>
              <a:latin typeface="Consolas"/>
              <a:ea typeface="Consolas"/>
              <a:cs typeface="Consolas"/>
              <a:sym typeface="Consolas"/>
            </a:endParaRPr>
          </a:p>
        </p:txBody>
      </p:sp>
      <p:sp>
        <p:nvSpPr>
          <p:cNvPr id="552" name="Google Shape;552;p74"/>
          <p:cNvSpPr/>
          <p:nvPr/>
        </p:nvSpPr>
        <p:spPr>
          <a:xfrm>
            <a:off x="4102029" y="3182825"/>
            <a:ext cx="559350" cy="887250"/>
          </a:xfrm>
          <a:custGeom>
            <a:avLst/>
            <a:gdLst/>
            <a:ahLst/>
            <a:cxnLst/>
            <a:rect l="l" t="t" r="r" b="b"/>
            <a:pathLst>
              <a:path w="22374" h="35490" extrusionOk="0">
                <a:moveTo>
                  <a:pt x="0" y="0"/>
                </a:moveTo>
                <a:lnTo>
                  <a:pt x="7200" y="0"/>
                </a:lnTo>
                <a:lnTo>
                  <a:pt x="7200" y="35490"/>
                </a:lnTo>
                <a:lnTo>
                  <a:pt x="22374" y="35490"/>
                </a:lnTo>
              </a:path>
            </a:pathLst>
          </a:custGeom>
          <a:noFill/>
          <a:ln w="19050" cap="flat" cmpd="sng">
            <a:solidFill>
              <a:srgbClr val="FF0000"/>
            </a:solidFill>
            <a:prstDash val="solid"/>
            <a:round/>
            <a:headEnd type="none" w="sm" len="sm"/>
            <a:tailEnd type="triangle" w="med" len="med"/>
          </a:ln>
        </p:spPr>
        <p:txBody>
          <a:bodyPr/>
          <a:lstStyle/>
          <a:p>
            <a:endParaRPr lang="en-US"/>
          </a:p>
        </p:txBody>
      </p:sp>
      <p:sp>
        <p:nvSpPr>
          <p:cNvPr id="553" name="Google Shape;553;p74"/>
          <p:cNvSpPr/>
          <p:nvPr/>
        </p:nvSpPr>
        <p:spPr>
          <a:xfrm>
            <a:off x="4600657" y="2644500"/>
            <a:ext cx="1215300" cy="1341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554" name="Google Shape;554;p74"/>
          <p:cNvGraphicFramePr/>
          <p:nvPr/>
        </p:nvGraphicFramePr>
        <p:xfrm>
          <a:off x="4662633" y="3989769"/>
          <a:ext cx="1074550" cy="100575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Node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value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"b"</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next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555" name="Google Shape;555;p74"/>
          <p:cNvGraphicFramePr/>
          <p:nvPr/>
        </p:nvGraphicFramePr>
        <p:xfrm>
          <a:off x="6348262" y="2355537"/>
          <a:ext cx="1074550" cy="134100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Queue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size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0</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front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back</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556" name="Google Shape;556;p74"/>
          <p:cNvGraphicFramePr/>
          <p:nvPr/>
        </p:nvGraphicFramePr>
        <p:xfrm>
          <a:off x="7651412" y="2694369"/>
          <a:ext cx="1074550" cy="1005750"/>
        </p:xfrm>
        <a:graphic>
          <a:graphicData uri="http://schemas.openxmlformats.org/drawingml/2006/table">
            <a:tbl>
              <a:tblPr>
                <a:noFill/>
                <a:tableStyleId>{5D16334A-BD30-4DCF-A821-F696FD12572A}</a:tableStyleId>
              </a:tblPr>
              <a:tblGrid>
                <a:gridCol w="537275">
                  <a:extLst>
                    <a:ext uri="{9D8B030D-6E8A-4147-A177-3AD203B41FA5}">
                      <a16:colId xmlns:a16="http://schemas.microsoft.com/office/drawing/2014/main" val="20000"/>
                    </a:ext>
                  </a:extLst>
                </a:gridCol>
                <a:gridCol w="537275">
                  <a:extLst>
                    <a:ext uri="{9D8B030D-6E8A-4147-A177-3AD203B41FA5}">
                      <a16:colId xmlns:a16="http://schemas.microsoft.com/office/drawing/2014/main" val="20001"/>
                    </a:ext>
                  </a:extLst>
                </a:gridCol>
              </a:tblGrid>
              <a:tr h="217175">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Node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value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123</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17175">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next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57" name="Google Shape;557;p74"/>
          <p:cNvSpPr txBox="1"/>
          <p:nvPr/>
        </p:nvSpPr>
        <p:spPr>
          <a:xfrm>
            <a:off x="6907498" y="2752054"/>
            <a:ext cx="205800" cy="2184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0</a:t>
            </a:r>
            <a:endParaRPr sz="1000" b="0" i="0" u="none" strike="noStrike" cap="none">
              <a:solidFill>
                <a:srgbClr val="FF0000"/>
              </a:solidFill>
              <a:latin typeface="Consolas"/>
              <a:ea typeface="Consolas"/>
              <a:cs typeface="Consolas"/>
              <a:sym typeface="Consolas"/>
            </a:endParaRPr>
          </a:p>
        </p:txBody>
      </p:sp>
      <p:sp>
        <p:nvSpPr>
          <p:cNvPr id="558" name="Google Shape;558;p74"/>
          <p:cNvSpPr/>
          <p:nvPr/>
        </p:nvSpPr>
        <p:spPr>
          <a:xfrm>
            <a:off x="7612708" y="2441254"/>
            <a:ext cx="1215300" cy="13410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6"/>
                                        </p:tgtEl>
                                        <p:attrNameLst>
                                          <p:attrName>style.visibility</p:attrName>
                                        </p:attrNameLst>
                                      </p:cBhvr>
                                      <p:to>
                                        <p:strVal val="visible"/>
                                      </p:to>
                                    </p:set>
                                    <p:animEffect transition="in" filter="fade">
                                      <p:cBhvr>
                                        <p:cTn id="7" dur="1000"/>
                                        <p:tgtEl>
                                          <p:spTgt spid="546"/>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40"/>
                                        </p:tgtEl>
                                        <p:attrNameLst>
                                          <p:attrName>style.visibility</p:attrName>
                                        </p:attrNameLst>
                                      </p:cBhvr>
                                      <p:to>
                                        <p:strVal val="visible"/>
                                      </p:to>
                                    </p:set>
                                    <p:animEffect transition="in" filter="fade">
                                      <p:cBhvr>
                                        <p:cTn id="11" dur="1000"/>
                                        <p:tgtEl>
                                          <p:spTgt spid="540"/>
                                        </p:tgtEl>
                                      </p:cBhvr>
                                    </p:animEffect>
                                  </p:childTnLst>
                                </p:cTn>
                              </p:par>
                              <p:par>
                                <p:cTn id="12" presetID="10" presetClass="entr" presetSubtype="0" fill="hold" nodeType="withEffect">
                                  <p:stCondLst>
                                    <p:cond delay="0"/>
                                  </p:stCondLst>
                                  <p:childTnLst>
                                    <p:set>
                                      <p:cBhvr>
                                        <p:cTn id="13" dur="1" fill="hold">
                                          <p:stCondLst>
                                            <p:cond delay="0"/>
                                          </p:stCondLst>
                                        </p:cTn>
                                        <p:tgtEl>
                                          <p:spTgt spid="541"/>
                                        </p:tgtEl>
                                        <p:attrNameLst>
                                          <p:attrName>style.visibility</p:attrName>
                                        </p:attrNameLst>
                                      </p:cBhvr>
                                      <p:to>
                                        <p:strVal val="visible"/>
                                      </p:to>
                                    </p:set>
                                    <p:animEffect transition="in" filter="fade">
                                      <p:cBhvr>
                                        <p:cTn id="14" dur="1000"/>
                                        <p:tgtEl>
                                          <p:spTgt spid="541"/>
                                        </p:tgtEl>
                                      </p:cBhvr>
                                    </p:animEffect>
                                  </p:childTnLst>
                                </p:cTn>
                              </p:par>
                              <p:par>
                                <p:cTn id="15" presetID="10" presetClass="entr" presetSubtype="0" fill="hold" nodeType="withEffect">
                                  <p:stCondLst>
                                    <p:cond delay="0"/>
                                  </p:stCondLst>
                                  <p:childTnLst>
                                    <p:set>
                                      <p:cBhvr>
                                        <p:cTn id="16" dur="1" fill="hold">
                                          <p:stCondLst>
                                            <p:cond delay="0"/>
                                          </p:stCondLst>
                                        </p:cTn>
                                        <p:tgtEl>
                                          <p:spTgt spid="542"/>
                                        </p:tgtEl>
                                        <p:attrNameLst>
                                          <p:attrName>style.visibility</p:attrName>
                                        </p:attrNameLst>
                                      </p:cBhvr>
                                      <p:to>
                                        <p:strVal val="visible"/>
                                      </p:to>
                                    </p:set>
                                    <p:animEffect transition="in" filter="fade">
                                      <p:cBhvr>
                                        <p:cTn id="17" dur="1000"/>
                                        <p:tgtEl>
                                          <p:spTgt spid="542"/>
                                        </p:tgtEl>
                                      </p:cBhvr>
                                    </p:animEffect>
                                  </p:childTnLst>
                                </p:cTn>
                              </p:par>
                              <p:par>
                                <p:cTn id="18" presetID="10" presetClass="entr" presetSubtype="0" fill="hold" nodeType="withEffect">
                                  <p:stCondLst>
                                    <p:cond delay="0"/>
                                  </p:stCondLst>
                                  <p:childTnLst>
                                    <p:set>
                                      <p:cBhvr>
                                        <p:cTn id="19" dur="1" fill="hold">
                                          <p:stCondLst>
                                            <p:cond delay="0"/>
                                          </p:stCondLst>
                                        </p:cTn>
                                        <p:tgtEl>
                                          <p:spTgt spid="545"/>
                                        </p:tgtEl>
                                        <p:attrNameLst>
                                          <p:attrName>style.visibility</p:attrName>
                                        </p:attrNameLst>
                                      </p:cBhvr>
                                      <p:to>
                                        <p:strVal val="visible"/>
                                      </p:to>
                                    </p:set>
                                    <p:animEffect transition="in" filter="fade">
                                      <p:cBhvr>
                                        <p:cTn id="20" dur="1000"/>
                                        <p:tgtEl>
                                          <p:spTgt spid="545"/>
                                        </p:tgtEl>
                                      </p:cBhvr>
                                    </p:animEffect>
                                  </p:childTnLst>
                                </p:cTn>
                              </p:par>
                              <p:par>
                                <p:cTn id="21" presetID="10" presetClass="entr" presetSubtype="0" fill="hold" nodeType="withEffect">
                                  <p:stCondLst>
                                    <p:cond delay="0"/>
                                  </p:stCondLst>
                                  <p:childTnLst>
                                    <p:set>
                                      <p:cBhvr>
                                        <p:cTn id="22" dur="1" fill="hold">
                                          <p:stCondLst>
                                            <p:cond delay="0"/>
                                          </p:stCondLst>
                                        </p:cTn>
                                        <p:tgtEl>
                                          <p:spTgt spid="543"/>
                                        </p:tgtEl>
                                        <p:attrNameLst>
                                          <p:attrName>style.visibility</p:attrName>
                                        </p:attrNameLst>
                                      </p:cBhvr>
                                      <p:to>
                                        <p:strVal val="visible"/>
                                      </p:to>
                                    </p:set>
                                    <p:animEffect transition="in" filter="fade">
                                      <p:cBhvr>
                                        <p:cTn id="23" dur="1000"/>
                                        <p:tgtEl>
                                          <p:spTgt spid="543"/>
                                        </p:tgtEl>
                                      </p:cBhvr>
                                    </p:animEffect>
                                  </p:childTnLst>
                                </p:cTn>
                              </p:par>
                              <p:par>
                                <p:cTn id="24" presetID="10" presetClass="entr" presetSubtype="0" fill="hold" nodeType="withEffect">
                                  <p:stCondLst>
                                    <p:cond delay="0"/>
                                  </p:stCondLst>
                                  <p:childTnLst>
                                    <p:set>
                                      <p:cBhvr>
                                        <p:cTn id="25" dur="1" fill="hold">
                                          <p:stCondLst>
                                            <p:cond delay="0"/>
                                          </p:stCondLst>
                                        </p:cTn>
                                        <p:tgtEl>
                                          <p:spTgt spid="544"/>
                                        </p:tgtEl>
                                        <p:attrNameLst>
                                          <p:attrName>style.visibility</p:attrName>
                                        </p:attrNameLst>
                                      </p:cBhvr>
                                      <p:to>
                                        <p:strVal val="visible"/>
                                      </p:to>
                                    </p:set>
                                    <p:animEffect transition="in" filter="fade">
                                      <p:cBhvr>
                                        <p:cTn id="26" dur="1000"/>
                                        <p:tgtEl>
                                          <p:spTgt spid="54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47"/>
                                        </p:tgtEl>
                                        <p:attrNameLst>
                                          <p:attrName>style.visibility</p:attrName>
                                        </p:attrNameLst>
                                      </p:cBhvr>
                                      <p:to>
                                        <p:strVal val="visible"/>
                                      </p:to>
                                    </p:set>
                                    <p:animEffect transition="in" filter="fade">
                                      <p:cBhvr>
                                        <p:cTn id="31" dur="1000"/>
                                        <p:tgtEl>
                                          <p:spTgt spid="547"/>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536"/>
                                        </p:tgtEl>
                                        <p:attrNameLst>
                                          <p:attrName>style.visibility</p:attrName>
                                        </p:attrNameLst>
                                      </p:cBhvr>
                                      <p:to>
                                        <p:strVal val="visible"/>
                                      </p:to>
                                    </p:set>
                                    <p:animEffect transition="in" filter="fade">
                                      <p:cBhvr>
                                        <p:cTn id="35" dur="1000"/>
                                        <p:tgtEl>
                                          <p:spTgt spid="536"/>
                                        </p:tgtEl>
                                      </p:cBhvr>
                                    </p:animEffect>
                                  </p:childTnLst>
                                </p:cTn>
                              </p:par>
                              <p:par>
                                <p:cTn id="36" presetID="10" presetClass="entr" presetSubtype="0" fill="hold" nodeType="withEffect">
                                  <p:stCondLst>
                                    <p:cond delay="0"/>
                                  </p:stCondLst>
                                  <p:childTnLst>
                                    <p:set>
                                      <p:cBhvr>
                                        <p:cTn id="37" dur="1" fill="hold">
                                          <p:stCondLst>
                                            <p:cond delay="0"/>
                                          </p:stCondLst>
                                        </p:cTn>
                                        <p:tgtEl>
                                          <p:spTgt spid="549"/>
                                        </p:tgtEl>
                                        <p:attrNameLst>
                                          <p:attrName>style.visibility</p:attrName>
                                        </p:attrNameLst>
                                      </p:cBhvr>
                                      <p:to>
                                        <p:strVal val="visible"/>
                                      </p:to>
                                    </p:set>
                                    <p:animEffect transition="in" filter="fade">
                                      <p:cBhvr>
                                        <p:cTn id="38" dur="1000"/>
                                        <p:tgtEl>
                                          <p:spTgt spid="549"/>
                                        </p:tgtEl>
                                      </p:cBhvr>
                                    </p:animEffect>
                                  </p:childTnLst>
                                </p:cTn>
                              </p:par>
                              <p:par>
                                <p:cTn id="39" presetID="10" presetClass="entr" presetSubtype="0" fill="hold" nodeType="withEffect">
                                  <p:stCondLst>
                                    <p:cond delay="0"/>
                                  </p:stCondLst>
                                  <p:childTnLst>
                                    <p:set>
                                      <p:cBhvr>
                                        <p:cTn id="40" dur="1" fill="hold">
                                          <p:stCondLst>
                                            <p:cond delay="0"/>
                                          </p:stCondLst>
                                        </p:cTn>
                                        <p:tgtEl>
                                          <p:spTgt spid="550"/>
                                        </p:tgtEl>
                                        <p:attrNameLst>
                                          <p:attrName>style.visibility</p:attrName>
                                        </p:attrNameLst>
                                      </p:cBhvr>
                                      <p:to>
                                        <p:strVal val="visible"/>
                                      </p:to>
                                    </p:set>
                                    <p:animEffect transition="in" filter="fade">
                                      <p:cBhvr>
                                        <p:cTn id="41" dur="1000"/>
                                        <p:tgtEl>
                                          <p:spTgt spid="550"/>
                                        </p:tgtEl>
                                      </p:cBhvr>
                                    </p:animEffect>
                                  </p:childTnLst>
                                </p:cTn>
                              </p:par>
                              <p:par>
                                <p:cTn id="42" presetID="10" presetClass="entr" presetSubtype="0" fill="hold" nodeType="withEffect">
                                  <p:stCondLst>
                                    <p:cond delay="0"/>
                                  </p:stCondLst>
                                  <p:childTnLst>
                                    <p:set>
                                      <p:cBhvr>
                                        <p:cTn id="43" dur="1" fill="hold">
                                          <p:stCondLst>
                                            <p:cond delay="0"/>
                                          </p:stCondLst>
                                        </p:cTn>
                                        <p:tgtEl>
                                          <p:spTgt spid="554"/>
                                        </p:tgtEl>
                                        <p:attrNameLst>
                                          <p:attrName>style.visibility</p:attrName>
                                        </p:attrNameLst>
                                      </p:cBhvr>
                                      <p:to>
                                        <p:strVal val="visible"/>
                                      </p:to>
                                    </p:set>
                                    <p:animEffect transition="in" filter="fade">
                                      <p:cBhvr>
                                        <p:cTn id="44" dur="1000"/>
                                        <p:tgtEl>
                                          <p:spTgt spid="554"/>
                                        </p:tgtEl>
                                      </p:cBhvr>
                                    </p:animEffect>
                                  </p:childTnLst>
                                </p:cTn>
                              </p:par>
                              <p:par>
                                <p:cTn id="45" presetID="10" presetClass="entr" presetSubtype="0" fill="hold" nodeType="withEffect">
                                  <p:stCondLst>
                                    <p:cond delay="0"/>
                                  </p:stCondLst>
                                  <p:childTnLst>
                                    <p:set>
                                      <p:cBhvr>
                                        <p:cTn id="46" dur="1" fill="hold">
                                          <p:stCondLst>
                                            <p:cond delay="0"/>
                                          </p:stCondLst>
                                        </p:cTn>
                                        <p:tgtEl>
                                          <p:spTgt spid="537"/>
                                        </p:tgtEl>
                                        <p:attrNameLst>
                                          <p:attrName>style.visibility</p:attrName>
                                        </p:attrNameLst>
                                      </p:cBhvr>
                                      <p:to>
                                        <p:strVal val="visible"/>
                                      </p:to>
                                    </p:set>
                                    <p:animEffect transition="in" filter="fade">
                                      <p:cBhvr>
                                        <p:cTn id="47" dur="1000"/>
                                        <p:tgtEl>
                                          <p:spTgt spid="537"/>
                                        </p:tgtEl>
                                      </p:cBhvr>
                                    </p:animEffect>
                                  </p:childTnLst>
                                </p:cTn>
                              </p:par>
                            </p:childTnLst>
                          </p:cTn>
                        </p:par>
                        <p:par>
                          <p:cTn id="48" fill="hold">
                            <p:stCondLst>
                              <p:cond delay="2000"/>
                            </p:stCondLst>
                            <p:childTnLst>
                              <p:par>
                                <p:cTn id="49" presetID="10" presetClass="entr" presetSubtype="0" fill="hold" nodeType="afterEffect">
                                  <p:stCondLst>
                                    <p:cond delay="0"/>
                                  </p:stCondLst>
                                  <p:childTnLst>
                                    <p:set>
                                      <p:cBhvr>
                                        <p:cTn id="50" dur="1" fill="hold">
                                          <p:stCondLst>
                                            <p:cond delay="0"/>
                                          </p:stCondLst>
                                        </p:cTn>
                                        <p:tgtEl>
                                          <p:spTgt spid="552"/>
                                        </p:tgtEl>
                                        <p:attrNameLst>
                                          <p:attrName>style.visibility</p:attrName>
                                        </p:attrNameLst>
                                      </p:cBhvr>
                                      <p:to>
                                        <p:strVal val="visible"/>
                                      </p:to>
                                    </p:set>
                                    <p:animEffect transition="in" filter="fade">
                                      <p:cBhvr>
                                        <p:cTn id="51" dur="1000"/>
                                        <p:tgtEl>
                                          <p:spTgt spid="552"/>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553"/>
                                        </p:tgtEl>
                                        <p:attrNameLst>
                                          <p:attrName>style.visibility</p:attrName>
                                        </p:attrNameLst>
                                      </p:cBhvr>
                                      <p:to>
                                        <p:strVal val="visible"/>
                                      </p:to>
                                    </p:set>
                                    <p:animEffect transition="in" filter="fade">
                                      <p:cBhvr>
                                        <p:cTn id="55" dur="1000"/>
                                        <p:tgtEl>
                                          <p:spTgt spid="553"/>
                                        </p:tgtEl>
                                      </p:cBhvr>
                                    </p:animEffect>
                                  </p:childTnLst>
                                </p:cTn>
                              </p:par>
                            </p:childTnLst>
                          </p:cTn>
                        </p:par>
                        <p:par>
                          <p:cTn id="56" fill="hold">
                            <p:stCondLst>
                              <p:cond delay="4000"/>
                            </p:stCondLst>
                            <p:childTnLst>
                              <p:par>
                                <p:cTn id="57" presetID="10" presetClass="entr" presetSubtype="0" fill="hold" nodeType="afterEffect">
                                  <p:stCondLst>
                                    <p:cond delay="0"/>
                                  </p:stCondLst>
                                  <p:childTnLst>
                                    <p:set>
                                      <p:cBhvr>
                                        <p:cTn id="58" dur="1" fill="hold">
                                          <p:stCondLst>
                                            <p:cond delay="0"/>
                                          </p:stCondLst>
                                        </p:cTn>
                                        <p:tgtEl>
                                          <p:spTgt spid="551"/>
                                        </p:tgtEl>
                                        <p:attrNameLst>
                                          <p:attrName>style.visibility</p:attrName>
                                        </p:attrNameLst>
                                      </p:cBhvr>
                                      <p:to>
                                        <p:strVal val="visible"/>
                                      </p:to>
                                    </p:set>
                                    <p:animEffect transition="in" filter="fade">
                                      <p:cBhvr>
                                        <p:cTn id="59" dur="1000"/>
                                        <p:tgtEl>
                                          <p:spTgt spid="55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548"/>
                                        </p:tgtEl>
                                        <p:attrNameLst>
                                          <p:attrName>style.visibility</p:attrName>
                                        </p:attrNameLst>
                                      </p:cBhvr>
                                      <p:to>
                                        <p:strVal val="visible"/>
                                      </p:to>
                                    </p:set>
                                    <p:animEffect transition="in" filter="fade">
                                      <p:cBhvr>
                                        <p:cTn id="64" dur="1000"/>
                                        <p:tgtEl>
                                          <p:spTgt spid="548"/>
                                        </p:tgtEl>
                                      </p:cBhvr>
                                    </p:animEffect>
                                  </p:childTnLst>
                                </p:cTn>
                              </p:par>
                              <p:par>
                                <p:cTn id="65" presetID="10" presetClass="entr" presetSubtype="0" fill="hold" nodeType="withEffect">
                                  <p:stCondLst>
                                    <p:cond delay="0"/>
                                  </p:stCondLst>
                                  <p:childTnLst>
                                    <p:set>
                                      <p:cBhvr>
                                        <p:cTn id="66" dur="1" fill="hold">
                                          <p:stCondLst>
                                            <p:cond delay="0"/>
                                          </p:stCondLst>
                                        </p:cTn>
                                        <p:tgtEl>
                                          <p:spTgt spid="555"/>
                                        </p:tgtEl>
                                        <p:attrNameLst>
                                          <p:attrName>style.visibility</p:attrName>
                                        </p:attrNameLst>
                                      </p:cBhvr>
                                      <p:to>
                                        <p:strVal val="visible"/>
                                      </p:to>
                                    </p:set>
                                    <p:animEffect transition="in" filter="fade">
                                      <p:cBhvr>
                                        <p:cTn id="67" dur="1000"/>
                                        <p:tgtEl>
                                          <p:spTgt spid="555"/>
                                        </p:tgtEl>
                                      </p:cBhvr>
                                    </p:animEffect>
                                  </p:childTnLst>
                                </p:cTn>
                              </p:par>
                              <p:par>
                                <p:cTn id="68" presetID="10" presetClass="entr" presetSubtype="0" fill="hold" nodeType="withEffect">
                                  <p:stCondLst>
                                    <p:cond delay="0"/>
                                  </p:stCondLst>
                                  <p:childTnLst>
                                    <p:set>
                                      <p:cBhvr>
                                        <p:cTn id="69" dur="1" fill="hold">
                                          <p:stCondLst>
                                            <p:cond delay="0"/>
                                          </p:stCondLst>
                                        </p:cTn>
                                        <p:tgtEl>
                                          <p:spTgt spid="556"/>
                                        </p:tgtEl>
                                        <p:attrNameLst>
                                          <p:attrName>style.visibility</p:attrName>
                                        </p:attrNameLst>
                                      </p:cBhvr>
                                      <p:to>
                                        <p:strVal val="visible"/>
                                      </p:to>
                                    </p:set>
                                    <p:animEffect transition="in" filter="fade">
                                      <p:cBhvr>
                                        <p:cTn id="70" dur="1000"/>
                                        <p:tgtEl>
                                          <p:spTgt spid="556"/>
                                        </p:tgtEl>
                                      </p:cBhvr>
                                    </p:animEffect>
                                  </p:childTnLst>
                                </p:cTn>
                              </p:par>
                            </p:childTnLst>
                          </p:cTn>
                        </p:par>
                        <p:par>
                          <p:cTn id="71" fill="hold">
                            <p:stCondLst>
                              <p:cond delay="1000"/>
                            </p:stCondLst>
                            <p:childTnLst>
                              <p:par>
                                <p:cTn id="72" presetID="10" presetClass="entr" presetSubtype="0" fill="hold" nodeType="afterEffect">
                                  <p:stCondLst>
                                    <p:cond delay="0"/>
                                  </p:stCondLst>
                                  <p:childTnLst>
                                    <p:set>
                                      <p:cBhvr>
                                        <p:cTn id="73" dur="1" fill="hold">
                                          <p:stCondLst>
                                            <p:cond delay="0"/>
                                          </p:stCondLst>
                                        </p:cTn>
                                        <p:tgtEl>
                                          <p:spTgt spid="558"/>
                                        </p:tgtEl>
                                        <p:attrNameLst>
                                          <p:attrName>style.visibility</p:attrName>
                                        </p:attrNameLst>
                                      </p:cBhvr>
                                      <p:to>
                                        <p:strVal val="visible"/>
                                      </p:to>
                                    </p:set>
                                    <p:animEffect transition="in" filter="fade">
                                      <p:cBhvr>
                                        <p:cTn id="74" dur="1000"/>
                                        <p:tgtEl>
                                          <p:spTgt spid="558"/>
                                        </p:tgtEl>
                                      </p:cBhvr>
                                    </p:animEffect>
                                  </p:childTnLst>
                                </p:cTn>
                              </p:par>
                            </p:childTnLst>
                          </p:cTn>
                        </p:par>
                        <p:par>
                          <p:cTn id="75" fill="hold">
                            <p:stCondLst>
                              <p:cond delay="2000"/>
                            </p:stCondLst>
                            <p:childTnLst>
                              <p:par>
                                <p:cTn id="76" presetID="10" presetClass="entr" presetSubtype="0" fill="hold" nodeType="afterEffect">
                                  <p:stCondLst>
                                    <p:cond delay="0"/>
                                  </p:stCondLst>
                                  <p:childTnLst>
                                    <p:set>
                                      <p:cBhvr>
                                        <p:cTn id="77" dur="1" fill="hold">
                                          <p:stCondLst>
                                            <p:cond delay="0"/>
                                          </p:stCondLst>
                                        </p:cTn>
                                        <p:tgtEl>
                                          <p:spTgt spid="557"/>
                                        </p:tgtEl>
                                        <p:attrNameLst>
                                          <p:attrName>style.visibility</p:attrName>
                                        </p:attrNameLst>
                                      </p:cBhvr>
                                      <p:to>
                                        <p:strVal val="visible"/>
                                      </p:to>
                                    </p:set>
                                    <p:animEffect transition="in" filter="fade">
                                      <p:cBhvr>
                                        <p:cTn id="78" dur="1000"/>
                                        <p:tgtEl>
                                          <p:spTgt spid="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7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We can add new elements to the queue, which is great! But we can't actually remove anything from the queue, which is not so great. Finish implementing the Node-based Queue by added a dequeue method.</a:t>
            </a:r>
            <a:endParaRPr dirty="0"/>
          </a:p>
        </p:txBody>
      </p:sp>
      <p:sp>
        <p:nvSpPr>
          <p:cNvPr id="564" name="Google Shape;564;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565" name="Google Shape;565;p75"/>
          <p:cNvSpPr txBox="1">
            <a:spLocks noGrp="1"/>
          </p:cNvSpPr>
          <p:nvPr>
            <p:ph type="body" idx="2"/>
          </p:nvPr>
        </p:nvSpPr>
        <p:spPr>
          <a:xfrm>
            <a:off x="2769325" y="1868350"/>
            <a:ext cx="6197400" cy="26766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Open your </a:t>
            </a:r>
            <a:r>
              <a:rPr lang="en" sz="1700" dirty="0">
                <a:latin typeface="Courier New"/>
                <a:ea typeface="Courier New"/>
                <a:cs typeface="Courier New"/>
                <a:sym typeface="Courier New"/>
              </a:rPr>
              <a:t>NodeQueue</a:t>
            </a:r>
            <a:r>
              <a:rPr lang="en" sz="1700" dirty="0"/>
              <a:t> class and implement the </a:t>
            </a:r>
            <a:r>
              <a:rPr lang="en" sz="1700" dirty="0">
                <a:solidFill>
                  <a:srgbClr val="FF0000"/>
                </a:solidFill>
                <a:latin typeface="Courier New"/>
                <a:ea typeface="Courier New"/>
                <a:cs typeface="Courier New"/>
                <a:sym typeface="Courier New"/>
              </a:rPr>
              <a:t>dequeue</a:t>
            </a:r>
            <a:r>
              <a:rPr lang="en" sz="1700" dirty="0">
                <a:solidFill>
                  <a:srgbClr val="FF0000"/>
                </a:solidFill>
              </a:rPr>
              <a:t> </a:t>
            </a:r>
            <a:r>
              <a:rPr lang="en" sz="1700" b="1" i="1" dirty="0">
                <a:solidFill>
                  <a:srgbClr val="FF0000"/>
                </a:solidFill>
              </a:rPr>
              <a:t>method</a:t>
            </a:r>
            <a:r>
              <a:rPr lang="en" sz="1700" dirty="0"/>
              <a:t>.</a:t>
            </a:r>
            <a:endParaRPr sz="1700" dirty="0"/>
          </a:p>
          <a:p>
            <a:pPr marL="914400" lvl="1" indent="-323850" algn="l" rtl="0">
              <a:spcBef>
                <a:spcPts val="0"/>
              </a:spcBef>
              <a:spcAft>
                <a:spcPts val="0"/>
              </a:spcAft>
              <a:buSzPts val="1500"/>
              <a:buChar char="○"/>
            </a:pPr>
            <a:r>
              <a:rPr lang="en" sz="1500" dirty="0"/>
              <a:t>Save the </a:t>
            </a:r>
            <a:r>
              <a:rPr lang="en" sz="1500" dirty="0">
                <a:latin typeface="Courier New"/>
                <a:ea typeface="Courier New"/>
                <a:cs typeface="Courier New"/>
                <a:sym typeface="Courier New"/>
              </a:rPr>
              <a:t>front</a:t>
            </a:r>
            <a:r>
              <a:rPr lang="en" sz="1500" dirty="0"/>
              <a:t> node's </a:t>
            </a:r>
            <a:r>
              <a:rPr lang="en" sz="1500" b="1" i="1" dirty="0">
                <a:solidFill>
                  <a:srgbClr val="FF0000"/>
                </a:solidFill>
              </a:rPr>
              <a:t>value </a:t>
            </a:r>
            <a:r>
              <a:rPr lang="en" sz="1500" dirty="0"/>
              <a:t>in a </a:t>
            </a:r>
            <a:r>
              <a:rPr lang="en" sz="1500" b="1" i="1" dirty="0">
                <a:solidFill>
                  <a:srgbClr val="FF0000"/>
                </a:solidFill>
              </a:rPr>
              <a:t>temporary variable</a:t>
            </a:r>
            <a:r>
              <a:rPr lang="en" sz="1500" dirty="0"/>
              <a:t>.</a:t>
            </a:r>
            <a:endParaRPr sz="1500" dirty="0"/>
          </a:p>
          <a:p>
            <a:pPr marL="914400" lvl="1" indent="-323850" algn="l" rtl="0">
              <a:spcBef>
                <a:spcPts val="0"/>
              </a:spcBef>
              <a:spcAft>
                <a:spcPts val="0"/>
              </a:spcAft>
              <a:buSzPts val="1500"/>
              <a:buChar char="○"/>
            </a:pPr>
            <a:r>
              <a:rPr lang="en" sz="1500" dirty="0"/>
              <a:t>Make the </a:t>
            </a:r>
            <a:r>
              <a:rPr lang="en" sz="1500" b="1" i="1" dirty="0">
                <a:solidFill>
                  <a:srgbClr val="FF0000"/>
                </a:solidFill>
              </a:rPr>
              <a:t>new</a:t>
            </a:r>
            <a:r>
              <a:rPr lang="en" sz="1500" dirty="0">
                <a:solidFill>
                  <a:srgbClr val="FF0000"/>
                </a:solidFill>
              </a:rPr>
              <a:t> </a:t>
            </a:r>
            <a:r>
              <a:rPr lang="en" sz="1500" dirty="0">
                <a:latin typeface="Courier New"/>
                <a:ea typeface="Courier New"/>
                <a:cs typeface="Courier New"/>
                <a:sym typeface="Courier New"/>
              </a:rPr>
              <a:t>front</a:t>
            </a:r>
            <a:r>
              <a:rPr lang="en" sz="1500" dirty="0"/>
              <a:t> the </a:t>
            </a:r>
            <a:r>
              <a:rPr lang="en" sz="1500" b="1" i="1" dirty="0">
                <a:solidFill>
                  <a:srgbClr val="FF0000"/>
                </a:solidFill>
              </a:rPr>
              <a:t>old</a:t>
            </a:r>
            <a:r>
              <a:rPr lang="en" sz="1500" b="1" i="1" dirty="0"/>
              <a:t> </a:t>
            </a:r>
            <a:r>
              <a:rPr lang="en" sz="1500" dirty="0">
                <a:latin typeface="Courier New"/>
                <a:ea typeface="Courier New"/>
                <a:cs typeface="Courier New"/>
                <a:sym typeface="Courier New"/>
              </a:rPr>
              <a:t>front</a:t>
            </a:r>
            <a:r>
              <a:rPr lang="en" sz="1500" dirty="0"/>
              <a:t>'s </a:t>
            </a:r>
            <a:r>
              <a:rPr lang="en" sz="1500" b="1" i="1" dirty="0">
                <a:solidFill>
                  <a:srgbClr val="FF0000"/>
                </a:solidFill>
              </a:rPr>
              <a:t>next</a:t>
            </a:r>
            <a:r>
              <a:rPr lang="en" sz="1500" dirty="0">
                <a:solidFill>
                  <a:srgbClr val="FF0000"/>
                </a:solidFill>
              </a:rPr>
              <a:t> </a:t>
            </a:r>
            <a:r>
              <a:rPr lang="en" sz="1500" dirty="0"/>
              <a:t>node.</a:t>
            </a:r>
            <a:endParaRPr sz="1500" dirty="0"/>
          </a:p>
          <a:p>
            <a:pPr marL="914400" lvl="1" indent="-323850" algn="l" rtl="0">
              <a:spcBef>
                <a:spcPts val="0"/>
              </a:spcBef>
              <a:spcAft>
                <a:spcPts val="0"/>
              </a:spcAft>
              <a:buSzPts val="1500"/>
              <a:buChar char="○"/>
            </a:pPr>
            <a:r>
              <a:rPr lang="en" sz="1500" dirty="0"/>
              <a:t>If the new </a:t>
            </a:r>
            <a:r>
              <a:rPr lang="en" sz="1500" dirty="0">
                <a:latin typeface="Courier New"/>
                <a:ea typeface="Courier New"/>
                <a:cs typeface="Courier New"/>
                <a:sym typeface="Courier New"/>
              </a:rPr>
              <a:t>front</a:t>
            </a:r>
            <a:r>
              <a:rPr lang="en" sz="1500" dirty="0"/>
              <a:t> is </a:t>
            </a:r>
            <a:r>
              <a:rPr lang="en" sz="1500" dirty="0">
                <a:latin typeface="Courier New"/>
                <a:ea typeface="Courier New"/>
                <a:cs typeface="Courier New"/>
                <a:sym typeface="Courier New"/>
              </a:rPr>
              <a:t>null</a:t>
            </a:r>
            <a:r>
              <a:rPr lang="en" sz="1500" dirty="0"/>
              <a:t>, </a:t>
            </a:r>
            <a:r>
              <a:rPr lang="en" sz="1500" b="1" i="1" dirty="0">
                <a:solidFill>
                  <a:srgbClr val="FF0000"/>
                </a:solidFill>
              </a:rPr>
              <a:t>set </a:t>
            </a:r>
            <a:r>
              <a:rPr lang="en" sz="1500" dirty="0">
                <a:solidFill>
                  <a:srgbClr val="FF0000"/>
                </a:solidFill>
                <a:latin typeface="Courier New"/>
                <a:ea typeface="Courier New"/>
                <a:cs typeface="Courier New"/>
                <a:sym typeface="Courier New"/>
              </a:rPr>
              <a:t>back</a:t>
            </a:r>
            <a:r>
              <a:rPr lang="en" sz="1500" b="1" i="1" dirty="0">
                <a:solidFill>
                  <a:srgbClr val="FF0000"/>
                </a:solidFill>
              </a:rPr>
              <a:t> to</a:t>
            </a:r>
            <a:r>
              <a:rPr lang="en" sz="1500" dirty="0">
                <a:solidFill>
                  <a:srgbClr val="FF0000"/>
                </a:solidFill>
              </a:rPr>
              <a:t> </a:t>
            </a:r>
            <a:r>
              <a:rPr lang="en" sz="1500" dirty="0">
                <a:solidFill>
                  <a:srgbClr val="FF0000"/>
                </a:solidFill>
                <a:latin typeface="Courier New"/>
                <a:ea typeface="Courier New"/>
                <a:cs typeface="Courier New"/>
                <a:sym typeface="Courier New"/>
              </a:rPr>
              <a:t>null</a:t>
            </a:r>
            <a:r>
              <a:rPr lang="en" sz="1500" dirty="0"/>
              <a:t> as well!</a:t>
            </a:r>
            <a:endParaRPr sz="1500" dirty="0"/>
          </a:p>
          <a:p>
            <a:pPr marL="914400" lvl="1" indent="-323850" algn="l" rtl="0">
              <a:spcBef>
                <a:spcPts val="0"/>
              </a:spcBef>
              <a:spcAft>
                <a:spcPts val="0"/>
              </a:spcAft>
              <a:buSzPts val="1500"/>
              <a:buChar char="○"/>
            </a:pPr>
            <a:r>
              <a:rPr lang="en" sz="1500" dirty="0"/>
              <a:t>Don't forget to </a:t>
            </a:r>
            <a:r>
              <a:rPr lang="en" sz="1500" b="1" i="1" dirty="0">
                <a:solidFill>
                  <a:srgbClr val="FF0000"/>
                </a:solidFill>
              </a:rPr>
              <a:t>decrement </a:t>
            </a:r>
            <a:r>
              <a:rPr lang="en" sz="1500" dirty="0">
                <a:solidFill>
                  <a:srgbClr val="FF0000"/>
                </a:solidFill>
                <a:latin typeface="Courier New"/>
                <a:ea typeface="Courier New"/>
                <a:cs typeface="Courier New"/>
                <a:sym typeface="Courier New"/>
              </a:rPr>
              <a:t>size</a:t>
            </a:r>
            <a:r>
              <a:rPr lang="en" sz="1500" dirty="0"/>
              <a:t>!</a:t>
            </a:r>
            <a:endParaRPr sz="1500" dirty="0"/>
          </a:p>
          <a:p>
            <a:pPr marL="914400" lvl="1" indent="-323850" algn="l" rtl="0">
              <a:spcBef>
                <a:spcPts val="0"/>
              </a:spcBef>
              <a:spcAft>
                <a:spcPts val="0"/>
              </a:spcAft>
              <a:buSzPts val="1500"/>
              <a:buChar char="○"/>
            </a:pPr>
            <a:r>
              <a:rPr lang="en" sz="1500" b="1" i="1" dirty="0">
                <a:solidFill>
                  <a:srgbClr val="FF0000"/>
                </a:solidFill>
              </a:rPr>
              <a:t>Return </a:t>
            </a:r>
            <a:r>
              <a:rPr lang="en" sz="1500" dirty="0"/>
              <a:t>the temporary variable.</a:t>
            </a:r>
            <a:endParaRPr sz="1500" dirty="0"/>
          </a:p>
          <a:p>
            <a:pPr marL="457200" lvl="0" indent="-336550" algn="l" rtl="0">
              <a:spcBef>
                <a:spcPts val="0"/>
              </a:spcBef>
              <a:spcAft>
                <a:spcPts val="0"/>
              </a:spcAft>
              <a:buSzPts val="1700"/>
              <a:buChar char="●"/>
            </a:pPr>
            <a:r>
              <a:rPr lang="en" sz="1700" dirty="0"/>
              <a:t>Use </a:t>
            </a:r>
            <a:r>
              <a:rPr lang="en" sz="1700" dirty="0">
                <a:latin typeface="Courier New"/>
                <a:ea typeface="Courier New"/>
                <a:cs typeface="Courier New"/>
                <a:sym typeface="Courier New"/>
              </a:rPr>
              <a:t>main</a:t>
            </a:r>
            <a:r>
              <a:rPr lang="en" sz="1700" dirty="0"/>
              <a:t> to dequeue a few values and print them out. Print your queue as well.</a:t>
            </a:r>
            <a:endParaRPr sz="1700" dirty="0"/>
          </a:p>
        </p:txBody>
      </p:sp>
      <p:sp>
        <p:nvSpPr>
          <p:cNvPr id="566" name="Google Shape;566;p7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Dequeue Using Nodes</a:t>
            </a:r>
            <a:endParaRPr/>
          </a:p>
        </p:txBody>
      </p:sp>
      <p:sp>
        <p:nvSpPr>
          <p:cNvPr id="567" name="Google Shape;567;p7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5.7</a:t>
            </a:r>
            <a:endParaRPr/>
          </a:p>
        </p:txBody>
      </p:sp>
      <p:pic>
        <p:nvPicPr>
          <p:cNvPr id="568" name="Google Shape;568;p75"/>
          <p:cNvPicPr preferRelativeResize="0"/>
          <p:nvPr/>
        </p:nvPicPr>
        <p:blipFill rotWithShape="1">
          <a:blip r:embed="rId3">
            <a:alphaModFix/>
          </a:blip>
          <a:srcRect/>
          <a:stretch/>
        </p:blipFill>
        <p:spPr>
          <a:xfrm>
            <a:off x="494025" y="1729125"/>
            <a:ext cx="2130525" cy="3261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76"/>
          <p:cNvSpPr txBox="1">
            <a:spLocks noGrp="1"/>
          </p:cNvSpPr>
          <p:nvPr>
            <p:ph type="title"/>
          </p:nvPr>
        </p:nvSpPr>
        <p:spPr>
          <a:xfrm>
            <a:off x="311725" y="2723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700"/>
              <a:t>Array-Based Queues</a:t>
            </a:r>
            <a:endParaRPr sz="2700"/>
          </a:p>
        </p:txBody>
      </p:sp>
      <p:sp>
        <p:nvSpPr>
          <p:cNvPr id="574" name="Google Shape;574;p76"/>
          <p:cNvSpPr txBox="1">
            <a:spLocks noGrp="1"/>
          </p:cNvSpPr>
          <p:nvPr>
            <p:ph type="body" idx="1"/>
          </p:nvPr>
        </p:nvSpPr>
        <p:spPr>
          <a:xfrm>
            <a:off x="4270125" y="38097"/>
            <a:ext cx="4773300" cy="50487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The </a:t>
            </a:r>
            <a:r>
              <a:rPr lang="en" b="1" i="1" dirty="0">
                <a:solidFill>
                  <a:srgbClr val="FF0000"/>
                </a:solidFill>
              </a:rPr>
              <a:t>queue</a:t>
            </a:r>
            <a:r>
              <a:rPr lang="en" dirty="0">
                <a:solidFill>
                  <a:srgbClr val="FF0000"/>
                </a:solidFill>
              </a:rPr>
              <a:t> </a:t>
            </a:r>
            <a:r>
              <a:rPr lang="en" dirty="0"/>
              <a:t>abstract data type </a:t>
            </a:r>
            <a:r>
              <a:rPr lang="en" b="1" i="1" dirty="0">
                <a:solidFill>
                  <a:srgbClr val="FF0000"/>
                </a:solidFill>
              </a:rPr>
              <a:t>defines</a:t>
            </a:r>
            <a:r>
              <a:rPr lang="en" dirty="0">
                <a:solidFill>
                  <a:srgbClr val="FF0000"/>
                </a:solidFill>
              </a:rPr>
              <a:t> </a:t>
            </a:r>
            <a:r>
              <a:rPr lang="en" dirty="0"/>
              <a:t>the following behavior:</a:t>
            </a:r>
            <a:endParaRPr dirty="0"/>
          </a:p>
          <a:p>
            <a:pPr marL="914400" lvl="1" indent="-298450" algn="l" rtl="0">
              <a:lnSpc>
                <a:spcPct val="100000"/>
              </a:lnSpc>
              <a:spcBef>
                <a:spcPts val="0"/>
              </a:spcBef>
              <a:spcAft>
                <a:spcPts val="0"/>
              </a:spcAft>
              <a:buSzPts val="1100"/>
              <a:buChar char="○"/>
            </a:pPr>
            <a:r>
              <a:rPr lang="en" dirty="0">
                <a:highlight>
                  <a:srgbClr val="FFFF00"/>
                </a:highlight>
              </a:rPr>
              <a:t>Elements are </a:t>
            </a:r>
            <a:r>
              <a:rPr lang="en" b="1" i="1" dirty="0">
                <a:solidFill>
                  <a:srgbClr val="FF0000"/>
                </a:solidFill>
                <a:highlight>
                  <a:srgbClr val="FFFF00"/>
                </a:highlight>
              </a:rPr>
              <a:t>enqueued</a:t>
            </a:r>
            <a:r>
              <a:rPr lang="en" dirty="0">
                <a:solidFill>
                  <a:srgbClr val="FF0000"/>
                </a:solidFill>
                <a:highlight>
                  <a:srgbClr val="FFFF00"/>
                </a:highlight>
              </a:rPr>
              <a:t> </a:t>
            </a:r>
            <a:r>
              <a:rPr lang="en" dirty="0">
                <a:highlight>
                  <a:srgbClr val="FFFF00"/>
                </a:highlight>
              </a:rPr>
              <a:t>at the </a:t>
            </a:r>
            <a:r>
              <a:rPr lang="en" b="1" i="1" dirty="0">
                <a:solidFill>
                  <a:srgbClr val="FF0000"/>
                </a:solidFill>
                <a:highlight>
                  <a:srgbClr val="FFFF00"/>
                </a:highlight>
              </a:rPr>
              <a:t>back</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Elements are </a:t>
            </a:r>
            <a:r>
              <a:rPr lang="en" b="1" i="1" dirty="0">
                <a:solidFill>
                  <a:srgbClr val="FF0000"/>
                </a:solidFill>
                <a:highlight>
                  <a:srgbClr val="FFFF00"/>
                </a:highlight>
              </a:rPr>
              <a:t>dequeued</a:t>
            </a:r>
            <a:r>
              <a:rPr lang="en" dirty="0">
                <a:solidFill>
                  <a:srgbClr val="FF0000"/>
                </a:solidFill>
                <a:highlight>
                  <a:srgbClr val="FFFF00"/>
                </a:highlight>
              </a:rPr>
              <a:t> </a:t>
            </a:r>
            <a:r>
              <a:rPr lang="en" dirty="0">
                <a:highlight>
                  <a:srgbClr val="FFFF00"/>
                </a:highlight>
              </a:rPr>
              <a:t>from the </a:t>
            </a:r>
            <a:r>
              <a:rPr lang="en" b="1" i="1" dirty="0">
                <a:solidFill>
                  <a:srgbClr val="FF0000"/>
                </a:solidFill>
                <a:highlight>
                  <a:srgbClr val="FFFF00"/>
                </a:highlight>
              </a:rPr>
              <a:t>front</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 order in which elements are added is maintained - a queue is a </a:t>
            </a:r>
            <a:r>
              <a:rPr lang="en" b="1" i="1" dirty="0">
                <a:solidFill>
                  <a:srgbClr val="FF0000"/>
                </a:solidFill>
              </a:rPr>
              <a:t>FIFO</a:t>
            </a:r>
            <a:r>
              <a:rPr lang="en" dirty="0">
                <a:solidFill>
                  <a:srgbClr val="FF0000"/>
                </a:solidFill>
              </a:rPr>
              <a:t> </a:t>
            </a:r>
            <a:r>
              <a:rPr lang="en" dirty="0"/>
              <a:t>data structure.</a:t>
            </a:r>
            <a:endParaRPr dirty="0"/>
          </a:p>
          <a:p>
            <a:pPr marL="457200" lvl="0" indent="-311150" algn="l" rtl="0">
              <a:lnSpc>
                <a:spcPct val="100000"/>
              </a:lnSpc>
              <a:spcBef>
                <a:spcPts val="1000"/>
              </a:spcBef>
              <a:spcAft>
                <a:spcPts val="0"/>
              </a:spcAft>
              <a:buSzPts val="1300"/>
              <a:buChar char="●"/>
            </a:pPr>
            <a:r>
              <a:rPr lang="en" dirty="0"/>
              <a:t>Most data structures can be implemented in more than one way.</a:t>
            </a:r>
            <a:endParaRPr dirty="0"/>
          </a:p>
          <a:p>
            <a:pPr marL="914400" lvl="1" indent="-298450" algn="l" rtl="0">
              <a:lnSpc>
                <a:spcPct val="100000"/>
              </a:lnSpc>
              <a:spcBef>
                <a:spcPts val="0"/>
              </a:spcBef>
              <a:spcAft>
                <a:spcPts val="0"/>
              </a:spcAft>
              <a:buSzPts val="1100"/>
              <a:buChar char="○"/>
            </a:pPr>
            <a:r>
              <a:rPr lang="en" dirty="0"/>
              <a:t>The above description does not include any information about the </a:t>
            </a:r>
            <a:r>
              <a:rPr lang="en" b="1" i="1" dirty="0">
                <a:solidFill>
                  <a:srgbClr val="FF0000"/>
                </a:solidFill>
              </a:rPr>
              <a:t>implementation</a:t>
            </a:r>
            <a:r>
              <a:rPr lang="en" dirty="0">
                <a:solidFill>
                  <a:srgbClr val="FF0000"/>
                </a:solidFill>
              </a:rPr>
              <a:t> </a:t>
            </a:r>
            <a:r>
              <a:rPr lang="en" dirty="0"/>
              <a:t>of the queue.</a:t>
            </a:r>
            <a:endParaRPr dirty="0"/>
          </a:p>
          <a:p>
            <a:pPr marL="914400" lvl="1" indent="-298450" algn="l" rtl="0">
              <a:lnSpc>
                <a:spcPct val="100000"/>
              </a:lnSpc>
              <a:spcBef>
                <a:spcPts val="0"/>
              </a:spcBef>
              <a:spcAft>
                <a:spcPts val="0"/>
              </a:spcAft>
              <a:buSzPts val="1100"/>
              <a:buChar char="○"/>
            </a:pPr>
            <a:r>
              <a:rPr lang="en" dirty="0"/>
              <a:t>So far we have implemented a queue using a </a:t>
            </a:r>
            <a:r>
              <a:rPr lang="en" b="1" i="1" dirty="0">
                <a:solidFill>
                  <a:srgbClr val="FF0000"/>
                </a:solidFill>
              </a:rPr>
              <a:t>linked sequence</a:t>
            </a:r>
            <a:r>
              <a:rPr lang="en" dirty="0"/>
              <a:t> of </a:t>
            </a:r>
            <a:r>
              <a:rPr lang="en" b="1" i="1" dirty="0">
                <a:solidFill>
                  <a:srgbClr val="FF0000"/>
                </a:solidFill>
              </a:rPr>
              <a:t>nodes</a:t>
            </a:r>
            <a:r>
              <a:rPr lang="en" dirty="0"/>
              <a:t>, but that is only one possible implementation of a queue.</a:t>
            </a:r>
            <a:endParaRPr dirty="0"/>
          </a:p>
          <a:p>
            <a:pPr marL="457200" lvl="0" indent="-311150" algn="l" rtl="0">
              <a:lnSpc>
                <a:spcPct val="100000"/>
              </a:lnSpc>
              <a:spcBef>
                <a:spcPts val="1000"/>
              </a:spcBef>
              <a:spcAft>
                <a:spcPts val="0"/>
              </a:spcAft>
              <a:buSzPts val="1300"/>
              <a:buChar char="●"/>
            </a:pPr>
            <a:r>
              <a:rPr lang="en" dirty="0"/>
              <a:t>Another possible implementation stores elements in a </a:t>
            </a:r>
            <a:r>
              <a:rPr lang="en" b="1" i="1" dirty="0">
                <a:solidFill>
                  <a:srgbClr val="FF0000"/>
                </a:solidFill>
                <a:highlight>
                  <a:srgbClr val="FFFF00"/>
                </a:highlight>
              </a:rPr>
              <a:t>circular</a:t>
            </a:r>
            <a:r>
              <a:rPr lang="en" dirty="0">
                <a:solidFill>
                  <a:srgbClr val="FF0000"/>
                </a:solidFill>
                <a:highlight>
                  <a:srgbClr val="FFFF00"/>
                </a:highlight>
              </a:rPr>
              <a:t> </a:t>
            </a:r>
            <a:r>
              <a:rPr lang="en" b="1" i="1" dirty="0">
                <a:solidFill>
                  <a:srgbClr val="FF0000"/>
                </a:solidFill>
                <a:highlight>
                  <a:srgbClr val="FFFF00"/>
                </a:highlight>
              </a:rPr>
              <a:t>array</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Separate indices for the </a:t>
            </a:r>
            <a:r>
              <a:rPr lang="en" b="1" i="1" dirty="0">
                <a:solidFill>
                  <a:srgbClr val="FF0000"/>
                </a:solidFill>
              </a:rPr>
              <a:t>front</a:t>
            </a:r>
            <a:r>
              <a:rPr lang="en" dirty="0">
                <a:solidFill>
                  <a:srgbClr val="FF0000"/>
                </a:solidFill>
              </a:rPr>
              <a:t> </a:t>
            </a:r>
            <a:r>
              <a:rPr lang="en" dirty="0"/>
              <a:t>and </a:t>
            </a:r>
            <a:r>
              <a:rPr lang="en" b="1" i="1" dirty="0">
                <a:solidFill>
                  <a:srgbClr val="FF0000"/>
                </a:solidFill>
              </a:rPr>
              <a:t>back</a:t>
            </a:r>
            <a:r>
              <a:rPr lang="en" dirty="0">
                <a:solidFill>
                  <a:srgbClr val="FF0000"/>
                </a:solidFill>
              </a:rPr>
              <a:t> </a:t>
            </a:r>
            <a:r>
              <a:rPr lang="en" dirty="0"/>
              <a:t>of the queue are saved as fields.</a:t>
            </a:r>
            <a:endParaRPr dirty="0"/>
          </a:p>
          <a:p>
            <a:pPr marL="914400" lvl="1" indent="-298450" algn="l" rtl="0">
              <a:lnSpc>
                <a:spcPct val="100000"/>
              </a:lnSpc>
              <a:spcBef>
                <a:spcPts val="0"/>
              </a:spcBef>
              <a:spcAft>
                <a:spcPts val="0"/>
              </a:spcAft>
              <a:buSzPts val="1100"/>
              <a:buChar char="○"/>
            </a:pPr>
            <a:r>
              <a:rPr lang="en" dirty="0"/>
              <a:t>As elements are </a:t>
            </a:r>
            <a:r>
              <a:rPr lang="en" b="1" i="1" dirty="0">
                <a:solidFill>
                  <a:srgbClr val="FF0000"/>
                </a:solidFill>
              </a:rPr>
              <a:t>enqueued</a:t>
            </a:r>
            <a:r>
              <a:rPr lang="en" dirty="0"/>
              <a:t>, the back index is incremented.</a:t>
            </a:r>
            <a:endParaRPr dirty="0"/>
          </a:p>
          <a:p>
            <a:pPr marL="914400" lvl="1" indent="-298450" algn="l" rtl="0">
              <a:lnSpc>
                <a:spcPct val="100000"/>
              </a:lnSpc>
              <a:spcBef>
                <a:spcPts val="0"/>
              </a:spcBef>
              <a:spcAft>
                <a:spcPts val="0"/>
              </a:spcAft>
              <a:buSzPts val="1100"/>
              <a:buChar char="○"/>
            </a:pPr>
            <a:r>
              <a:rPr lang="en" dirty="0"/>
              <a:t>As elements are </a:t>
            </a:r>
            <a:r>
              <a:rPr lang="en" b="1" i="1" dirty="0">
                <a:solidFill>
                  <a:srgbClr val="FF0000"/>
                </a:solidFill>
              </a:rPr>
              <a:t>dequeued</a:t>
            </a:r>
            <a:r>
              <a:rPr lang="en" dirty="0"/>
              <a:t>, the front index is incremented.</a:t>
            </a:r>
            <a:endParaRPr dirty="0"/>
          </a:p>
          <a:p>
            <a:pPr marL="457200" lvl="0" indent="-311150" algn="l" rtl="0">
              <a:lnSpc>
                <a:spcPct val="100000"/>
              </a:lnSpc>
              <a:spcBef>
                <a:spcPts val="1000"/>
              </a:spcBef>
              <a:spcAft>
                <a:spcPts val="0"/>
              </a:spcAft>
              <a:buSzPts val="1300"/>
              <a:buChar char="●"/>
            </a:pPr>
            <a:r>
              <a:rPr lang="en" dirty="0">
                <a:highlight>
                  <a:srgbClr val="FFFF00"/>
                </a:highlight>
              </a:rPr>
              <a:t>From the perspective of the user, both implementations work </a:t>
            </a:r>
            <a:r>
              <a:rPr lang="en" b="1" i="1" dirty="0">
                <a:solidFill>
                  <a:srgbClr val="FF0000"/>
                </a:solidFill>
                <a:highlight>
                  <a:srgbClr val="FFFF00"/>
                </a:highlight>
              </a:rPr>
              <a:t>exactly the same</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 implementation details are </a:t>
            </a:r>
            <a:r>
              <a:rPr lang="en" b="1" i="1" dirty="0">
                <a:solidFill>
                  <a:srgbClr val="FF0000"/>
                </a:solidFill>
              </a:rPr>
              <a:t>hidden </a:t>
            </a:r>
            <a:r>
              <a:rPr lang="en" dirty="0"/>
              <a:t>behind the </a:t>
            </a:r>
            <a:r>
              <a:rPr lang="en" dirty="0">
                <a:latin typeface="Courier New"/>
                <a:ea typeface="Courier New"/>
                <a:cs typeface="Courier New"/>
                <a:sym typeface="Courier New"/>
              </a:rPr>
              <a:t>Queue</a:t>
            </a:r>
            <a:r>
              <a:rPr lang="en" dirty="0"/>
              <a:t> interface.</a:t>
            </a:r>
            <a:endParaRPr dirty="0"/>
          </a:p>
          <a:p>
            <a:pPr marL="914400" lvl="1" indent="-298450" algn="l" rtl="0">
              <a:lnSpc>
                <a:spcPct val="100000"/>
              </a:lnSpc>
              <a:spcBef>
                <a:spcPts val="0"/>
              </a:spcBef>
              <a:spcAft>
                <a:spcPts val="0"/>
              </a:spcAft>
              <a:buSzPts val="1100"/>
              <a:buChar char="○"/>
            </a:pPr>
            <a:r>
              <a:rPr lang="en" dirty="0"/>
              <a:t>Code written to use the interface will work with </a:t>
            </a:r>
            <a:r>
              <a:rPr lang="en" b="1" i="1" dirty="0">
                <a:solidFill>
                  <a:srgbClr val="FF0000"/>
                </a:solidFill>
              </a:rPr>
              <a:t>either implementation</a:t>
            </a:r>
            <a:r>
              <a:rPr lang="en" dirty="0"/>
              <a:t>.</a:t>
            </a:r>
            <a:endParaRPr dirty="0"/>
          </a:p>
        </p:txBody>
      </p:sp>
      <p:sp>
        <p:nvSpPr>
          <p:cNvPr id="575" name="Google Shape;575;p7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19</a:t>
            </a:fld>
            <a:endParaRPr/>
          </a:p>
        </p:txBody>
      </p:sp>
      <p:sp>
        <p:nvSpPr>
          <p:cNvPr id="576" name="Google Shape;576;p76"/>
          <p:cNvSpPr txBox="1">
            <a:spLocks noGrp="1"/>
          </p:cNvSpPr>
          <p:nvPr>
            <p:ph type="body" idx="3"/>
          </p:nvPr>
        </p:nvSpPr>
        <p:spPr>
          <a:xfrm>
            <a:off x="283275" y="908050"/>
            <a:ext cx="3706500" cy="57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highlight>
                  <a:srgbClr val="FFFF00"/>
                </a:highlight>
              </a:rPr>
              <a:t>An </a:t>
            </a:r>
            <a:r>
              <a:rPr lang="en" sz="1200" b="1" i="1" dirty="0">
                <a:solidFill>
                  <a:srgbClr val="FF0000"/>
                </a:solidFill>
                <a:highlight>
                  <a:srgbClr val="FFFF00"/>
                </a:highlight>
              </a:rPr>
              <a:t>array-based queue</a:t>
            </a:r>
            <a:r>
              <a:rPr lang="en" sz="1200" dirty="0">
                <a:highlight>
                  <a:srgbClr val="FFFF00"/>
                </a:highlight>
              </a:rPr>
              <a:t> uses an </a:t>
            </a:r>
            <a:r>
              <a:rPr lang="en" sz="1200" b="1" i="1" dirty="0">
                <a:solidFill>
                  <a:srgbClr val="FF0000"/>
                </a:solidFill>
                <a:highlight>
                  <a:srgbClr val="FFFF00"/>
                </a:highlight>
              </a:rPr>
              <a:t>array</a:t>
            </a:r>
            <a:r>
              <a:rPr lang="en" sz="1200" dirty="0">
                <a:solidFill>
                  <a:srgbClr val="FF0000"/>
                </a:solidFill>
                <a:highlight>
                  <a:srgbClr val="FFFF00"/>
                </a:highlight>
              </a:rPr>
              <a:t> </a:t>
            </a:r>
            <a:r>
              <a:rPr lang="en" sz="1200" dirty="0">
                <a:highlight>
                  <a:srgbClr val="FFFF00"/>
                </a:highlight>
              </a:rPr>
              <a:t>to store the elements that are added to the queue.</a:t>
            </a:r>
            <a:endParaRPr sz="1200" dirty="0">
              <a:highlight>
                <a:srgbClr val="FFFF00"/>
              </a:highlight>
            </a:endParaRPr>
          </a:p>
        </p:txBody>
      </p:sp>
      <p:graphicFrame>
        <p:nvGraphicFramePr>
          <p:cNvPr id="577" name="Google Shape;577;p76"/>
          <p:cNvGraphicFramePr/>
          <p:nvPr/>
        </p:nvGraphicFramePr>
        <p:xfrm>
          <a:off x="311725" y="1581150"/>
          <a:ext cx="3678000" cy="792420"/>
        </p:xfrm>
        <a:graphic>
          <a:graphicData uri="http://schemas.openxmlformats.org/drawingml/2006/table">
            <a:tbl>
              <a:tblPr>
                <a:noFill/>
                <a:tableStyleId>{5D16334A-BD30-4DCF-A821-F696FD12572A}</a:tableStyleId>
              </a:tblPr>
              <a:tblGrid>
                <a:gridCol w="613000">
                  <a:extLst>
                    <a:ext uri="{9D8B030D-6E8A-4147-A177-3AD203B41FA5}">
                      <a16:colId xmlns:a16="http://schemas.microsoft.com/office/drawing/2014/main" val="20000"/>
                    </a:ext>
                  </a:extLst>
                </a:gridCol>
                <a:gridCol w="613000">
                  <a:extLst>
                    <a:ext uri="{9D8B030D-6E8A-4147-A177-3AD203B41FA5}">
                      <a16:colId xmlns:a16="http://schemas.microsoft.com/office/drawing/2014/main" val="20001"/>
                    </a:ext>
                  </a:extLst>
                </a:gridCol>
                <a:gridCol w="613000">
                  <a:extLst>
                    <a:ext uri="{9D8B030D-6E8A-4147-A177-3AD203B41FA5}">
                      <a16:colId xmlns:a16="http://schemas.microsoft.com/office/drawing/2014/main" val="20002"/>
                    </a:ext>
                  </a:extLst>
                </a:gridCol>
                <a:gridCol w="613000">
                  <a:extLst>
                    <a:ext uri="{9D8B030D-6E8A-4147-A177-3AD203B41FA5}">
                      <a16:colId xmlns:a16="http://schemas.microsoft.com/office/drawing/2014/main" val="20003"/>
                    </a:ext>
                  </a:extLst>
                </a:gridCol>
                <a:gridCol w="613000">
                  <a:extLst>
                    <a:ext uri="{9D8B030D-6E8A-4147-A177-3AD203B41FA5}">
                      <a16:colId xmlns:a16="http://schemas.microsoft.com/office/drawing/2014/main" val="20004"/>
                    </a:ext>
                  </a:extLst>
                </a:gridCol>
                <a:gridCol w="613000">
                  <a:extLst>
                    <a:ext uri="{9D8B030D-6E8A-4147-A177-3AD203B41FA5}">
                      <a16:colId xmlns:a16="http://schemas.microsoft.com/office/drawing/2014/main" val="20005"/>
                    </a:ext>
                  </a:extLst>
                </a:gridCol>
              </a:tblGrid>
              <a:tr h="3962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Consolas"/>
                          <a:ea typeface="Consolas"/>
                          <a:cs typeface="Consolas"/>
                          <a:sym typeface="Consolas"/>
                        </a:rPr>
                        <a:t>null</a:t>
                      </a:r>
                      <a:endParaRPr sz="14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Consolas"/>
                          <a:ea typeface="Consolas"/>
                          <a:cs typeface="Consolas"/>
                          <a:sym typeface="Consolas"/>
                        </a:rPr>
                        <a:t>"a"</a:t>
                      </a:r>
                      <a:endParaRPr sz="14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Consolas"/>
                          <a:ea typeface="Consolas"/>
                          <a:cs typeface="Consolas"/>
                          <a:sym typeface="Consolas"/>
                        </a:rPr>
                        <a:t>"b"</a:t>
                      </a:r>
                      <a:endParaRPr sz="14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Consolas"/>
                          <a:ea typeface="Consolas"/>
                          <a:cs typeface="Consolas"/>
                          <a:sym typeface="Consolas"/>
                        </a:rPr>
                        <a:t>"c"</a:t>
                      </a:r>
                      <a:endParaRPr sz="14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Consolas"/>
                          <a:ea typeface="Consolas"/>
                          <a:cs typeface="Consolas"/>
                          <a:sym typeface="Consolas"/>
                        </a:rPr>
                        <a:t>"d"</a:t>
                      </a:r>
                      <a:endParaRPr sz="14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latin typeface="Consolas"/>
                          <a:ea typeface="Consolas"/>
                          <a:cs typeface="Consolas"/>
                          <a:sym typeface="Consolas"/>
                        </a:rPr>
                        <a:t>null</a:t>
                      </a:r>
                      <a:endParaRPr sz="14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96200">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latin typeface="Consolas"/>
                          <a:ea typeface="Consolas"/>
                          <a:cs typeface="Consolas"/>
                          <a:sym typeface="Consolas"/>
                        </a:rPr>
                        <a:t>0</a:t>
                      </a:r>
                      <a:endParaRPr sz="1400" u="none" strike="noStrike" cap="none">
                        <a:solidFill>
                          <a:srgbClr val="FFFF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latin typeface="Consolas"/>
                          <a:ea typeface="Consolas"/>
                          <a:cs typeface="Consolas"/>
                          <a:sym typeface="Consolas"/>
                        </a:rPr>
                        <a:t>1</a:t>
                      </a:r>
                      <a:endParaRPr sz="1400" u="none" strike="noStrike" cap="none">
                        <a:solidFill>
                          <a:srgbClr val="FFFF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latin typeface="Consolas"/>
                          <a:ea typeface="Consolas"/>
                          <a:cs typeface="Consolas"/>
                          <a:sym typeface="Consolas"/>
                        </a:rPr>
                        <a:t>2</a:t>
                      </a:r>
                      <a:endParaRPr sz="1400" u="none" strike="noStrike" cap="none">
                        <a:solidFill>
                          <a:srgbClr val="FFFF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latin typeface="Consolas"/>
                          <a:ea typeface="Consolas"/>
                          <a:cs typeface="Consolas"/>
                          <a:sym typeface="Consolas"/>
                        </a:rPr>
                        <a:t>3</a:t>
                      </a:r>
                      <a:endParaRPr sz="1400" u="none" strike="noStrike" cap="none">
                        <a:solidFill>
                          <a:srgbClr val="FFFF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latin typeface="Consolas"/>
                          <a:ea typeface="Consolas"/>
                          <a:cs typeface="Consolas"/>
                          <a:sym typeface="Consolas"/>
                        </a:rPr>
                        <a:t>4</a:t>
                      </a:r>
                      <a:endParaRPr sz="1400" u="none" strike="noStrike" cap="none">
                        <a:solidFill>
                          <a:srgbClr val="FFFF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solidFill>
                            <a:srgbClr val="FFFF00"/>
                          </a:solidFill>
                          <a:latin typeface="Consolas"/>
                          <a:ea typeface="Consolas"/>
                          <a:cs typeface="Consolas"/>
                          <a:sym typeface="Consolas"/>
                        </a:rPr>
                        <a:t>5</a:t>
                      </a:r>
                      <a:endParaRPr sz="1400" u="none" strike="noStrike" cap="none">
                        <a:solidFill>
                          <a:srgbClr val="FFFF0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578" name="Google Shape;578;p76"/>
          <p:cNvSpPr txBox="1">
            <a:spLocks noGrp="1"/>
          </p:cNvSpPr>
          <p:nvPr>
            <p:ph type="body" idx="3"/>
          </p:nvPr>
        </p:nvSpPr>
        <p:spPr>
          <a:xfrm>
            <a:off x="311725" y="2980934"/>
            <a:ext cx="3706500" cy="57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Fields are used to keep track of the </a:t>
            </a:r>
            <a:r>
              <a:rPr lang="en" sz="1200" b="1" i="1" dirty="0">
                <a:solidFill>
                  <a:srgbClr val="FF0000"/>
                </a:solidFill>
              </a:rPr>
              <a:t>front</a:t>
            </a:r>
            <a:r>
              <a:rPr lang="en" sz="1200" dirty="0">
                <a:solidFill>
                  <a:srgbClr val="FF0000"/>
                </a:solidFill>
              </a:rPr>
              <a:t> </a:t>
            </a:r>
            <a:r>
              <a:rPr lang="en" sz="1200" dirty="0"/>
              <a:t>and </a:t>
            </a:r>
            <a:r>
              <a:rPr lang="en" sz="1200" b="1" i="1" dirty="0">
                <a:solidFill>
                  <a:srgbClr val="FF0000"/>
                </a:solidFill>
              </a:rPr>
              <a:t>back</a:t>
            </a:r>
            <a:r>
              <a:rPr lang="en" sz="1200" dirty="0">
                <a:solidFill>
                  <a:srgbClr val="FF0000"/>
                </a:solidFill>
              </a:rPr>
              <a:t> </a:t>
            </a:r>
            <a:r>
              <a:rPr lang="en" sz="1200" dirty="0"/>
              <a:t>index in the array.</a:t>
            </a:r>
            <a:endParaRPr sz="1200" dirty="0"/>
          </a:p>
        </p:txBody>
      </p:sp>
      <p:grpSp>
        <p:nvGrpSpPr>
          <p:cNvPr id="579" name="Google Shape;579;p76"/>
          <p:cNvGrpSpPr/>
          <p:nvPr/>
        </p:nvGrpSpPr>
        <p:grpSpPr>
          <a:xfrm>
            <a:off x="790881" y="2283525"/>
            <a:ext cx="867900" cy="668700"/>
            <a:chOff x="790881" y="2283525"/>
            <a:chExt cx="867900" cy="668700"/>
          </a:xfrm>
        </p:grpSpPr>
        <p:sp>
          <p:nvSpPr>
            <p:cNvPr id="580" name="Google Shape;580;p76"/>
            <p:cNvSpPr txBox="1"/>
            <p:nvPr/>
          </p:nvSpPr>
          <p:spPr>
            <a:xfrm>
              <a:off x="790881" y="2605125"/>
              <a:ext cx="867900" cy="34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Consolas"/>
                  <a:ea typeface="Consolas"/>
                  <a:cs typeface="Consolas"/>
                  <a:sym typeface="Consolas"/>
                </a:rPr>
                <a:t>front</a:t>
              </a:r>
              <a:endParaRPr sz="1400" b="0" i="0" u="none" strike="noStrike" cap="none">
                <a:solidFill>
                  <a:srgbClr val="FFFFFF"/>
                </a:solidFill>
                <a:latin typeface="Consolas"/>
                <a:ea typeface="Consolas"/>
                <a:cs typeface="Consolas"/>
                <a:sym typeface="Consolas"/>
              </a:endParaRPr>
            </a:p>
          </p:txBody>
        </p:sp>
        <p:cxnSp>
          <p:nvCxnSpPr>
            <p:cNvPr id="581" name="Google Shape;581;p76"/>
            <p:cNvCxnSpPr>
              <a:stCxn id="580" idx="0"/>
            </p:cNvCxnSpPr>
            <p:nvPr/>
          </p:nvCxnSpPr>
          <p:spPr>
            <a:xfrm rot="10800000">
              <a:off x="1224831" y="2283525"/>
              <a:ext cx="0" cy="321600"/>
            </a:xfrm>
            <a:prstGeom prst="straightConnector1">
              <a:avLst/>
            </a:prstGeom>
            <a:noFill/>
            <a:ln w="19050" cap="flat" cmpd="sng">
              <a:solidFill>
                <a:srgbClr val="FFFFFF"/>
              </a:solidFill>
              <a:prstDash val="solid"/>
              <a:round/>
              <a:headEnd type="none" w="sm" len="sm"/>
              <a:tailEnd type="triangle" w="med" len="med"/>
            </a:ln>
          </p:spPr>
        </p:cxnSp>
      </p:grpSp>
      <p:grpSp>
        <p:nvGrpSpPr>
          <p:cNvPr id="582" name="Google Shape;582;p76"/>
          <p:cNvGrpSpPr/>
          <p:nvPr/>
        </p:nvGrpSpPr>
        <p:grpSpPr>
          <a:xfrm>
            <a:off x="3247999" y="2283525"/>
            <a:ext cx="867900" cy="668700"/>
            <a:chOff x="2645399" y="2283525"/>
            <a:chExt cx="867900" cy="668700"/>
          </a:xfrm>
        </p:grpSpPr>
        <p:sp>
          <p:nvSpPr>
            <p:cNvPr id="583" name="Google Shape;583;p76"/>
            <p:cNvSpPr txBox="1"/>
            <p:nvPr/>
          </p:nvSpPr>
          <p:spPr>
            <a:xfrm>
              <a:off x="2645399" y="2605125"/>
              <a:ext cx="867900" cy="34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FFFFFF"/>
                  </a:solidFill>
                  <a:latin typeface="Consolas"/>
                  <a:ea typeface="Consolas"/>
                  <a:cs typeface="Consolas"/>
                  <a:sym typeface="Consolas"/>
                </a:rPr>
                <a:t>back</a:t>
              </a:r>
              <a:endParaRPr sz="1400" b="0" i="0" u="none" strike="noStrike" cap="none">
                <a:solidFill>
                  <a:srgbClr val="FFFFFF"/>
                </a:solidFill>
                <a:latin typeface="Consolas"/>
                <a:ea typeface="Consolas"/>
                <a:cs typeface="Consolas"/>
                <a:sym typeface="Consolas"/>
              </a:endParaRPr>
            </a:p>
          </p:txBody>
        </p:sp>
        <p:cxnSp>
          <p:nvCxnSpPr>
            <p:cNvPr id="584" name="Google Shape;584;p76"/>
            <p:cNvCxnSpPr>
              <a:stCxn id="583" idx="0"/>
            </p:cNvCxnSpPr>
            <p:nvPr/>
          </p:nvCxnSpPr>
          <p:spPr>
            <a:xfrm rot="10800000">
              <a:off x="3079349" y="2283525"/>
              <a:ext cx="0" cy="321600"/>
            </a:xfrm>
            <a:prstGeom prst="straightConnector1">
              <a:avLst/>
            </a:prstGeom>
            <a:noFill/>
            <a:ln w="19050" cap="flat" cmpd="sng">
              <a:solidFill>
                <a:srgbClr val="FFFFFF"/>
              </a:solidFill>
              <a:prstDash val="solid"/>
              <a:round/>
              <a:headEnd type="none" w="sm" len="sm"/>
              <a:tailEnd type="triangle" w="med" len="med"/>
            </a:ln>
          </p:spPr>
        </p:cxnSp>
      </p:grpSp>
      <p:sp>
        <p:nvSpPr>
          <p:cNvPr id="585" name="Google Shape;585;p76"/>
          <p:cNvSpPr txBox="1">
            <a:spLocks noGrp="1"/>
          </p:cNvSpPr>
          <p:nvPr>
            <p:ph type="body" idx="3"/>
          </p:nvPr>
        </p:nvSpPr>
        <p:spPr>
          <a:xfrm>
            <a:off x="311725" y="3666725"/>
            <a:ext cx="3706500" cy="674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Each time an element is </a:t>
            </a:r>
            <a:r>
              <a:rPr lang="en" sz="1200" b="1" i="1" dirty="0">
                <a:solidFill>
                  <a:srgbClr val="FF0000"/>
                </a:solidFill>
              </a:rPr>
              <a:t>enqueued</a:t>
            </a:r>
            <a:r>
              <a:rPr lang="en" sz="1200" dirty="0">
                <a:solidFill>
                  <a:srgbClr val="FF0000"/>
                </a:solidFill>
              </a:rPr>
              <a:t> </a:t>
            </a:r>
            <a:r>
              <a:rPr lang="en" sz="1200" dirty="0"/>
              <a:t>or </a:t>
            </a:r>
            <a:r>
              <a:rPr lang="en" sz="1200" b="1" i="1" dirty="0">
                <a:solidFill>
                  <a:srgbClr val="FF0000"/>
                </a:solidFill>
              </a:rPr>
              <a:t>dequeued</a:t>
            </a:r>
            <a:r>
              <a:rPr lang="en" sz="1200" dirty="0"/>
              <a:t>, one of the indices is incremented; </a:t>
            </a:r>
            <a:r>
              <a:rPr lang="en" sz="1200" b="1" i="1" dirty="0">
                <a:solidFill>
                  <a:srgbClr val="FF0000"/>
                </a:solidFill>
              </a:rPr>
              <a:t>the "head" chases the "tail."</a:t>
            </a:r>
            <a:endParaRPr sz="1200" dirty="0">
              <a:solidFill>
                <a:srgbClr val="FF0000"/>
              </a:solidFill>
            </a:endParaRPr>
          </a:p>
        </p:txBody>
      </p:sp>
      <p:sp>
        <p:nvSpPr>
          <p:cNvPr id="586" name="Google Shape;586;p76"/>
          <p:cNvSpPr txBox="1">
            <a:spLocks noGrp="1"/>
          </p:cNvSpPr>
          <p:nvPr>
            <p:ph type="body" idx="3"/>
          </p:nvPr>
        </p:nvSpPr>
        <p:spPr>
          <a:xfrm>
            <a:off x="311725" y="4428726"/>
            <a:ext cx="3706500" cy="497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When either index reaches the end of the array, it will need to </a:t>
            </a:r>
            <a:r>
              <a:rPr lang="en" sz="1200" b="1" i="1">
                <a:solidFill>
                  <a:srgbClr val="FF0000"/>
                </a:solidFill>
              </a:rPr>
              <a:t>wrap around</a:t>
            </a:r>
            <a:r>
              <a:rPr lang="en" sz="1200"/>
              <a:t> to the beginning.</a:t>
            </a:r>
            <a:endParaRPr sz="1200"/>
          </a:p>
        </p:txBody>
      </p:sp>
      <p:cxnSp>
        <p:nvCxnSpPr>
          <p:cNvPr id="587" name="Google Shape;587;p76"/>
          <p:cNvCxnSpPr/>
          <p:nvPr/>
        </p:nvCxnSpPr>
        <p:spPr>
          <a:xfrm rot="10800000" flipH="1">
            <a:off x="1504563" y="2507125"/>
            <a:ext cx="1938900" cy="600"/>
          </a:xfrm>
          <a:prstGeom prst="straightConnector1">
            <a:avLst/>
          </a:prstGeom>
          <a:noFill/>
          <a:ln w="19050" cap="flat" cmpd="sng">
            <a:solidFill>
              <a:srgbClr val="FFFFFF"/>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7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7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7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7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7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7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7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76"/>
                                        </p:tgtEl>
                                        <p:attrNameLst>
                                          <p:attrName>style.visibility</p:attrName>
                                        </p:attrNameLst>
                                      </p:cBhvr>
                                      <p:to>
                                        <p:strVal val="visible"/>
                                      </p:to>
                                    </p:set>
                                    <p:animEffect transition="in" filter="fade">
                                      <p:cBhvr>
                                        <p:cTn id="63" dur="1000"/>
                                        <p:tgtEl>
                                          <p:spTgt spid="576"/>
                                        </p:tgtEl>
                                      </p:cBhvr>
                                    </p:animEffect>
                                  </p:childTnLst>
                                </p:cTn>
                              </p:par>
                              <p:par>
                                <p:cTn id="64" presetID="10" presetClass="entr" presetSubtype="0" fill="hold" nodeType="withEffect">
                                  <p:stCondLst>
                                    <p:cond delay="0"/>
                                  </p:stCondLst>
                                  <p:childTnLst>
                                    <p:set>
                                      <p:cBhvr>
                                        <p:cTn id="65" dur="1" fill="hold">
                                          <p:stCondLst>
                                            <p:cond delay="0"/>
                                          </p:stCondLst>
                                        </p:cTn>
                                        <p:tgtEl>
                                          <p:spTgt spid="577"/>
                                        </p:tgtEl>
                                        <p:attrNameLst>
                                          <p:attrName>style.visibility</p:attrName>
                                        </p:attrNameLst>
                                      </p:cBhvr>
                                      <p:to>
                                        <p:strVal val="visible"/>
                                      </p:to>
                                    </p:set>
                                    <p:animEffect transition="in" filter="fade">
                                      <p:cBhvr>
                                        <p:cTn id="66" dur="1000"/>
                                        <p:tgtEl>
                                          <p:spTgt spid="57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578"/>
                                        </p:tgtEl>
                                        <p:attrNameLst>
                                          <p:attrName>style.visibility</p:attrName>
                                        </p:attrNameLst>
                                      </p:cBhvr>
                                      <p:to>
                                        <p:strVal val="visible"/>
                                      </p:to>
                                    </p:set>
                                    <p:animEffect transition="in" filter="fade">
                                      <p:cBhvr>
                                        <p:cTn id="71" dur="1000"/>
                                        <p:tgtEl>
                                          <p:spTgt spid="578"/>
                                        </p:tgtEl>
                                      </p:cBhvr>
                                    </p:animEffect>
                                  </p:childTnLst>
                                </p:cTn>
                              </p:par>
                            </p:childTnLst>
                          </p:cTn>
                        </p:par>
                        <p:par>
                          <p:cTn id="72" fill="hold">
                            <p:stCondLst>
                              <p:cond delay="1000"/>
                            </p:stCondLst>
                            <p:childTnLst>
                              <p:par>
                                <p:cTn id="73" presetID="10" presetClass="entr" presetSubtype="0" fill="hold" nodeType="afterEffect">
                                  <p:stCondLst>
                                    <p:cond delay="0"/>
                                  </p:stCondLst>
                                  <p:childTnLst>
                                    <p:set>
                                      <p:cBhvr>
                                        <p:cTn id="74" dur="1" fill="hold">
                                          <p:stCondLst>
                                            <p:cond delay="0"/>
                                          </p:stCondLst>
                                        </p:cTn>
                                        <p:tgtEl>
                                          <p:spTgt spid="579"/>
                                        </p:tgtEl>
                                        <p:attrNameLst>
                                          <p:attrName>style.visibility</p:attrName>
                                        </p:attrNameLst>
                                      </p:cBhvr>
                                      <p:to>
                                        <p:strVal val="visible"/>
                                      </p:to>
                                    </p:set>
                                    <p:animEffect transition="in" filter="fade">
                                      <p:cBhvr>
                                        <p:cTn id="75" dur="1000"/>
                                        <p:tgtEl>
                                          <p:spTgt spid="579"/>
                                        </p:tgtEl>
                                      </p:cBhvr>
                                    </p:animEffect>
                                  </p:childTnLst>
                                </p:cTn>
                              </p:par>
                            </p:childTnLst>
                          </p:cTn>
                        </p:par>
                        <p:par>
                          <p:cTn id="76" fill="hold">
                            <p:stCondLst>
                              <p:cond delay="2000"/>
                            </p:stCondLst>
                            <p:childTnLst>
                              <p:par>
                                <p:cTn id="77" presetID="10" presetClass="entr" presetSubtype="0" fill="hold" nodeType="afterEffect">
                                  <p:stCondLst>
                                    <p:cond delay="0"/>
                                  </p:stCondLst>
                                  <p:childTnLst>
                                    <p:set>
                                      <p:cBhvr>
                                        <p:cTn id="78" dur="1" fill="hold">
                                          <p:stCondLst>
                                            <p:cond delay="0"/>
                                          </p:stCondLst>
                                        </p:cTn>
                                        <p:tgtEl>
                                          <p:spTgt spid="582"/>
                                        </p:tgtEl>
                                        <p:attrNameLst>
                                          <p:attrName>style.visibility</p:attrName>
                                        </p:attrNameLst>
                                      </p:cBhvr>
                                      <p:to>
                                        <p:strVal val="visible"/>
                                      </p:to>
                                    </p:set>
                                    <p:animEffect transition="in" filter="fade">
                                      <p:cBhvr>
                                        <p:cTn id="79" dur="1000"/>
                                        <p:tgtEl>
                                          <p:spTgt spid="58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585"/>
                                        </p:tgtEl>
                                        <p:attrNameLst>
                                          <p:attrName>style.visibility</p:attrName>
                                        </p:attrNameLst>
                                      </p:cBhvr>
                                      <p:to>
                                        <p:strVal val="visible"/>
                                      </p:to>
                                    </p:set>
                                    <p:animEffect transition="in" filter="fade">
                                      <p:cBhvr>
                                        <p:cTn id="84" dur="1000"/>
                                        <p:tgtEl>
                                          <p:spTgt spid="585"/>
                                        </p:tgtEl>
                                      </p:cBhvr>
                                    </p:animEffect>
                                  </p:childTnLst>
                                </p:cTn>
                              </p:par>
                            </p:childTnLst>
                          </p:cTn>
                        </p:par>
                        <p:par>
                          <p:cTn id="85" fill="hold">
                            <p:stCondLst>
                              <p:cond delay="1000"/>
                            </p:stCondLst>
                            <p:childTnLst>
                              <p:par>
                                <p:cTn id="86" presetID="10" presetClass="entr" presetSubtype="0" fill="hold" nodeType="afterEffect">
                                  <p:stCondLst>
                                    <p:cond delay="0"/>
                                  </p:stCondLst>
                                  <p:childTnLst>
                                    <p:set>
                                      <p:cBhvr>
                                        <p:cTn id="87" dur="1" fill="hold">
                                          <p:stCondLst>
                                            <p:cond delay="0"/>
                                          </p:stCondLst>
                                        </p:cTn>
                                        <p:tgtEl>
                                          <p:spTgt spid="587"/>
                                        </p:tgtEl>
                                        <p:attrNameLst>
                                          <p:attrName>style.visibility</p:attrName>
                                        </p:attrNameLst>
                                      </p:cBhvr>
                                      <p:to>
                                        <p:strVal val="visible"/>
                                      </p:to>
                                    </p:set>
                                    <p:animEffect transition="in" filter="fade">
                                      <p:cBhvr>
                                        <p:cTn id="88" dur="1000"/>
                                        <p:tgtEl>
                                          <p:spTgt spid="587"/>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586"/>
                                        </p:tgtEl>
                                        <p:attrNameLst>
                                          <p:attrName>style.visibility</p:attrName>
                                        </p:attrNameLst>
                                      </p:cBhvr>
                                      <p:to>
                                        <p:strVal val="visible"/>
                                      </p:to>
                                    </p:set>
                                    <p:animEffect transition="in" filter="fade">
                                      <p:cBhvr>
                                        <p:cTn id="93" dur="1000"/>
                                        <p:tgtEl>
                                          <p:spTgt spid="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77"/>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We've just finished implementing a Node-based Queue, but most abstract data types can be implemented in more than one way. Different implementations may offer performance benefits (and drawbacks) in some situations. Let's try implementing a Queue using an array.</a:t>
            </a:r>
            <a:endParaRPr/>
          </a:p>
        </p:txBody>
      </p:sp>
      <p:sp>
        <p:nvSpPr>
          <p:cNvPr id="593" name="Google Shape;593;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sp>
        <p:nvSpPr>
          <p:cNvPr id="594" name="Google Shape;594;p77"/>
          <p:cNvSpPr txBox="1">
            <a:spLocks noGrp="1"/>
          </p:cNvSpPr>
          <p:nvPr>
            <p:ph type="body" idx="2"/>
          </p:nvPr>
        </p:nvSpPr>
        <p:spPr>
          <a:xfrm>
            <a:off x="2282875" y="1730625"/>
            <a:ext cx="6538800" cy="3134700"/>
          </a:xfrm>
          <a:prstGeom prst="rect">
            <a:avLst/>
          </a:prstGeom>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dirty="0"/>
              <a:t>Create a new Java class named "</a:t>
            </a:r>
            <a:r>
              <a:rPr lang="en" sz="1800" dirty="0">
                <a:solidFill>
                  <a:srgbClr val="FF0000"/>
                </a:solidFill>
                <a:latin typeface="Courier New"/>
                <a:ea typeface="Courier New"/>
                <a:cs typeface="Courier New"/>
                <a:sym typeface="Courier New"/>
              </a:rPr>
              <a:t>ArrayQueue</a:t>
            </a:r>
            <a:r>
              <a:rPr lang="en" sz="1800" dirty="0"/>
              <a:t>".</a:t>
            </a:r>
            <a:endParaRPr sz="1800" dirty="0"/>
          </a:p>
          <a:p>
            <a:pPr marL="914400" lvl="1" indent="-317500" algn="l" rtl="0">
              <a:spcBef>
                <a:spcPts val="0"/>
              </a:spcBef>
              <a:spcAft>
                <a:spcPts val="0"/>
              </a:spcAft>
              <a:buSzPts val="1400"/>
              <a:buChar char="○"/>
            </a:pPr>
            <a:r>
              <a:rPr lang="en" sz="1400" dirty="0"/>
              <a:t>Use the UML to the left as a guide to begin implementing your </a:t>
            </a:r>
            <a:r>
              <a:rPr lang="en" sz="1400" dirty="0">
                <a:latin typeface="Courier New"/>
                <a:ea typeface="Courier New"/>
                <a:cs typeface="Courier New"/>
                <a:sym typeface="Courier New"/>
              </a:rPr>
              <a:t>ArrayQueue</a:t>
            </a:r>
            <a:r>
              <a:rPr lang="en" sz="1400" dirty="0"/>
              <a:t>.</a:t>
            </a:r>
            <a:endParaRPr sz="1400" dirty="0"/>
          </a:p>
          <a:p>
            <a:pPr marL="914400" lvl="1" indent="-317500" algn="l" rtl="0">
              <a:spcBef>
                <a:spcPts val="0"/>
              </a:spcBef>
              <a:spcAft>
                <a:spcPts val="0"/>
              </a:spcAft>
              <a:buSzPts val="1400"/>
              <a:buChar char="○"/>
            </a:pPr>
            <a:r>
              <a:rPr lang="en" sz="1400" dirty="0"/>
              <a:t>For now focus on </a:t>
            </a:r>
            <a:r>
              <a:rPr lang="en" sz="1400" b="1" i="1" dirty="0">
                <a:solidFill>
                  <a:srgbClr val="FF0000"/>
                </a:solidFill>
              </a:rPr>
              <a:t>fields </a:t>
            </a:r>
            <a:r>
              <a:rPr lang="en" sz="1400" dirty="0"/>
              <a:t>and </a:t>
            </a:r>
            <a:r>
              <a:rPr lang="en" sz="1400" b="1" i="1" dirty="0">
                <a:solidFill>
                  <a:srgbClr val="FF0000"/>
                </a:solidFill>
              </a:rPr>
              <a:t>constructors</a:t>
            </a:r>
            <a:r>
              <a:rPr lang="en" sz="1400" dirty="0"/>
              <a:t>.</a:t>
            </a:r>
            <a:endParaRPr sz="1400" dirty="0"/>
          </a:p>
          <a:p>
            <a:pPr marL="914400" lvl="1" indent="-317500" algn="l" rtl="0">
              <a:spcBef>
                <a:spcPts val="0"/>
              </a:spcBef>
              <a:spcAft>
                <a:spcPts val="0"/>
              </a:spcAft>
              <a:buSzPts val="1400"/>
              <a:buChar char="○"/>
            </a:pPr>
            <a:r>
              <a:rPr lang="en" sz="1400" dirty="0"/>
              <a:t>Implement the </a:t>
            </a:r>
            <a:r>
              <a:rPr lang="en" sz="1400" dirty="0">
                <a:solidFill>
                  <a:srgbClr val="FF0000"/>
                </a:solidFill>
                <a:latin typeface="Courier New"/>
                <a:ea typeface="Courier New"/>
                <a:cs typeface="Courier New"/>
                <a:sym typeface="Courier New"/>
              </a:rPr>
              <a:t>size</a:t>
            </a:r>
            <a:r>
              <a:rPr lang="en" sz="1400" dirty="0"/>
              <a:t> method.</a:t>
            </a:r>
            <a:endParaRPr sz="1400" dirty="0"/>
          </a:p>
          <a:p>
            <a:pPr marL="914400" lvl="1" indent="-317500" algn="l" rtl="0">
              <a:spcBef>
                <a:spcPts val="0"/>
              </a:spcBef>
              <a:spcAft>
                <a:spcPts val="0"/>
              </a:spcAft>
              <a:buSzPts val="1400"/>
              <a:buChar char="○"/>
            </a:pPr>
            <a:r>
              <a:rPr lang="en" sz="1400" b="1" i="1" dirty="0">
                <a:solidFill>
                  <a:srgbClr val="FF0000"/>
                </a:solidFill>
              </a:rPr>
              <a:t>Stub-out</a:t>
            </a:r>
            <a:r>
              <a:rPr lang="en" sz="1400" dirty="0"/>
              <a:t> any other methods required by the </a:t>
            </a:r>
            <a:r>
              <a:rPr lang="en" sz="1400" dirty="0">
                <a:latin typeface="Courier New"/>
                <a:ea typeface="Courier New"/>
                <a:cs typeface="Courier New"/>
                <a:sym typeface="Courier New"/>
              </a:rPr>
              <a:t>Queue</a:t>
            </a:r>
            <a:r>
              <a:rPr lang="en" sz="1400" dirty="0"/>
              <a:t> interface.</a:t>
            </a:r>
            <a:endParaRPr sz="1400" dirty="0"/>
          </a:p>
          <a:p>
            <a:pPr marL="457200" lvl="0" indent="-330200" algn="l" rtl="0">
              <a:spcBef>
                <a:spcPts val="0"/>
              </a:spcBef>
              <a:spcAft>
                <a:spcPts val="0"/>
              </a:spcAft>
              <a:buSzPts val="1600"/>
              <a:buChar char="●"/>
            </a:pPr>
            <a:r>
              <a:rPr lang="en" sz="1600" dirty="0"/>
              <a:t>The string representation of an ArrayQueue should match the format "</a:t>
            </a:r>
            <a:r>
              <a:rPr lang="en" sz="1600" dirty="0">
                <a:latin typeface="Courier New"/>
                <a:ea typeface="Courier New"/>
                <a:cs typeface="Courier New"/>
                <a:sym typeface="Courier New"/>
              </a:rPr>
              <a:t>&lt;size&gt;, &lt;array&gt;"</a:t>
            </a:r>
            <a:r>
              <a:rPr lang="en" sz="1600" dirty="0"/>
              <a:t>. </a:t>
            </a:r>
            <a:endParaRPr sz="1600" dirty="0"/>
          </a:p>
          <a:p>
            <a:pPr marL="914400" lvl="1" indent="-317500" algn="l" rtl="0">
              <a:spcBef>
                <a:spcPts val="0"/>
              </a:spcBef>
              <a:spcAft>
                <a:spcPts val="0"/>
              </a:spcAft>
              <a:buSzPts val="1400"/>
              <a:buChar char="○"/>
            </a:pPr>
            <a:r>
              <a:rPr lang="en" sz="1400" b="1" i="1" dirty="0"/>
              <a:t>Hint</a:t>
            </a:r>
            <a:r>
              <a:rPr lang="en" sz="1400" dirty="0"/>
              <a:t>: use </a:t>
            </a:r>
            <a:r>
              <a:rPr lang="en" sz="1400" dirty="0">
                <a:latin typeface="Courier New"/>
                <a:ea typeface="Courier New"/>
                <a:cs typeface="Courier New"/>
                <a:sym typeface="Courier New"/>
              </a:rPr>
              <a:t>Arrays.toString(array)</a:t>
            </a:r>
            <a:endParaRPr sz="1400" dirty="0"/>
          </a:p>
          <a:p>
            <a:pPr marL="914400" lvl="1" indent="-336550" algn="l" rtl="0">
              <a:spcBef>
                <a:spcPts val="0"/>
              </a:spcBef>
              <a:spcAft>
                <a:spcPts val="0"/>
              </a:spcAft>
              <a:buSzPts val="1700"/>
              <a:buChar char="○"/>
            </a:pPr>
            <a:r>
              <a:rPr lang="en" sz="1400" dirty="0"/>
              <a:t>e.g. </a:t>
            </a:r>
            <a:r>
              <a:rPr lang="en" sz="1400" dirty="0">
                <a:latin typeface="Courier New"/>
                <a:ea typeface="Courier New"/>
                <a:cs typeface="Courier New"/>
                <a:sym typeface="Courier New"/>
              </a:rPr>
              <a:t>"3, [3, 2, 7, 0, 0, 0]"</a:t>
            </a:r>
            <a:r>
              <a:rPr lang="en" sz="1600" dirty="0">
                <a:latin typeface="Courier New"/>
                <a:ea typeface="Courier New"/>
                <a:cs typeface="Courier New"/>
                <a:sym typeface="Courier New"/>
              </a:rPr>
              <a:t> </a:t>
            </a:r>
            <a:endParaRPr sz="1600" dirty="0">
              <a:latin typeface="Courier New"/>
              <a:ea typeface="Courier New"/>
              <a:cs typeface="Courier New"/>
              <a:sym typeface="Courier New"/>
            </a:endParaRPr>
          </a:p>
          <a:p>
            <a:pPr marL="457200" lvl="0" indent="-342900" algn="l" rtl="0">
              <a:spcBef>
                <a:spcPts val="0"/>
              </a:spcBef>
              <a:spcAft>
                <a:spcPts val="0"/>
              </a:spcAft>
              <a:buSzPts val="1800"/>
              <a:buChar char="●"/>
            </a:pPr>
            <a:r>
              <a:rPr lang="en" sz="1800" dirty="0"/>
              <a:t>Define a </a:t>
            </a:r>
            <a:r>
              <a:rPr lang="en" sz="1800" dirty="0">
                <a:latin typeface="Courier New"/>
                <a:ea typeface="Courier New"/>
                <a:cs typeface="Courier New"/>
                <a:sym typeface="Courier New"/>
              </a:rPr>
              <a:t>main</a:t>
            </a:r>
            <a:r>
              <a:rPr lang="en" sz="1800" dirty="0"/>
              <a:t> method and use it to test your queue.</a:t>
            </a:r>
            <a:endParaRPr sz="1800" dirty="0"/>
          </a:p>
        </p:txBody>
      </p:sp>
      <p:sp>
        <p:nvSpPr>
          <p:cNvPr id="595" name="Google Shape;595;p7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Array-Based Queue</a:t>
            </a:r>
            <a:endParaRPr/>
          </a:p>
        </p:txBody>
      </p:sp>
      <p:sp>
        <p:nvSpPr>
          <p:cNvPr id="596" name="Google Shape;596;p7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5.8</a:t>
            </a:r>
            <a:endParaRPr/>
          </a:p>
        </p:txBody>
      </p:sp>
      <p:pic>
        <p:nvPicPr>
          <p:cNvPr id="597" name="Google Shape;597;p77"/>
          <p:cNvPicPr preferRelativeResize="0"/>
          <p:nvPr/>
        </p:nvPicPr>
        <p:blipFill rotWithShape="1">
          <a:blip r:embed="rId3">
            <a:alphaModFix/>
          </a:blip>
          <a:srcRect/>
          <a:stretch/>
        </p:blipFill>
        <p:spPr>
          <a:xfrm>
            <a:off x="251325" y="1652925"/>
            <a:ext cx="1788995" cy="33376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78"/>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Closer Look at Enqueuing</a:t>
            </a:r>
            <a:endParaRPr/>
          </a:p>
        </p:txBody>
      </p:sp>
      <p:sp>
        <p:nvSpPr>
          <p:cNvPr id="603" name="Google Shape;603;p7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21</a:t>
            </a:fld>
            <a:endParaRPr/>
          </a:p>
        </p:txBody>
      </p:sp>
      <p:graphicFrame>
        <p:nvGraphicFramePr>
          <p:cNvPr id="604" name="Google Shape;604;p78"/>
          <p:cNvGraphicFramePr/>
          <p:nvPr/>
        </p:nvGraphicFramePr>
        <p:xfrm>
          <a:off x="336600" y="2138607"/>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605" name="Google Shape;605;p78"/>
          <p:cNvSpPr txBox="1">
            <a:spLocks noGrp="1"/>
          </p:cNvSpPr>
          <p:nvPr>
            <p:ph type="body" idx="4294967295"/>
          </p:nvPr>
        </p:nvSpPr>
        <p:spPr>
          <a:xfrm>
            <a:off x="336625" y="1364958"/>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As you know, an </a:t>
            </a:r>
            <a:r>
              <a:rPr lang="en" sz="1200" b="1" i="1">
                <a:solidFill>
                  <a:srgbClr val="FF0000"/>
                </a:solidFill>
                <a:latin typeface="Arial"/>
                <a:ea typeface="Arial"/>
                <a:cs typeface="Arial"/>
                <a:sym typeface="Arial"/>
              </a:rPr>
              <a:t>array</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created to be some fixed size, and Java fills it with a </a:t>
            </a:r>
            <a:r>
              <a:rPr lang="en" sz="1200" b="1" i="1">
                <a:solidFill>
                  <a:srgbClr val="FF0000"/>
                </a:solidFill>
                <a:latin typeface="Arial"/>
                <a:ea typeface="Arial"/>
                <a:cs typeface="Arial"/>
                <a:sym typeface="Arial"/>
              </a:rPr>
              <a:t>default value</a:t>
            </a:r>
            <a:r>
              <a:rPr lang="en" sz="1200">
                <a:solidFill>
                  <a:srgbClr val="000000"/>
                </a:solidFill>
                <a:latin typeface="Arial"/>
                <a:ea typeface="Arial"/>
                <a:cs typeface="Arial"/>
                <a:sym typeface="Arial"/>
              </a:rPr>
              <a:t>, e.g.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606" name="Google Shape;606;p78"/>
          <p:cNvSpPr txBox="1">
            <a:spLocks noGrp="1"/>
          </p:cNvSpPr>
          <p:nvPr>
            <p:ph type="body" idx="4294967295"/>
          </p:nvPr>
        </p:nvSpPr>
        <p:spPr>
          <a:xfrm>
            <a:off x="336625" y="3441646"/>
            <a:ext cx="2623800" cy="55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Initially both </a:t>
            </a:r>
            <a:r>
              <a:rPr lang="en" sz="1200" b="1" i="1">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a:t>
            </a:r>
            <a:r>
              <a:rPr lang="en" sz="1200" b="1" i="1">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indices point to the same index: </a:t>
            </a:r>
            <a:r>
              <a:rPr lang="en" sz="1200">
                <a:solidFill>
                  <a:srgbClr val="FF0000"/>
                </a:solidFill>
                <a:latin typeface="Courier New"/>
                <a:ea typeface="Courier New"/>
                <a:cs typeface="Courier New"/>
                <a:sym typeface="Courier New"/>
              </a:rPr>
              <a:t>0</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607" name="Google Shape;607;p78"/>
          <p:cNvGrpSpPr/>
          <p:nvPr/>
        </p:nvGrpSpPr>
        <p:grpSpPr>
          <a:xfrm>
            <a:off x="253994" y="2719933"/>
            <a:ext cx="693300" cy="502800"/>
            <a:chOff x="247565" y="2364650"/>
            <a:chExt cx="693300" cy="502800"/>
          </a:xfrm>
        </p:grpSpPr>
        <p:sp>
          <p:nvSpPr>
            <p:cNvPr id="608" name="Google Shape;608;p78"/>
            <p:cNvSpPr txBox="1"/>
            <p:nvPr/>
          </p:nvSpPr>
          <p:spPr>
            <a:xfrm>
              <a:off x="247565" y="2520350"/>
              <a:ext cx="693300" cy="34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09" name="Google Shape;609;p78"/>
            <p:cNvCxnSpPr>
              <a:stCxn id="608" idx="0"/>
            </p:cNvCxnSpPr>
            <p:nvPr/>
          </p:nvCxnSpPr>
          <p:spPr>
            <a:xfrm rot="10800000">
              <a:off x="594215" y="2364650"/>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610" name="Google Shape;610;p78"/>
          <p:cNvSpPr txBox="1">
            <a:spLocks noGrp="1"/>
          </p:cNvSpPr>
          <p:nvPr>
            <p:ph type="body" idx="4294967295"/>
          </p:nvPr>
        </p:nvSpPr>
        <p:spPr>
          <a:xfrm>
            <a:off x="336625" y="4110283"/>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lang="en" sz="1200" b="1" i="1">
                <a:solidFill>
                  <a:srgbClr val="FF0000"/>
                </a:solidFill>
                <a:latin typeface="Arial"/>
                <a:ea typeface="Arial"/>
                <a:cs typeface="Arial"/>
                <a:sym typeface="Arial"/>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starts at </a:t>
            </a:r>
            <a:r>
              <a:rPr lang="en" sz="1200">
                <a:solidFill>
                  <a:srgbClr val="FF0000"/>
                </a:solidFill>
                <a:latin typeface="Courier New"/>
                <a:ea typeface="Courier New"/>
                <a:cs typeface="Courier New"/>
                <a:sym typeface="Courier New"/>
              </a:rPr>
              <a:t>0</a:t>
            </a:r>
            <a:r>
              <a:rPr lang="en" sz="1200">
                <a:solidFill>
                  <a:srgbClr val="000000"/>
                </a:solidFill>
                <a:latin typeface="Arial"/>
                <a:ea typeface="Arial"/>
                <a:cs typeface="Arial"/>
                <a:sym typeface="Arial"/>
              </a:rPr>
              <a:t> and is incremented each time an element is </a:t>
            </a:r>
            <a:r>
              <a:rPr lang="en" sz="1200" b="1" i="1">
                <a:solidFill>
                  <a:srgbClr val="FF0000"/>
                </a:solidFill>
                <a:latin typeface="Arial"/>
                <a:ea typeface="Arial"/>
                <a:cs typeface="Arial"/>
                <a:sym typeface="Arial"/>
              </a:rPr>
              <a:t>enqueued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611" name="Google Shape;611;p78"/>
          <p:cNvSpPr txBox="1">
            <a:spLocks noGrp="1"/>
          </p:cNvSpPr>
          <p:nvPr>
            <p:ph type="body" idx="4294967295"/>
          </p:nvPr>
        </p:nvSpPr>
        <p:spPr>
          <a:xfrm>
            <a:off x="3138750" y="1364958"/>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When a new element is </a:t>
            </a:r>
            <a:r>
              <a:rPr lang="en" sz="1200" b="1" i="1">
                <a:solidFill>
                  <a:srgbClr val="FF0000"/>
                </a:solidFill>
                <a:latin typeface="Arial"/>
                <a:ea typeface="Arial"/>
                <a:cs typeface="Arial"/>
                <a:sym typeface="Arial"/>
              </a:rPr>
              <a:t>enqueued</a:t>
            </a:r>
            <a:r>
              <a:rPr lang="en" sz="1200">
                <a:solidFill>
                  <a:srgbClr val="000000"/>
                </a:solidFill>
                <a:latin typeface="Arial"/>
                <a:ea typeface="Arial"/>
                <a:cs typeface="Arial"/>
                <a:sym typeface="Arial"/>
              </a:rPr>
              <a:t>, it is added at the </a:t>
            </a:r>
            <a:r>
              <a:rPr lang="en" sz="1200" b="1" i="1">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and the </a:t>
            </a:r>
            <a:r>
              <a:rPr lang="en" sz="1200" b="1" i="1">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is incremented.</a:t>
            </a:r>
            <a:endParaRPr sz="1200">
              <a:solidFill>
                <a:srgbClr val="000000"/>
              </a:solidFill>
              <a:latin typeface="Arial"/>
              <a:ea typeface="Arial"/>
              <a:cs typeface="Arial"/>
              <a:sym typeface="Arial"/>
            </a:endParaRPr>
          </a:p>
        </p:txBody>
      </p:sp>
      <p:graphicFrame>
        <p:nvGraphicFramePr>
          <p:cNvPr id="612" name="Google Shape;612;p78"/>
          <p:cNvGraphicFramePr/>
          <p:nvPr/>
        </p:nvGraphicFramePr>
        <p:xfrm>
          <a:off x="3149571" y="2138607"/>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613" name="Google Shape;613;p78"/>
          <p:cNvGrpSpPr/>
          <p:nvPr/>
        </p:nvGrpSpPr>
        <p:grpSpPr>
          <a:xfrm>
            <a:off x="3066971" y="2719933"/>
            <a:ext cx="693300" cy="405900"/>
            <a:chOff x="247571" y="2364650"/>
            <a:chExt cx="693300" cy="405900"/>
          </a:xfrm>
        </p:grpSpPr>
        <p:sp>
          <p:nvSpPr>
            <p:cNvPr id="614" name="Google Shape;614;p78"/>
            <p:cNvSpPr txBox="1"/>
            <p:nvPr/>
          </p:nvSpPr>
          <p:spPr>
            <a:xfrm>
              <a:off x="247571" y="2520350"/>
              <a:ext cx="693300" cy="2502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15" name="Google Shape;615;p78"/>
            <p:cNvCxnSpPr>
              <a:stCxn id="614" idx="0"/>
            </p:cNvCxnSpPr>
            <p:nvPr/>
          </p:nvCxnSpPr>
          <p:spPr>
            <a:xfrm rot="10800000">
              <a:off x="594221"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nvGrpSpPr>
          <p:cNvPr id="616" name="Google Shape;616;p78"/>
          <p:cNvGrpSpPr/>
          <p:nvPr/>
        </p:nvGrpSpPr>
        <p:grpSpPr>
          <a:xfrm>
            <a:off x="3587500" y="2719933"/>
            <a:ext cx="693300" cy="311400"/>
            <a:chOff x="247559" y="2364650"/>
            <a:chExt cx="693300" cy="311400"/>
          </a:xfrm>
        </p:grpSpPr>
        <p:sp>
          <p:nvSpPr>
            <p:cNvPr id="617" name="Google Shape;617;p78"/>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18" name="Google Shape;618;p78"/>
            <p:cNvCxnSpPr>
              <a:stCxn id="617"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graphicFrame>
        <p:nvGraphicFramePr>
          <p:cNvPr id="619" name="Google Shape;619;p78"/>
          <p:cNvGraphicFramePr/>
          <p:nvPr/>
        </p:nvGraphicFramePr>
        <p:xfrm>
          <a:off x="3149571" y="3212789"/>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"a"</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620" name="Google Shape;620;p78"/>
          <p:cNvGrpSpPr/>
          <p:nvPr/>
        </p:nvGrpSpPr>
        <p:grpSpPr>
          <a:xfrm>
            <a:off x="4120900" y="3794114"/>
            <a:ext cx="693300" cy="311400"/>
            <a:chOff x="247559" y="2364650"/>
            <a:chExt cx="693300" cy="311400"/>
          </a:xfrm>
        </p:grpSpPr>
        <p:sp>
          <p:nvSpPr>
            <p:cNvPr id="621" name="Google Shape;621;p78"/>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22" name="Google Shape;622;p78"/>
            <p:cNvCxnSpPr>
              <a:stCxn id="621"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graphicFrame>
        <p:nvGraphicFramePr>
          <p:cNvPr id="623" name="Google Shape;623;p78"/>
          <p:cNvGraphicFramePr/>
          <p:nvPr/>
        </p:nvGraphicFramePr>
        <p:xfrm>
          <a:off x="3149571" y="4164813"/>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"a"</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"b"</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624" name="Google Shape;624;p78"/>
          <p:cNvGrpSpPr/>
          <p:nvPr/>
        </p:nvGrpSpPr>
        <p:grpSpPr>
          <a:xfrm>
            <a:off x="3066971" y="4746138"/>
            <a:ext cx="1747229" cy="311400"/>
            <a:chOff x="3219371" y="4771856"/>
            <a:chExt cx="1747229" cy="311400"/>
          </a:xfrm>
        </p:grpSpPr>
        <p:grpSp>
          <p:nvGrpSpPr>
            <p:cNvPr id="625" name="Google Shape;625;p78"/>
            <p:cNvGrpSpPr/>
            <p:nvPr/>
          </p:nvGrpSpPr>
          <p:grpSpPr>
            <a:xfrm>
              <a:off x="3219371" y="4771856"/>
              <a:ext cx="693300" cy="311400"/>
              <a:chOff x="247571" y="2364650"/>
              <a:chExt cx="693300" cy="311400"/>
            </a:xfrm>
          </p:grpSpPr>
          <p:sp>
            <p:nvSpPr>
              <p:cNvPr id="626" name="Google Shape;626;p78"/>
              <p:cNvSpPr txBox="1"/>
              <p:nvPr/>
            </p:nvSpPr>
            <p:spPr>
              <a:xfrm>
                <a:off x="247571"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p:txBody>
          </p:sp>
          <p:cxnSp>
            <p:nvCxnSpPr>
              <p:cNvPr id="627" name="Google Shape;627;p78"/>
              <p:cNvCxnSpPr>
                <a:stCxn id="626" idx="0"/>
              </p:cNvCxnSpPr>
              <p:nvPr/>
            </p:nvCxnSpPr>
            <p:spPr>
              <a:xfrm rot="10800000">
                <a:off x="594221"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nvGrpSpPr>
            <p:cNvPr id="628" name="Google Shape;628;p78"/>
            <p:cNvGrpSpPr/>
            <p:nvPr/>
          </p:nvGrpSpPr>
          <p:grpSpPr>
            <a:xfrm>
              <a:off x="4273300" y="4771856"/>
              <a:ext cx="693300" cy="311400"/>
              <a:chOff x="247559" y="2364650"/>
              <a:chExt cx="693300" cy="311400"/>
            </a:xfrm>
          </p:grpSpPr>
          <p:sp>
            <p:nvSpPr>
              <p:cNvPr id="629" name="Google Shape;629;p78"/>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30" name="Google Shape;630;p78"/>
              <p:cNvCxnSpPr>
                <a:stCxn id="629"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grpSp>
        <p:nvGrpSpPr>
          <p:cNvPr id="631" name="Google Shape;631;p78"/>
          <p:cNvGrpSpPr/>
          <p:nvPr/>
        </p:nvGrpSpPr>
        <p:grpSpPr>
          <a:xfrm>
            <a:off x="3066971" y="3794114"/>
            <a:ext cx="1213829" cy="311400"/>
            <a:chOff x="3219371" y="3819832"/>
            <a:chExt cx="1213829" cy="311400"/>
          </a:xfrm>
        </p:grpSpPr>
        <p:grpSp>
          <p:nvGrpSpPr>
            <p:cNvPr id="632" name="Google Shape;632;p78"/>
            <p:cNvGrpSpPr/>
            <p:nvPr/>
          </p:nvGrpSpPr>
          <p:grpSpPr>
            <a:xfrm>
              <a:off x="3219371" y="3819832"/>
              <a:ext cx="693300" cy="311400"/>
              <a:chOff x="247571" y="2364650"/>
              <a:chExt cx="693300" cy="311400"/>
            </a:xfrm>
          </p:grpSpPr>
          <p:sp>
            <p:nvSpPr>
              <p:cNvPr id="633" name="Google Shape;633;p78"/>
              <p:cNvSpPr txBox="1"/>
              <p:nvPr/>
            </p:nvSpPr>
            <p:spPr>
              <a:xfrm>
                <a:off x="247571"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p:txBody>
          </p:sp>
          <p:cxnSp>
            <p:nvCxnSpPr>
              <p:cNvPr id="634" name="Google Shape;634;p78"/>
              <p:cNvCxnSpPr>
                <a:stCxn id="633" idx="0"/>
              </p:cNvCxnSpPr>
              <p:nvPr/>
            </p:nvCxnSpPr>
            <p:spPr>
              <a:xfrm rot="10800000">
                <a:off x="594221"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nvGrpSpPr>
            <p:cNvPr id="635" name="Google Shape;635;p78"/>
            <p:cNvGrpSpPr/>
            <p:nvPr/>
          </p:nvGrpSpPr>
          <p:grpSpPr>
            <a:xfrm>
              <a:off x="3739900" y="3819832"/>
              <a:ext cx="693300" cy="311400"/>
              <a:chOff x="247559" y="2364650"/>
              <a:chExt cx="693300" cy="311400"/>
            </a:xfrm>
          </p:grpSpPr>
          <p:sp>
            <p:nvSpPr>
              <p:cNvPr id="636" name="Google Shape;636;p78"/>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37" name="Google Shape;637;p78"/>
              <p:cNvCxnSpPr>
                <a:stCxn id="636"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grpSp>
        <p:nvGrpSpPr>
          <p:cNvPr id="638" name="Google Shape;638;p78"/>
          <p:cNvGrpSpPr/>
          <p:nvPr/>
        </p:nvGrpSpPr>
        <p:grpSpPr>
          <a:xfrm>
            <a:off x="4635012" y="4746138"/>
            <a:ext cx="693300" cy="311400"/>
            <a:chOff x="247559" y="2364650"/>
            <a:chExt cx="693300" cy="311400"/>
          </a:xfrm>
        </p:grpSpPr>
        <p:sp>
          <p:nvSpPr>
            <p:cNvPr id="639" name="Google Shape;639;p78"/>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40" name="Google Shape;640;p78"/>
            <p:cNvCxnSpPr>
              <a:stCxn id="639"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641" name="Google Shape;641;p78"/>
          <p:cNvSpPr txBox="1"/>
          <p:nvPr/>
        </p:nvSpPr>
        <p:spPr>
          <a:xfrm>
            <a:off x="3175688" y="2186283"/>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"a"</a:t>
            </a:r>
            <a:endParaRPr sz="1000" b="0" i="0" u="none" strike="noStrike" cap="none">
              <a:solidFill>
                <a:srgbClr val="FF0000"/>
              </a:solidFill>
              <a:latin typeface="Consolas"/>
              <a:ea typeface="Consolas"/>
              <a:cs typeface="Consolas"/>
              <a:sym typeface="Consolas"/>
            </a:endParaRPr>
          </a:p>
        </p:txBody>
      </p:sp>
      <p:sp>
        <p:nvSpPr>
          <p:cNvPr id="642" name="Google Shape;642;p78"/>
          <p:cNvSpPr txBox="1"/>
          <p:nvPr/>
        </p:nvSpPr>
        <p:spPr>
          <a:xfrm>
            <a:off x="3702659" y="3258559"/>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"b"</a:t>
            </a:r>
            <a:endParaRPr sz="1000" b="0" i="0" u="none" strike="noStrike" cap="none">
              <a:solidFill>
                <a:srgbClr val="FF0000"/>
              </a:solidFill>
              <a:latin typeface="Consolas"/>
              <a:ea typeface="Consolas"/>
              <a:cs typeface="Consolas"/>
              <a:sym typeface="Consolas"/>
            </a:endParaRPr>
          </a:p>
        </p:txBody>
      </p:sp>
      <p:sp>
        <p:nvSpPr>
          <p:cNvPr id="643" name="Google Shape;643;p78"/>
          <p:cNvSpPr txBox="1"/>
          <p:nvPr/>
        </p:nvSpPr>
        <p:spPr>
          <a:xfrm>
            <a:off x="4229629" y="4210583"/>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"c"</a:t>
            </a:r>
            <a:endParaRPr sz="1000" b="0" i="0" u="none" strike="noStrike" cap="none">
              <a:solidFill>
                <a:srgbClr val="FF0000"/>
              </a:solidFill>
              <a:latin typeface="Consolas"/>
              <a:ea typeface="Consolas"/>
              <a:cs typeface="Consolas"/>
              <a:sym typeface="Consolas"/>
            </a:endParaRPr>
          </a:p>
        </p:txBody>
      </p:sp>
      <p:sp>
        <p:nvSpPr>
          <p:cNvPr id="644" name="Google Shape;644;p78"/>
          <p:cNvSpPr txBox="1"/>
          <p:nvPr/>
        </p:nvSpPr>
        <p:spPr>
          <a:xfrm>
            <a:off x="3175700" y="3007583"/>
            <a:ext cx="465600" cy="1746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0000"/>
              </a:solidFill>
              <a:latin typeface="Consolas"/>
              <a:ea typeface="Consolas"/>
              <a:cs typeface="Consolas"/>
              <a:sym typeface="Consolas"/>
            </a:endParaRPr>
          </a:p>
        </p:txBody>
      </p:sp>
      <p:sp>
        <p:nvSpPr>
          <p:cNvPr id="645" name="Google Shape;645;p78"/>
          <p:cNvSpPr txBox="1"/>
          <p:nvPr/>
        </p:nvSpPr>
        <p:spPr>
          <a:xfrm>
            <a:off x="3703625" y="3782424"/>
            <a:ext cx="465600" cy="3279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0000"/>
              </a:solidFill>
              <a:latin typeface="Consolas"/>
              <a:ea typeface="Consolas"/>
              <a:cs typeface="Consolas"/>
              <a:sym typeface="Consolas"/>
            </a:endParaRPr>
          </a:p>
        </p:txBody>
      </p:sp>
      <p:sp>
        <p:nvSpPr>
          <p:cNvPr id="646" name="Google Shape;646;p78"/>
          <p:cNvSpPr txBox="1"/>
          <p:nvPr/>
        </p:nvSpPr>
        <p:spPr>
          <a:xfrm>
            <a:off x="4237025" y="4734447"/>
            <a:ext cx="465600" cy="3279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0000"/>
              </a:solidFill>
              <a:latin typeface="Consolas"/>
              <a:ea typeface="Consolas"/>
              <a:cs typeface="Consolas"/>
              <a:sym typeface="Consolas"/>
            </a:endParaRPr>
          </a:p>
        </p:txBody>
      </p:sp>
      <p:sp>
        <p:nvSpPr>
          <p:cNvPr id="647" name="Google Shape;647;p78"/>
          <p:cNvSpPr txBox="1">
            <a:spLocks noGrp="1"/>
          </p:cNvSpPr>
          <p:nvPr>
            <p:ph type="body" idx="4294967295"/>
          </p:nvPr>
        </p:nvSpPr>
        <p:spPr>
          <a:xfrm>
            <a:off x="5940875" y="1364958"/>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If after incrementing the </a:t>
            </a:r>
            <a:r>
              <a:rPr lang="en" sz="1200" b="1" i="1">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is equal to the array length, it </a:t>
            </a:r>
            <a:r>
              <a:rPr lang="en" sz="1200" b="1" i="1">
                <a:solidFill>
                  <a:srgbClr val="FF0000"/>
                </a:solidFill>
                <a:latin typeface="Arial"/>
                <a:ea typeface="Arial"/>
                <a:cs typeface="Arial"/>
                <a:sym typeface="Arial"/>
              </a:rPr>
              <a:t>wraps around</a:t>
            </a:r>
            <a:r>
              <a:rPr lang="en" sz="1200">
                <a:solidFill>
                  <a:srgbClr val="000000"/>
                </a:solidFill>
                <a:latin typeface="Arial"/>
                <a:ea typeface="Arial"/>
                <a:cs typeface="Arial"/>
                <a:sym typeface="Arial"/>
              </a:rPr>
              <a:t> to the beginning.</a:t>
            </a:r>
            <a:endParaRPr sz="1200">
              <a:solidFill>
                <a:srgbClr val="000000"/>
              </a:solidFill>
              <a:latin typeface="Arial"/>
              <a:ea typeface="Arial"/>
              <a:cs typeface="Arial"/>
              <a:sym typeface="Arial"/>
            </a:endParaRPr>
          </a:p>
        </p:txBody>
      </p:sp>
      <p:graphicFrame>
        <p:nvGraphicFramePr>
          <p:cNvPr id="648" name="Google Shape;648;p78"/>
          <p:cNvGraphicFramePr/>
          <p:nvPr/>
        </p:nvGraphicFramePr>
        <p:xfrm>
          <a:off x="5936824" y="2138607"/>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"c"</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"d"</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649" name="Google Shape;649;p78"/>
          <p:cNvGrpSpPr/>
          <p:nvPr/>
        </p:nvGrpSpPr>
        <p:grpSpPr>
          <a:xfrm>
            <a:off x="6909117" y="2725409"/>
            <a:ext cx="2204429" cy="311400"/>
            <a:chOff x="6909118" y="2751127"/>
            <a:chExt cx="2204429" cy="311400"/>
          </a:xfrm>
        </p:grpSpPr>
        <p:grpSp>
          <p:nvGrpSpPr>
            <p:cNvPr id="650" name="Google Shape;650;p78"/>
            <p:cNvGrpSpPr/>
            <p:nvPr/>
          </p:nvGrpSpPr>
          <p:grpSpPr>
            <a:xfrm>
              <a:off x="6909118" y="2751127"/>
              <a:ext cx="693300" cy="311400"/>
              <a:chOff x="247571" y="2364650"/>
              <a:chExt cx="693300" cy="311400"/>
            </a:xfrm>
          </p:grpSpPr>
          <p:sp>
            <p:nvSpPr>
              <p:cNvPr id="651" name="Google Shape;651;p78"/>
              <p:cNvSpPr txBox="1"/>
              <p:nvPr/>
            </p:nvSpPr>
            <p:spPr>
              <a:xfrm>
                <a:off x="247571"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p:txBody>
          </p:sp>
          <p:cxnSp>
            <p:nvCxnSpPr>
              <p:cNvPr id="652" name="Google Shape;652;p78"/>
              <p:cNvCxnSpPr>
                <a:stCxn id="651" idx="0"/>
              </p:cNvCxnSpPr>
              <p:nvPr/>
            </p:nvCxnSpPr>
            <p:spPr>
              <a:xfrm rot="10800000">
                <a:off x="594221"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nvGrpSpPr>
            <p:cNvPr id="653" name="Google Shape;653;p78"/>
            <p:cNvGrpSpPr/>
            <p:nvPr/>
          </p:nvGrpSpPr>
          <p:grpSpPr>
            <a:xfrm>
              <a:off x="8420247" y="2751127"/>
              <a:ext cx="693300" cy="311400"/>
              <a:chOff x="247559" y="2364650"/>
              <a:chExt cx="693300" cy="311400"/>
            </a:xfrm>
          </p:grpSpPr>
          <p:sp>
            <p:nvSpPr>
              <p:cNvPr id="654" name="Google Shape;654;p78"/>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55" name="Google Shape;655;p78"/>
              <p:cNvCxnSpPr>
                <a:stCxn id="654"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grpSp>
        <p:nvGrpSpPr>
          <p:cNvPr id="656" name="Google Shape;656;p78"/>
          <p:cNvGrpSpPr/>
          <p:nvPr/>
        </p:nvGrpSpPr>
        <p:grpSpPr>
          <a:xfrm>
            <a:off x="5852324" y="2717325"/>
            <a:ext cx="693300" cy="311400"/>
            <a:chOff x="106129" y="3472896"/>
            <a:chExt cx="693300" cy="311400"/>
          </a:xfrm>
        </p:grpSpPr>
        <p:sp>
          <p:nvSpPr>
            <p:cNvPr id="657" name="Google Shape;657;p78"/>
            <p:cNvSpPr txBox="1"/>
            <p:nvPr/>
          </p:nvSpPr>
          <p:spPr>
            <a:xfrm>
              <a:off x="106129" y="3628596"/>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58" name="Google Shape;658;p78"/>
            <p:cNvCxnSpPr>
              <a:stCxn id="657" idx="0"/>
            </p:cNvCxnSpPr>
            <p:nvPr/>
          </p:nvCxnSpPr>
          <p:spPr>
            <a:xfrm rot="10800000">
              <a:off x="452779" y="3472896"/>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659" name="Google Shape;659;p78"/>
          <p:cNvSpPr txBox="1"/>
          <p:nvPr/>
        </p:nvSpPr>
        <p:spPr>
          <a:xfrm>
            <a:off x="8504225" y="2714671"/>
            <a:ext cx="465600" cy="3279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0000"/>
              </a:solidFill>
              <a:latin typeface="Consolas"/>
              <a:ea typeface="Consolas"/>
              <a:cs typeface="Consolas"/>
              <a:sym typeface="Consolas"/>
            </a:endParaRPr>
          </a:p>
        </p:txBody>
      </p:sp>
      <p:sp>
        <p:nvSpPr>
          <p:cNvPr id="660" name="Google Shape;660;p78"/>
          <p:cNvSpPr/>
          <p:nvPr/>
        </p:nvSpPr>
        <p:spPr>
          <a:xfrm>
            <a:off x="5757602" y="2951358"/>
            <a:ext cx="3367775" cy="264625"/>
          </a:xfrm>
          <a:custGeom>
            <a:avLst/>
            <a:gdLst/>
            <a:ahLst/>
            <a:cxnLst/>
            <a:rect l="l" t="t" r="r" b="b"/>
            <a:pathLst>
              <a:path w="134711" h="10585" extrusionOk="0">
                <a:moveTo>
                  <a:pt x="127430" y="257"/>
                </a:moveTo>
                <a:cubicBezTo>
                  <a:pt x="128416" y="643"/>
                  <a:pt x="138146" y="986"/>
                  <a:pt x="133345" y="2572"/>
                </a:cubicBezTo>
                <a:cubicBezTo>
                  <a:pt x="128544" y="4158"/>
                  <a:pt x="114828" y="8616"/>
                  <a:pt x="98626" y="9773"/>
                </a:cubicBezTo>
                <a:cubicBezTo>
                  <a:pt x="82424" y="10930"/>
                  <a:pt x="52420" y="10802"/>
                  <a:pt x="36132" y="9516"/>
                </a:cubicBezTo>
                <a:cubicBezTo>
                  <a:pt x="19844" y="8230"/>
                  <a:pt x="5100" y="3644"/>
                  <a:pt x="899" y="2058"/>
                </a:cubicBezTo>
                <a:cubicBezTo>
                  <a:pt x="-3301" y="472"/>
                  <a:pt x="9257" y="343"/>
                  <a:pt x="10929" y="0"/>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78"/>
          <p:cNvSpPr txBox="1">
            <a:spLocks noGrp="1"/>
          </p:cNvSpPr>
          <p:nvPr>
            <p:ph type="body" idx="4294967295"/>
          </p:nvPr>
        </p:nvSpPr>
        <p:spPr>
          <a:xfrm>
            <a:off x="5940875" y="3289246"/>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If the </a:t>
            </a:r>
            <a:r>
              <a:rPr lang="en" sz="1200" b="1" i="1">
                <a:solidFill>
                  <a:srgbClr val="FF0000"/>
                </a:solidFill>
                <a:latin typeface="Arial"/>
                <a:ea typeface="Arial"/>
                <a:cs typeface="Arial"/>
                <a:sym typeface="Arial"/>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equal to the </a:t>
            </a:r>
            <a:r>
              <a:rPr lang="en" sz="1200" b="1" i="1">
                <a:solidFill>
                  <a:srgbClr val="FF0000"/>
                </a:solidFill>
                <a:latin typeface="Arial"/>
                <a:ea typeface="Arial"/>
                <a:cs typeface="Arial"/>
                <a:sym typeface="Arial"/>
              </a:rPr>
              <a:t>length</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before an enqueue, the </a:t>
            </a:r>
            <a:r>
              <a:rPr lang="en" sz="1200" b="1" i="1">
                <a:solidFill>
                  <a:srgbClr val="FF0000"/>
                </a:solidFill>
                <a:latin typeface="Arial"/>
                <a:ea typeface="Arial"/>
                <a:cs typeface="Arial"/>
                <a:sym typeface="Arial"/>
              </a:rPr>
              <a:t>array is full</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will need to be </a:t>
            </a:r>
            <a:r>
              <a:rPr lang="en" sz="1200" b="1" i="1">
                <a:solidFill>
                  <a:srgbClr val="FF0000"/>
                </a:solidFill>
                <a:latin typeface="Arial"/>
                <a:ea typeface="Arial"/>
                <a:cs typeface="Arial"/>
                <a:sym typeface="Arial"/>
              </a:rPr>
              <a:t>resized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aphicFrame>
        <p:nvGraphicFramePr>
          <p:cNvPr id="662" name="Google Shape;662;p78"/>
          <p:cNvGraphicFramePr/>
          <p:nvPr/>
        </p:nvGraphicFramePr>
        <p:xfrm>
          <a:off x="5936824" y="4050037"/>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"f"</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"g"</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"c"</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"d"</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663" name="Google Shape;663;p78"/>
          <p:cNvGrpSpPr/>
          <p:nvPr/>
        </p:nvGrpSpPr>
        <p:grpSpPr>
          <a:xfrm>
            <a:off x="6908473" y="4618219"/>
            <a:ext cx="693300" cy="502800"/>
            <a:chOff x="253994" y="2345362"/>
            <a:chExt cx="693300" cy="502800"/>
          </a:xfrm>
        </p:grpSpPr>
        <p:sp>
          <p:nvSpPr>
            <p:cNvPr id="664" name="Google Shape;664;p78"/>
            <p:cNvSpPr txBox="1"/>
            <p:nvPr/>
          </p:nvSpPr>
          <p:spPr>
            <a:xfrm>
              <a:off x="253994" y="2501062"/>
              <a:ext cx="693300" cy="34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65" name="Google Shape;665;p78"/>
            <p:cNvCxnSpPr>
              <a:stCxn id="664" idx="0"/>
            </p:cNvCxnSpPr>
            <p:nvPr/>
          </p:nvCxnSpPr>
          <p:spPr>
            <a:xfrm rot="10800000">
              <a:off x="600644" y="2345362"/>
              <a:ext cx="0" cy="155700"/>
            </a:xfrm>
            <a:prstGeom prst="straightConnector1">
              <a:avLst/>
            </a:prstGeom>
            <a:noFill/>
            <a:ln w="19050" cap="flat" cmpd="sng">
              <a:solidFill>
                <a:srgbClr val="000000"/>
              </a:solidFill>
              <a:prstDash val="solid"/>
              <a:round/>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5"/>
                                        </p:tgtEl>
                                        <p:attrNameLst>
                                          <p:attrName>style.visibility</p:attrName>
                                        </p:attrNameLst>
                                      </p:cBhvr>
                                      <p:to>
                                        <p:strVal val="visible"/>
                                      </p:to>
                                    </p:set>
                                    <p:animEffect transition="in" filter="fade">
                                      <p:cBhvr>
                                        <p:cTn id="7" dur="1000"/>
                                        <p:tgtEl>
                                          <p:spTgt spid="605"/>
                                        </p:tgtEl>
                                      </p:cBhvr>
                                    </p:animEffect>
                                  </p:childTnLst>
                                </p:cTn>
                              </p:par>
                              <p:par>
                                <p:cTn id="8" presetID="10" presetClass="entr" presetSubtype="0" fill="hold" nodeType="withEffect">
                                  <p:stCondLst>
                                    <p:cond delay="0"/>
                                  </p:stCondLst>
                                  <p:childTnLst>
                                    <p:set>
                                      <p:cBhvr>
                                        <p:cTn id="9" dur="1" fill="hold">
                                          <p:stCondLst>
                                            <p:cond delay="0"/>
                                          </p:stCondLst>
                                        </p:cTn>
                                        <p:tgtEl>
                                          <p:spTgt spid="604"/>
                                        </p:tgtEl>
                                        <p:attrNameLst>
                                          <p:attrName>style.visibility</p:attrName>
                                        </p:attrNameLst>
                                      </p:cBhvr>
                                      <p:to>
                                        <p:strVal val="visible"/>
                                      </p:to>
                                    </p:set>
                                    <p:animEffect transition="in" filter="fade">
                                      <p:cBhvr>
                                        <p:cTn id="10" dur="1000"/>
                                        <p:tgtEl>
                                          <p:spTgt spid="60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06"/>
                                        </p:tgtEl>
                                        <p:attrNameLst>
                                          <p:attrName>style.visibility</p:attrName>
                                        </p:attrNameLst>
                                      </p:cBhvr>
                                      <p:to>
                                        <p:strVal val="visible"/>
                                      </p:to>
                                    </p:set>
                                    <p:animEffect transition="in" filter="fade">
                                      <p:cBhvr>
                                        <p:cTn id="15" dur="1000"/>
                                        <p:tgtEl>
                                          <p:spTgt spid="606"/>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607"/>
                                        </p:tgtEl>
                                        <p:attrNameLst>
                                          <p:attrName>style.visibility</p:attrName>
                                        </p:attrNameLst>
                                      </p:cBhvr>
                                      <p:to>
                                        <p:strVal val="visible"/>
                                      </p:to>
                                    </p:set>
                                    <p:animEffect transition="in" filter="fade">
                                      <p:cBhvr>
                                        <p:cTn id="19" dur="1000"/>
                                        <p:tgtEl>
                                          <p:spTgt spid="60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10"/>
                                        </p:tgtEl>
                                        <p:attrNameLst>
                                          <p:attrName>style.visibility</p:attrName>
                                        </p:attrNameLst>
                                      </p:cBhvr>
                                      <p:to>
                                        <p:strVal val="visible"/>
                                      </p:to>
                                    </p:set>
                                    <p:animEffect transition="in" filter="fade">
                                      <p:cBhvr>
                                        <p:cTn id="24" dur="1000"/>
                                        <p:tgtEl>
                                          <p:spTgt spid="6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11"/>
                                        </p:tgtEl>
                                        <p:attrNameLst>
                                          <p:attrName>style.visibility</p:attrName>
                                        </p:attrNameLst>
                                      </p:cBhvr>
                                      <p:to>
                                        <p:strVal val="visible"/>
                                      </p:to>
                                    </p:set>
                                    <p:animEffect transition="in" filter="fade">
                                      <p:cBhvr>
                                        <p:cTn id="29" dur="1000"/>
                                        <p:tgtEl>
                                          <p:spTgt spid="611"/>
                                        </p:tgtEl>
                                      </p:cBhvr>
                                    </p:animEffect>
                                  </p:childTnLst>
                                </p:cTn>
                              </p:par>
                              <p:par>
                                <p:cTn id="30" presetID="10" presetClass="entr" presetSubtype="0" fill="hold" nodeType="withEffect">
                                  <p:stCondLst>
                                    <p:cond delay="0"/>
                                  </p:stCondLst>
                                  <p:childTnLst>
                                    <p:set>
                                      <p:cBhvr>
                                        <p:cTn id="31" dur="1" fill="hold">
                                          <p:stCondLst>
                                            <p:cond delay="0"/>
                                          </p:stCondLst>
                                        </p:cTn>
                                        <p:tgtEl>
                                          <p:spTgt spid="612"/>
                                        </p:tgtEl>
                                        <p:attrNameLst>
                                          <p:attrName>style.visibility</p:attrName>
                                        </p:attrNameLst>
                                      </p:cBhvr>
                                      <p:to>
                                        <p:strVal val="visible"/>
                                      </p:to>
                                    </p:set>
                                    <p:animEffect transition="in" filter="fade">
                                      <p:cBhvr>
                                        <p:cTn id="32" dur="1000"/>
                                        <p:tgtEl>
                                          <p:spTgt spid="612"/>
                                        </p:tgtEl>
                                      </p:cBhvr>
                                    </p:animEffect>
                                  </p:childTnLst>
                                </p:cTn>
                              </p:par>
                              <p:par>
                                <p:cTn id="33" presetID="10" presetClass="entr" presetSubtype="0" fill="hold" nodeType="withEffect">
                                  <p:stCondLst>
                                    <p:cond delay="0"/>
                                  </p:stCondLst>
                                  <p:childTnLst>
                                    <p:set>
                                      <p:cBhvr>
                                        <p:cTn id="34" dur="1" fill="hold">
                                          <p:stCondLst>
                                            <p:cond delay="0"/>
                                          </p:stCondLst>
                                        </p:cTn>
                                        <p:tgtEl>
                                          <p:spTgt spid="613"/>
                                        </p:tgtEl>
                                        <p:attrNameLst>
                                          <p:attrName>style.visibility</p:attrName>
                                        </p:attrNameLst>
                                      </p:cBhvr>
                                      <p:to>
                                        <p:strVal val="visible"/>
                                      </p:to>
                                    </p:set>
                                    <p:animEffect transition="in" filter="fade">
                                      <p:cBhvr>
                                        <p:cTn id="35" dur="1000"/>
                                        <p:tgtEl>
                                          <p:spTgt spid="613"/>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641"/>
                                        </p:tgtEl>
                                        <p:attrNameLst>
                                          <p:attrName>style.visibility</p:attrName>
                                        </p:attrNameLst>
                                      </p:cBhvr>
                                      <p:to>
                                        <p:strVal val="visible"/>
                                      </p:to>
                                    </p:set>
                                    <p:animEffect transition="in" filter="fade">
                                      <p:cBhvr>
                                        <p:cTn id="39" dur="1000"/>
                                        <p:tgtEl>
                                          <p:spTgt spid="641"/>
                                        </p:tgtEl>
                                      </p:cBhvr>
                                    </p:animEffect>
                                  </p:childTnLst>
                                </p:cTn>
                              </p:par>
                            </p:childTnLst>
                          </p:cTn>
                        </p:par>
                        <p:par>
                          <p:cTn id="40" fill="hold">
                            <p:stCondLst>
                              <p:cond delay="2000"/>
                            </p:stCondLst>
                            <p:childTnLst>
                              <p:par>
                                <p:cTn id="41" presetID="10" presetClass="entr" presetSubtype="0" fill="hold" nodeType="afterEffect">
                                  <p:stCondLst>
                                    <p:cond delay="0"/>
                                  </p:stCondLst>
                                  <p:childTnLst>
                                    <p:set>
                                      <p:cBhvr>
                                        <p:cTn id="42" dur="1" fill="hold">
                                          <p:stCondLst>
                                            <p:cond delay="0"/>
                                          </p:stCondLst>
                                        </p:cTn>
                                        <p:tgtEl>
                                          <p:spTgt spid="644"/>
                                        </p:tgtEl>
                                        <p:attrNameLst>
                                          <p:attrName>style.visibility</p:attrName>
                                        </p:attrNameLst>
                                      </p:cBhvr>
                                      <p:to>
                                        <p:strVal val="visible"/>
                                      </p:to>
                                    </p:set>
                                    <p:animEffect transition="in" filter="fade">
                                      <p:cBhvr>
                                        <p:cTn id="43" dur="1000"/>
                                        <p:tgtEl>
                                          <p:spTgt spid="644"/>
                                        </p:tgtEl>
                                      </p:cBhvr>
                                    </p:animEffect>
                                  </p:childTnLst>
                                </p:cTn>
                              </p:par>
                            </p:childTnLst>
                          </p:cTn>
                        </p:par>
                        <p:par>
                          <p:cTn id="44" fill="hold">
                            <p:stCondLst>
                              <p:cond delay="3000"/>
                            </p:stCondLst>
                            <p:childTnLst>
                              <p:par>
                                <p:cTn id="45" presetID="10" presetClass="entr" presetSubtype="0" fill="hold" nodeType="afterEffect">
                                  <p:stCondLst>
                                    <p:cond delay="0"/>
                                  </p:stCondLst>
                                  <p:childTnLst>
                                    <p:set>
                                      <p:cBhvr>
                                        <p:cTn id="46" dur="1" fill="hold">
                                          <p:stCondLst>
                                            <p:cond delay="0"/>
                                          </p:stCondLst>
                                        </p:cTn>
                                        <p:tgtEl>
                                          <p:spTgt spid="616"/>
                                        </p:tgtEl>
                                        <p:attrNameLst>
                                          <p:attrName>style.visibility</p:attrName>
                                        </p:attrNameLst>
                                      </p:cBhvr>
                                      <p:to>
                                        <p:strVal val="visible"/>
                                      </p:to>
                                    </p:set>
                                    <p:animEffect transition="in" filter="fade">
                                      <p:cBhvr>
                                        <p:cTn id="47" dur="1000"/>
                                        <p:tgtEl>
                                          <p:spTgt spid="6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19"/>
                                        </p:tgtEl>
                                        <p:attrNameLst>
                                          <p:attrName>style.visibility</p:attrName>
                                        </p:attrNameLst>
                                      </p:cBhvr>
                                      <p:to>
                                        <p:strVal val="visible"/>
                                      </p:to>
                                    </p:set>
                                    <p:animEffect transition="in" filter="fade">
                                      <p:cBhvr>
                                        <p:cTn id="52" dur="1000"/>
                                        <p:tgtEl>
                                          <p:spTgt spid="619"/>
                                        </p:tgtEl>
                                      </p:cBhvr>
                                    </p:animEffect>
                                  </p:childTnLst>
                                </p:cTn>
                              </p:par>
                              <p:par>
                                <p:cTn id="53" presetID="10" presetClass="entr" presetSubtype="0" fill="hold" nodeType="withEffect">
                                  <p:stCondLst>
                                    <p:cond delay="0"/>
                                  </p:stCondLst>
                                  <p:childTnLst>
                                    <p:set>
                                      <p:cBhvr>
                                        <p:cTn id="54" dur="1" fill="hold">
                                          <p:stCondLst>
                                            <p:cond delay="0"/>
                                          </p:stCondLst>
                                        </p:cTn>
                                        <p:tgtEl>
                                          <p:spTgt spid="631"/>
                                        </p:tgtEl>
                                        <p:attrNameLst>
                                          <p:attrName>style.visibility</p:attrName>
                                        </p:attrNameLst>
                                      </p:cBhvr>
                                      <p:to>
                                        <p:strVal val="visible"/>
                                      </p:to>
                                    </p:set>
                                    <p:animEffect transition="in" filter="fade">
                                      <p:cBhvr>
                                        <p:cTn id="55" dur="1000"/>
                                        <p:tgtEl>
                                          <p:spTgt spid="631"/>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642"/>
                                        </p:tgtEl>
                                        <p:attrNameLst>
                                          <p:attrName>style.visibility</p:attrName>
                                        </p:attrNameLst>
                                      </p:cBhvr>
                                      <p:to>
                                        <p:strVal val="visible"/>
                                      </p:to>
                                    </p:set>
                                    <p:animEffect transition="in" filter="fade">
                                      <p:cBhvr>
                                        <p:cTn id="59" dur="1000"/>
                                        <p:tgtEl>
                                          <p:spTgt spid="642"/>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645"/>
                                        </p:tgtEl>
                                        <p:attrNameLst>
                                          <p:attrName>style.visibility</p:attrName>
                                        </p:attrNameLst>
                                      </p:cBhvr>
                                      <p:to>
                                        <p:strVal val="visible"/>
                                      </p:to>
                                    </p:set>
                                    <p:animEffect transition="in" filter="fade">
                                      <p:cBhvr>
                                        <p:cTn id="63" dur="1000"/>
                                        <p:tgtEl>
                                          <p:spTgt spid="645"/>
                                        </p:tgtEl>
                                      </p:cBhvr>
                                    </p:animEffect>
                                  </p:childTnLst>
                                </p:cTn>
                              </p:par>
                            </p:childTnLst>
                          </p:cTn>
                        </p:par>
                        <p:par>
                          <p:cTn id="64" fill="hold">
                            <p:stCondLst>
                              <p:cond delay="3000"/>
                            </p:stCondLst>
                            <p:childTnLst>
                              <p:par>
                                <p:cTn id="65" presetID="10" presetClass="entr" presetSubtype="0" fill="hold" nodeType="afterEffect">
                                  <p:stCondLst>
                                    <p:cond delay="0"/>
                                  </p:stCondLst>
                                  <p:childTnLst>
                                    <p:set>
                                      <p:cBhvr>
                                        <p:cTn id="66" dur="1" fill="hold">
                                          <p:stCondLst>
                                            <p:cond delay="0"/>
                                          </p:stCondLst>
                                        </p:cTn>
                                        <p:tgtEl>
                                          <p:spTgt spid="620"/>
                                        </p:tgtEl>
                                        <p:attrNameLst>
                                          <p:attrName>style.visibility</p:attrName>
                                        </p:attrNameLst>
                                      </p:cBhvr>
                                      <p:to>
                                        <p:strVal val="visible"/>
                                      </p:to>
                                    </p:set>
                                    <p:animEffect transition="in" filter="fade">
                                      <p:cBhvr>
                                        <p:cTn id="67" dur="1000"/>
                                        <p:tgtEl>
                                          <p:spTgt spid="62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623"/>
                                        </p:tgtEl>
                                        <p:attrNameLst>
                                          <p:attrName>style.visibility</p:attrName>
                                        </p:attrNameLst>
                                      </p:cBhvr>
                                      <p:to>
                                        <p:strVal val="visible"/>
                                      </p:to>
                                    </p:set>
                                    <p:animEffect transition="in" filter="fade">
                                      <p:cBhvr>
                                        <p:cTn id="72" dur="1000"/>
                                        <p:tgtEl>
                                          <p:spTgt spid="623"/>
                                        </p:tgtEl>
                                      </p:cBhvr>
                                    </p:animEffect>
                                  </p:childTnLst>
                                </p:cTn>
                              </p:par>
                              <p:par>
                                <p:cTn id="73" presetID="10" presetClass="entr" presetSubtype="0" fill="hold" nodeType="withEffect">
                                  <p:stCondLst>
                                    <p:cond delay="0"/>
                                  </p:stCondLst>
                                  <p:childTnLst>
                                    <p:set>
                                      <p:cBhvr>
                                        <p:cTn id="74" dur="1" fill="hold">
                                          <p:stCondLst>
                                            <p:cond delay="0"/>
                                          </p:stCondLst>
                                        </p:cTn>
                                        <p:tgtEl>
                                          <p:spTgt spid="624"/>
                                        </p:tgtEl>
                                        <p:attrNameLst>
                                          <p:attrName>style.visibility</p:attrName>
                                        </p:attrNameLst>
                                      </p:cBhvr>
                                      <p:to>
                                        <p:strVal val="visible"/>
                                      </p:to>
                                    </p:set>
                                    <p:animEffect transition="in" filter="fade">
                                      <p:cBhvr>
                                        <p:cTn id="75" dur="1000"/>
                                        <p:tgtEl>
                                          <p:spTgt spid="624"/>
                                        </p:tgtEl>
                                      </p:cBhvr>
                                    </p:animEffect>
                                  </p:childTnLst>
                                </p:cTn>
                              </p:par>
                            </p:childTnLst>
                          </p:cTn>
                        </p:par>
                        <p:par>
                          <p:cTn id="76" fill="hold">
                            <p:stCondLst>
                              <p:cond delay="1000"/>
                            </p:stCondLst>
                            <p:childTnLst>
                              <p:par>
                                <p:cTn id="77" presetID="10" presetClass="entr" presetSubtype="0" fill="hold" nodeType="afterEffect">
                                  <p:stCondLst>
                                    <p:cond delay="0"/>
                                  </p:stCondLst>
                                  <p:childTnLst>
                                    <p:set>
                                      <p:cBhvr>
                                        <p:cTn id="78" dur="1" fill="hold">
                                          <p:stCondLst>
                                            <p:cond delay="0"/>
                                          </p:stCondLst>
                                        </p:cTn>
                                        <p:tgtEl>
                                          <p:spTgt spid="643"/>
                                        </p:tgtEl>
                                        <p:attrNameLst>
                                          <p:attrName>style.visibility</p:attrName>
                                        </p:attrNameLst>
                                      </p:cBhvr>
                                      <p:to>
                                        <p:strVal val="visible"/>
                                      </p:to>
                                    </p:set>
                                    <p:animEffect transition="in" filter="fade">
                                      <p:cBhvr>
                                        <p:cTn id="79" dur="1000"/>
                                        <p:tgtEl>
                                          <p:spTgt spid="643"/>
                                        </p:tgtEl>
                                      </p:cBhvr>
                                    </p:animEffect>
                                  </p:childTnLst>
                                </p:cTn>
                              </p:par>
                            </p:childTnLst>
                          </p:cTn>
                        </p:par>
                        <p:par>
                          <p:cTn id="80" fill="hold">
                            <p:stCondLst>
                              <p:cond delay="2000"/>
                            </p:stCondLst>
                            <p:childTnLst>
                              <p:par>
                                <p:cTn id="81" presetID="10" presetClass="entr" presetSubtype="0" fill="hold" nodeType="afterEffect">
                                  <p:stCondLst>
                                    <p:cond delay="0"/>
                                  </p:stCondLst>
                                  <p:childTnLst>
                                    <p:set>
                                      <p:cBhvr>
                                        <p:cTn id="82" dur="1" fill="hold">
                                          <p:stCondLst>
                                            <p:cond delay="0"/>
                                          </p:stCondLst>
                                        </p:cTn>
                                        <p:tgtEl>
                                          <p:spTgt spid="646"/>
                                        </p:tgtEl>
                                        <p:attrNameLst>
                                          <p:attrName>style.visibility</p:attrName>
                                        </p:attrNameLst>
                                      </p:cBhvr>
                                      <p:to>
                                        <p:strVal val="visible"/>
                                      </p:to>
                                    </p:set>
                                    <p:animEffect transition="in" filter="fade">
                                      <p:cBhvr>
                                        <p:cTn id="83" dur="1000"/>
                                        <p:tgtEl>
                                          <p:spTgt spid="646"/>
                                        </p:tgtEl>
                                      </p:cBhvr>
                                    </p:animEffect>
                                  </p:childTnLst>
                                </p:cTn>
                              </p:par>
                            </p:childTnLst>
                          </p:cTn>
                        </p:par>
                        <p:par>
                          <p:cTn id="84" fill="hold">
                            <p:stCondLst>
                              <p:cond delay="3000"/>
                            </p:stCondLst>
                            <p:childTnLst>
                              <p:par>
                                <p:cTn id="85" presetID="10" presetClass="entr" presetSubtype="0" fill="hold" nodeType="afterEffect">
                                  <p:stCondLst>
                                    <p:cond delay="0"/>
                                  </p:stCondLst>
                                  <p:childTnLst>
                                    <p:set>
                                      <p:cBhvr>
                                        <p:cTn id="86" dur="1" fill="hold">
                                          <p:stCondLst>
                                            <p:cond delay="0"/>
                                          </p:stCondLst>
                                        </p:cTn>
                                        <p:tgtEl>
                                          <p:spTgt spid="638"/>
                                        </p:tgtEl>
                                        <p:attrNameLst>
                                          <p:attrName>style.visibility</p:attrName>
                                        </p:attrNameLst>
                                      </p:cBhvr>
                                      <p:to>
                                        <p:strVal val="visible"/>
                                      </p:to>
                                    </p:set>
                                    <p:animEffect transition="in" filter="fade">
                                      <p:cBhvr>
                                        <p:cTn id="87" dur="1000"/>
                                        <p:tgtEl>
                                          <p:spTgt spid="63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647"/>
                                        </p:tgtEl>
                                        <p:attrNameLst>
                                          <p:attrName>style.visibility</p:attrName>
                                        </p:attrNameLst>
                                      </p:cBhvr>
                                      <p:to>
                                        <p:strVal val="visible"/>
                                      </p:to>
                                    </p:set>
                                    <p:animEffect transition="in" filter="fade">
                                      <p:cBhvr>
                                        <p:cTn id="92" dur="1000"/>
                                        <p:tgtEl>
                                          <p:spTgt spid="647"/>
                                        </p:tgtEl>
                                      </p:cBhvr>
                                    </p:animEffect>
                                  </p:childTnLst>
                                </p:cTn>
                              </p:par>
                              <p:par>
                                <p:cTn id="93" presetID="10" presetClass="entr" presetSubtype="0" fill="hold" nodeType="withEffect">
                                  <p:stCondLst>
                                    <p:cond delay="0"/>
                                  </p:stCondLst>
                                  <p:childTnLst>
                                    <p:set>
                                      <p:cBhvr>
                                        <p:cTn id="94" dur="1" fill="hold">
                                          <p:stCondLst>
                                            <p:cond delay="0"/>
                                          </p:stCondLst>
                                        </p:cTn>
                                        <p:tgtEl>
                                          <p:spTgt spid="648"/>
                                        </p:tgtEl>
                                        <p:attrNameLst>
                                          <p:attrName>style.visibility</p:attrName>
                                        </p:attrNameLst>
                                      </p:cBhvr>
                                      <p:to>
                                        <p:strVal val="visible"/>
                                      </p:to>
                                    </p:set>
                                    <p:animEffect transition="in" filter="fade">
                                      <p:cBhvr>
                                        <p:cTn id="95" dur="1000"/>
                                        <p:tgtEl>
                                          <p:spTgt spid="648"/>
                                        </p:tgtEl>
                                      </p:cBhvr>
                                    </p:animEffect>
                                  </p:childTnLst>
                                </p:cTn>
                              </p:par>
                              <p:par>
                                <p:cTn id="96" presetID="10" presetClass="entr" presetSubtype="0" fill="hold" nodeType="withEffect">
                                  <p:stCondLst>
                                    <p:cond delay="0"/>
                                  </p:stCondLst>
                                  <p:childTnLst>
                                    <p:set>
                                      <p:cBhvr>
                                        <p:cTn id="97" dur="1" fill="hold">
                                          <p:stCondLst>
                                            <p:cond delay="0"/>
                                          </p:stCondLst>
                                        </p:cTn>
                                        <p:tgtEl>
                                          <p:spTgt spid="649"/>
                                        </p:tgtEl>
                                        <p:attrNameLst>
                                          <p:attrName>style.visibility</p:attrName>
                                        </p:attrNameLst>
                                      </p:cBhvr>
                                      <p:to>
                                        <p:strVal val="visible"/>
                                      </p:to>
                                    </p:set>
                                    <p:animEffect transition="in" filter="fade">
                                      <p:cBhvr>
                                        <p:cTn id="98" dur="1000"/>
                                        <p:tgtEl>
                                          <p:spTgt spid="649"/>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660"/>
                                        </p:tgtEl>
                                        <p:attrNameLst>
                                          <p:attrName>style.visibility</p:attrName>
                                        </p:attrNameLst>
                                      </p:cBhvr>
                                      <p:to>
                                        <p:strVal val="visible"/>
                                      </p:to>
                                    </p:set>
                                    <p:animEffect transition="in" filter="fade">
                                      <p:cBhvr>
                                        <p:cTn id="103" dur="1000"/>
                                        <p:tgtEl>
                                          <p:spTgt spid="660"/>
                                        </p:tgtEl>
                                      </p:cBhvr>
                                    </p:animEffect>
                                  </p:childTnLst>
                                </p:cTn>
                              </p:par>
                            </p:childTnLst>
                          </p:cTn>
                        </p:par>
                        <p:par>
                          <p:cTn id="104" fill="hold">
                            <p:stCondLst>
                              <p:cond delay="1000"/>
                            </p:stCondLst>
                            <p:childTnLst>
                              <p:par>
                                <p:cTn id="105" presetID="10" presetClass="entr" presetSubtype="0" fill="hold" nodeType="afterEffect">
                                  <p:stCondLst>
                                    <p:cond delay="0"/>
                                  </p:stCondLst>
                                  <p:childTnLst>
                                    <p:set>
                                      <p:cBhvr>
                                        <p:cTn id="106" dur="1" fill="hold">
                                          <p:stCondLst>
                                            <p:cond delay="0"/>
                                          </p:stCondLst>
                                        </p:cTn>
                                        <p:tgtEl>
                                          <p:spTgt spid="659"/>
                                        </p:tgtEl>
                                        <p:attrNameLst>
                                          <p:attrName>style.visibility</p:attrName>
                                        </p:attrNameLst>
                                      </p:cBhvr>
                                      <p:to>
                                        <p:strVal val="visible"/>
                                      </p:to>
                                    </p:set>
                                    <p:animEffect transition="in" filter="fade">
                                      <p:cBhvr>
                                        <p:cTn id="107" dur="1000"/>
                                        <p:tgtEl>
                                          <p:spTgt spid="659"/>
                                        </p:tgtEl>
                                      </p:cBhvr>
                                    </p:animEffect>
                                  </p:childTnLst>
                                </p:cTn>
                              </p:par>
                            </p:childTnLst>
                          </p:cTn>
                        </p:par>
                        <p:par>
                          <p:cTn id="108" fill="hold">
                            <p:stCondLst>
                              <p:cond delay="2000"/>
                            </p:stCondLst>
                            <p:childTnLst>
                              <p:par>
                                <p:cTn id="109" presetID="10" presetClass="entr" presetSubtype="0" fill="hold" nodeType="afterEffect">
                                  <p:stCondLst>
                                    <p:cond delay="0"/>
                                  </p:stCondLst>
                                  <p:childTnLst>
                                    <p:set>
                                      <p:cBhvr>
                                        <p:cTn id="110" dur="1" fill="hold">
                                          <p:stCondLst>
                                            <p:cond delay="0"/>
                                          </p:stCondLst>
                                        </p:cTn>
                                        <p:tgtEl>
                                          <p:spTgt spid="656"/>
                                        </p:tgtEl>
                                        <p:attrNameLst>
                                          <p:attrName>style.visibility</p:attrName>
                                        </p:attrNameLst>
                                      </p:cBhvr>
                                      <p:to>
                                        <p:strVal val="visible"/>
                                      </p:to>
                                    </p:set>
                                    <p:animEffect transition="in" filter="fade">
                                      <p:cBhvr>
                                        <p:cTn id="111" dur="1000"/>
                                        <p:tgtEl>
                                          <p:spTgt spid="656"/>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661"/>
                                        </p:tgtEl>
                                        <p:attrNameLst>
                                          <p:attrName>style.visibility</p:attrName>
                                        </p:attrNameLst>
                                      </p:cBhvr>
                                      <p:to>
                                        <p:strVal val="visible"/>
                                      </p:to>
                                    </p:set>
                                    <p:animEffect transition="in" filter="fade">
                                      <p:cBhvr>
                                        <p:cTn id="116" dur="1000"/>
                                        <p:tgtEl>
                                          <p:spTgt spid="661"/>
                                        </p:tgtEl>
                                      </p:cBhvr>
                                    </p:animEffect>
                                  </p:childTnLst>
                                </p:cTn>
                              </p:par>
                              <p:par>
                                <p:cTn id="117" presetID="10" presetClass="entr" presetSubtype="0" fill="hold" nodeType="withEffect">
                                  <p:stCondLst>
                                    <p:cond delay="0"/>
                                  </p:stCondLst>
                                  <p:childTnLst>
                                    <p:set>
                                      <p:cBhvr>
                                        <p:cTn id="118" dur="1" fill="hold">
                                          <p:stCondLst>
                                            <p:cond delay="0"/>
                                          </p:stCondLst>
                                        </p:cTn>
                                        <p:tgtEl>
                                          <p:spTgt spid="662"/>
                                        </p:tgtEl>
                                        <p:attrNameLst>
                                          <p:attrName>style.visibility</p:attrName>
                                        </p:attrNameLst>
                                      </p:cBhvr>
                                      <p:to>
                                        <p:strVal val="visible"/>
                                      </p:to>
                                    </p:set>
                                    <p:animEffect transition="in" filter="fade">
                                      <p:cBhvr>
                                        <p:cTn id="119" dur="1000"/>
                                        <p:tgtEl>
                                          <p:spTgt spid="662"/>
                                        </p:tgtEl>
                                      </p:cBhvr>
                                    </p:animEffect>
                                  </p:childTnLst>
                                </p:cTn>
                              </p:par>
                              <p:par>
                                <p:cTn id="120" presetID="10" presetClass="entr" presetSubtype="0" fill="hold" nodeType="withEffect">
                                  <p:stCondLst>
                                    <p:cond delay="0"/>
                                  </p:stCondLst>
                                  <p:childTnLst>
                                    <p:set>
                                      <p:cBhvr>
                                        <p:cTn id="121" dur="1" fill="hold">
                                          <p:stCondLst>
                                            <p:cond delay="0"/>
                                          </p:stCondLst>
                                        </p:cTn>
                                        <p:tgtEl>
                                          <p:spTgt spid="663"/>
                                        </p:tgtEl>
                                        <p:attrNameLst>
                                          <p:attrName>style.visibility</p:attrName>
                                        </p:attrNameLst>
                                      </p:cBhvr>
                                      <p:to>
                                        <p:strVal val="visible"/>
                                      </p:to>
                                    </p:set>
                                    <p:animEffect transition="in" filter="fade">
                                      <p:cBhvr>
                                        <p:cTn id="122" dur="1000"/>
                                        <p:tgtEl>
                                          <p:spTgt spid="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7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Although enqueuing into an Array-based Queue can be fairly straightforward in most cases, some edge cases can be relatively complicated. Try implementing enqueue using an array.</a:t>
            </a:r>
            <a:endParaRPr/>
          </a:p>
        </p:txBody>
      </p:sp>
      <p:sp>
        <p:nvSpPr>
          <p:cNvPr id="671" name="Google Shape;671;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672" name="Google Shape;672;p79"/>
          <p:cNvSpPr txBox="1">
            <a:spLocks noGrp="1"/>
          </p:cNvSpPr>
          <p:nvPr>
            <p:ph type="body" idx="2"/>
          </p:nvPr>
        </p:nvSpPr>
        <p:spPr>
          <a:xfrm>
            <a:off x="3066350" y="1497825"/>
            <a:ext cx="5885400" cy="35157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Open your </a:t>
            </a:r>
            <a:r>
              <a:rPr lang="en" sz="1600" dirty="0">
                <a:latin typeface="Courier New"/>
                <a:ea typeface="Courier New"/>
                <a:cs typeface="Courier New"/>
                <a:sym typeface="Courier New"/>
              </a:rPr>
              <a:t>ArrayQueue</a:t>
            </a:r>
            <a:r>
              <a:rPr lang="en" sz="1600" dirty="0"/>
              <a:t> class and implement the </a:t>
            </a:r>
            <a:r>
              <a:rPr lang="en" sz="1600" dirty="0">
                <a:solidFill>
                  <a:srgbClr val="FF0000"/>
                </a:solidFill>
                <a:latin typeface="Courier New"/>
                <a:ea typeface="Courier New"/>
                <a:cs typeface="Courier New"/>
                <a:sym typeface="Courier New"/>
              </a:rPr>
              <a:t>enqueue</a:t>
            </a:r>
            <a:r>
              <a:rPr lang="en" sz="1600" dirty="0">
                <a:solidFill>
                  <a:srgbClr val="FF0000"/>
                </a:solidFill>
              </a:rPr>
              <a:t> </a:t>
            </a:r>
            <a:r>
              <a:rPr lang="en" sz="1600" b="1" i="1" dirty="0">
                <a:solidFill>
                  <a:srgbClr val="FF0000"/>
                </a:solidFill>
              </a:rPr>
              <a:t>method</a:t>
            </a:r>
            <a:r>
              <a:rPr lang="en" sz="1600" dirty="0"/>
              <a:t>.</a:t>
            </a:r>
            <a:endParaRPr sz="1600" dirty="0"/>
          </a:p>
          <a:p>
            <a:pPr marL="914400" lvl="1" indent="-317500" algn="l" rtl="0">
              <a:spcBef>
                <a:spcPts val="0"/>
              </a:spcBef>
              <a:spcAft>
                <a:spcPts val="0"/>
              </a:spcAft>
              <a:buSzPts val="1400"/>
              <a:buChar char="○"/>
            </a:pPr>
            <a:r>
              <a:rPr lang="en" sz="1400" b="1" i="1" dirty="0">
                <a:solidFill>
                  <a:srgbClr val="FF0000"/>
                </a:solidFill>
              </a:rPr>
              <a:t>Add</a:t>
            </a:r>
            <a:r>
              <a:rPr lang="en" sz="1400" dirty="0">
                <a:solidFill>
                  <a:srgbClr val="FF0000"/>
                </a:solidFill>
              </a:rPr>
              <a:t> </a:t>
            </a:r>
            <a:r>
              <a:rPr lang="en" sz="1400" dirty="0"/>
              <a:t>the new element to the </a:t>
            </a:r>
            <a:r>
              <a:rPr lang="en" sz="1400" dirty="0">
                <a:solidFill>
                  <a:srgbClr val="FF0000"/>
                </a:solidFill>
                <a:latin typeface="Courier New"/>
                <a:ea typeface="Courier New"/>
                <a:cs typeface="Courier New"/>
                <a:sym typeface="Courier New"/>
              </a:rPr>
              <a:t>back</a:t>
            </a:r>
            <a:r>
              <a:rPr lang="en" sz="1400" dirty="0">
                <a:solidFill>
                  <a:srgbClr val="FF0000"/>
                </a:solidFill>
              </a:rPr>
              <a:t> </a:t>
            </a:r>
            <a:r>
              <a:rPr lang="en" sz="1400" b="1" i="1" dirty="0">
                <a:solidFill>
                  <a:srgbClr val="FF0000"/>
                </a:solidFill>
              </a:rPr>
              <a:t>index</a:t>
            </a:r>
            <a:r>
              <a:rPr lang="en" sz="1400" dirty="0"/>
              <a:t>.</a:t>
            </a:r>
            <a:endParaRPr sz="1400" dirty="0"/>
          </a:p>
          <a:p>
            <a:pPr marL="914400" lvl="1" indent="-317500" algn="l" rtl="0">
              <a:spcBef>
                <a:spcPts val="0"/>
              </a:spcBef>
              <a:spcAft>
                <a:spcPts val="0"/>
              </a:spcAft>
              <a:buSzPts val="1400"/>
              <a:buChar char="○"/>
            </a:pPr>
            <a:r>
              <a:rPr lang="en" sz="1400" b="1" i="1" dirty="0">
                <a:solidFill>
                  <a:srgbClr val="FF0000"/>
                </a:solidFill>
              </a:rPr>
              <a:t>Increment</a:t>
            </a:r>
            <a:r>
              <a:rPr lang="en" sz="1400" dirty="0">
                <a:solidFill>
                  <a:srgbClr val="FF0000"/>
                </a:solidFill>
              </a:rPr>
              <a:t> </a:t>
            </a:r>
            <a:r>
              <a:rPr lang="en" sz="1400" dirty="0"/>
              <a:t>the </a:t>
            </a:r>
            <a:r>
              <a:rPr lang="en" sz="1400" dirty="0">
                <a:latin typeface="Courier New"/>
                <a:ea typeface="Courier New"/>
                <a:cs typeface="Courier New"/>
                <a:sym typeface="Courier New"/>
              </a:rPr>
              <a:t>back</a:t>
            </a:r>
            <a:r>
              <a:rPr lang="en" sz="1400" dirty="0"/>
              <a:t> index. Be sure to </a:t>
            </a:r>
            <a:r>
              <a:rPr lang="en" sz="1400" b="1" i="1" dirty="0">
                <a:solidFill>
                  <a:srgbClr val="FF0000"/>
                </a:solidFill>
              </a:rPr>
              <a:t>wrap around</a:t>
            </a:r>
            <a:r>
              <a:rPr lang="en" sz="1400" dirty="0">
                <a:solidFill>
                  <a:srgbClr val="FF0000"/>
                </a:solidFill>
              </a:rPr>
              <a:t> </a:t>
            </a:r>
            <a:r>
              <a:rPr lang="en" sz="1400" dirty="0"/>
              <a:t>if necessary.</a:t>
            </a:r>
            <a:endParaRPr sz="1400" dirty="0"/>
          </a:p>
          <a:p>
            <a:pPr marL="1371600" lvl="2" indent="-317500" algn="l" rtl="0">
              <a:spcBef>
                <a:spcPts val="0"/>
              </a:spcBef>
              <a:spcAft>
                <a:spcPts val="0"/>
              </a:spcAft>
              <a:buSzPts val="1400"/>
              <a:buChar char="■"/>
            </a:pPr>
            <a:r>
              <a:rPr lang="en" sz="1400" b="1" i="1" dirty="0">
                <a:solidFill>
                  <a:srgbClr val="FF0000"/>
                </a:solidFill>
                <a:highlight>
                  <a:srgbClr val="FFFF00"/>
                </a:highlight>
              </a:rPr>
              <a:t>Hint</a:t>
            </a:r>
            <a:r>
              <a:rPr lang="en" sz="1400" dirty="0">
                <a:highlight>
                  <a:srgbClr val="FFFF00"/>
                </a:highlight>
              </a:rPr>
              <a:t>: use modulo with the length of the array.</a:t>
            </a:r>
            <a:endParaRPr sz="1400" dirty="0">
              <a:highlight>
                <a:srgbClr val="FFFF00"/>
              </a:highlight>
            </a:endParaRPr>
          </a:p>
          <a:p>
            <a:pPr marL="914400" lvl="1" indent="-317500" algn="l" rtl="0">
              <a:spcBef>
                <a:spcPts val="0"/>
              </a:spcBef>
              <a:spcAft>
                <a:spcPts val="0"/>
              </a:spcAft>
              <a:buSzPts val="1400"/>
              <a:buChar char="○"/>
            </a:pPr>
            <a:r>
              <a:rPr lang="en" sz="1400" dirty="0"/>
              <a:t>Don't forget to </a:t>
            </a:r>
            <a:r>
              <a:rPr lang="en" sz="1400" b="1" i="1" dirty="0">
                <a:solidFill>
                  <a:srgbClr val="FF0000"/>
                </a:solidFill>
              </a:rPr>
              <a:t>increment </a:t>
            </a:r>
            <a:r>
              <a:rPr lang="en" sz="1400" dirty="0">
                <a:solidFill>
                  <a:srgbClr val="FF0000"/>
                </a:solidFill>
                <a:latin typeface="Courier New"/>
                <a:ea typeface="Courier New"/>
                <a:cs typeface="Courier New"/>
                <a:sym typeface="Courier New"/>
              </a:rPr>
              <a:t>size</a:t>
            </a:r>
            <a:r>
              <a:rPr lang="en" sz="1400" dirty="0"/>
              <a:t>.</a:t>
            </a:r>
            <a:endParaRPr sz="1400" dirty="0"/>
          </a:p>
          <a:p>
            <a:pPr marL="914400" lvl="1" indent="-317500" algn="l" rtl="0">
              <a:spcBef>
                <a:spcPts val="0"/>
              </a:spcBef>
              <a:spcAft>
                <a:spcPts val="0"/>
              </a:spcAft>
              <a:buSzPts val="1400"/>
              <a:buChar char="○"/>
            </a:pPr>
            <a:r>
              <a:rPr lang="en" sz="1400" dirty="0"/>
              <a:t>For now </a:t>
            </a:r>
            <a:r>
              <a:rPr lang="en" sz="1400" b="1" i="1" dirty="0">
                <a:solidFill>
                  <a:srgbClr val="FF0000"/>
                </a:solidFill>
              </a:rPr>
              <a:t>do not worry</a:t>
            </a:r>
            <a:r>
              <a:rPr lang="en" sz="1400" dirty="0"/>
              <a:t> about resizing (yet).</a:t>
            </a:r>
            <a:endParaRPr sz="1400" dirty="0"/>
          </a:p>
          <a:p>
            <a:pPr marL="457200" lvl="0" indent="-330200" algn="l" rtl="0">
              <a:spcBef>
                <a:spcPts val="0"/>
              </a:spcBef>
              <a:spcAft>
                <a:spcPts val="0"/>
              </a:spcAft>
              <a:buSzPts val="1600"/>
              <a:buChar char="●"/>
            </a:pPr>
            <a:r>
              <a:rPr lang="en" sz="1600" b="1" i="1" dirty="0">
                <a:solidFill>
                  <a:srgbClr val="FF0000"/>
                </a:solidFill>
              </a:rPr>
              <a:t>Compile</a:t>
            </a:r>
            <a:r>
              <a:rPr lang="en" sz="1600" dirty="0"/>
              <a:t> your class.</a:t>
            </a:r>
            <a:endParaRPr sz="1600" dirty="0"/>
          </a:p>
          <a:p>
            <a:pPr marL="457200" lvl="0" indent="-330200" algn="l" rtl="0">
              <a:spcBef>
                <a:spcPts val="0"/>
              </a:spcBef>
              <a:spcAft>
                <a:spcPts val="0"/>
              </a:spcAft>
              <a:buSzPts val="1600"/>
              <a:buChar char="●"/>
            </a:pPr>
            <a:r>
              <a:rPr lang="en" sz="1600" b="1" i="1" dirty="0">
                <a:solidFill>
                  <a:srgbClr val="FF0000"/>
                </a:solidFill>
              </a:rPr>
              <a:t>Don't worry</a:t>
            </a:r>
            <a:r>
              <a:rPr lang="en" sz="1600" dirty="0"/>
              <a:t> about error handling at this point.</a:t>
            </a:r>
            <a:endParaRPr sz="1600" dirty="0"/>
          </a:p>
          <a:p>
            <a:pPr marL="914400" lvl="1" indent="-317500" algn="l" rtl="0">
              <a:spcBef>
                <a:spcPts val="0"/>
              </a:spcBef>
              <a:spcAft>
                <a:spcPts val="0"/>
              </a:spcAft>
              <a:buSzPts val="1400"/>
              <a:buChar char="○"/>
            </a:pPr>
            <a:r>
              <a:rPr lang="en" sz="1400" dirty="0"/>
              <a:t>What potential error(s) may occur?</a:t>
            </a:r>
            <a:endParaRPr sz="1400" dirty="0"/>
          </a:p>
          <a:p>
            <a:pPr marL="914400" lvl="1" indent="-317500" algn="l" rtl="0">
              <a:spcBef>
                <a:spcPts val="0"/>
              </a:spcBef>
              <a:spcAft>
                <a:spcPts val="0"/>
              </a:spcAft>
              <a:buSzPts val="1400"/>
              <a:buChar char="○"/>
            </a:pPr>
            <a:r>
              <a:rPr lang="en" sz="1400" dirty="0"/>
              <a:t>How might you handle the error(s) if they do occur?</a:t>
            </a:r>
            <a:endParaRPr sz="1400" dirty="0"/>
          </a:p>
          <a:p>
            <a:pPr marL="457200" lvl="0" indent="-317500" algn="l" rtl="0">
              <a:spcBef>
                <a:spcPts val="0"/>
              </a:spcBef>
              <a:spcAft>
                <a:spcPts val="0"/>
              </a:spcAft>
              <a:buSzPts val="1400"/>
              <a:buChar char="●"/>
            </a:pPr>
            <a:r>
              <a:rPr lang="en" sz="1400" dirty="0"/>
              <a:t>Use </a:t>
            </a:r>
            <a:r>
              <a:rPr lang="en" sz="1400" dirty="0">
                <a:latin typeface="Courier New"/>
                <a:ea typeface="Courier New"/>
                <a:cs typeface="Courier New"/>
                <a:sym typeface="Courier New"/>
              </a:rPr>
              <a:t>main</a:t>
            </a:r>
            <a:r>
              <a:rPr lang="en" sz="1400" dirty="0"/>
              <a:t> to enqueue a few values and print the queue.</a:t>
            </a:r>
            <a:endParaRPr sz="1400" dirty="0"/>
          </a:p>
        </p:txBody>
      </p:sp>
      <p:sp>
        <p:nvSpPr>
          <p:cNvPr id="673" name="Google Shape;673;p7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Enqueue Using an Array</a:t>
            </a:r>
            <a:endParaRPr/>
          </a:p>
        </p:txBody>
      </p:sp>
      <p:sp>
        <p:nvSpPr>
          <p:cNvPr id="674" name="Google Shape;674;p7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5.9</a:t>
            </a:r>
            <a:endParaRPr/>
          </a:p>
        </p:txBody>
      </p:sp>
      <p:graphicFrame>
        <p:nvGraphicFramePr>
          <p:cNvPr id="675" name="Google Shape;675;p79"/>
          <p:cNvGraphicFramePr/>
          <p:nvPr/>
        </p:nvGraphicFramePr>
        <p:xfrm>
          <a:off x="330171" y="2031213"/>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"a"</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"b"</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"c"</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676" name="Google Shape;676;p79"/>
          <p:cNvGrpSpPr/>
          <p:nvPr/>
        </p:nvGrpSpPr>
        <p:grpSpPr>
          <a:xfrm>
            <a:off x="247571" y="2612538"/>
            <a:ext cx="693300" cy="311400"/>
            <a:chOff x="247571" y="2364650"/>
            <a:chExt cx="693300" cy="311400"/>
          </a:xfrm>
        </p:grpSpPr>
        <p:sp>
          <p:nvSpPr>
            <p:cNvPr id="677" name="Google Shape;677;p79"/>
            <p:cNvSpPr txBox="1"/>
            <p:nvPr/>
          </p:nvSpPr>
          <p:spPr>
            <a:xfrm>
              <a:off x="247571"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p:txBody>
        </p:sp>
        <p:cxnSp>
          <p:nvCxnSpPr>
            <p:cNvPr id="678" name="Google Shape;678;p79"/>
            <p:cNvCxnSpPr>
              <a:stCxn id="677" idx="0"/>
            </p:cNvCxnSpPr>
            <p:nvPr/>
          </p:nvCxnSpPr>
          <p:spPr>
            <a:xfrm rot="10800000">
              <a:off x="594221"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nvGrpSpPr>
          <p:cNvPr id="679" name="Google Shape;679;p79"/>
          <p:cNvGrpSpPr/>
          <p:nvPr/>
        </p:nvGrpSpPr>
        <p:grpSpPr>
          <a:xfrm>
            <a:off x="1815612" y="2612538"/>
            <a:ext cx="693300" cy="311400"/>
            <a:chOff x="247559" y="2364650"/>
            <a:chExt cx="693300" cy="311400"/>
          </a:xfrm>
        </p:grpSpPr>
        <p:sp>
          <p:nvSpPr>
            <p:cNvPr id="680" name="Google Shape;680;p79"/>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81" name="Google Shape;681;p79"/>
            <p:cNvCxnSpPr>
              <a:stCxn id="680"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80"/>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Closer Look at Dequeuing</a:t>
            </a:r>
            <a:endParaRPr/>
          </a:p>
        </p:txBody>
      </p:sp>
      <p:sp>
        <p:nvSpPr>
          <p:cNvPr id="687" name="Google Shape;687;p80"/>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23</a:t>
            </a:fld>
            <a:endParaRPr/>
          </a:p>
        </p:txBody>
      </p:sp>
      <p:graphicFrame>
        <p:nvGraphicFramePr>
          <p:cNvPr id="688" name="Google Shape;688;p80"/>
          <p:cNvGraphicFramePr/>
          <p:nvPr/>
        </p:nvGraphicFramePr>
        <p:xfrm>
          <a:off x="336600" y="2138607"/>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"a"</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"b"</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"c"</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689" name="Google Shape;689;p80"/>
          <p:cNvSpPr txBox="1">
            <a:spLocks noGrp="1"/>
          </p:cNvSpPr>
          <p:nvPr>
            <p:ph type="body" idx="4294967295"/>
          </p:nvPr>
        </p:nvSpPr>
        <p:spPr>
          <a:xfrm>
            <a:off x="336625" y="1364950"/>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When </a:t>
            </a:r>
            <a:r>
              <a:rPr lang="en" sz="1200" b="1" i="1">
                <a:solidFill>
                  <a:srgbClr val="FF0000"/>
                </a:solidFill>
                <a:latin typeface="Arial"/>
                <a:ea typeface="Arial"/>
                <a:cs typeface="Arial"/>
                <a:sym typeface="Arial"/>
              </a:rPr>
              <a:t>dequeuing</a:t>
            </a:r>
            <a:r>
              <a:rPr lang="en" sz="1200">
                <a:solidFill>
                  <a:srgbClr val="000000"/>
                </a:solidFill>
                <a:latin typeface="Arial"/>
                <a:ea typeface="Arial"/>
                <a:cs typeface="Arial"/>
                <a:sym typeface="Arial"/>
              </a:rPr>
              <a:t>, the element at the </a:t>
            </a:r>
            <a:r>
              <a:rPr lang="en" sz="1200" b="1" i="1">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is returned and the front index is </a:t>
            </a:r>
            <a:r>
              <a:rPr lang="en" sz="1200" b="1" i="1">
                <a:solidFill>
                  <a:srgbClr val="FF0000"/>
                </a:solidFill>
                <a:latin typeface="Arial"/>
                <a:ea typeface="Arial"/>
                <a:cs typeface="Arial"/>
                <a:sym typeface="Arial"/>
              </a:rPr>
              <a:t>incremented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690" name="Google Shape;690;p80"/>
          <p:cNvSpPr txBox="1">
            <a:spLocks noGrp="1"/>
          </p:cNvSpPr>
          <p:nvPr>
            <p:ph type="body" idx="4294967295"/>
          </p:nvPr>
        </p:nvSpPr>
        <p:spPr>
          <a:xfrm>
            <a:off x="336625" y="3441651"/>
            <a:ext cx="2623800" cy="723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It is important to set the value at the </a:t>
            </a:r>
            <a:r>
              <a:rPr lang="en" sz="1200" b="1" i="1">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to </a:t>
            </a:r>
            <a:r>
              <a:rPr lang="en" sz="1200">
                <a:solidFill>
                  <a:srgbClr val="00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before </a:t>
            </a:r>
            <a:r>
              <a:rPr lang="en" sz="1200">
                <a:solidFill>
                  <a:srgbClr val="000000"/>
                </a:solidFill>
                <a:latin typeface="Arial"/>
                <a:ea typeface="Arial"/>
                <a:cs typeface="Arial"/>
                <a:sym typeface="Arial"/>
              </a:rPr>
              <a:t>the index is incremented.</a:t>
            </a:r>
            <a:endParaRPr sz="1200">
              <a:solidFill>
                <a:srgbClr val="000000"/>
              </a:solidFill>
              <a:latin typeface="Arial"/>
              <a:ea typeface="Arial"/>
              <a:cs typeface="Arial"/>
              <a:sym typeface="Arial"/>
            </a:endParaRPr>
          </a:p>
        </p:txBody>
      </p:sp>
      <p:sp>
        <p:nvSpPr>
          <p:cNvPr id="691" name="Google Shape;691;p80"/>
          <p:cNvSpPr txBox="1">
            <a:spLocks noGrp="1"/>
          </p:cNvSpPr>
          <p:nvPr>
            <p:ph type="body" idx="4294967295"/>
          </p:nvPr>
        </p:nvSpPr>
        <p:spPr>
          <a:xfrm>
            <a:off x="336625" y="4262683"/>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This is because keeping a reference to the value will prevent it from being </a:t>
            </a:r>
            <a:r>
              <a:rPr lang="en" sz="1200" b="1" i="1">
                <a:solidFill>
                  <a:srgbClr val="FF0000"/>
                </a:solidFill>
                <a:latin typeface="Arial"/>
                <a:ea typeface="Arial"/>
                <a:cs typeface="Arial"/>
                <a:sym typeface="Arial"/>
              </a:rPr>
              <a:t>garbage collected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692" name="Google Shape;692;p80"/>
          <p:cNvSpPr txBox="1">
            <a:spLocks noGrp="1"/>
          </p:cNvSpPr>
          <p:nvPr>
            <p:ph type="body" idx="4294967295"/>
          </p:nvPr>
        </p:nvSpPr>
        <p:spPr>
          <a:xfrm>
            <a:off x="3197675" y="1364958"/>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If after incrementing the </a:t>
            </a:r>
            <a:r>
              <a:rPr lang="en" sz="1200" b="1" i="1">
                <a:solidFill>
                  <a:srgbClr val="FF0000"/>
                </a:solidFill>
                <a:latin typeface="Arial"/>
                <a:ea typeface="Arial"/>
                <a:cs typeface="Arial"/>
                <a:sym typeface="Arial"/>
              </a:rPr>
              <a:t>front </a:t>
            </a:r>
            <a:r>
              <a:rPr lang="en" sz="1200">
                <a:solidFill>
                  <a:srgbClr val="000000"/>
                </a:solidFill>
                <a:latin typeface="Arial"/>
                <a:ea typeface="Arial"/>
                <a:cs typeface="Arial"/>
                <a:sym typeface="Arial"/>
              </a:rPr>
              <a:t>index is equal to the array length, it </a:t>
            </a:r>
            <a:r>
              <a:rPr lang="en" sz="1200" b="1" i="1">
                <a:solidFill>
                  <a:srgbClr val="FF0000"/>
                </a:solidFill>
                <a:latin typeface="Arial"/>
                <a:ea typeface="Arial"/>
                <a:cs typeface="Arial"/>
                <a:sym typeface="Arial"/>
              </a:rPr>
              <a:t>wraps around</a:t>
            </a:r>
            <a:r>
              <a:rPr lang="en" sz="1200">
                <a:solidFill>
                  <a:srgbClr val="000000"/>
                </a:solidFill>
                <a:latin typeface="Arial"/>
                <a:ea typeface="Arial"/>
                <a:cs typeface="Arial"/>
                <a:sym typeface="Arial"/>
              </a:rPr>
              <a:t> to the beginning.</a:t>
            </a:r>
            <a:endParaRPr sz="1200">
              <a:solidFill>
                <a:srgbClr val="000000"/>
              </a:solidFill>
              <a:latin typeface="Arial"/>
              <a:ea typeface="Arial"/>
              <a:cs typeface="Arial"/>
              <a:sym typeface="Arial"/>
            </a:endParaRPr>
          </a:p>
        </p:txBody>
      </p:sp>
      <p:graphicFrame>
        <p:nvGraphicFramePr>
          <p:cNvPr id="693" name="Google Shape;693;p80"/>
          <p:cNvGraphicFramePr/>
          <p:nvPr/>
        </p:nvGraphicFramePr>
        <p:xfrm>
          <a:off x="3193624" y="2138607"/>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"d"</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"f"</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694" name="Google Shape;694;p80"/>
          <p:cNvGrpSpPr/>
          <p:nvPr/>
        </p:nvGrpSpPr>
        <p:grpSpPr>
          <a:xfrm>
            <a:off x="4165917" y="2725409"/>
            <a:ext cx="2204429" cy="311400"/>
            <a:chOff x="6909118" y="2751127"/>
            <a:chExt cx="2204429" cy="311400"/>
          </a:xfrm>
        </p:grpSpPr>
        <p:grpSp>
          <p:nvGrpSpPr>
            <p:cNvPr id="695" name="Google Shape;695;p80"/>
            <p:cNvGrpSpPr/>
            <p:nvPr/>
          </p:nvGrpSpPr>
          <p:grpSpPr>
            <a:xfrm>
              <a:off x="6909118" y="2751127"/>
              <a:ext cx="693300" cy="311400"/>
              <a:chOff x="247571" y="2364650"/>
              <a:chExt cx="693300" cy="311400"/>
            </a:xfrm>
          </p:grpSpPr>
          <p:sp>
            <p:nvSpPr>
              <p:cNvPr id="696" name="Google Shape;696;p80"/>
              <p:cNvSpPr txBox="1"/>
              <p:nvPr/>
            </p:nvSpPr>
            <p:spPr>
              <a:xfrm>
                <a:off x="247571"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697" name="Google Shape;697;p80"/>
              <p:cNvCxnSpPr>
                <a:stCxn id="696" idx="0"/>
              </p:cNvCxnSpPr>
              <p:nvPr/>
            </p:nvCxnSpPr>
            <p:spPr>
              <a:xfrm rot="10800000">
                <a:off x="594221"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nvGrpSpPr>
            <p:cNvPr id="698" name="Google Shape;698;p80"/>
            <p:cNvGrpSpPr/>
            <p:nvPr/>
          </p:nvGrpSpPr>
          <p:grpSpPr>
            <a:xfrm>
              <a:off x="8420247" y="2751127"/>
              <a:ext cx="693300" cy="311400"/>
              <a:chOff x="247559" y="2364650"/>
              <a:chExt cx="693300" cy="311400"/>
            </a:xfrm>
          </p:grpSpPr>
          <p:sp>
            <p:nvSpPr>
              <p:cNvPr id="699" name="Google Shape;699;p80"/>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p:txBody>
          </p:sp>
          <p:cxnSp>
            <p:nvCxnSpPr>
              <p:cNvPr id="700" name="Google Shape;700;p80"/>
              <p:cNvCxnSpPr>
                <a:stCxn id="699"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grpSp>
        <p:nvGrpSpPr>
          <p:cNvPr id="701" name="Google Shape;701;p80"/>
          <p:cNvGrpSpPr/>
          <p:nvPr/>
        </p:nvGrpSpPr>
        <p:grpSpPr>
          <a:xfrm>
            <a:off x="3109124" y="2717325"/>
            <a:ext cx="693300" cy="311400"/>
            <a:chOff x="106129" y="3472896"/>
            <a:chExt cx="693300" cy="311400"/>
          </a:xfrm>
        </p:grpSpPr>
        <p:sp>
          <p:nvSpPr>
            <p:cNvPr id="702" name="Google Shape;702;p80"/>
            <p:cNvSpPr txBox="1"/>
            <p:nvPr/>
          </p:nvSpPr>
          <p:spPr>
            <a:xfrm>
              <a:off x="106129" y="3628596"/>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p:txBody>
        </p:sp>
        <p:cxnSp>
          <p:nvCxnSpPr>
            <p:cNvPr id="703" name="Google Shape;703;p80"/>
            <p:cNvCxnSpPr>
              <a:stCxn id="702" idx="0"/>
            </p:cNvCxnSpPr>
            <p:nvPr/>
          </p:nvCxnSpPr>
          <p:spPr>
            <a:xfrm rot="10800000">
              <a:off x="452779" y="3472896"/>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704" name="Google Shape;704;p80"/>
          <p:cNvSpPr txBox="1"/>
          <p:nvPr/>
        </p:nvSpPr>
        <p:spPr>
          <a:xfrm>
            <a:off x="5761025" y="2714671"/>
            <a:ext cx="465600" cy="3279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0000"/>
              </a:solidFill>
              <a:latin typeface="Consolas"/>
              <a:ea typeface="Consolas"/>
              <a:cs typeface="Consolas"/>
              <a:sym typeface="Consolas"/>
            </a:endParaRPr>
          </a:p>
        </p:txBody>
      </p:sp>
      <p:sp>
        <p:nvSpPr>
          <p:cNvPr id="705" name="Google Shape;705;p80"/>
          <p:cNvSpPr/>
          <p:nvPr/>
        </p:nvSpPr>
        <p:spPr>
          <a:xfrm>
            <a:off x="2988684" y="2951358"/>
            <a:ext cx="3367775" cy="264625"/>
          </a:xfrm>
          <a:custGeom>
            <a:avLst/>
            <a:gdLst/>
            <a:ahLst/>
            <a:cxnLst/>
            <a:rect l="l" t="t" r="r" b="b"/>
            <a:pathLst>
              <a:path w="134711" h="10585" extrusionOk="0">
                <a:moveTo>
                  <a:pt x="127430" y="257"/>
                </a:moveTo>
                <a:cubicBezTo>
                  <a:pt x="128416" y="643"/>
                  <a:pt x="138146" y="986"/>
                  <a:pt x="133345" y="2572"/>
                </a:cubicBezTo>
                <a:cubicBezTo>
                  <a:pt x="128544" y="4158"/>
                  <a:pt x="114828" y="8616"/>
                  <a:pt x="98626" y="9773"/>
                </a:cubicBezTo>
                <a:cubicBezTo>
                  <a:pt x="82424" y="10930"/>
                  <a:pt x="52420" y="10802"/>
                  <a:pt x="36132" y="9516"/>
                </a:cubicBezTo>
                <a:cubicBezTo>
                  <a:pt x="19844" y="8230"/>
                  <a:pt x="5100" y="3644"/>
                  <a:pt x="899" y="2058"/>
                </a:cubicBezTo>
                <a:cubicBezTo>
                  <a:pt x="-3301" y="472"/>
                  <a:pt x="9257" y="343"/>
                  <a:pt x="10929" y="0"/>
                </a:cubicBezTo>
              </a:path>
            </a:pathLst>
          </a:cu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80"/>
          <p:cNvSpPr txBox="1">
            <a:spLocks noGrp="1"/>
          </p:cNvSpPr>
          <p:nvPr>
            <p:ph type="body" idx="4294967295"/>
          </p:nvPr>
        </p:nvSpPr>
        <p:spPr>
          <a:xfrm>
            <a:off x="3197675" y="3365449"/>
            <a:ext cx="2623800" cy="502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If the </a:t>
            </a:r>
            <a:r>
              <a:rPr lang="en" sz="1200">
                <a:solidFill>
                  <a:srgbClr val="FF0000"/>
                </a:solidFill>
                <a:latin typeface="Courier New"/>
                <a:ea typeface="Courier New"/>
                <a:cs typeface="Courier New"/>
                <a:sym typeface="Courier New"/>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a:t>
            </a:r>
            <a:r>
              <a:rPr lang="en" sz="1200">
                <a:solidFill>
                  <a:srgbClr val="FF0000"/>
                </a:solidFill>
                <a:latin typeface="Courier New"/>
                <a:ea typeface="Courier New"/>
                <a:cs typeface="Courier New"/>
                <a:sym typeface="Courier New"/>
              </a:rPr>
              <a:t>0</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after a dequeue, the queue is </a:t>
            </a:r>
            <a:r>
              <a:rPr lang="en" sz="1200" b="1" i="1">
                <a:solidFill>
                  <a:srgbClr val="FF0000"/>
                </a:solidFill>
                <a:latin typeface="Arial"/>
                <a:ea typeface="Arial"/>
                <a:cs typeface="Arial"/>
                <a:sym typeface="Arial"/>
              </a:rPr>
              <a:t>empty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aphicFrame>
        <p:nvGraphicFramePr>
          <p:cNvPr id="707" name="Google Shape;707;p80"/>
          <p:cNvGraphicFramePr/>
          <p:nvPr/>
        </p:nvGraphicFramePr>
        <p:xfrm>
          <a:off x="3193624" y="3973837"/>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708" name="Google Shape;708;p80"/>
          <p:cNvGrpSpPr/>
          <p:nvPr/>
        </p:nvGrpSpPr>
        <p:grpSpPr>
          <a:xfrm>
            <a:off x="4165273" y="4542019"/>
            <a:ext cx="693300" cy="502800"/>
            <a:chOff x="253994" y="2345362"/>
            <a:chExt cx="693300" cy="502800"/>
          </a:xfrm>
        </p:grpSpPr>
        <p:sp>
          <p:nvSpPr>
            <p:cNvPr id="709" name="Google Shape;709;p80"/>
            <p:cNvSpPr txBox="1"/>
            <p:nvPr/>
          </p:nvSpPr>
          <p:spPr>
            <a:xfrm>
              <a:off x="253994" y="2501062"/>
              <a:ext cx="693300" cy="34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710" name="Google Shape;710;p80"/>
            <p:cNvCxnSpPr>
              <a:stCxn id="709" idx="0"/>
            </p:cNvCxnSpPr>
            <p:nvPr/>
          </p:nvCxnSpPr>
          <p:spPr>
            <a:xfrm rot="10800000">
              <a:off x="600644" y="2345362"/>
              <a:ext cx="0" cy="155700"/>
            </a:xfrm>
            <a:prstGeom prst="straightConnector1">
              <a:avLst/>
            </a:prstGeom>
            <a:noFill/>
            <a:ln w="19050" cap="flat" cmpd="sng">
              <a:solidFill>
                <a:srgbClr val="000000"/>
              </a:solidFill>
              <a:prstDash val="solid"/>
              <a:round/>
              <a:headEnd type="none" w="sm" len="sm"/>
              <a:tailEnd type="triangle" w="med" len="med"/>
            </a:ln>
          </p:spPr>
        </p:cxnSp>
      </p:grpSp>
      <p:grpSp>
        <p:nvGrpSpPr>
          <p:cNvPr id="711" name="Google Shape;711;p80"/>
          <p:cNvGrpSpPr/>
          <p:nvPr/>
        </p:nvGrpSpPr>
        <p:grpSpPr>
          <a:xfrm>
            <a:off x="1301500" y="2727314"/>
            <a:ext cx="693300" cy="311400"/>
            <a:chOff x="247559" y="2364650"/>
            <a:chExt cx="693300" cy="311400"/>
          </a:xfrm>
        </p:grpSpPr>
        <p:sp>
          <p:nvSpPr>
            <p:cNvPr id="712" name="Google Shape;712;p80"/>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713" name="Google Shape;713;p80"/>
            <p:cNvCxnSpPr>
              <a:stCxn id="712"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nvGrpSpPr>
          <p:cNvPr id="714" name="Google Shape;714;p80"/>
          <p:cNvGrpSpPr/>
          <p:nvPr/>
        </p:nvGrpSpPr>
        <p:grpSpPr>
          <a:xfrm>
            <a:off x="247571" y="2727314"/>
            <a:ext cx="693300" cy="311400"/>
            <a:chOff x="247571" y="2364650"/>
            <a:chExt cx="693300" cy="311400"/>
          </a:xfrm>
        </p:grpSpPr>
        <p:sp>
          <p:nvSpPr>
            <p:cNvPr id="715" name="Google Shape;715;p80"/>
            <p:cNvSpPr txBox="1"/>
            <p:nvPr/>
          </p:nvSpPr>
          <p:spPr>
            <a:xfrm>
              <a:off x="247571"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p:txBody>
        </p:sp>
        <p:cxnSp>
          <p:nvCxnSpPr>
            <p:cNvPr id="716" name="Google Shape;716;p80"/>
            <p:cNvCxnSpPr>
              <a:stCxn id="715" idx="0"/>
            </p:cNvCxnSpPr>
            <p:nvPr/>
          </p:nvCxnSpPr>
          <p:spPr>
            <a:xfrm rot="10800000">
              <a:off x="594221" y="2364650"/>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717" name="Google Shape;717;p80"/>
          <p:cNvSpPr txBox="1"/>
          <p:nvPr/>
        </p:nvSpPr>
        <p:spPr>
          <a:xfrm>
            <a:off x="356288" y="2186283"/>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null</a:t>
            </a:r>
            <a:endParaRPr sz="1000" b="0" i="0" u="none" strike="noStrike" cap="none">
              <a:solidFill>
                <a:srgbClr val="FF0000"/>
              </a:solidFill>
              <a:latin typeface="Consolas"/>
              <a:ea typeface="Consolas"/>
              <a:cs typeface="Consolas"/>
              <a:sym typeface="Consolas"/>
            </a:endParaRPr>
          </a:p>
        </p:txBody>
      </p:sp>
      <p:grpSp>
        <p:nvGrpSpPr>
          <p:cNvPr id="718" name="Google Shape;718;p80"/>
          <p:cNvGrpSpPr/>
          <p:nvPr/>
        </p:nvGrpSpPr>
        <p:grpSpPr>
          <a:xfrm>
            <a:off x="780971" y="2727314"/>
            <a:ext cx="693300" cy="311400"/>
            <a:chOff x="247571" y="2364650"/>
            <a:chExt cx="693300" cy="311400"/>
          </a:xfrm>
        </p:grpSpPr>
        <p:sp>
          <p:nvSpPr>
            <p:cNvPr id="719" name="Google Shape;719;p80"/>
            <p:cNvSpPr txBox="1"/>
            <p:nvPr/>
          </p:nvSpPr>
          <p:spPr>
            <a:xfrm>
              <a:off x="247571"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p:txBody>
        </p:sp>
        <p:cxnSp>
          <p:nvCxnSpPr>
            <p:cNvPr id="720" name="Google Shape;720;p80"/>
            <p:cNvCxnSpPr>
              <a:stCxn id="719" idx="0"/>
            </p:cNvCxnSpPr>
            <p:nvPr/>
          </p:nvCxnSpPr>
          <p:spPr>
            <a:xfrm rot="10800000">
              <a:off x="594221" y="2364650"/>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721" name="Google Shape;721;p80"/>
          <p:cNvSpPr txBox="1"/>
          <p:nvPr/>
        </p:nvSpPr>
        <p:spPr>
          <a:xfrm>
            <a:off x="361425" y="2701664"/>
            <a:ext cx="465600" cy="3279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0000"/>
              </a:solidFill>
              <a:latin typeface="Consolas"/>
              <a:ea typeface="Consolas"/>
              <a:cs typeface="Consolas"/>
              <a:sym typeface="Consolas"/>
            </a:endParaRPr>
          </a:p>
        </p:txBody>
      </p:sp>
      <p:sp>
        <p:nvSpPr>
          <p:cNvPr id="722" name="Google Shape;722;p80"/>
          <p:cNvSpPr txBox="1">
            <a:spLocks noGrp="1"/>
          </p:cNvSpPr>
          <p:nvPr>
            <p:ph type="body" idx="4294967295"/>
          </p:nvPr>
        </p:nvSpPr>
        <p:spPr>
          <a:xfrm>
            <a:off x="6398075" y="1359481"/>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There are at least two ways to handle calling </a:t>
            </a:r>
            <a:r>
              <a:rPr lang="en" sz="1200" b="1" i="1">
                <a:solidFill>
                  <a:srgbClr val="FF0000"/>
                </a:solidFill>
                <a:latin typeface="Arial"/>
                <a:ea typeface="Arial"/>
                <a:cs typeface="Arial"/>
                <a:sym typeface="Arial"/>
              </a:rPr>
              <a:t>dequeue</a:t>
            </a:r>
            <a:r>
              <a:rPr lang="en" sz="1200">
                <a:solidFill>
                  <a:srgbClr val="000000"/>
                </a:solidFill>
                <a:latin typeface="Arial"/>
                <a:ea typeface="Arial"/>
                <a:cs typeface="Arial"/>
                <a:sym typeface="Arial"/>
              </a:rPr>
              <a:t> on an </a:t>
            </a:r>
            <a:r>
              <a:rPr lang="en" sz="1200" b="1" i="1">
                <a:solidFill>
                  <a:srgbClr val="FF0000"/>
                </a:solidFill>
                <a:latin typeface="Arial"/>
                <a:ea typeface="Arial"/>
                <a:cs typeface="Arial"/>
                <a:sym typeface="Arial"/>
              </a:rPr>
              <a:t>empty queue</a:t>
            </a:r>
            <a:r>
              <a:rPr lang="en" sz="1200">
                <a:solidFill>
                  <a:srgbClr val="000000"/>
                </a:solidFill>
                <a:latin typeface="Arial"/>
                <a:ea typeface="Arial"/>
                <a:cs typeface="Arial"/>
                <a:sym typeface="Arial"/>
              </a:rPr>
              <a:t>... </a:t>
            </a:r>
            <a:endParaRPr sz="1200">
              <a:solidFill>
                <a:srgbClr val="000000"/>
              </a:solidFill>
              <a:latin typeface="Arial"/>
              <a:ea typeface="Arial"/>
              <a:cs typeface="Arial"/>
              <a:sym typeface="Arial"/>
            </a:endParaRPr>
          </a:p>
        </p:txBody>
      </p:sp>
      <p:graphicFrame>
        <p:nvGraphicFramePr>
          <p:cNvPr id="723" name="Google Shape;723;p80"/>
          <p:cNvGraphicFramePr/>
          <p:nvPr/>
        </p:nvGraphicFramePr>
        <p:xfrm>
          <a:off x="6394024" y="2120272"/>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724" name="Google Shape;724;p80"/>
          <p:cNvGrpSpPr/>
          <p:nvPr/>
        </p:nvGrpSpPr>
        <p:grpSpPr>
          <a:xfrm>
            <a:off x="7365673" y="2688454"/>
            <a:ext cx="693300" cy="502800"/>
            <a:chOff x="253994" y="2345362"/>
            <a:chExt cx="693300" cy="502800"/>
          </a:xfrm>
        </p:grpSpPr>
        <p:sp>
          <p:nvSpPr>
            <p:cNvPr id="725" name="Google Shape;725;p80"/>
            <p:cNvSpPr txBox="1"/>
            <p:nvPr/>
          </p:nvSpPr>
          <p:spPr>
            <a:xfrm>
              <a:off x="253994" y="2501062"/>
              <a:ext cx="693300" cy="34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726" name="Google Shape;726;p80"/>
            <p:cNvCxnSpPr>
              <a:stCxn id="725" idx="0"/>
            </p:cNvCxnSpPr>
            <p:nvPr/>
          </p:nvCxnSpPr>
          <p:spPr>
            <a:xfrm rot="10800000">
              <a:off x="600644" y="2345362"/>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727" name="Google Shape;727;p80"/>
          <p:cNvSpPr txBox="1">
            <a:spLocks noGrp="1"/>
          </p:cNvSpPr>
          <p:nvPr>
            <p:ph type="body" idx="4294967295"/>
          </p:nvPr>
        </p:nvSpPr>
        <p:spPr>
          <a:xfrm>
            <a:off x="6398075" y="3264473"/>
            <a:ext cx="2623800" cy="844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easiest is to simply </a:t>
            </a:r>
            <a:r>
              <a:rPr lang="en" sz="1200" b="1" i="1">
                <a:solidFill>
                  <a:srgbClr val="FF0000"/>
                </a:solidFill>
                <a:latin typeface="Arial"/>
                <a:ea typeface="Arial"/>
                <a:cs typeface="Arial"/>
                <a:sym typeface="Arial"/>
              </a:rPr>
              <a:t>return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But this obfuscates the problem because it is possible to </a:t>
            </a:r>
            <a:r>
              <a:rPr lang="en" sz="1200" b="1" i="1">
                <a:solidFill>
                  <a:srgbClr val="FF0000"/>
                </a:solidFill>
                <a:latin typeface="Arial"/>
                <a:ea typeface="Arial"/>
                <a:cs typeface="Arial"/>
                <a:sym typeface="Arial"/>
              </a:rPr>
              <a:t>enqueue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 </a:t>
            </a:r>
            <a:r>
              <a:rPr lang="en" sz="1200">
                <a:solidFill>
                  <a:srgbClr val="00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value.</a:t>
            </a:r>
            <a:endParaRPr sz="1200">
              <a:solidFill>
                <a:srgbClr val="000000"/>
              </a:solidFill>
              <a:latin typeface="Arial"/>
              <a:ea typeface="Arial"/>
              <a:cs typeface="Arial"/>
              <a:sym typeface="Arial"/>
            </a:endParaRPr>
          </a:p>
        </p:txBody>
      </p:sp>
      <p:sp>
        <p:nvSpPr>
          <p:cNvPr id="728" name="Google Shape;728;p80"/>
          <p:cNvSpPr txBox="1">
            <a:spLocks noGrp="1"/>
          </p:cNvSpPr>
          <p:nvPr>
            <p:ph type="body" idx="4294967295"/>
          </p:nvPr>
        </p:nvSpPr>
        <p:spPr>
          <a:xfrm>
            <a:off x="6400425" y="4217949"/>
            <a:ext cx="2623800" cy="544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Alternatively, an </a:t>
            </a:r>
            <a:r>
              <a:rPr lang="en" sz="1200" b="1" i="1">
                <a:solidFill>
                  <a:srgbClr val="FF0000"/>
                </a:solidFill>
                <a:latin typeface="Arial"/>
                <a:ea typeface="Arial"/>
                <a:cs typeface="Arial"/>
                <a:sym typeface="Arial"/>
              </a:rPr>
              <a:t>exception</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may be thrown. </a:t>
            </a:r>
            <a:endParaRPr sz="12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8"/>
                                        </p:tgtEl>
                                        <p:attrNameLst>
                                          <p:attrName>style.visibility</p:attrName>
                                        </p:attrNameLst>
                                      </p:cBhvr>
                                      <p:to>
                                        <p:strVal val="visible"/>
                                      </p:to>
                                    </p:set>
                                    <p:animEffect transition="in" filter="fade">
                                      <p:cBhvr>
                                        <p:cTn id="7" dur="1000"/>
                                        <p:tgtEl>
                                          <p:spTgt spid="688"/>
                                        </p:tgtEl>
                                      </p:cBhvr>
                                    </p:animEffect>
                                  </p:childTnLst>
                                </p:cTn>
                              </p:par>
                              <p:par>
                                <p:cTn id="8" presetID="10" presetClass="entr" presetSubtype="0" fill="hold" nodeType="withEffect">
                                  <p:stCondLst>
                                    <p:cond delay="0"/>
                                  </p:stCondLst>
                                  <p:childTnLst>
                                    <p:set>
                                      <p:cBhvr>
                                        <p:cTn id="9" dur="1" fill="hold">
                                          <p:stCondLst>
                                            <p:cond delay="0"/>
                                          </p:stCondLst>
                                        </p:cTn>
                                        <p:tgtEl>
                                          <p:spTgt spid="689"/>
                                        </p:tgtEl>
                                        <p:attrNameLst>
                                          <p:attrName>style.visibility</p:attrName>
                                        </p:attrNameLst>
                                      </p:cBhvr>
                                      <p:to>
                                        <p:strVal val="visible"/>
                                      </p:to>
                                    </p:set>
                                    <p:animEffect transition="in" filter="fade">
                                      <p:cBhvr>
                                        <p:cTn id="10" dur="1000"/>
                                        <p:tgtEl>
                                          <p:spTgt spid="689"/>
                                        </p:tgtEl>
                                      </p:cBhvr>
                                    </p:animEffect>
                                  </p:childTnLst>
                                </p:cTn>
                              </p:par>
                              <p:par>
                                <p:cTn id="11" presetID="10" presetClass="entr" presetSubtype="0" fill="hold" nodeType="withEffect">
                                  <p:stCondLst>
                                    <p:cond delay="0"/>
                                  </p:stCondLst>
                                  <p:childTnLst>
                                    <p:set>
                                      <p:cBhvr>
                                        <p:cTn id="12" dur="1" fill="hold">
                                          <p:stCondLst>
                                            <p:cond delay="0"/>
                                          </p:stCondLst>
                                        </p:cTn>
                                        <p:tgtEl>
                                          <p:spTgt spid="714"/>
                                        </p:tgtEl>
                                        <p:attrNameLst>
                                          <p:attrName>style.visibility</p:attrName>
                                        </p:attrNameLst>
                                      </p:cBhvr>
                                      <p:to>
                                        <p:strVal val="visible"/>
                                      </p:to>
                                    </p:set>
                                    <p:animEffect transition="in" filter="fade">
                                      <p:cBhvr>
                                        <p:cTn id="13" dur="1000"/>
                                        <p:tgtEl>
                                          <p:spTgt spid="714"/>
                                        </p:tgtEl>
                                      </p:cBhvr>
                                    </p:animEffect>
                                  </p:childTnLst>
                                </p:cTn>
                              </p:par>
                              <p:par>
                                <p:cTn id="14" presetID="10" presetClass="entr" presetSubtype="0" fill="hold" nodeType="withEffect">
                                  <p:stCondLst>
                                    <p:cond delay="0"/>
                                  </p:stCondLst>
                                  <p:childTnLst>
                                    <p:set>
                                      <p:cBhvr>
                                        <p:cTn id="15" dur="1" fill="hold">
                                          <p:stCondLst>
                                            <p:cond delay="0"/>
                                          </p:stCondLst>
                                        </p:cTn>
                                        <p:tgtEl>
                                          <p:spTgt spid="711"/>
                                        </p:tgtEl>
                                        <p:attrNameLst>
                                          <p:attrName>style.visibility</p:attrName>
                                        </p:attrNameLst>
                                      </p:cBhvr>
                                      <p:to>
                                        <p:strVal val="visible"/>
                                      </p:to>
                                    </p:set>
                                    <p:animEffect transition="in" filter="fade">
                                      <p:cBhvr>
                                        <p:cTn id="16" dur="1000"/>
                                        <p:tgtEl>
                                          <p:spTgt spid="7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90"/>
                                        </p:tgtEl>
                                        <p:attrNameLst>
                                          <p:attrName>style.visibility</p:attrName>
                                        </p:attrNameLst>
                                      </p:cBhvr>
                                      <p:to>
                                        <p:strVal val="visible"/>
                                      </p:to>
                                    </p:set>
                                    <p:animEffect transition="in" filter="fade">
                                      <p:cBhvr>
                                        <p:cTn id="21" dur="1000"/>
                                        <p:tgtEl>
                                          <p:spTgt spid="690"/>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717"/>
                                        </p:tgtEl>
                                        <p:attrNameLst>
                                          <p:attrName>style.visibility</p:attrName>
                                        </p:attrNameLst>
                                      </p:cBhvr>
                                      <p:to>
                                        <p:strVal val="visible"/>
                                      </p:to>
                                    </p:set>
                                    <p:animEffect transition="in" filter="fade">
                                      <p:cBhvr>
                                        <p:cTn id="25" dur="1000"/>
                                        <p:tgtEl>
                                          <p:spTgt spid="71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91"/>
                                        </p:tgtEl>
                                        <p:attrNameLst>
                                          <p:attrName>style.visibility</p:attrName>
                                        </p:attrNameLst>
                                      </p:cBhvr>
                                      <p:to>
                                        <p:strVal val="visible"/>
                                      </p:to>
                                    </p:set>
                                    <p:animEffect transition="in" filter="fade">
                                      <p:cBhvr>
                                        <p:cTn id="30" dur="1000"/>
                                        <p:tgtEl>
                                          <p:spTgt spid="691"/>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721"/>
                                        </p:tgtEl>
                                        <p:attrNameLst>
                                          <p:attrName>style.visibility</p:attrName>
                                        </p:attrNameLst>
                                      </p:cBhvr>
                                      <p:to>
                                        <p:strVal val="visible"/>
                                      </p:to>
                                    </p:set>
                                    <p:animEffect transition="in" filter="fade">
                                      <p:cBhvr>
                                        <p:cTn id="34" dur="1000"/>
                                        <p:tgtEl>
                                          <p:spTgt spid="721"/>
                                        </p:tgtEl>
                                      </p:cBhvr>
                                    </p:animEffect>
                                  </p:childTnLst>
                                </p:cTn>
                              </p:par>
                            </p:childTnLst>
                          </p:cTn>
                        </p:par>
                        <p:par>
                          <p:cTn id="35" fill="hold">
                            <p:stCondLst>
                              <p:cond delay="2000"/>
                            </p:stCondLst>
                            <p:childTnLst>
                              <p:par>
                                <p:cTn id="36" presetID="10" presetClass="entr" presetSubtype="0" fill="hold" nodeType="afterEffect">
                                  <p:stCondLst>
                                    <p:cond delay="0"/>
                                  </p:stCondLst>
                                  <p:childTnLst>
                                    <p:set>
                                      <p:cBhvr>
                                        <p:cTn id="37" dur="1" fill="hold">
                                          <p:stCondLst>
                                            <p:cond delay="0"/>
                                          </p:stCondLst>
                                        </p:cTn>
                                        <p:tgtEl>
                                          <p:spTgt spid="718"/>
                                        </p:tgtEl>
                                        <p:attrNameLst>
                                          <p:attrName>style.visibility</p:attrName>
                                        </p:attrNameLst>
                                      </p:cBhvr>
                                      <p:to>
                                        <p:strVal val="visible"/>
                                      </p:to>
                                    </p:set>
                                    <p:animEffect transition="in" filter="fade">
                                      <p:cBhvr>
                                        <p:cTn id="38" dur="1000"/>
                                        <p:tgtEl>
                                          <p:spTgt spid="71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92"/>
                                        </p:tgtEl>
                                        <p:attrNameLst>
                                          <p:attrName>style.visibility</p:attrName>
                                        </p:attrNameLst>
                                      </p:cBhvr>
                                      <p:to>
                                        <p:strVal val="visible"/>
                                      </p:to>
                                    </p:set>
                                    <p:animEffect transition="in" filter="fade">
                                      <p:cBhvr>
                                        <p:cTn id="43" dur="1000"/>
                                        <p:tgtEl>
                                          <p:spTgt spid="692"/>
                                        </p:tgtEl>
                                      </p:cBhvr>
                                    </p:animEffect>
                                  </p:childTnLst>
                                </p:cTn>
                              </p:par>
                              <p:par>
                                <p:cTn id="44" presetID="10" presetClass="entr" presetSubtype="0" fill="hold" nodeType="withEffect">
                                  <p:stCondLst>
                                    <p:cond delay="0"/>
                                  </p:stCondLst>
                                  <p:childTnLst>
                                    <p:set>
                                      <p:cBhvr>
                                        <p:cTn id="45" dur="1" fill="hold">
                                          <p:stCondLst>
                                            <p:cond delay="0"/>
                                          </p:stCondLst>
                                        </p:cTn>
                                        <p:tgtEl>
                                          <p:spTgt spid="693"/>
                                        </p:tgtEl>
                                        <p:attrNameLst>
                                          <p:attrName>style.visibility</p:attrName>
                                        </p:attrNameLst>
                                      </p:cBhvr>
                                      <p:to>
                                        <p:strVal val="visible"/>
                                      </p:to>
                                    </p:set>
                                    <p:animEffect transition="in" filter="fade">
                                      <p:cBhvr>
                                        <p:cTn id="46" dur="1000"/>
                                        <p:tgtEl>
                                          <p:spTgt spid="693"/>
                                        </p:tgtEl>
                                      </p:cBhvr>
                                    </p:animEffect>
                                  </p:childTnLst>
                                </p:cTn>
                              </p:par>
                              <p:par>
                                <p:cTn id="47" presetID="10" presetClass="entr" presetSubtype="0" fill="hold" nodeType="withEffect">
                                  <p:stCondLst>
                                    <p:cond delay="0"/>
                                  </p:stCondLst>
                                  <p:childTnLst>
                                    <p:set>
                                      <p:cBhvr>
                                        <p:cTn id="48" dur="1" fill="hold">
                                          <p:stCondLst>
                                            <p:cond delay="0"/>
                                          </p:stCondLst>
                                        </p:cTn>
                                        <p:tgtEl>
                                          <p:spTgt spid="694"/>
                                        </p:tgtEl>
                                        <p:attrNameLst>
                                          <p:attrName>style.visibility</p:attrName>
                                        </p:attrNameLst>
                                      </p:cBhvr>
                                      <p:to>
                                        <p:strVal val="visible"/>
                                      </p:to>
                                    </p:set>
                                    <p:animEffect transition="in" filter="fade">
                                      <p:cBhvr>
                                        <p:cTn id="49" dur="1000"/>
                                        <p:tgtEl>
                                          <p:spTgt spid="694"/>
                                        </p:tgtEl>
                                      </p:cBhvr>
                                    </p:animEffect>
                                  </p:childTnLst>
                                </p:cTn>
                              </p:par>
                            </p:childTnLst>
                          </p:cTn>
                        </p:par>
                        <p:par>
                          <p:cTn id="50" fill="hold">
                            <p:stCondLst>
                              <p:cond delay="1000"/>
                            </p:stCondLst>
                            <p:childTnLst>
                              <p:par>
                                <p:cTn id="51" presetID="10" presetClass="entr" presetSubtype="0" fill="hold" nodeType="afterEffect">
                                  <p:stCondLst>
                                    <p:cond delay="0"/>
                                  </p:stCondLst>
                                  <p:childTnLst>
                                    <p:set>
                                      <p:cBhvr>
                                        <p:cTn id="52" dur="1" fill="hold">
                                          <p:stCondLst>
                                            <p:cond delay="0"/>
                                          </p:stCondLst>
                                        </p:cTn>
                                        <p:tgtEl>
                                          <p:spTgt spid="705"/>
                                        </p:tgtEl>
                                        <p:attrNameLst>
                                          <p:attrName>style.visibility</p:attrName>
                                        </p:attrNameLst>
                                      </p:cBhvr>
                                      <p:to>
                                        <p:strVal val="visible"/>
                                      </p:to>
                                    </p:set>
                                    <p:animEffect transition="in" filter="fade">
                                      <p:cBhvr>
                                        <p:cTn id="53" dur="1000"/>
                                        <p:tgtEl>
                                          <p:spTgt spid="705"/>
                                        </p:tgtEl>
                                      </p:cBhvr>
                                    </p:animEffect>
                                  </p:childTnLst>
                                </p:cTn>
                              </p:par>
                            </p:childTnLst>
                          </p:cTn>
                        </p:par>
                        <p:par>
                          <p:cTn id="54" fill="hold">
                            <p:stCondLst>
                              <p:cond delay="2000"/>
                            </p:stCondLst>
                            <p:childTnLst>
                              <p:par>
                                <p:cTn id="55" presetID="10" presetClass="entr" presetSubtype="0" fill="hold" nodeType="afterEffect">
                                  <p:stCondLst>
                                    <p:cond delay="0"/>
                                  </p:stCondLst>
                                  <p:childTnLst>
                                    <p:set>
                                      <p:cBhvr>
                                        <p:cTn id="56" dur="1" fill="hold">
                                          <p:stCondLst>
                                            <p:cond delay="0"/>
                                          </p:stCondLst>
                                        </p:cTn>
                                        <p:tgtEl>
                                          <p:spTgt spid="704"/>
                                        </p:tgtEl>
                                        <p:attrNameLst>
                                          <p:attrName>style.visibility</p:attrName>
                                        </p:attrNameLst>
                                      </p:cBhvr>
                                      <p:to>
                                        <p:strVal val="visible"/>
                                      </p:to>
                                    </p:set>
                                    <p:animEffect transition="in" filter="fade">
                                      <p:cBhvr>
                                        <p:cTn id="57" dur="1000"/>
                                        <p:tgtEl>
                                          <p:spTgt spid="704"/>
                                        </p:tgtEl>
                                      </p:cBhvr>
                                    </p:animEffect>
                                  </p:childTnLst>
                                </p:cTn>
                              </p:par>
                            </p:childTnLst>
                          </p:cTn>
                        </p:par>
                        <p:par>
                          <p:cTn id="58" fill="hold">
                            <p:stCondLst>
                              <p:cond delay="3000"/>
                            </p:stCondLst>
                            <p:childTnLst>
                              <p:par>
                                <p:cTn id="59" presetID="10" presetClass="entr" presetSubtype="0" fill="hold" nodeType="afterEffect">
                                  <p:stCondLst>
                                    <p:cond delay="0"/>
                                  </p:stCondLst>
                                  <p:childTnLst>
                                    <p:set>
                                      <p:cBhvr>
                                        <p:cTn id="60" dur="1" fill="hold">
                                          <p:stCondLst>
                                            <p:cond delay="0"/>
                                          </p:stCondLst>
                                        </p:cTn>
                                        <p:tgtEl>
                                          <p:spTgt spid="701"/>
                                        </p:tgtEl>
                                        <p:attrNameLst>
                                          <p:attrName>style.visibility</p:attrName>
                                        </p:attrNameLst>
                                      </p:cBhvr>
                                      <p:to>
                                        <p:strVal val="visible"/>
                                      </p:to>
                                    </p:set>
                                    <p:animEffect transition="in" filter="fade">
                                      <p:cBhvr>
                                        <p:cTn id="61" dur="1000"/>
                                        <p:tgtEl>
                                          <p:spTgt spid="70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06"/>
                                        </p:tgtEl>
                                        <p:attrNameLst>
                                          <p:attrName>style.visibility</p:attrName>
                                        </p:attrNameLst>
                                      </p:cBhvr>
                                      <p:to>
                                        <p:strVal val="visible"/>
                                      </p:to>
                                    </p:set>
                                    <p:animEffect transition="in" filter="fade">
                                      <p:cBhvr>
                                        <p:cTn id="66" dur="1000"/>
                                        <p:tgtEl>
                                          <p:spTgt spid="706"/>
                                        </p:tgtEl>
                                      </p:cBhvr>
                                    </p:animEffect>
                                  </p:childTnLst>
                                </p:cTn>
                              </p:par>
                              <p:par>
                                <p:cTn id="67" presetID="10" presetClass="entr" presetSubtype="0" fill="hold" nodeType="withEffect">
                                  <p:stCondLst>
                                    <p:cond delay="0"/>
                                  </p:stCondLst>
                                  <p:childTnLst>
                                    <p:set>
                                      <p:cBhvr>
                                        <p:cTn id="68" dur="1" fill="hold">
                                          <p:stCondLst>
                                            <p:cond delay="0"/>
                                          </p:stCondLst>
                                        </p:cTn>
                                        <p:tgtEl>
                                          <p:spTgt spid="707"/>
                                        </p:tgtEl>
                                        <p:attrNameLst>
                                          <p:attrName>style.visibility</p:attrName>
                                        </p:attrNameLst>
                                      </p:cBhvr>
                                      <p:to>
                                        <p:strVal val="visible"/>
                                      </p:to>
                                    </p:set>
                                    <p:animEffect transition="in" filter="fade">
                                      <p:cBhvr>
                                        <p:cTn id="69" dur="1000"/>
                                        <p:tgtEl>
                                          <p:spTgt spid="707"/>
                                        </p:tgtEl>
                                      </p:cBhvr>
                                    </p:animEffect>
                                  </p:childTnLst>
                                </p:cTn>
                              </p:par>
                              <p:par>
                                <p:cTn id="70" presetID="10" presetClass="entr" presetSubtype="0" fill="hold" nodeType="withEffect">
                                  <p:stCondLst>
                                    <p:cond delay="0"/>
                                  </p:stCondLst>
                                  <p:childTnLst>
                                    <p:set>
                                      <p:cBhvr>
                                        <p:cTn id="71" dur="1" fill="hold">
                                          <p:stCondLst>
                                            <p:cond delay="0"/>
                                          </p:stCondLst>
                                        </p:cTn>
                                        <p:tgtEl>
                                          <p:spTgt spid="708"/>
                                        </p:tgtEl>
                                        <p:attrNameLst>
                                          <p:attrName>style.visibility</p:attrName>
                                        </p:attrNameLst>
                                      </p:cBhvr>
                                      <p:to>
                                        <p:strVal val="visible"/>
                                      </p:to>
                                    </p:set>
                                    <p:animEffect transition="in" filter="fade">
                                      <p:cBhvr>
                                        <p:cTn id="72" dur="1000"/>
                                        <p:tgtEl>
                                          <p:spTgt spid="70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722"/>
                                        </p:tgtEl>
                                        <p:attrNameLst>
                                          <p:attrName>style.visibility</p:attrName>
                                        </p:attrNameLst>
                                      </p:cBhvr>
                                      <p:to>
                                        <p:strVal val="visible"/>
                                      </p:to>
                                    </p:set>
                                    <p:animEffect transition="in" filter="fade">
                                      <p:cBhvr>
                                        <p:cTn id="77" dur="1000"/>
                                        <p:tgtEl>
                                          <p:spTgt spid="722"/>
                                        </p:tgtEl>
                                      </p:cBhvr>
                                    </p:animEffect>
                                  </p:childTnLst>
                                </p:cTn>
                              </p:par>
                              <p:par>
                                <p:cTn id="78" presetID="10" presetClass="entr" presetSubtype="0" fill="hold" nodeType="withEffect">
                                  <p:stCondLst>
                                    <p:cond delay="0"/>
                                  </p:stCondLst>
                                  <p:childTnLst>
                                    <p:set>
                                      <p:cBhvr>
                                        <p:cTn id="79" dur="1" fill="hold">
                                          <p:stCondLst>
                                            <p:cond delay="0"/>
                                          </p:stCondLst>
                                        </p:cTn>
                                        <p:tgtEl>
                                          <p:spTgt spid="723"/>
                                        </p:tgtEl>
                                        <p:attrNameLst>
                                          <p:attrName>style.visibility</p:attrName>
                                        </p:attrNameLst>
                                      </p:cBhvr>
                                      <p:to>
                                        <p:strVal val="visible"/>
                                      </p:to>
                                    </p:set>
                                    <p:animEffect transition="in" filter="fade">
                                      <p:cBhvr>
                                        <p:cTn id="80" dur="1000"/>
                                        <p:tgtEl>
                                          <p:spTgt spid="723"/>
                                        </p:tgtEl>
                                      </p:cBhvr>
                                    </p:animEffect>
                                  </p:childTnLst>
                                </p:cTn>
                              </p:par>
                              <p:par>
                                <p:cTn id="81" presetID="10" presetClass="entr" presetSubtype="0" fill="hold" nodeType="withEffect">
                                  <p:stCondLst>
                                    <p:cond delay="0"/>
                                  </p:stCondLst>
                                  <p:childTnLst>
                                    <p:set>
                                      <p:cBhvr>
                                        <p:cTn id="82" dur="1" fill="hold">
                                          <p:stCondLst>
                                            <p:cond delay="0"/>
                                          </p:stCondLst>
                                        </p:cTn>
                                        <p:tgtEl>
                                          <p:spTgt spid="724"/>
                                        </p:tgtEl>
                                        <p:attrNameLst>
                                          <p:attrName>style.visibility</p:attrName>
                                        </p:attrNameLst>
                                      </p:cBhvr>
                                      <p:to>
                                        <p:strVal val="visible"/>
                                      </p:to>
                                    </p:set>
                                    <p:animEffect transition="in" filter="fade">
                                      <p:cBhvr>
                                        <p:cTn id="83" dur="1000"/>
                                        <p:tgtEl>
                                          <p:spTgt spid="724"/>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727"/>
                                        </p:tgtEl>
                                        <p:attrNameLst>
                                          <p:attrName>style.visibility</p:attrName>
                                        </p:attrNameLst>
                                      </p:cBhvr>
                                      <p:to>
                                        <p:strVal val="visible"/>
                                      </p:to>
                                    </p:set>
                                    <p:animEffect transition="in" filter="fade">
                                      <p:cBhvr>
                                        <p:cTn id="88" dur="1000"/>
                                        <p:tgtEl>
                                          <p:spTgt spid="727"/>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728"/>
                                        </p:tgtEl>
                                        <p:attrNameLst>
                                          <p:attrName>style.visibility</p:attrName>
                                        </p:attrNameLst>
                                      </p:cBhvr>
                                      <p:to>
                                        <p:strVal val="visible"/>
                                      </p:to>
                                    </p:set>
                                    <p:animEffect transition="in" filter="fade">
                                      <p:cBhvr>
                                        <p:cTn id="93" dur="1000"/>
                                        <p:tgtEl>
                                          <p:spTgt spid="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8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Dequeuing from an Array-based Queue is also usually straightforward and uses logic similar to the enqueue method for edge cases. Try implementing the dequeue method on your queue now.</a:t>
            </a:r>
            <a:endParaRPr/>
          </a:p>
        </p:txBody>
      </p:sp>
      <p:sp>
        <p:nvSpPr>
          <p:cNvPr id="734" name="Google Shape;734;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735" name="Google Shape;735;p81"/>
          <p:cNvSpPr txBox="1">
            <a:spLocks noGrp="1"/>
          </p:cNvSpPr>
          <p:nvPr>
            <p:ph type="body" idx="2"/>
          </p:nvPr>
        </p:nvSpPr>
        <p:spPr>
          <a:xfrm>
            <a:off x="3025675" y="1574025"/>
            <a:ext cx="5915400" cy="32877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your </a:t>
            </a:r>
            <a:r>
              <a:rPr lang="en" sz="1500" dirty="0">
                <a:latin typeface="Courier New"/>
                <a:ea typeface="Courier New"/>
                <a:cs typeface="Courier New"/>
                <a:sym typeface="Courier New"/>
              </a:rPr>
              <a:t>ArrayQueue</a:t>
            </a:r>
            <a:r>
              <a:rPr lang="en" sz="1500" dirty="0"/>
              <a:t> class and implement the </a:t>
            </a:r>
            <a:r>
              <a:rPr lang="en" sz="1500" dirty="0">
                <a:solidFill>
                  <a:srgbClr val="FF0000"/>
                </a:solidFill>
                <a:latin typeface="Courier New"/>
                <a:ea typeface="Courier New"/>
                <a:cs typeface="Courier New"/>
                <a:sym typeface="Courier New"/>
              </a:rPr>
              <a:t>dequeue</a:t>
            </a:r>
            <a:r>
              <a:rPr lang="en" sz="1500" dirty="0">
                <a:solidFill>
                  <a:srgbClr val="FF0000"/>
                </a:solidFill>
              </a:rPr>
              <a:t> </a:t>
            </a:r>
            <a:r>
              <a:rPr lang="en" sz="1500" b="1" i="1" dirty="0">
                <a:solidFill>
                  <a:srgbClr val="FF0000"/>
                </a:solidFill>
              </a:rPr>
              <a:t>method</a:t>
            </a:r>
            <a:r>
              <a:rPr lang="en" sz="1500" dirty="0"/>
              <a:t>.</a:t>
            </a:r>
            <a:endParaRPr sz="1500" dirty="0"/>
          </a:p>
          <a:p>
            <a:pPr marL="914400" lvl="1" indent="-311150" algn="l" rtl="0">
              <a:spcBef>
                <a:spcPts val="0"/>
              </a:spcBef>
              <a:spcAft>
                <a:spcPts val="0"/>
              </a:spcAft>
              <a:buSzPts val="1300"/>
              <a:buChar char="○"/>
            </a:pPr>
            <a:r>
              <a:rPr lang="en" sz="1300" dirty="0"/>
              <a:t>Save the element at the </a:t>
            </a:r>
            <a:r>
              <a:rPr lang="en" sz="1300" dirty="0">
                <a:solidFill>
                  <a:srgbClr val="FF0000"/>
                </a:solidFill>
                <a:latin typeface="Courier New"/>
                <a:ea typeface="Courier New"/>
                <a:cs typeface="Courier New"/>
                <a:sym typeface="Courier New"/>
              </a:rPr>
              <a:t>front</a:t>
            </a:r>
            <a:r>
              <a:rPr lang="en" sz="1300" dirty="0">
                <a:solidFill>
                  <a:srgbClr val="FF0000"/>
                </a:solidFill>
              </a:rPr>
              <a:t> </a:t>
            </a:r>
            <a:r>
              <a:rPr lang="en" sz="1300" b="1" i="1" dirty="0">
                <a:solidFill>
                  <a:srgbClr val="FF0000"/>
                </a:solidFill>
              </a:rPr>
              <a:t>index</a:t>
            </a:r>
            <a:r>
              <a:rPr lang="en" sz="1300" dirty="0"/>
              <a:t> in a </a:t>
            </a:r>
            <a:r>
              <a:rPr lang="en" sz="1300" b="1" i="1" dirty="0">
                <a:solidFill>
                  <a:srgbClr val="FF0000"/>
                </a:solidFill>
              </a:rPr>
              <a:t>temporary variable</a:t>
            </a:r>
            <a:r>
              <a:rPr lang="en" sz="1300" dirty="0"/>
              <a:t>.</a:t>
            </a:r>
            <a:endParaRPr sz="1300" dirty="0"/>
          </a:p>
          <a:p>
            <a:pPr marL="914400" lvl="1" indent="-311150" algn="l" rtl="0">
              <a:spcBef>
                <a:spcPts val="0"/>
              </a:spcBef>
              <a:spcAft>
                <a:spcPts val="0"/>
              </a:spcAft>
              <a:buSzPts val="1300"/>
              <a:buChar char="○"/>
            </a:pPr>
            <a:r>
              <a:rPr lang="en" sz="1300" dirty="0"/>
              <a:t>Set the value at the </a:t>
            </a:r>
            <a:r>
              <a:rPr lang="en" sz="1300" dirty="0">
                <a:solidFill>
                  <a:srgbClr val="FF0000"/>
                </a:solidFill>
                <a:latin typeface="Courier New"/>
                <a:ea typeface="Courier New"/>
                <a:cs typeface="Courier New"/>
                <a:sym typeface="Courier New"/>
              </a:rPr>
              <a:t>front</a:t>
            </a:r>
            <a:r>
              <a:rPr lang="en" sz="1300" dirty="0">
                <a:solidFill>
                  <a:srgbClr val="FF0000"/>
                </a:solidFill>
              </a:rPr>
              <a:t> </a:t>
            </a:r>
            <a:r>
              <a:rPr lang="en" sz="1300" dirty="0"/>
              <a:t>index to </a:t>
            </a:r>
            <a:r>
              <a:rPr lang="en" sz="1300" dirty="0">
                <a:solidFill>
                  <a:srgbClr val="FF0000"/>
                </a:solidFill>
                <a:latin typeface="Courier New"/>
                <a:ea typeface="Courier New"/>
                <a:cs typeface="Courier New"/>
                <a:sym typeface="Courier New"/>
              </a:rPr>
              <a:t>null</a:t>
            </a:r>
            <a:r>
              <a:rPr lang="en" sz="1300" dirty="0">
                <a:highlight>
                  <a:srgbClr val="FFFF00"/>
                </a:highlight>
              </a:rPr>
              <a:t>. Why?</a:t>
            </a:r>
            <a:endParaRPr sz="1300" dirty="0">
              <a:highlight>
                <a:srgbClr val="FFFF00"/>
              </a:highlight>
            </a:endParaRPr>
          </a:p>
          <a:p>
            <a:pPr marL="914400" lvl="1" indent="-311150" algn="l" rtl="0">
              <a:spcBef>
                <a:spcPts val="0"/>
              </a:spcBef>
              <a:spcAft>
                <a:spcPts val="0"/>
              </a:spcAft>
              <a:buSzPts val="1300"/>
              <a:buChar char="○"/>
            </a:pPr>
            <a:r>
              <a:rPr lang="en" sz="1300" b="1" i="1" dirty="0">
                <a:solidFill>
                  <a:srgbClr val="FF0000"/>
                </a:solidFill>
              </a:rPr>
              <a:t>Increment</a:t>
            </a:r>
            <a:r>
              <a:rPr lang="en" sz="1300" dirty="0">
                <a:solidFill>
                  <a:srgbClr val="FF0000"/>
                </a:solidFill>
              </a:rPr>
              <a:t> </a:t>
            </a:r>
            <a:r>
              <a:rPr lang="en" sz="1300" dirty="0"/>
              <a:t>the </a:t>
            </a:r>
            <a:r>
              <a:rPr lang="en" sz="1300" dirty="0">
                <a:latin typeface="Courier New"/>
                <a:ea typeface="Courier New"/>
                <a:cs typeface="Courier New"/>
                <a:sym typeface="Courier New"/>
              </a:rPr>
              <a:t>front</a:t>
            </a:r>
            <a:r>
              <a:rPr lang="en" sz="1300" dirty="0"/>
              <a:t> index. Be sure to </a:t>
            </a:r>
            <a:r>
              <a:rPr lang="en" sz="1300" b="1" i="1" dirty="0">
                <a:solidFill>
                  <a:srgbClr val="FF0000"/>
                </a:solidFill>
              </a:rPr>
              <a:t>wrap around</a:t>
            </a:r>
            <a:r>
              <a:rPr lang="en" sz="1300" dirty="0"/>
              <a:t> if necessary.</a:t>
            </a:r>
            <a:endParaRPr sz="1300" dirty="0"/>
          </a:p>
          <a:p>
            <a:pPr marL="914400" lvl="1" indent="-311150" algn="l" rtl="0">
              <a:spcBef>
                <a:spcPts val="0"/>
              </a:spcBef>
              <a:spcAft>
                <a:spcPts val="0"/>
              </a:spcAft>
              <a:buSzPts val="1300"/>
              <a:buChar char="○"/>
            </a:pPr>
            <a:r>
              <a:rPr lang="en" sz="1300" dirty="0"/>
              <a:t>Don't forget to </a:t>
            </a:r>
            <a:r>
              <a:rPr lang="en" sz="1300" b="1" i="1" dirty="0">
                <a:solidFill>
                  <a:srgbClr val="FF0000"/>
                </a:solidFill>
              </a:rPr>
              <a:t>decrement</a:t>
            </a:r>
            <a:r>
              <a:rPr lang="en" sz="1300" dirty="0">
                <a:solidFill>
                  <a:srgbClr val="FF0000"/>
                </a:solidFill>
              </a:rPr>
              <a:t> </a:t>
            </a:r>
            <a:r>
              <a:rPr lang="en" sz="1300" dirty="0">
                <a:solidFill>
                  <a:srgbClr val="FF0000"/>
                </a:solidFill>
                <a:latin typeface="Courier New"/>
                <a:ea typeface="Courier New"/>
                <a:cs typeface="Courier New"/>
                <a:sym typeface="Courier New"/>
              </a:rPr>
              <a:t>size</a:t>
            </a:r>
            <a:r>
              <a:rPr lang="en" sz="1300" dirty="0"/>
              <a:t>!</a:t>
            </a:r>
            <a:endParaRPr sz="1300" dirty="0"/>
          </a:p>
          <a:p>
            <a:pPr marL="914400" lvl="1" indent="-311150" algn="l" rtl="0">
              <a:spcBef>
                <a:spcPts val="0"/>
              </a:spcBef>
              <a:spcAft>
                <a:spcPts val="0"/>
              </a:spcAft>
              <a:buSzPts val="1300"/>
              <a:buChar char="○"/>
            </a:pPr>
            <a:r>
              <a:rPr lang="en" sz="1300" b="1" i="1" dirty="0">
                <a:solidFill>
                  <a:srgbClr val="FF0000"/>
                </a:solidFill>
              </a:rPr>
              <a:t>Return</a:t>
            </a:r>
            <a:r>
              <a:rPr lang="en" sz="1300" dirty="0">
                <a:solidFill>
                  <a:srgbClr val="FF0000"/>
                </a:solidFill>
              </a:rPr>
              <a:t> </a:t>
            </a:r>
            <a:r>
              <a:rPr lang="en" sz="1300" dirty="0"/>
              <a:t>the temporary variable.</a:t>
            </a:r>
            <a:endParaRPr sz="1300" dirty="0"/>
          </a:p>
          <a:p>
            <a:pPr marL="457200" lvl="0" indent="-323850" algn="l" rtl="0">
              <a:spcBef>
                <a:spcPts val="0"/>
              </a:spcBef>
              <a:spcAft>
                <a:spcPts val="0"/>
              </a:spcAft>
              <a:buSzPts val="1500"/>
              <a:buChar char="●"/>
            </a:pPr>
            <a:r>
              <a:rPr lang="en" sz="1500" b="1" i="1" dirty="0">
                <a:solidFill>
                  <a:srgbClr val="FF0000"/>
                </a:solidFill>
              </a:rPr>
              <a:t>Compile</a:t>
            </a:r>
            <a:r>
              <a:rPr lang="en" sz="1500" dirty="0"/>
              <a:t> your class.</a:t>
            </a:r>
            <a:endParaRPr sz="1500" dirty="0"/>
          </a:p>
          <a:p>
            <a:pPr marL="457200" lvl="0" indent="-323850" algn="l" rtl="0">
              <a:spcBef>
                <a:spcPts val="0"/>
              </a:spcBef>
              <a:spcAft>
                <a:spcPts val="0"/>
              </a:spcAft>
              <a:buSzPts val="1500"/>
              <a:buChar char="●"/>
            </a:pPr>
            <a:r>
              <a:rPr lang="en" sz="1500" b="1" i="1" dirty="0">
                <a:solidFill>
                  <a:srgbClr val="FF0000"/>
                </a:solidFill>
              </a:rPr>
              <a:t>Don't worry</a:t>
            </a:r>
            <a:r>
              <a:rPr lang="en" sz="1500" dirty="0"/>
              <a:t> about error handling at this point.</a:t>
            </a:r>
            <a:endParaRPr sz="1500" dirty="0"/>
          </a:p>
          <a:p>
            <a:pPr marL="914400" lvl="1" indent="-311150" algn="l" rtl="0">
              <a:spcBef>
                <a:spcPts val="0"/>
              </a:spcBef>
              <a:spcAft>
                <a:spcPts val="0"/>
              </a:spcAft>
              <a:buSzPts val="1300"/>
              <a:buChar char="○"/>
            </a:pPr>
            <a:r>
              <a:rPr lang="en" sz="1300" dirty="0"/>
              <a:t>What potential error(s) may occur?</a:t>
            </a:r>
            <a:endParaRPr sz="1300" dirty="0"/>
          </a:p>
          <a:p>
            <a:pPr marL="914400" lvl="1" indent="-311150" algn="l" rtl="0">
              <a:spcBef>
                <a:spcPts val="0"/>
              </a:spcBef>
              <a:spcAft>
                <a:spcPts val="0"/>
              </a:spcAft>
              <a:buSzPts val="1300"/>
              <a:buChar char="○"/>
            </a:pPr>
            <a:r>
              <a:rPr lang="en" sz="1300" dirty="0"/>
              <a:t>How might you handle the error(s) if they do occur?</a:t>
            </a:r>
            <a:endParaRPr sz="1300" dirty="0"/>
          </a:p>
          <a:p>
            <a:pPr marL="457200" lvl="0" indent="-311150" algn="l" rtl="0">
              <a:spcBef>
                <a:spcPts val="0"/>
              </a:spcBef>
              <a:spcAft>
                <a:spcPts val="0"/>
              </a:spcAft>
              <a:buSzPts val="1300"/>
              <a:buChar char="●"/>
            </a:pPr>
            <a:r>
              <a:rPr lang="en" dirty="0"/>
              <a:t>Use </a:t>
            </a:r>
            <a:r>
              <a:rPr lang="en" dirty="0">
                <a:latin typeface="Courier New"/>
                <a:ea typeface="Courier New"/>
                <a:cs typeface="Courier New"/>
                <a:sym typeface="Courier New"/>
              </a:rPr>
              <a:t>main</a:t>
            </a:r>
            <a:r>
              <a:rPr lang="en" dirty="0"/>
              <a:t> to dequeue a few values and print them out. Print your queue as well.</a:t>
            </a:r>
            <a:endParaRPr dirty="0"/>
          </a:p>
        </p:txBody>
      </p:sp>
      <p:sp>
        <p:nvSpPr>
          <p:cNvPr id="736" name="Google Shape;736;p8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Dequeue Using an Array</a:t>
            </a:r>
            <a:endParaRPr/>
          </a:p>
        </p:txBody>
      </p:sp>
      <p:sp>
        <p:nvSpPr>
          <p:cNvPr id="737" name="Google Shape;737;p8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5.10</a:t>
            </a:r>
            <a:endParaRPr/>
          </a:p>
        </p:txBody>
      </p:sp>
      <p:graphicFrame>
        <p:nvGraphicFramePr>
          <p:cNvPr id="738" name="Google Shape;738;p81"/>
          <p:cNvGraphicFramePr/>
          <p:nvPr/>
        </p:nvGraphicFramePr>
        <p:xfrm>
          <a:off x="253971" y="2031213"/>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"a"</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"b"</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"c"</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739" name="Google Shape;739;p81"/>
          <p:cNvGrpSpPr/>
          <p:nvPr/>
        </p:nvGrpSpPr>
        <p:grpSpPr>
          <a:xfrm>
            <a:off x="171371" y="2612538"/>
            <a:ext cx="693300" cy="311400"/>
            <a:chOff x="247571" y="2364650"/>
            <a:chExt cx="693300" cy="311400"/>
          </a:xfrm>
        </p:grpSpPr>
        <p:sp>
          <p:nvSpPr>
            <p:cNvPr id="740" name="Google Shape;740;p81"/>
            <p:cNvSpPr txBox="1"/>
            <p:nvPr/>
          </p:nvSpPr>
          <p:spPr>
            <a:xfrm>
              <a:off x="247571"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p:txBody>
        </p:sp>
        <p:cxnSp>
          <p:nvCxnSpPr>
            <p:cNvPr id="741" name="Google Shape;741;p81"/>
            <p:cNvCxnSpPr>
              <a:stCxn id="740" idx="0"/>
            </p:cNvCxnSpPr>
            <p:nvPr/>
          </p:nvCxnSpPr>
          <p:spPr>
            <a:xfrm rot="10800000">
              <a:off x="594221"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nvGrpSpPr>
          <p:cNvPr id="742" name="Google Shape;742;p81"/>
          <p:cNvGrpSpPr/>
          <p:nvPr/>
        </p:nvGrpSpPr>
        <p:grpSpPr>
          <a:xfrm>
            <a:off x="1739412" y="2612538"/>
            <a:ext cx="693300" cy="311400"/>
            <a:chOff x="247559" y="2364650"/>
            <a:chExt cx="693300" cy="311400"/>
          </a:xfrm>
        </p:grpSpPr>
        <p:sp>
          <p:nvSpPr>
            <p:cNvPr id="743" name="Google Shape;743;p81"/>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744" name="Google Shape;744;p81"/>
            <p:cNvCxnSpPr>
              <a:stCxn id="743"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82"/>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u="sng"/>
              <a:t>A Closer Look at Resizing</a:t>
            </a:r>
            <a:endParaRPr u="sng"/>
          </a:p>
        </p:txBody>
      </p:sp>
      <p:sp>
        <p:nvSpPr>
          <p:cNvPr id="750" name="Google Shape;750;p82"/>
          <p:cNvSpPr txBox="1">
            <a:spLocks noGrp="1"/>
          </p:cNvSpPr>
          <p:nvPr>
            <p:ph type="sldNum" idx="12"/>
          </p:nvPr>
        </p:nvSpPr>
        <p:spPr>
          <a:xfrm>
            <a:off x="8605562" y="4912321"/>
            <a:ext cx="548700" cy="2208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25</a:t>
            </a:fld>
            <a:endParaRPr/>
          </a:p>
        </p:txBody>
      </p:sp>
      <p:sp>
        <p:nvSpPr>
          <p:cNvPr id="751" name="Google Shape;751;p82"/>
          <p:cNvSpPr txBox="1">
            <a:spLocks noGrp="1"/>
          </p:cNvSpPr>
          <p:nvPr>
            <p:ph type="body" idx="4294967295"/>
          </p:nvPr>
        </p:nvSpPr>
        <p:spPr>
          <a:xfrm>
            <a:off x="315775" y="1410906"/>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If </a:t>
            </a:r>
            <a:r>
              <a:rPr lang="en" sz="1200" b="1" i="1">
                <a:solidFill>
                  <a:srgbClr val="FF0000"/>
                </a:solidFill>
                <a:latin typeface="Arial"/>
                <a:ea typeface="Arial"/>
                <a:cs typeface="Arial"/>
                <a:sym typeface="Arial"/>
              </a:rPr>
              <a:t>before enqueuing</a:t>
            </a:r>
            <a:r>
              <a:rPr lang="en" sz="1200">
                <a:solidFill>
                  <a:srgbClr val="000000"/>
                </a:solidFill>
                <a:latin typeface="Arial"/>
                <a:ea typeface="Arial"/>
                <a:cs typeface="Arial"/>
                <a:sym typeface="Arial"/>
              </a:rPr>
              <a:t> the </a:t>
            </a:r>
            <a:r>
              <a:rPr lang="en" sz="1200" b="1" i="1">
                <a:solidFill>
                  <a:srgbClr val="FF0000"/>
                </a:solidFill>
                <a:latin typeface="Arial"/>
                <a:ea typeface="Arial"/>
                <a:cs typeface="Arial"/>
                <a:sym typeface="Arial"/>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equal to the </a:t>
            </a:r>
            <a:r>
              <a:rPr lang="en" sz="1200" b="1" i="1">
                <a:solidFill>
                  <a:srgbClr val="FF0000"/>
                </a:solidFill>
                <a:latin typeface="Arial"/>
                <a:ea typeface="Arial"/>
                <a:cs typeface="Arial"/>
                <a:sym typeface="Arial"/>
              </a:rPr>
              <a:t>length</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array, then the </a:t>
            </a:r>
            <a:r>
              <a:rPr lang="en" sz="1200" b="1" i="1">
                <a:solidFill>
                  <a:srgbClr val="FF0000"/>
                </a:solidFill>
                <a:latin typeface="Arial"/>
                <a:ea typeface="Arial"/>
                <a:cs typeface="Arial"/>
                <a:sym typeface="Arial"/>
              </a:rPr>
              <a:t>array is full</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aphicFrame>
        <p:nvGraphicFramePr>
          <p:cNvPr id="752" name="Google Shape;752;p82"/>
          <p:cNvGraphicFramePr/>
          <p:nvPr/>
        </p:nvGraphicFramePr>
        <p:xfrm>
          <a:off x="311724" y="2171697"/>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"f"</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"g"</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"c"</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"d"</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753" name="Google Shape;753;p82"/>
          <p:cNvGrpSpPr/>
          <p:nvPr/>
        </p:nvGrpSpPr>
        <p:grpSpPr>
          <a:xfrm>
            <a:off x="1283373" y="2739879"/>
            <a:ext cx="693300" cy="502800"/>
            <a:chOff x="253994" y="2345362"/>
            <a:chExt cx="693300" cy="502800"/>
          </a:xfrm>
        </p:grpSpPr>
        <p:sp>
          <p:nvSpPr>
            <p:cNvPr id="754" name="Google Shape;754;p82"/>
            <p:cNvSpPr txBox="1"/>
            <p:nvPr/>
          </p:nvSpPr>
          <p:spPr>
            <a:xfrm>
              <a:off x="253994" y="2501062"/>
              <a:ext cx="693300" cy="34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755" name="Google Shape;755;p82"/>
            <p:cNvCxnSpPr>
              <a:stCxn id="754" idx="0"/>
            </p:cNvCxnSpPr>
            <p:nvPr/>
          </p:nvCxnSpPr>
          <p:spPr>
            <a:xfrm rot="10800000">
              <a:off x="600644" y="2345362"/>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756" name="Google Shape;756;p82"/>
          <p:cNvSpPr txBox="1">
            <a:spLocks noGrp="1"/>
          </p:cNvSpPr>
          <p:nvPr>
            <p:ph type="body" idx="4294967295"/>
          </p:nvPr>
        </p:nvSpPr>
        <p:spPr>
          <a:xfrm>
            <a:off x="315775" y="3392106"/>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At this point, the array will need to be </a:t>
            </a:r>
            <a:r>
              <a:rPr lang="en" sz="1200" b="1" i="1">
                <a:solidFill>
                  <a:srgbClr val="FF0000"/>
                </a:solidFill>
                <a:latin typeface="Arial"/>
                <a:ea typeface="Arial"/>
                <a:cs typeface="Arial"/>
                <a:sym typeface="Arial"/>
              </a:rPr>
              <a:t>resized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order to make room for additional elements.</a:t>
            </a:r>
            <a:endParaRPr sz="1200">
              <a:solidFill>
                <a:srgbClr val="000000"/>
              </a:solidFill>
              <a:latin typeface="Arial"/>
              <a:ea typeface="Arial"/>
              <a:cs typeface="Arial"/>
              <a:sym typeface="Arial"/>
            </a:endParaRPr>
          </a:p>
        </p:txBody>
      </p:sp>
      <p:sp>
        <p:nvSpPr>
          <p:cNvPr id="757" name="Google Shape;757;p82"/>
          <p:cNvSpPr txBox="1">
            <a:spLocks noGrp="1"/>
          </p:cNvSpPr>
          <p:nvPr>
            <p:ph type="body" idx="4294967295"/>
          </p:nvPr>
        </p:nvSpPr>
        <p:spPr>
          <a:xfrm>
            <a:off x="315775" y="4154106"/>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This will require making a </a:t>
            </a:r>
            <a:r>
              <a:rPr lang="en" sz="1200" b="1" i="1">
                <a:solidFill>
                  <a:srgbClr val="FF0000"/>
                </a:solidFill>
                <a:latin typeface="Arial"/>
                <a:ea typeface="Arial"/>
                <a:cs typeface="Arial"/>
                <a:sym typeface="Arial"/>
              </a:rPr>
              <a:t>new</a:t>
            </a:r>
            <a:r>
              <a:rPr lang="en" sz="1200">
                <a:solidFill>
                  <a:srgbClr val="000000"/>
                </a:solidFill>
                <a:latin typeface="Arial"/>
                <a:ea typeface="Arial"/>
                <a:cs typeface="Arial"/>
                <a:sym typeface="Arial"/>
              </a:rPr>
              <a:t>,</a:t>
            </a:r>
            <a:r>
              <a:rPr lang="en" sz="1200" b="1" i="1">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bigger array</a:t>
            </a:r>
            <a:r>
              <a:rPr lang="en" sz="1200">
                <a:solidFill>
                  <a:srgbClr val="000000"/>
                </a:solidFill>
                <a:latin typeface="Arial"/>
                <a:ea typeface="Arial"/>
                <a:cs typeface="Arial"/>
                <a:sym typeface="Arial"/>
              </a:rPr>
              <a:t>, and </a:t>
            </a:r>
            <a:r>
              <a:rPr lang="en" sz="1200" b="1" i="1">
                <a:solidFill>
                  <a:srgbClr val="FF0000"/>
                </a:solidFill>
                <a:latin typeface="Arial"/>
                <a:ea typeface="Arial"/>
                <a:cs typeface="Arial"/>
                <a:sym typeface="Arial"/>
              </a:rPr>
              <a:t>copying </a:t>
            </a:r>
            <a:r>
              <a:rPr lang="en" sz="1200">
                <a:solidFill>
                  <a:srgbClr val="000000"/>
                </a:solidFill>
                <a:latin typeface="Arial"/>
                <a:ea typeface="Arial"/>
                <a:cs typeface="Arial"/>
                <a:sym typeface="Arial"/>
              </a:rPr>
              <a:t>the elements into it.</a:t>
            </a:r>
            <a:endParaRPr sz="1200">
              <a:solidFill>
                <a:srgbClr val="000000"/>
              </a:solidFill>
              <a:latin typeface="Arial"/>
              <a:ea typeface="Arial"/>
              <a:cs typeface="Arial"/>
              <a:sym typeface="Arial"/>
            </a:endParaRPr>
          </a:p>
        </p:txBody>
      </p:sp>
      <p:graphicFrame>
        <p:nvGraphicFramePr>
          <p:cNvPr id="758" name="Google Shape;758;p82"/>
          <p:cNvGraphicFramePr/>
          <p:nvPr/>
        </p:nvGraphicFramePr>
        <p:xfrm>
          <a:off x="3274224" y="2236497"/>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"f"</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"g"</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"c"</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"d"</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759" name="Google Shape;759;p82"/>
          <p:cNvGraphicFramePr/>
          <p:nvPr/>
        </p:nvGraphicFramePr>
        <p:xfrm>
          <a:off x="3274224" y="3303297"/>
          <a:ext cx="5253500" cy="670500"/>
        </p:xfrm>
        <a:graphic>
          <a:graphicData uri="http://schemas.openxmlformats.org/drawingml/2006/table">
            <a:tbl>
              <a:tblPr>
                <a:noFill/>
                <a:tableStyleId>{5D16334A-BD30-4DCF-A821-F696FD12572A}</a:tableStyleId>
              </a:tblPr>
              <a:tblGrid>
                <a:gridCol w="525350">
                  <a:extLst>
                    <a:ext uri="{9D8B030D-6E8A-4147-A177-3AD203B41FA5}">
                      <a16:colId xmlns:a16="http://schemas.microsoft.com/office/drawing/2014/main" val="20000"/>
                    </a:ext>
                  </a:extLst>
                </a:gridCol>
                <a:gridCol w="525350">
                  <a:extLst>
                    <a:ext uri="{9D8B030D-6E8A-4147-A177-3AD203B41FA5}">
                      <a16:colId xmlns:a16="http://schemas.microsoft.com/office/drawing/2014/main" val="20001"/>
                    </a:ext>
                  </a:extLst>
                </a:gridCol>
                <a:gridCol w="525350">
                  <a:extLst>
                    <a:ext uri="{9D8B030D-6E8A-4147-A177-3AD203B41FA5}">
                      <a16:colId xmlns:a16="http://schemas.microsoft.com/office/drawing/2014/main" val="20002"/>
                    </a:ext>
                  </a:extLst>
                </a:gridCol>
                <a:gridCol w="525350">
                  <a:extLst>
                    <a:ext uri="{9D8B030D-6E8A-4147-A177-3AD203B41FA5}">
                      <a16:colId xmlns:a16="http://schemas.microsoft.com/office/drawing/2014/main" val="20003"/>
                    </a:ext>
                  </a:extLst>
                </a:gridCol>
                <a:gridCol w="525350">
                  <a:extLst>
                    <a:ext uri="{9D8B030D-6E8A-4147-A177-3AD203B41FA5}">
                      <a16:colId xmlns:a16="http://schemas.microsoft.com/office/drawing/2014/main" val="20004"/>
                    </a:ext>
                  </a:extLst>
                </a:gridCol>
                <a:gridCol w="525350">
                  <a:extLst>
                    <a:ext uri="{9D8B030D-6E8A-4147-A177-3AD203B41FA5}">
                      <a16:colId xmlns:a16="http://schemas.microsoft.com/office/drawing/2014/main" val="20005"/>
                    </a:ext>
                  </a:extLst>
                </a:gridCol>
                <a:gridCol w="525350">
                  <a:extLst>
                    <a:ext uri="{9D8B030D-6E8A-4147-A177-3AD203B41FA5}">
                      <a16:colId xmlns:a16="http://schemas.microsoft.com/office/drawing/2014/main" val="20006"/>
                    </a:ext>
                  </a:extLst>
                </a:gridCol>
                <a:gridCol w="525350">
                  <a:extLst>
                    <a:ext uri="{9D8B030D-6E8A-4147-A177-3AD203B41FA5}">
                      <a16:colId xmlns:a16="http://schemas.microsoft.com/office/drawing/2014/main" val="20007"/>
                    </a:ext>
                  </a:extLst>
                </a:gridCol>
                <a:gridCol w="525350">
                  <a:extLst>
                    <a:ext uri="{9D8B030D-6E8A-4147-A177-3AD203B41FA5}">
                      <a16:colId xmlns:a16="http://schemas.microsoft.com/office/drawing/2014/main" val="20008"/>
                    </a:ext>
                  </a:extLst>
                </a:gridCol>
                <a:gridCol w="525350">
                  <a:extLst>
                    <a:ext uri="{9D8B030D-6E8A-4147-A177-3AD203B41FA5}">
                      <a16:colId xmlns:a16="http://schemas.microsoft.com/office/drawing/2014/main" val="20009"/>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5</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6</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7</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8</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9</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760" name="Google Shape;760;p82"/>
          <p:cNvGrpSpPr/>
          <p:nvPr/>
        </p:nvGrpSpPr>
        <p:grpSpPr>
          <a:xfrm>
            <a:off x="5811111" y="3907938"/>
            <a:ext cx="693300" cy="311400"/>
            <a:chOff x="247559" y="2364650"/>
            <a:chExt cx="693300" cy="311400"/>
          </a:xfrm>
        </p:grpSpPr>
        <p:sp>
          <p:nvSpPr>
            <p:cNvPr id="761" name="Google Shape;761;p82"/>
            <p:cNvSpPr txBox="1"/>
            <p:nvPr/>
          </p:nvSpPr>
          <p:spPr>
            <a:xfrm>
              <a:off x="247559"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back</a:t>
              </a:r>
              <a:endParaRPr sz="1000" b="0" i="0" u="none" strike="noStrike" cap="none">
                <a:solidFill>
                  <a:srgbClr val="000000"/>
                </a:solidFill>
                <a:latin typeface="Consolas"/>
                <a:ea typeface="Consolas"/>
                <a:cs typeface="Consolas"/>
                <a:sym typeface="Consolas"/>
              </a:endParaRPr>
            </a:p>
          </p:txBody>
        </p:sp>
        <p:cxnSp>
          <p:nvCxnSpPr>
            <p:cNvPr id="762" name="Google Shape;762;p82"/>
            <p:cNvCxnSpPr>
              <a:stCxn id="761" idx="0"/>
            </p:cNvCxnSpPr>
            <p:nvPr/>
          </p:nvCxnSpPr>
          <p:spPr>
            <a:xfrm rot="10800000">
              <a:off x="594209" y="2364650"/>
              <a:ext cx="0" cy="155700"/>
            </a:xfrm>
            <a:prstGeom prst="straightConnector1">
              <a:avLst/>
            </a:prstGeom>
            <a:noFill/>
            <a:ln w="19050" cap="flat" cmpd="sng">
              <a:solidFill>
                <a:srgbClr val="000000"/>
              </a:solidFill>
              <a:prstDash val="solid"/>
              <a:round/>
              <a:headEnd type="none" w="sm" len="sm"/>
              <a:tailEnd type="triangle" w="med" len="med"/>
            </a:ln>
          </p:spPr>
        </p:cxnSp>
      </p:grpSp>
      <p:grpSp>
        <p:nvGrpSpPr>
          <p:cNvPr id="763" name="Google Shape;763;p82"/>
          <p:cNvGrpSpPr/>
          <p:nvPr/>
        </p:nvGrpSpPr>
        <p:grpSpPr>
          <a:xfrm>
            <a:off x="3194606" y="3907938"/>
            <a:ext cx="693300" cy="311400"/>
            <a:chOff x="247571" y="2364650"/>
            <a:chExt cx="693300" cy="311400"/>
          </a:xfrm>
        </p:grpSpPr>
        <p:sp>
          <p:nvSpPr>
            <p:cNvPr id="764" name="Google Shape;764;p82"/>
            <p:cNvSpPr txBox="1"/>
            <p:nvPr/>
          </p:nvSpPr>
          <p:spPr>
            <a:xfrm>
              <a:off x="247571" y="2520350"/>
              <a:ext cx="693300" cy="15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front</a:t>
              </a:r>
              <a:endParaRPr sz="1000" b="0" i="0" u="none" strike="noStrike" cap="none">
                <a:solidFill>
                  <a:srgbClr val="000000"/>
                </a:solidFill>
                <a:latin typeface="Consolas"/>
                <a:ea typeface="Consolas"/>
                <a:cs typeface="Consolas"/>
                <a:sym typeface="Consolas"/>
              </a:endParaRPr>
            </a:p>
          </p:txBody>
        </p:sp>
        <p:cxnSp>
          <p:nvCxnSpPr>
            <p:cNvPr id="765" name="Google Shape;765;p82"/>
            <p:cNvCxnSpPr>
              <a:stCxn id="764" idx="0"/>
            </p:cNvCxnSpPr>
            <p:nvPr/>
          </p:nvCxnSpPr>
          <p:spPr>
            <a:xfrm rot="10800000">
              <a:off x="594221" y="2364650"/>
              <a:ext cx="0" cy="155700"/>
            </a:xfrm>
            <a:prstGeom prst="straightConnector1">
              <a:avLst/>
            </a:prstGeom>
            <a:noFill/>
            <a:ln w="19050" cap="flat" cmpd="sng">
              <a:solidFill>
                <a:srgbClr val="000000"/>
              </a:solidFill>
              <a:prstDash val="solid"/>
              <a:round/>
              <a:headEnd type="none" w="sm" len="sm"/>
              <a:tailEnd type="triangle" w="med" len="med"/>
            </a:ln>
          </p:spPr>
        </p:cxnSp>
      </p:grpSp>
      <p:cxnSp>
        <p:nvCxnSpPr>
          <p:cNvPr id="766" name="Google Shape;766;p82"/>
          <p:cNvCxnSpPr/>
          <p:nvPr/>
        </p:nvCxnSpPr>
        <p:spPr>
          <a:xfrm flipH="1">
            <a:off x="3587000" y="2804260"/>
            <a:ext cx="970800" cy="486300"/>
          </a:xfrm>
          <a:prstGeom prst="straightConnector1">
            <a:avLst/>
          </a:prstGeom>
          <a:noFill/>
          <a:ln w="19050" cap="flat" cmpd="sng">
            <a:solidFill>
              <a:srgbClr val="FF0000"/>
            </a:solidFill>
            <a:prstDash val="solid"/>
            <a:round/>
            <a:headEnd type="none" w="sm" len="sm"/>
            <a:tailEnd type="triangle" w="med" len="med"/>
          </a:ln>
        </p:spPr>
      </p:cxnSp>
      <p:cxnSp>
        <p:nvCxnSpPr>
          <p:cNvPr id="767" name="Google Shape;767;p82"/>
          <p:cNvCxnSpPr/>
          <p:nvPr/>
        </p:nvCxnSpPr>
        <p:spPr>
          <a:xfrm flipH="1">
            <a:off x="4120400" y="2804260"/>
            <a:ext cx="970800" cy="486300"/>
          </a:xfrm>
          <a:prstGeom prst="straightConnector1">
            <a:avLst/>
          </a:prstGeom>
          <a:noFill/>
          <a:ln w="19050" cap="flat" cmpd="sng">
            <a:solidFill>
              <a:srgbClr val="FF0000"/>
            </a:solidFill>
            <a:prstDash val="solid"/>
            <a:round/>
            <a:headEnd type="none" w="sm" len="sm"/>
            <a:tailEnd type="triangle" w="med" len="med"/>
          </a:ln>
        </p:spPr>
      </p:cxnSp>
      <p:cxnSp>
        <p:nvCxnSpPr>
          <p:cNvPr id="768" name="Google Shape;768;p82"/>
          <p:cNvCxnSpPr/>
          <p:nvPr/>
        </p:nvCxnSpPr>
        <p:spPr>
          <a:xfrm flipH="1">
            <a:off x="4653800" y="2804260"/>
            <a:ext cx="970800" cy="486300"/>
          </a:xfrm>
          <a:prstGeom prst="straightConnector1">
            <a:avLst/>
          </a:prstGeom>
          <a:noFill/>
          <a:ln w="19050" cap="flat" cmpd="sng">
            <a:solidFill>
              <a:srgbClr val="FF0000"/>
            </a:solidFill>
            <a:prstDash val="solid"/>
            <a:round/>
            <a:headEnd type="none" w="sm" len="sm"/>
            <a:tailEnd type="triangle" w="med" len="med"/>
          </a:ln>
        </p:spPr>
      </p:cxnSp>
      <p:cxnSp>
        <p:nvCxnSpPr>
          <p:cNvPr id="769" name="Google Shape;769;p82"/>
          <p:cNvCxnSpPr/>
          <p:nvPr/>
        </p:nvCxnSpPr>
        <p:spPr>
          <a:xfrm>
            <a:off x="3575100" y="2798016"/>
            <a:ext cx="1516200" cy="486300"/>
          </a:xfrm>
          <a:prstGeom prst="straightConnector1">
            <a:avLst/>
          </a:prstGeom>
          <a:noFill/>
          <a:ln w="19050" cap="flat" cmpd="sng">
            <a:solidFill>
              <a:srgbClr val="4A86E8"/>
            </a:solidFill>
            <a:prstDash val="solid"/>
            <a:round/>
            <a:headEnd type="none" w="sm" len="sm"/>
            <a:tailEnd type="triangle" w="med" len="med"/>
          </a:ln>
        </p:spPr>
      </p:cxnSp>
      <p:cxnSp>
        <p:nvCxnSpPr>
          <p:cNvPr id="770" name="Google Shape;770;p82"/>
          <p:cNvCxnSpPr/>
          <p:nvPr/>
        </p:nvCxnSpPr>
        <p:spPr>
          <a:xfrm>
            <a:off x="4108500" y="2798016"/>
            <a:ext cx="1516200" cy="486300"/>
          </a:xfrm>
          <a:prstGeom prst="straightConnector1">
            <a:avLst/>
          </a:prstGeom>
          <a:noFill/>
          <a:ln w="19050" cap="flat" cmpd="sng">
            <a:solidFill>
              <a:srgbClr val="4A86E8"/>
            </a:solidFill>
            <a:prstDash val="solid"/>
            <a:round/>
            <a:headEnd type="none" w="sm" len="sm"/>
            <a:tailEnd type="triangle" w="med" len="med"/>
          </a:ln>
        </p:spPr>
      </p:cxnSp>
      <p:sp>
        <p:nvSpPr>
          <p:cNvPr id="771" name="Google Shape;771;p82"/>
          <p:cNvSpPr txBox="1">
            <a:spLocks noGrp="1"/>
          </p:cNvSpPr>
          <p:nvPr>
            <p:ph type="body" idx="4294967295"/>
          </p:nvPr>
        </p:nvSpPr>
        <p:spPr>
          <a:xfrm>
            <a:off x="3281146" y="1410906"/>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First, a new, bigger array is created (usually </a:t>
            </a:r>
            <a:r>
              <a:rPr lang="en" sz="1200" b="1" i="1">
                <a:solidFill>
                  <a:srgbClr val="FF0000"/>
                </a:solidFill>
                <a:latin typeface="Arial"/>
                <a:ea typeface="Arial"/>
                <a:cs typeface="Arial"/>
                <a:sym typeface="Arial"/>
              </a:rPr>
              <a:t>double the size</a:t>
            </a:r>
            <a:r>
              <a:rPr lang="en" sz="1200">
                <a:solidFill>
                  <a:srgbClr val="000000"/>
                </a:solidFill>
                <a:latin typeface="Arial"/>
                <a:ea typeface="Arial"/>
                <a:cs typeface="Arial"/>
                <a:sym typeface="Arial"/>
              </a:rPr>
              <a:t> of the current array).</a:t>
            </a:r>
            <a:endParaRPr sz="1200">
              <a:solidFill>
                <a:srgbClr val="000000"/>
              </a:solidFill>
              <a:latin typeface="Arial"/>
              <a:ea typeface="Arial"/>
              <a:cs typeface="Arial"/>
              <a:sym typeface="Arial"/>
            </a:endParaRPr>
          </a:p>
        </p:txBody>
      </p:sp>
      <p:sp>
        <p:nvSpPr>
          <p:cNvPr id="772" name="Google Shape;772;p82"/>
          <p:cNvSpPr txBox="1">
            <a:spLocks noGrp="1"/>
          </p:cNvSpPr>
          <p:nvPr>
            <p:ph type="body" idx="4294967295"/>
          </p:nvPr>
        </p:nvSpPr>
        <p:spPr>
          <a:xfrm>
            <a:off x="6246525" y="1410900"/>
            <a:ext cx="2623800" cy="865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Then, beginning at the </a:t>
            </a:r>
            <a:r>
              <a:rPr lang="en" sz="1200" b="1" i="1">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in the </a:t>
            </a:r>
            <a:r>
              <a:rPr lang="en" sz="1200" b="1" i="1">
                <a:solidFill>
                  <a:srgbClr val="FF0000"/>
                </a:solidFill>
                <a:latin typeface="Arial"/>
                <a:ea typeface="Arial"/>
                <a:cs typeface="Arial"/>
                <a:sym typeface="Arial"/>
              </a:rPr>
              <a:t>old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array, elements are copied into the </a:t>
            </a:r>
            <a:r>
              <a:rPr lang="en" sz="1200" b="1" i="1">
                <a:solidFill>
                  <a:srgbClr val="FF0000"/>
                </a:solidFill>
                <a:latin typeface="Arial"/>
                <a:ea typeface="Arial"/>
                <a:cs typeface="Arial"/>
                <a:sym typeface="Arial"/>
              </a:rPr>
              <a:t>new </a:t>
            </a:r>
            <a:r>
              <a:rPr lang="en" sz="1200">
                <a:solidFill>
                  <a:srgbClr val="000000"/>
                </a:solidFill>
                <a:latin typeface="Arial"/>
                <a:ea typeface="Arial"/>
                <a:cs typeface="Arial"/>
                <a:sym typeface="Arial"/>
              </a:rPr>
              <a:t>array beginning at </a:t>
            </a:r>
            <a:r>
              <a:rPr lang="en" sz="1200" b="1" i="1">
                <a:solidFill>
                  <a:srgbClr val="FF0000"/>
                </a:solidFill>
                <a:latin typeface="Arial"/>
                <a:ea typeface="Arial"/>
                <a:cs typeface="Arial"/>
                <a:sym typeface="Arial"/>
              </a:rPr>
              <a:t>index </a:t>
            </a:r>
            <a:r>
              <a:rPr lang="en" sz="1200">
                <a:solidFill>
                  <a:srgbClr val="FF0000"/>
                </a:solidFill>
                <a:latin typeface="Courier New"/>
                <a:ea typeface="Courier New"/>
                <a:cs typeface="Courier New"/>
                <a:sym typeface="Courier New"/>
              </a:rPr>
              <a:t>0</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773" name="Google Shape;773;p82"/>
          <p:cNvSpPr txBox="1"/>
          <p:nvPr/>
        </p:nvSpPr>
        <p:spPr>
          <a:xfrm>
            <a:off x="3302371" y="3348571"/>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"c"</a:t>
            </a:r>
            <a:endParaRPr sz="1000" b="0" i="0" u="none" strike="noStrike" cap="none">
              <a:solidFill>
                <a:srgbClr val="FF0000"/>
              </a:solidFill>
              <a:latin typeface="Consolas"/>
              <a:ea typeface="Consolas"/>
              <a:cs typeface="Consolas"/>
              <a:sym typeface="Consolas"/>
            </a:endParaRPr>
          </a:p>
        </p:txBody>
      </p:sp>
      <p:sp>
        <p:nvSpPr>
          <p:cNvPr id="774" name="Google Shape;774;p82"/>
          <p:cNvSpPr txBox="1"/>
          <p:nvPr/>
        </p:nvSpPr>
        <p:spPr>
          <a:xfrm>
            <a:off x="3835771" y="3348571"/>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"d"</a:t>
            </a:r>
            <a:endParaRPr sz="1000" b="0" i="0" u="none" strike="noStrike" cap="none">
              <a:solidFill>
                <a:srgbClr val="FF0000"/>
              </a:solidFill>
              <a:latin typeface="Consolas"/>
              <a:ea typeface="Consolas"/>
              <a:cs typeface="Consolas"/>
              <a:sym typeface="Consolas"/>
            </a:endParaRPr>
          </a:p>
        </p:txBody>
      </p:sp>
      <p:sp>
        <p:nvSpPr>
          <p:cNvPr id="775" name="Google Shape;775;p82"/>
          <p:cNvSpPr txBox="1"/>
          <p:nvPr/>
        </p:nvSpPr>
        <p:spPr>
          <a:xfrm>
            <a:off x="4356312" y="3348571"/>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"e"</a:t>
            </a:r>
            <a:endParaRPr sz="1000" b="0" i="0" u="none" strike="noStrike" cap="none">
              <a:solidFill>
                <a:srgbClr val="FF0000"/>
              </a:solidFill>
              <a:latin typeface="Consolas"/>
              <a:ea typeface="Consolas"/>
              <a:cs typeface="Consolas"/>
              <a:sym typeface="Consolas"/>
            </a:endParaRPr>
          </a:p>
        </p:txBody>
      </p:sp>
      <p:sp>
        <p:nvSpPr>
          <p:cNvPr id="776" name="Google Shape;776;p82"/>
          <p:cNvSpPr txBox="1"/>
          <p:nvPr/>
        </p:nvSpPr>
        <p:spPr>
          <a:xfrm>
            <a:off x="4889712" y="3348571"/>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4A86E8"/>
                </a:solidFill>
                <a:latin typeface="Consolas"/>
                <a:ea typeface="Consolas"/>
                <a:cs typeface="Consolas"/>
                <a:sym typeface="Consolas"/>
              </a:rPr>
              <a:t>"f"</a:t>
            </a:r>
            <a:endParaRPr sz="1000" b="0" i="0" u="none" strike="noStrike" cap="none">
              <a:solidFill>
                <a:srgbClr val="4A86E8"/>
              </a:solidFill>
              <a:latin typeface="Consolas"/>
              <a:ea typeface="Consolas"/>
              <a:cs typeface="Consolas"/>
              <a:sym typeface="Consolas"/>
            </a:endParaRPr>
          </a:p>
        </p:txBody>
      </p:sp>
      <p:sp>
        <p:nvSpPr>
          <p:cNvPr id="777" name="Google Shape;777;p82"/>
          <p:cNvSpPr txBox="1"/>
          <p:nvPr/>
        </p:nvSpPr>
        <p:spPr>
          <a:xfrm>
            <a:off x="5423112" y="3348571"/>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4A86E8"/>
                </a:solidFill>
                <a:latin typeface="Consolas"/>
                <a:ea typeface="Consolas"/>
                <a:cs typeface="Consolas"/>
                <a:sym typeface="Consolas"/>
              </a:rPr>
              <a:t>"g"</a:t>
            </a:r>
            <a:endParaRPr sz="1000" b="0" i="0" u="none" strike="noStrike" cap="none">
              <a:solidFill>
                <a:srgbClr val="4A86E8"/>
              </a:solidFill>
              <a:latin typeface="Consolas"/>
              <a:ea typeface="Consolas"/>
              <a:cs typeface="Consolas"/>
              <a:sym typeface="Consolas"/>
            </a:endParaRPr>
          </a:p>
        </p:txBody>
      </p:sp>
      <p:sp>
        <p:nvSpPr>
          <p:cNvPr id="778" name="Google Shape;778;p82"/>
          <p:cNvSpPr txBox="1">
            <a:spLocks noGrp="1"/>
          </p:cNvSpPr>
          <p:nvPr>
            <p:ph type="body" idx="4294967295"/>
          </p:nvPr>
        </p:nvSpPr>
        <p:spPr>
          <a:xfrm>
            <a:off x="6236725" y="2455675"/>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When the copy reaches the </a:t>
            </a:r>
            <a:r>
              <a:rPr lang="en" sz="1200" b="1" i="1">
                <a:solidFill>
                  <a:srgbClr val="FF0000"/>
                </a:solidFill>
                <a:latin typeface="Arial"/>
                <a:ea typeface="Arial"/>
                <a:cs typeface="Arial"/>
                <a:sym typeface="Arial"/>
              </a:rPr>
              <a:t>end </a:t>
            </a:r>
            <a:r>
              <a:rPr lang="en" sz="1200">
                <a:solidFill>
                  <a:srgbClr val="000000"/>
                </a:solidFill>
                <a:latin typeface="Arial"/>
                <a:ea typeface="Arial"/>
                <a:cs typeface="Arial"/>
                <a:sym typeface="Arial"/>
              </a:rPr>
              <a:t>of the old array, it </a:t>
            </a:r>
            <a:r>
              <a:rPr lang="en" sz="1200" b="1" i="1">
                <a:solidFill>
                  <a:srgbClr val="FF0000"/>
                </a:solidFill>
                <a:latin typeface="Arial"/>
                <a:ea typeface="Arial"/>
                <a:cs typeface="Arial"/>
                <a:sym typeface="Arial"/>
              </a:rPr>
              <a:t>wraps around</a:t>
            </a:r>
            <a:r>
              <a:rPr lang="en" sz="1200">
                <a:solidFill>
                  <a:srgbClr val="000000"/>
                </a:solidFill>
                <a:latin typeface="Arial"/>
                <a:ea typeface="Arial"/>
                <a:cs typeface="Arial"/>
                <a:sym typeface="Arial"/>
              </a:rPr>
              <a:t> to </a:t>
            </a:r>
            <a:r>
              <a:rPr lang="en" sz="1200" b="1" i="1">
                <a:solidFill>
                  <a:srgbClr val="FF0000"/>
                </a:solidFill>
                <a:latin typeface="Arial"/>
                <a:ea typeface="Arial"/>
                <a:cs typeface="Arial"/>
                <a:sym typeface="Arial"/>
              </a:rPr>
              <a:t>index </a:t>
            </a:r>
            <a:r>
              <a:rPr lang="en" sz="1200">
                <a:solidFill>
                  <a:srgbClr val="FF0000"/>
                </a:solidFill>
                <a:latin typeface="Courier New"/>
                <a:ea typeface="Courier New"/>
                <a:cs typeface="Courier New"/>
                <a:sym typeface="Courier New"/>
              </a:rPr>
              <a:t>0</a:t>
            </a:r>
            <a:r>
              <a:rPr lang="en" sz="1200">
                <a:solidFill>
                  <a:srgbClr val="000000"/>
                </a:solidFill>
                <a:latin typeface="Arial"/>
                <a:ea typeface="Arial"/>
                <a:cs typeface="Arial"/>
                <a:sym typeface="Arial"/>
              </a:rPr>
              <a:t> and </a:t>
            </a:r>
            <a:r>
              <a:rPr lang="en" sz="1200" b="1" i="1">
                <a:solidFill>
                  <a:srgbClr val="4A86E8"/>
                </a:solidFill>
                <a:latin typeface="Arial"/>
                <a:ea typeface="Arial"/>
                <a:cs typeface="Arial"/>
                <a:sym typeface="Arial"/>
              </a:rPr>
              <a:t>continues </a:t>
            </a:r>
            <a:r>
              <a:rPr lang="en" sz="1200">
                <a:solidFill>
                  <a:srgbClr val="000000"/>
                </a:solidFill>
                <a:latin typeface="Arial"/>
                <a:ea typeface="Arial"/>
                <a:cs typeface="Arial"/>
                <a:sym typeface="Arial"/>
              </a:rPr>
              <a:t>from there.  </a:t>
            </a:r>
            <a:endParaRPr sz="1200">
              <a:solidFill>
                <a:srgbClr val="000000"/>
              </a:solidFill>
              <a:latin typeface="Arial"/>
              <a:ea typeface="Arial"/>
              <a:cs typeface="Arial"/>
              <a:sym typeface="Arial"/>
            </a:endParaRPr>
          </a:p>
        </p:txBody>
      </p:sp>
      <p:sp>
        <p:nvSpPr>
          <p:cNvPr id="779" name="Google Shape;779;p82"/>
          <p:cNvSpPr txBox="1">
            <a:spLocks noGrp="1"/>
          </p:cNvSpPr>
          <p:nvPr>
            <p:ph type="body" idx="4294967295"/>
          </p:nvPr>
        </p:nvSpPr>
        <p:spPr>
          <a:xfrm>
            <a:off x="6236725" y="4335503"/>
            <a:ext cx="2623800" cy="502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lang="en" sz="1200" b="1" i="1">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set to </a:t>
            </a:r>
            <a:r>
              <a:rPr lang="en" sz="1200">
                <a:solidFill>
                  <a:srgbClr val="FF0000"/>
                </a:solidFill>
                <a:latin typeface="Courier New"/>
                <a:ea typeface="Courier New"/>
                <a:cs typeface="Courier New"/>
                <a:sym typeface="Courier New"/>
              </a:rPr>
              <a:t>0</a:t>
            </a:r>
            <a:r>
              <a:rPr lang="en" sz="1200">
                <a:solidFill>
                  <a:srgbClr val="000000"/>
                </a:solidFill>
                <a:latin typeface="Arial"/>
                <a:ea typeface="Arial"/>
                <a:cs typeface="Arial"/>
                <a:sym typeface="Arial"/>
              </a:rPr>
              <a:t> and </a:t>
            </a:r>
            <a:r>
              <a:rPr lang="en" sz="1200" b="1" i="1">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set to </a:t>
            </a:r>
            <a:r>
              <a:rPr lang="en" sz="1200">
                <a:solidFill>
                  <a:srgbClr val="FF0000"/>
                </a:solidFill>
                <a:latin typeface="Courier New"/>
                <a:ea typeface="Courier New"/>
                <a:cs typeface="Courier New"/>
                <a:sym typeface="Courier New"/>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the new array.</a:t>
            </a:r>
            <a:endParaRPr sz="12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51"/>
                                        </p:tgtEl>
                                        <p:attrNameLst>
                                          <p:attrName>style.visibility</p:attrName>
                                        </p:attrNameLst>
                                      </p:cBhvr>
                                      <p:to>
                                        <p:strVal val="visible"/>
                                      </p:to>
                                    </p:set>
                                    <p:animEffect transition="in" filter="fade">
                                      <p:cBhvr>
                                        <p:cTn id="7" dur="1000"/>
                                        <p:tgtEl>
                                          <p:spTgt spid="751"/>
                                        </p:tgtEl>
                                      </p:cBhvr>
                                    </p:animEffect>
                                  </p:childTnLst>
                                </p:cTn>
                              </p:par>
                              <p:par>
                                <p:cTn id="8" presetID="10" presetClass="entr" presetSubtype="0" fill="hold" nodeType="withEffect">
                                  <p:stCondLst>
                                    <p:cond delay="0"/>
                                  </p:stCondLst>
                                  <p:childTnLst>
                                    <p:set>
                                      <p:cBhvr>
                                        <p:cTn id="9" dur="1" fill="hold">
                                          <p:stCondLst>
                                            <p:cond delay="0"/>
                                          </p:stCondLst>
                                        </p:cTn>
                                        <p:tgtEl>
                                          <p:spTgt spid="752"/>
                                        </p:tgtEl>
                                        <p:attrNameLst>
                                          <p:attrName>style.visibility</p:attrName>
                                        </p:attrNameLst>
                                      </p:cBhvr>
                                      <p:to>
                                        <p:strVal val="visible"/>
                                      </p:to>
                                    </p:set>
                                    <p:animEffect transition="in" filter="fade">
                                      <p:cBhvr>
                                        <p:cTn id="10" dur="1000"/>
                                        <p:tgtEl>
                                          <p:spTgt spid="752"/>
                                        </p:tgtEl>
                                      </p:cBhvr>
                                    </p:animEffect>
                                  </p:childTnLst>
                                </p:cTn>
                              </p:par>
                              <p:par>
                                <p:cTn id="11" presetID="10" presetClass="entr" presetSubtype="0" fill="hold" nodeType="withEffect">
                                  <p:stCondLst>
                                    <p:cond delay="0"/>
                                  </p:stCondLst>
                                  <p:childTnLst>
                                    <p:set>
                                      <p:cBhvr>
                                        <p:cTn id="12" dur="1" fill="hold">
                                          <p:stCondLst>
                                            <p:cond delay="0"/>
                                          </p:stCondLst>
                                        </p:cTn>
                                        <p:tgtEl>
                                          <p:spTgt spid="753"/>
                                        </p:tgtEl>
                                        <p:attrNameLst>
                                          <p:attrName>style.visibility</p:attrName>
                                        </p:attrNameLst>
                                      </p:cBhvr>
                                      <p:to>
                                        <p:strVal val="visible"/>
                                      </p:to>
                                    </p:set>
                                    <p:animEffect transition="in" filter="fade">
                                      <p:cBhvr>
                                        <p:cTn id="13" dur="1000"/>
                                        <p:tgtEl>
                                          <p:spTgt spid="75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56"/>
                                        </p:tgtEl>
                                        <p:attrNameLst>
                                          <p:attrName>style.visibility</p:attrName>
                                        </p:attrNameLst>
                                      </p:cBhvr>
                                      <p:to>
                                        <p:strVal val="visible"/>
                                      </p:to>
                                    </p:set>
                                    <p:animEffect transition="in" filter="fade">
                                      <p:cBhvr>
                                        <p:cTn id="18" dur="1000"/>
                                        <p:tgtEl>
                                          <p:spTgt spid="75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57"/>
                                        </p:tgtEl>
                                        <p:attrNameLst>
                                          <p:attrName>style.visibility</p:attrName>
                                        </p:attrNameLst>
                                      </p:cBhvr>
                                      <p:to>
                                        <p:strVal val="visible"/>
                                      </p:to>
                                    </p:set>
                                    <p:animEffect transition="in" filter="fade">
                                      <p:cBhvr>
                                        <p:cTn id="23" dur="1000"/>
                                        <p:tgtEl>
                                          <p:spTgt spid="75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71"/>
                                        </p:tgtEl>
                                        <p:attrNameLst>
                                          <p:attrName>style.visibility</p:attrName>
                                        </p:attrNameLst>
                                      </p:cBhvr>
                                      <p:to>
                                        <p:strVal val="visible"/>
                                      </p:to>
                                    </p:set>
                                    <p:animEffect transition="in" filter="fade">
                                      <p:cBhvr>
                                        <p:cTn id="28" dur="1000"/>
                                        <p:tgtEl>
                                          <p:spTgt spid="771"/>
                                        </p:tgtEl>
                                      </p:cBhvr>
                                    </p:animEffect>
                                  </p:childTnLst>
                                </p:cTn>
                              </p:par>
                              <p:par>
                                <p:cTn id="29" presetID="10" presetClass="entr" presetSubtype="0" fill="hold" nodeType="withEffect">
                                  <p:stCondLst>
                                    <p:cond delay="0"/>
                                  </p:stCondLst>
                                  <p:childTnLst>
                                    <p:set>
                                      <p:cBhvr>
                                        <p:cTn id="30" dur="1" fill="hold">
                                          <p:stCondLst>
                                            <p:cond delay="0"/>
                                          </p:stCondLst>
                                        </p:cTn>
                                        <p:tgtEl>
                                          <p:spTgt spid="758"/>
                                        </p:tgtEl>
                                        <p:attrNameLst>
                                          <p:attrName>style.visibility</p:attrName>
                                        </p:attrNameLst>
                                      </p:cBhvr>
                                      <p:to>
                                        <p:strVal val="visible"/>
                                      </p:to>
                                    </p:set>
                                    <p:animEffect transition="in" filter="fade">
                                      <p:cBhvr>
                                        <p:cTn id="31" dur="1000"/>
                                        <p:tgtEl>
                                          <p:spTgt spid="758"/>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759"/>
                                        </p:tgtEl>
                                        <p:attrNameLst>
                                          <p:attrName>style.visibility</p:attrName>
                                        </p:attrNameLst>
                                      </p:cBhvr>
                                      <p:to>
                                        <p:strVal val="visible"/>
                                      </p:to>
                                    </p:set>
                                    <p:animEffect transition="in" filter="fade">
                                      <p:cBhvr>
                                        <p:cTn id="35" dur="1000"/>
                                        <p:tgtEl>
                                          <p:spTgt spid="75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72"/>
                                        </p:tgtEl>
                                        <p:attrNameLst>
                                          <p:attrName>style.visibility</p:attrName>
                                        </p:attrNameLst>
                                      </p:cBhvr>
                                      <p:to>
                                        <p:strVal val="visible"/>
                                      </p:to>
                                    </p:set>
                                    <p:animEffect transition="in" filter="fade">
                                      <p:cBhvr>
                                        <p:cTn id="40" dur="1000"/>
                                        <p:tgtEl>
                                          <p:spTgt spid="772"/>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766"/>
                                        </p:tgtEl>
                                        <p:attrNameLst>
                                          <p:attrName>style.visibility</p:attrName>
                                        </p:attrNameLst>
                                      </p:cBhvr>
                                      <p:to>
                                        <p:strVal val="visible"/>
                                      </p:to>
                                    </p:set>
                                    <p:animEffect transition="in" filter="fade">
                                      <p:cBhvr>
                                        <p:cTn id="44" dur="1000"/>
                                        <p:tgtEl>
                                          <p:spTgt spid="766"/>
                                        </p:tgtEl>
                                      </p:cBhvr>
                                    </p:animEffect>
                                  </p:childTnLst>
                                </p:cTn>
                              </p:par>
                              <p:par>
                                <p:cTn id="45" presetID="10" presetClass="entr" presetSubtype="0" fill="hold" nodeType="withEffect">
                                  <p:stCondLst>
                                    <p:cond delay="0"/>
                                  </p:stCondLst>
                                  <p:childTnLst>
                                    <p:set>
                                      <p:cBhvr>
                                        <p:cTn id="46" dur="1" fill="hold">
                                          <p:stCondLst>
                                            <p:cond delay="0"/>
                                          </p:stCondLst>
                                        </p:cTn>
                                        <p:tgtEl>
                                          <p:spTgt spid="773"/>
                                        </p:tgtEl>
                                        <p:attrNameLst>
                                          <p:attrName>style.visibility</p:attrName>
                                        </p:attrNameLst>
                                      </p:cBhvr>
                                      <p:to>
                                        <p:strVal val="visible"/>
                                      </p:to>
                                    </p:set>
                                    <p:animEffect transition="in" filter="fade">
                                      <p:cBhvr>
                                        <p:cTn id="47" dur="1000"/>
                                        <p:tgtEl>
                                          <p:spTgt spid="773"/>
                                        </p:tgtEl>
                                      </p:cBhvr>
                                    </p:animEffect>
                                  </p:childTnLst>
                                </p:cTn>
                              </p:par>
                            </p:childTnLst>
                          </p:cTn>
                        </p:par>
                        <p:par>
                          <p:cTn id="48" fill="hold">
                            <p:stCondLst>
                              <p:cond delay="2000"/>
                            </p:stCondLst>
                            <p:childTnLst>
                              <p:par>
                                <p:cTn id="49" presetID="10" presetClass="entr" presetSubtype="0" fill="hold" nodeType="afterEffect">
                                  <p:stCondLst>
                                    <p:cond delay="0"/>
                                  </p:stCondLst>
                                  <p:childTnLst>
                                    <p:set>
                                      <p:cBhvr>
                                        <p:cTn id="50" dur="1" fill="hold">
                                          <p:stCondLst>
                                            <p:cond delay="0"/>
                                          </p:stCondLst>
                                        </p:cTn>
                                        <p:tgtEl>
                                          <p:spTgt spid="767"/>
                                        </p:tgtEl>
                                        <p:attrNameLst>
                                          <p:attrName>style.visibility</p:attrName>
                                        </p:attrNameLst>
                                      </p:cBhvr>
                                      <p:to>
                                        <p:strVal val="visible"/>
                                      </p:to>
                                    </p:set>
                                    <p:animEffect transition="in" filter="fade">
                                      <p:cBhvr>
                                        <p:cTn id="51" dur="1000"/>
                                        <p:tgtEl>
                                          <p:spTgt spid="767"/>
                                        </p:tgtEl>
                                      </p:cBhvr>
                                    </p:animEffect>
                                  </p:childTnLst>
                                </p:cTn>
                              </p:par>
                              <p:par>
                                <p:cTn id="52" presetID="10" presetClass="entr" presetSubtype="0" fill="hold" nodeType="withEffect">
                                  <p:stCondLst>
                                    <p:cond delay="0"/>
                                  </p:stCondLst>
                                  <p:childTnLst>
                                    <p:set>
                                      <p:cBhvr>
                                        <p:cTn id="53" dur="1" fill="hold">
                                          <p:stCondLst>
                                            <p:cond delay="0"/>
                                          </p:stCondLst>
                                        </p:cTn>
                                        <p:tgtEl>
                                          <p:spTgt spid="774"/>
                                        </p:tgtEl>
                                        <p:attrNameLst>
                                          <p:attrName>style.visibility</p:attrName>
                                        </p:attrNameLst>
                                      </p:cBhvr>
                                      <p:to>
                                        <p:strVal val="visible"/>
                                      </p:to>
                                    </p:set>
                                    <p:animEffect transition="in" filter="fade">
                                      <p:cBhvr>
                                        <p:cTn id="54" dur="1000"/>
                                        <p:tgtEl>
                                          <p:spTgt spid="774"/>
                                        </p:tgtEl>
                                      </p:cBhvr>
                                    </p:animEffect>
                                  </p:childTnLst>
                                </p:cTn>
                              </p:par>
                            </p:childTnLst>
                          </p:cTn>
                        </p:par>
                        <p:par>
                          <p:cTn id="55" fill="hold">
                            <p:stCondLst>
                              <p:cond delay="3000"/>
                            </p:stCondLst>
                            <p:childTnLst>
                              <p:par>
                                <p:cTn id="56" presetID="10" presetClass="entr" presetSubtype="0" fill="hold" nodeType="afterEffect">
                                  <p:stCondLst>
                                    <p:cond delay="0"/>
                                  </p:stCondLst>
                                  <p:childTnLst>
                                    <p:set>
                                      <p:cBhvr>
                                        <p:cTn id="57" dur="1" fill="hold">
                                          <p:stCondLst>
                                            <p:cond delay="0"/>
                                          </p:stCondLst>
                                        </p:cTn>
                                        <p:tgtEl>
                                          <p:spTgt spid="768"/>
                                        </p:tgtEl>
                                        <p:attrNameLst>
                                          <p:attrName>style.visibility</p:attrName>
                                        </p:attrNameLst>
                                      </p:cBhvr>
                                      <p:to>
                                        <p:strVal val="visible"/>
                                      </p:to>
                                    </p:set>
                                    <p:animEffect transition="in" filter="fade">
                                      <p:cBhvr>
                                        <p:cTn id="58" dur="1000"/>
                                        <p:tgtEl>
                                          <p:spTgt spid="768"/>
                                        </p:tgtEl>
                                      </p:cBhvr>
                                    </p:animEffect>
                                  </p:childTnLst>
                                </p:cTn>
                              </p:par>
                              <p:par>
                                <p:cTn id="59" presetID="10" presetClass="entr" presetSubtype="0" fill="hold" nodeType="withEffect">
                                  <p:stCondLst>
                                    <p:cond delay="0"/>
                                  </p:stCondLst>
                                  <p:childTnLst>
                                    <p:set>
                                      <p:cBhvr>
                                        <p:cTn id="60" dur="1" fill="hold">
                                          <p:stCondLst>
                                            <p:cond delay="0"/>
                                          </p:stCondLst>
                                        </p:cTn>
                                        <p:tgtEl>
                                          <p:spTgt spid="775"/>
                                        </p:tgtEl>
                                        <p:attrNameLst>
                                          <p:attrName>style.visibility</p:attrName>
                                        </p:attrNameLst>
                                      </p:cBhvr>
                                      <p:to>
                                        <p:strVal val="visible"/>
                                      </p:to>
                                    </p:set>
                                    <p:animEffect transition="in" filter="fade">
                                      <p:cBhvr>
                                        <p:cTn id="61" dur="1000"/>
                                        <p:tgtEl>
                                          <p:spTgt spid="77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78"/>
                                        </p:tgtEl>
                                        <p:attrNameLst>
                                          <p:attrName>style.visibility</p:attrName>
                                        </p:attrNameLst>
                                      </p:cBhvr>
                                      <p:to>
                                        <p:strVal val="visible"/>
                                      </p:to>
                                    </p:set>
                                    <p:animEffect transition="in" filter="fade">
                                      <p:cBhvr>
                                        <p:cTn id="66" dur="1000"/>
                                        <p:tgtEl>
                                          <p:spTgt spid="778"/>
                                        </p:tgtEl>
                                      </p:cBhvr>
                                    </p:animEffect>
                                  </p:childTnLst>
                                </p:cTn>
                              </p:par>
                            </p:childTnLst>
                          </p:cTn>
                        </p:par>
                        <p:par>
                          <p:cTn id="67" fill="hold">
                            <p:stCondLst>
                              <p:cond delay="1000"/>
                            </p:stCondLst>
                            <p:childTnLst>
                              <p:par>
                                <p:cTn id="68" presetID="10" presetClass="entr" presetSubtype="0" fill="hold" nodeType="afterEffect">
                                  <p:stCondLst>
                                    <p:cond delay="0"/>
                                  </p:stCondLst>
                                  <p:childTnLst>
                                    <p:set>
                                      <p:cBhvr>
                                        <p:cTn id="69" dur="1" fill="hold">
                                          <p:stCondLst>
                                            <p:cond delay="0"/>
                                          </p:stCondLst>
                                        </p:cTn>
                                        <p:tgtEl>
                                          <p:spTgt spid="769"/>
                                        </p:tgtEl>
                                        <p:attrNameLst>
                                          <p:attrName>style.visibility</p:attrName>
                                        </p:attrNameLst>
                                      </p:cBhvr>
                                      <p:to>
                                        <p:strVal val="visible"/>
                                      </p:to>
                                    </p:set>
                                    <p:animEffect transition="in" filter="fade">
                                      <p:cBhvr>
                                        <p:cTn id="70" dur="1000"/>
                                        <p:tgtEl>
                                          <p:spTgt spid="769"/>
                                        </p:tgtEl>
                                      </p:cBhvr>
                                    </p:animEffect>
                                  </p:childTnLst>
                                </p:cTn>
                              </p:par>
                              <p:par>
                                <p:cTn id="71" presetID="10" presetClass="entr" presetSubtype="0" fill="hold" nodeType="withEffect">
                                  <p:stCondLst>
                                    <p:cond delay="0"/>
                                  </p:stCondLst>
                                  <p:childTnLst>
                                    <p:set>
                                      <p:cBhvr>
                                        <p:cTn id="72" dur="1" fill="hold">
                                          <p:stCondLst>
                                            <p:cond delay="0"/>
                                          </p:stCondLst>
                                        </p:cTn>
                                        <p:tgtEl>
                                          <p:spTgt spid="776"/>
                                        </p:tgtEl>
                                        <p:attrNameLst>
                                          <p:attrName>style.visibility</p:attrName>
                                        </p:attrNameLst>
                                      </p:cBhvr>
                                      <p:to>
                                        <p:strVal val="visible"/>
                                      </p:to>
                                    </p:set>
                                    <p:animEffect transition="in" filter="fade">
                                      <p:cBhvr>
                                        <p:cTn id="73" dur="1000"/>
                                        <p:tgtEl>
                                          <p:spTgt spid="776"/>
                                        </p:tgtEl>
                                      </p:cBhvr>
                                    </p:animEffect>
                                  </p:childTnLst>
                                </p:cTn>
                              </p:par>
                            </p:childTnLst>
                          </p:cTn>
                        </p:par>
                        <p:par>
                          <p:cTn id="74" fill="hold">
                            <p:stCondLst>
                              <p:cond delay="2000"/>
                            </p:stCondLst>
                            <p:childTnLst>
                              <p:par>
                                <p:cTn id="75" presetID="10" presetClass="entr" presetSubtype="0" fill="hold" nodeType="afterEffect">
                                  <p:stCondLst>
                                    <p:cond delay="0"/>
                                  </p:stCondLst>
                                  <p:childTnLst>
                                    <p:set>
                                      <p:cBhvr>
                                        <p:cTn id="76" dur="1" fill="hold">
                                          <p:stCondLst>
                                            <p:cond delay="0"/>
                                          </p:stCondLst>
                                        </p:cTn>
                                        <p:tgtEl>
                                          <p:spTgt spid="770"/>
                                        </p:tgtEl>
                                        <p:attrNameLst>
                                          <p:attrName>style.visibility</p:attrName>
                                        </p:attrNameLst>
                                      </p:cBhvr>
                                      <p:to>
                                        <p:strVal val="visible"/>
                                      </p:to>
                                    </p:set>
                                    <p:animEffect transition="in" filter="fade">
                                      <p:cBhvr>
                                        <p:cTn id="77" dur="1000"/>
                                        <p:tgtEl>
                                          <p:spTgt spid="770"/>
                                        </p:tgtEl>
                                      </p:cBhvr>
                                    </p:animEffect>
                                  </p:childTnLst>
                                </p:cTn>
                              </p:par>
                              <p:par>
                                <p:cTn id="78" presetID="10" presetClass="entr" presetSubtype="0" fill="hold" nodeType="withEffect">
                                  <p:stCondLst>
                                    <p:cond delay="0"/>
                                  </p:stCondLst>
                                  <p:childTnLst>
                                    <p:set>
                                      <p:cBhvr>
                                        <p:cTn id="79" dur="1" fill="hold">
                                          <p:stCondLst>
                                            <p:cond delay="0"/>
                                          </p:stCondLst>
                                        </p:cTn>
                                        <p:tgtEl>
                                          <p:spTgt spid="777"/>
                                        </p:tgtEl>
                                        <p:attrNameLst>
                                          <p:attrName>style.visibility</p:attrName>
                                        </p:attrNameLst>
                                      </p:cBhvr>
                                      <p:to>
                                        <p:strVal val="visible"/>
                                      </p:to>
                                    </p:set>
                                    <p:animEffect transition="in" filter="fade">
                                      <p:cBhvr>
                                        <p:cTn id="80" dur="1000"/>
                                        <p:tgtEl>
                                          <p:spTgt spid="777"/>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779"/>
                                        </p:tgtEl>
                                        <p:attrNameLst>
                                          <p:attrName>style.visibility</p:attrName>
                                        </p:attrNameLst>
                                      </p:cBhvr>
                                      <p:to>
                                        <p:strVal val="visible"/>
                                      </p:to>
                                    </p:set>
                                    <p:animEffect transition="in" filter="fade">
                                      <p:cBhvr>
                                        <p:cTn id="85" dur="1000"/>
                                        <p:tgtEl>
                                          <p:spTgt spid="779"/>
                                        </p:tgtEl>
                                      </p:cBhvr>
                                    </p:animEffect>
                                  </p:childTnLst>
                                </p:cTn>
                              </p:par>
                            </p:childTnLst>
                          </p:cTn>
                        </p:par>
                        <p:par>
                          <p:cTn id="86" fill="hold">
                            <p:stCondLst>
                              <p:cond delay="1000"/>
                            </p:stCondLst>
                            <p:childTnLst>
                              <p:par>
                                <p:cTn id="87" presetID="10" presetClass="entr" presetSubtype="0" fill="hold" nodeType="afterEffect">
                                  <p:stCondLst>
                                    <p:cond delay="0"/>
                                  </p:stCondLst>
                                  <p:childTnLst>
                                    <p:set>
                                      <p:cBhvr>
                                        <p:cTn id="88" dur="1" fill="hold">
                                          <p:stCondLst>
                                            <p:cond delay="0"/>
                                          </p:stCondLst>
                                        </p:cTn>
                                        <p:tgtEl>
                                          <p:spTgt spid="763"/>
                                        </p:tgtEl>
                                        <p:attrNameLst>
                                          <p:attrName>style.visibility</p:attrName>
                                        </p:attrNameLst>
                                      </p:cBhvr>
                                      <p:to>
                                        <p:strVal val="visible"/>
                                      </p:to>
                                    </p:set>
                                    <p:animEffect transition="in" filter="fade">
                                      <p:cBhvr>
                                        <p:cTn id="89" dur="1000"/>
                                        <p:tgtEl>
                                          <p:spTgt spid="763"/>
                                        </p:tgtEl>
                                      </p:cBhvr>
                                    </p:animEffect>
                                  </p:childTnLst>
                                </p:cTn>
                              </p:par>
                            </p:childTnLst>
                          </p:cTn>
                        </p:par>
                        <p:par>
                          <p:cTn id="90" fill="hold">
                            <p:stCondLst>
                              <p:cond delay="2000"/>
                            </p:stCondLst>
                            <p:childTnLst>
                              <p:par>
                                <p:cTn id="91" presetID="10" presetClass="entr" presetSubtype="0" fill="hold" nodeType="afterEffect">
                                  <p:stCondLst>
                                    <p:cond delay="0"/>
                                  </p:stCondLst>
                                  <p:childTnLst>
                                    <p:set>
                                      <p:cBhvr>
                                        <p:cTn id="92" dur="1" fill="hold">
                                          <p:stCondLst>
                                            <p:cond delay="0"/>
                                          </p:stCondLst>
                                        </p:cTn>
                                        <p:tgtEl>
                                          <p:spTgt spid="760"/>
                                        </p:tgtEl>
                                        <p:attrNameLst>
                                          <p:attrName>style.visibility</p:attrName>
                                        </p:attrNameLst>
                                      </p:cBhvr>
                                      <p:to>
                                        <p:strVal val="visible"/>
                                      </p:to>
                                    </p:set>
                                    <p:animEffect transition="in" filter="fade">
                                      <p:cBhvr>
                                        <p:cTn id="93" dur="1000"/>
                                        <p:tgtEl>
                                          <p:spTgt spid="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8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A Node-based Queue never "fills up" because we can always add another node to the back. But arrays are fixed-size, and so we may eventually run out of space. The solution is to make a new, larger array and copy the elements into it. </a:t>
            </a:r>
            <a:endParaRPr/>
          </a:p>
        </p:txBody>
      </p:sp>
      <p:sp>
        <p:nvSpPr>
          <p:cNvPr id="785" name="Google Shape;785;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786" name="Google Shape;786;p83"/>
          <p:cNvSpPr txBox="1">
            <a:spLocks noGrp="1"/>
          </p:cNvSpPr>
          <p:nvPr>
            <p:ph type="body" idx="2"/>
          </p:nvPr>
        </p:nvSpPr>
        <p:spPr>
          <a:xfrm>
            <a:off x="4095325" y="1784100"/>
            <a:ext cx="4740900" cy="32832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your </a:t>
            </a:r>
            <a:r>
              <a:rPr lang="en" sz="1500" dirty="0">
                <a:latin typeface="Courier New"/>
                <a:ea typeface="Courier New"/>
                <a:cs typeface="Courier New"/>
                <a:sym typeface="Courier New"/>
              </a:rPr>
              <a:t>ArrayQueue</a:t>
            </a:r>
            <a:r>
              <a:rPr lang="en" sz="1500" dirty="0"/>
              <a:t> class and navigate to the </a:t>
            </a:r>
            <a:r>
              <a:rPr lang="en" sz="1500" dirty="0">
                <a:solidFill>
                  <a:srgbClr val="FF0000"/>
                </a:solidFill>
                <a:latin typeface="Courier New"/>
                <a:ea typeface="Courier New"/>
                <a:cs typeface="Courier New"/>
                <a:sym typeface="Courier New"/>
              </a:rPr>
              <a:t>enqueue</a:t>
            </a:r>
            <a:r>
              <a:rPr lang="en" sz="1500" dirty="0">
                <a:solidFill>
                  <a:srgbClr val="FF0000"/>
                </a:solidFill>
              </a:rPr>
              <a:t> </a:t>
            </a:r>
            <a:r>
              <a:rPr lang="en" sz="1500" b="1" i="1" dirty="0">
                <a:solidFill>
                  <a:srgbClr val="FF0000"/>
                </a:solidFill>
              </a:rPr>
              <a:t>method</a:t>
            </a:r>
            <a:r>
              <a:rPr lang="en" sz="1500" dirty="0"/>
              <a:t> and modify it to resize the array </a:t>
            </a:r>
            <a:r>
              <a:rPr lang="en" sz="1500" b="1" i="1" dirty="0">
                <a:solidFill>
                  <a:srgbClr val="FF0000"/>
                </a:solidFill>
              </a:rPr>
              <a:t>if the array is full</a:t>
            </a:r>
            <a:r>
              <a:rPr lang="en" sz="1500" dirty="0"/>
              <a:t>.</a:t>
            </a:r>
            <a:endParaRPr sz="1500" dirty="0"/>
          </a:p>
          <a:p>
            <a:pPr marL="914400" lvl="1" indent="-311150" algn="l" rtl="0">
              <a:spcBef>
                <a:spcPts val="0"/>
              </a:spcBef>
              <a:spcAft>
                <a:spcPts val="0"/>
              </a:spcAft>
              <a:buSzPts val="1300"/>
              <a:buChar char="○"/>
            </a:pPr>
            <a:r>
              <a:rPr lang="en" sz="1300" dirty="0"/>
              <a:t>Make a new array that is double the size.</a:t>
            </a:r>
            <a:endParaRPr sz="1300" dirty="0"/>
          </a:p>
          <a:p>
            <a:pPr marL="914400" lvl="1" indent="-311150" algn="l" rtl="0">
              <a:spcBef>
                <a:spcPts val="0"/>
              </a:spcBef>
              <a:spcAft>
                <a:spcPts val="0"/>
              </a:spcAft>
              <a:buSzPts val="1300"/>
              <a:buChar char="○"/>
            </a:pPr>
            <a:r>
              <a:rPr lang="en" sz="1300" dirty="0"/>
              <a:t>Use a loop to copy beginning </a:t>
            </a:r>
            <a:r>
              <a:rPr lang="en" sz="1300" b="1" i="1" dirty="0">
                <a:solidFill>
                  <a:srgbClr val="FF0000"/>
                </a:solidFill>
              </a:rPr>
              <a:t>from the</a:t>
            </a:r>
            <a:r>
              <a:rPr lang="en" sz="1300" dirty="0">
                <a:solidFill>
                  <a:srgbClr val="FF0000"/>
                </a:solidFill>
              </a:rPr>
              <a:t> </a:t>
            </a:r>
            <a:r>
              <a:rPr lang="en" sz="1300" dirty="0">
                <a:solidFill>
                  <a:srgbClr val="FF0000"/>
                </a:solidFill>
                <a:latin typeface="Courier New"/>
                <a:ea typeface="Courier New"/>
                <a:cs typeface="Courier New"/>
                <a:sym typeface="Courier New"/>
              </a:rPr>
              <a:t>front</a:t>
            </a:r>
            <a:r>
              <a:rPr lang="en" sz="1300" dirty="0">
                <a:solidFill>
                  <a:srgbClr val="FF0000"/>
                </a:solidFill>
              </a:rPr>
              <a:t> </a:t>
            </a:r>
            <a:r>
              <a:rPr lang="en" sz="1300" b="1" i="1" dirty="0">
                <a:solidFill>
                  <a:srgbClr val="FF0000"/>
                </a:solidFill>
              </a:rPr>
              <a:t>index</a:t>
            </a:r>
            <a:r>
              <a:rPr lang="en" sz="1300" dirty="0"/>
              <a:t> in the old array and </a:t>
            </a:r>
            <a:r>
              <a:rPr lang="en" sz="1300" b="1" i="1" dirty="0">
                <a:solidFill>
                  <a:srgbClr val="FF0000"/>
                </a:solidFill>
              </a:rPr>
              <a:t>into index </a:t>
            </a:r>
            <a:r>
              <a:rPr lang="en" sz="1300" dirty="0">
                <a:solidFill>
                  <a:srgbClr val="FF0000"/>
                </a:solidFill>
                <a:latin typeface="Courier New"/>
                <a:ea typeface="Courier New"/>
                <a:cs typeface="Courier New"/>
                <a:sym typeface="Courier New"/>
              </a:rPr>
              <a:t>0</a:t>
            </a:r>
            <a:r>
              <a:rPr lang="en" sz="1300" dirty="0"/>
              <a:t> in the new array.</a:t>
            </a:r>
            <a:endParaRPr sz="1300" dirty="0"/>
          </a:p>
          <a:p>
            <a:pPr marL="1371600" lvl="2" indent="-311150" algn="l" rtl="0">
              <a:spcBef>
                <a:spcPts val="0"/>
              </a:spcBef>
              <a:spcAft>
                <a:spcPts val="0"/>
              </a:spcAft>
              <a:buSzPts val="1300"/>
              <a:buChar char="■"/>
            </a:pPr>
            <a:r>
              <a:rPr lang="en" sz="1300" b="1" i="1" dirty="0">
                <a:solidFill>
                  <a:srgbClr val="FF0000"/>
                </a:solidFill>
              </a:rPr>
              <a:t>Hint</a:t>
            </a:r>
            <a:r>
              <a:rPr lang="en" sz="1300" dirty="0"/>
              <a:t>: The </a:t>
            </a:r>
            <a:r>
              <a:rPr lang="en" sz="1300" dirty="0">
                <a:solidFill>
                  <a:srgbClr val="FF0000"/>
                </a:solidFill>
                <a:latin typeface="Courier New"/>
                <a:ea typeface="Courier New"/>
                <a:cs typeface="Courier New"/>
                <a:sym typeface="Courier New"/>
              </a:rPr>
              <a:t>destination</a:t>
            </a:r>
            <a:r>
              <a:rPr lang="en" sz="1300" dirty="0">
                <a:solidFill>
                  <a:srgbClr val="FF0000"/>
                </a:solidFill>
              </a:rPr>
              <a:t> </a:t>
            </a:r>
            <a:r>
              <a:rPr lang="en" sz="1300" dirty="0"/>
              <a:t>index starts at </a:t>
            </a:r>
            <a:r>
              <a:rPr lang="en" sz="1300" dirty="0">
                <a:solidFill>
                  <a:srgbClr val="FF0000"/>
                </a:solidFill>
                <a:latin typeface="Courier New"/>
                <a:ea typeface="Courier New"/>
                <a:cs typeface="Courier New"/>
                <a:sym typeface="Courier New"/>
              </a:rPr>
              <a:t>0</a:t>
            </a:r>
            <a:r>
              <a:rPr lang="en" sz="1300" dirty="0"/>
              <a:t> and ends at </a:t>
            </a:r>
            <a:r>
              <a:rPr lang="en" sz="1300" dirty="0">
                <a:solidFill>
                  <a:srgbClr val="FF0000"/>
                </a:solidFill>
                <a:latin typeface="Courier New"/>
                <a:ea typeface="Courier New"/>
                <a:cs typeface="Courier New"/>
                <a:sym typeface="Courier New"/>
              </a:rPr>
              <a:t>size-1</a:t>
            </a:r>
            <a:endParaRPr sz="1300" dirty="0">
              <a:solidFill>
                <a:srgbClr val="FF0000"/>
              </a:solidFill>
              <a:latin typeface="Courier New"/>
              <a:ea typeface="Courier New"/>
              <a:cs typeface="Courier New"/>
              <a:sym typeface="Courier New"/>
            </a:endParaRPr>
          </a:p>
          <a:p>
            <a:pPr marL="1371600" lvl="2" indent="-311150" algn="l" rtl="0">
              <a:spcBef>
                <a:spcPts val="0"/>
              </a:spcBef>
              <a:spcAft>
                <a:spcPts val="0"/>
              </a:spcAft>
              <a:buSzPts val="1300"/>
              <a:buChar char="■"/>
            </a:pPr>
            <a:r>
              <a:rPr lang="en" sz="1300" b="1" i="1" dirty="0">
                <a:solidFill>
                  <a:srgbClr val="FF0000"/>
                </a:solidFill>
              </a:rPr>
              <a:t>Hint</a:t>
            </a:r>
            <a:r>
              <a:rPr lang="en" sz="1300" dirty="0"/>
              <a:t>: The </a:t>
            </a:r>
            <a:r>
              <a:rPr lang="en" sz="1300" dirty="0">
                <a:solidFill>
                  <a:srgbClr val="FF0000"/>
                </a:solidFill>
                <a:latin typeface="Courier New"/>
                <a:ea typeface="Courier New"/>
                <a:cs typeface="Courier New"/>
                <a:sym typeface="Courier New"/>
              </a:rPr>
              <a:t>source</a:t>
            </a:r>
            <a:r>
              <a:rPr lang="en" sz="1300" dirty="0">
                <a:solidFill>
                  <a:srgbClr val="FF0000"/>
                </a:solidFill>
              </a:rPr>
              <a:t> </a:t>
            </a:r>
            <a:r>
              <a:rPr lang="en" sz="1300" dirty="0"/>
              <a:t>index is </a:t>
            </a:r>
            <a:r>
              <a:rPr lang="en" sz="1300" dirty="0">
                <a:solidFill>
                  <a:srgbClr val="FF0000"/>
                </a:solidFill>
                <a:latin typeface="Courier New"/>
                <a:ea typeface="Courier New"/>
                <a:cs typeface="Courier New"/>
                <a:sym typeface="Courier New"/>
              </a:rPr>
              <a:t>(front + destination) % size</a:t>
            </a:r>
            <a:r>
              <a:rPr lang="en" sz="1300" dirty="0">
                <a:solidFill>
                  <a:schemeClr val="lt2"/>
                </a:solidFill>
              </a:rPr>
              <a:t>.</a:t>
            </a:r>
            <a:endParaRPr sz="1300" dirty="0">
              <a:solidFill>
                <a:schemeClr val="lt2"/>
              </a:solidFill>
            </a:endParaRPr>
          </a:p>
          <a:p>
            <a:pPr marL="914400" lvl="1" indent="-311150" algn="l" rtl="0">
              <a:spcBef>
                <a:spcPts val="0"/>
              </a:spcBef>
              <a:spcAft>
                <a:spcPts val="0"/>
              </a:spcAft>
              <a:buClr>
                <a:schemeClr val="lt2"/>
              </a:buClr>
              <a:buSzPts val="1300"/>
              <a:buChar char="○"/>
            </a:pPr>
            <a:r>
              <a:rPr lang="en" sz="1300" dirty="0">
                <a:solidFill>
                  <a:schemeClr val="lt2"/>
                </a:solidFill>
              </a:rPr>
              <a:t>Don't forget to set </a:t>
            </a:r>
            <a:r>
              <a:rPr lang="en" sz="1300" dirty="0">
                <a:solidFill>
                  <a:srgbClr val="FF0000"/>
                </a:solidFill>
                <a:latin typeface="Courier New"/>
                <a:ea typeface="Courier New"/>
                <a:cs typeface="Courier New"/>
                <a:sym typeface="Courier New"/>
              </a:rPr>
              <a:t>front</a:t>
            </a:r>
            <a:r>
              <a:rPr lang="en" sz="1300" dirty="0">
                <a:solidFill>
                  <a:srgbClr val="FF0000"/>
                </a:solidFill>
              </a:rPr>
              <a:t> </a:t>
            </a:r>
            <a:r>
              <a:rPr lang="en" sz="1300" dirty="0">
                <a:solidFill>
                  <a:schemeClr val="lt2"/>
                </a:solidFill>
              </a:rPr>
              <a:t>to </a:t>
            </a:r>
            <a:r>
              <a:rPr lang="en" sz="1300" dirty="0">
                <a:solidFill>
                  <a:srgbClr val="FF0000"/>
                </a:solidFill>
                <a:latin typeface="Courier New"/>
                <a:ea typeface="Courier New"/>
                <a:cs typeface="Courier New"/>
                <a:sym typeface="Courier New"/>
              </a:rPr>
              <a:t>0</a:t>
            </a:r>
            <a:r>
              <a:rPr lang="en" sz="1300" dirty="0">
                <a:solidFill>
                  <a:schemeClr val="lt2"/>
                </a:solidFill>
              </a:rPr>
              <a:t> and </a:t>
            </a:r>
            <a:r>
              <a:rPr lang="en" sz="1300" dirty="0">
                <a:solidFill>
                  <a:srgbClr val="FF0000"/>
                </a:solidFill>
                <a:latin typeface="Courier New"/>
                <a:ea typeface="Courier New"/>
                <a:cs typeface="Courier New"/>
                <a:sym typeface="Courier New"/>
              </a:rPr>
              <a:t>back</a:t>
            </a:r>
            <a:r>
              <a:rPr lang="en" sz="1300" dirty="0">
                <a:solidFill>
                  <a:srgbClr val="FF0000"/>
                </a:solidFill>
              </a:rPr>
              <a:t> </a:t>
            </a:r>
            <a:r>
              <a:rPr lang="en" sz="1300" dirty="0">
                <a:solidFill>
                  <a:schemeClr val="lt2"/>
                </a:solidFill>
              </a:rPr>
              <a:t>to </a:t>
            </a:r>
            <a:r>
              <a:rPr lang="en" sz="1300" dirty="0">
                <a:solidFill>
                  <a:srgbClr val="FF0000"/>
                </a:solidFill>
                <a:latin typeface="Courier New"/>
                <a:ea typeface="Courier New"/>
                <a:cs typeface="Courier New"/>
                <a:sym typeface="Courier New"/>
              </a:rPr>
              <a:t>size</a:t>
            </a:r>
            <a:r>
              <a:rPr lang="en" sz="1300" dirty="0">
                <a:solidFill>
                  <a:schemeClr val="lt2"/>
                </a:solidFill>
              </a:rPr>
              <a:t>!</a:t>
            </a:r>
            <a:endParaRPr sz="1300" dirty="0">
              <a:solidFill>
                <a:schemeClr val="lt2"/>
              </a:solidFill>
            </a:endParaRPr>
          </a:p>
          <a:p>
            <a:pPr marL="457200" lvl="0" indent="-323850" algn="l" rtl="0">
              <a:spcBef>
                <a:spcPts val="0"/>
              </a:spcBef>
              <a:spcAft>
                <a:spcPts val="0"/>
              </a:spcAft>
              <a:buSzPts val="1500"/>
              <a:buChar char="●"/>
            </a:pPr>
            <a:r>
              <a:rPr lang="en" sz="1500" b="1" i="1" dirty="0">
                <a:solidFill>
                  <a:srgbClr val="FF0000"/>
                </a:solidFill>
              </a:rPr>
              <a:t>Compile</a:t>
            </a:r>
            <a:r>
              <a:rPr lang="en" sz="1500" dirty="0"/>
              <a:t> your class.</a:t>
            </a:r>
            <a:endParaRPr sz="1500" dirty="0"/>
          </a:p>
        </p:txBody>
      </p:sp>
      <p:sp>
        <p:nvSpPr>
          <p:cNvPr id="787" name="Google Shape;787;p8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Resizing</a:t>
            </a:r>
            <a:endParaRPr/>
          </a:p>
        </p:txBody>
      </p:sp>
      <p:sp>
        <p:nvSpPr>
          <p:cNvPr id="788" name="Google Shape;788;p8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5.11</a:t>
            </a:r>
            <a:endParaRPr/>
          </a:p>
        </p:txBody>
      </p:sp>
      <p:pic>
        <p:nvPicPr>
          <p:cNvPr id="789" name="Google Shape;789;p83"/>
          <p:cNvPicPr preferRelativeResize="0"/>
          <p:nvPr/>
        </p:nvPicPr>
        <p:blipFill>
          <a:blip r:embed="rId3">
            <a:alphaModFix/>
          </a:blip>
          <a:stretch>
            <a:fillRect/>
          </a:stretch>
        </p:blipFill>
        <p:spPr>
          <a:xfrm>
            <a:off x="152400" y="2001325"/>
            <a:ext cx="3942924" cy="248180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84"/>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27</a:t>
            </a:fld>
            <a:endParaRPr/>
          </a:p>
        </p:txBody>
      </p:sp>
      <p:sp>
        <p:nvSpPr>
          <p:cNvPr id="795" name="Google Shape;795;p84"/>
          <p:cNvSpPr txBox="1">
            <a:spLocks noGrp="1"/>
          </p:cNvSpPr>
          <p:nvPr>
            <p:ph type="title"/>
          </p:nvPr>
        </p:nvSpPr>
        <p:spPr>
          <a:xfrm>
            <a:off x="5188525" y="119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Queue Complexity</a:t>
            </a:r>
            <a:endParaRPr/>
          </a:p>
        </p:txBody>
      </p:sp>
      <p:sp>
        <p:nvSpPr>
          <p:cNvPr id="796" name="Google Shape;796;p84"/>
          <p:cNvSpPr txBox="1">
            <a:spLocks noGrp="1"/>
          </p:cNvSpPr>
          <p:nvPr>
            <p:ph type="body" idx="1"/>
          </p:nvPr>
        </p:nvSpPr>
        <p:spPr>
          <a:xfrm>
            <a:off x="225075" y="-32475"/>
            <a:ext cx="4563900" cy="5110200"/>
          </a:xfrm>
          <a:prstGeom prst="rect">
            <a:avLst/>
          </a:prstGeom>
          <a:noFill/>
          <a:ln>
            <a:noFill/>
          </a:ln>
        </p:spPr>
        <p:txBody>
          <a:bodyPr spcFirstLastPara="1" wrap="square" lIns="91425" tIns="91425" rIns="91425" bIns="91425" anchor="t" anchorCtr="0">
            <a:spAutoFit/>
          </a:bodyPr>
          <a:lstStyle/>
          <a:p>
            <a:pPr marL="457200" lvl="0" indent="-304800" algn="l" rtl="0">
              <a:lnSpc>
                <a:spcPct val="100000"/>
              </a:lnSpc>
              <a:spcBef>
                <a:spcPts val="0"/>
              </a:spcBef>
              <a:spcAft>
                <a:spcPts val="0"/>
              </a:spcAft>
              <a:buSzPts val="1200"/>
              <a:buChar char="●"/>
            </a:pPr>
            <a:r>
              <a:rPr lang="en" sz="1200" dirty="0"/>
              <a:t>So far, we have discussed two different implementations of the </a:t>
            </a:r>
            <a:r>
              <a:rPr lang="en" sz="1200" b="1" i="1" dirty="0">
                <a:solidFill>
                  <a:srgbClr val="FF0000"/>
                </a:solidFill>
              </a:rPr>
              <a:t>queue</a:t>
            </a:r>
            <a:r>
              <a:rPr lang="en" sz="1200" dirty="0">
                <a:solidFill>
                  <a:srgbClr val="FF0000"/>
                </a:solidFill>
              </a:rPr>
              <a:t> </a:t>
            </a:r>
            <a:r>
              <a:rPr lang="en" sz="1200" dirty="0"/>
              <a:t>abstract data type: </a:t>
            </a:r>
            <a:r>
              <a:rPr lang="en" sz="1200" b="1" i="1" dirty="0">
                <a:solidFill>
                  <a:srgbClr val="FF0000"/>
                </a:solidFill>
                <a:highlight>
                  <a:srgbClr val="FFFF00"/>
                </a:highlight>
              </a:rPr>
              <a:t>node-based</a:t>
            </a:r>
            <a:r>
              <a:rPr lang="en" sz="1200" dirty="0">
                <a:highlight>
                  <a:srgbClr val="FFFF00"/>
                </a:highlight>
              </a:rPr>
              <a:t> and </a:t>
            </a:r>
            <a:r>
              <a:rPr lang="en" sz="1200" b="1" i="1" dirty="0">
                <a:solidFill>
                  <a:srgbClr val="FF0000"/>
                </a:solidFill>
                <a:highlight>
                  <a:srgbClr val="FFFF00"/>
                </a:highlight>
              </a:rPr>
              <a:t>array-based</a:t>
            </a:r>
            <a:r>
              <a:rPr lang="en" sz="1200" dirty="0">
                <a:highlight>
                  <a:srgbClr val="FFFF00"/>
                </a:highlight>
              </a:rPr>
              <a:t>.</a:t>
            </a:r>
            <a:endParaRPr sz="1200" b="1" i="1" dirty="0">
              <a:highlight>
                <a:srgbClr val="FFFF00"/>
              </a:highlight>
            </a:endParaRPr>
          </a:p>
          <a:p>
            <a:pPr marL="914400" lvl="1" indent="-298450" algn="l" rtl="0">
              <a:lnSpc>
                <a:spcPct val="100000"/>
              </a:lnSpc>
              <a:spcBef>
                <a:spcPts val="0"/>
              </a:spcBef>
              <a:spcAft>
                <a:spcPts val="0"/>
              </a:spcAft>
              <a:buSzPts val="1100"/>
              <a:buChar char="○"/>
            </a:pPr>
            <a:r>
              <a:rPr lang="en" dirty="0"/>
              <a:t>From the perspective of the user, there is </a:t>
            </a:r>
            <a:r>
              <a:rPr lang="en" dirty="0">
                <a:highlight>
                  <a:srgbClr val="FFFF00"/>
                </a:highlight>
              </a:rPr>
              <a:t>no difference </a:t>
            </a:r>
            <a:r>
              <a:rPr lang="en" dirty="0"/>
              <a:t>between the </a:t>
            </a:r>
            <a:r>
              <a:rPr lang="en" b="1" i="1" dirty="0">
                <a:solidFill>
                  <a:srgbClr val="FF0000"/>
                </a:solidFill>
              </a:rPr>
              <a:t>behavior </a:t>
            </a:r>
            <a:r>
              <a:rPr lang="en" dirty="0"/>
              <a:t>of the two implementations. </a:t>
            </a:r>
            <a:endParaRPr dirty="0"/>
          </a:p>
          <a:p>
            <a:pPr marL="914400" lvl="1" indent="-298450" algn="l" rtl="0">
              <a:lnSpc>
                <a:spcPct val="100000"/>
              </a:lnSpc>
              <a:spcBef>
                <a:spcPts val="0"/>
              </a:spcBef>
              <a:spcAft>
                <a:spcPts val="0"/>
              </a:spcAft>
              <a:buSzPts val="1100"/>
              <a:buChar char="○"/>
            </a:pPr>
            <a:r>
              <a:rPr lang="en" dirty="0">
                <a:highlight>
                  <a:srgbClr val="FFFF00"/>
                </a:highlight>
              </a:rPr>
              <a:t>Choosing which implementation to use requires a deep understanding of the strengths and weaknesses of each under different circumstances.</a:t>
            </a:r>
            <a:endParaRPr dirty="0">
              <a:highlight>
                <a:srgbClr val="FFFF00"/>
              </a:highlight>
            </a:endParaRPr>
          </a:p>
          <a:p>
            <a:pPr marL="457200" lvl="0" indent="-304800" algn="l" rtl="0">
              <a:lnSpc>
                <a:spcPct val="100000"/>
              </a:lnSpc>
              <a:spcBef>
                <a:spcPts val="1000"/>
              </a:spcBef>
              <a:spcAft>
                <a:spcPts val="0"/>
              </a:spcAft>
              <a:buSzPts val="1200"/>
              <a:buChar char="●"/>
            </a:pPr>
            <a:r>
              <a:rPr lang="en" sz="1200" dirty="0"/>
              <a:t>The expected </a:t>
            </a:r>
            <a:r>
              <a:rPr lang="en" sz="1200" b="1" i="1" dirty="0">
                <a:solidFill>
                  <a:srgbClr val="FF0000"/>
                </a:solidFill>
              </a:rPr>
              <a:t>time complexity</a:t>
            </a:r>
            <a:r>
              <a:rPr lang="en" sz="1200" b="1" i="1" dirty="0"/>
              <a:t> </a:t>
            </a:r>
            <a:r>
              <a:rPr lang="en" sz="1200" dirty="0"/>
              <a:t>of all operations on </a:t>
            </a:r>
            <a:r>
              <a:rPr lang="en" sz="1200" b="1" i="1" dirty="0">
                <a:solidFill>
                  <a:srgbClr val="FF0000"/>
                </a:solidFill>
              </a:rPr>
              <a:t>both</a:t>
            </a:r>
            <a:r>
              <a:rPr lang="en" sz="1200" dirty="0">
                <a:solidFill>
                  <a:srgbClr val="FF0000"/>
                </a:solidFill>
              </a:rPr>
              <a:t> </a:t>
            </a:r>
            <a:r>
              <a:rPr lang="en" sz="1200" dirty="0"/>
              <a:t>queue implementations is </a:t>
            </a:r>
            <a:r>
              <a:rPr lang="en" sz="1200" b="1" i="1" dirty="0">
                <a:solidFill>
                  <a:srgbClr val="FF0000"/>
                </a:solidFill>
              </a:rPr>
              <a:t>constant time</a:t>
            </a:r>
            <a:r>
              <a:rPr lang="en" sz="1200" dirty="0"/>
              <a:t> (</a:t>
            </a:r>
            <a:r>
              <a:rPr lang="en" sz="1200" b="1" i="1" dirty="0">
                <a:solidFill>
                  <a:srgbClr val="FF0000"/>
                </a:solidFill>
              </a:rPr>
              <a:t>O(1)</a:t>
            </a:r>
            <a:r>
              <a:rPr lang="en" sz="1200" dirty="0"/>
              <a:t>).</a:t>
            </a:r>
            <a:endParaRPr sz="1200" dirty="0"/>
          </a:p>
          <a:p>
            <a:pPr marL="914400" lvl="1" indent="-298450" algn="l" rtl="0">
              <a:lnSpc>
                <a:spcPct val="100000"/>
              </a:lnSpc>
              <a:spcBef>
                <a:spcPts val="0"/>
              </a:spcBef>
              <a:spcAft>
                <a:spcPts val="0"/>
              </a:spcAft>
              <a:buSzPts val="1100"/>
              <a:buChar char="○"/>
            </a:pPr>
            <a:r>
              <a:rPr lang="en" dirty="0">
                <a:highlight>
                  <a:srgbClr val="FFFF00"/>
                </a:highlight>
              </a:rPr>
              <a:t>In fact, this is also the </a:t>
            </a:r>
            <a:r>
              <a:rPr lang="en" b="1" i="1" dirty="0">
                <a:solidFill>
                  <a:srgbClr val="FF0000"/>
                </a:solidFill>
                <a:highlight>
                  <a:srgbClr val="FFFF00"/>
                </a:highlight>
              </a:rPr>
              <a:t>worst case</a:t>
            </a:r>
            <a:r>
              <a:rPr lang="en" dirty="0">
                <a:highlight>
                  <a:srgbClr val="FFFF00"/>
                </a:highlight>
              </a:rPr>
              <a:t> time complexity for </a:t>
            </a:r>
            <a:r>
              <a:rPr lang="en" b="1" i="1" dirty="0">
                <a:solidFill>
                  <a:srgbClr val="FF0000"/>
                </a:solidFill>
                <a:highlight>
                  <a:srgbClr val="FFFF00"/>
                </a:highlight>
              </a:rPr>
              <a:t>all</a:t>
            </a:r>
            <a:r>
              <a:rPr lang="en" b="1" i="1" dirty="0">
                <a:highlight>
                  <a:srgbClr val="FFFF00"/>
                </a:highlight>
              </a:rPr>
              <a:t> </a:t>
            </a:r>
            <a:r>
              <a:rPr lang="en" dirty="0">
                <a:highlight>
                  <a:srgbClr val="FFFF00"/>
                </a:highlight>
              </a:rPr>
              <a:t>operations on a </a:t>
            </a:r>
            <a:r>
              <a:rPr lang="en" b="1" i="1" dirty="0">
                <a:solidFill>
                  <a:srgbClr val="FF0000"/>
                </a:solidFill>
                <a:highlight>
                  <a:srgbClr val="FFFF00"/>
                </a:highlight>
              </a:rPr>
              <a:t>node-based</a:t>
            </a:r>
            <a:r>
              <a:rPr lang="en" dirty="0">
                <a:highlight>
                  <a:srgbClr val="FFFF00"/>
                </a:highlight>
              </a:rPr>
              <a:t> queue.</a:t>
            </a:r>
            <a:endParaRPr dirty="0">
              <a:highlight>
                <a:srgbClr val="FFFF00"/>
              </a:highlight>
            </a:endParaRPr>
          </a:p>
          <a:p>
            <a:pPr marL="457200" lvl="0" indent="-304800" algn="l" rtl="0">
              <a:lnSpc>
                <a:spcPct val="100000"/>
              </a:lnSpc>
              <a:spcBef>
                <a:spcPts val="1000"/>
              </a:spcBef>
              <a:spcAft>
                <a:spcPts val="0"/>
              </a:spcAft>
              <a:buSzPts val="1200"/>
              <a:buChar char="●"/>
            </a:pPr>
            <a:r>
              <a:rPr lang="en" sz="1200" dirty="0"/>
              <a:t>The </a:t>
            </a:r>
            <a:r>
              <a:rPr lang="en" sz="1200" b="1" i="1" dirty="0">
                <a:solidFill>
                  <a:srgbClr val="FF0000"/>
                </a:solidFill>
                <a:highlight>
                  <a:srgbClr val="FFFF00"/>
                </a:highlight>
              </a:rPr>
              <a:t>worst case</a:t>
            </a:r>
            <a:r>
              <a:rPr lang="en" sz="1200" dirty="0">
                <a:highlight>
                  <a:srgbClr val="FFFF00"/>
                </a:highlight>
              </a:rPr>
              <a:t> </a:t>
            </a:r>
            <a:r>
              <a:rPr lang="en" sz="1200" dirty="0"/>
              <a:t>time complexity for </a:t>
            </a:r>
            <a:r>
              <a:rPr lang="en" sz="1200" b="1" i="1" dirty="0">
                <a:solidFill>
                  <a:srgbClr val="FF0000"/>
                </a:solidFill>
              </a:rPr>
              <a:t>enqueue</a:t>
            </a:r>
            <a:r>
              <a:rPr lang="en" sz="1200" dirty="0">
                <a:solidFill>
                  <a:srgbClr val="FF0000"/>
                </a:solidFill>
              </a:rPr>
              <a:t> </a:t>
            </a:r>
            <a:r>
              <a:rPr lang="en" sz="1200" dirty="0"/>
              <a:t>on an </a:t>
            </a:r>
            <a:r>
              <a:rPr lang="en" sz="1200" b="1" i="1" dirty="0">
                <a:solidFill>
                  <a:srgbClr val="FF0000"/>
                </a:solidFill>
              </a:rPr>
              <a:t>array-based</a:t>
            </a:r>
            <a:r>
              <a:rPr lang="en" sz="1200" dirty="0"/>
              <a:t> queue occurs when the </a:t>
            </a:r>
            <a:r>
              <a:rPr lang="en" sz="1200" b="1" i="1" dirty="0">
                <a:solidFill>
                  <a:srgbClr val="FF0000"/>
                </a:solidFill>
              </a:rPr>
              <a:t>array is full</a:t>
            </a:r>
            <a:r>
              <a:rPr lang="en" sz="1200" dirty="0"/>
              <a:t>.</a:t>
            </a:r>
            <a:endParaRPr sz="1200" dirty="0"/>
          </a:p>
          <a:p>
            <a:pPr marL="914400" lvl="1" indent="-298450" algn="l" rtl="0">
              <a:lnSpc>
                <a:spcPct val="100000"/>
              </a:lnSpc>
              <a:spcBef>
                <a:spcPts val="0"/>
              </a:spcBef>
              <a:spcAft>
                <a:spcPts val="0"/>
              </a:spcAft>
              <a:buSzPts val="1100"/>
              <a:buChar char="○"/>
            </a:pPr>
            <a:r>
              <a:rPr lang="en" dirty="0"/>
              <a:t>This requires that the elements be </a:t>
            </a:r>
            <a:r>
              <a:rPr lang="en" b="1" i="1" dirty="0">
                <a:solidFill>
                  <a:srgbClr val="FF0000"/>
                </a:solidFill>
                <a:highlight>
                  <a:srgbClr val="FFFF00"/>
                </a:highlight>
              </a:rPr>
              <a:t>copied</a:t>
            </a:r>
            <a:r>
              <a:rPr lang="en" dirty="0">
                <a:solidFill>
                  <a:srgbClr val="FF0000"/>
                </a:solidFill>
              </a:rPr>
              <a:t> </a:t>
            </a:r>
            <a:r>
              <a:rPr lang="en" dirty="0"/>
              <a:t>into a new array; a</a:t>
            </a:r>
            <a:r>
              <a:rPr lang="en" dirty="0">
                <a:solidFill>
                  <a:srgbClr val="FF0000"/>
                </a:solidFill>
              </a:rPr>
              <a:t> </a:t>
            </a:r>
            <a:r>
              <a:rPr lang="en" b="1" i="1" dirty="0">
                <a:solidFill>
                  <a:srgbClr val="FF0000"/>
                </a:solidFill>
                <a:highlight>
                  <a:srgbClr val="FFFF00"/>
                </a:highlight>
              </a:rPr>
              <a:t>linear time</a:t>
            </a:r>
            <a:r>
              <a:rPr lang="en" dirty="0">
                <a:highlight>
                  <a:srgbClr val="FFFF00"/>
                </a:highlight>
              </a:rPr>
              <a:t> operation (</a:t>
            </a:r>
            <a:r>
              <a:rPr lang="en" b="1" i="1" dirty="0">
                <a:solidFill>
                  <a:srgbClr val="FF0000"/>
                </a:solidFill>
                <a:highlight>
                  <a:srgbClr val="FFFF00"/>
                </a:highlight>
              </a:rPr>
              <a:t>O(n)</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b="1" i="1" dirty="0">
                <a:solidFill>
                  <a:srgbClr val="FF0000"/>
                </a:solidFill>
              </a:rPr>
              <a:t>Doubling</a:t>
            </a:r>
            <a:r>
              <a:rPr lang="en" dirty="0">
                <a:solidFill>
                  <a:srgbClr val="FF0000"/>
                </a:solidFill>
              </a:rPr>
              <a:t> </a:t>
            </a:r>
            <a:r>
              <a:rPr lang="en" dirty="0"/>
              <a:t>the size of the array each time it is resized will ensure that the copy operation is </a:t>
            </a:r>
            <a:r>
              <a:rPr lang="en" b="1" i="1" dirty="0">
                <a:solidFill>
                  <a:srgbClr val="FF0000"/>
                </a:solidFill>
              </a:rPr>
              <a:t>rare</a:t>
            </a:r>
            <a:r>
              <a:rPr lang="en" dirty="0"/>
              <a:t>.</a:t>
            </a:r>
            <a:endParaRPr dirty="0"/>
          </a:p>
          <a:p>
            <a:pPr marL="914400" lvl="1" indent="-298450" algn="l" rtl="0">
              <a:lnSpc>
                <a:spcPct val="100000"/>
              </a:lnSpc>
              <a:spcBef>
                <a:spcPts val="0"/>
              </a:spcBef>
              <a:spcAft>
                <a:spcPts val="0"/>
              </a:spcAft>
              <a:buSzPts val="1100"/>
              <a:buChar char="○"/>
            </a:pPr>
            <a:r>
              <a:rPr lang="en" dirty="0"/>
              <a:t>If the maximum number of elements is known, the array may be</a:t>
            </a:r>
            <a:r>
              <a:rPr lang="en" dirty="0">
                <a:highlight>
                  <a:srgbClr val="FFFF00"/>
                </a:highlight>
              </a:rPr>
              <a:t> </a:t>
            </a:r>
            <a:r>
              <a:rPr lang="en" b="1" i="1" dirty="0">
                <a:solidFill>
                  <a:srgbClr val="FF0000"/>
                </a:solidFill>
                <a:highlight>
                  <a:srgbClr val="FFFF00"/>
                </a:highlight>
              </a:rPr>
              <a:t>pre-allocated</a:t>
            </a:r>
            <a:r>
              <a:rPr lang="en" dirty="0">
                <a:highlight>
                  <a:srgbClr val="FFFF00"/>
                </a:highlight>
              </a:rPr>
              <a:t> </a:t>
            </a:r>
            <a:r>
              <a:rPr lang="en" dirty="0"/>
              <a:t>to avoid copying entirely.</a:t>
            </a:r>
            <a:endParaRPr dirty="0"/>
          </a:p>
          <a:p>
            <a:pPr marL="457200" lvl="0" indent="-304800" algn="l" rtl="0">
              <a:lnSpc>
                <a:spcPct val="100000"/>
              </a:lnSpc>
              <a:spcBef>
                <a:spcPts val="1000"/>
              </a:spcBef>
              <a:spcAft>
                <a:spcPts val="0"/>
              </a:spcAft>
              <a:buSzPts val="1200"/>
              <a:buChar char="●"/>
            </a:pPr>
            <a:r>
              <a:rPr lang="en" sz="1200" dirty="0"/>
              <a:t>The </a:t>
            </a:r>
            <a:r>
              <a:rPr lang="en" sz="1200" b="1" i="1" dirty="0">
                <a:solidFill>
                  <a:srgbClr val="FF0000"/>
                </a:solidFill>
              </a:rPr>
              <a:t>space complexity</a:t>
            </a:r>
            <a:r>
              <a:rPr lang="en" sz="1200" dirty="0"/>
              <a:t> of </a:t>
            </a:r>
            <a:r>
              <a:rPr lang="en" sz="1200" b="1" i="1" dirty="0">
                <a:solidFill>
                  <a:srgbClr val="FF0000"/>
                </a:solidFill>
              </a:rPr>
              <a:t>both</a:t>
            </a:r>
            <a:r>
              <a:rPr lang="en" sz="1200" dirty="0">
                <a:solidFill>
                  <a:srgbClr val="FF0000"/>
                </a:solidFill>
              </a:rPr>
              <a:t> </a:t>
            </a:r>
            <a:r>
              <a:rPr lang="en" sz="1200" dirty="0"/>
              <a:t>implementations is different.</a:t>
            </a:r>
            <a:endParaRPr sz="1200" dirty="0"/>
          </a:p>
          <a:p>
            <a:pPr marL="914400" lvl="1" indent="-298450" algn="l" rtl="0">
              <a:lnSpc>
                <a:spcPct val="100000"/>
              </a:lnSpc>
              <a:spcBef>
                <a:spcPts val="0"/>
              </a:spcBef>
              <a:spcAft>
                <a:spcPts val="0"/>
              </a:spcAft>
              <a:buSzPts val="1100"/>
              <a:buChar char="○"/>
            </a:pPr>
            <a:r>
              <a:rPr lang="en" dirty="0">
                <a:highlight>
                  <a:srgbClr val="FFFF00"/>
                </a:highlight>
              </a:rPr>
              <a:t>Creating a</a:t>
            </a:r>
            <a:r>
              <a:rPr lang="en" dirty="0">
                <a:solidFill>
                  <a:srgbClr val="FF0000"/>
                </a:solidFill>
                <a:highlight>
                  <a:srgbClr val="FFFF00"/>
                </a:highlight>
              </a:rPr>
              <a:t> </a:t>
            </a:r>
            <a:r>
              <a:rPr lang="en" b="1" i="1" dirty="0">
                <a:solidFill>
                  <a:srgbClr val="FF0000"/>
                </a:solidFill>
                <a:highlight>
                  <a:srgbClr val="FFFF00"/>
                </a:highlight>
              </a:rPr>
              <a:t>node</a:t>
            </a:r>
            <a:r>
              <a:rPr lang="en" dirty="0">
                <a:solidFill>
                  <a:srgbClr val="FF0000"/>
                </a:solidFill>
                <a:highlight>
                  <a:srgbClr val="FFFF00"/>
                </a:highlight>
              </a:rPr>
              <a:t> </a:t>
            </a:r>
            <a:r>
              <a:rPr lang="en" b="1" i="1" dirty="0">
                <a:solidFill>
                  <a:srgbClr val="FF0000"/>
                </a:solidFill>
                <a:highlight>
                  <a:srgbClr val="FFFF00"/>
                </a:highlight>
              </a:rPr>
              <a:t>object</a:t>
            </a:r>
            <a:r>
              <a:rPr lang="en" dirty="0">
                <a:highlight>
                  <a:srgbClr val="FFFF00"/>
                </a:highlight>
              </a:rPr>
              <a:t> for every element in a node-based queue uses more memory than an array.</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On the other hand, the </a:t>
            </a:r>
            <a:r>
              <a:rPr lang="en" b="1" i="1" dirty="0">
                <a:solidFill>
                  <a:srgbClr val="FF0000"/>
                </a:solidFill>
                <a:highlight>
                  <a:srgbClr val="FFFF00"/>
                </a:highlight>
              </a:rPr>
              <a:t>array-based</a:t>
            </a:r>
            <a:r>
              <a:rPr lang="en" b="1" i="1" dirty="0">
                <a:highlight>
                  <a:srgbClr val="FFFF00"/>
                </a:highlight>
              </a:rPr>
              <a:t> </a:t>
            </a:r>
            <a:r>
              <a:rPr lang="en" dirty="0">
                <a:highlight>
                  <a:srgbClr val="FFFF00"/>
                </a:highlight>
              </a:rPr>
              <a:t>queue </a:t>
            </a:r>
            <a:r>
              <a:rPr lang="en" b="1" i="1" dirty="0">
                <a:solidFill>
                  <a:srgbClr val="FF0000"/>
                </a:solidFill>
                <a:highlight>
                  <a:srgbClr val="FFFF00"/>
                </a:highlight>
              </a:rPr>
              <a:t>usually</a:t>
            </a:r>
            <a:r>
              <a:rPr lang="en" dirty="0">
                <a:solidFill>
                  <a:srgbClr val="FF0000"/>
                </a:solidFill>
                <a:highlight>
                  <a:srgbClr val="FFFF00"/>
                </a:highlight>
              </a:rPr>
              <a:t> </a:t>
            </a:r>
            <a:r>
              <a:rPr lang="en" dirty="0">
                <a:highlight>
                  <a:srgbClr val="FFFF00"/>
                </a:highlight>
              </a:rPr>
              <a:t>over-allocates its array, and so uses more memory.</a:t>
            </a:r>
            <a:endParaRPr dirty="0">
              <a:highlight>
                <a:srgbClr val="FFFF00"/>
              </a:highlight>
            </a:endParaRPr>
          </a:p>
        </p:txBody>
      </p:sp>
      <p:sp>
        <p:nvSpPr>
          <p:cNvPr id="797" name="Google Shape;797;p84"/>
          <p:cNvSpPr txBox="1">
            <a:spLocks noGrp="1"/>
          </p:cNvSpPr>
          <p:nvPr>
            <p:ph type="body" idx="3"/>
          </p:nvPr>
        </p:nvSpPr>
        <p:spPr>
          <a:xfrm>
            <a:off x="5156691" y="3316925"/>
            <a:ext cx="3706500" cy="687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b="1" i="1" dirty="0">
                <a:solidFill>
                  <a:srgbClr val="FF0000"/>
                </a:solidFill>
              </a:rPr>
              <a:t>Generally</a:t>
            </a:r>
            <a:r>
              <a:rPr lang="en" sz="1200" dirty="0"/>
              <a:t>, when there is a tradeoff between time complexity (</a:t>
            </a:r>
            <a:r>
              <a:rPr lang="en" sz="1200" b="1" i="1" dirty="0">
                <a:solidFill>
                  <a:srgbClr val="FF0000"/>
                </a:solidFill>
              </a:rPr>
              <a:t>speed</a:t>
            </a:r>
            <a:r>
              <a:rPr lang="en" sz="1200" dirty="0"/>
              <a:t>) and space complexity (</a:t>
            </a:r>
            <a:r>
              <a:rPr lang="en" sz="1200" b="1" i="1" dirty="0">
                <a:solidFill>
                  <a:srgbClr val="FF0000"/>
                </a:solidFill>
              </a:rPr>
              <a:t>memory</a:t>
            </a:r>
            <a:r>
              <a:rPr lang="en" sz="1200" dirty="0"/>
              <a:t>), </a:t>
            </a:r>
            <a:r>
              <a:rPr lang="en" sz="1200" dirty="0">
                <a:highlight>
                  <a:srgbClr val="FFFF00"/>
                </a:highlight>
              </a:rPr>
              <a:t>we prefer time complexity.</a:t>
            </a:r>
            <a:endParaRPr sz="1200" dirty="0">
              <a:highlight>
                <a:srgbClr val="FFFF00"/>
              </a:highlight>
            </a:endParaRPr>
          </a:p>
        </p:txBody>
      </p:sp>
      <p:pic>
        <p:nvPicPr>
          <p:cNvPr id="798" name="Google Shape;798;p84"/>
          <p:cNvPicPr preferRelativeResize="0"/>
          <p:nvPr/>
        </p:nvPicPr>
        <p:blipFill rotWithShape="1">
          <a:blip r:embed="rId3">
            <a:alphaModFix/>
          </a:blip>
          <a:srcRect/>
          <a:stretch/>
        </p:blipFill>
        <p:spPr>
          <a:xfrm>
            <a:off x="5315391" y="792199"/>
            <a:ext cx="3389101" cy="2417174"/>
          </a:xfrm>
          <a:prstGeom prst="rect">
            <a:avLst/>
          </a:prstGeom>
          <a:noFill/>
          <a:ln w="19050" cap="flat" cmpd="sng">
            <a:solidFill>
              <a:srgbClr val="666666"/>
            </a:solidFill>
            <a:prstDash val="solid"/>
            <a:round/>
            <a:headEnd type="none" w="sm" len="sm"/>
            <a:tailEnd type="none" w="sm" len="sm"/>
          </a:ln>
        </p:spPr>
      </p:pic>
      <p:sp>
        <p:nvSpPr>
          <p:cNvPr id="799" name="Google Shape;799;p84"/>
          <p:cNvSpPr txBox="1">
            <a:spLocks noGrp="1"/>
          </p:cNvSpPr>
          <p:nvPr>
            <p:ph type="body" idx="3"/>
          </p:nvPr>
        </p:nvSpPr>
        <p:spPr>
          <a:xfrm>
            <a:off x="5156691" y="4112075"/>
            <a:ext cx="3706500" cy="870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That being said, there is so little difference between the time complexity of both implementations (except in rare circumstances) that </a:t>
            </a:r>
            <a:r>
              <a:rPr lang="en" sz="1200" b="1" i="1" dirty="0">
                <a:solidFill>
                  <a:srgbClr val="FF0000"/>
                </a:solidFill>
              </a:rPr>
              <a:t>either implementation</a:t>
            </a:r>
            <a:r>
              <a:rPr lang="en" sz="1200" dirty="0">
                <a:solidFill>
                  <a:srgbClr val="FF0000"/>
                </a:solidFill>
              </a:rPr>
              <a:t> </a:t>
            </a:r>
            <a:r>
              <a:rPr lang="en" sz="1200" b="1" i="1" dirty="0">
                <a:solidFill>
                  <a:srgbClr val="FF0000"/>
                </a:solidFill>
              </a:rPr>
              <a:t>is appropriate</a:t>
            </a:r>
            <a:r>
              <a:rPr lang="en" sz="1200" dirty="0"/>
              <a:t> for most problems.</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9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9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9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9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9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9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9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797"/>
                                        </p:tgtEl>
                                        <p:attrNameLst>
                                          <p:attrName>style.visibility</p:attrName>
                                        </p:attrNameLst>
                                      </p:cBhvr>
                                      <p:to>
                                        <p:strVal val="visible"/>
                                      </p:to>
                                    </p:set>
                                    <p:animEffect transition="in" filter="fade">
                                      <p:cBhvr>
                                        <p:cTn id="55" dur="1000"/>
                                        <p:tgtEl>
                                          <p:spTgt spid="79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99"/>
                                        </p:tgtEl>
                                        <p:attrNameLst>
                                          <p:attrName>style.visibility</p:attrName>
                                        </p:attrNameLst>
                                      </p:cBhvr>
                                      <p:to>
                                        <p:strVal val="visible"/>
                                      </p:to>
                                    </p:set>
                                    <p:animEffect transition="in" filter="fade">
                                      <p:cBhvr>
                                        <p:cTn id="60" dur="1000"/>
                                        <p:tgtEl>
                                          <p:spTgt spid="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85"/>
          <p:cNvSpPr txBox="1">
            <a:spLocks noGrp="1"/>
          </p:cNvSpPr>
          <p:nvPr>
            <p:ph type="title"/>
          </p:nvPr>
        </p:nvSpPr>
        <p:spPr>
          <a:xfrm>
            <a:off x="5188525" y="119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Generics</a:t>
            </a:r>
            <a:endParaRPr/>
          </a:p>
        </p:txBody>
      </p:sp>
      <p:sp>
        <p:nvSpPr>
          <p:cNvPr id="805" name="Google Shape;805;p85"/>
          <p:cNvSpPr txBox="1">
            <a:spLocks noGrp="1"/>
          </p:cNvSpPr>
          <p:nvPr>
            <p:ph type="body" idx="1"/>
          </p:nvPr>
        </p:nvSpPr>
        <p:spPr>
          <a:xfrm>
            <a:off x="129625" y="119925"/>
            <a:ext cx="4545300" cy="4777200"/>
          </a:xfrm>
          <a:prstGeom prst="rect">
            <a:avLst/>
          </a:prstGeom>
          <a:noFill/>
          <a:ln>
            <a:noFill/>
          </a:ln>
        </p:spPr>
        <p:txBody>
          <a:bodyPr spcFirstLastPara="1" wrap="square" lIns="91425" tIns="91425" rIns="91425" bIns="91425" anchor="ctr" anchorCtr="0">
            <a:noAutofit/>
          </a:bodyPr>
          <a:lstStyle/>
          <a:p>
            <a:pPr marL="457200" lvl="0" indent="-311150" algn="l" rtl="0">
              <a:lnSpc>
                <a:spcPct val="100000"/>
              </a:lnSpc>
              <a:spcBef>
                <a:spcPts val="0"/>
              </a:spcBef>
              <a:spcAft>
                <a:spcPts val="0"/>
              </a:spcAft>
              <a:buSzPts val="1300"/>
              <a:buChar char="●"/>
            </a:pPr>
            <a:r>
              <a:rPr lang="en" dirty="0"/>
              <a:t>The queue interface and implementations that we have written so far only work with </a:t>
            </a:r>
            <a:r>
              <a:rPr lang="en" dirty="0">
                <a:latin typeface="Courier New"/>
                <a:ea typeface="Courier New"/>
                <a:cs typeface="Courier New"/>
                <a:sym typeface="Courier New"/>
              </a:rPr>
              <a:t>String</a:t>
            </a:r>
            <a:r>
              <a:rPr lang="en" dirty="0"/>
              <a:t>s.</a:t>
            </a:r>
            <a:endParaRPr dirty="0"/>
          </a:p>
          <a:p>
            <a:pPr marL="914400" lvl="1" indent="-298450" algn="l" rtl="0">
              <a:lnSpc>
                <a:spcPct val="100000"/>
              </a:lnSpc>
              <a:spcBef>
                <a:spcPts val="0"/>
              </a:spcBef>
              <a:spcAft>
                <a:spcPts val="0"/>
              </a:spcAft>
              <a:buSzPts val="1100"/>
              <a:buChar char="○"/>
            </a:pPr>
            <a:r>
              <a:rPr lang="en" dirty="0"/>
              <a:t>If we wanted a queue that worked with </a:t>
            </a:r>
            <a:r>
              <a:rPr lang="en" dirty="0">
                <a:latin typeface="Courier New"/>
                <a:ea typeface="Courier New"/>
                <a:cs typeface="Courier New"/>
                <a:sym typeface="Courier New"/>
              </a:rPr>
              <a:t>double</a:t>
            </a:r>
            <a:r>
              <a:rPr lang="en" dirty="0"/>
              <a:t>s, or </a:t>
            </a:r>
            <a:r>
              <a:rPr lang="en" dirty="0">
                <a:latin typeface="Courier New"/>
                <a:ea typeface="Courier New"/>
                <a:cs typeface="Courier New"/>
                <a:sym typeface="Courier New"/>
              </a:rPr>
              <a:t>int</a:t>
            </a:r>
            <a:r>
              <a:rPr lang="en" dirty="0"/>
              <a:t>s, or </a:t>
            </a:r>
            <a:r>
              <a:rPr lang="en" dirty="0">
                <a:latin typeface="Courier New"/>
                <a:ea typeface="Courier New"/>
                <a:cs typeface="Courier New"/>
                <a:sym typeface="Courier New"/>
              </a:rPr>
              <a:t>Goat</a:t>
            </a:r>
            <a:r>
              <a:rPr lang="en" dirty="0"/>
              <a:t>s, we would need to make a new interface and implementation by basically </a:t>
            </a:r>
            <a:r>
              <a:rPr lang="en" b="1" i="1" dirty="0">
                <a:solidFill>
                  <a:srgbClr val="FF0000"/>
                </a:solidFill>
              </a:rPr>
              <a:t>copy/pasting</a:t>
            </a:r>
            <a:r>
              <a:rPr lang="en" dirty="0"/>
              <a:t>, and doing a </a:t>
            </a:r>
            <a:r>
              <a:rPr lang="en" b="1" i="1" dirty="0">
                <a:solidFill>
                  <a:srgbClr val="FF0000"/>
                </a:solidFill>
              </a:rPr>
              <a:t>search &amp; replace</a:t>
            </a:r>
            <a:r>
              <a:rPr lang="en" dirty="0"/>
              <a:t> with the new type.</a:t>
            </a:r>
            <a:endParaRPr dirty="0"/>
          </a:p>
          <a:p>
            <a:pPr marL="457200" lvl="0" indent="-311150" algn="l" rtl="0">
              <a:lnSpc>
                <a:spcPct val="100000"/>
              </a:lnSpc>
              <a:spcBef>
                <a:spcPts val="1000"/>
              </a:spcBef>
              <a:spcAft>
                <a:spcPts val="0"/>
              </a:spcAft>
              <a:buSzPts val="1300"/>
              <a:buChar char="●"/>
            </a:pPr>
            <a:r>
              <a:rPr lang="en" dirty="0"/>
              <a:t>It turns out that Java has a feature that does essentially the same thing without having to write a new class each time: </a:t>
            </a:r>
            <a:r>
              <a:rPr lang="en" b="1" i="1" dirty="0">
                <a:solidFill>
                  <a:srgbClr val="FF0000"/>
                </a:solidFill>
                <a:highlight>
                  <a:srgbClr val="FFFF00"/>
                </a:highlight>
              </a:rPr>
              <a:t>generics</a:t>
            </a:r>
            <a:r>
              <a:rPr lang="en" dirty="0">
                <a:highlight>
                  <a:srgbClr val="FFFF00"/>
                </a:highlight>
              </a:rPr>
              <a:t>.</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highlight>
                  <a:srgbClr val="FFFF00"/>
                </a:highlight>
              </a:rPr>
              <a:t>A </a:t>
            </a:r>
            <a:r>
              <a:rPr lang="en" b="1" i="1" dirty="0">
                <a:solidFill>
                  <a:srgbClr val="FF0000"/>
                </a:solidFill>
                <a:highlight>
                  <a:srgbClr val="FFFF00"/>
                </a:highlight>
              </a:rPr>
              <a:t>generic type</a:t>
            </a:r>
            <a:r>
              <a:rPr lang="en" dirty="0">
                <a:highlight>
                  <a:srgbClr val="FFFF00"/>
                </a:highlight>
              </a:rPr>
              <a:t> declares one or more</a:t>
            </a:r>
            <a:r>
              <a:rPr lang="en" dirty="0">
                <a:solidFill>
                  <a:srgbClr val="FF0000"/>
                </a:solidFill>
                <a:highlight>
                  <a:srgbClr val="FFFF00"/>
                </a:highlight>
              </a:rPr>
              <a:t> </a:t>
            </a:r>
            <a:r>
              <a:rPr lang="en" b="1" i="1" dirty="0">
                <a:solidFill>
                  <a:srgbClr val="FF0000"/>
                </a:solidFill>
                <a:highlight>
                  <a:srgbClr val="FFFF00"/>
                </a:highlight>
              </a:rPr>
              <a:t>type parameters</a:t>
            </a:r>
            <a:r>
              <a:rPr lang="en" dirty="0">
                <a:highlight>
                  <a:srgbClr val="FFFF00"/>
                </a:highlight>
              </a:rPr>
              <a:t> between </a:t>
            </a:r>
            <a:r>
              <a:rPr lang="en" b="1" i="1" dirty="0">
                <a:solidFill>
                  <a:srgbClr val="FF0000"/>
                </a:solidFill>
                <a:highlight>
                  <a:srgbClr val="FFFF00"/>
                </a:highlight>
              </a:rPr>
              <a:t>angle brackets</a:t>
            </a:r>
            <a:r>
              <a:rPr lang="en" dirty="0">
                <a:solidFill>
                  <a:srgbClr val="FF0000"/>
                </a:solidFill>
                <a:highlight>
                  <a:srgbClr val="FFFF00"/>
                </a:highlight>
              </a:rPr>
              <a:t> </a:t>
            </a:r>
            <a:r>
              <a:rPr lang="en" dirty="0">
                <a:highlight>
                  <a:srgbClr val="FFFF00"/>
                </a:highlight>
              </a:rPr>
              <a:t>(</a:t>
            </a:r>
            <a:r>
              <a:rPr lang="en" dirty="0">
                <a:highlight>
                  <a:srgbClr val="FFFF00"/>
                </a:highlight>
                <a:latin typeface="Consolas"/>
                <a:ea typeface="Consolas"/>
                <a:cs typeface="Consolas"/>
                <a:sym typeface="Consolas"/>
              </a:rPr>
              <a:t>&lt;&gt;</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Font typeface="Courier New"/>
              <a:buChar char="○"/>
            </a:pPr>
            <a:r>
              <a:rPr lang="en" dirty="0">
                <a:solidFill>
                  <a:srgbClr val="FF0000"/>
                </a:solidFill>
                <a:latin typeface="Courier New"/>
                <a:ea typeface="Courier New"/>
                <a:cs typeface="Courier New"/>
                <a:sym typeface="Courier New"/>
              </a:rPr>
              <a:t>public class Foo</a:t>
            </a:r>
            <a:r>
              <a:rPr lang="en" u="sng" dirty="0">
                <a:solidFill>
                  <a:srgbClr val="FF0000"/>
                </a:solidFill>
                <a:latin typeface="Courier New"/>
                <a:ea typeface="Courier New"/>
                <a:cs typeface="Courier New"/>
                <a:sym typeface="Courier New"/>
              </a:rPr>
              <a:t>&lt;Bar, Bel&gt;</a:t>
            </a:r>
            <a:r>
              <a:rPr lang="en" dirty="0">
                <a:solidFill>
                  <a:srgbClr val="FF0000"/>
                </a:solidFill>
                <a:latin typeface="Courier New"/>
                <a:ea typeface="Courier New"/>
                <a:cs typeface="Courier New"/>
                <a:sym typeface="Courier New"/>
              </a:rPr>
              <a:t> {...}</a:t>
            </a:r>
            <a:endParaRPr dirty="0">
              <a:latin typeface="Courier New"/>
              <a:ea typeface="Courier New"/>
              <a:cs typeface="Courier New"/>
              <a:sym typeface="Courier New"/>
            </a:endParaRPr>
          </a:p>
          <a:p>
            <a:pPr marL="914400" lvl="1" indent="-298450" algn="l" rtl="0">
              <a:lnSpc>
                <a:spcPct val="100000"/>
              </a:lnSpc>
              <a:spcBef>
                <a:spcPts val="0"/>
              </a:spcBef>
              <a:spcAft>
                <a:spcPts val="0"/>
              </a:spcAft>
              <a:buSzPts val="1100"/>
              <a:buFont typeface="Courier New"/>
              <a:buChar char="○"/>
            </a:pPr>
            <a:r>
              <a:rPr lang="en" dirty="0">
                <a:solidFill>
                  <a:srgbClr val="FF0000"/>
                </a:solidFill>
                <a:latin typeface="Courier New"/>
                <a:ea typeface="Courier New"/>
                <a:cs typeface="Courier New"/>
                <a:sym typeface="Courier New"/>
              </a:rPr>
              <a:t>public interface Operation</a:t>
            </a:r>
            <a:r>
              <a:rPr lang="en" u="sng" dirty="0">
                <a:solidFill>
                  <a:srgbClr val="FF0000"/>
                </a:solidFill>
                <a:highlight>
                  <a:srgbClr val="FFFF00"/>
                </a:highlight>
                <a:latin typeface="Courier New"/>
                <a:ea typeface="Courier New"/>
                <a:cs typeface="Courier New"/>
                <a:sym typeface="Courier New"/>
              </a:rPr>
              <a:t>&lt;N&gt;</a:t>
            </a:r>
            <a:r>
              <a:rPr lang="en" dirty="0">
                <a:solidFill>
                  <a:srgbClr val="FF0000"/>
                </a:solidFill>
                <a:highlight>
                  <a:srgbClr val="FFFF00"/>
                </a:highlight>
                <a:latin typeface="Courier New"/>
                <a:ea typeface="Courier New"/>
                <a:cs typeface="Courier New"/>
                <a:sym typeface="Courier New"/>
              </a:rPr>
              <a:t>{ </a:t>
            </a:r>
            <a:r>
              <a:rPr lang="en" dirty="0">
                <a:solidFill>
                  <a:srgbClr val="FF0000"/>
                </a:solidFill>
                <a:latin typeface="Courier New"/>
                <a:ea typeface="Courier New"/>
                <a:cs typeface="Courier New"/>
                <a:sym typeface="Courier New"/>
              </a:rPr>
              <a:t>... }</a:t>
            </a:r>
            <a:endParaRPr dirty="0">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dirty="0"/>
              <a:t>The type parameters should </a:t>
            </a:r>
            <a:r>
              <a:rPr lang="en" b="1" i="1" dirty="0">
                <a:solidFill>
                  <a:srgbClr val="FF0000"/>
                </a:solidFill>
                <a:highlight>
                  <a:srgbClr val="FFFF00"/>
                </a:highlight>
              </a:rPr>
              <a:t>never</a:t>
            </a:r>
            <a:r>
              <a:rPr lang="en" dirty="0">
                <a:solidFill>
                  <a:srgbClr val="FF0000"/>
                </a:solidFill>
              </a:rPr>
              <a:t> </a:t>
            </a:r>
            <a:r>
              <a:rPr lang="en" dirty="0"/>
              <a:t>use the name of a real type, e.g. </a:t>
            </a:r>
            <a:r>
              <a:rPr lang="en" dirty="0">
                <a:latin typeface="Courier New"/>
                <a:ea typeface="Courier New"/>
                <a:cs typeface="Courier New"/>
                <a:sym typeface="Courier New"/>
              </a:rPr>
              <a:t>String</a:t>
            </a:r>
            <a:r>
              <a:rPr lang="en" dirty="0"/>
              <a:t>, </a:t>
            </a:r>
            <a:r>
              <a:rPr lang="en" dirty="0">
                <a:latin typeface="Courier New"/>
                <a:ea typeface="Courier New"/>
                <a:cs typeface="Courier New"/>
                <a:sym typeface="Courier New"/>
              </a:rPr>
              <a:t>Scanner</a:t>
            </a:r>
            <a:r>
              <a:rPr lang="en" dirty="0"/>
              <a:t>, etc.</a:t>
            </a:r>
            <a:endParaRPr dirty="0"/>
          </a:p>
          <a:p>
            <a:pPr marL="914400" lvl="1" indent="-298450" algn="l" rtl="0">
              <a:lnSpc>
                <a:spcPct val="100000"/>
              </a:lnSpc>
              <a:spcBef>
                <a:spcPts val="0"/>
              </a:spcBef>
              <a:spcAft>
                <a:spcPts val="0"/>
              </a:spcAft>
              <a:buSzPts val="1100"/>
              <a:buChar char="○"/>
            </a:pPr>
            <a:r>
              <a:rPr lang="en" dirty="0"/>
              <a:t>The </a:t>
            </a:r>
            <a:r>
              <a:rPr lang="en" dirty="0">
                <a:highlight>
                  <a:srgbClr val="FFFF00"/>
                </a:highlight>
              </a:rPr>
              <a:t>type parameter can be used inside the class as though it is a real type</a:t>
            </a:r>
            <a:r>
              <a:rPr lang="en" dirty="0"/>
              <a:t>, e.g. as </a:t>
            </a:r>
            <a:r>
              <a:rPr lang="en" b="1" i="1" dirty="0">
                <a:solidFill>
                  <a:srgbClr val="FF0000"/>
                </a:solidFill>
              </a:rPr>
              <a:t>variables</a:t>
            </a:r>
            <a:r>
              <a:rPr lang="en" dirty="0"/>
              <a:t>, </a:t>
            </a:r>
            <a:r>
              <a:rPr lang="en" b="1" i="1" dirty="0">
                <a:solidFill>
                  <a:srgbClr val="FF0000"/>
                </a:solidFill>
              </a:rPr>
              <a:t>parameters</a:t>
            </a:r>
            <a:r>
              <a:rPr lang="en" dirty="0"/>
              <a:t>, </a:t>
            </a:r>
            <a:r>
              <a:rPr lang="en" b="1" i="1" dirty="0">
                <a:solidFill>
                  <a:srgbClr val="FF0000"/>
                </a:solidFill>
              </a:rPr>
              <a:t>return types</a:t>
            </a:r>
            <a:r>
              <a:rPr lang="en" dirty="0"/>
              <a:t>, etc.</a:t>
            </a:r>
            <a:endParaRPr dirty="0"/>
          </a:p>
          <a:p>
            <a:pPr marL="457200" lvl="0" indent="-311150" algn="l" rtl="0">
              <a:lnSpc>
                <a:spcPct val="100000"/>
              </a:lnSpc>
              <a:spcBef>
                <a:spcPts val="1000"/>
              </a:spcBef>
              <a:spcAft>
                <a:spcPts val="0"/>
              </a:spcAft>
              <a:buSzPts val="1300"/>
              <a:buChar char="●"/>
            </a:pPr>
            <a:r>
              <a:rPr lang="en" dirty="0"/>
              <a:t>When a variable of the generic class is declared, a </a:t>
            </a:r>
            <a:r>
              <a:rPr lang="en" b="1" i="1" dirty="0">
                <a:solidFill>
                  <a:srgbClr val="FF0000"/>
                </a:solidFill>
              </a:rPr>
              <a:t>real type</a:t>
            </a:r>
            <a:r>
              <a:rPr lang="en" dirty="0">
                <a:solidFill>
                  <a:srgbClr val="FF0000"/>
                </a:solidFill>
              </a:rPr>
              <a:t> </a:t>
            </a:r>
            <a:r>
              <a:rPr lang="en" dirty="0"/>
              <a:t>is specified in place of each type parameter, e.g. </a:t>
            </a:r>
            <a:r>
              <a:rPr lang="en" dirty="0">
                <a:solidFill>
                  <a:srgbClr val="FF0000"/>
                </a:solidFill>
                <a:highlight>
                  <a:srgbClr val="FFFF00"/>
                </a:highlight>
                <a:latin typeface="Courier New"/>
                <a:ea typeface="Courier New"/>
                <a:cs typeface="Courier New"/>
                <a:sym typeface="Courier New"/>
              </a:rPr>
              <a:t>Operation&lt;String&gt; myClass;</a:t>
            </a:r>
            <a:endParaRPr dirty="0">
              <a:solidFill>
                <a:srgbClr val="FF0000"/>
              </a:solidFill>
              <a:highlight>
                <a:srgbClr val="FFFF00"/>
              </a:highlight>
            </a:endParaRPr>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rPr>
              <a:t>Java compiler</a:t>
            </a:r>
            <a:r>
              <a:rPr lang="en" dirty="0"/>
              <a:t> makes sure that </a:t>
            </a:r>
            <a:r>
              <a:rPr lang="en" b="1" i="1" dirty="0">
                <a:solidFill>
                  <a:srgbClr val="FF0000"/>
                </a:solidFill>
              </a:rPr>
              <a:t>only</a:t>
            </a:r>
            <a:r>
              <a:rPr lang="en" dirty="0">
                <a:solidFill>
                  <a:srgbClr val="FF0000"/>
                </a:solidFill>
              </a:rPr>
              <a:t> </a:t>
            </a:r>
            <a:r>
              <a:rPr lang="en" dirty="0"/>
              <a:t>the type(s) specified when the variable is declared are used with </a:t>
            </a:r>
            <a:r>
              <a:rPr lang="en" b="1" i="1" dirty="0">
                <a:solidFill>
                  <a:srgbClr val="FF0000"/>
                </a:solidFill>
              </a:rPr>
              <a:t>this instance</a:t>
            </a:r>
            <a:r>
              <a:rPr lang="en" dirty="0"/>
              <a:t> of the generic class.</a:t>
            </a:r>
            <a:endParaRPr dirty="0"/>
          </a:p>
        </p:txBody>
      </p:sp>
      <p:sp>
        <p:nvSpPr>
          <p:cNvPr id="806" name="Google Shape;806;p85"/>
          <p:cNvSpPr txBox="1">
            <a:spLocks noGrp="1"/>
          </p:cNvSpPr>
          <p:nvPr>
            <p:ph type="body" idx="2"/>
          </p:nvPr>
        </p:nvSpPr>
        <p:spPr>
          <a:xfrm>
            <a:off x="5192225" y="1286175"/>
            <a:ext cx="3706500" cy="24237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1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class</a:t>
            </a:r>
            <a:r>
              <a:rPr lang="en" sz="1000" dirty="0">
                <a:solidFill>
                  <a:srgbClr val="000000"/>
                </a:solidFill>
                <a:latin typeface="Consolas"/>
                <a:ea typeface="Consolas"/>
                <a:cs typeface="Consolas"/>
                <a:sym typeface="Consolas"/>
              </a:rPr>
              <a:t> Container&lt;</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&gt;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2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private</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 value;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3  </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4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Container(</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 value)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5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this</a:t>
            </a:r>
            <a:r>
              <a:rPr lang="en" sz="1000" dirty="0">
                <a:solidFill>
                  <a:srgbClr val="000000"/>
                </a:solidFill>
                <a:latin typeface="Consolas"/>
                <a:ea typeface="Consolas"/>
                <a:cs typeface="Consolas"/>
                <a:sym typeface="Consolas"/>
              </a:rPr>
              <a:t>.value = value;</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6  </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7  </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8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 getValue()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9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return</a:t>
            </a:r>
            <a:r>
              <a:rPr lang="en" sz="1000" dirty="0">
                <a:solidFill>
                  <a:srgbClr val="000000"/>
                </a:solidFill>
                <a:latin typeface="Consolas"/>
                <a:ea typeface="Consolas"/>
                <a:cs typeface="Consolas"/>
                <a:sym typeface="Consolas"/>
              </a:rPr>
              <a:t> value;</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10 </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11  </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12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void</a:t>
            </a:r>
            <a:r>
              <a:rPr lang="en" sz="1000" dirty="0">
                <a:solidFill>
                  <a:srgbClr val="000000"/>
                </a:solidFill>
                <a:latin typeface="Consolas"/>
                <a:ea typeface="Consolas"/>
                <a:cs typeface="Consolas"/>
                <a:sym typeface="Consolas"/>
              </a:rPr>
              <a:t> setValue(</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 value)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13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this</a:t>
            </a:r>
            <a:r>
              <a:rPr lang="en" sz="1000" dirty="0">
                <a:solidFill>
                  <a:srgbClr val="000000"/>
                </a:solidFill>
                <a:latin typeface="Consolas"/>
                <a:ea typeface="Consolas"/>
                <a:cs typeface="Consolas"/>
                <a:sym typeface="Consolas"/>
              </a:rPr>
              <a:t>.value = value;</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14 </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15 </a:t>
            </a:r>
            <a:r>
              <a:rPr lang="en" sz="1000" dirty="0">
                <a:solidFill>
                  <a:srgbClr val="000000"/>
                </a:solidFill>
                <a:latin typeface="Consolas"/>
                <a:ea typeface="Consolas"/>
                <a:cs typeface="Consolas"/>
                <a:sym typeface="Consolas"/>
              </a:rPr>
              <a:t>}</a:t>
            </a:r>
            <a:endParaRPr sz="1000" dirty="0">
              <a:solidFill>
                <a:srgbClr val="999999"/>
              </a:solidFill>
              <a:latin typeface="Consolas"/>
              <a:ea typeface="Consolas"/>
              <a:cs typeface="Consolas"/>
              <a:sym typeface="Consolas"/>
            </a:endParaRPr>
          </a:p>
        </p:txBody>
      </p:sp>
      <p:sp>
        <p:nvSpPr>
          <p:cNvPr id="807" name="Google Shape;807;p85"/>
          <p:cNvSpPr txBox="1">
            <a:spLocks noGrp="1"/>
          </p:cNvSpPr>
          <p:nvPr>
            <p:ph type="sldNum" idx="12"/>
          </p:nvPr>
        </p:nvSpPr>
        <p:spPr>
          <a:xfrm>
            <a:off x="1425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28</a:t>
            </a:fld>
            <a:endParaRPr/>
          </a:p>
        </p:txBody>
      </p:sp>
      <p:sp>
        <p:nvSpPr>
          <p:cNvPr id="808" name="Google Shape;808;p85"/>
          <p:cNvSpPr txBox="1">
            <a:spLocks noGrp="1"/>
          </p:cNvSpPr>
          <p:nvPr>
            <p:ph type="body" idx="3"/>
          </p:nvPr>
        </p:nvSpPr>
        <p:spPr>
          <a:xfrm>
            <a:off x="5188525" y="3798926"/>
            <a:ext cx="37065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The </a:t>
            </a:r>
            <a:r>
              <a:rPr lang="en" sz="1200" b="1" i="1" dirty="0">
                <a:solidFill>
                  <a:srgbClr val="FF0000"/>
                </a:solidFill>
              </a:rPr>
              <a:t>fake</a:t>
            </a:r>
            <a:r>
              <a:rPr lang="en" sz="1200" dirty="0">
                <a:solidFill>
                  <a:srgbClr val="FF0000"/>
                </a:solidFill>
              </a:rPr>
              <a:t> </a:t>
            </a:r>
            <a:r>
              <a:rPr lang="en" sz="1200" dirty="0"/>
              <a:t>type name(s) can then be used as though they are </a:t>
            </a:r>
            <a:r>
              <a:rPr lang="en" sz="1200" b="1" i="1" dirty="0">
                <a:solidFill>
                  <a:srgbClr val="FF0000"/>
                </a:solidFill>
              </a:rPr>
              <a:t>real </a:t>
            </a:r>
            <a:r>
              <a:rPr lang="en" sz="1200" dirty="0"/>
              <a:t>types inside the body of the class, i.e. as </a:t>
            </a:r>
            <a:r>
              <a:rPr lang="en" sz="1200" b="1" i="1" dirty="0">
                <a:solidFill>
                  <a:srgbClr val="FF0000"/>
                </a:solidFill>
              </a:rPr>
              <a:t>fields</a:t>
            </a:r>
            <a:r>
              <a:rPr lang="en" sz="1200" dirty="0"/>
              <a:t>, </a:t>
            </a:r>
            <a:r>
              <a:rPr lang="en" sz="1200" b="1" i="1" dirty="0">
                <a:solidFill>
                  <a:srgbClr val="FF0000"/>
                </a:solidFill>
              </a:rPr>
              <a:t>parameters</a:t>
            </a:r>
            <a:r>
              <a:rPr lang="en" sz="1200" dirty="0"/>
              <a:t>, and </a:t>
            </a:r>
            <a:r>
              <a:rPr lang="en" sz="1200" b="1" i="1" dirty="0">
                <a:solidFill>
                  <a:srgbClr val="FF0000"/>
                </a:solidFill>
              </a:rPr>
              <a:t>return values</a:t>
            </a:r>
            <a:r>
              <a:rPr lang="en" sz="1200" dirty="0"/>
              <a:t>.</a:t>
            </a:r>
            <a:endParaRPr sz="1200" dirty="0"/>
          </a:p>
        </p:txBody>
      </p:sp>
      <p:sp>
        <p:nvSpPr>
          <p:cNvPr id="809" name="Google Shape;809;p85"/>
          <p:cNvSpPr txBox="1">
            <a:spLocks noGrp="1"/>
          </p:cNvSpPr>
          <p:nvPr>
            <p:ph type="body" idx="3"/>
          </p:nvPr>
        </p:nvSpPr>
        <p:spPr>
          <a:xfrm>
            <a:off x="5192225" y="4526075"/>
            <a:ext cx="3706500" cy="455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When a variable of the </a:t>
            </a:r>
            <a:r>
              <a:rPr lang="en" sz="1200" b="1" i="1" dirty="0">
                <a:solidFill>
                  <a:srgbClr val="FF0000"/>
                </a:solidFill>
              </a:rPr>
              <a:t>generic class</a:t>
            </a:r>
            <a:r>
              <a:rPr lang="en" sz="1200" dirty="0">
                <a:solidFill>
                  <a:srgbClr val="FF0000"/>
                </a:solidFill>
              </a:rPr>
              <a:t> </a:t>
            </a:r>
            <a:r>
              <a:rPr lang="en" sz="1200" dirty="0"/>
              <a:t>is declared, </a:t>
            </a:r>
            <a:r>
              <a:rPr lang="en" sz="1200" b="1" i="1" dirty="0">
                <a:solidFill>
                  <a:srgbClr val="FF0000"/>
                </a:solidFill>
              </a:rPr>
              <a:t>real types</a:t>
            </a:r>
            <a:r>
              <a:rPr lang="en" sz="1200" dirty="0">
                <a:solidFill>
                  <a:srgbClr val="FF0000"/>
                </a:solidFill>
              </a:rPr>
              <a:t> </a:t>
            </a:r>
            <a:r>
              <a:rPr lang="en" sz="1200" dirty="0"/>
              <a:t>are substituted for the </a:t>
            </a:r>
            <a:r>
              <a:rPr lang="en" sz="1200" b="1" i="1" dirty="0">
                <a:solidFill>
                  <a:srgbClr val="FF0000"/>
                </a:solidFill>
              </a:rPr>
              <a:t>fake</a:t>
            </a:r>
            <a:r>
              <a:rPr lang="en" sz="1200" dirty="0">
                <a:solidFill>
                  <a:srgbClr val="FF0000"/>
                </a:solidFill>
              </a:rPr>
              <a:t> </a:t>
            </a:r>
            <a:r>
              <a:rPr lang="en" sz="1200" dirty="0"/>
              <a:t>ones.</a:t>
            </a:r>
            <a:endParaRPr sz="1200" dirty="0"/>
          </a:p>
        </p:txBody>
      </p:sp>
      <p:grpSp>
        <p:nvGrpSpPr>
          <p:cNvPr id="810" name="Google Shape;810;p85"/>
          <p:cNvGrpSpPr/>
          <p:nvPr/>
        </p:nvGrpSpPr>
        <p:grpSpPr>
          <a:xfrm>
            <a:off x="7003025" y="1079800"/>
            <a:ext cx="267600" cy="469500"/>
            <a:chOff x="7003025" y="1079800"/>
            <a:chExt cx="267600" cy="469500"/>
          </a:xfrm>
        </p:grpSpPr>
        <p:sp>
          <p:nvSpPr>
            <p:cNvPr id="811" name="Google Shape;811;p85"/>
            <p:cNvSpPr/>
            <p:nvPr/>
          </p:nvSpPr>
          <p:spPr>
            <a:xfrm>
              <a:off x="7003025" y="1329400"/>
              <a:ext cx="267600" cy="219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12" name="Google Shape;812;p85"/>
            <p:cNvCxnSpPr>
              <a:stCxn id="811" idx="0"/>
            </p:cNvCxnSpPr>
            <p:nvPr/>
          </p:nvCxnSpPr>
          <p:spPr>
            <a:xfrm rot="10800000">
              <a:off x="7136825" y="1079800"/>
              <a:ext cx="0" cy="249600"/>
            </a:xfrm>
            <a:prstGeom prst="straightConnector1">
              <a:avLst/>
            </a:prstGeom>
            <a:noFill/>
            <a:ln w="19050" cap="flat" cmpd="sng">
              <a:solidFill>
                <a:srgbClr val="FF0000"/>
              </a:solidFill>
              <a:prstDash val="solid"/>
              <a:round/>
              <a:headEnd type="none" w="med" len="med"/>
              <a:tailEnd type="none" w="med" len="med"/>
            </a:ln>
          </p:spPr>
        </p:cxnSp>
      </p:grpSp>
      <p:sp>
        <p:nvSpPr>
          <p:cNvPr id="813" name="Google Shape;813;p85"/>
          <p:cNvSpPr txBox="1">
            <a:spLocks noGrp="1"/>
          </p:cNvSpPr>
          <p:nvPr>
            <p:ph type="body" idx="3"/>
          </p:nvPr>
        </p:nvSpPr>
        <p:spPr>
          <a:xfrm>
            <a:off x="5188525" y="728125"/>
            <a:ext cx="3706500" cy="455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A </a:t>
            </a:r>
            <a:r>
              <a:rPr lang="en" sz="1200" b="1" i="1">
                <a:solidFill>
                  <a:srgbClr val="FF0000"/>
                </a:solidFill>
              </a:rPr>
              <a:t>generic class</a:t>
            </a:r>
            <a:r>
              <a:rPr lang="en" sz="1200"/>
              <a:t> declares one or more </a:t>
            </a:r>
            <a:r>
              <a:rPr lang="en" sz="1200" b="1" i="1">
                <a:solidFill>
                  <a:srgbClr val="FF0000"/>
                </a:solidFill>
              </a:rPr>
              <a:t>type parameters</a:t>
            </a:r>
            <a:r>
              <a:rPr lang="en" sz="1200"/>
              <a:t> in angle brackets (</a:t>
            </a:r>
            <a:r>
              <a:rPr lang="en" sz="1200">
                <a:solidFill>
                  <a:srgbClr val="FF0000"/>
                </a:solidFill>
                <a:latin typeface="Courier New"/>
                <a:ea typeface="Courier New"/>
                <a:cs typeface="Courier New"/>
                <a:sym typeface="Courier New"/>
              </a:rPr>
              <a:t>&lt;&gt;</a:t>
            </a:r>
            <a:r>
              <a:rPr lang="en" sz="1200"/>
              <a:t>).</a:t>
            </a:r>
            <a:endParaRPr sz="1200"/>
          </a:p>
        </p:txBody>
      </p:sp>
      <p:grpSp>
        <p:nvGrpSpPr>
          <p:cNvPr id="814" name="Google Shape;814;p85"/>
          <p:cNvGrpSpPr/>
          <p:nvPr/>
        </p:nvGrpSpPr>
        <p:grpSpPr>
          <a:xfrm>
            <a:off x="7145105" y="3003225"/>
            <a:ext cx="838800" cy="799350"/>
            <a:chOff x="7145105" y="3003225"/>
            <a:chExt cx="838800" cy="799350"/>
          </a:xfrm>
        </p:grpSpPr>
        <p:sp>
          <p:nvSpPr>
            <p:cNvPr id="815" name="Google Shape;815;p85"/>
            <p:cNvSpPr/>
            <p:nvPr/>
          </p:nvSpPr>
          <p:spPr>
            <a:xfrm>
              <a:off x="7145105" y="3003225"/>
              <a:ext cx="267600" cy="219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16" name="Google Shape;816;p85"/>
            <p:cNvCxnSpPr>
              <a:stCxn id="815" idx="3"/>
            </p:cNvCxnSpPr>
            <p:nvPr/>
          </p:nvCxnSpPr>
          <p:spPr>
            <a:xfrm>
              <a:off x="7412705" y="3113175"/>
              <a:ext cx="571200" cy="689400"/>
            </a:xfrm>
            <a:prstGeom prst="bentConnector2">
              <a:avLst/>
            </a:prstGeom>
            <a:noFill/>
            <a:ln w="19050" cap="flat" cmpd="sng">
              <a:solidFill>
                <a:srgbClr val="FF0000"/>
              </a:solidFill>
              <a:prstDash val="solid"/>
              <a:round/>
              <a:headEnd type="none" w="med" len="med"/>
              <a:tailEnd type="none" w="med" len="med"/>
            </a:ln>
          </p:spPr>
        </p:cxnSp>
      </p:grpSp>
      <p:grpSp>
        <p:nvGrpSpPr>
          <p:cNvPr id="817" name="Google Shape;817;p85"/>
          <p:cNvGrpSpPr/>
          <p:nvPr/>
        </p:nvGrpSpPr>
        <p:grpSpPr>
          <a:xfrm>
            <a:off x="5867550" y="2381125"/>
            <a:ext cx="560400" cy="1409550"/>
            <a:chOff x="5867550" y="2381125"/>
            <a:chExt cx="560400" cy="1409550"/>
          </a:xfrm>
        </p:grpSpPr>
        <p:sp>
          <p:nvSpPr>
            <p:cNvPr id="818" name="Google Shape;818;p85"/>
            <p:cNvSpPr/>
            <p:nvPr/>
          </p:nvSpPr>
          <p:spPr>
            <a:xfrm>
              <a:off x="6160350" y="2381125"/>
              <a:ext cx="267600" cy="219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19" name="Google Shape;819;p85"/>
            <p:cNvCxnSpPr>
              <a:stCxn id="818" idx="1"/>
            </p:cNvCxnSpPr>
            <p:nvPr/>
          </p:nvCxnSpPr>
          <p:spPr>
            <a:xfrm flipH="1">
              <a:off x="5867550" y="2491075"/>
              <a:ext cx="292800" cy="1299600"/>
            </a:xfrm>
            <a:prstGeom prst="bentConnector2">
              <a:avLst/>
            </a:prstGeom>
            <a:noFill/>
            <a:ln w="19050" cap="flat" cmpd="sng">
              <a:solidFill>
                <a:srgbClr val="FF0000"/>
              </a:solidFill>
              <a:prstDash val="solid"/>
              <a:round/>
              <a:headEnd type="none" w="med" len="med"/>
              <a:tailEnd type="none" w="med" len="med"/>
            </a:ln>
          </p:spPr>
        </p:cxnSp>
      </p:grpSp>
      <p:grpSp>
        <p:nvGrpSpPr>
          <p:cNvPr id="820" name="Google Shape;820;p85"/>
          <p:cNvGrpSpPr/>
          <p:nvPr/>
        </p:nvGrpSpPr>
        <p:grpSpPr>
          <a:xfrm>
            <a:off x="5516575" y="1481800"/>
            <a:ext cx="984900" cy="2308950"/>
            <a:chOff x="5516575" y="1481800"/>
            <a:chExt cx="984900" cy="2308950"/>
          </a:xfrm>
        </p:grpSpPr>
        <p:sp>
          <p:nvSpPr>
            <p:cNvPr id="821" name="Google Shape;821;p85"/>
            <p:cNvSpPr/>
            <p:nvPr/>
          </p:nvSpPr>
          <p:spPr>
            <a:xfrm>
              <a:off x="6233875" y="1481800"/>
              <a:ext cx="267600" cy="219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22" name="Google Shape;822;p85"/>
            <p:cNvCxnSpPr>
              <a:stCxn id="821" idx="1"/>
            </p:cNvCxnSpPr>
            <p:nvPr/>
          </p:nvCxnSpPr>
          <p:spPr>
            <a:xfrm flipH="1">
              <a:off x="5516575" y="1591750"/>
              <a:ext cx="717300" cy="2199000"/>
            </a:xfrm>
            <a:prstGeom prst="bentConnector2">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0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0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0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0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0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0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0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13"/>
                                        </p:tgtEl>
                                        <p:attrNameLst>
                                          <p:attrName>style.visibility</p:attrName>
                                        </p:attrNameLst>
                                      </p:cBhvr>
                                      <p:to>
                                        <p:strVal val="visible"/>
                                      </p:to>
                                    </p:set>
                                    <p:animEffect transition="in" filter="fade">
                                      <p:cBhvr>
                                        <p:cTn id="47" dur="1000"/>
                                        <p:tgtEl>
                                          <p:spTgt spid="813"/>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810"/>
                                        </p:tgtEl>
                                        <p:attrNameLst>
                                          <p:attrName>style.visibility</p:attrName>
                                        </p:attrNameLst>
                                      </p:cBhvr>
                                      <p:to>
                                        <p:strVal val="visible"/>
                                      </p:to>
                                    </p:set>
                                    <p:animEffect transition="in" filter="fade">
                                      <p:cBhvr>
                                        <p:cTn id="51" dur="1000"/>
                                        <p:tgtEl>
                                          <p:spTgt spid="810"/>
                                        </p:tgtEl>
                                      </p:cBhvr>
                                    </p:animEffect>
                                  </p:childTnLst>
                                </p:cTn>
                              </p:par>
                              <p:par>
                                <p:cTn id="52" presetID="10" presetClass="entr" presetSubtype="0" fill="hold" nodeType="withEffect">
                                  <p:stCondLst>
                                    <p:cond delay="0"/>
                                  </p:stCondLst>
                                  <p:childTnLst>
                                    <p:set>
                                      <p:cBhvr>
                                        <p:cTn id="53" dur="1" fill="hold">
                                          <p:stCondLst>
                                            <p:cond delay="0"/>
                                          </p:stCondLst>
                                        </p:cTn>
                                        <p:tgtEl>
                                          <p:spTgt spid="806"/>
                                        </p:tgtEl>
                                        <p:attrNameLst>
                                          <p:attrName>style.visibility</p:attrName>
                                        </p:attrNameLst>
                                      </p:cBhvr>
                                      <p:to>
                                        <p:strVal val="visible"/>
                                      </p:to>
                                    </p:set>
                                    <p:animEffect transition="in" filter="fade">
                                      <p:cBhvr>
                                        <p:cTn id="54" dur="1000"/>
                                        <p:tgtEl>
                                          <p:spTgt spid="80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808"/>
                                        </p:tgtEl>
                                        <p:attrNameLst>
                                          <p:attrName>style.visibility</p:attrName>
                                        </p:attrNameLst>
                                      </p:cBhvr>
                                      <p:to>
                                        <p:strVal val="visible"/>
                                      </p:to>
                                    </p:set>
                                    <p:animEffect transition="in" filter="fade">
                                      <p:cBhvr>
                                        <p:cTn id="59" dur="1000"/>
                                        <p:tgtEl>
                                          <p:spTgt spid="808"/>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820"/>
                                        </p:tgtEl>
                                        <p:attrNameLst>
                                          <p:attrName>style.visibility</p:attrName>
                                        </p:attrNameLst>
                                      </p:cBhvr>
                                      <p:to>
                                        <p:strVal val="visible"/>
                                      </p:to>
                                    </p:set>
                                    <p:animEffect transition="in" filter="fade">
                                      <p:cBhvr>
                                        <p:cTn id="63" dur="1000"/>
                                        <p:tgtEl>
                                          <p:spTgt spid="820"/>
                                        </p:tgtEl>
                                      </p:cBhvr>
                                    </p:animEffect>
                                  </p:childTnLst>
                                </p:cTn>
                              </p:par>
                            </p:childTnLst>
                          </p:cTn>
                        </p:par>
                        <p:par>
                          <p:cTn id="64" fill="hold">
                            <p:stCondLst>
                              <p:cond delay="2000"/>
                            </p:stCondLst>
                            <p:childTnLst>
                              <p:par>
                                <p:cTn id="65" presetID="10" presetClass="entr" presetSubtype="0" fill="hold" nodeType="afterEffect">
                                  <p:stCondLst>
                                    <p:cond delay="0"/>
                                  </p:stCondLst>
                                  <p:childTnLst>
                                    <p:set>
                                      <p:cBhvr>
                                        <p:cTn id="66" dur="1" fill="hold">
                                          <p:stCondLst>
                                            <p:cond delay="0"/>
                                          </p:stCondLst>
                                        </p:cTn>
                                        <p:tgtEl>
                                          <p:spTgt spid="817"/>
                                        </p:tgtEl>
                                        <p:attrNameLst>
                                          <p:attrName>style.visibility</p:attrName>
                                        </p:attrNameLst>
                                      </p:cBhvr>
                                      <p:to>
                                        <p:strVal val="visible"/>
                                      </p:to>
                                    </p:set>
                                    <p:animEffect transition="in" filter="fade">
                                      <p:cBhvr>
                                        <p:cTn id="67" dur="1000"/>
                                        <p:tgtEl>
                                          <p:spTgt spid="817"/>
                                        </p:tgtEl>
                                      </p:cBhvr>
                                    </p:animEffect>
                                  </p:childTnLst>
                                </p:cTn>
                              </p:par>
                            </p:childTnLst>
                          </p:cTn>
                        </p:par>
                        <p:par>
                          <p:cTn id="68" fill="hold">
                            <p:stCondLst>
                              <p:cond delay="3000"/>
                            </p:stCondLst>
                            <p:childTnLst>
                              <p:par>
                                <p:cTn id="69" presetID="10" presetClass="entr" presetSubtype="0" fill="hold" nodeType="afterEffect">
                                  <p:stCondLst>
                                    <p:cond delay="0"/>
                                  </p:stCondLst>
                                  <p:childTnLst>
                                    <p:set>
                                      <p:cBhvr>
                                        <p:cTn id="70" dur="1" fill="hold">
                                          <p:stCondLst>
                                            <p:cond delay="0"/>
                                          </p:stCondLst>
                                        </p:cTn>
                                        <p:tgtEl>
                                          <p:spTgt spid="814"/>
                                        </p:tgtEl>
                                        <p:attrNameLst>
                                          <p:attrName>style.visibility</p:attrName>
                                        </p:attrNameLst>
                                      </p:cBhvr>
                                      <p:to>
                                        <p:strVal val="visible"/>
                                      </p:to>
                                    </p:set>
                                    <p:animEffect transition="in" filter="fade">
                                      <p:cBhvr>
                                        <p:cTn id="71" dur="1000"/>
                                        <p:tgtEl>
                                          <p:spTgt spid="814"/>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809"/>
                                        </p:tgtEl>
                                        <p:attrNameLst>
                                          <p:attrName>style.visibility</p:attrName>
                                        </p:attrNameLst>
                                      </p:cBhvr>
                                      <p:to>
                                        <p:strVal val="visible"/>
                                      </p:to>
                                    </p:set>
                                    <p:animEffect transition="in" filter="fade">
                                      <p:cBhvr>
                                        <p:cTn id="76" dur="1000"/>
                                        <p:tgtEl>
                                          <p:spTgt spid="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86"/>
          <p:cNvSpPr txBox="1">
            <a:spLocks noGrp="1"/>
          </p:cNvSpPr>
          <p:nvPr>
            <p:ph type="body" idx="4294967295"/>
          </p:nvPr>
        </p:nvSpPr>
        <p:spPr>
          <a:xfrm>
            <a:off x="2916013" y="2786835"/>
            <a:ext cx="3253200" cy="966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SzPts val="1300"/>
              <a:buNone/>
            </a:pPr>
            <a:endParaRPr sz="1000">
              <a:solidFill>
                <a:srgbClr val="4EC9B0"/>
              </a:solidFill>
              <a:latin typeface="Consolas"/>
              <a:ea typeface="Consolas"/>
              <a:cs typeface="Consolas"/>
              <a:sym typeface="Consolas"/>
            </a:endParaRPr>
          </a:p>
        </p:txBody>
      </p:sp>
      <p:sp>
        <p:nvSpPr>
          <p:cNvPr id="828" name="Google Shape;828;p86"/>
          <p:cNvSpPr txBox="1"/>
          <p:nvPr/>
        </p:nvSpPr>
        <p:spPr>
          <a:xfrm>
            <a:off x="2913666" y="3267953"/>
            <a:ext cx="3000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Consolas"/>
                <a:ea typeface="Consolas"/>
                <a:cs typeface="Consolas"/>
                <a:sym typeface="Consolas"/>
              </a:rPr>
              <a:t>c.setValue(</a:t>
            </a:r>
            <a:r>
              <a:rPr lang="en" sz="1000">
                <a:solidFill>
                  <a:srgbClr val="098658"/>
                </a:solidFill>
                <a:latin typeface="Consolas"/>
                <a:ea typeface="Consolas"/>
                <a:cs typeface="Consolas"/>
                <a:sym typeface="Consolas"/>
              </a:rPr>
              <a:t>123</a:t>
            </a:r>
            <a:r>
              <a:rPr lang="en" sz="1000">
                <a:latin typeface="Consolas"/>
                <a:ea typeface="Consolas"/>
                <a:cs typeface="Consolas"/>
                <a:sym typeface="Consolas"/>
              </a:rPr>
              <a:t>);</a:t>
            </a:r>
            <a:endParaRPr/>
          </a:p>
        </p:txBody>
      </p:sp>
      <p:sp>
        <p:nvSpPr>
          <p:cNvPr id="829" name="Google Shape;829;p86"/>
          <p:cNvSpPr txBox="1">
            <a:spLocks noGrp="1"/>
          </p:cNvSpPr>
          <p:nvPr>
            <p:ph type="sldNum" idx="12"/>
          </p:nvPr>
        </p:nvSpPr>
        <p:spPr>
          <a:xfrm>
            <a:off x="860561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29</a:t>
            </a:fld>
            <a:endParaRPr/>
          </a:p>
        </p:txBody>
      </p:sp>
      <p:sp>
        <p:nvSpPr>
          <p:cNvPr id="830" name="Google Shape;830;p86"/>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Closer Look at Generics</a:t>
            </a:r>
            <a:endParaRPr/>
          </a:p>
        </p:txBody>
      </p:sp>
      <p:sp>
        <p:nvSpPr>
          <p:cNvPr id="831" name="Google Shape;831;p86"/>
          <p:cNvSpPr txBox="1">
            <a:spLocks noGrp="1"/>
          </p:cNvSpPr>
          <p:nvPr>
            <p:ph type="body" idx="4294967295"/>
          </p:nvPr>
        </p:nvSpPr>
        <p:spPr>
          <a:xfrm>
            <a:off x="196300" y="2088208"/>
            <a:ext cx="2556600" cy="19650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1  </a:t>
            </a:r>
            <a:r>
              <a:rPr lang="en" sz="800" dirty="0">
                <a:solidFill>
                  <a:srgbClr val="0000FF"/>
                </a:solidFill>
                <a:latin typeface="Consolas"/>
                <a:ea typeface="Consolas"/>
                <a:cs typeface="Consolas"/>
                <a:sym typeface="Consolas"/>
              </a:rPr>
              <a:t>public</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class</a:t>
            </a:r>
            <a:r>
              <a:rPr lang="en" sz="800" dirty="0">
                <a:solidFill>
                  <a:srgbClr val="000000"/>
                </a:solidFill>
                <a:latin typeface="Consolas"/>
                <a:ea typeface="Consolas"/>
                <a:cs typeface="Consolas"/>
                <a:sym typeface="Consolas"/>
              </a:rPr>
              <a:t> Container&lt;</a:t>
            </a:r>
            <a:r>
              <a:rPr lang="en" sz="800" dirty="0">
                <a:solidFill>
                  <a:srgbClr val="0000FF"/>
                </a:solidFill>
                <a:latin typeface="Consolas"/>
                <a:ea typeface="Consolas"/>
                <a:cs typeface="Consolas"/>
                <a:sym typeface="Consolas"/>
              </a:rPr>
              <a:t>T</a:t>
            </a:r>
            <a:r>
              <a:rPr lang="en" sz="800" dirty="0">
                <a:solidFill>
                  <a:srgbClr val="000000"/>
                </a:solidFill>
                <a:latin typeface="Consolas"/>
                <a:ea typeface="Consolas"/>
                <a:cs typeface="Consolas"/>
                <a:sym typeface="Consolas"/>
              </a:rPr>
              <a:t>&gt;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2  </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private</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T</a:t>
            </a:r>
            <a:r>
              <a:rPr lang="en" sz="800" dirty="0">
                <a:solidFill>
                  <a:srgbClr val="000000"/>
                </a:solidFill>
                <a:latin typeface="Consolas"/>
                <a:ea typeface="Consolas"/>
                <a:cs typeface="Consolas"/>
                <a:sym typeface="Consolas"/>
              </a:rPr>
              <a:t> value;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3  </a:t>
            </a:r>
            <a:r>
              <a:rPr lang="en" sz="800" dirty="0">
                <a:solidFill>
                  <a:srgbClr val="000000"/>
                </a:solidFill>
                <a:latin typeface="Consolas"/>
                <a:ea typeface="Consolas"/>
                <a:cs typeface="Consolas"/>
                <a:sym typeface="Consolas"/>
              </a:rPr>
              <a:t>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4  </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public</a:t>
            </a:r>
            <a:r>
              <a:rPr lang="en" sz="800" dirty="0">
                <a:solidFill>
                  <a:srgbClr val="000000"/>
                </a:solidFill>
                <a:latin typeface="Consolas"/>
                <a:ea typeface="Consolas"/>
                <a:cs typeface="Consolas"/>
                <a:sym typeface="Consolas"/>
              </a:rPr>
              <a:t> Container(</a:t>
            </a:r>
            <a:r>
              <a:rPr lang="en" sz="800" dirty="0">
                <a:solidFill>
                  <a:srgbClr val="0000FF"/>
                </a:solidFill>
                <a:latin typeface="Consolas"/>
                <a:ea typeface="Consolas"/>
                <a:cs typeface="Consolas"/>
                <a:sym typeface="Consolas"/>
              </a:rPr>
              <a:t>T</a:t>
            </a:r>
            <a:r>
              <a:rPr lang="en" sz="800" dirty="0">
                <a:solidFill>
                  <a:srgbClr val="000000"/>
                </a:solidFill>
                <a:latin typeface="Consolas"/>
                <a:ea typeface="Consolas"/>
                <a:cs typeface="Consolas"/>
                <a:sym typeface="Consolas"/>
              </a:rPr>
              <a:t> value)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5  </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this</a:t>
            </a:r>
            <a:r>
              <a:rPr lang="en" sz="800" dirty="0">
                <a:solidFill>
                  <a:srgbClr val="000000"/>
                </a:solidFill>
                <a:latin typeface="Consolas"/>
                <a:ea typeface="Consolas"/>
                <a:cs typeface="Consolas"/>
                <a:sym typeface="Consolas"/>
              </a:rPr>
              <a:t>.value = value;</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6  </a:t>
            </a:r>
            <a:r>
              <a:rPr lang="en" sz="800" dirty="0">
                <a:solidFill>
                  <a:srgbClr val="000000"/>
                </a:solidFill>
                <a:latin typeface="Consolas"/>
                <a:ea typeface="Consolas"/>
                <a:cs typeface="Consolas"/>
                <a:sym typeface="Consolas"/>
              </a:rPr>
              <a:t>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7  </a:t>
            </a:r>
            <a:r>
              <a:rPr lang="en" sz="800" dirty="0">
                <a:solidFill>
                  <a:srgbClr val="000000"/>
                </a:solidFill>
                <a:latin typeface="Consolas"/>
                <a:ea typeface="Consolas"/>
                <a:cs typeface="Consolas"/>
                <a:sym typeface="Consolas"/>
              </a:rPr>
              <a:t>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8  </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public</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T</a:t>
            </a:r>
            <a:r>
              <a:rPr lang="en" sz="800" dirty="0">
                <a:solidFill>
                  <a:srgbClr val="000000"/>
                </a:solidFill>
                <a:latin typeface="Consolas"/>
                <a:ea typeface="Consolas"/>
                <a:cs typeface="Consolas"/>
                <a:sym typeface="Consolas"/>
              </a:rPr>
              <a:t> getValue()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9  </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return</a:t>
            </a:r>
            <a:r>
              <a:rPr lang="en" sz="800" dirty="0">
                <a:solidFill>
                  <a:srgbClr val="000000"/>
                </a:solidFill>
                <a:latin typeface="Consolas"/>
                <a:ea typeface="Consolas"/>
                <a:cs typeface="Consolas"/>
                <a:sym typeface="Consolas"/>
              </a:rPr>
              <a:t> value;</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10 </a:t>
            </a:r>
            <a:r>
              <a:rPr lang="en" sz="800" dirty="0">
                <a:solidFill>
                  <a:srgbClr val="000000"/>
                </a:solidFill>
                <a:latin typeface="Consolas"/>
                <a:ea typeface="Consolas"/>
                <a:cs typeface="Consolas"/>
                <a:sym typeface="Consolas"/>
              </a:rPr>
              <a:t>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11  </a:t>
            </a:r>
            <a:r>
              <a:rPr lang="en" sz="800" dirty="0">
                <a:solidFill>
                  <a:srgbClr val="000000"/>
                </a:solidFill>
                <a:latin typeface="Consolas"/>
                <a:ea typeface="Consolas"/>
                <a:cs typeface="Consolas"/>
                <a:sym typeface="Consolas"/>
              </a:rPr>
              <a:t>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12 </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public</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void</a:t>
            </a:r>
            <a:r>
              <a:rPr lang="en" sz="800" dirty="0">
                <a:solidFill>
                  <a:srgbClr val="000000"/>
                </a:solidFill>
                <a:latin typeface="Consolas"/>
                <a:ea typeface="Consolas"/>
                <a:cs typeface="Consolas"/>
                <a:sym typeface="Consolas"/>
              </a:rPr>
              <a:t> setValue(</a:t>
            </a:r>
            <a:r>
              <a:rPr lang="en" sz="800" dirty="0">
                <a:solidFill>
                  <a:srgbClr val="0000FF"/>
                </a:solidFill>
                <a:latin typeface="Consolas"/>
                <a:ea typeface="Consolas"/>
                <a:cs typeface="Consolas"/>
                <a:sym typeface="Consolas"/>
              </a:rPr>
              <a:t>T</a:t>
            </a:r>
            <a:r>
              <a:rPr lang="en" sz="800" dirty="0">
                <a:solidFill>
                  <a:srgbClr val="000000"/>
                </a:solidFill>
                <a:latin typeface="Consolas"/>
                <a:ea typeface="Consolas"/>
                <a:cs typeface="Consolas"/>
                <a:sym typeface="Consolas"/>
              </a:rPr>
              <a:t> value)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13 </a:t>
            </a:r>
            <a:r>
              <a:rPr lang="en" sz="800" dirty="0">
                <a:solidFill>
                  <a:srgbClr val="000000"/>
                </a:solidFill>
                <a:latin typeface="Consolas"/>
                <a:ea typeface="Consolas"/>
                <a:cs typeface="Consolas"/>
                <a:sym typeface="Consolas"/>
              </a:rPr>
              <a:t>        </a:t>
            </a:r>
            <a:r>
              <a:rPr lang="en" sz="800" dirty="0">
                <a:solidFill>
                  <a:srgbClr val="0000FF"/>
                </a:solidFill>
                <a:latin typeface="Consolas"/>
                <a:ea typeface="Consolas"/>
                <a:cs typeface="Consolas"/>
                <a:sym typeface="Consolas"/>
              </a:rPr>
              <a:t>this</a:t>
            </a:r>
            <a:r>
              <a:rPr lang="en" sz="800" dirty="0">
                <a:solidFill>
                  <a:srgbClr val="000000"/>
                </a:solidFill>
                <a:latin typeface="Consolas"/>
                <a:ea typeface="Consolas"/>
                <a:cs typeface="Consolas"/>
                <a:sym typeface="Consolas"/>
              </a:rPr>
              <a:t>.value = value;</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14 </a:t>
            </a:r>
            <a:r>
              <a:rPr lang="en" sz="800" dirty="0">
                <a:solidFill>
                  <a:srgbClr val="000000"/>
                </a:solidFill>
                <a:latin typeface="Consolas"/>
                <a:ea typeface="Consolas"/>
                <a:cs typeface="Consolas"/>
                <a:sym typeface="Consolas"/>
              </a:rPr>
              <a:t>    }</a:t>
            </a:r>
            <a:endParaRPr sz="8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dirty="0">
                <a:solidFill>
                  <a:srgbClr val="6AA84F"/>
                </a:solidFill>
                <a:latin typeface="Consolas"/>
                <a:ea typeface="Consolas"/>
                <a:cs typeface="Consolas"/>
                <a:sym typeface="Consolas"/>
              </a:rPr>
              <a:t>15 </a:t>
            </a:r>
            <a:r>
              <a:rPr lang="en" sz="800" dirty="0">
                <a:solidFill>
                  <a:srgbClr val="000000"/>
                </a:solidFill>
                <a:latin typeface="Consolas"/>
                <a:ea typeface="Consolas"/>
                <a:cs typeface="Consolas"/>
                <a:sym typeface="Consolas"/>
              </a:rPr>
              <a:t>}</a:t>
            </a:r>
            <a:endParaRPr sz="800" dirty="0">
              <a:solidFill>
                <a:srgbClr val="999999"/>
              </a:solidFill>
              <a:latin typeface="Consolas"/>
              <a:ea typeface="Consolas"/>
              <a:cs typeface="Consolas"/>
              <a:sym typeface="Consolas"/>
            </a:endParaRPr>
          </a:p>
        </p:txBody>
      </p:sp>
      <p:sp>
        <p:nvSpPr>
          <p:cNvPr id="832" name="Google Shape;832;p86"/>
          <p:cNvSpPr txBox="1">
            <a:spLocks noGrp="1"/>
          </p:cNvSpPr>
          <p:nvPr>
            <p:ph type="body" idx="4294967295"/>
          </p:nvPr>
        </p:nvSpPr>
        <p:spPr>
          <a:xfrm>
            <a:off x="6332350" y="2304671"/>
            <a:ext cx="2556600" cy="196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1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solidFill>
                  <a:srgbClr val="000000"/>
                </a:solidFill>
                <a:latin typeface="Consolas"/>
                <a:ea typeface="Consolas"/>
                <a:cs typeface="Consolas"/>
                <a:sym typeface="Consolas"/>
              </a:rPr>
              <a:t> Container&lt;   </a:t>
            </a:r>
            <a:r>
              <a:rPr lang="en" sz="800">
                <a:solidFill>
                  <a:srgbClr val="0000FF"/>
                </a:solidFill>
                <a:latin typeface="Consolas"/>
                <a:ea typeface="Consolas"/>
                <a:cs typeface="Consolas"/>
                <a:sym typeface="Consolas"/>
              </a:rPr>
              <a:t>T   </a:t>
            </a:r>
            <a:r>
              <a:rPr lang="en" sz="800">
                <a:solidFill>
                  <a:srgbClr val="000000"/>
                </a:solidFill>
                <a:latin typeface="Consolas"/>
                <a:ea typeface="Consolas"/>
                <a:cs typeface="Consolas"/>
                <a:sym typeface="Consolas"/>
              </a:rPr>
              <a:t>&gt;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2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a:t>
            </a:r>
            <a:r>
              <a:rPr lang="en" sz="800">
                <a:solidFill>
                  <a:srgbClr val="000000"/>
                </a:solidFill>
                <a:latin typeface="Consolas"/>
                <a:ea typeface="Consolas"/>
                <a:cs typeface="Consolas"/>
                <a:sym typeface="Consolas"/>
              </a:rPr>
              <a:t>    value;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3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4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Container(   </a:t>
            </a:r>
            <a:r>
              <a:rPr lang="en" sz="800">
                <a:solidFill>
                  <a:srgbClr val="0000FF"/>
                </a:solidFill>
                <a:latin typeface="Consolas"/>
                <a:ea typeface="Consolas"/>
                <a:cs typeface="Consolas"/>
                <a:sym typeface="Consolas"/>
              </a:rPr>
              <a:t>T    </a:t>
            </a:r>
            <a:r>
              <a:rPr lang="en" sz="800">
                <a:solidFill>
                  <a:srgbClr val="000000"/>
                </a:solidFill>
                <a:latin typeface="Consolas"/>
                <a:ea typeface="Consolas"/>
                <a:cs typeface="Consolas"/>
                <a:sym typeface="Consolas"/>
              </a:rPr>
              <a:t>value)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5</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solidFill>
                  <a:srgbClr val="000000"/>
                </a:solidFill>
                <a:latin typeface="Consolas"/>
                <a:ea typeface="Consolas"/>
                <a:cs typeface="Consolas"/>
                <a:sym typeface="Consolas"/>
              </a:rPr>
              <a:t>.value = value;</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6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7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8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a:t>
            </a:r>
            <a:r>
              <a:rPr lang="en" sz="800">
                <a:solidFill>
                  <a:srgbClr val="000000"/>
                </a:solidFill>
                <a:latin typeface="Consolas"/>
                <a:ea typeface="Consolas"/>
                <a:cs typeface="Consolas"/>
                <a:sym typeface="Consolas"/>
              </a:rPr>
              <a:t>    getValue()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9</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return</a:t>
            </a:r>
            <a:r>
              <a:rPr lang="en" sz="800">
                <a:solidFill>
                  <a:srgbClr val="000000"/>
                </a:solidFill>
                <a:latin typeface="Consolas"/>
                <a:ea typeface="Consolas"/>
                <a:cs typeface="Consolas"/>
                <a:sym typeface="Consolas"/>
              </a:rPr>
              <a:t> value;</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10</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11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12</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void</a:t>
            </a:r>
            <a:r>
              <a:rPr lang="en" sz="800">
                <a:solidFill>
                  <a:srgbClr val="000000"/>
                </a:solidFill>
                <a:latin typeface="Consolas"/>
                <a:ea typeface="Consolas"/>
                <a:cs typeface="Consolas"/>
                <a:sym typeface="Consolas"/>
              </a:rPr>
              <a:t> setValue(   </a:t>
            </a:r>
            <a:r>
              <a:rPr lang="en" sz="800">
                <a:solidFill>
                  <a:srgbClr val="0000FF"/>
                </a:solidFill>
                <a:latin typeface="Consolas"/>
                <a:ea typeface="Consolas"/>
                <a:cs typeface="Consolas"/>
                <a:sym typeface="Consolas"/>
              </a:rPr>
              <a:t>T   </a:t>
            </a:r>
            <a:r>
              <a:rPr lang="en" sz="800">
                <a:solidFill>
                  <a:srgbClr val="000000"/>
                </a:solidFill>
                <a:latin typeface="Consolas"/>
                <a:ea typeface="Consolas"/>
                <a:cs typeface="Consolas"/>
                <a:sym typeface="Consolas"/>
              </a:rPr>
              <a:t>value)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13</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solidFill>
                  <a:srgbClr val="000000"/>
                </a:solidFill>
                <a:latin typeface="Consolas"/>
                <a:ea typeface="Consolas"/>
                <a:cs typeface="Consolas"/>
                <a:sym typeface="Consolas"/>
              </a:rPr>
              <a:t>.value = value;</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14</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800">
                <a:solidFill>
                  <a:srgbClr val="6AA84F"/>
                </a:solidFill>
                <a:latin typeface="Consolas"/>
                <a:ea typeface="Consolas"/>
                <a:cs typeface="Consolas"/>
                <a:sym typeface="Consolas"/>
              </a:rPr>
              <a:t>15 </a:t>
            </a:r>
            <a:r>
              <a:rPr lang="en" sz="800">
                <a:solidFill>
                  <a:srgbClr val="000000"/>
                </a:solidFill>
                <a:latin typeface="Consolas"/>
                <a:ea typeface="Consolas"/>
                <a:cs typeface="Consolas"/>
                <a:sym typeface="Consolas"/>
              </a:rPr>
              <a:t>}</a:t>
            </a:r>
            <a:endParaRPr sz="800">
              <a:solidFill>
                <a:srgbClr val="999999"/>
              </a:solidFill>
              <a:latin typeface="Consolas"/>
              <a:ea typeface="Consolas"/>
              <a:cs typeface="Consolas"/>
              <a:sym typeface="Consolas"/>
            </a:endParaRPr>
          </a:p>
        </p:txBody>
      </p:sp>
      <p:sp>
        <p:nvSpPr>
          <p:cNvPr id="833" name="Google Shape;833;p86"/>
          <p:cNvSpPr txBox="1">
            <a:spLocks noGrp="1"/>
          </p:cNvSpPr>
          <p:nvPr>
            <p:ph type="body" idx="4294967295"/>
          </p:nvPr>
        </p:nvSpPr>
        <p:spPr>
          <a:xfrm>
            <a:off x="193750" y="1372758"/>
            <a:ext cx="25617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solidFill>
                  <a:srgbClr val="000000"/>
                </a:solidFill>
                <a:latin typeface="Arial"/>
                <a:ea typeface="Arial"/>
                <a:cs typeface="Arial"/>
                <a:sym typeface="Arial"/>
              </a:rPr>
              <a:t>A </a:t>
            </a:r>
            <a:r>
              <a:rPr lang="en" sz="1200" b="1" i="1" dirty="0">
                <a:solidFill>
                  <a:srgbClr val="FF0000"/>
                </a:solidFill>
                <a:latin typeface="Arial"/>
                <a:ea typeface="Arial"/>
                <a:cs typeface="Arial"/>
                <a:sym typeface="Arial"/>
              </a:rPr>
              <a:t>generic type</a:t>
            </a:r>
            <a:r>
              <a:rPr lang="en" sz="1200" dirty="0">
                <a:solidFill>
                  <a:srgbClr val="000000"/>
                </a:solidFill>
                <a:latin typeface="Arial"/>
                <a:ea typeface="Arial"/>
                <a:cs typeface="Arial"/>
                <a:sym typeface="Arial"/>
              </a:rPr>
              <a:t> declares one or more </a:t>
            </a:r>
            <a:r>
              <a:rPr lang="en" sz="1200" b="1" i="1" dirty="0">
                <a:solidFill>
                  <a:srgbClr val="FF0000"/>
                </a:solidFill>
                <a:latin typeface="Arial"/>
                <a:ea typeface="Arial"/>
                <a:cs typeface="Arial"/>
                <a:sym typeface="Arial"/>
              </a:rPr>
              <a:t>type parameters</a:t>
            </a:r>
            <a:r>
              <a:rPr lang="en" sz="1200" dirty="0">
                <a:solidFill>
                  <a:srgbClr val="000000"/>
                </a:solidFill>
                <a:latin typeface="Arial"/>
                <a:ea typeface="Arial"/>
                <a:cs typeface="Arial"/>
                <a:sym typeface="Arial"/>
              </a:rPr>
              <a:t> with </a:t>
            </a:r>
            <a:r>
              <a:rPr lang="en" sz="1200" b="1" i="1" dirty="0">
                <a:solidFill>
                  <a:srgbClr val="FF0000"/>
                </a:solidFill>
                <a:latin typeface="Arial"/>
                <a:ea typeface="Arial"/>
                <a:cs typeface="Arial"/>
                <a:sym typeface="Arial"/>
              </a:rPr>
              <a:t>fake </a:t>
            </a:r>
            <a:r>
              <a:rPr lang="en" sz="1200" dirty="0">
                <a:solidFill>
                  <a:srgbClr val="000000"/>
                </a:solidFill>
                <a:latin typeface="Arial"/>
                <a:ea typeface="Arial"/>
                <a:cs typeface="Arial"/>
                <a:sym typeface="Arial"/>
              </a:rPr>
              <a:t>type names.</a:t>
            </a:r>
            <a:endParaRPr sz="1200" dirty="0">
              <a:solidFill>
                <a:srgbClr val="FF0000"/>
              </a:solidFill>
              <a:latin typeface="Arial"/>
              <a:ea typeface="Arial"/>
              <a:cs typeface="Arial"/>
              <a:sym typeface="Arial"/>
            </a:endParaRPr>
          </a:p>
        </p:txBody>
      </p:sp>
      <p:sp>
        <p:nvSpPr>
          <p:cNvPr id="834" name="Google Shape;834;p86"/>
          <p:cNvSpPr txBox="1">
            <a:spLocks noGrp="1"/>
          </p:cNvSpPr>
          <p:nvPr>
            <p:ph type="body" idx="4294967295"/>
          </p:nvPr>
        </p:nvSpPr>
        <p:spPr>
          <a:xfrm>
            <a:off x="2916013" y="3832358"/>
            <a:ext cx="32532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From that point forward, only the specified type can be used </a:t>
            </a:r>
            <a:r>
              <a:rPr lang="en" sz="1200" b="1" i="1">
                <a:solidFill>
                  <a:srgbClr val="FF0000"/>
                </a:solidFill>
                <a:latin typeface="Arial"/>
                <a:ea typeface="Arial"/>
                <a:cs typeface="Arial"/>
                <a:sym typeface="Arial"/>
              </a:rPr>
              <a:t>with that specific instance</a:t>
            </a:r>
            <a:r>
              <a:rPr lang="en" sz="1200">
                <a:solidFill>
                  <a:srgbClr val="000000"/>
                </a:solidFill>
                <a:latin typeface="Arial"/>
                <a:ea typeface="Arial"/>
                <a:cs typeface="Arial"/>
                <a:sym typeface="Arial"/>
              </a:rPr>
              <a:t> of the generic type.</a:t>
            </a:r>
            <a:endParaRPr sz="1200">
              <a:solidFill>
                <a:srgbClr val="FF0000"/>
              </a:solidFill>
              <a:latin typeface="Arial"/>
              <a:ea typeface="Arial"/>
              <a:cs typeface="Arial"/>
              <a:sym typeface="Arial"/>
            </a:endParaRPr>
          </a:p>
        </p:txBody>
      </p:sp>
      <p:cxnSp>
        <p:nvCxnSpPr>
          <p:cNvPr id="835" name="Google Shape;835;p86"/>
          <p:cNvCxnSpPr/>
          <p:nvPr/>
        </p:nvCxnSpPr>
        <p:spPr>
          <a:xfrm>
            <a:off x="3014333" y="3538260"/>
            <a:ext cx="1090200" cy="0"/>
          </a:xfrm>
          <a:prstGeom prst="straightConnector1">
            <a:avLst/>
          </a:prstGeom>
          <a:noFill/>
          <a:ln w="19050" cap="flat" cmpd="sng">
            <a:solidFill>
              <a:srgbClr val="FF0000"/>
            </a:solidFill>
            <a:prstDash val="dash"/>
            <a:round/>
            <a:headEnd type="none" w="sm" len="sm"/>
            <a:tailEnd type="none" w="sm" len="sm"/>
          </a:ln>
        </p:spPr>
      </p:cxnSp>
      <p:sp>
        <p:nvSpPr>
          <p:cNvPr id="836" name="Google Shape;836;p86"/>
          <p:cNvSpPr txBox="1">
            <a:spLocks noGrp="1"/>
          </p:cNvSpPr>
          <p:nvPr>
            <p:ph type="body" idx="4294967295"/>
          </p:nvPr>
        </p:nvSpPr>
        <p:spPr>
          <a:xfrm>
            <a:off x="2916000" y="4526033"/>
            <a:ext cx="3253200" cy="513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Trying to use a </a:t>
            </a:r>
            <a:r>
              <a:rPr lang="en" sz="1200" b="1" i="1">
                <a:solidFill>
                  <a:srgbClr val="FF0000"/>
                </a:solidFill>
                <a:latin typeface="Arial"/>
                <a:ea typeface="Arial"/>
                <a:cs typeface="Arial"/>
                <a:sym typeface="Arial"/>
              </a:rPr>
              <a:t>different type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with the </a:t>
            </a:r>
            <a:r>
              <a:rPr lang="en" sz="1200" b="1" i="1">
                <a:solidFill>
                  <a:srgbClr val="FF0000"/>
                </a:solidFill>
                <a:latin typeface="Arial"/>
                <a:ea typeface="Arial"/>
                <a:cs typeface="Arial"/>
                <a:sym typeface="Arial"/>
              </a:rPr>
              <a:t>same</a:t>
            </a:r>
            <a:r>
              <a:rPr lang="en" sz="1200" b="1" i="1">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instance</a:t>
            </a:r>
            <a:r>
              <a:rPr lang="en" sz="1200">
                <a:solidFill>
                  <a:srgbClr val="000000"/>
                </a:solidFill>
                <a:latin typeface="Arial"/>
                <a:ea typeface="Arial"/>
                <a:cs typeface="Arial"/>
                <a:sym typeface="Arial"/>
              </a:rPr>
              <a:t> will cause a </a:t>
            </a:r>
            <a:r>
              <a:rPr lang="en" sz="1200" b="1" i="1">
                <a:solidFill>
                  <a:srgbClr val="FF0000"/>
                </a:solidFill>
                <a:latin typeface="Arial"/>
                <a:ea typeface="Arial"/>
                <a:cs typeface="Arial"/>
                <a:sym typeface="Arial"/>
              </a:rPr>
              <a:t>compiler error</a:t>
            </a:r>
            <a:r>
              <a:rPr lang="en" sz="1200">
                <a:solidFill>
                  <a:srgbClr val="000000"/>
                </a:solidFill>
                <a:latin typeface="Arial"/>
                <a:ea typeface="Arial"/>
                <a:cs typeface="Arial"/>
                <a:sym typeface="Arial"/>
              </a:rPr>
              <a:t>.</a:t>
            </a:r>
            <a:endParaRPr sz="1200">
              <a:solidFill>
                <a:srgbClr val="FF0000"/>
              </a:solidFill>
              <a:latin typeface="Arial"/>
              <a:ea typeface="Arial"/>
              <a:cs typeface="Arial"/>
              <a:sym typeface="Arial"/>
            </a:endParaRPr>
          </a:p>
        </p:txBody>
      </p:sp>
      <p:sp>
        <p:nvSpPr>
          <p:cNvPr id="837" name="Google Shape;837;p86"/>
          <p:cNvSpPr txBox="1">
            <a:spLocks noGrp="1"/>
          </p:cNvSpPr>
          <p:nvPr>
            <p:ph type="body" idx="4294967295"/>
          </p:nvPr>
        </p:nvSpPr>
        <p:spPr>
          <a:xfrm>
            <a:off x="2916013" y="2097813"/>
            <a:ext cx="32532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Note that the </a:t>
            </a:r>
            <a:r>
              <a:rPr lang="en" sz="1200" b="1" i="1">
                <a:solidFill>
                  <a:srgbClr val="FF0000"/>
                </a:solidFill>
                <a:latin typeface="Arial"/>
                <a:ea typeface="Arial"/>
                <a:cs typeface="Arial"/>
                <a:sym typeface="Arial"/>
              </a:rPr>
              <a:t>diamond operator</a:t>
            </a:r>
            <a:r>
              <a:rPr lang="en" sz="1200">
                <a:solidFill>
                  <a:srgbClr val="000000"/>
                </a:solidFill>
                <a:latin typeface="Arial"/>
                <a:ea typeface="Arial"/>
                <a:cs typeface="Arial"/>
                <a:sym typeface="Arial"/>
              </a:rPr>
              <a:t> (</a:t>
            </a:r>
            <a:r>
              <a:rPr lang="en" sz="1200">
                <a:solidFill>
                  <a:srgbClr val="FF0000"/>
                </a:solidFill>
                <a:latin typeface="Courier New"/>
                <a:ea typeface="Courier New"/>
                <a:cs typeface="Courier New"/>
                <a:sym typeface="Courier New"/>
              </a:rPr>
              <a:t>&lt;&gt;</a:t>
            </a:r>
            <a:r>
              <a:rPr lang="en" sz="1200">
                <a:solidFill>
                  <a:srgbClr val="000000"/>
                </a:solidFill>
                <a:latin typeface="Arial"/>
                <a:ea typeface="Arial"/>
                <a:cs typeface="Arial"/>
                <a:sym typeface="Arial"/>
              </a:rPr>
              <a:t>) can be used on the </a:t>
            </a:r>
            <a:r>
              <a:rPr lang="en" sz="1200" b="1" i="1">
                <a:solidFill>
                  <a:srgbClr val="FF0000"/>
                </a:solidFill>
                <a:latin typeface="Arial"/>
                <a:ea typeface="Arial"/>
                <a:cs typeface="Arial"/>
                <a:sym typeface="Arial"/>
              </a:rPr>
              <a:t>right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side of an assignment (the types are </a:t>
            </a:r>
            <a:r>
              <a:rPr lang="en" sz="1200" b="1" i="1">
                <a:solidFill>
                  <a:srgbClr val="FF0000"/>
                </a:solidFill>
                <a:latin typeface="Arial"/>
                <a:ea typeface="Arial"/>
                <a:cs typeface="Arial"/>
                <a:sym typeface="Arial"/>
              </a:rPr>
              <a:t>inferred </a:t>
            </a:r>
            <a:r>
              <a:rPr lang="en" sz="1200">
                <a:solidFill>
                  <a:srgbClr val="000000"/>
                </a:solidFill>
                <a:latin typeface="Arial"/>
                <a:ea typeface="Arial"/>
                <a:cs typeface="Arial"/>
                <a:sym typeface="Arial"/>
              </a:rPr>
              <a:t>from the </a:t>
            </a:r>
            <a:r>
              <a:rPr lang="en" sz="1200" b="1" i="1">
                <a:solidFill>
                  <a:srgbClr val="FF0000"/>
                </a:solidFill>
                <a:latin typeface="Arial"/>
                <a:ea typeface="Arial"/>
                <a:cs typeface="Arial"/>
                <a:sym typeface="Arial"/>
              </a:rPr>
              <a:t>left</a:t>
            </a:r>
            <a:r>
              <a:rPr lang="en" sz="1200">
                <a:solidFill>
                  <a:srgbClr val="000000"/>
                </a:solidFill>
                <a:latin typeface="Arial"/>
                <a:ea typeface="Arial"/>
                <a:cs typeface="Arial"/>
                <a:sym typeface="Arial"/>
              </a:rPr>
              <a:t>).</a:t>
            </a:r>
            <a:endParaRPr sz="1200">
              <a:solidFill>
                <a:srgbClr val="FF0000"/>
              </a:solidFill>
              <a:latin typeface="Arial"/>
              <a:ea typeface="Arial"/>
              <a:cs typeface="Arial"/>
              <a:sym typeface="Arial"/>
            </a:endParaRPr>
          </a:p>
        </p:txBody>
      </p:sp>
      <p:sp>
        <p:nvSpPr>
          <p:cNvPr id="838" name="Google Shape;838;p86"/>
          <p:cNvSpPr txBox="1">
            <a:spLocks noGrp="1"/>
          </p:cNvSpPr>
          <p:nvPr>
            <p:ph type="body" idx="4294967295"/>
          </p:nvPr>
        </p:nvSpPr>
        <p:spPr>
          <a:xfrm>
            <a:off x="2916025" y="1372758"/>
            <a:ext cx="32532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When a variable of the generic type is declared and/or instantiated, a </a:t>
            </a:r>
            <a:r>
              <a:rPr lang="en" sz="1200" b="1" i="1">
                <a:solidFill>
                  <a:srgbClr val="FF0000"/>
                </a:solidFill>
                <a:latin typeface="Arial"/>
                <a:ea typeface="Arial"/>
                <a:cs typeface="Arial"/>
                <a:sym typeface="Arial"/>
              </a:rPr>
              <a:t>real type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specified for-each type parameter...</a:t>
            </a:r>
            <a:endParaRPr sz="1200">
              <a:solidFill>
                <a:srgbClr val="FF0000"/>
              </a:solidFill>
              <a:latin typeface="Arial"/>
              <a:ea typeface="Arial"/>
              <a:cs typeface="Arial"/>
              <a:sym typeface="Arial"/>
            </a:endParaRPr>
          </a:p>
        </p:txBody>
      </p:sp>
      <p:sp>
        <p:nvSpPr>
          <p:cNvPr id="839" name="Google Shape;839;p86"/>
          <p:cNvSpPr txBox="1">
            <a:spLocks noGrp="1"/>
          </p:cNvSpPr>
          <p:nvPr>
            <p:ph type="body" idx="4294967295"/>
          </p:nvPr>
        </p:nvSpPr>
        <p:spPr>
          <a:xfrm>
            <a:off x="6329800" y="1372747"/>
            <a:ext cx="2561700" cy="82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When </a:t>
            </a:r>
            <a:r>
              <a:rPr lang="en" sz="1200" b="1" i="1">
                <a:solidFill>
                  <a:srgbClr val="FF0000"/>
                </a:solidFill>
                <a:latin typeface="Arial"/>
                <a:ea typeface="Arial"/>
                <a:cs typeface="Arial"/>
                <a:sym typeface="Arial"/>
              </a:rPr>
              <a:t>each instance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created with a real type, it is as though the Java compiler does a </a:t>
            </a:r>
            <a:r>
              <a:rPr lang="en" sz="1200" b="1" i="1">
                <a:solidFill>
                  <a:srgbClr val="FF0000"/>
                </a:solidFill>
                <a:latin typeface="Arial"/>
                <a:ea typeface="Arial"/>
                <a:cs typeface="Arial"/>
                <a:sym typeface="Arial"/>
              </a:rPr>
              <a:t>search and replace</a:t>
            </a:r>
            <a:r>
              <a:rPr lang="en" sz="1200">
                <a:solidFill>
                  <a:srgbClr val="000000"/>
                </a:solidFill>
                <a:latin typeface="Arial"/>
                <a:ea typeface="Arial"/>
                <a:cs typeface="Arial"/>
                <a:sym typeface="Arial"/>
              </a:rPr>
              <a:t>...</a:t>
            </a:r>
            <a:endParaRPr sz="1200">
              <a:solidFill>
                <a:srgbClr val="FF0000"/>
              </a:solidFill>
              <a:latin typeface="Arial"/>
              <a:ea typeface="Arial"/>
              <a:cs typeface="Arial"/>
              <a:sym typeface="Arial"/>
            </a:endParaRPr>
          </a:p>
        </p:txBody>
      </p:sp>
      <p:sp>
        <p:nvSpPr>
          <p:cNvPr id="840" name="Google Shape;840;p86"/>
          <p:cNvSpPr txBox="1">
            <a:spLocks noGrp="1"/>
          </p:cNvSpPr>
          <p:nvPr>
            <p:ph type="body" idx="4294967295"/>
          </p:nvPr>
        </p:nvSpPr>
        <p:spPr>
          <a:xfrm>
            <a:off x="6329800" y="4372675"/>
            <a:ext cx="2561700" cy="654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...and the</a:t>
            </a:r>
            <a:r>
              <a:rPr lang="en" sz="1200" b="1" i="1">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type parameter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replaced with the </a:t>
            </a:r>
            <a:r>
              <a:rPr lang="en" sz="1200" b="1" i="1">
                <a:solidFill>
                  <a:srgbClr val="FF0000"/>
                </a:solidFill>
                <a:latin typeface="Arial"/>
                <a:ea typeface="Arial"/>
                <a:cs typeface="Arial"/>
                <a:sym typeface="Arial"/>
              </a:rPr>
              <a:t>real type</a:t>
            </a:r>
            <a:r>
              <a:rPr lang="en" sz="1200">
                <a:solidFill>
                  <a:srgbClr val="000000"/>
                </a:solidFill>
                <a:latin typeface="Arial"/>
                <a:ea typeface="Arial"/>
                <a:cs typeface="Arial"/>
                <a:sym typeface="Arial"/>
              </a:rPr>
              <a:t> wherever it occurs in the class.</a:t>
            </a:r>
            <a:endParaRPr sz="1200">
              <a:solidFill>
                <a:srgbClr val="FF0000"/>
              </a:solidFill>
              <a:latin typeface="Arial"/>
              <a:ea typeface="Arial"/>
              <a:cs typeface="Arial"/>
              <a:sym typeface="Arial"/>
            </a:endParaRPr>
          </a:p>
        </p:txBody>
      </p:sp>
      <p:grpSp>
        <p:nvGrpSpPr>
          <p:cNvPr id="841" name="Google Shape;841;p86"/>
          <p:cNvGrpSpPr/>
          <p:nvPr/>
        </p:nvGrpSpPr>
        <p:grpSpPr>
          <a:xfrm>
            <a:off x="7074395" y="2366812"/>
            <a:ext cx="1320099" cy="1485854"/>
            <a:chOff x="6998195" y="2366812"/>
            <a:chExt cx="1320099" cy="1485854"/>
          </a:xfrm>
        </p:grpSpPr>
        <p:sp>
          <p:nvSpPr>
            <p:cNvPr id="842" name="Google Shape;842;p86"/>
            <p:cNvSpPr txBox="1"/>
            <p:nvPr/>
          </p:nvSpPr>
          <p:spPr>
            <a:xfrm>
              <a:off x="7722475" y="2366812"/>
              <a:ext cx="548700" cy="147000"/>
            </a:xfrm>
            <a:prstGeom prst="rect">
              <a:avLst/>
            </a:prstGeom>
            <a:noFill/>
            <a:ln>
              <a:noFill/>
            </a:ln>
          </p:spPr>
          <p:txBody>
            <a:bodyPr spcFirstLastPara="1" wrap="square" lIns="91425" tIns="91425" rIns="91425" bIns="91425" anchor="ctr" anchorCtr="0">
              <a:noAutofit/>
            </a:bodyPr>
            <a:lstStyle/>
            <a:p>
              <a:pPr marL="0" marR="0" lvl="0" indent="0" algn="ctr" rtl="0">
                <a:lnSpc>
                  <a:spcPct val="135714"/>
                </a:lnSpc>
                <a:spcBef>
                  <a:spcPts val="0"/>
                </a:spcBef>
                <a:spcAft>
                  <a:spcPts val="0"/>
                </a:spcAft>
                <a:buClr>
                  <a:srgbClr val="000000"/>
                </a:buClr>
                <a:buSzPts val="800"/>
                <a:buFont typeface="Arial"/>
                <a:buNone/>
              </a:pPr>
              <a:r>
                <a:rPr lang="en" sz="800" b="0" i="0" u="none" strike="noStrike" cap="none">
                  <a:solidFill>
                    <a:srgbClr val="FF0000"/>
                  </a:solidFill>
                  <a:highlight>
                    <a:srgbClr val="FFFFFF"/>
                  </a:highlight>
                  <a:latin typeface="Consolas"/>
                  <a:ea typeface="Consolas"/>
                  <a:cs typeface="Consolas"/>
                  <a:sym typeface="Consolas"/>
                </a:rPr>
                <a:t>String</a:t>
              </a:r>
              <a:endParaRPr sz="800" b="0" i="0" u="none" strike="noStrike" cap="none">
                <a:solidFill>
                  <a:srgbClr val="FF0000"/>
                </a:solidFill>
                <a:highlight>
                  <a:srgbClr val="FFFFFF"/>
                </a:highlight>
                <a:latin typeface="Roboto"/>
                <a:ea typeface="Roboto"/>
                <a:cs typeface="Roboto"/>
                <a:sym typeface="Roboto"/>
              </a:endParaRPr>
            </a:p>
          </p:txBody>
        </p:sp>
        <p:sp>
          <p:nvSpPr>
            <p:cNvPr id="843" name="Google Shape;843;p86"/>
            <p:cNvSpPr txBox="1"/>
            <p:nvPr/>
          </p:nvSpPr>
          <p:spPr>
            <a:xfrm>
              <a:off x="7074395" y="2493558"/>
              <a:ext cx="548700" cy="147000"/>
            </a:xfrm>
            <a:prstGeom prst="rect">
              <a:avLst/>
            </a:prstGeom>
            <a:noFill/>
            <a:ln>
              <a:noFill/>
            </a:ln>
          </p:spPr>
          <p:txBody>
            <a:bodyPr spcFirstLastPara="1" wrap="square" lIns="91425" tIns="91425" rIns="91425" bIns="91425" anchor="ctr" anchorCtr="0">
              <a:noAutofit/>
            </a:bodyPr>
            <a:lstStyle/>
            <a:p>
              <a:pPr marL="0" marR="0" lvl="0" indent="0" algn="ctr" rtl="0">
                <a:lnSpc>
                  <a:spcPct val="135714"/>
                </a:lnSpc>
                <a:spcBef>
                  <a:spcPts val="0"/>
                </a:spcBef>
                <a:spcAft>
                  <a:spcPts val="0"/>
                </a:spcAft>
                <a:buClr>
                  <a:srgbClr val="000000"/>
                </a:buClr>
                <a:buSzPts val="800"/>
                <a:buFont typeface="Arial"/>
                <a:buNone/>
              </a:pPr>
              <a:r>
                <a:rPr lang="en" sz="800" b="0" i="0" u="none" strike="noStrike" cap="none">
                  <a:solidFill>
                    <a:srgbClr val="FF0000"/>
                  </a:solidFill>
                  <a:highlight>
                    <a:srgbClr val="FFFFFF"/>
                  </a:highlight>
                  <a:latin typeface="Consolas"/>
                  <a:ea typeface="Consolas"/>
                  <a:cs typeface="Consolas"/>
                  <a:sym typeface="Consolas"/>
                </a:rPr>
                <a:t>String</a:t>
              </a:r>
              <a:endParaRPr sz="800" b="0" i="0" u="none" strike="noStrike" cap="none">
                <a:solidFill>
                  <a:srgbClr val="FF0000"/>
                </a:solidFill>
                <a:highlight>
                  <a:srgbClr val="FFFFFF"/>
                </a:highlight>
                <a:latin typeface="Roboto"/>
                <a:ea typeface="Roboto"/>
                <a:cs typeface="Roboto"/>
                <a:sym typeface="Roboto"/>
              </a:endParaRPr>
            </a:p>
          </p:txBody>
        </p:sp>
        <p:sp>
          <p:nvSpPr>
            <p:cNvPr id="844" name="Google Shape;844;p86"/>
            <p:cNvSpPr txBox="1"/>
            <p:nvPr/>
          </p:nvSpPr>
          <p:spPr>
            <a:xfrm>
              <a:off x="7601382" y="2734985"/>
              <a:ext cx="548700" cy="147000"/>
            </a:xfrm>
            <a:prstGeom prst="rect">
              <a:avLst/>
            </a:prstGeom>
            <a:noFill/>
            <a:ln>
              <a:noFill/>
            </a:ln>
          </p:spPr>
          <p:txBody>
            <a:bodyPr spcFirstLastPara="1" wrap="square" lIns="91425" tIns="91425" rIns="91425" bIns="91425" anchor="ctr" anchorCtr="0">
              <a:noAutofit/>
            </a:bodyPr>
            <a:lstStyle/>
            <a:p>
              <a:pPr marL="0" marR="0" lvl="0" indent="0" algn="ctr" rtl="0">
                <a:lnSpc>
                  <a:spcPct val="135714"/>
                </a:lnSpc>
                <a:spcBef>
                  <a:spcPts val="0"/>
                </a:spcBef>
                <a:spcAft>
                  <a:spcPts val="0"/>
                </a:spcAft>
                <a:buClr>
                  <a:srgbClr val="000000"/>
                </a:buClr>
                <a:buSzPts val="800"/>
                <a:buFont typeface="Arial"/>
                <a:buNone/>
              </a:pPr>
              <a:r>
                <a:rPr lang="en" sz="800" b="0" i="0" u="none" strike="noStrike" cap="none">
                  <a:solidFill>
                    <a:srgbClr val="FF0000"/>
                  </a:solidFill>
                  <a:highlight>
                    <a:srgbClr val="FFFFFF"/>
                  </a:highlight>
                  <a:latin typeface="Consolas"/>
                  <a:ea typeface="Consolas"/>
                  <a:cs typeface="Consolas"/>
                  <a:sym typeface="Consolas"/>
                </a:rPr>
                <a:t>String</a:t>
              </a:r>
              <a:endParaRPr sz="800" b="0" i="0" u="none" strike="noStrike" cap="none">
                <a:solidFill>
                  <a:srgbClr val="FF0000"/>
                </a:solidFill>
                <a:highlight>
                  <a:srgbClr val="FFFFFF"/>
                </a:highlight>
                <a:latin typeface="Roboto"/>
                <a:ea typeface="Roboto"/>
                <a:cs typeface="Roboto"/>
                <a:sym typeface="Roboto"/>
              </a:endParaRPr>
            </a:p>
          </p:txBody>
        </p:sp>
        <p:sp>
          <p:nvSpPr>
            <p:cNvPr id="845" name="Google Shape;845;p86"/>
            <p:cNvSpPr txBox="1"/>
            <p:nvPr/>
          </p:nvSpPr>
          <p:spPr>
            <a:xfrm>
              <a:off x="6998195" y="3207679"/>
              <a:ext cx="548700" cy="147000"/>
            </a:xfrm>
            <a:prstGeom prst="rect">
              <a:avLst/>
            </a:prstGeom>
            <a:noFill/>
            <a:ln>
              <a:noFill/>
            </a:ln>
          </p:spPr>
          <p:txBody>
            <a:bodyPr spcFirstLastPara="1" wrap="square" lIns="91425" tIns="91425" rIns="91425" bIns="91425" anchor="ctr" anchorCtr="0">
              <a:noAutofit/>
            </a:bodyPr>
            <a:lstStyle/>
            <a:p>
              <a:pPr marL="0" marR="0" lvl="0" indent="0" algn="ctr" rtl="0">
                <a:lnSpc>
                  <a:spcPct val="135714"/>
                </a:lnSpc>
                <a:spcBef>
                  <a:spcPts val="0"/>
                </a:spcBef>
                <a:spcAft>
                  <a:spcPts val="0"/>
                </a:spcAft>
                <a:buClr>
                  <a:srgbClr val="000000"/>
                </a:buClr>
                <a:buSzPts val="800"/>
                <a:buFont typeface="Arial"/>
                <a:buNone/>
              </a:pPr>
              <a:r>
                <a:rPr lang="en" sz="800" b="0" i="0" u="none" strike="noStrike" cap="none">
                  <a:solidFill>
                    <a:srgbClr val="FF0000"/>
                  </a:solidFill>
                  <a:highlight>
                    <a:srgbClr val="FFFFFF"/>
                  </a:highlight>
                  <a:latin typeface="Consolas"/>
                  <a:ea typeface="Consolas"/>
                  <a:cs typeface="Consolas"/>
                  <a:sym typeface="Consolas"/>
                </a:rPr>
                <a:t>String</a:t>
              </a:r>
              <a:endParaRPr sz="800" b="0" i="0" u="none" strike="noStrike" cap="none">
                <a:solidFill>
                  <a:srgbClr val="FF0000"/>
                </a:solidFill>
                <a:highlight>
                  <a:srgbClr val="FFFFFF"/>
                </a:highlight>
                <a:latin typeface="Roboto"/>
                <a:ea typeface="Roboto"/>
                <a:cs typeface="Roboto"/>
                <a:sym typeface="Roboto"/>
              </a:endParaRPr>
            </a:p>
          </p:txBody>
        </p:sp>
        <p:sp>
          <p:nvSpPr>
            <p:cNvPr id="846" name="Google Shape;846;p86"/>
            <p:cNvSpPr txBox="1"/>
            <p:nvPr/>
          </p:nvSpPr>
          <p:spPr>
            <a:xfrm>
              <a:off x="7769594" y="3705666"/>
              <a:ext cx="548700" cy="147000"/>
            </a:xfrm>
            <a:prstGeom prst="rect">
              <a:avLst/>
            </a:prstGeom>
            <a:noFill/>
            <a:ln>
              <a:noFill/>
            </a:ln>
          </p:spPr>
          <p:txBody>
            <a:bodyPr spcFirstLastPara="1" wrap="square" lIns="91425" tIns="91425" rIns="91425" bIns="91425" anchor="ctr" anchorCtr="0">
              <a:noAutofit/>
            </a:bodyPr>
            <a:lstStyle/>
            <a:p>
              <a:pPr marL="0" marR="0" lvl="0" indent="0" algn="ctr" rtl="0">
                <a:lnSpc>
                  <a:spcPct val="135714"/>
                </a:lnSpc>
                <a:spcBef>
                  <a:spcPts val="0"/>
                </a:spcBef>
                <a:spcAft>
                  <a:spcPts val="0"/>
                </a:spcAft>
                <a:buClr>
                  <a:srgbClr val="000000"/>
                </a:buClr>
                <a:buSzPts val="800"/>
                <a:buFont typeface="Arial"/>
                <a:buNone/>
              </a:pPr>
              <a:r>
                <a:rPr lang="en" sz="800" b="0" i="0" u="none" strike="noStrike" cap="none">
                  <a:solidFill>
                    <a:srgbClr val="FF0000"/>
                  </a:solidFill>
                  <a:highlight>
                    <a:srgbClr val="FFFFFF"/>
                  </a:highlight>
                  <a:latin typeface="Consolas"/>
                  <a:ea typeface="Consolas"/>
                  <a:cs typeface="Consolas"/>
                  <a:sym typeface="Consolas"/>
                </a:rPr>
                <a:t>String</a:t>
              </a:r>
              <a:endParaRPr sz="800" b="0" i="0" u="none" strike="noStrike" cap="none">
                <a:solidFill>
                  <a:srgbClr val="FF0000"/>
                </a:solidFill>
                <a:highlight>
                  <a:srgbClr val="FFFFFF"/>
                </a:highlight>
                <a:latin typeface="Roboto"/>
                <a:ea typeface="Roboto"/>
                <a:cs typeface="Roboto"/>
                <a:sym typeface="Roboto"/>
              </a:endParaRPr>
            </a:p>
          </p:txBody>
        </p:sp>
      </p:grpSp>
      <p:grpSp>
        <p:nvGrpSpPr>
          <p:cNvPr id="847" name="Google Shape;847;p86"/>
          <p:cNvGrpSpPr/>
          <p:nvPr/>
        </p:nvGrpSpPr>
        <p:grpSpPr>
          <a:xfrm>
            <a:off x="1664075" y="1983400"/>
            <a:ext cx="231900" cy="303300"/>
            <a:chOff x="1664075" y="1983400"/>
            <a:chExt cx="231900" cy="303300"/>
          </a:xfrm>
        </p:grpSpPr>
        <p:sp>
          <p:nvSpPr>
            <p:cNvPr id="848" name="Google Shape;848;p86"/>
            <p:cNvSpPr/>
            <p:nvPr/>
          </p:nvSpPr>
          <p:spPr>
            <a:xfrm>
              <a:off x="1664075" y="2143900"/>
              <a:ext cx="231900" cy="142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49" name="Google Shape;849;p86"/>
            <p:cNvCxnSpPr>
              <a:stCxn id="848" idx="0"/>
            </p:cNvCxnSpPr>
            <p:nvPr/>
          </p:nvCxnSpPr>
          <p:spPr>
            <a:xfrm rot="10800000">
              <a:off x="1780025" y="1983400"/>
              <a:ext cx="0" cy="160500"/>
            </a:xfrm>
            <a:prstGeom prst="straightConnector1">
              <a:avLst/>
            </a:prstGeom>
            <a:noFill/>
            <a:ln w="19050" cap="flat" cmpd="sng">
              <a:solidFill>
                <a:srgbClr val="FF0000"/>
              </a:solidFill>
              <a:prstDash val="solid"/>
              <a:round/>
              <a:headEnd type="none" w="med" len="med"/>
              <a:tailEnd type="none" w="med" len="med"/>
            </a:ln>
          </p:spPr>
        </p:cxnSp>
      </p:grpSp>
      <p:grpSp>
        <p:nvGrpSpPr>
          <p:cNvPr id="850" name="Google Shape;850;p86"/>
          <p:cNvGrpSpPr/>
          <p:nvPr/>
        </p:nvGrpSpPr>
        <p:grpSpPr>
          <a:xfrm>
            <a:off x="983415" y="3002225"/>
            <a:ext cx="491185" cy="1222008"/>
            <a:chOff x="983415" y="3002225"/>
            <a:chExt cx="491185" cy="1222008"/>
          </a:xfrm>
        </p:grpSpPr>
        <p:sp>
          <p:nvSpPr>
            <p:cNvPr id="851" name="Google Shape;851;p86"/>
            <p:cNvSpPr/>
            <p:nvPr/>
          </p:nvSpPr>
          <p:spPr>
            <a:xfrm>
              <a:off x="983415" y="3002225"/>
              <a:ext cx="231900" cy="142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52" name="Google Shape;852;p86"/>
            <p:cNvCxnSpPr>
              <a:stCxn id="853" idx="0"/>
              <a:endCxn id="851" idx="1"/>
            </p:cNvCxnSpPr>
            <p:nvPr/>
          </p:nvCxnSpPr>
          <p:spPr>
            <a:xfrm rot="5400000" flipH="1">
              <a:off x="653800" y="3403433"/>
              <a:ext cx="1150500" cy="491100"/>
            </a:xfrm>
            <a:prstGeom prst="bentConnector4">
              <a:avLst>
                <a:gd name="adj1" fmla="val 46902"/>
                <a:gd name="adj2" fmla="val 148505"/>
              </a:avLst>
            </a:prstGeom>
            <a:noFill/>
            <a:ln w="19050" cap="flat" cmpd="sng">
              <a:solidFill>
                <a:srgbClr val="FF0000"/>
              </a:solidFill>
              <a:prstDash val="solid"/>
              <a:round/>
              <a:headEnd type="none" w="med" len="med"/>
              <a:tailEnd type="none" w="med" len="med"/>
            </a:ln>
          </p:spPr>
        </p:cxnSp>
      </p:grpSp>
      <p:grpSp>
        <p:nvGrpSpPr>
          <p:cNvPr id="854" name="Google Shape;854;p86"/>
          <p:cNvGrpSpPr/>
          <p:nvPr/>
        </p:nvGrpSpPr>
        <p:grpSpPr>
          <a:xfrm>
            <a:off x="1575177" y="2515300"/>
            <a:ext cx="760800" cy="1715400"/>
            <a:chOff x="1575177" y="2515300"/>
            <a:chExt cx="760800" cy="1715400"/>
          </a:xfrm>
        </p:grpSpPr>
        <p:sp>
          <p:nvSpPr>
            <p:cNvPr id="855" name="Google Shape;855;p86"/>
            <p:cNvSpPr/>
            <p:nvPr/>
          </p:nvSpPr>
          <p:spPr>
            <a:xfrm>
              <a:off x="1575177" y="2515300"/>
              <a:ext cx="502200" cy="142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56" name="Google Shape;856;p86"/>
            <p:cNvCxnSpPr>
              <a:stCxn id="855" idx="3"/>
            </p:cNvCxnSpPr>
            <p:nvPr/>
          </p:nvCxnSpPr>
          <p:spPr>
            <a:xfrm>
              <a:off x="2077377" y="2586700"/>
              <a:ext cx="258600" cy="1644000"/>
            </a:xfrm>
            <a:prstGeom prst="bentConnector2">
              <a:avLst/>
            </a:prstGeom>
            <a:noFill/>
            <a:ln w="19050" cap="flat" cmpd="sng">
              <a:solidFill>
                <a:srgbClr val="FF0000"/>
              </a:solidFill>
              <a:prstDash val="solid"/>
              <a:round/>
              <a:headEnd type="none" w="med" len="med"/>
              <a:tailEnd type="none" w="med" len="med"/>
            </a:ln>
          </p:spPr>
        </p:cxnSp>
      </p:grpSp>
      <p:grpSp>
        <p:nvGrpSpPr>
          <p:cNvPr id="857" name="Google Shape;857;p86"/>
          <p:cNvGrpSpPr/>
          <p:nvPr/>
        </p:nvGrpSpPr>
        <p:grpSpPr>
          <a:xfrm>
            <a:off x="463050" y="2280755"/>
            <a:ext cx="1127400" cy="1950000"/>
            <a:chOff x="463050" y="2280755"/>
            <a:chExt cx="1127400" cy="1950000"/>
          </a:xfrm>
        </p:grpSpPr>
        <p:sp>
          <p:nvSpPr>
            <p:cNvPr id="858" name="Google Shape;858;p86"/>
            <p:cNvSpPr/>
            <p:nvPr/>
          </p:nvSpPr>
          <p:spPr>
            <a:xfrm>
              <a:off x="1088250" y="2280755"/>
              <a:ext cx="502200" cy="142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59" name="Google Shape;859;p86"/>
            <p:cNvCxnSpPr>
              <a:stCxn id="858" idx="1"/>
            </p:cNvCxnSpPr>
            <p:nvPr/>
          </p:nvCxnSpPr>
          <p:spPr>
            <a:xfrm flipH="1">
              <a:off x="463050" y="2352155"/>
              <a:ext cx="625200" cy="1878600"/>
            </a:xfrm>
            <a:prstGeom prst="bentConnector2">
              <a:avLst/>
            </a:prstGeom>
            <a:noFill/>
            <a:ln w="19050" cap="flat" cmpd="sng">
              <a:solidFill>
                <a:srgbClr val="FF0000"/>
              </a:solidFill>
              <a:prstDash val="solid"/>
              <a:round/>
              <a:headEnd type="none" w="med" len="med"/>
              <a:tailEnd type="none" w="med" len="med"/>
            </a:ln>
          </p:spPr>
        </p:cxnSp>
      </p:grpSp>
      <p:sp>
        <p:nvSpPr>
          <p:cNvPr id="853" name="Google Shape;853;p86"/>
          <p:cNvSpPr txBox="1">
            <a:spLocks noGrp="1"/>
          </p:cNvSpPr>
          <p:nvPr>
            <p:ph type="body" idx="4294967295"/>
          </p:nvPr>
        </p:nvSpPr>
        <p:spPr>
          <a:xfrm>
            <a:off x="193750" y="4224233"/>
            <a:ext cx="2561700" cy="82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lang="en" sz="1200" b="1" i="1">
                <a:solidFill>
                  <a:srgbClr val="FF0000"/>
                </a:solidFill>
                <a:latin typeface="Arial"/>
                <a:ea typeface="Arial"/>
                <a:cs typeface="Arial"/>
                <a:sym typeface="Arial"/>
              </a:rPr>
              <a:t>fake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type names can then be used in the class as though they are a </a:t>
            </a:r>
            <a:r>
              <a:rPr lang="en" sz="1200" b="1" i="1">
                <a:solidFill>
                  <a:srgbClr val="FF0000"/>
                </a:solidFill>
                <a:latin typeface="Arial"/>
                <a:ea typeface="Arial"/>
                <a:cs typeface="Arial"/>
                <a:sym typeface="Arial"/>
              </a:rPr>
              <a:t>real type</a:t>
            </a:r>
            <a:r>
              <a:rPr lang="en" sz="1200">
                <a:solidFill>
                  <a:srgbClr val="000000"/>
                </a:solidFill>
                <a:latin typeface="Arial"/>
                <a:ea typeface="Arial"/>
                <a:cs typeface="Arial"/>
                <a:sym typeface="Arial"/>
              </a:rPr>
              <a:t>, i.e. as </a:t>
            </a:r>
            <a:r>
              <a:rPr lang="en" sz="1200" b="1" i="1">
                <a:solidFill>
                  <a:srgbClr val="FF0000"/>
                </a:solidFill>
                <a:latin typeface="Arial"/>
                <a:ea typeface="Arial"/>
                <a:cs typeface="Arial"/>
                <a:sym typeface="Arial"/>
              </a:rPr>
              <a:t>fields</a:t>
            </a:r>
            <a:r>
              <a:rPr lang="en" sz="1200">
                <a:solidFill>
                  <a:srgbClr val="000000"/>
                </a:solidFill>
                <a:latin typeface="Arial"/>
                <a:ea typeface="Arial"/>
                <a:cs typeface="Arial"/>
                <a:sym typeface="Arial"/>
              </a:rPr>
              <a:t>, </a:t>
            </a:r>
            <a:r>
              <a:rPr lang="en" sz="1200" b="1" i="1">
                <a:solidFill>
                  <a:srgbClr val="FF0000"/>
                </a:solidFill>
                <a:latin typeface="Arial"/>
                <a:ea typeface="Arial"/>
                <a:cs typeface="Arial"/>
                <a:sym typeface="Arial"/>
              </a:rPr>
              <a:t>parameters</a:t>
            </a:r>
            <a:r>
              <a:rPr lang="en" sz="1200">
                <a:solidFill>
                  <a:srgbClr val="000000"/>
                </a:solidFill>
                <a:latin typeface="Arial"/>
                <a:ea typeface="Arial"/>
                <a:cs typeface="Arial"/>
                <a:sym typeface="Arial"/>
              </a:rPr>
              <a:t>, or </a:t>
            </a:r>
            <a:r>
              <a:rPr lang="en" sz="1200" b="1" i="1">
                <a:solidFill>
                  <a:srgbClr val="FF0000"/>
                </a:solidFill>
                <a:latin typeface="Arial"/>
                <a:ea typeface="Arial"/>
                <a:cs typeface="Arial"/>
                <a:sym typeface="Arial"/>
              </a:rPr>
              <a:t>return values</a:t>
            </a:r>
            <a:r>
              <a:rPr lang="en" sz="1200">
                <a:solidFill>
                  <a:srgbClr val="000000"/>
                </a:solidFill>
                <a:latin typeface="Arial"/>
                <a:ea typeface="Arial"/>
                <a:cs typeface="Arial"/>
                <a:sym typeface="Arial"/>
              </a:rPr>
              <a:t>.</a:t>
            </a:r>
            <a:endParaRPr sz="1200">
              <a:solidFill>
                <a:srgbClr val="FF0000"/>
              </a:solidFill>
              <a:latin typeface="Arial"/>
              <a:ea typeface="Arial"/>
              <a:cs typeface="Arial"/>
              <a:sym typeface="Arial"/>
            </a:endParaRPr>
          </a:p>
        </p:txBody>
      </p:sp>
      <p:sp>
        <p:nvSpPr>
          <p:cNvPr id="860" name="Google Shape;860;p86"/>
          <p:cNvSpPr txBox="1"/>
          <p:nvPr/>
        </p:nvSpPr>
        <p:spPr>
          <a:xfrm>
            <a:off x="2889866" y="2766111"/>
            <a:ext cx="3330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solidFill>
                  <a:srgbClr val="0000FF"/>
                </a:solidFill>
                <a:latin typeface="Consolas"/>
                <a:ea typeface="Consolas"/>
                <a:cs typeface="Consolas"/>
                <a:sym typeface="Consolas"/>
              </a:rPr>
              <a:t>Container</a:t>
            </a:r>
            <a:r>
              <a:rPr lang="en" sz="1000" dirty="0">
                <a:latin typeface="Consolas"/>
                <a:ea typeface="Consolas"/>
                <a:cs typeface="Consolas"/>
                <a:sym typeface="Consolas"/>
              </a:rPr>
              <a:t>&lt;</a:t>
            </a:r>
            <a:r>
              <a:rPr lang="en" sz="1000" dirty="0">
                <a:solidFill>
                  <a:srgbClr val="0000FF"/>
                </a:solidFill>
                <a:latin typeface="Consolas"/>
                <a:ea typeface="Consolas"/>
                <a:cs typeface="Consolas"/>
                <a:sym typeface="Consolas"/>
              </a:rPr>
              <a:t>String</a:t>
            </a:r>
            <a:r>
              <a:rPr lang="en" sz="1000" dirty="0">
                <a:latin typeface="Consolas"/>
                <a:ea typeface="Consolas"/>
                <a:cs typeface="Consolas"/>
                <a:sym typeface="Consolas"/>
              </a:rPr>
              <a:t>&gt; c = </a:t>
            </a:r>
            <a:r>
              <a:rPr lang="en" sz="1000" dirty="0">
                <a:solidFill>
                  <a:srgbClr val="0000FF"/>
                </a:solidFill>
                <a:latin typeface="Consolas"/>
                <a:ea typeface="Consolas"/>
                <a:cs typeface="Consolas"/>
                <a:sym typeface="Consolas"/>
              </a:rPr>
              <a:t>new</a:t>
            </a:r>
            <a:r>
              <a:rPr lang="en" sz="1000" dirty="0">
                <a:latin typeface="Consolas"/>
                <a:ea typeface="Consolas"/>
                <a:cs typeface="Consolas"/>
                <a:sym typeface="Consolas"/>
              </a:rPr>
              <a:t> </a:t>
            </a:r>
            <a:r>
              <a:rPr lang="en" sz="1000" dirty="0">
                <a:solidFill>
                  <a:srgbClr val="0000FF"/>
                </a:solidFill>
                <a:latin typeface="Consolas"/>
                <a:ea typeface="Consolas"/>
                <a:cs typeface="Consolas"/>
                <a:sym typeface="Consolas"/>
              </a:rPr>
              <a:t>Container</a:t>
            </a:r>
            <a:r>
              <a:rPr lang="en" sz="1000" dirty="0">
                <a:latin typeface="Consolas"/>
                <a:ea typeface="Consolas"/>
                <a:cs typeface="Consolas"/>
                <a:sym typeface="Consolas"/>
              </a:rPr>
              <a:t>&lt;&gt;(</a:t>
            </a:r>
            <a:r>
              <a:rPr lang="en" sz="1000" dirty="0">
                <a:solidFill>
                  <a:srgbClr val="A31515"/>
                </a:solidFill>
                <a:latin typeface="Consolas"/>
                <a:ea typeface="Consolas"/>
                <a:cs typeface="Consolas"/>
                <a:sym typeface="Consolas"/>
              </a:rPr>
              <a:t>"abc"</a:t>
            </a:r>
            <a:r>
              <a:rPr lang="en" sz="1000" dirty="0">
                <a:latin typeface="Consolas"/>
                <a:ea typeface="Consolas"/>
                <a:cs typeface="Consolas"/>
                <a:sym typeface="Consolas"/>
              </a:rPr>
              <a:t>);</a:t>
            </a:r>
            <a:endParaRPr dirty="0"/>
          </a:p>
        </p:txBody>
      </p:sp>
      <p:grpSp>
        <p:nvGrpSpPr>
          <p:cNvPr id="861" name="Google Shape;861;p86"/>
          <p:cNvGrpSpPr/>
          <p:nvPr/>
        </p:nvGrpSpPr>
        <p:grpSpPr>
          <a:xfrm>
            <a:off x="5385984" y="2715673"/>
            <a:ext cx="231900" cy="303300"/>
            <a:chOff x="1664075" y="1983400"/>
            <a:chExt cx="231900" cy="303300"/>
          </a:xfrm>
        </p:grpSpPr>
        <p:sp>
          <p:nvSpPr>
            <p:cNvPr id="862" name="Google Shape;862;p86"/>
            <p:cNvSpPr/>
            <p:nvPr/>
          </p:nvSpPr>
          <p:spPr>
            <a:xfrm>
              <a:off x="1664075" y="2143900"/>
              <a:ext cx="231900" cy="142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63" name="Google Shape;863;p86"/>
            <p:cNvCxnSpPr>
              <a:stCxn id="862" idx="0"/>
            </p:cNvCxnSpPr>
            <p:nvPr/>
          </p:nvCxnSpPr>
          <p:spPr>
            <a:xfrm rot="10800000">
              <a:off x="1780025" y="1983400"/>
              <a:ext cx="0" cy="160500"/>
            </a:xfrm>
            <a:prstGeom prst="straightConnector1">
              <a:avLst/>
            </a:prstGeom>
            <a:noFill/>
            <a:ln w="19050" cap="flat" cmpd="sng">
              <a:solidFill>
                <a:srgbClr val="FF0000"/>
              </a:solidFill>
              <a:prstDash val="solid"/>
              <a:round/>
              <a:headEnd type="none" w="med" len="med"/>
              <a:tailEnd type="none" w="med" len="med"/>
            </a:ln>
          </p:spPr>
        </p:cxnSp>
      </p:grpSp>
      <p:sp>
        <p:nvSpPr>
          <p:cNvPr id="864" name="Google Shape;864;p86"/>
          <p:cNvSpPr txBox="1"/>
          <p:nvPr/>
        </p:nvSpPr>
        <p:spPr>
          <a:xfrm>
            <a:off x="2913675" y="3049980"/>
            <a:ext cx="30000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Consolas"/>
                <a:ea typeface="Consolas"/>
                <a:cs typeface="Consolas"/>
                <a:sym typeface="Consolas"/>
              </a:rPr>
              <a:t>c.setValue(</a:t>
            </a:r>
            <a:r>
              <a:rPr lang="en" sz="1000">
                <a:solidFill>
                  <a:srgbClr val="A31515"/>
                </a:solidFill>
                <a:latin typeface="Consolas"/>
                <a:ea typeface="Consolas"/>
                <a:cs typeface="Consolas"/>
                <a:sym typeface="Consolas"/>
              </a:rPr>
              <a:t>"def"</a:t>
            </a:r>
            <a:r>
              <a:rPr lang="en" sz="1000">
                <a:latin typeface="Consolas"/>
                <a:ea typeface="Consolas"/>
                <a:cs typeface="Consolas"/>
                <a:sym typeface="Consolas"/>
              </a:rPr>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3"/>
                                        </p:tgtEl>
                                        <p:attrNameLst>
                                          <p:attrName>style.visibility</p:attrName>
                                        </p:attrNameLst>
                                      </p:cBhvr>
                                      <p:to>
                                        <p:strVal val="visible"/>
                                      </p:to>
                                    </p:set>
                                    <p:animEffect transition="in" filter="fade">
                                      <p:cBhvr>
                                        <p:cTn id="7" dur="1000"/>
                                        <p:tgtEl>
                                          <p:spTgt spid="833"/>
                                        </p:tgtEl>
                                      </p:cBhvr>
                                    </p:animEffect>
                                  </p:childTnLst>
                                </p:cTn>
                              </p:par>
                              <p:par>
                                <p:cTn id="8" presetID="10" presetClass="entr" presetSubtype="0" fill="hold" nodeType="withEffect">
                                  <p:stCondLst>
                                    <p:cond delay="0"/>
                                  </p:stCondLst>
                                  <p:childTnLst>
                                    <p:set>
                                      <p:cBhvr>
                                        <p:cTn id="9" dur="1" fill="hold">
                                          <p:stCondLst>
                                            <p:cond delay="0"/>
                                          </p:stCondLst>
                                        </p:cTn>
                                        <p:tgtEl>
                                          <p:spTgt spid="831"/>
                                        </p:tgtEl>
                                        <p:attrNameLst>
                                          <p:attrName>style.visibility</p:attrName>
                                        </p:attrNameLst>
                                      </p:cBhvr>
                                      <p:to>
                                        <p:strVal val="visible"/>
                                      </p:to>
                                    </p:set>
                                    <p:animEffect transition="in" filter="fade">
                                      <p:cBhvr>
                                        <p:cTn id="10" dur="1000"/>
                                        <p:tgtEl>
                                          <p:spTgt spid="831"/>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847"/>
                                        </p:tgtEl>
                                        <p:attrNameLst>
                                          <p:attrName>style.visibility</p:attrName>
                                        </p:attrNameLst>
                                      </p:cBhvr>
                                      <p:to>
                                        <p:strVal val="visible"/>
                                      </p:to>
                                    </p:set>
                                    <p:animEffect transition="in" filter="fade">
                                      <p:cBhvr>
                                        <p:cTn id="14" dur="1000"/>
                                        <p:tgtEl>
                                          <p:spTgt spid="84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53"/>
                                        </p:tgtEl>
                                        <p:attrNameLst>
                                          <p:attrName>style.visibility</p:attrName>
                                        </p:attrNameLst>
                                      </p:cBhvr>
                                      <p:to>
                                        <p:strVal val="visible"/>
                                      </p:to>
                                    </p:set>
                                    <p:animEffect transition="in" filter="fade">
                                      <p:cBhvr>
                                        <p:cTn id="19" dur="1000"/>
                                        <p:tgtEl>
                                          <p:spTgt spid="853"/>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857"/>
                                        </p:tgtEl>
                                        <p:attrNameLst>
                                          <p:attrName>style.visibility</p:attrName>
                                        </p:attrNameLst>
                                      </p:cBhvr>
                                      <p:to>
                                        <p:strVal val="visible"/>
                                      </p:to>
                                    </p:set>
                                    <p:animEffect transition="in" filter="fade">
                                      <p:cBhvr>
                                        <p:cTn id="23" dur="1000"/>
                                        <p:tgtEl>
                                          <p:spTgt spid="857"/>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854"/>
                                        </p:tgtEl>
                                        <p:attrNameLst>
                                          <p:attrName>style.visibility</p:attrName>
                                        </p:attrNameLst>
                                      </p:cBhvr>
                                      <p:to>
                                        <p:strVal val="visible"/>
                                      </p:to>
                                    </p:set>
                                    <p:animEffect transition="in" filter="fade">
                                      <p:cBhvr>
                                        <p:cTn id="27" dur="1000"/>
                                        <p:tgtEl>
                                          <p:spTgt spid="854"/>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850"/>
                                        </p:tgtEl>
                                        <p:attrNameLst>
                                          <p:attrName>style.visibility</p:attrName>
                                        </p:attrNameLst>
                                      </p:cBhvr>
                                      <p:to>
                                        <p:strVal val="visible"/>
                                      </p:to>
                                    </p:set>
                                    <p:animEffect transition="in" filter="fade">
                                      <p:cBhvr>
                                        <p:cTn id="31" dur="1000"/>
                                        <p:tgtEl>
                                          <p:spTgt spid="85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38"/>
                                        </p:tgtEl>
                                        <p:attrNameLst>
                                          <p:attrName>style.visibility</p:attrName>
                                        </p:attrNameLst>
                                      </p:cBhvr>
                                      <p:to>
                                        <p:strVal val="visible"/>
                                      </p:to>
                                    </p:set>
                                    <p:animEffect transition="in" filter="fade">
                                      <p:cBhvr>
                                        <p:cTn id="36" dur="1000"/>
                                        <p:tgtEl>
                                          <p:spTgt spid="838"/>
                                        </p:tgtEl>
                                      </p:cBhvr>
                                    </p:animEffect>
                                  </p:childTnLst>
                                </p:cTn>
                              </p:par>
                              <p:par>
                                <p:cTn id="37" presetID="10" presetClass="entr" presetSubtype="0" fill="hold" nodeType="withEffect">
                                  <p:stCondLst>
                                    <p:cond delay="0"/>
                                  </p:stCondLst>
                                  <p:childTnLst>
                                    <p:set>
                                      <p:cBhvr>
                                        <p:cTn id="38" dur="1" fill="hold">
                                          <p:stCondLst>
                                            <p:cond delay="0"/>
                                          </p:stCondLst>
                                        </p:cTn>
                                        <p:tgtEl>
                                          <p:spTgt spid="827"/>
                                        </p:tgtEl>
                                        <p:attrNameLst>
                                          <p:attrName>style.visibility</p:attrName>
                                        </p:attrNameLst>
                                      </p:cBhvr>
                                      <p:to>
                                        <p:strVal val="visible"/>
                                      </p:to>
                                    </p:set>
                                    <p:animEffect transition="in" filter="fade">
                                      <p:cBhvr>
                                        <p:cTn id="39" dur="1000"/>
                                        <p:tgtEl>
                                          <p:spTgt spid="827"/>
                                        </p:tgtEl>
                                      </p:cBhvr>
                                    </p:animEffect>
                                  </p:childTnLst>
                                </p:cTn>
                              </p:par>
                              <p:par>
                                <p:cTn id="40" presetID="10" presetClass="entr" presetSubtype="0" fill="hold" nodeType="withEffect">
                                  <p:stCondLst>
                                    <p:cond delay="0"/>
                                  </p:stCondLst>
                                  <p:childTnLst>
                                    <p:set>
                                      <p:cBhvr>
                                        <p:cTn id="41" dur="1" fill="hold">
                                          <p:stCondLst>
                                            <p:cond delay="0"/>
                                          </p:stCondLst>
                                        </p:cTn>
                                        <p:tgtEl>
                                          <p:spTgt spid="860"/>
                                        </p:tgtEl>
                                        <p:attrNameLst>
                                          <p:attrName>style.visibility</p:attrName>
                                        </p:attrNameLst>
                                      </p:cBhvr>
                                      <p:to>
                                        <p:strVal val="visible"/>
                                      </p:to>
                                    </p:set>
                                    <p:animEffect transition="in" filter="fade">
                                      <p:cBhvr>
                                        <p:cTn id="42" dur="1000"/>
                                        <p:tgtEl>
                                          <p:spTgt spid="86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37"/>
                                        </p:tgtEl>
                                        <p:attrNameLst>
                                          <p:attrName>style.visibility</p:attrName>
                                        </p:attrNameLst>
                                      </p:cBhvr>
                                      <p:to>
                                        <p:strVal val="visible"/>
                                      </p:to>
                                    </p:set>
                                    <p:animEffect transition="in" filter="fade">
                                      <p:cBhvr>
                                        <p:cTn id="47" dur="1000"/>
                                        <p:tgtEl>
                                          <p:spTgt spid="837"/>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861"/>
                                        </p:tgtEl>
                                        <p:attrNameLst>
                                          <p:attrName>style.visibility</p:attrName>
                                        </p:attrNameLst>
                                      </p:cBhvr>
                                      <p:to>
                                        <p:strVal val="visible"/>
                                      </p:to>
                                    </p:set>
                                    <p:animEffect transition="in" filter="fade">
                                      <p:cBhvr>
                                        <p:cTn id="51" dur="1000"/>
                                        <p:tgtEl>
                                          <p:spTgt spid="86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834"/>
                                        </p:tgtEl>
                                        <p:attrNameLst>
                                          <p:attrName>style.visibility</p:attrName>
                                        </p:attrNameLst>
                                      </p:cBhvr>
                                      <p:to>
                                        <p:strVal val="visible"/>
                                      </p:to>
                                    </p:set>
                                    <p:animEffect transition="in" filter="fade">
                                      <p:cBhvr>
                                        <p:cTn id="56" dur="1000"/>
                                        <p:tgtEl>
                                          <p:spTgt spid="834"/>
                                        </p:tgtEl>
                                      </p:cBhvr>
                                    </p:animEffect>
                                  </p:childTnLst>
                                </p:cTn>
                              </p:par>
                            </p:childTnLst>
                          </p:cTn>
                        </p:par>
                        <p:par>
                          <p:cTn id="57" fill="hold">
                            <p:stCondLst>
                              <p:cond delay="1000"/>
                            </p:stCondLst>
                            <p:childTnLst>
                              <p:par>
                                <p:cTn id="58" presetID="10" presetClass="entr" presetSubtype="0" fill="hold" nodeType="afterEffect">
                                  <p:stCondLst>
                                    <p:cond delay="0"/>
                                  </p:stCondLst>
                                  <p:childTnLst>
                                    <p:set>
                                      <p:cBhvr>
                                        <p:cTn id="59" dur="1" fill="hold">
                                          <p:stCondLst>
                                            <p:cond delay="0"/>
                                          </p:stCondLst>
                                        </p:cTn>
                                        <p:tgtEl>
                                          <p:spTgt spid="864"/>
                                        </p:tgtEl>
                                        <p:attrNameLst>
                                          <p:attrName>style.visibility</p:attrName>
                                        </p:attrNameLst>
                                      </p:cBhvr>
                                      <p:to>
                                        <p:strVal val="visible"/>
                                      </p:to>
                                    </p:set>
                                    <p:animEffect transition="in" filter="fade">
                                      <p:cBhvr>
                                        <p:cTn id="60" dur="1000"/>
                                        <p:tgtEl>
                                          <p:spTgt spid="86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836"/>
                                        </p:tgtEl>
                                        <p:attrNameLst>
                                          <p:attrName>style.visibility</p:attrName>
                                        </p:attrNameLst>
                                      </p:cBhvr>
                                      <p:to>
                                        <p:strVal val="visible"/>
                                      </p:to>
                                    </p:set>
                                    <p:animEffect transition="in" filter="fade">
                                      <p:cBhvr>
                                        <p:cTn id="65" dur="1000"/>
                                        <p:tgtEl>
                                          <p:spTgt spid="836"/>
                                        </p:tgtEl>
                                      </p:cBhvr>
                                    </p:animEffect>
                                  </p:childTnLst>
                                </p:cTn>
                              </p:par>
                            </p:childTnLst>
                          </p:cTn>
                        </p:par>
                        <p:par>
                          <p:cTn id="66" fill="hold">
                            <p:stCondLst>
                              <p:cond delay="1000"/>
                            </p:stCondLst>
                            <p:childTnLst>
                              <p:par>
                                <p:cTn id="67" presetID="10" presetClass="entr" presetSubtype="0" fill="hold" nodeType="afterEffect">
                                  <p:stCondLst>
                                    <p:cond delay="0"/>
                                  </p:stCondLst>
                                  <p:childTnLst>
                                    <p:set>
                                      <p:cBhvr>
                                        <p:cTn id="68" dur="1" fill="hold">
                                          <p:stCondLst>
                                            <p:cond delay="0"/>
                                          </p:stCondLst>
                                        </p:cTn>
                                        <p:tgtEl>
                                          <p:spTgt spid="828"/>
                                        </p:tgtEl>
                                        <p:attrNameLst>
                                          <p:attrName>style.visibility</p:attrName>
                                        </p:attrNameLst>
                                      </p:cBhvr>
                                      <p:to>
                                        <p:strVal val="visible"/>
                                      </p:to>
                                    </p:set>
                                    <p:animEffect transition="in" filter="fade">
                                      <p:cBhvr>
                                        <p:cTn id="69" dur="1000"/>
                                        <p:tgtEl>
                                          <p:spTgt spid="828"/>
                                        </p:tgtEl>
                                      </p:cBhvr>
                                    </p:animEffect>
                                  </p:childTnLst>
                                </p:cTn>
                              </p:par>
                            </p:childTnLst>
                          </p:cTn>
                        </p:par>
                        <p:par>
                          <p:cTn id="70" fill="hold">
                            <p:stCondLst>
                              <p:cond delay="2000"/>
                            </p:stCondLst>
                            <p:childTnLst>
                              <p:par>
                                <p:cTn id="71" presetID="10" presetClass="entr" presetSubtype="0" fill="hold" nodeType="afterEffect">
                                  <p:stCondLst>
                                    <p:cond delay="0"/>
                                  </p:stCondLst>
                                  <p:childTnLst>
                                    <p:set>
                                      <p:cBhvr>
                                        <p:cTn id="72" dur="1" fill="hold">
                                          <p:stCondLst>
                                            <p:cond delay="0"/>
                                          </p:stCondLst>
                                        </p:cTn>
                                        <p:tgtEl>
                                          <p:spTgt spid="835"/>
                                        </p:tgtEl>
                                        <p:attrNameLst>
                                          <p:attrName>style.visibility</p:attrName>
                                        </p:attrNameLst>
                                      </p:cBhvr>
                                      <p:to>
                                        <p:strVal val="visible"/>
                                      </p:to>
                                    </p:set>
                                    <p:animEffect transition="in" filter="fade">
                                      <p:cBhvr>
                                        <p:cTn id="73" dur="1000"/>
                                        <p:tgtEl>
                                          <p:spTgt spid="835"/>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839"/>
                                        </p:tgtEl>
                                        <p:attrNameLst>
                                          <p:attrName>style.visibility</p:attrName>
                                        </p:attrNameLst>
                                      </p:cBhvr>
                                      <p:to>
                                        <p:strVal val="visible"/>
                                      </p:to>
                                    </p:set>
                                    <p:animEffect transition="in" filter="fade">
                                      <p:cBhvr>
                                        <p:cTn id="78" dur="1000"/>
                                        <p:tgtEl>
                                          <p:spTgt spid="839"/>
                                        </p:tgtEl>
                                      </p:cBhvr>
                                    </p:animEffect>
                                  </p:childTnLst>
                                </p:cTn>
                              </p:par>
                              <p:par>
                                <p:cTn id="79" presetID="10" presetClass="entr" presetSubtype="0" fill="hold" nodeType="withEffect">
                                  <p:stCondLst>
                                    <p:cond delay="0"/>
                                  </p:stCondLst>
                                  <p:childTnLst>
                                    <p:set>
                                      <p:cBhvr>
                                        <p:cTn id="80" dur="1" fill="hold">
                                          <p:stCondLst>
                                            <p:cond delay="0"/>
                                          </p:stCondLst>
                                        </p:cTn>
                                        <p:tgtEl>
                                          <p:spTgt spid="832"/>
                                        </p:tgtEl>
                                        <p:attrNameLst>
                                          <p:attrName>style.visibility</p:attrName>
                                        </p:attrNameLst>
                                      </p:cBhvr>
                                      <p:to>
                                        <p:strVal val="visible"/>
                                      </p:to>
                                    </p:set>
                                    <p:animEffect transition="in" filter="fade">
                                      <p:cBhvr>
                                        <p:cTn id="81" dur="1000"/>
                                        <p:tgtEl>
                                          <p:spTgt spid="832"/>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840"/>
                                        </p:tgtEl>
                                        <p:attrNameLst>
                                          <p:attrName>style.visibility</p:attrName>
                                        </p:attrNameLst>
                                      </p:cBhvr>
                                      <p:to>
                                        <p:strVal val="visible"/>
                                      </p:to>
                                    </p:set>
                                    <p:animEffect transition="in" filter="fade">
                                      <p:cBhvr>
                                        <p:cTn id="86" dur="1000"/>
                                        <p:tgtEl>
                                          <p:spTgt spid="840"/>
                                        </p:tgtEl>
                                      </p:cBhvr>
                                    </p:animEffect>
                                  </p:childTnLst>
                                </p:cTn>
                              </p:par>
                            </p:childTnLst>
                          </p:cTn>
                        </p:par>
                        <p:par>
                          <p:cTn id="87" fill="hold">
                            <p:stCondLst>
                              <p:cond delay="1000"/>
                            </p:stCondLst>
                            <p:childTnLst>
                              <p:par>
                                <p:cTn id="88" presetID="10" presetClass="entr" presetSubtype="0" fill="hold" nodeType="afterEffect">
                                  <p:stCondLst>
                                    <p:cond delay="0"/>
                                  </p:stCondLst>
                                  <p:childTnLst>
                                    <p:set>
                                      <p:cBhvr>
                                        <p:cTn id="89" dur="1" fill="hold">
                                          <p:stCondLst>
                                            <p:cond delay="0"/>
                                          </p:stCondLst>
                                        </p:cTn>
                                        <p:tgtEl>
                                          <p:spTgt spid="841"/>
                                        </p:tgtEl>
                                        <p:attrNameLst>
                                          <p:attrName>style.visibility</p:attrName>
                                        </p:attrNameLst>
                                      </p:cBhvr>
                                      <p:to>
                                        <p:strVal val="visible"/>
                                      </p:to>
                                    </p:set>
                                    <p:animEffect transition="in" filter="fade">
                                      <p:cBhvr>
                                        <p:cTn id="90" dur="1000"/>
                                        <p:tgtEl>
                                          <p:spTgt spid="8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87"/>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The </a:t>
            </a:r>
            <a:r>
              <a:rPr lang="en" dirty="0">
                <a:latin typeface="Courier New"/>
                <a:ea typeface="Courier New"/>
                <a:cs typeface="Courier New"/>
                <a:sym typeface="Courier New"/>
              </a:rPr>
              <a:t>Queue</a:t>
            </a:r>
            <a:r>
              <a:rPr lang="en" dirty="0"/>
              <a:t> interface that we used to implement the node and array-based queues only works with strings. </a:t>
            </a:r>
            <a:r>
              <a:rPr lang="en" dirty="0">
                <a:highlight>
                  <a:srgbClr val="FFFF00"/>
                </a:highlight>
              </a:rPr>
              <a:t>Thankfully, Java's </a:t>
            </a:r>
            <a:r>
              <a:rPr lang="en" b="1" i="1" dirty="0">
                <a:solidFill>
                  <a:srgbClr val="FF0000"/>
                </a:solidFill>
                <a:highlight>
                  <a:srgbClr val="FFFF00"/>
                </a:highlight>
              </a:rPr>
              <a:t>generics </a:t>
            </a:r>
            <a:r>
              <a:rPr lang="en" dirty="0">
                <a:highlight>
                  <a:srgbClr val="FFFF00"/>
                </a:highlight>
              </a:rPr>
              <a:t>syntax allows us to define classes and methods that will work with </a:t>
            </a:r>
            <a:r>
              <a:rPr lang="en" i="1" dirty="0">
                <a:highlight>
                  <a:srgbClr val="FFFF00"/>
                </a:highlight>
              </a:rPr>
              <a:t>any</a:t>
            </a:r>
            <a:r>
              <a:rPr lang="en" dirty="0">
                <a:highlight>
                  <a:srgbClr val="FFFF00"/>
                </a:highlight>
              </a:rPr>
              <a:t> type. </a:t>
            </a:r>
            <a:r>
              <a:rPr lang="en" dirty="0"/>
              <a:t>Let's modify our existing classes to use generics instead of strings.</a:t>
            </a:r>
            <a:endParaRPr dirty="0"/>
          </a:p>
        </p:txBody>
      </p:sp>
      <p:sp>
        <p:nvSpPr>
          <p:cNvPr id="870" name="Google Shape;870;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871" name="Google Shape;871;p87"/>
          <p:cNvSpPr txBox="1">
            <a:spLocks noGrp="1"/>
          </p:cNvSpPr>
          <p:nvPr>
            <p:ph type="body" idx="2"/>
          </p:nvPr>
        </p:nvSpPr>
        <p:spPr>
          <a:xfrm>
            <a:off x="2992925" y="1871125"/>
            <a:ext cx="5957400" cy="2792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Queue</a:t>
            </a:r>
            <a:r>
              <a:rPr lang="en" sz="1500" dirty="0"/>
              <a:t> interface and convert it into a </a:t>
            </a:r>
            <a:r>
              <a:rPr lang="en" sz="1500" b="1" i="1" dirty="0">
                <a:solidFill>
                  <a:srgbClr val="FF0000"/>
                </a:solidFill>
              </a:rPr>
              <a:t>generic type</a:t>
            </a:r>
            <a:r>
              <a:rPr lang="en" sz="1500" dirty="0"/>
              <a:t>.</a:t>
            </a:r>
            <a:endParaRPr sz="1500" dirty="0"/>
          </a:p>
          <a:p>
            <a:pPr marL="914400" lvl="1" indent="-311150" algn="l" rtl="0">
              <a:spcBef>
                <a:spcPts val="0"/>
              </a:spcBef>
              <a:spcAft>
                <a:spcPts val="0"/>
              </a:spcAft>
              <a:buSzPts val="1300"/>
              <a:buChar char="○"/>
            </a:pPr>
            <a:r>
              <a:rPr lang="en" sz="1300" dirty="0"/>
              <a:t>Add a </a:t>
            </a:r>
            <a:r>
              <a:rPr lang="en" sz="1300" b="1" i="1" dirty="0">
                <a:solidFill>
                  <a:srgbClr val="FF0000"/>
                </a:solidFill>
              </a:rPr>
              <a:t>type parameter</a:t>
            </a:r>
            <a:r>
              <a:rPr lang="en" sz="1300" dirty="0"/>
              <a:t> to the interface declaration. </a:t>
            </a:r>
            <a:endParaRPr sz="1300" dirty="0"/>
          </a:p>
          <a:p>
            <a:pPr marL="1371600" lvl="2" indent="-311150" algn="l" rtl="0">
              <a:spcBef>
                <a:spcPts val="0"/>
              </a:spcBef>
              <a:spcAft>
                <a:spcPts val="0"/>
              </a:spcAft>
              <a:buSzPts val="1300"/>
              <a:buChar char="■"/>
            </a:pPr>
            <a:r>
              <a:rPr lang="en" sz="1300" dirty="0"/>
              <a:t>While you can use any fake name that you'd like, it is customary to use </a:t>
            </a:r>
            <a:r>
              <a:rPr lang="en" sz="1300" dirty="0">
                <a:solidFill>
                  <a:srgbClr val="FF0000"/>
                </a:solidFill>
                <a:latin typeface="Courier New"/>
                <a:ea typeface="Courier New"/>
                <a:cs typeface="Courier New"/>
                <a:sym typeface="Courier New"/>
              </a:rPr>
              <a:t>E</a:t>
            </a:r>
            <a:r>
              <a:rPr lang="en" sz="1300" dirty="0"/>
              <a:t> (short for </a:t>
            </a:r>
            <a:r>
              <a:rPr lang="en" sz="1300" b="1" i="1" dirty="0">
                <a:solidFill>
                  <a:srgbClr val="FF0000"/>
                </a:solidFill>
              </a:rPr>
              <a:t>element</a:t>
            </a:r>
            <a:r>
              <a:rPr lang="en" sz="1300" dirty="0"/>
              <a:t>) as the name of the type parameter in a generic data structure.</a:t>
            </a:r>
            <a:endParaRPr sz="1300" dirty="0"/>
          </a:p>
          <a:p>
            <a:pPr marL="914400" lvl="1" indent="-311150" algn="l" rtl="0">
              <a:spcBef>
                <a:spcPts val="0"/>
              </a:spcBef>
              <a:spcAft>
                <a:spcPts val="0"/>
              </a:spcAft>
              <a:buSzPts val="1300"/>
              <a:buChar char="○"/>
            </a:pPr>
            <a:r>
              <a:rPr lang="en" sz="1300" dirty="0"/>
              <a:t>Replace instances of the </a:t>
            </a:r>
            <a:r>
              <a:rPr lang="en" sz="1300" dirty="0">
                <a:latin typeface="Courier New"/>
                <a:ea typeface="Courier New"/>
                <a:cs typeface="Courier New"/>
                <a:sym typeface="Courier New"/>
              </a:rPr>
              <a:t>String</a:t>
            </a:r>
            <a:r>
              <a:rPr lang="en" sz="1300" dirty="0"/>
              <a:t> type with the type parameter where appropriate.</a:t>
            </a:r>
            <a:endParaRPr sz="1300" dirty="0"/>
          </a:p>
          <a:p>
            <a:pPr marL="457200" lvl="0" indent="-323850" algn="l" rtl="0">
              <a:spcBef>
                <a:spcPts val="0"/>
              </a:spcBef>
              <a:spcAft>
                <a:spcPts val="0"/>
              </a:spcAft>
              <a:buSzPts val="1500"/>
              <a:buChar char="●"/>
            </a:pPr>
            <a:r>
              <a:rPr lang="en" sz="1500" b="1" i="1" dirty="0">
                <a:solidFill>
                  <a:srgbClr val="FF0000"/>
                </a:solidFill>
              </a:rPr>
              <a:t>Compile</a:t>
            </a:r>
            <a:r>
              <a:rPr lang="en" sz="1500" dirty="0">
                <a:solidFill>
                  <a:srgbClr val="FF0000"/>
                </a:solidFill>
              </a:rPr>
              <a:t> </a:t>
            </a:r>
            <a:r>
              <a:rPr lang="en" sz="1500" dirty="0"/>
              <a:t>your interface to make sure that it is syntactically correct.</a:t>
            </a:r>
            <a:endParaRPr sz="1500" dirty="0"/>
          </a:p>
          <a:p>
            <a:pPr marL="914400" lvl="1" indent="-311150" algn="l" rtl="0">
              <a:spcBef>
                <a:spcPts val="0"/>
              </a:spcBef>
              <a:spcAft>
                <a:spcPts val="0"/>
              </a:spcAft>
              <a:buSzPts val="1300"/>
              <a:buChar char="○"/>
            </a:pPr>
            <a:r>
              <a:rPr lang="en" sz="1300" dirty="0"/>
              <a:t>Note that your queue implementations will no longer compile unless they are updated!</a:t>
            </a:r>
            <a:endParaRPr sz="1300" dirty="0"/>
          </a:p>
        </p:txBody>
      </p:sp>
      <p:sp>
        <p:nvSpPr>
          <p:cNvPr id="872" name="Google Shape;872;p8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Making Queue Work With any Type</a:t>
            </a:r>
            <a:endParaRPr/>
          </a:p>
        </p:txBody>
      </p:sp>
      <p:sp>
        <p:nvSpPr>
          <p:cNvPr id="873" name="Google Shape;873;p8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5.12</a:t>
            </a:r>
            <a:endParaRPr/>
          </a:p>
        </p:txBody>
      </p:sp>
      <p:graphicFrame>
        <p:nvGraphicFramePr>
          <p:cNvPr id="874" name="Google Shape;874;p87"/>
          <p:cNvGraphicFramePr/>
          <p:nvPr/>
        </p:nvGraphicFramePr>
        <p:xfrm>
          <a:off x="352351" y="1969973"/>
          <a:ext cx="2536500" cy="2042085"/>
        </p:xfrm>
        <a:graphic>
          <a:graphicData uri="http://schemas.openxmlformats.org/drawingml/2006/table">
            <a:tbl>
              <a:tblPr>
                <a:noFill/>
                <a:tableStyleId>{5D16334A-BD30-4DCF-A821-F696FD12572A}</a:tableStyleId>
              </a:tblPr>
              <a:tblGrid>
                <a:gridCol w="2536500">
                  <a:extLst>
                    <a:ext uri="{9D8B030D-6E8A-4147-A177-3AD203B41FA5}">
                      <a16:colId xmlns:a16="http://schemas.microsoft.com/office/drawing/2014/main" val="20000"/>
                    </a:ext>
                  </a:extLst>
                </a:gridCol>
              </a:tblGrid>
              <a:tr h="609575">
                <a:tc>
                  <a:txBody>
                    <a:bodyPr/>
                    <a:lstStyle/>
                    <a:p>
                      <a:pPr marL="0" marR="0" lvl="0" indent="0" algn="ctr" rtl="0">
                        <a:lnSpc>
                          <a:spcPct val="100000"/>
                        </a:lnSpc>
                        <a:spcBef>
                          <a:spcPts val="0"/>
                        </a:spcBef>
                        <a:spcAft>
                          <a:spcPts val="0"/>
                        </a:spcAft>
                        <a:buClr>
                          <a:srgbClr val="000000"/>
                        </a:buClr>
                        <a:buSzPts val="1000"/>
                        <a:buFont typeface="Arial"/>
                        <a:buNone/>
                      </a:pPr>
                      <a:r>
                        <a:rPr lang="en" i="1" u="none" strike="noStrike" cap="none">
                          <a:latin typeface="Consolas"/>
                          <a:ea typeface="Consolas"/>
                          <a:cs typeface="Consolas"/>
                          <a:sym typeface="Consolas"/>
                        </a:rPr>
                        <a:t>&lt;&lt;interface&gt;&gt;</a:t>
                      </a:r>
                      <a:endParaRPr i="1" u="none" strike="noStrike" cap="none">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u="none" strike="noStrike" cap="none">
                          <a:latin typeface="Consolas"/>
                          <a:ea typeface="Consolas"/>
                          <a:cs typeface="Consolas"/>
                          <a:sym typeface="Consolas"/>
                        </a:rPr>
                        <a:t>Queue</a:t>
                      </a:r>
                      <a:r>
                        <a:rPr lang="en" u="none" strike="noStrike" cap="none">
                          <a:solidFill>
                            <a:srgbClr val="FF0000"/>
                          </a:solidFill>
                          <a:highlight>
                            <a:srgbClr val="FFFF00"/>
                          </a:highlight>
                          <a:latin typeface="Consolas"/>
                          <a:ea typeface="Consolas"/>
                          <a:cs typeface="Consolas"/>
                          <a:sym typeface="Consolas"/>
                        </a:rPr>
                        <a:t>&lt;E&gt;</a:t>
                      </a:r>
                      <a:endParaRPr u="none" strike="noStrike" cap="none">
                        <a:solidFill>
                          <a:srgbClr val="FF0000"/>
                        </a:solidFill>
                        <a:highlight>
                          <a:srgbClr val="FFFF00"/>
                        </a:highlight>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96200">
                <a:tc>
                  <a:txBody>
                    <a:bodyPr/>
                    <a:lstStyle/>
                    <a:p>
                      <a:pPr marL="0" marR="0" lvl="0" indent="0" algn="l" rtl="0">
                        <a:lnSpc>
                          <a:spcPct val="100000"/>
                        </a:lnSpc>
                        <a:spcBef>
                          <a:spcPts val="0"/>
                        </a:spcBef>
                        <a:spcAft>
                          <a:spcPts val="0"/>
                        </a:spcAft>
                        <a:buClr>
                          <a:srgbClr val="000000"/>
                        </a:buClr>
                        <a:buSzPts val="1000"/>
                        <a:buFont typeface="Arial"/>
                        <a:buNone/>
                      </a:pPr>
                      <a:endParaRPr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036300">
                <a:tc>
                  <a:txBody>
                    <a:bodyPr/>
                    <a:lstStyle/>
                    <a:p>
                      <a:pPr marL="0" marR="0" lvl="0" indent="0" algn="l" rtl="0">
                        <a:lnSpc>
                          <a:spcPct val="100000"/>
                        </a:lnSpc>
                        <a:spcBef>
                          <a:spcPts val="0"/>
                        </a:spcBef>
                        <a:spcAft>
                          <a:spcPts val="0"/>
                        </a:spcAft>
                        <a:buClr>
                          <a:srgbClr val="000000"/>
                        </a:buClr>
                        <a:buSzPts val="1000"/>
                        <a:buFont typeface="Arial"/>
                        <a:buNone/>
                      </a:pPr>
                      <a:r>
                        <a:rPr lang="en" i="1" u="none" strike="noStrike" cap="none">
                          <a:latin typeface="Consolas"/>
                          <a:ea typeface="Consolas"/>
                          <a:cs typeface="Consolas"/>
                          <a:sym typeface="Consolas"/>
                        </a:rPr>
                        <a:t>+ enqueue(value: </a:t>
                      </a:r>
                      <a:r>
                        <a:rPr lang="en" i="1" u="none" strike="noStrike" cap="none">
                          <a:solidFill>
                            <a:srgbClr val="FF0000"/>
                          </a:solidFill>
                          <a:highlight>
                            <a:srgbClr val="FFFF00"/>
                          </a:highlight>
                          <a:latin typeface="Consolas"/>
                          <a:ea typeface="Consolas"/>
                          <a:cs typeface="Consolas"/>
                          <a:sym typeface="Consolas"/>
                        </a:rPr>
                        <a:t>E</a:t>
                      </a:r>
                      <a:r>
                        <a:rPr lang="en" i="1" u="none" strike="noStrike" cap="none">
                          <a:latin typeface="Consolas"/>
                          <a:ea typeface="Consolas"/>
                          <a:cs typeface="Consolas"/>
                          <a:sym typeface="Consolas"/>
                        </a:rPr>
                        <a:t>)</a:t>
                      </a:r>
                      <a:endParaRPr i="1"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i="1" u="none" strike="noStrike" cap="none">
                          <a:latin typeface="Consolas"/>
                          <a:ea typeface="Consolas"/>
                          <a:cs typeface="Consolas"/>
                          <a:sym typeface="Consolas"/>
                        </a:rPr>
                        <a:t>+ dequeue(): </a:t>
                      </a:r>
                      <a:r>
                        <a:rPr lang="en" i="1" u="none" strike="noStrike" cap="none">
                          <a:solidFill>
                            <a:srgbClr val="FF0000"/>
                          </a:solidFill>
                          <a:highlight>
                            <a:srgbClr val="FFFF00"/>
                          </a:highlight>
                          <a:latin typeface="Consolas"/>
                          <a:ea typeface="Consolas"/>
                          <a:cs typeface="Consolas"/>
                          <a:sym typeface="Consolas"/>
                        </a:rPr>
                        <a:t>E</a:t>
                      </a:r>
                      <a:endParaRPr i="1" u="none" strike="noStrike" cap="none">
                        <a:solidFill>
                          <a:srgbClr val="FF0000"/>
                        </a:solidFill>
                        <a:highlight>
                          <a:srgbClr val="FFFF00"/>
                        </a:highlight>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i="1" u="none" strike="noStrike" cap="none">
                          <a:latin typeface="Consolas"/>
                          <a:ea typeface="Consolas"/>
                          <a:cs typeface="Consolas"/>
                          <a:sym typeface="Consolas"/>
                        </a:rPr>
                        <a:t>+ size(): int</a:t>
                      </a:r>
                      <a:endParaRPr i="1"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88"/>
          <p:cNvSpPr txBox="1">
            <a:spLocks noGrp="1"/>
          </p:cNvSpPr>
          <p:nvPr>
            <p:ph type="body" idx="1"/>
          </p:nvPr>
        </p:nvSpPr>
        <p:spPr>
          <a:xfrm>
            <a:off x="4363768" y="-135992"/>
            <a:ext cx="4557300" cy="5360924"/>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dirty="0"/>
              <a:t>When a variable of a generic type is declared within the body of a class, it is </a:t>
            </a:r>
            <a:r>
              <a:rPr lang="en" b="1" i="1" dirty="0">
                <a:solidFill>
                  <a:srgbClr val="FF0000"/>
                </a:solidFill>
              </a:rPr>
              <a:t>usually</a:t>
            </a:r>
            <a:r>
              <a:rPr lang="en" dirty="0">
                <a:solidFill>
                  <a:srgbClr val="FF0000"/>
                </a:solidFill>
              </a:rPr>
              <a:t> </a:t>
            </a:r>
            <a:r>
              <a:rPr lang="en" dirty="0"/>
              <a:t>the case that a </a:t>
            </a:r>
            <a:r>
              <a:rPr lang="en" b="1" i="1" dirty="0">
                <a:solidFill>
                  <a:srgbClr val="FF0000"/>
                </a:solidFill>
              </a:rPr>
              <a:t>real type</a:t>
            </a:r>
            <a:r>
              <a:rPr lang="en" dirty="0"/>
              <a:t> must be provided for its </a:t>
            </a:r>
            <a:r>
              <a:rPr lang="en" b="1" i="1" dirty="0">
                <a:solidFill>
                  <a:srgbClr val="FF0000"/>
                </a:solidFill>
              </a:rPr>
              <a:t>type parameter(s)</a:t>
            </a:r>
            <a:r>
              <a:rPr lang="en" dirty="0"/>
              <a:t>.</a:t>
            </a:r>
            <a:endParaRPr dirty="0"/>
          </a:p>
          <a:p>
            <a:pPr marL="914400" lvl="1" indent="-298450" algn="l" rtl="0">
              <a:lnSpc>
                <a:spcPct val="115000"/>
              </a:lnSpc>
              <a:spcBef>
                <a:spcPts val="0"/>
              </a:spcBef>
              <a:spcAft>
                <a:spcPts val="0"/>
              </a:spcAft>
              <a:buSzPts val="1100"/>
              <a:buChar char="○"/>
            </a:pPr>
            <a:r>
              <a:rPr lang="en" dirty="0"/>
              <a:t>e.g. </a:t>
            </a:r>
            <a:r>
              <a:rPr lang="en" dirty="0">
                <a:solidFill>
                  <a:srgbClr val="FF0000"/>
                </a:solidFill>
                <a:latin typeface="Courier New"/>
                <a:ea typeface="Courier New"/>
                <a:cs typeface="Courier New"/>
                <a:sym typeface="Courier New"/>
              </a:rPr>
              <a:t>Container&lt;String&gt; container;</a:t>
            </a:r>
            <a:endParaRPr dirty="0">
              <a:solidFill>
                <a:srgbClr val="FF0000"/>
              </a:solidFill>
              <a:latin typeface="Courier New"/>
              <a:ea typeface="Courier New"/>
              <a:cs typeface="Courier New"/>
              <a:sym typeface="Courier New"/>
            </a:endParaRPr>
          </a:p>
          <a:p>
            <a:pPr marL="457200" lvl="0" indent="-311150" algn="l" rtl="0">
              <a:lnSpc>
                <a:spcPct val="115000"/>
              </a:lnSpc>
              <a:spcBef>
                <a:spcPts val="1000"/>
              </a:spcBef>
              <a:spcAft>
                <a:spcPts val="0"/>
              </a:spcAft>
              <a:buSzPts val="1300"/>
              <a:buChar char="●"/>
            </a:pPr>
            <a:r>
              <a:rPr lang="en" dirty="0"/>
              <a:t>One common exception to this rule is </a:t>
            </a:r>
            <a:r>
              <a:rPr lang="en" b="1" i="1" dirty="0">
                <a:solidFill>
                  <a:srgbClr val="FF0000"/>
                </a:solidFill>
              </a:rPr>
              <a:t>within the body</a:t>
            </a:r>
            <a:r>
              <a:rPr lang="en" dirty="0"/>
              <a:t> of a generic type.</a:t>
            </a:r>
            <a:endParaRPr dirty="0"/>
          </a:p>
          <a:p>
            <a:pPr marL="914400" lvl="1" indent="-298450" algn="l" rtl="0">
              <a:lnSpc>
                <a:spcPct val="115000"/>
              </a:lnSpc>
              <a:spcBef>
                <a:spcPts val="0"/>
              </a:spcBef>
              <a:spcAft>
                <a:spcPts val="0"/>
              </a:spcAft>
              <a:buSzPts val="1100"/>
              <a:buChar char="○"/>
            </a:pPr>
            <a:r>
              <a:rPr lang="en" dirty="0">
                <a:highlight>
                  <a:srgbClr val="FFFF00"/>
                </a:highlight>
              </a:rPr>
              <a:t>The generic type may use </a:t>
            </a:r>
            <a:r>
              <a:rPr lang="en" b="1" i="1" dirty="0">
                <a:solidFill>
                  <a:srgbClr val="FF0000"/>
                </a:solidFill>
                <a:highlight>
                  <a:srgbClr val="FFFF00"/>
                </a:highlight>
              </a:rPr>
              <a:t>its own type parameter</a:t>
            </a:r>
            <a:r>
              <a:rPr lang="en" dirty="0">
                <a:highlight>
                  <a:srgbClr val="FFFF00"/>
                </a:highlight>
              </a:rPr>
              <a:t> </a:t>
            </a:r>
            <a:r>
              <a:rPr lang="en" dirty="0"/>
              <a:t>when declaring variables, fields, parameters, or return values of a generic type.</a:t>
            </a:r>
            <a:endParaRPr dirty="0"/>
          </a:p>
          <a:p>
            <a:pPr marL="914400" lvl="1" indent="-298450" algn="l" rtl="0">
              <a:lnSpc>
                <a:spcPct val="115000"/>
              </a:lnSpc>
              <a:spcBef>
                <a:spcPts val="0"/>
              </a:spcBef>
              <a:spcAft>
                <a:spcPts val="0"/>
              </a:spcAft>
              <a:buSzPts val="1100"/>
              <a:buChar char="○"/>
            </a:pPr>
            <a:r>
              <a:rPr lang="en" dirty="0">
                <a:highlight>
                  <a:srgbClr val="FFFF00"/>
                </a:highlight>
              </a:rPr>
              <a:t>When a real type is provided for </a:t>
            </a:r>
            <a:r>
              <a:rPr lang="en" b="1" i="1" dirty="0">
                <a:solidFill>
                  <a:srgbClr val="FF0000"/>
                </a:solidFill>
                <a:highlight>
                  <a:srgbClr val="FFFF00"/>
                </a:highlight>
              </a:rPr>
              <a:t>its</a:t>
            </a:r>
            <a:r>
              <a:rPr lang="en" b="1" i="1" dirty="0">
                <a:highlight>
                  <a:srgbClr val="FFFF00"/>
                </a:highlight>
              </a:rPr>
              <a:t> </a:t>
            </a:r>
            <a:r>
              <a:rPr lang="en" dirty="0">
                <a:highlight>
                  <a:srgbClr val="FFFF00"/>
                </a:highlight>
              </a:rPr>
              <a:t>own type parameter, it is </a:t>
            </a:r>
            <a:r>
              <a:rPr lang="en" b="1" i="1" dirty="0">
                <a:solidFill>
                  <a:srgbClr val="FF0000"/>
                </a:solidFill>
                <a:highlight>
                  <a:srgbClr val="FFFF00"/>
                </a:highlight>
              </a:rPr>
              <a:t>propagated</a:t>
            </a:r>
            <a:r>
              <a:rPr lang="en" dirty="0">
                <a:solidFill>
                  <a:srgbClr val="FF0000"/>
                </a:solidFill>
                <a:highlight>
                  <a:srgbClr val="FFFF00"/>
                </a:highlight>
              </a:rPr>
              <a:t> </a:t>
            </a:r>
            <a:r>
              <a:rPr lang="en" dirty="0">
                <a:highlight>
                  <a:srgbClr val="FFFF00"/>
                </a:highlight>
              </a:rPr>
              <a:t>to any variables within the class that use the </a:t>
            </a:r>
            <a:r>
              <a:rPr lang="en" b="1" i="1" dirty="0">
                <a:solidFill>
                  <a:srgbClr val="FF0000"/>
                </a:solidFill>
                <a:highlight>
                  <a:srgbClr val="FFFF00"/>
                </a:highlight>
              </a:rPr>
              <a:t>same</a:t>
            </a:r>
            <a:r>
              <a:rPr lang="en" dirty="0">
                <a:solidFill>
                  <a:srgbClr val="FF0000"/>
                </a:solidFill>
                <a:highlight>
                  <a:srgbClr val="FFFF00"/>
                </a:highlight>
              </a:rPr>
              <a:t> </a:t>
            </a:r>
            <a:r>
              <a:rPr lang="en" dirty="0">
                <a:highlight>
                  <a:srgbClr val="FFFF00"/>
                </a:highlight>
              </a:rPr>
              <a:t>type parameter.</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Currently our </a:t>
            </a:r>
            <a:r>
              <a:rPr lang="en" dirty="0">
                <a:latin typeface="Courier New"/>
                <a:ea typeface="Courier New"/>
                <a:cs typeface="Courier New"/>
                <a:sym typeface="Courier New"/>
              </a:rPr>
              <a:t>Node</a:t>
            </a:r>
            <a:r>
              <a:rPr lang="en" dirty="0"/>
              <a:t> implementation only works with </a:t>
            </a:r>
            <a:r>
              <a:rPr lang="en" dirty="0">
                <a:latin typeface="Courier New"/>
                <a:ea typeface="Courier New"/>
                <a:cs typeface="Courier New"/>
                <a:sym typeface="Courier New"/>
              </a:rPr>
              <a:t>String</a:t>
            </a:r>
            <a:r>
              <a:rPr lang="en" dirty="0"/>
              <a:t>s. </a:t>
            </a:r>
            <a:endParaRPr dirty="0"/>
          </a:p>
          <a:p>
            <a:pPr marL="914400" lvl="1" indent="-298450" algn="l" rtl="0">
              <a:lnSpc>
                <a:spcPct val="115000"/>
              </a:lnSpc>
              <a:spcBef>
                <a:spcPts val="0"/>
              </a:spcBef>
              <a:spcAft>
                <a:spcPts val="0"/>
              </a:spcAft>
              <a:buSzPts val="1100"/>
              <a:buChar char="○"/>
            </a:pPr>
            <a:r>
              <a:rPr lang="en" dirty="0"/>
              <a:t>If we are to make a </a:t>
            </a:r>
            <a:r>
              <a:rPr lang="en" dirty="0">
                <a:latin typeface="Courier New"/>
                <a:ea typeface="Courier New"/>
                <a:cs typeface="Courier New"/>
                <a:sym typeface="Courier New"/>
              </a:rPr>
              <a:t>NodeQueue</a:t>
            </a:r>
            <a:r>
              <a:rPr lang="en" dirty="0"/>
              <a:t> that can hold any type of element, we will need to make the </a:t>
            </a:r>
            <a:r>
              <a:rPr lang="en" dirty="0">
                <a:latin typeface="Courier New"/>
                <a:ea typeface="Courier New"/>
                <a:cs typeface="Courier New"/>
                <a:sym typeface="Courier New"/>
              </a:rPr>
              <a:t>Node</a:t>
            </a:r>
            <a:r>
              <a:rPr lang="en" dirty="0"/>
              <a:t> class generic as well.</a:t>
            </a:r>
            <a:endParaRPr dirty="0"/>
          </a:p>
          <a:p>
            <a:pPr marL="914400" lvl="1" indent="-298450" algn="l" rtl="0">
              <a:lnSpc>
                <a:spcPct val="115000"/>
              </a:lnSpc>
              <a:spcBef>
                <a:spcPts val="0"/>
              </a:spcBef>
              <a:spcAft>
                <a:spcPts val="0"/>
              </a:spcAft>
              <a:buSzPts val="1100"/>
              <a:buChar char="○"/>
            </a:pPr>
            <a:r>
              <a:rPr lang="en" dirty="0"/>
              <a:t>As usual, this will involve adding a type parameter to the </a:t>
            </a:r>
            <a:r>
              <a:rPr lang="en" dirty="0">
                <a:latin typeface="Courier New"/>
                <a:ea typeface="Courier New"/>
                <a:cs typeface="Courier New"/>
                <a:sym typeface="Courier New"/>
              </a:rPr>
              <a:t>Node</a:t>
            </a:r>
            <a:r>
              <a:rPr lang="en" dirty="0"/>
              <a:t> class declaration, and we will replace all references to the </a:t>
            </a:r>
            <a:r>
              <a:rPr lang="en" dirty="0">
                <a:latin typeface="Courier New"/>
                <a:ea typeface="Courier New"/>
                <a:cs typeface="Courier New"/>
                <a:sym typeface="Courier New"/>
              </a:rPr>
              <a:t>String</a:t>
            </a:r>
            <a:r>
              <a:rPr lang="en" dirty="0"/>
              <a:t> type with the type parameter.</a:t>
            </a:r>
            <a:endParaRPr dirty="0"/>
          </a:p>
          <a:p>
            <a:pPr marL="914400" lvl="1" indent="-298450" algn="l" rtl="0">
              <a:lnSpc>
                <a:spcPct val="115000"/>
              </a:lnSpc>
              <a:spcBef>
                <a:spcPts val="0"/>
              </a:spcBef>
              <a:spcAft>
                <a:spcPts val="0"/>
              </a:spcAft>
              <a:buSzPts val="1100"/>
              <a:buChar char="○"/>
            </a:pPr>
            <a:r>
              <a:rPr lang="en" dirty="0"/>
              <a:t>Different nodes in the same linked sequence will always store the same type of values, and so we will want to use the same type parameter for the </a:t>
            </a:r>
            <a:r>
              <a:rPr lang="en" dirty="0">
                <a:latin typeface="Courier New"/>
                <a:ea typeface="Courier New"/>
                <a:cs typeface="Courier New"/>
                <a:sym typeface="Courier New"/>
              </a:rPr>
              <a:t>next</a:t>
            </a:r>
            <a:r>
              <a:rPr lang="en" dirty="0"/>
              <a:t> </a:t>
            </a:r>
            <a:r>
              <a:rPr lang="en" dirty="0">
                <a:latin typeface="Courier New"/>
                <a:ea typeface="Courier New"/>
                <a:cs typeface="Courier New"/>
                <a:sym typeface="Courier New"/>
              </a:rPr>
              <a:t>Node</a:t>
            </a:r>
            <a:r>
              <a:rPr lang="en" dirty="0"/>
              <a:t>.</a:t>
            </a:r>
            <a:endParaRPr dirty="0"/>
          </a:p>
        </p:txBody>
      </p:sp>
      <p:sp>
        <p:nvSpPr>
          <p:cNvPr id="880" name="Google Shape;880;p88"/>
          <p:cNvSpPr txBox="1">
            <a:spLocks noGrp="1"/>
          </p:cNvSpPr>
          <p:nvPr>
            <p:ph type="sldNum" idx="12"/>
          </p:nvPr>
        </p:nvSpPr>
        <p:spPr>
          <a:xfrm>
            <a:off x="8560549" y="4722671"/>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31</a:t>
            </a:fld>
            <a:endParaRPr/>
          </a:p>
        </p:txBody>
      </p:sp>
      <p:sp>
        <p:nvSpPr>
          <p:cNvPr id="881" name="Google Shape;881;p88"/>
          <p:cNvSpPr txBox="1">
            <a:spLocks noGrp="1"/>
          </p:cNvSpPr>
          <p:nvPr>
            <p:ph type="title"/>
          </p:nvPr>
        </p:nvSpPr>
        <p:spPr>
          <a:xfrm>
            <a:off x="311725" y="437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700"/>
              <a:t>Combining Generics</a:t>
            </a:r>
            <a:endParaRPr sz="2700"/>
          </a:p>
        </p:txBody>
      </p:sp>
      <p:sp>
        <p:nvSpPr>
          <p:cNvPr id="882" name="Google Shape;882;p88"/>
          <p:cNvSpPr txBox="1">
            <a:spLocks noGrp="1"/>
          </p:cNvSpPr>
          <p:nvPr>
            <p:ph type="body" idx="2"/>
          </p:nvPr>
        </p:nvSpPr>
        <p:spPr>
          <a:xfrm>
            <a:off x="315425" y="1407381"/>
            <a:ext cx="3706500" cy="18387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000" dirty="0">
                <a:solidFill>
                  <a:srgbClr val="6AA84F"/>
                </a:solidFill>
                <a:latin typeface="Consolas"/>
                <a:ea typeface="Consolas"/>
                <a:cs typeface="Consolas"/>
                <a:sym typeface="Consolas"/>
              </a:rPr>
              <a:t>1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class</a:t>
            </a:r>
            <a:r>
              <a:rPr lang="en" sz="1000" dirty="0">
                <a:solidFill>
                  <a:srgbClr val="000000"/>
                </a:solidFill>
                <a:latin typeface="Consolas"/>
                <a:ea typeface="Consolas"/>
                <a:cs typeface="Consolas"/>
                <a:sym typeface="Consolas"/>
              </a:rPr>
              <a:t> Warehouse&lt;</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&gt;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2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private</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Container</a:t>
            </a:r>
            <a:r>
              <a:rPr lang="en" sz="1000" dirty="0">
                <a:solidFill>
                  <a:srgbClr val="000000"/>
                </a:solidFill>
                <a:latin typeface="Consolas"/>
                <a:ea typeface="Consolas"/>
                <a:cs typeface="Consolas"/>
                <a:sym typeface="Consolas"/>
              </a:rPr>
              <a:t>&lt;</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&gt; container;</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Clr>
                <a:srgbClr val="000000"/>
              </a:buClr>
              <a:buSzPts val="1300"/>
              <a:buFont typeface="Arial"/>
              <a:buNone/>
            </a:pPr>
            <a:r>
              <a:rPr lang="en" sz="1000" dirty="0">
                <a:solidFill>
                  <a:srgbClr val="6AA84F"/>
                </a:solidFill>
                <a:latin typeface="Consolas"/>
                <a:ea typeface="Consolas"/>
                <a:cs typeface="Consolas"/>
                <a:sym typeface="Consolas"/>
              </a:rPr>
              <a:t>3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4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Warehouse(</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 value)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5  </a:t>
            </a:r>
            <a:r>
              <a:rPr lang="en" sz="1000" dirty="0">
                <a:solidFill>
                  <a:srgbClr val="000000"/>
                </a:solidFill>
                <a:latin typeface="Consolas"/>
                <a:ea typeface="Consolas"/>
                <a:cs typeface="Consolas"/>
                <a:sym typeface="Consolas"/>
              </a:rPr>
              <a:t>        container = </a:t>
            </a:r>
            <a:r>
              <a:rPr lang="en" sz="1000" dirty="0">
                <a:solidFill>
                  <a:srgbClr val="0000FF"/>
                </a:solidFill>
                <a:latin typeface="Consolas"/>
                <a:ea typeface="Consolas"/>
                <a:cs typeface="Consolas"/>
                <a:sym typeface="Consolas"/>
              </a:rPr>
              <a:t>new</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Container</a:t>
            </a:r>
            <a:r>
              <a:rPr lang="en" sz="1000" dirty="0">
                <a:solidFill>
                  <a:srgbClr val="000000"/>
                </a:solidFill>
                <a:latin typeface="Consolas"/>
                <a:ea typeface="Consolas"/>
                <a:cs typeface="Consolas"/>
                <a:sym typeface="Consolas"/>
              </a:rPr>
              <a:t>&lt;&gt;(value);</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6  </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Clr>
                <a:srgbClr val="000000"/>
              </a:buClr>
              <a:buSzPts val="1300"/>
              <a:buFont typeface="Arial"/>
              <a:buNone/>
            </a:pPr>
            <a:r>
              <a:rPr lang="en" sz="1000" dirty="0">
                <a:solidFill>
                  <a:srgbClr val="6AA84F"/>
                </a:solidFill>
                <a:latin typeface="Consolas"/>
                <a:ea typeface="Consolas"/>
                <a:cs typeface="Consolas"/>
                <a:sym typeface="Consolas"/>
              </a:rPr>
              <a:t>7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8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Container</a:t>
            </a:r>
            <a:r>
              <a:rPr lang="en" sz="1000" dirty="0">
                <a:solidFill>
                  <a:srgbClr val="000000"/>
                </a:solidFill>
                <a:latin typeface="Consolas"/>
                <a:ea typeface="Consolas"/>
                <a:cs typeface="Consolas"/>
                <a:sym typeface="Consolas"/>
              </a:rPr>
              <a:t>&lt;</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&gt; getContainer()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9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return</a:t>
            </a:r>
            <a:r>
              <a:rPr lang="en" sz="1000" dirty="0">
                <a:solidFill>
                  <a:srgbClr val="000000"/>
                </a:solidFill>
                <a:latin typeface="Consolas"/>
                <a:ea typeface="Consolas"/>
                <a:cs typeface="Consolas"/>
                <a:sym typeface="Consolas"/>
              </a:rPr>
              <a:t> container;</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10 </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6AA84F"/>
                </a:solidFill>
                <a:latin typeface="Consolas"/>
                <a:ea typeface="Consolas"/>
                <a:cs typeface="Consolas"/>
                <a:sym typeface="Consolas"/>
              </a:rPr>
              <a:t>11 </a:t>
            </a:r>
            <a:r>
              <a:rPr lang="en" sz="1000" dirty="0">
                <a:solidFill>
                  <a:srgbClr val="000000"/>
                </a:solidFill>
                <a:latin typeface="Consolas"/>
                <a:ea typeface="Consolas"/>
                <a:cs typeface="Consolas"/>
                <a:sym typeface="Consolas"/>
              </a:rPr>
              <a:t>}</a:t>
            </a:r>
            <a:endParaRPr sz="1000" dirty="0">
              <a:solidFill>
                <a:srgbClr val="569CD6"/>
              </a:solidFill>
              <a:latin typeface="Consolas"/>
              <a:ea typeface="Consolas"/>
              <a:cs typeface="Consolas"/>
              <a:sym typeface="Consolas"/>
            </a:endParaRPr>
          </a:p>
        </p:txBody>
      </p:sp>
      <p:sp>
        <p:nvSpPr>
          <p:cNvPr id="883" name="Google Shape;883;p88"/>
          <p:cNvSpPr txBox="1">
            <a:spLocks noGrp="1"/>
          </p:cNvSpPr>
          <p:nvPr>
            <p:ph type="body" idx="3"/>
          </p:nvPr>
        </p:nvSpPr>
        <p:spPr>
          <a:xfrm>
            <a:off x="311725" y="626125"/>
            <a:ext cx="3706500" cy="674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A generic type may use </a:t>
            </a:r>
            <a:r>
              <a:rPr lang="en" sz="1200" b="1" i="1" dirty="0">
                <a:solidFill>
                  <a:srgbClr val="FF0000"/>
                </a:solidFill>
                <a:highlight>
                  <a:srgbClr val="FFFF00"/>
                </a:highlight>
              </a:rPr>
              <a:t>its own type parameter</a:t>
            </a:r>
            <a:r>
              <a:rPr lang="en" sz="1200" dirty="0">
                <a:highlight>
                  <a:srgbClr val="FFFF00"/>
                </a:highlight>
              </a:rPr>
              <a:t> when declaring </a:t>
            </a:r>
            <a:r>
              <a:rPr lang="en" sz="1200" b="1" i="1" dirty="0">
                <a:solidFill>
                  <a:srgbClr val="FF0000"/>
                </a:solidFill>
                <a:highlight>
                  <a:srgbClr val="FFFF00"/>
                </a:highlight>
              </a:rPr>
              <a:t>variables of a generic type</a:t>
            </a:r>
            <a:r>
              <a:rPr lang="en" sz="1200" dirty="0">
                <a:highlight>
                  <a:srgbClr val="FFFF00"/>
                </a:highlight>
              </a:rPr>
              <a:t> </a:t>
            </a:r>
            <a:r>
              <a:rPr lang="en" sz="1200" dirty="0"/>
              <a:t>rather than specifying some real type.</a:t>
            </a:r>
            <a:endParaRPr sz="1200" dirty="0"/>
          </a:p>
        </p:txBody>
      </p:sp>
      <p:sp>
        <p:nvSpPr>
          <p:cNvPr id="884" name="Google Shape;884;p88"/>
          <p:cNvSpPr txBox="1">
            <a:spLocks noGrp="1"/>
          </p:cNvSpPr>
          <p:nvPr>
            <p:ph type="body" idx="3"/>
          </p:nvPr>
        </p:nvSpPr>
        <p:spPr>
          <a:xfrm>
            <a:off x="315425" y="3352625"/>
            <a:ext cx="3706500" cy="807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When a </a:t>
            </a:r>
            <a:r>
              <a:rPr lang="en" sz="1200" b="1" i="1" dirty="0">
                <a:solidFill>
                  <a:srgbClr val="FF0000"/>
                </a:solidFill>
              </a:rPr>
              <a:t>real type</a:t>
            </a:r>
            <a:r>
              <a:rPr lang="en" sz="1200" dirty="0">
                <a:solidFill>
                  <a:srgbClr val="FF0000"/>
                </a:solidFill>
              </a:rPr>
              <a:t> </a:t>
            </a:r>
            <a:r>
              <a:rPr lang="en" sz="1200" dirty="0"/>
              <a:t>is provided for the type parameter, the same type is </a:t>
            </a:r>
            <a:r>
              <a:rPr lang="en" sz="1200" b="1" i="1" dirty="0">
                <a:solidFill>
                  <a:srgbClr val="FF0000"/>
                </a:solidFill>
              </a:rPr>
              <a:t>propagated </a:t>
            </a:r>
            <a:r>
              <a:rPr lang="en" sz="1200" dirty="0"/>
              <a:t>to the variables in the class that use the same type parameter.</a:t>
            </a:r>
            <a:endParaRPr sz="1200" dirty="0"/>
          </a:p>
        </p:txBody>
      </p:sp>
      <p:sp>
        <p:nvSpPr>
          <p:cNvPr id="885" name="Google Shape;885;p88"/>
          <p:cNvSpPr txBox="1">
            <a:spLocks noGrp="1"/>
          </p:cNvSpPr>
          <p:nvPr>
            <p:ph type="body" idx="2"/>
          </p:nvPr>
        </p:nvSpPr>
        <p:spPr>
          <a:xfrm>
            <a:off x="311725" y="4279845"/>
            <a:ext cx="3706500" cy="6381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SzPts val="1300"/>
              <a:buNone/>
            </a:pPr>
            <a:r>
              <a:rPr lang="en" sz="1000">
                <a:solidFill>
                  <a:srgbClr val="6AA84F"/>
                </a:solidFill>
                <a:latin typeface="Consolas"/>
                <a:ea typeface="Consolas"/>
                <a:cs typeface="Consolas"/>
                <a:sym typeface="Consolas"/>
              </a:rPr>
              <a:t>1  </a:t>
            </a:r>
            <a:r>
              <a:rPr lang="en" sz="1000">
                <a:solidFill>
                  <a:srgbClr val="0000FF"/>
                </a:solidFill>
                <a:latin typeface="Consolas"/>
                <a:ea typeface="Consolas"/>
                <a:cs typeface="Consolas"/>
                <a:sym typeface="Consolas"/>
              </a:rPr>
              <a:t>Warehouse</a:t>
            </a:r>
            <a:r>
              <a:rPr lang="en" sz="1000">
                <a:solidFill>
                  <a:srgbClr val="000000"/>
                </a:solidFill>
                <a:latin typeface="Consolas"/>
                <a:ea typeface="Consolas"/>
                <a:cs typeface="Consolas"/>
                <a:sym typeface="Consolas"/>
              </a:rPr>
              <a:t>&lt;</a:t>
            </a:r>
            <a:r>
              <a:rPr lang="en" sz="1000">
                <a:solidFill>
                  <a:srgbClr val="0000FF"/>
                </a:solidFill>
                <a:latin typeface="Consolas"/>
                <a:ea typeface="Consolas"/>
                <a:cs typeface="Consolas"/>
                <a:sym typeface="Consolas"/>
              </a:rPr>
              <a:t>String</a:t>
            </a:r>
            <a:r>
              <a:rPr lang="en" sz="1000">
                <a:solidFill>
                  <a:srgbClr val="000000"/>
                </a:solidFill>
                <a:latin typeface="Consolas"/>
                <a:ea typeface="Consolas"/>
                <a:cs typeface="Consolas"/>
                <a:sym typeface="Consolas"/>
              </a:rPr>
              <a:t>&gt; wh = </a:t>
            </a:r>
            <a:r>
              <a:rPr lang="en" sz="1000">
                <a:solidFill>
                  <a:srgbClr val="0000FF"/>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Warehouse</a:t>
            </a:r>
            <a:r>
              <a:rPr lang="en" sz="1000">
                <a:solidFill>
                  <a:srgbClr val="000000"/>
                </a:solidFill>
                <a:latin typeface="Consolas"/>
                <a:ea typeface="Consolas"/>
                <a:cs typeface="Consolas"/>
                <a:sym typeface="Consolas"/>
              </a:rPr>
              <a:t>&lt;&gt;(</a:t>
            </a:r>
            <a:r>
              <a:rPr lang="en" sz="1000">
                <a:solidFill>
                  <a:srgbClr val="A31515"/>
                </a:solidFill>
                <a:latin typeface="Consolas"/>
                <a:ea typeface="Consolas"/>
                <a:cs typeface="Consolas"/>
                <a:sym typeface="Consolas"/>
              </a:rPr>
              <a:t>"abc"</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6AA84F"/>
                </a:solidFill>
                <a:latin typeface="Consolas"/>
                <a:ea typeface="Consolas"/>
                <a:cs typeface="Consolas"/>
                <a:sym typeface="Consolas"/>
              </a:rPr>
              <a:t>2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Container</a:t>
            </a:r>
            <a:r>
              <a:rPr lang="en" sz="1000">
                <a:solidFill>
                  <a:srgbClr val="000000"/>
                </a:solidFill>
                <a:latin typeface="Consolas"/>
                <a:ea typeface="Consolas"/>
                <a:cs typeface="Consolas"/>
                <a:sym typeface="Consolas"/>
              </a:rPr>
              <a:t>&lt;</a:t>
            </a:r>
            <a:r>
              <a:rPr lang="en" sz="1000">
                <a:solidFill>
                  <a:srgbClr val="0000FF"/>
                </a:solidFill>
                <a:latin typeface="Consolas"/>
                <a:ea typeface="Consolas"/>
                <a:cs typeface="Consolas"/>
                <a:sym typeface="Consolas"/>
              </a:rPr>
              <a:t>String</a:t>
            </a:r>
            <a:r>
              <a:rPr lang="en" sz="1000">
                <a:solidFill>
                  <a:srgbClr val="000000"/>
                </a:solidFill>
                <a:latin typeface="Consolas"/>
                <a:ea typeface="Consolas"/>
                <a:cs typeface="Consolas"/>
                <a:sym typeface="Consolas"/>
              </a:rPr>
              <a:t>&gt; c = wh.getContainer();</a:t>
            </a:r>
            <a:endParaRPr sz="10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00">
                <a:solidFill>
                  <a:srgbClr val="6AA84F"/>
                </a:solidFill>
                <a:latin typeface="Consolas"/>
                <a:ea typeface="Consolas"/>
                <a:cs typeface="Consolas"/>
                <a:sym typeface="Consolas"/>
              </a:rPr>
              <a:t>3  </a:t>
            </a:r>
            <a:r>
              <a:rPr lang="en" sz="1000">
                <a:solidFill>
                  <a:srgbClr val="0000FF"/>
                </a:solidFill>
                <a:latin typeface="Consolas"/>
                <a:ea typeface="Consolas"/>
                <a:cs typeface="Consolas"/>
                <a:sym typeface="Consolas"/>
              </a:rPr>
              <a:t>String</a:t>
            </a:r>
            <a:r>
              <a:rPr lang="en" sz="1000">
                <a:solidFill>
                  <a:srgbClr val="000000"/>
                </a:solidFill>
                <a:latin typeface="Consolas"/>
                <a:ea typeface="Consolas"/>
                <a:cs typeface="Consolas"/>
                <a:sym typeface="Consolas"/>
              </a:rPr>
              <a:t> value = c.getValue();</a:t>
            </a:r>
            <a:endParaRPr sz="1000">
              <a:solidFill>
                <a:srgbClr val="4EC9B0"/>
              </a:solidFill>
              <a:latin typeface="Consolas"/>
              <a:ea typeface="Consolas"/>
              <a:cs typeface="Consolas"/>
              <a:sym typeface="Consolas"/>
            </a:endParaRPr>
          </a:p>
        </p:txBody>
      </p:sp>
      <p:grpSp>
        <p:nvGrpSpPr>
          <p:cNvPr id="886" name="Google Shape;886;p88"/>
          <p:cNvGrpSpPr/>
          <p:nvPr/>
        </p:nvGrpSpPr>
        <p:grpSpPr>
          <a:xfrm>
            <a:off x="1426250" y="1293650"/>
            <a:ext cx="2003700" cy="523350"/>
            <a:chOff x="1426250" y="1293650"/>
            <a:chExt cx="2003700" cy="523350"/>
          </a:xfrm>
        </p:grpSpPr>
        <p:sp>
          <p:nvSpPr>
            <p:cNvPr id="887" name="Google Shape;887;p88"/>
            <p:cNvSpPr/>
            <p:nvPr/>
          </p:nvSpPr>
          <p:spPr>
            <a:xfrm>
              <a:off x="1426250" y="1644500"/>
              <a:ext cx="1664700" cy="172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88" name="Google Shape;888;p88"/>
            <p:cNvCxnSpPr>
              <a:stCxn id="887" idx="3"/>
            </p:cNvCxnSpPr>
            <p:nvPr/>
          </p:nvCxnSpPr>
          <p:spPr>
            <a:xfrm rot="10800000" flipH="1">
              <a:off x="3090950" y="1293650"/>
              <a:ext cx="339000" cy="437100"/>
            </a:xfrm>
            <a:prstGeom prst="bentConnector2">
              <a:avLst/>
            </a:prstGeom>
            <a:noFill/>
            <a:ln w="19050" cap="flat" cmpd="sng">
              <a:solidFill>
                <a:srgbClr val="FF0000"/>
              </a:solidFill>
              <a:prstDash val="solid"/>
              <a:round/>
              <a:headEnd type="none" w="med" len="med"/>
              <a:tailEnd type="none" w="med" len="med"/>
            </a:ln>
          </p:spPr>
        </p:cxnSp>
      </p:grpSp>
      <p:grpSp>
        <p:nvGrpSpPr>
          <p:cNvPr id="889" name="Google Shape;889;p88"/>
          <p:cNvGrpSpPr/>
          <p:nvPr/>
        </p:nvGrpSpPr>
        <p:grpSpPr>
          <a:xfrm>
            <a:off x="778225" y="1311650"/>
            <a:ext cx="1468500" cy="1406850"/>
            <a:chOff x="778225" y="1311650"/>
            <a:chExt cx="1468500" cy="1406850"/>
          </a:xfrm>
        </p:grpSpPr>
        <p:sp>
          <p:nvSpPr>
            <p:cNvPr id="890" name="Google Shape;890;p88"/>
            <p:cNvSpPr/>
            <p:nvPr/>
          </p:nvSpPr>
          <p:spPr>
            <a:xfrm>
              <a:off x="1332625" y="2546000"/>
              <a:ext cx="914100" cy="172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891" name="Google Shape;891;p88"/>
            <p:cNvCxnSpPr>
              <a:stCxn id="890" idx="1"/>
            </p:cNvCxnSpPr>
            <p:nvPr/>
          </p:nvCxnSpPr>
          <p:spPr>
            <a:xfrm rot="10800000">
              <a:off x="778225" y="1311650"/>
              <a:ext cx="554400" cy="1320600"/>
            </a:xfrm>
            <a:prstGeom prst="bentConnector2">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7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7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83"/>
                                        </p:tgtEl>
                                        <p:attrNameLst>
                                          <p:attrName>style.visibility</p:attrName>
                                        </p:attrNameLst>
                                      </p:cBhvr>
                                      <p:to>
                                        <p:strVal val="visible"/>
                                      </p:to>
                                    </p:set>
                                    <p:animEffect transition="in" filter="fade">
                                      <p:cBhvr>
                                        <p:cTn id="43" dur="1000"/>
                                        <p:tgtEl>
                                          <p:spTgt spid="883"/>
                                        </p:tgtEl>
                                      </p:cBhvr>
                                    </p:animEffect>
                                  </p:childTnLst>
                                </p:cTn>
                              </p:par>
                              <p:par>
                                <p:cTn id="44" presetID="10" presetClass="entr" presetSubtype="0" fill="hold" nodeType="withEffect">
                                  <p:stCondLst>
                                    <p:cond delay="0"/>
                                  </p:stCondLst>
                                  <p:childTnLst>
                                    <p:set>
                                      <p:cBhvr>
                                        <p:cTn id="45" dur="1" fill="hold">
                                          <p:stCondLst>
                                            <p:cond delay="0"/>
                                          </p:stCondLst>
                                        </p:cTn>
                                        <p:tgtEl>
                                          <p:spTgt spid="882"/>
                                        </p:tgtEl>
                                        <p:attrNameLst>
                                          <p:attrName>style.visibility</p:attrName>
                                        </p:attrNameLst>
                                      </p:cBhvr>
                                      <p:to>
                                        <p:strVal val="visible"/>
                                      </p:to>
                                    </p:set>
                                    <p:animEffect transition="in" filter="fade">
                                      <p:cBhvr>
                                        <p:cTn id="46" dur="1000"/>
                                        <p:tgtEl>
                                          <p:spTgt spid="882"/>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886"/>
                                        </p:tgtEl>
                                        <p:attrNameLst>
                                          <p:attrName>style.visibility</p:attrName>
                                        </p:attrNameLst>
                                      </p:cBhvr>
                                      <p:to>
                                        <p:strVal val="visible"/>
                                      </p:to>
                                    </p:set>
                                    <p:animEffect transition="in" filter="fade">
                                      <p:cBhvr>
                                        <p:cTn id="50" dur="1000"/>
                                        <p:tgtEl>
                                          <p:spTgt spid="886"/>
                                        </p:tgtEl>
                                      </p:cBhvr>
                                    </p:animEffect>
                                  </p:childTnLst>
                                </p:cTn>
                              </p:par>
                            </p:childTnLst>
                          </p:cTn>
                        </p:par>
                        <p:par>
                          <p:cTn id="51" fill="hold">
                            <p:stCondLst>
                              <p:cond delay="2000"/>
                            </p:stCondLst>
                            <p:childTnLst>
                              <p:par>
                                <p:cTn id="52" presetID="10" presetClass="entr" presetSubtype="0" fill="hold" nodeType="afterEffect">
                                  <p:stCondLst>
                                    <p:cond delay="0"/>
                                  </p:stCondLst>
                                  <p:childTnLst>
                                    <p:set>
                                      <p:cBhvr>
                                        <p:cTn id="53" dur="1" fill="hold">
                                          <p:stCondLst>
                                            <p:cond delay="0"/>
                                          </p:stCondLst>
                                        </p:cTn>
                                        <p:tgtEl>
                                          <p:spTgt spid="889"/>
                                        </p:tgtEl>
                                        <p:attrNameLst>
                                          <p:attrName>style.visibility</p:attrName>
                                        </p:attrNameLst>
                                      </p:cBhvr>
                                      <p:to>
                                        <p:strVal val="visible"/>
                                      </p:to>
                                    </p:set>
                                    <p:animEffect transition="in" filter="fade">
                                      <p:cBhvr>
                                        <p:cTn id="54" dur="1000"/>
                                        <p:tgtEl>
                                          <p:spTgt spid="88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884"/>
                                        </p:tgtEl>
                                        <p:attrNameLst>
                                          <p:attrName>style.visibility</p:attrName>
                                        </p:attrNameLst>
                                      </p:cBhvr>
                                      <p:to>
                                        <p:strVal val="visible"/>
                                      </p:to>
                                    </p:set>
                                    <p:animEffect transition="in" filter="fade">
                                      <p:cBhvr>
                                        <p:cTn id="59" dur="1000"/>
                                        <p:tgtEl>
                                          <p:spTgt spid="884"/>
                                        </p:tgtEl>
                                      </p:cBhvr>
                                    </p:animEffect>
                                  </p:childTnLst>
                                </p:cTn>
                              </p:par>
                              <p:par>
                                <p:cTn id="60" presetID="10" presetClass="entr" presetSubtype="0" fill="hold" nodeType="withEffect">
                                  <p:stCondLst>
                                    <p:cond delay="0"/>
                                  </p:stCondLst>
                                  <p:childTnLst>
                                    <p:set>
                                      <p:cBhvr>
                                        <p:cTn id="61" dur="1" fill="hold">
                                          <p:stCondLst>
                                            <p:cond delay="0"/>
                                          </p:stCondLst>
                                        </p:cTn>
                                        <p:tgtEl>
                                          <p:spTgt spid="885"/>
                                        </p:tgtEl>
                                        <p:attrNameLst>
                                          <p:attrName>style.visibility</p:attrName>
                                        </p:attrNameLst>
                                      </p:cBhvr>
                                      <p:to>
                                        <p:strVal val="visible"/>
                                      </p:to>
                                    </p:set>
                                    <p:animEffect transition="in" filter="fade">
                                      <p:cBhvr>
                                        <p:cTn id="62" dur="1000"/>
                                        <p:tgtEl>
                                          <p:spTgt spid="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8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Node</a:t>
            </a:r>
            <a:r>
              <a:rPr lang="en"/>
              <a:t> class can only store </a:t>
            </a:r>
            <a:r>
              <a:rPr lang="en" i="1"/>
              <a:t>string </a:t>
            </a:r>
            <a:r>
              <a:rPr lang="en"/>
              <a:t>values. If we want to use </a:t>
            </a:r>
            <a:r>
              <a:rPr lang="en">
                <a:latin typeface="Courier New"/>
                <a:ea typeface="Courier New"/>
                <a:cs typeface="Courier New"/>
                <a:sym typeface="Courier New"/>
              </a:rPr>
              <a:t>Node</a:t>
            </a:r>
            <a:r>
              <a:rPr lang="en"/>
              <a:t> to store </a:t>
            </a:r>
            <a:r>
              <a:rPr lang="en" i="1"/>
              <a:t>any</a:t>
            </a:r>
            <a:r>
              <a:rPr lang="en"/>
              <a:t> kind of value, we'll need to make it </a:t>
            </a:r>
            <a:r>
              <a:rPr lang="en" b="1" i="1"/>
              <a:t>generic</a:t>
            </a:r>
            <a:r>
              <a:rPr lang="en"/>
              <a:t>. Then we'll be able to use it to implement a generic, Node-based Queue.</a:t>
            </a:r>
            <a:endParaRPr/>
          </a:p>
        </p:txBody>
      </p:sp>
      <p:sp>
        <p:nvSpPr>
          <p:cNvPr id="897" name="Google Shape;897;p8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898" name="Google Shape;898;p89"/>
          <p:cNvSpPr txBox="1">
            <a:spLocks noGrp="1"/>
          </p:cNvSpPr>
          <p:nvPr>
            <p:ph type="body" idx="2"/>
          </p:nvPr>
        </p:nvSpPr>
        <p:spPr>
          <a:xfrm>
            <a:off x="3346650" y="1677050"/>
            <a:ext cx="5384700" cy="32724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Open the </a:t>
            </a:r>
            <a:r>
              <a:rPr lang="en" sz="1400" dirty="0">
                <a:latin typeface="Courier New"/>
                <a:ea typeface="Courier New"/>
                <a:cs typeface="Courier New"/>
                <a:sym typeface="Courier New"/>
              </a:rPr>
              <a:t>Node</a:t>
            </a:r>
            <a:r>
              <a:rPr lang="en" sz="1400" dirty="0"/>
              <a:t> class and modify it into a </a:t>
            </a:r>
            <a:r>
              <a:rPr lang="en" sz="1400" b="1" i="1" dirty="0">
                <a:solidFill>
                  <a:srgbClr val="FF0000"/>
                </a:solidFill>
              </a:rPr>
              <a:t>generic type</a:t>
            </a:r>
            <a:r>
              <a:rPr lang="en" sz="1400" dirty="0">
                <a:solidFill>
                  <a:srgbClr val="FF0000"/>
                </a:solidFill>
              </a:rPr>
              <a:t> </a:t>
            </a:r>
            <a:r>
              <a:rPr lang="en" sz="1400" dirty="0"/>
              <a:t>that can store any kind of value (not just strings).</a:t>
            </a:r>
            <a:endParaRPr sz="1400" dirty="0"/>
          </a:p>
          <a:p>
            <a:pPr marL="914400" lvl="1" indent="-304800" algn="l" rtl="0">
              <a:spcBef>
                <a:spcPts val="0"/>
              </a:spcBef>
              <a:spcAft>
                <a:spcPts val="0"/>
              </a:spcAft>
              <a:buSzPts val="1200"/>
              <a:buChar char="○"/>
            </a:pPr>
            <a:r>
              <a:rPr lang="en" sz="1200" dirty="0"/>
              <a:t>Add a </a:t>
            </a:r>
            <a:r>
              <a:rPr lang="en" sz="1200" b="1" i="1" dirty="0">
                <a:solidFill>
                  <a:srgbClr val="FF0000"/>
                </a:solidFill>
              </a:rPr>
              <a:t>type parameter</a:t>
            </a:r>
            <a:r>
              <a:rPr lang="en" sz="1200" dirty="0"/>
              <a:t> to the class declaration.</a:t>
            </a:r>
            <a:endParaRPr sz="1200" dirty="0"/>
          </a:p>
          <a:p>
            <a:pPr marL="1371600" lvl="2" indent="-304800" algn="l" rtl="0">
              <a:spcBef>
                <a:spcPts val="0"/>
              </a:spcBef>
              <a:spcAft>
                <a:spcPts val="0"/>
              </a:spcAft>
              <a:buSzPts val="1200"/>
              <a:buChar char="■"/>
            </a:pPr>
            <a:r>
              <a:rPr lang="en" sz="1200" dirty="0"/>
              <a:t>Replace instances of the </a:t>
            </a:r>
            <a:r>
              <a:rPr lang="en" sz="1200" dirty="0">
                <a:latin typeface="Courier New"/>
                <a:ea typeface="Courier New"/>
                <a:cs typeface="Courier New"/>
                <a:sym typeface="Courier New"/>
              </a:rPr>
              <a:t>String</a:t>
            </a:r>
            <a:r>
              <a:rPr lang="en" sz="1200" dirty="0"/>
              <a:t> type with the type parameter where appropriate.</a:t>
            </a:r>
            <a:endParaRPr sz="1200" dirty="0"/>
          </a:p>
          <a:p>
            <a:pPr marL="914400" lvl="1" indent="-304800" algn="l" rtl="0">
              <a:spcBef>
                <a:spcPts val="0"/>
              </a:spcBef>
              <a:spcAft>
                <a:spcPts val="0"/>
              </a:spcAft>
              <a:buSzPts val="1200"/>
              <a:buChar char="○"/>
            </a:pPr>
            <a:r>
              <a:rPr lang="en" sz="1200" dirty="0"/>
              <a:t>Note that a nodes in a </a:t>
            </a:r>
            <a:r>
              <a:rPr lang="en" sz="1200" b="1" i="1" dirty="0">
                <a:solidFill>
                  <a:srgbClr val="FF0000"/>
                </a:solidFill>
              </a:rPr>
              <a:t>linked-sequence</a:t>
            </a:r>
            <a:r>
              <a:rPr lang="en" sz="1200" dirty="0"/>
              <a:t> will all be of the </a:t>
            </a:r>
            <a:r>
              <a:rPr lang="en" sz="1200" b="1" i="1" dirty="0">
                <a:solidFill>
                  <a:srgbClr val="FF0000"/>
                </a:solidFill>
              </a:rPr>
              <a:t>same type</a:t>
            </a:r>
            <a:r>
              <a:rPr lang="en" sz="1200" dirty="0"/>
              <a:t>, and so the reference to the next node should also be generic, i.e. </a:t>
            </a:r>
            <a:r>
              <a:rPr lang="en" sz="1200" dirty="0">
                <a:solidFill>
                  <a:srgbClr val="FF0000"/>
                </a:solidFill>
                <a:highlight>
                  <a:srgbClr val="FFFF00"/>
                </a:highlight>
                <a:latin typeface="Courier New"/>
                <a:ea typeface="Courier New"/>
                <a:cs typeface="Courier New"/>
                <a:sym typeface="Courier New"/>
              </a:rPr>
              <a:t>private Node&lt;E&gt; next</a:t>
            </a:r>
            <a:endParaRPr sz="1200" dirty="0">
              <a:solidFill>
                <a:schemeClr val="lt2"/>
              </a:solidFill>
              <a:highlight>
                <a:srgbClr val="FFFF00"/>
              </a:highlight>
            </a:endParaRPr>
          </a:p>
          <a:p>
            <a:pPr marL="914400" lvl="1" indent="-304800" algn="l" rtl="0">
              <a:spcBef>
                <a:spcPts val="0"/>
              </a:spcBef>
              <a:spcAft>
                <a:spcPts val="0"/>
              </a:spcAft>
              <a:buClr>
                <a:schemeClr val="lt2"/>
              </a:buClr>
              <a:buSzPts val="1200"/>
              <a:buChar char="○"/>
            </a:pPr>
            <a:r>
              <a:rPr lang="en" sz="1200" dirty="0">
                <a:solidFill>
                  <a:schemeClr val="lt2"/>
                </a:solidFill>
                <a:highlight>
                  <a:srgbClr val="FFFF00"/>
                </a:highlight>
              </a:rPr>
              <a:t>The compiler will make sure that two nodes can only be linked together if the </a:t>
            </a:r>
            <a:r>
              <a:rPr lang="en" sz="1200" b="1" i="1" dirty="0">
                <a:solidFill>
                  <a:srgbClr val="FF0000"/>
                </a:solidFill>
                <a:highlight>
                  <a:srgbClr val="FFFF00"/>
                </a:highlight>
              </a:rPr>
              <a:t>real types</a:t>
            </a:r>
            <a:r>
              <a:rPr lang="en" sz="1200" dirty="0">
                <a:solidFill>
                  <a:schemeClr val="lt2"/>
                </a:solidFill>
                <a:highlight>
                  <a:srgbClr val="FFFF00"/>
                </a:highlight>
              </a:rPr>
              <a:t> match.</a:t>
            </a:r>
            <a:endParaRPr sz="1200" dirty="0">
              <a:solidFill>
                <a:schemeClr val="lt2"/>
              </a:solidFill>
              <a:highlight>
                <a:srgbClr val="FFFF00"/>
              </a:highlight>
            </a:endParaRPr>
          </a:p>
          <a:p>
            <a:pPr marL="457200" lvl="0" indent="-317500" algn="l" rtl="0">
              <a:spcBef>
                <a:spcPts val="0"/>
              </a:spcBef>
              <a:spcAft>
                <a:spcPts val="0"/>
              </a:spcAft>
              <a:buSzPts val="1400"/>
              <a:buChar char="●"/>
            </a:pPr>
            <a:r>
              <a:rPr lang="en" sz="1400" dirty="0"/>
              <a:t>Use your </a:t>
            </a:r>
            <a:r>
              <a:rPr lang="en" sz="1400" dirty="0">
                <a:latin typeface="Courier New"/>
                <a:ea typeface="Courier New"/>
                <a:cs typeface="Courier New"/>
                <a:sym typeface="Courier New"/>
              </a:rPr>
              <a:t>main</a:t>
            </a:r>
            <a:r>
              <a:rPr lang="en" sz="1400" dirty="0"/>
              <a:t> method to create and print a few nodes that use types other than strings.</a:t>
            </a:r>
            <a:endParaRPr sz="1400" dirty="0"/>
          </a:p>
          <a:p>
            <a:pPr marL="914400" lvl="1" indent="-304800" algn="l" rtl="0">
              <a:spcBef>
                <a:spcPts val="0"/>
              </a:spcBef>
              <a:spcAft>
                <a:spcPts val="0"/>
              </a:spcAft>
              <a:buSzPts val="1200"/>
              <a:buChar char="○"/>
            </a:pPr>
            <a:r>
              <a:rPr lang="en" sz="1200" dirty="0"/>
              <a:t>What happens when you use a primitive type like </a:t>
            </a:r>
            <a:r>
              <a:rPr lang="en" sz="1200" dirty="0">
                <a:latin typeface="Courier New"/>
                <a:ea typeface="Courier New"/>
                <a:cs typeface="Courier New"/>
                <a:sym typeface="Courier New"/>
              </a:rPr>
              <a:t>int</a:t>
            </a:r>
            <a:r>
              <a:rPr lang="en" sz="1200" dirty="0"/>
              <a:t>?</a:t>
            </a:r>
            <a:endParaRPr sz="1200" dirty="0"/>
          </a:p>
          <a:p>
            <a:pPr marL="914400" lvl="1" indent="-304800" algn="l" rtl="0">
              <a:spcBef>
                <a:spcPts val="0"/>
              </a:spcBef>
              <a:spcAft>
                <a:spcPts val="0"/>
              </a:spcAft>
              <a:buSzPts val="1200"/>
              <a:buChar char="○"/>
            </a:pPr>
            <a:r>
              <a:rPr lang="en" sz="1200" dirty="0"/>
              <a:t>What happened to your </a:t>
            </a:r>
            <a:r>
              <a:rPr lang="en" sz="1200" dirty="0">
                <a:latin typeface="Courier New"/>
                <a:ea typeface="Courier New"/>
                <a:cs typeface="Courier New"/>
                <a:sym typeface="Courier New"/>
              </a:rPr>
              <a:t>NodeQueue</a:t>
            </a:r>
            <a:r>
              <a:rPr lang="en" sz="1200" dirty="0"/>
              <a:t>?</a:t>
            </a:r>
            <a:endParaRPr sz="1200" dirty="0"/>
          </a:p>
        </p:txBody>
      </p:sp>
      <p:sp>
        <p:nvSpPr>
          <p:cNvPr id="899" name="Google Shape;899;p89"/>
          <p:cNvSpPr txBox="1">
            <a:spLocks noGrp="1"/>
          </p:cNvSpPr>
          <p:nvPr>
            <p:ph type="title"/>
          </p:nvPr>
        </p:nvSpPr>
        <p:spPr>
          <a:xfrm>
            <a:off x="1436850" y="100"/>
            <a:ext cx="7642500" cy="6312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2900"/>
              <a:t>Making Nodes Work With any Type (too)</a:t>
            </a:r>
            <a:endParaRPr sz="2900"/>
          </a:p>
        </p:txBody>
      </p:sp>
      <p:sp>
        <p:nvSpPr>
          <p:cNvPr id="900" name="Google Shape;900;p8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5.13</a:t>
            </a:r>
            <a:endParaRPr/>
          </a:p>
        </p:txBody>
      </p:sp>
      <p:graphicFrame>
        <p:nvGraphicFramePr>
          <p:cNvPr id="901" name="Google Shape;901;p89"/>
          <p:cNvGraphicFramePr/>
          <p:nvPr/>
        </p:nvGraphicFramePr>
        <p:xfrm>
          <a:off x="236962" y="1831427"/>
          <a:ext cx="3023700" cy="2209735"/>
        </p:xfrm>
        <a:graphic>
          <a:graphicData uri="http://schemas.openxmlformats.org/drawingml/2006/table">
            <a:tbl>
              <a:tblPr>
                <a:noFill/>
                <a:tableStyleId>{5D16334A-BD30-4DCF-A821-F696FD12572A}</a:tableStyleId>
              </a:tblPr>
              <a:tblGrid>
                <a:gridCol w="3023700">
                  <a:extLst>
                    <a:ext uri="{9D8B030D-6E8A-4147-A177-3AD203B41FA5}">
                      <a16:colId xmlns:a16="http://schemas.microsoft.com/office/drawing/2014/main" val="20000"/>
                    </a:ext>
                  </a:extLst>
                </a:gridCol>
              </a:tblGrid>
              <a:tr h="381000">
                <a:tc>
                  <a:txBody>
                    <a:bodyPr/>
                    <a:lstStyle/>
                    <a:p>
                      <a:pPr marL="0" marR="0" lvl="0" indent="0" algn="ctr" rtl="0">
                        <a:lnSpc>
                          <a:spcPct val="100000"/>
                        </a:lnSpc>
                        <a:spcBef>
                          <a:spcPts val="0"/>
                        </a:spcBef>
                        <a:spcAft>
                          <a:spcPts val="0"/>
                        </a:spcAft>
                        <a:buClr>
                          <a:srgbClr val="000000"/>
                        </a:buClr>
                        <a:buSzPts val="1000"/>
                        <a:buFont typeface="Arial"/>
                        <a:buNone/>
                      </a:pPr>
                      <a:r>
                        <a:rPr lang="en" sz="1200" u="none" strike="noStrike" cap="none">
                          <a:latin typeface="Consolas"/>
                          <a:ea typeface="Consolas"/>
                          <a:cs typeface="Consolas"/>
                          <a:sym typeface="Consolas"/>
                        </a:rPr>
                        <a:t>Node</a:t>
                      </a:r>
                      <a:r>
                        <a:rPr lang="en" sz="1200" u="none" strike="noStrike" cap="none">
                          <a:solidFill>
                            <a:srgbClr val="FF0000"/>
                          </a:solidFill>
                          <a:highlight>
                            <a:srgbClr val="FFFF00"/>
                          </a:highlight>
                          <a:latin typeface="Consolas"/>
                          <a:ea typeface="Consolas"/>
                          <a:cs typeface="Consolas"/>
                          <a:sym typeface="Consolas"/>
                        </a:rPr>
                        <a:t>&lt;E&gt;</a:t>
                      </a:r>
                      <a:endParaRPr sz="1200" u="none" strike="noStrike" cap="none">
                        <a:solidFill>
                          <a:srgbClr val="FF0000"/>
                        </a:solidFill>
                        <a:highlight>
                          <a:srgbClr val="FFFF00"/>
                        </a:highlight>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548600">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latin typeface="Consolas"/>
                          <a:ea typeface="Consolas"/>
                          <a:cs typeface="Consolas"/>
                          <a:sym typeface="Consolas"/>
                        </a:rPr>
                        <a:t>- </a:t>
                      </a:r>
                      <a:r>
                        <a:rPr lang="en" sz="1200" u="none" strike="noStrike" cap="none">
                          <a:solidFill>
                            <a:srgbClr val="FF0000"/>
                          </a:solidFill>
                          <a:highlight>
                            <a:srgbClr val="FFFF00"/>
                          </a:highlight>
                          <a:latin typeface="Consolas"/>
                          <a:ea typeface="Consolas"/>
                          <a:cs typeface="Consolas"/>
                          <a:sym typeface="Consolas"/>
                        </a:rPr>
                        <a:t>E</a:t>
                      </a:r>
                      <a:r>
                        <a:rPr lang="en" sz="1200" u="none" strike="noStrike" cap="none">
                          <a:latin typeface="Consolas"/>
                          <a:ea typeface="Consolas"/>
                          <a:cs typeface="Consolas"/>
                          <a:sym typeface="Consolas"/>
                        </a:rPr>
                        <a:t>: value</a:t>
                      </a:r>
                      <a:endParaRPr sz="12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200" u="none" strike="noStrike" cap="none">
                          <a:latin typeface="Consolas"/>
                          <a:ea typeface="Consolas"/>
                          <a:cs typeface="Consolas"/>
                          <a:sym typeface="Consolas"/>
                        </a:rPr>
                        <a:t>- next: Node</a:t>
                      </a:r>
                      <a:r>
                        <a:rPr lang="en" sz="1200" u="none" strike="noStrike" cap="none">
                          <a:solidFill>
                            <a:srgbClr val="FF0000"/>
                          </a:solidFill>
                          <a:highlight>
                            <a:srgbClr val="FFFF00"/>
                          </a:highlight>
                          <a:latin typeface="Consolas"/>
                          <a:ea typeface="Consolas"/>
                          <a:cs typeface="Consolas"/>
                          <a:sym typeface="Consolas"/>
                        </a:rPr>
                        <a:t>&lt;E&gt;</a:t>
                      </a:r>
                      <a:endParaRPr sz="1200" u="none" strike="noStrike" cap="none">
                        <a:solidFill>
                          <a:srgbClr val="FF0000"/>
                        </a:solidFill>
                        <a:highlight>
                          <a:srgbClr val="FFFF00"/>
                        </a:highlight>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280125">
                <a:tc>
                  <a:txBody>
                    <a:bodyPr/>
                    <a:lstStyle/>
                    <a:p>
                      <a:pPr marL="0" marR="0" lvl="0" indent="0" algn="l" rtl="0">
                        <a:lnSpc>
                          <a:spcPct val="100000"/>
                        </a:lnSpc>
                        <a:spcBef>
                          <a:spcPts val="0"/>
                        </a:spcBef>
                        <a:spcAft>
                          <a:spcPts val="0"/>
                        </a:spcAft>
                        <a:buClr>
                          <a:srgbClr val="000000"/>
                        </a:buClr>
                        <a:buSzPts val="1000"/>
                        <a:buFont typeface="Arial"/>
                        <a:buNone/>
                      </a:pPr>
                      <a:r>
                        <a:rPr lang="en" sz="1200" u="none" strike="noStrike" cap="none">
                          <a:latin typeface="Consolas"/>
                          <a:ea typeface="Consolas"/>
                          <a:cs typeface="Consolas"/>
                          <a:sym typeface="Consolas"/>
                        </a:rPr>
                        <a:t>+ Node(value: </a:t>
                      </a:r>
                      <a:r>
                        <a:rPr lang="en" sz="1200" u="none" strike="noStrike" cap="none">
                          <a:solidFill>
                            <a:srgbClr val="FF0000"/>
                          </a:solidFill>
                          <a:highlight>
                            <a:srgbClr val="FFFF00"/>
                          </a:highlight>
                          <a:latin typeface="Consolas"/>
                          <a:ea typeface="Consolas"/>
                          <a:cs typeface="Consolas"/>
                          <a:sym typeface="Consolas"/>
                        </a:rPr>
                        <a:t>E</a:t>
                      </a:r>
                      <a:r>
                        <a:rPr lang="en" sz="1200" u="none" strike="noStrike" cap="none">
                          <a:latin typeface="Consolas"/>
                          <a:ea typeface="Consolas"/>
                          <a:cs typeface="Consolas"/>
                          <a:sym typeface="Consolas"/>
                        </a:rPr>
                        <a:t>)</a:t>
                      </a:r>
                      <a:endParaRPr sz="12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200" u="none" strike="noStrike" cap="none">
                          <a:latin typeface="Consolas"/>
                          <a:ea typeface="Consolas"/>
                          <a:cs typeface="Consolas"/>
                          <a:sym typeface="Consolas"/>
                        </a:rPr>
                        <a:t>+ Node(value: </a:t>
                      </a:r>
                      <a:r>
                        <a:rPr lang="en" sz="1200" u="none" strike="noStrike" cap="none">
                          <a:solidFill>
                            <a:srgbClr val="FF0000"/>
                          </a:solidFill>
                          <a:highlight>
                            <a:srgbClr val="FFFF00"/>
                          </a:highlight>
                          <a:latin typeface="Consolas"/>
                          <a:ea typeface="Consolas"/>
                          <a:cs typeface="Consolas"/>
                          <a:sym typeface="Consolas"/>
                        </a:rPr>
                        <a:t>E</a:t>
                      </a:r>
                      <a:r>
                        <a:rPr lang="en" sz="1200" u="none" strike="noStrike" cap="none">
                          <a:latin typeface="Consolas"/>
                          <a:ea typeface="Consolas"/>
                          <a:cs typeface="Consolas"/>
                          <a:sym typeface="Consolas"/>
                        </a:rPr>
                        <a:t>, next: Node</a:t>
                      </a:r>
                      <a:r>
                        <a:rPr lang="en" sz="1200" u="none" strike="noStrike" cap="none">
                          <a:solidFill>
                            <a:srgbClr val="FF0000"/>
                          </a:solidFill>
                          <a:highlight>
                            <a:srgbClr val="FFFF00"/>
                          </a:highlight>
                          <a:latin typeface="Consolas"/>
                          <a:ea typeface="Consolas"/>
                          <a:cs typeface="Consolas"/>
                          <a:sym typeface="Consolas"/>
                        </a:rPr>
                        <a:t>&lt;E&gt;</a:t>
                      </a:r>
                      <a:r>
                        <a:rPr lang="en" sz="1200" u="none" strike="noStrike" cap="none">
                          <a:latin typeface="Consolas"/>
                          <a:ea typeface="Consolas"/>
                          <a:cs typeface="Consolas"/>
                          <a:sym typeface="Consolas"/>
                        </a:rPr>
                        <a:t>)</a:t>
                      </a:r>
                      <a:endParaRPr sz="12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200" u="none" strike="noStrike" cap="none">
                          <a:latin typeface="Consolas"/>
                          <a:ea typeface="Consolas"/>
                          <a:cs typeface="Consolas"/>
                          <a:sym typeface="Consolas"/>
                        </a:rPr>
                        <a:t>+ getValue(): </a:t>
                      </a:r>
                      <a:r>
                        <a:rPr lang="en" sz="1200" u="none" strike="noStrike" cap="none">
                          <a:solidFill>
                            <a:srgbClr val="FF0000"/>
                          </a:solidFill>
                          <a:highlight>
                            <a:srgbClr val="FFFF00"/>
                          </a:highlight>
                          <a:latin typeface="Consolas"/>
                          <a:ea typeface="Consolas"/>
                          <a:cs typeface="Consolas"/>
                          <a:sym typeface="Consolas"/>
                        </a:rPr>
                        <a:t>E</a:t>
                      </a:r>
                      <a:endParaRPr sz="1200" u="none" strike="noStrike" cap="none">
                        <a:solidFill>
                          <a:srgbClr val="FF0000"/>
                        </a:solidFill>
                        <a:highlight>
                          <a:srgbClr val="FFFF00"/>
                        </a:highlight>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200" u="none" strike="noStrike" cap="none">
                          <a:latin typeface="Consolas"/>
                          <a:ea typeface="Consolas"/>
                          <a:cs typeface="Consolas"/>
                          <a:sym typeface="Consolas"/>
                        </a:rPr>
                        <a:t>+ setNext(next: Node</a:t>
                      </a:r>
                      <a:r>
                        <a:rPr lang="en" sz="1200" u="none" strike="noStrike" cap="none">
                          <a:solidFill>
                            <a:srgbClr val="FF0000"/>
                          </a:solidFill>
                          <a:highlight>
                            <a:srgbClr val="FFFF00"/>
                          </a:highlight>
                          <a:latin typeface="Consolas"/>
                          <a:ea typeface="Consolas"/>
                          <a:cs typeface="Consolas"/>
                          <a:sym typeface="Consolas"/>
                        </a:rPr>
                        <a:t>&lt;E&gt;</a:t>
                      </a:r>
                      <a:r>
                        <a:rPr lang="en" sz="1200" u="none" strike="noStrike" cap="none">
                          <a:latin typeface="Consolas"/>
                          <a:ea typeface="Consolas"/>
                          <a:cs typeface="Consolas"/>
                          <a:sym typeface="Consolas"/>
                        </a:rPr>
                        <a:t>)</a:t>
                      </a:r>
                      <a:endParaRPr sz="1200"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sz="1200" u="none" strike="noStrike" cap="none">
                          <a:latin typeface="Consolas"/>
                          <a:ea typeface="Consolas"/>
                          <a:cs typeface="Consolas"/>
                          <a:sym typeface="Consolas"/>
                        </a:rPr>
                        <a:t>+ getNext(): Node</a:t>
                      </a:r>
                      <a:r>
                        <a:rPr lang="en" sz="1200" u="none" strike="noStrike" cap="none">
                          <a:solidFill>
                            <a:srgbClr val="FF0000"/>
                          </a:solidFill>
                          <a:highlight>
                            <a:srgbClr val="FFFF00"/>
                          </a:highlight>
                          <a:latin typeface="Consolas"/>
                          <a:ea typeface="Consolas"/>
                          <a:cs typeface="Consolas"/>
                          <a:sym typeface="Consolas"/>
                        </a:rPr>
                        <a:t>&lt;E&gt;</a:t>
                      </a:r>
                      <a:endParaRPr sz="1200" u="none" strike="noStrike" cap="none">
                        <a:solidFill>
                          <a:srgbClr val="FF0000"/>
                        </a:solidFill>
                        <a:highlight>
                          <a:srgbClr val="FFFF00"/>
                        </a:highlight>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p90"/>
          <p:cNvSpPr txBox="1">
            <a:spLocks noGrp="1"/>
          </p:cNvSpPr>
          <p:nvPr>
            <p:ph type="title"/>
          </p:nvPr>
        </p:nvSpPr>
        <p:spPr>
          <a:xfrm>
            <a:off x="311725" y="437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Extending Generics</a:t>
            </a:r>
            <a:endParaRPr/>
          </a:p>
        </p:txBody>
      </p:sp>
      <p:sp>
        <p:nvSpPr>
          <p:cNvPr id="907" name="Google Shape;907;p90"/>
          <p:cNvSpPr txBox="1">
            <a:spLocks noGrp="1"/>
          </p:cNvSpPr>
          <p:nvPr>
            <p:ph type="body" idx="1"/>
          </p:nvPr>
        </p:nvSpPr>
        <p:spPr>
          <a:xfrm>
            <a:off x="4341900" y="43725"/>
            <a:ext cx="4444500" cy="5026800"/>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dirty="0">
                <a:highlight>
                  <a:srgbClr val="FFFF00"/>
                </a:highlight>
              </a:rPr>
              <a:t>Type parameters </a:t>
            </a:r>
            <a:r>
              <a:rPr lang="en" b="1" i="1" dirty="0">
                <a:solidFill>
                  <a:srgbClr val="FF0000"/>
                </a:solidFill>
                <a:highlight>
                  <a:srgbClr val="FFFF00"/>
                </a:highlight>
              </a:rPr>
              <a:t>must</a:t>
            </a:r>
            <a:r>
              <a:rPr lang="en" dirty="0">
                <a:solidFill>
                  <a:srgbClr val="FF0000"/>
                </a:solidFill>
                <a:highlight>
                  <a:srgbClr val="FFFF00"/>
                </a:highlight>
              </a:rPr>
              <a:t> </a:t>
            </a:r>
            <a:r>
              <a:rPr lang="en" dirty="0">
                <a:highlight>
                  <a:srgbClr val="FFFF00"/>
                </a:highlight>
              </a:rPr>
              <a:t>be declared along with the </a:t>
            </a:r>
            <a:r>
              <a:rPr lang="en" b="1" i="1" dirty="0">
                <a:solidFill>
                  <a:srgbClr val="FF0000"/>
                </a:solidFill>
                <a:highlight>
                  <a:srgbClr val="FFFF00"/>
                </a:highlight>
              </a:rPr>
              <a:t>class </a:t>
            </a:r>
            <a:r>
              <a:rPr lang="en" dirty="0">
                <a:highlight>
                  <a:srgbClr val="FFFF00"/>
                </a:highlight>
              </a:rPr>
              <a:t>or </a:t>
            </a:r>
            <a:r>
              <a:rPr lang="en" b="1" i="1" dirty="0">
                <a:solidFill>
                  <a:srgbClr val="FF0000"/>
                </a:solidFill>
                <a:highlight>
                  <a:srgbClr val="FFFF00"/>
                </a:highlight>
              </a:rPr>
              <a:t>interface declaration</a:t>
            </a:r>
            <a:r>
              <a:rPr lang="en" dirty="0">
                <a:solidFill>
                  <a:srgbClr val="FF0000"/>
                </a:solidFill>
                <a:highlight>
                  <a:srgbClr val="FFFF00"/>
                </a:highlight>
              </a:rPr>
              <a:t> </a:t>
            </a:r>
            <a:r>
              <a:rPr lang="en" dirty="0"/>
              <a:t>in a generic type, i.e.</a:t>
            </a:r>
            <a:endParaRPr dirty="0"/>
          </a:p>
          <a:p>
            <a:pPr marL="914400" lvl="1" indent="-298450" algn="l" rtl="0">
              <a:lnSpc>
                <a:spcPct val="115000"/>
              </a:lnSpc>
              <a:spcBef>
                <a:spcPts val="0"/>
              </a:spcBef>
              <a:spcAft>
                <a:spcPts val="0"/>
              </a:spcAft>
              <a:buSzPts val="1100"/>
              <a:buChar char="○"/>
            </a:pPr>
            <a:r>
              <a:rPr lang="en" dirty="0">
                <a:solidFill>
                  <a:srgbClr val="FF0000"/>
                </a:solidFill>
                <a:latin typeface="Courier New"/>
                <a:ea typeface="Courier New"/>
                <a:cs typeface="Courier New"/>
                <a:sym typeface="Courier New"/>
              </a:rPr>
              <a:t>public class Foo&lt;T&gt; {}</a:t>
            </a:r>
            <a:endParaRPr dirty="0">
              <a:solidFill>
                <a:srgbClr val="FF0000"/>
              </a:solidFill>
              <a:latin typeface="Courier New"/>
              <a:ea typeface="Courier New"/>
              <a:cs typeface="Courier New"/>
              <a:sym typeface="Courier New"/>
            </a:endParaRPr>
          </a:p>
          <a:p>
            <a:pPr marL="914400" lvl="1" indent="-298450" algn="l" rtl="0">
              <a:lnSpc>
                <a:spcPct val="115000"/>
              </a:lnSpc>
              <a:spcBef>
                <a:spcPts val="0"/>
              </a:spcBef>
              <a:spcAft>
                <a:spcPts val="0"/>
              </a:spcAft>
              <a:buSzPts val="1100"/>
              <a:buChar char="○"/>
            </a:pPr>
            <a:r>
              <a:rPr lang="en" dirty="0">
                <a:solidFill>
                  <a:srgbClr val="FF0000"/>
                </a:solidFill>
                <a:latin typeface="Courier New"/>
                <a:ea typeface="Courier New"/>
                <a:cs typeface="Courier New"/>
                <a:sym typeface="Courier New"/>
              </a:rPr>
              <a:t>public interface Queue&lt;E&gt; {}</a:t>
            </a:r>
            <a:endParaRPr dirty="0">
              <a:solidFill>
                <a:srgbClr val="FF0000"/>
              </a:solidFill>
              <a:latin typeface="Courier New"/>
              <a:ea typeface="Courier New"/>
              <a:cs typeface="Courier New"/>
              <a:sym typeface="Courier New"/>
            </a:endParaRPr>
          </a:p>
          <a:p>
            <a:pPr marL="457200" lvl="0" indent="-311150" algn="l" rtl="0">
              <a:lnSpc>
                <a:spcPct val="115000"/>
              </a:lnSpc>
              <a:spcBef>
                <a:spcPts val="1000"/>
              </a:spcBef>
              <a:spcAft>
                <a:spcPts val="0"/>
              </a:spcAft>
              <a:buSzPts val="1300"/>
              <a:buChar char="●"/>
            </a:pPr>
            <a:r>
              <a:rPr lang="en" dirty="0"/>
              <a:t>Trying to specify a type parameter anywhere else will cause a </a:t>
            </a:r>
            <a:r>
              <a:rPr lang="en" b="1" i="1" dirty="0">
                <a:solidFill>
                  <a:srgbClr val="FF0000"/>
                </a:solidFill>
              </a:rPr>
              <a:t>compiler error</a:t>
            </a:r>
            <a:r>
              <a:rPr lang="en" dirty="0"/>
              <a:t>, e.g.</a:t>
            </a:r>
            <a:endParaRPr dirty="0"/>
          </a:p>
          <a:p>
            <a:pPr marL="914400" lvl="1" indent="-298450" algn="l" rtl="0">
              <a:lnSpc>
                <a:spcPct val="115000"/>
              </a:lnSpc>
              <a:spcBef>
                <a:spcPts val="0"/>
              </a:spcBef>
              <a:spcAft>
                <a:spcPts val="0"/>
              </a:spcAft>
              <a:buSzPts val="1100"/>
              <a:buChar char="○"/>
            </a:pPr>
            <a:r>
              <a:rPr lang="en" dirty="0">
                <a:solidFill>
                  <a:srgbClr val="FF0000"/>
                </a:solidFill>
                <a:latin typeface="Courier New"/>
                <a:ea typeface="Courier New"/>
                <a:cs typeface="Courier New"/>
                <a:sym typeface="Courier New"/>
              </a:rPr>
              <a:t>public class </a:t>
            </a:r>
            <a:r>
              <a:rPr lang="en" dirty="0">
                <a:solidFill>
                  <a:srgbClr val="FF0000"/>
                </a:solidFill>
                <a:highlight>
                  <a:srgbClr val="FFFF00"/>
                </a:highlight>
                <a:latin typeface="Courier New"/>
                <a:ea typeface="Courier New"/>
                <a:cs typeface="Courier New"/>
                <a:sym typeface="Courier New"/>
              </a:rPr>
              <a:t>A extends </a:t>
            </a:r>
            <a:r>
              <a:rPr lang="en" u="sng" dirty="0">
                <a:solidFill>
                  <a:srgbClr val="FF0000"/>
                </a:solidFill>
                <a:highlight>
                  <a:srgbClr val="FFFF00"/>
                </a:highlight>
                <a:latin typeface="Courier New"/>
                <a:ea typeface="Courier New"/>
                <a:cs typeface="Courier New"/>
                <a:sym typeface="Courier New"/>
              </a:rPr>
              <a:t>B&lt;T&gt;</a:t>
            </a:r>
            <a:r>
              <a:rPr lang="en" dirty="0">
                <a:solidFill>
                  <a:srgbClr val="FF0000"/>
                </a:solidFill>
                <a:highlight>
                  <a:srgbClr val="FFFF00"/>
                </a:highlight>
                <a:latin typeface="Courier New"/>
                <a:ea typeface="Courier New"/>
                <a:cs typeface="Courier New"/>
                <a:sym typeface="Courier New"/>
              </a:rPr>
              <a:t> {}</a:t>
            </a:r>
            <a:endParaRPr dirty="0">
              <a:solidFill>
                <a:srgbClr val="FF0000"/>
              </a:solidFill>
              <a:highlight>
                <a:srgbClr val="FFFF00"/>
              </a:highlight>
              <a:latin typeface="Courier New"/>
              <a:ea typeface="Courier New"/>
              <a:cs typeface="Courier New"/>
              <a:sym typeface="Courier New"/>
            </a:endParaRPr>
          </a:p>
          <a:p>
            <a:pPr marL="457200" lvl="0" indent="-311150" algn="l" rtl="0">
              <a:lnSpc>
                <a:spcPct val="115000"/>
              </a:lnSpc>
              <a:spcBef>
                <a:spcPts val="1000"/>
              </a:spcBef>
              <a:spcAft>
                <a:spcPts val="0"/>
              </a:spcAft>
              <a:buSzPts val="1300"/>
              <a:buChar char="●"/>
            </a:pPr>
            <a:r>
              <a:rPr lang="en" dirty="0">
                <a:highlight>
                  <a:srgbClr val="FFFF00"/>
                </a:highlight>
              </a:rPr>
              <a:t>When extending/implementing a generic type, one option is to </a:t>
            </a:r>
            <a:r>
              <a:rPr lang="en" dirty="0">
                <a:solidFill>
                  <a:schemeClr val="lt2"/>
                </a:solidFill>
                <a:highlight>
                  <a:srgbClr val="FFFF00"/>
                </a:highlight>
              </a:rPr>
              <a:t>make the new class generic</a:t>
            </a:r>
            <a:r>
              <a:rPr lang="en" dirty="0">
                <a:highlight>
                  <a:srgbClr val="FFFF00"/>
                </a:highlight>
              </a:rPr>
              <a:t> as well by </a:t>
            </a:r>
            <a:r>
              <a:rPr lang="en" b="1" i="1" dirty="0">
                <a:solidFill>
                  <a:srgbClr val="FF0000"/>
                </a:solidFill>
                <a:highlight>
                  <a:srgbClr val="FFFF00"/>
                </a:highlight>
              </a:rPr>
              <a:t>declaring a type parameter</a:t>
            </a:r>
            <a:r>
              <a:rPr lang="en" dirty="0">
                <a:solidFill>
                  <a:srgbClr val="FF0000"/>
                </a:solidFill>
                <a:highlight>
                  <a:srgbClr val="FFFF00"/>
                </a:highlight>
              </a:rPr>
              <a:t> </a:t>
            </a:r>
            <a:r>
              <a:rPr lang="en" dirty="0"/>
              <a:t>and using the same type parameter with the superclass or interface, e.g.</a:t>
            </a:r>
            <a:endParaRPr dirty="0"/>
          </a:p>
          <a:p>
            <a:pPr marL="914400" lvl="1" indent="-298450" algn="l" rtl="0">
              <a:lnSpc>
                <a:spcPct val="115000"/>
              </a:lnSpc>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public class A&lt;T&gt; extends B&lt;T&gt; </a:t>
            </a:r>
            <a:r>
              <a:rPr lang="en" dirty="0">
                <a:solidFill>
                  <a:srgbClr val="FF0000"/>
                </a:solidFill>
                <a:latin typeface="Courier New"/>
                <a:ea typeface="Courier New"/>
                <a:cs typeface="Courier New"/>
                <a:sym typeface="Courier New"/>
              </a:rPr>
              <a:t>{}</a:t>
            </a:r>
            <a:endParaRPr dirty="0">
              <a:solidFill>
                <a:srgbClr val="FF0000"/>
              </a:solidFill>
              <a:latin typeface="Courier New"/>
              <a:ea typeface="Courier New"/>
              <a:cs typeface="Courier New"/>
              <a:sym typeface="Courier New"/>
            </a:endParaRPr>
          </a:p>
          <a:p>
            <a:pPr marL="457200" lvl="0" indent="-311150" algn="l" rtl="0">
              <a:lnSpc>
                <a:spcPct val="115000"/>
              </a:lnSpc>
              <a:spcBef>
                <a:spcPts val="1000"/>
              </a:spcBef>
              <a:spcAft>
                <a:spcPts val="0"/>
              </a:spcAft>
              <a:buSzPts val="1300"/>
              <a:buChar char="●"/>
            </a:pPr>
            <a:r>
              <a:rPr lang="en" dirty="0"/>
              <a:t>A second option is to make the new class work </a:t>
            </a:r>
            <a:r>
              <a:rPr lang="en" b="1" i="1" dirty="0">
                <a:solidFill>
                  <a:srgbClr val="FF0000"/>
                </a:solidFill>
              </a:rPr>
              <a:t>only </a:t>
            </a:r>
            <a:r>
              <a:rPr lang="en" b="1" i="1" dirty="0">
                <a:solidFill>
                  <a:srgbClr val="FF0000"/>
                </a:solidFill>
                <a:highlight>
                  <a:srgbClr val="FFFF00"/>
                </a:highlight>
              </a:rPr>
              <a:t>with a specific real type</a:t>
            </a:r>
            <a:r>
              <a:rPr lang="en" dirty="0">
                <a:highlight>
                  <a:srgbClr val="FFFF00"/>
                </a:highlight>
              </a:rPr>
              <a:t> </a:t>
            </a:r>
            <a:r>
              <a:rPr lang="en" dirty="0"/>
              <a:t>by specifying that type with the superclass or interface, e.g.</a:t>
            </a:r>
            <a:endParaRPr dirty="0"/>
          </a:p>
          <a:p>
            <a:pPr marL="914400" lvl="1" indent="-298450" algn="l" rtl="0">
              <a:lnSpc>
                <a:spcPct val="115000"/>
              </a:lnSpc>
              <a:spcBef>
                <a:spcPts val="0"/>
              </a:spcBef>
              <a:spcAft>
                <a:spcPts val="0"/>
              </a:spcAft>
              <a:buSzPts val="1100"/>
              <a:buChar char="○"/>
            </a:pPr>
            <a:r>
              <a:rPr lang="en" dirty="0">
                <a:solidFill>
                  <a:srgbClr val="FF0000"/>
                </a:solidFill>
                <a:latin typeface="Courier New"/>
                <a:ea typeface="Courier New"/>
                <a:cs typeface="Courier New"/>
                <a:sym typeface="Courier New"/>
              </a:rPr>
              <a:t>public class A extends B&lt;String&gt; {}</a:t>
            </a:r>
            <a:endParaRPr dirty="0">
              <a:solidFill>
                <a:srgbClr val="FF0000"/>
              </a:solidFill>
              <a:latin typeface="Courier New"/>
              <a:ea typeface="Courier New"/>
              <a:cs typeface="Courier New"/>
              <a:sym typeface="Courier New"/>
            </a:endParaRPr>
          </a:p>
          <a:p>
            <a:pPr marL="457200" lvl="0" indent="-311150" algn="l" rtl="0">
              <a:lnSpc>
                <a:spcPct val="115000"/>
              </a:lnSpc>
              <a:spcBef>
                <a:spcPts val="1000"/>
              </a:spcBef>
              <a:spcAft>
                <a:spcPts val="0"/>
              </a:spcAft>
              <a:buSzPts val="1300"/>
              <a:buChar char="●"/>
            </a:pPr>
            <a:r>
              <a:rPr lang="en" dirty="0"/>
              <a:t>While the second option is </a:t>
            </a:r>
            <a:r>
              <a:rPr lang="en" b="1" i="1" dirty="0">
                <a:solidFill>
                  <a:srgbClr val="FF0000"/>
                </a:solidFill>
              </a:rPr>
              <a:t>easier</a:t>
            </a:r>
            <a:r>
              <a:rPr lang="en" dirty="0"/>
              <a:t>, you will lose the flexibility that generics provide in the subclass.</a:t>
            </a:r>
            <a:endParaRPr dirty="0"/>
          </a:p>
          <a:p>
            <a:pPr marL="914400" lvl="1" indent="-298450" algn="l" rtl="0">
              <a:lnSpc>
                <a:spcPct val="115000"/>
              </a:lnSpc>
              <a:spcBef>
                <a:spcPts val="0"/>
              </a:spcBef>
              <a:spcAft>
                <a:spcPts val="0"/>
              </a:spcAft>
              <a:buSzPts val="1100"/>
              <a:buChar char="○"/>
            </a:pPr>
            <a:r>
              <a:rPr lang="en" dirty="0">
                <a:highlight>
                  <a:srgbClr val="FFFF00"/>
                </a:highlight>
              </a:rPr>
              <a:t>In this example, class </a:t>
            </a:r>
            <a:r>
              <a:rPr lang="en" dirty="0">
                <a:highlight>
                  <a:srgbClr val="FFFF00"/>
                </a:highlight>
                <a:latin typeface="Courier New"/>
                <a:ea typeface="Courier New"/>
                <a:cs typeface="Courier New"/>
                <a:sym typeface="Courier New"/>
              </a:rPr>
              <a:t>A</a:t>
            </a:r>
            <a:r>
              <a:rPr lang="en" dirty="0">
                <a:highlight>
                  <a:srgbClr val="FFFF00"/>
                </a:highlight>
              </a:rPr>
              <a:t> will </a:t>
            </a:r>
            <a:r>
              <a:rPr lang="en" b="1" i="1" dirty="0">
                <a:solidFill>
                  <a:srgbClr val="FF0000"/>
                </a:solidFill>
                <a:highlight>
                  <a:srgbClr val="FFFF00"/>
                </a:highlight>
              </a:rPr>
              <a:t>not</a:t>
            </a:r>
            <a:r>
              <a:rPr lang="en" dirty="0">
                <a:solidFill>
                  <a:srgbClr val="FF0000"/>
                </a:solidFill>
                <a:highlight>
                  <a:srgbClr val="FFFF00"/>
                </a:highlight>
              </a:rPr>
              <a:t> </a:t>
            </a:r>
            <a:r>
              <a:rPr lang="en" dirty="0">
                <a:highlight>
                  <a:srgbClr val="FFFF00"/>
                </a:highlight>
              </a:rPr>
              <a:t>be generic; it will </a:t>
            </a:r>
            <a:r>
              <a:rPr lang="en" b="1" i="1" dirty="0">
                <a:solidFill>
                  <a:srgbClr val="FF0000"/>
                </a:solidFill>
                <a:highlight>
                  <a:srgbClr val="FFFF00"/>
                </a:highlight>
              </a:rPr>
              <a:t>only work with strings</a:t>
            </a:r>
            <a:r>
              <a:rPr lang="en" b="1" i="1" dirty="0">
                <a:highlight>
                  <a:srgbClr val="FFFF00"/>
                </a:highlight>
              </a:rPr>
              <a:t>.</a:t>
            </a:r>
            <a:endParaRPr b="1" i="1" dirty="0">
              <a:highlight>
                <a:srgbClr val="FFFF00"/>
              </a:highlight>
            </a:endParaRPr>
          </a:p>
        </p:txBody>
      </p:sp>
      <p:sp>
        <p:nvSpPr>
          <p:cNvPr id="908" name="Google Shape;908;p9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33</a:t>
            </a:fld>
            <a:endParaRPr/>
          </a:p>
        </p:txBody>
      </p:sp>
      <p:sp>
        <p:nvSpPr>
          <p:cNvPr id="909" name="Google Shape;909;p90"/>
          <p:cNvSpPr txBox="1">
            <a:spLocks noGrp="1"/>
          </p:cNvSpPr>
          <p:nvPr>
            <p:ph type="body" idx="2"/>
          </p:nvPr>
        </p:nvSpPr>
        <p:spPr>
          <a:xfrm>
            <a:off x="311725" y="1337316"/>
            <a:ext cx="3706500" cy="27384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000" dirty="0">
                <a:solidFill>
                  <a:srgbClr val="38761D"/>
                </a:solidFill>
                <a:latin typeface="Consolas"/>
                <a:ea typeface="Consolas"/>
                <a:cs typeface="Consolas"/>
                <a:sym typeface="Consolas"/>
              </a:rPr>
              <a:t>1</a:t>
            </a:r>
            <a:r>
              <a:rPr lang="en" sz="1000" dirty="0">
                <a:solidFill>
                  <a:srgbClr val="999999"/>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class</a:t>
            </a:r>
            <a:r>
              <a:rPr lang="en" sz="1000" dirty="0">
                <a:solidFill>
                  <a:srgbClr val="000000"/>
                </a:solidFill>
                <a:latin typeface="Consolas"/>
                <a:ea typeface="Consolas"/>
                <a:cs typeface="Consolas"/>
                <a:sym typeface="Consolas"/>
              </a:rPr>
              <a:t> Locker&lt;</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&gt; </a:t>
            </a:r>
            <a:r>
              <a:rPr lang="en" sz="1000" dirty="0">
                <a:solidFill>
                  <a:srgbClr val="0000FF"/>
                </a:solidFill>
                <a:latin typeface="Consolas"/>
                <a:ea typeface="Consolas"/>
                <a:cs typeface="Consolas"/>
                <a:sym typeface="Consolas"/>
              </a:rPr>
              <a:t>extends</a:t>
            </a:r>
            <a:r>
              <a:rPr lang="en" sz="1000" dirty="0">
                <a:solidFill>
                  <a:srgbClr val="000000"/>
                </a:solidFill>
                <a:latin typeface="Consolas"/>
                <a:ea typeface="Consolas"/>
                <a:cs typeface="Consolas"/>
                <a:sym typeface="Consolas"/>
              </a:rPr>
              <a:t> Container&lt;</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&gt;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2</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private</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boolean</a:t>
            </a:r>
            <a:r>
              <a:rPr lang="en" sz="1000" dirty="0">
                <a:solidFill>
                  <a:srgbClr val="000000"/>
                </a:solidFill>
                <a:latin typeface="Consolas"/>
                <a:ea typeface="Consolas"/>
                <a:cs typeface="Consolas"/>
                <a:sym typeface="Consolas"/>
              </a:rPr>
              <a:t> locked;</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3</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4</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Locker(</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 value)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5</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super</a:t>
            </a:r>
            <a:r>
              <a:rPr lang="en" sz="1000" dirty="0">
                <a:solidFill>
                  <a:srgbClr val="000000"/>
                </a:solidFill>
                <a:latin typeface="Consolas"/>
                <a:ea typeface="Consolas"/>
                <a:cs typeface="Consolas"/>
                <a:sym typeface="Consolas"/>
              </a:rPr>
              <a:t>(value);</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6</a:t>
            </a:r>
            <a:r>
              <a:rPr lang="en" sz="1000" dirty="0">
                <a:solidFill>
                  <a:srgbClr val="000000"/>
                </a:solidFill>
                <a:latin typeface="Consolas"/>
                <a:ea typeface="Consolas"/>
                <a:cs typeface="Consolas"/>
                <a:sym typeface="Consolas"/>
              </a:rPr>
              <a:t>         locked = </a:t>
            </a:r>
            <a:r>
              <a:rPr lang="en" sz="1000" dirty="0">
                <a:solidFill>
                  <a:srgbClr val="0000FF"/>
                </a:solidFill>
                <a:latin typeface="Consolas"/>
                <a:ea typeface="Consolas"/>
                <a:cs typeface="Consolas"/>
                <a:sym typeface="Consolas"/>
              </a:rPr>
              <a:t>false</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7</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Clr>
                <a:srgbClr val="000000"/>
              </a:buClr>
              <a:buSzPts val="1300"/>
              <a:buFont typeface="Arial"/>
              <a:buNone/>
            </a:pPr>
            <a:r>
              <a:rPr lang="en" sz="1000" dirty="0">
                <a:solidFill>
                  <a:srgbClr val="38761D"/>
                </a:solidFill>
                <a:latin typeface="Consolas"/>
                <a:ea typeface="Consolas"/>
                <a:cs typeface="Consolas"/>
                <a:sym typeface="Consolas"/>
              </a:rPr>
              <a:t>8</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9</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void</a:t>
            </a:r>
            <a:r>
              <a:rPr lang="en" sz="1000" dirty="0">
                <a:solidFill>
                  <a:srgbClr val="000000"/>
                </a:solidFill>
                <a:latin typeface="Consolas"/>
                <a:ea typeface="Consolas"/>
                <a:cs typeface="Consolas"/>
                <a:sym typeface="Consolas"/>
              </a:rPr>
              <a:t> toggleLock()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10</a:t>
            </a:r>
            <a:r>
              <a:rPr lang="en" sz="1000" dirty="0">
                <a:solidFill>
                  <a:srgbClr val="000000"/>
                </a:solidFill>
                <a:latin typeface="Consolas"/>
                <a:ea typeface="Consolas"/>
                <a:cs typeface="Consolas"/>
                <a:sym typeface="Consolas"/>
              </a:rPr>
              <a:t>        locked = !locked;</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11</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12</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13</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Override</a:t>
            </a:r>
            <a:endParaRPr sz="1000" dirty="0">
              <a:solidFill>
                <a:srgbClr val="0000FF"/>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14</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T</a:t>
            </a:r>
            <a:r>
              <a:rPr lang="en" sz="1000" dirty="0">
                <a:solidFill>
                  <a:srgbClr val="000000"/>
                </a:solidFill>
                <a:latin typeface="Consolas"/>
                <a:ea typeface="Consolas"/>
                <a:cs typeface="Consolas"/>
                <a:sym typeface="Consolas"/>
              </a:rPr>
              <a:t> getValue()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15</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return</a:t>
            </a:r>
            <a:r>
              <a:rPr lang="en" sz="1000" dirty="0">
                <a:solidFill>
                  <a:srgbClr val="000000"/>
                </a:solidFill>
                <a:latin typeface="Consolas"/>
                <a:ea typeface="Consolas"/>
                <a:cs typeface="Consolas"/>
                <a:sym typeface="Consolas"/>
              </a:rPr>
              <a:t> locked </a:t>
            </a:r>
            <a:r>
              <a:rPr lang="en" sz="1000" dirty="0">
                <a:solidFill>
                  <a:srgbClr val="0000FF"/>
                </a:solidFill>
                <a:latin typeface="Consolas"/>
                <a:ea typeface="Consolas"/>
                <a:cs typeface="Consolas"/>
                <a:sym typeface="Consolas"/>
              </a:rPr>
              <a:t>?</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null</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super</a:t>
            </a:r>
            <a:r>
              <a:rPr lang="en" sz="1000" dirty="0">
                <a:solidFill>
                  <a:srgbClr val="000000"/>
                </a:solidFill>
                <a:latin typeface="Consolas"/>
                <a:ea typeface="Consolas"/>
                <a:cs typeface="Consolas"/>
                <a:sym typeface="Consolas"/>
              </a:rPr>
              <a:t>.getValue();</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16</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17  </a:t>
            </a:r>
            <a:r>
              <a:rPr lang="en" sz="1000" dirty="0">
                <a:solidFill>
                  <a:srgbClr val="000000"/>
                </a:solidFill>
                <a:latin typeface="Consolas"/>
                <a:ea typeface="Consolas"/>
                <a:cs typeface="Consolas"/>
                <a:sym typeface="Consolas"/>
              </a:rPr>
              <a:t>}</a:t>
            </a:r>
            <a:endParaRPr sz="1000" dirty="0">
              <a:solidFill>
                <a:srgbClr val="569CD6"/>
              </a:solidFill>
              <a:latin typeface="Consolas"/>
              <a:ea typeface="Consolas"/>
              <a:cs typeface="Consolas"/>
              <a:sym typeface="Consolas"/>
            </a:endParaRPr>
          </a:p>
        </p:txBody>
      </p:sp>
      <p:sp>
        <p:nvSpPr>
          <p:cNvPr id="910" name="Google Shape;910;p90"/>
          <p:cNvSpPr txBox="1">
            <a:spLocks noGrp="1"/>
          </p:cNvSpPr>
          <p:nvPr>
            <p:ph type="body" idx="3"/>
          </p:nvPr>
        </p:nvSpPr>
        <p:spPr>
          <a:xfrm>
            <a:off x="311725" y="681825"/>
            <a:ext cx="3706500" cy="537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A </a:t>
            </a:r>
            <a:r>
              <a:rPr lang="en" sz="1200" b="1" i="1" dirty="0">
                <a:solidFill>
                  <a:srgbClr val="FF0000"/>
                </a:solidFill>
                <a:highlight>
                  <a:srgbClr val="FFFF00"/>
                </a:highlight>
              </a:rPr>
              <a:t>type parameter</a:t>
            </a:r>
            <a:r>
              <a:rPr lang="en" sz="1200" dirty="0">
                <a:solidFill>
                  <a:srgbClr val="FF0000"/>
                </a:solidFill>
                <a:highlight>
                  <a:srgbClr val="FFFF00"/>
                </a:highlight>
              </a:rPr>
              <a:t> </a:t>
            </a:r>
            <a:r>
              <a:rPr lang="en" sz="1200" dirty="0"/>
              <a:t>cannot be used within the body of a class unless it is declared as part of the class.</a:t>
            </a:r>
            <a:endParaRPr sz="1200" dirty="0"/>
          </a:p>
        </p:txBody>
      </p:sp>
      <p:sp>
        <p:nvSpPr>
          <p:cNvPr id="911" name="Google Shape;911;p90"/>
          <p:cNvSpPr txBox="1">
            <a:spLocks noGrp="1"/>
          </p:cNvSpPr>
          <p:nvPr>
            <p:ph type="body" idx="3"/>
          </p:nvPr>
        </p:nvSpPr>
        <p:spPr>
          <a:xfrm>
            <a:off x="311725" y="4193625"/>
            <a:ext cx="37065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The </a:t>
            </a:r>
            <a:r>
              <a:rPr lang="en" sz="1200" b="1" i="1" dirty="0">
                <a:solidFill>
                  <a:srgbClr val="FF0000"/>
                </a:solidFill>
                <a:highlight>
                  <a:srgbClr val="FFFF00"/>
                </a:highlight>
              </a:rPr>
              <a:t>same</a:t>
            </a:r>
            <a:r>
              <a:rPr lang="en" sz="1200" dirty="0">
                <a:solidFill>
                  <a:srgbClr val="FF0000"/>
                </a:solidFill>
                <a:highlight>
                  <a:srgbClr val="FFFF00"/>
                </a:highlight>
              </a:rPr>
              <a:t> </a:t>
            </a:r>
            <a:r>
              <a:rPr lang="en" sz="1200" dirty="0">
                <a:highlight>
                  <a:srgbClr val="FFFF00"/>
                </a:highlight>
              </a:rPr>
              <a:t>type parameter(s) can then be used when </a:t>
            </a:r>
            <a:r>
              <a:rPr lang="en" sz="1200" b="1" i="1" dirty="0">
                <a:solidFill>
                  <a:srgbClr val="FF0000"/>
                </a:solidFill>
                <a:highlight>
                  <a:srgbClr val="FFFF00"/>
                </a:highlight>
              </a:rPr>
              <a:t>extending </a:t>
            </a:r>
            <a:r>
              <a:rPr lang="en" sz="1200" dirty="0">
                <a:highlight>
                  <a:srgbClr val="FFFF00"/>
                </a:highlight>
              </a:rPr>
              <a:t>or </a:t>
            </a:r>
            <a:r>
              <a:rPr lang="en" sz="1200" b="1" i="1" dirty="0">
                <a:solidFill>
                  <a:srgbClr val="FF0000"/>
                </a:solidFill>
                <a:highlight>
                  <a:srgbClr val="FFFF00"/>
                </a:highlight>
              </a:rPr>
              <a:t>implementing</a:t>
            </a:r>
            <a:r>
              <a:rPr lang="en" sz="1200" dirty="0">
                <a:solidFill>
                  <a:srgbClr val="FF0000"/>
                </a:solidFill>
                <a:highlight>
                  <a:srgbClr val="FFFF00"/>
                </a:highlight>
              </a:rPr>
              <a:t> </a:t>
            </a:r>
            <a:r>
              <a:rPr lang="en" sz="1200" dirty="0"/>
              <a:t>another generic type.</a:t>
            </a:r>
            <a:endParaRPr sz="1200" dirty="0"/>
          </a:p>
        </p:txBody>
      </p:sp>
      <p:grpSp>
        <p:nvGrpSpPr>
          <p:cNvPr id="912" name="Google Shape;912;p90"/>
          <p:cNvGrpSpPr/>
          <p:nvPr/>
        </p:nvGrpSpPr>
        <p:grpSpPr>
          <a:xfrm>
            <a:off x="2019735" y="1221576"/>
            <a:ext cx="201600" cy="368400"/>
            <a:chOff x="1069722" y="1221576"/>
            <a:chExt cx="201600" cy="368400"/>
          </a:xfrm>
        </p:grpSpPr>
        <p:sp>
          <p:nvSpPr>
            <p:cNvPr id="913" name="Google Shape;913;p90"/>
            <p:cNvSpPr/>
            <p:nvPr/>
          </p:nvSpPr>
          <p:spPr>
            <a:xfrm>
              <a:off x="1069722" y="1402776"/>
              <a:ext cx="201600" cy="18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914" name="Google Shape;914;p90"/>
            <p:cNvCxnSpPr>
              <a:stCxn id="913" idx="0"/>
            </p:cNvCxnSpPr>
            <p:nvPr/>
          </p:nvCxnSpPr>
          <p:spPr>
            <a:xfrm rot="10800000">
              <a:off x="1170522" y="1221576"/>
              <a:ext cx="0" cy="181200"/>
            </a:xfrm>
            <a:prstGeom prst="straightConnector1">
              <a:avLst/>
            </a:prstGeom>
            <a:noFill/>
            <a:ln w="19050" cap="flat" cmpd="sng">
              <a:solidFill>
                <a:srgbClr val="FF0000"/>
              </a:solidFill>
              <a:prstDash val="solid"/>
              <a:round/>
              <a:headEnd type="none" w="med" len="med"/>
              <a:tailEnd type="none" w="med" len="med"/>
            </a:ln>
          </p:spPr>
        </p:cxnSp>
      </p:grpSp>
      <p:grpSp>
        <p:nvGrpSpPr>
          <p:cNvPr id="915" name="Google Shape;915;p90"/>
          <p:cNvGrpSpPr/>
          <p:nvPr/>
        </p:nvGrpSpPr>
        <p:grpSpPr>
          <a:xfrm>
            <a:off x="3480965" y="1402776"/>
            <a:ext cx="537260" cy="3109899"/>
            <a:chOff x="3480965" y="1402776"/>
            <a:chExt cx="537260" cy="3109899"/>
          </a:xfrm>
        </p:grpSpPr>
        <p:sp>
          <p:nvSpPr>
            <p:cNvPr id="916" name="Google Shape;916;p90"/>
            <p:cNvSpPr/>
            <p:nvPr/>
          </p:nvSpPr>
          <p:spPr>
            <a:xfrm>
              <a:off x="3480965" y="1402776"/>
              <a:ext cx="201600" cy="18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917" name="Google Shape;917;p90"/>
            <p:cNvCxnSpPr>
              <a:stCxn id="911" idx="3"/>
              <a:endCxn id="916" idx="3"/>
            </p:cNvCxnSpPr>
            <p:nvPr/>
          </p:nvCxnSpPr>
          <p:spPr>
            <a:xfrm rot="10800000">
              <a:off x="3682525" y="1496475"/>
              <a:ext cx="335700" cy="3016200"/>
            </a:xfrm>
            <a:prstGeom prst="bentConnector3">
              <a:avLst>
                <a:gd name="adj1" fmla="val -52063"/>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0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0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0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0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0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910"/>
                                        </p:tgtEl>
                                        <p:attrNameLst>
                                          <p:attrName>style.visibility</p:attrName>
                                        </p:attrNameLst>
                                      </p:cBhvr>
                                      <p:to>
                                        <p:strVal val="visible"/>
                                      </p:to>
                                    </p:set>
                                    <p:animEffect transition="in" filter="fade">
                                      <p:cBhvr>
                                        <p:cTn id="51" dur="1000"/>
                                        <p:tgtEl>
                                          <p:spTgt spid="910"/>
                                        </p:tgtEl>
                                      </p:cBhvr>
                                    </p:animEffect>
                                  </p:childTnLst>
                                </p:cTn>
                              </p:par>
                              <p:par>
                                <p:cTn id="52" presetID="10" presetClass="entr" presetSubtype="0" fill="hold" nodeType="withEffect">
                                  <p:stCondLst>
                                    <p:cond delay="0"/>
                                  </p:stCondLst>
                                  <p:childTnLst>
                                    <p:set>
                                      <p:cBhvr>
                                        <p:cTn id="53" dur="1" fill="hold">
                                          <p:stCondLst>
                                            <p:cond delay="0"/>
                                          </p:stCondLst>
                                        </p:cTn>
                                        <p:tgtEl>
                                          <p:spTgt spid="909"/>
                                        </p:tgtEl>
                                        <p:attrNameLst>
                                          <p:attrName>style.visibility</p:attrName>
                                        </p:attrNameLst>
                                      </p:cBhvr>
                                      <p:to>
                                        <p:strVal val="visible"/>
                                      </p:to>
                                    </p:set>
                                    <p:animEffect transition="in" filter="fade">
                                      <p:cBhvr>
                                        <p:cTn id="54" dur="1000"/>
                                        <p:tgtEl>
                                          <p:spTgt spid="909"/>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912"/>
                                        </p:tgtEl>
                                        <p:attrNameLst>
                                          <p:attrName>style.visibility</p:attrName>
                                        </p:attrNameLst>
                                      </p:cBhvr>
                                      <p:to>
                                        <p:strVal val="visible"/>
                                      </p:to>
                                    </p:set>
                                    <p:animEffect transition="in" filter="fade">
                                      <p:cBhvr>
                                        <p:cTn id="58" dur="1000"/>
                                        <p:tgtEl>
                                          <p:spTgt spid="9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911"/>
                                        </p:tgtEl>
                                        <p:attrNameLst>
                                          <p:attrName>style.visibility</p:attrName>
                                        </p:attrNameLst>
                                      </p:cBhvr>
                                      <p:to>
                                        <p:strVal val="visible"/>
                                      </p:to>
                                    </p:set>
                                    <p:animEffect transition="in" filter="fade">
                                      <p:cBhvr>
                                        <p:cTn id="63" dur="1000"/>
                                        <p:tgtEl>
                                          <p:spTgt spid="911"/>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915"/>
                                        </p:tgtEl>
                                        <p:attrNameLst>
                                          <p:attrName>style.visibility</p:attrName>
                                        </p:attrNameLst>
                                      </p:cBhvr>
                                      <p:to>
                                        <p:strVal val="visible"/>
                                      </p:to>
                                    </p:set>
                                    <p:animEffect transition="in" filter="fade">
                                      <p:cBhvr>
                                        <p:cTn id="67" dur="1000"/>
                                        <p:tgtEl>
                                          <p:spTgt spid="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9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latin typeface="Courier New"/>
                <a:ea typeface="Courier New"/>
                <a:cs typeface="Courier New"/>
                <a:sym typeface="Courier New"/>
              </a:rPr>
              <a:t>Node</a:t>
            </a:r>
            <a:r>
              <a:rPr lang="en"/>
              <a:t> is the fundamental building block of a Node-based queue. Now that it's generic, we can refactor the </a:t>
            </a:r>
            <a:r>
              <a:rPr lang="en">
                <a:latin typeface="Courier New"/>
                <a:ea typeface="Courier New"/>
                <a:cs typeface="Courier New"/>
                <a:sym typeface="Courier New"/>
              </a:rPr>
              <a:t>NodeQueue</a:t>
            </a:r>
            <a:r>
              <a:rPr lang="en"/>
              <a:t> to be generic as well. </a:t>
            </a:r>
            <a:endParaRPr/>
          </a:p>
        </p:txBody>
      </p:sp>
      <p:sp>
        <p:nvSpPr>
          <p:cNvPr id="923" name="Google Shape;923;p9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924" name="Google Shape;924;p91"/>
          <p:cNvSpPr txBox="1">
            <a:spLocks noGrp="1"/>
          </p:cNvSpPr>
          <p:nvPr>
            <p:ph type="body" idx="2"/>
          </p:nvPr>
        </p:nvSpPr>
        <p:spPr>
          <a:xfrm>
            <a:off x="3878225" y="1643075"/>
            <a:ext cx="5047800" cy="28230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NodeQueue</a:t>
            </a:r>
            <a:r>
              <a:rPr lang="en" sz="1500" dirty="0"/>
              <a:t> class and modify it into a</a:t>
            </a:r>
            <a:r>
              <a:rPr lang="en" sz="1500" dirty="0">
                <a:solidFill>
                  <a:srgbClr val="FF0000"/>
                </a:solidFill>
              </a:rPr>
              <a:t> </a:t>
            </a:r>
            <a:r>
              <a:rPr lang="en" sz="1500" b="1" i="1" dirty="0">
                <a:solidFill>
                  <a:srgbClr val="FF0000"/>
                </a:solidFill>
              </a:rPr>
              <a:t>generic type</a:t>
            </a:r>
            <a:r>
              <a:rPr lang="en" sz="1500" dirty="0"/>
              <a:t> that can store any kind of value, not just integers.</a:t>
            </a:r>
            <a:endParaRPr sz="1500" dirty="0"/>
          </a:p>
          <a:p>
            <a:pPr marL="914400" lvl="1" indent="-311150" algn="l" rtl="0">
              <a:spcBef>
                <a:spcPts val="0"/>
              </a:spcBef>
              <a:spcAft>
                <a:spcPts val="0"/>
              </a:spcAft>
              <a:buSzPts val="1300"/>
              <a:buChar char="○"/>
            </a:pPr>
            <a:r>
              <a:rPr lang="en" sz="1300" dirty="0"/>
              <a:t>Add a </a:t>
            </a:r>
            <a:r>
              <a:rPr lang="en" sz="1300" dirty="0">
                <a:solidFill>
                  <a:srgbClr val="FF0000"/>
                </a:solidFill>
              </a:rPr>
              <a:t>type parameter </a:t>
            </a:r>
            <a:r>
              <a:rPr lang="en" sz="1300" dirty="0"/>
              <a:t>to the class declaration.</a:t>
            </a:r>
            <a:endParaRPr sz="1300" dirty="0"/>
          </a:p>
          <a:p>
            <a:pPr marL="914400" lvl="1" indent="-311150" algn="l" rtl="0">
              <a:spcBef>
                <a:spcPts val="0"/>
              </a:spcBef>
              <a:spcAft>
                <a:spcPts val="0"/>
              </a:spcAft>
              <a:buSzPts val="1300"/>
              <a:buChar char="○"/>
            </a:pPr>
            <a:r>
              <a:rPr lang="en" sz="1300" dirty="0"/>
              <a:t>Use the </a:t>
            </a:r>
            <a:r>
              <a:rPr lang="en" sz="1300" b="1" i="1" dirty="0">
                <a:solidFill>
                  <a:srgbClr val="FF0000"/>
                </a:solidFill>
              </a:rPr>
              <a:t>same</a:t>
            </a:r>
            <a:r>
              <a:rPr lang="en" sz="1300" dirty="0"/>
              <a:t> type parameter when implementing the generic </a:t>
            </a:r>
            <a:r>
              <a:rPr lang="en" sz="1300" dirty="0">
                <a:solidFill>
                  <a:srgbClr val="FF0000"/>
                </a:solidFill>
                <a:latin typeface="Courier New"/>
                <a:ea typeface="Courier New"/>
                <a:cs typeface="Courier New"/>
                <a:sym typeface="Courier New"/>
              </a:rPr>
              <a:t>Queue</a:t>
            </a:r>
            <a:r>
              <a:rPr lang="en" sz="1300" dirty="0"/>
              <a:t> interface.</a:t>
            </a:r>
            <a:endParaRPr sz="1300" dirty="0"/>
          </a:p>
          <a:p>
            <a:pPr marL="914400" lvl="1" indent="-311150" algn="l" rtl="0">
              <a:spcBef>
                <a:spcPts val="0"/>
              </a:spcBef>
              <a:spcAft>
                <a:spcPts val="0"/>
              </a:spcAft>
              <a:buSzPts val="1300"/>
              <a:buChar char="○"/>
            </a:pPr>
            <a:r>
              <a:rPr lang="en" sz="1300" dirty="0"/>
              <a:t>Modify all of the </a:t>
            </a:r>
            <a:r>
              <a:rPr lang="en" sz="1300" dirty="0">
                <a:solidFill>
                  <a:srgbClr val="FF0000"/>
                </a:solidFill>
                <a:latin typeface="Courier New"/>
                <a:ea typeface="Courier New"/>
                <a:cs typeface="Courier New"/>
                <a:sym typeface="Courier New"/>
              </a:rPr>
              <a:t>Node</a:t>
            </a:r>
            <a:r>
              <a:rPr lang="en" sz="1300" dirty="0"/>
              <a:t> references to use the </a:t>
            </a:r>
            <a:r>
              <a:rPr lang="en" sz="1300" b="1" i="1" dirty="0">
                <a:solidFill>
                  <a:srgbClr val="FF0000"/>
                </a:solidFill>
              </a:rPr>
              <a:t>same</a:t>
            </a:r>
            <a:r>
              <a:rPr lang="en" sz="1300" dirty="0"/>
              <a:t> type parameter.</a:t>
            </a:r>
            <a:endParaRPr sz="1300" dirty="0"/>
          </a:p>
          <a:p>
            <a:pPr marL="914400" lvl="1" indent="-311150" algn="l" rtl="0">
              <a:spcBef>
                <a:spcPts val="0"/>
              </a:spcBef>
              <a:spcAft>
                <a:spcPts val="0"/>
              </a:spcAft>
              <a:buSzPts val="1300"/>
              <a:buChar char="○"/>
            </a:pPr>
            <a:r>
              <a:rPr lang="en" sz="1300" dirty="0"/>
              <a:t>Replace instances of the </a:t>
            </a:r>
            <a:r>
              <a:rPr lang="en" sz="1300" dirty="0">
                <a:latin typeface="Courier New"/>
                <a:ea typeface="Courier New"/>
                <a:cs typeface="Courier New"/>
                <a:sym typeface="Courier New"/>
              </a:rPr>
              <a:t>String</a:t>
            </a:r>
            <a:r>
              <a:rPr lang="en" sz="1300" dirty="0"/>
              <a:t> type with the type parameter.</a:t>
            </a:r>
            <a:endParaRPr sz="1300" dirty="0"/>
          </a:p>
          <a:p>
            <a:pPr marL="457200" lvl="0" indent="-323850" algn="l" rtl="0">
              <a:spcBef>
                <a:spcPts val="0"/>
              </a:spcBef>
              <a:spcAft>
                <a:spcPts val="0"/>
              </a:spcAft>
              <a:buSzPts val="1500"/>
              <a:buChar char="●"/>
            </a:pPr>
            <a:r>
              <a:rPr lang="en" sz="1500" dirty="0"/>
              <a:t>Use </a:t>
            </a:r>
            <a:r>
              <a:rPr lang="en" sz="1500" dirty="0">
                <a:latin typeface="Courier New"/>
                <a:ea typeface="Courier New"/>
                <a:cs typeface="Courier New"/>
                <a:sym typeface="Courier New"/>
              </a:rPr>
              <a:t>main</a:t>
            </a:r>
            <a:r>
              <a:rPr lang="en" sz="1500" dirty="0"/>
              <a:t> to test your updated </a:t>
            </a:r>
            <a:r>
              <a:rPr lang="en" sz="1500" dirty="0">
                <a:latin typeface="Courier New"/>
                <a:ea typeface="Courier New"/>
                <a:cs typeface="Courier New"/>
                <a:sym typeface="Courier New"/>
              </a:rPr>
              <a:t>NodeQueue</a:t>
            </a:r>
            <a:r>
              <a:rPr lang="en" sz="1500" dirty="0"/>
              <a:t>. </a:t>
            </a:r>
            <a:endParaRPr sz="1500" dirty="0"/>
          </a:p>
        </p:txBody>
      </p:sp>
      <p:sp>
        <p:nvSpPr>
          <p:cNvPr id="925" name="Google Shape;925;p9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Making </a:t>
            </a:r>
            <a:r>
              <a:rPr lang="en">
                <a:latin typeface="Courier New"/>
                <a:ea typeface="Courier New"/>
                <a:cs typeface="Courier New"/>
                <a:sym typeface="Courier New"/>
              </a:rPr>
              <a:t>NodeQueue</a:t>
            </a:r>
            <a:r>
              <a:rPr lang="en"/>
              <a:t> Generic</a:t>
            </a:r>
            <a:endParaRPr/>
          </a:p>
        </p:txBody>
      </p:sp>
      <p:sp>
        <p:nvSpPr>
          <p:cNvPr id="926" name="Google Shape;926;p9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5.14</a:t>
            </a:r>
            <a:endParaRPr/>
          </a:p>
        </p:txBody>
      </p:sp>
      <p:pic>
        <p:nvPicPr>
          <p:cNvPr id="927" name="Google Shape;927;p91"/>
          <p:cNvPicPr preferRelativeResize="0"/>
          <p:nvPr/>
        </p:nvPicPr>
        <p:blipFill>
          <a:blip r:embed="rId3">
            <a:alphaModFix/>
          </a:blip>
          <a:stretch>
            <a:fillRect/>
          </a:stretch>
        </p:blipFill>
        <p:spPr>
          <a:xfrm>
            <a:off x="152400" y="1598325"/>
            <a:ext cx="3680900" cy="31037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92"/>
          <p:cNvSpPr txBox="1">
            <a:spLocks noGrp="1"/>
          </p:cNvSpPr>
          <p:nvPr>
            <p:ph type="title"/>
          </p:nvPr>
        </p:nvSpPr>
        <p:spPr>
          <a:xfrm>
            <a:off x="5188525" y="1199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3000"/>
              <a:t>Autoboxing</a:t>
            </a:r>
            <a:endParaRPr sz="3000"/>
          </a:p>
          <a:p>
            <a:pPr marL="0" lvl="0" indent="0" algn="l" rtl="0">
              <a:lnSpc>
                <a:spcPct val="100000"/>
              </a:lnSpc>
              <a:spcBef>
                <a:spcPts val="0"/>
              </a:spcBef>
              <a:spcAft>
                <a:spcPts val="0"/>
              </a:spcAft>
              <a:buSzPts val="2800"/>
              <a:buNone/>
            </a:pPr>
            <a:r>
              <a:rPr lang="en" sz="1700"/>
              <a:t>(and Unboxing)</a:t>
            </a:r>
            <a:endParaRPr sz="1700"/>
          </a:p>
        </p:txBody>
      </p:sp>
      <p:sp>
        <p:nvSpPr>
          <p:cNvPr id="933" name="Google Shape;933;p92"/>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
              <a:t>35</a:t>
            </a:fld>
            <a:endParaRPr/>
          </a:p>
        </p:txBody>
      </p:sp>
      <p:sp>
        <p:nvSpPr>
          <p:cNvPr id="934" name="Google Shape;934;p92"/>
          <p:cNvSpPr txBox="1">
            <a:spLocks noGrp="1"/>
          </p:cNvSpPr>
          <p:nvPr>
            <p:ph type="body" idx="1"/>
          </p:nvPr>
        </p:nvSpPr>
        <p:spPr>
          <a:xfrm>
            <a:off x="306175" y="-8350"/>
            <a:ext cx="4394100" cy="5161500"/>
          </a:xfrm>
          <a:prstGeom prst="rect">
            <a:avLst/>
          </a:prstGeom>
          <a:noFill/>
          <a:ln>
            <a:noFill/>
          </a:ln>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highlight>
                  <a:srgbClr val="FFFF00"/>
                </a:highlight>
              </a:rPr>
              <a:t>Primitive types </a:t>
            </a:r>
            <a:r>
              <a:rPr lang="en" b="1" i="1" dirty="0">
                <a:solidFill>
                  <a:srgbClr val="FF0000"/>
                </a:solidFill>
                <a:highlight>
                  <a:srgbClr val="FFFF00"/>
                </a:highlight>
              </a:rPr>
              <a:t>cannot</a:t>
            </a:r>
            <a:r>
              <a:rPr lang="en" dirty="0">
                <a:solidFill>
                  <a:srgbClr val="FF0000"/>
                </a:solidFill>
                <a:highlight>
                  <a:srgbClr val="FFFF00"/>
                </a:highlight>
              </a:rPr>
              <a:t> </a:t>
            </a:r>
            <a:r>
              <a:rPr lang="en" dirty="0">
                <a:highlight>
                  <a:srgbClr val="FFFF00"/>
                </a:highlight>
              </a:rPr>
              <a:t>be used as the</a:t>
            </a:r>
            <a:r>
              <a:rPr lang="en" dirty="0">
                <a:solidFill>
                  <a:srgbClr val="FF0000"/>
                </a:solidFill>
                <a:highlight>
                  <a:srgbClr val="FFFF00"/>
                </a:highlight>
              </a:rPr>
              <a:t> </a:t>
            </a:r>
            <a:r>
              <a:rPr lang="en" b="1" i="1" dirty="0">
                <a:solidFill>
                  <a:srgbClr val="FF0000"/>
                </a:solidFill>
                <a:highlight>
                  <a:srgbClr val="FFFF00"/>
                </a:highlight>
              </a:rPr>
              <a:t>real type</a:t>
            </a:r>
            <a:r>
              <a:rPr lang="en" dirty="0">
                <a:highlight>
                  <a:srgbClr val="FFFF00"/>
                </a:highlight>
              </a:rPr>
              <a:t> for a generic </a:t>
            </a:r>
            <a:r>
              <a:rPr lang="en" b="1" i="1" dirty="0">
                <a:solidFill>
                  <a:srgbClr val="FF0000"/>
                </a:solidFill>
                <a:highlight>
                  <a:srgbClr val="FFFF00"/>
                </a:highlight>
              </a:rPr>
              <a:t>type parameter</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Generics </a:t>
            </a:r>
            <a:r>
              <a:rPr lang="en" b="1" i="1" dirty="0">
                <a:solidFill>
                  <a:srgbClr val="FF0000"/>
                </a:solidFill>
              </a:rPr>
              <a:t>only</a:t>
            </a:r>
            <a:r>
              <a:rPr lang="en" dirty="0">
                <a:solidFill>
                  <a:srgbClr val="FF0000"/>
                </a:solidFill>
              </a:rPr>
              <a:t> </a:t>
            </a:r>
            <a:r>
              <a:rPr lang="en" dirty="0"/>
              <a:t>work with </a:t>
            </a:r>
            <a:r>
              <a:rPr lang="en" b="1" i="1" dirty="0">
                <a:solidFill>
                  <a:srgbClr val="FF0000"/>
                </a:solidFill>
              </a:rPr>
              <a:t>reference types</a:t>
            </a:r>
            <a:r>
              <a:rPr lang="en" dirty="0"/>
              <a:t>.</a:t>
            </a:r>
            <a:endParaRPr dirty="0"/>
          </a:p>
          <a:p>
            <a:pPr marL="457200" lvl="0" indent="-311150" algn="l" rtl="0">
              <a:lnSpc>
                <a:spcPct val="100000"/>
              </a:lnSpc>
              <a:spcBef>
                <a:spcPts val="1000"/>
              </a:spcBef>
              <a:spcAft>
                <a:spcPts val="0"/>
              </a:spcAft>
              <a:buSzPts val="1300"/>
              <a:buChar char="●"/>
            </a:pPr>
            <a:r>
              <a:rPr lang="en" dirty="0"/>
              <a:t>So what do you do if you need a data structure that stores integers or booleans?</a:t>
            </a:r>
            <a:endParaRPr dirty="0"/>
          </a:p>
          <a:p>
            <a:pPr marL="457200" lvl="0" indent="-311150" algn="l" rtl="0">
              <a:lnSpc>
                <a:spcPct val="100000"/>
              </a:lnSpc>
              <a:spcBef>
                <a:spcPts val="1000"/>
              </a:spcBef>
              <a:spcAft>
                <a:spcPts val="0"/>
              </a:spcAft>
              <a:buSzPts val="1300"/>
              <a:buChar char="●"/>
            </a:pPr>
            <a:r>
              <a:rPr lang="en" dirty="0"/>
              <a:t>Thankfully, Java provides a set of </a:t>
            </a:r>
            <a:r>
              <a:rPr lang="en" b="1" i="1" dirty="0">
                <a:solidFill>
                  <a:srgbClr val="FF0000"/>
                </a:solidFill>
              </a:rPr>
              <a:t>wrapper classes</a:t>
            </a:r>
            <a:r>
              <a:rPr lang="en" dirty="0"/>
              <a:t>, each of which represents a different one of the eight primitive types.</a:t>
            </a:r>
            <a:endParaRPr dirty="0"/>
          </a:p>
          <a:p>
            <a:pPr marL="914400" lvl="1" indent="-298450" algn="l" rtl="0">
              <a:lnSpc>
                <a:spcPct val="100000"/>
              </a:lnSpc>
              <a:spcBef>
                <a:spcPts val="0"/>
              </a:spcBef>
              <a:spcAft>
                <a:spcPts val="0"/>
              </a:spcAft>
              <a:buSzPts val="1100"/>
              <a:buChar char="○"/>
            </a:pPr>
            <a:r>
              <a:rPr lang="en" dirty="0"/>
              <a:t>In general, the name of the wrapper class is the </a:t>
            </a:r>
            <a:r>
              <a:rPr lang="en" b="1" i="1" dirty="0">
                <a:solidFill>
                  <a:srgbClr val="FF0000"/>
                </a:solidFill>
              </a:rPr>
              <a:t>capitalized</a:t>
            </a:r>
            <a:r>
              <a:rPr lang="en" dirty="0">
                <a:solidFill>
                  <a:srgbClr val="FF0000"/>
                </a:solidFill>
              </a:rPr>
              <a:t>, </a:t>
            </a:r>
            <a:r>
              <a:rPr lang="en" b="1" i="1" dirty="0">
                <a:solidFill>
                  <a:srgbClr val="FF0000"/>
                </a:solidFill>
              </a:rPr>
              <a:t>fully-spelled-out name</a:t>
            </a:r>
            <a:r>
              <a:rPr lang="en" dirty="0"/>
              <a:t> of the primitive, e.g. </a:t>
            </a:r>
            <a:r>
              <a:rPr lang="en" dirty="0">
                <a:solidFill>
                  <a:srgbClr val="FF0000"/>
                </a:solidFill>
                <a:latin typeface="Courier New"/>
                <a:ea typeface="Courier New"/>
                <a:cs typeface="Courier New"/>
                <a:sym typeface="Courier New"/>
              </a:rPr>
              <a:t>Integer</a:t>
            </a:r>
            <a:r>
              <a:rPr lang="en" dirty="0">
                <a:solidFill>
                  <a:srgbClr val="FF0000"/>
                </a:solidFill>
              </a:rPr>
              <a:t> </a:t>
            </a:r>
            <a:r>
              <a:rPr lang="en" dirty="0"/>
              <a:t>instead of </a:t>
            </a:r>
            <a:r>
              <a:rPr lang="en" dirty="0">
                <a:solidFill>
                  <a:srgbClr val="FF0000"/>
                </a:solidFill>
                <a:latin typeface="Courier New"/>
                <a:ea typeface="Courier New"/>
                <a:cs typeface="Courier New"/>
                <a:sym typeface="Courier New"/>
              </a:rPr>
              <a:t>int</a:t>
            </a:r>
            <a:r>
              <a:rPr lang="en" dirty="0">
                <a:solidFill>
                  <a:srgbClr val="FF0000"/>
                </a:solidFill>
              </a:rPr>
              <a:t> </a:t>
            </a:r>
            <a:r>
              <a:rPr lang="en" dirty="0"/>
              <a:t>and </a:t>
            </a:r>
            <a:r>
              <a:rPr lang="en" dirty="0">
                <a:solidFill>
                  <a:srgbClr val="FF0000"/>
                </a:solidFill>
                <a:latin typeface="Courier New"/>
                <a:ea typeface="Courier New"/>
                <a:cs typeface="Courier New"/>
                <a:sym typeface="Courier New"/>
              </a:rPr>
              <a:t>Character</a:t>
            </a:r>
            <a:r>
              <a:rPr lang="en" dirty="0">
                <a:solidFill>
                  <a:srgbClr val="FF0000"/>
                </a:solidFill>
              </a:rPr>
              <a:t> </a:t>
            </a:r>
            <a:r>
              <a:rPr lang="en" dirty="0"/>
              <a:t>instead of </a:t>
            </a:r>
            <a:r>
              <a:rPr lang="en" dirty="0">
                <a:solidFill>
                  <a:srgbClr val="FF0000"/>
                </a:solidFill>
                <a:latin typeface="Courier New"/>
                <a:ea typeface="Courier New"/>
                <a:cs typeface="Courier New"/>
                <a:sym typeface="Courier New"/>
              </a:rPr>
              <a:t>char</a:t>
            </a:r>
            <a:r>
              <a:rPr lang="en" dirty="0"/>
              <a:t>.</a:t>
            </a:r>
            <a:endParaRPr dirty="0"/>
          </a:p>
          <a:p>
            <a:pPr marL="457200" lvl="0" indent="-311150" algn="l" rtl="0">
              <a:lnSpc>
                <a:spcPct val="100000"/>
              </a:lnSpc>
              <a:spcBef>
                <a:spcPts val="1000"/>
              </a:spcBef>
              <a:spcAft>
                <a:spcPts val="0"/>
              </a:spcAft>
              <a:buSzPts val="1300"/>
              <a:buChar char="●"/>
            </a:pPr>
            <a:r>
              <a:rPr lang="en" dirty="0"/>
              <a:t>If a generic is needed to work with a primitive type, the corresponding wrapper class should be used in place of the type parameter, e.g.</a:t>
            </a:r>
            <a:endParaRPr dirty="0"/>
          </a:p>
          <a:p>
            <a:pPr marL="914400" lvl="1" indent="-298450" algn="l" rtl="0">
              <a:lnSpc>
                <a:spcPct val="100000"/>
              </a:lnSpc>
              <a:spcBef>
                <a:spcPts val="0"/>
              </a:spcBef>
              <a:spcAft>
                <a:spcPts val="0"/>
              </a:spcAft>
              <a:buSzPts val="1100"/>
              <a:buFont typeface="Courier New"/>
              <a:buChar char="○"/>
            </a:pPr>
            <a:r>
              <a:rPr lang="en" dirty="0">
                <a:latin typeface="Courier New"/>
                <a:ea typeface="Courier New"/>
                <a:cs typeface="Courier New"/>
                <a:sym typeface="Courier New"/>
              </a:rPr>
              <a:t>Queue&lt;</a:t>
            </a:r>
            <a:r>
              <a:rPr lang="en" u="sng" dirty="0">
                <a:solidFill>
                  <a:srgbClr val="FF0000"/>
                </a:solidFill>
                <a:latin typeface="Courier New"/>
                <a:ea typeface="Courier New"/>
                <a:cs typeface="Courier New"/>
                <a:sym typeface="Courier New"/>
              </a:rPr>
              <a:t>Integer</a:t>
            </a:r>
            <a:r>
              <a:rPr lang="en" dirty="0">
                <a:latin typeface="Courier New"/>
                <a:ea typeface="Courier New"/>
                <a:cs typeface="Courier New"/>
                <a:sym typeface="Courier New"/>
              </a:rPr>
              <a:t>&gt; intQueue;</a:t>
            </a:r>
            <a:endParaRPr dirty="0">
              <a:latin typeface="Courier New"/>
              <a:ea typeface="Courier New"/>
              <a:cs typeface="Courier New"/>
              <a:sym typeface="Courier New"/>
            </a:endParaRPr>
          </a:p>
          <a:p>
            <a:pPr marL="457200" lvl="0" indent="-311150" algn="l" rtl="0">
              <a:lnSpc>
                <a:spcPct val="100000"/>
              </a:lnSpc>
              <a:spcBef>
                <a:spcPts val="1000"/>
              </a:spcBef>
              <a:spcAft>
                <a:spcPts val="0"/>
              </a:spcAft>
              <a:buSzPts val="1300"/>
              <a:buChar char="●"/>
            </a:pPr>
            <a:r>
              <a:rPr lang="en" dirty="0"/>
              <a:t>Once you create an instance of a generic using one of the wrapper classes, you can use the generic with the corresponding primitive type.</a:t>
            </a:r>
            <a:endParaRPr dirty="0"/>
          </a:p>
          <a:p>
            <a:pPr marL="914400" lvl="1" indent="-298450" algn="l" rtl="0">
              <a:lnSpc>
                <a:spcPct val="100000"/>
              </a:lnSpc>
              <a:spcBef>
                <a:spcPts val="0"/>
              </a:spcBef>
              <a:spcAft>
                <a:spcPts val="0"/>
              </a:spcAft>
              <a:buSzPts val="1100"/>
              <a:buChar char="○"/>
            </a:pPr>
            <a:r>
              <a:rPr lang="en" dirty="0"/>
              <a:t>Java will seamlessly and transparently translate from the primitive type to its wrapper class. This is called </a:t>
            </a:r>
            <a:r>
              <a:rPr lang="en" b="1" i="1" dirty="0">
                <a:solidFill>
                  <a:srgbClr val="FF0000"/>
                </a:solidFill>
                <a:highlight>
                  <a:srgbClr val="FFFF00"/>
                </a:highlight>
              </a:rPr>
              <a:t>autoboxing</a:t>
            </a:r>
            <a:r>
              <a:rPr lang="en" dirty="0"/>
              <a:t>.</a:t>
            </a:r>
            <a:endParaRPr dirty="0"/>
          </a:p>
          <a:p>
            <a:pPr marL="914400" lvl="1" indent="-298450" algn="l" rtl="0">
              <a:lnSpc>
                <a:spcPct val="100000"/>
              </a:lnSpc>
              <a:spcBef>
                <a:spcPts val="0"/>
              </a:spcBef>
              <a:spcAft>
                <a:spcPts val="0"/>
              </a:spcAft>
              <a:buSzPts val="1100"/>
              <a:buChar char="○"/>
            </a:pPr>
            <a:r>
              <a:rPr lang="en" dirty="0"/>
              <a:t>Translating back from the wrapper to the primitive is called </a:t>
            </a:r>
            <a:r>
              <a:rPr lang="en" b="1" i="1" dirty="0">
                <a:solidFill>
                  <a:srgbClr val="FF0000"/>
                </a:solidFill>
                <a:highlight>
                  <a:srgbClr val="FFFF00"/>
                </a:highlight>
              </a:rPr>
              <a:t>unboxing</a:t>
            </a:r>
            <a:r>
              <a:rPr lang="en" dirty="0"/>
              <a:t>.</a:t>
            </a:r>
            <a:endParaRPr dirty="0"/>
          </a:p>
        </p:txBody>
      </p:sp>
      <p:sp>
        <p:nvSpPr>
          <p:cNvPr id="935" name="Google Shape;935;p92"/>
          <p:cNvSpPr txBox="1">
            <a:spLocks noGrp="1"/>
          </p:cNvSpPr>
          <p:nvPr>
            <p:ph type="body" idx="2"/>
          </p:nvPr>
        </p:nvSpPr>
        <p:spPr>
          <a:xfrm>
            <a:off x="5188525" y="1479340"/>
            <a:ext cx="3706500" cy="7152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a:t>
            </a:r>
            <a:r>
              <a:rPr lang="en" sz="1000">
                <a:solidFill>
                  <a:srgbClr val="999999"/>
                </a:solidFill>
                <a:latin typeface="Consolas"/>
                <a:ea typeface="Consolas"/>
                <a:cs typeface="Consolas"/>
                <a:sym typeface="Consolas"/>
              </a:rPr>
              <a:t>  </a:t>
            </a:r>
            <a:r>
              <a:rPr lang="en" sz="1000">
                <a:solidFill>
                  <a:srgbClr val="0000FF"/>
                </a:solidFill>
                <a:latin typeface="Consolas"/>
                <a:ea typeface="Consolas"/>
                <a:cs typeface="Consolas"/>
                <a:sym typeface="Consolas"/>
              </a:rPr>
              <a:t>Queue</a:t>
            </a:r>
            <a:r>
              <a:rPr lang="en" sz="1000">
                <a:solidFill>
                  <a:srgbClr val="000000"/>
                </a:solidFill>
                <a:latin typeface="Consolas"/>
                <a:ea typeface="Consolas"/>
                <a:cs typeface="Consolas"/>
                <a:sym typeface="Consolas"/>
              </a:rPr>
              <a:t>&lt;</a:t>
            </a:r>
            <a:r>
              <a:rPr lang="en" sz="1000">
                <a:solidFill>
                  <a:srgbClr val="0000FF"/>
                </a:solidFill>
                <a:latin typeface="Consolas"/>
                <a:ea typeface="Consolas"/>
                <a:cs typeface="Consolas"/>
                <a:sym typeface="Consolas"/>
              </a:rPr>
              <a:t>Integer</a:t>
            </a:r>
            <a:r>
              <a:rPr lang="en" sz="1000">
                <a:solidFill>
                  <a:srgbClr val="000000"/>
                </a:solidFill>
                <a:latin typeface="Consolas"/>
                <a:ea typeface="Consolas"/>
                <a:cs typeface="Consolas"/>
                <a:sym typeface="Consolas"/>
              </a:rPr>
              <a:t>&gt; intQueue = </a:t>
            </a:r>
            <a:r>
              <a:rPr lang="en" sz="1000">
                <a:solidFill>
                  <a:srgbClr val="0000FF"/>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NodeQueue</a:t>
            </a:r>
            <a:r>
              <a:rPr lang="en" sz="1000">
                <a:solidFill>
                  <a:srgbClr val="000000"/>
                </a:solidFill>
                <a:latin typeface="Consolas"/>
                <a:ea typeface="Consolas"/>
                <a:cs typeface="Consolas"/>
                <a:sym typeface="Consolas"/>
              </a:rPr>
              <a:t>&lt;&gt;();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2</a:t>
            </a:r>
            <a:r>
              <a:rPr lang="en" sz="1000">
                <a:solidFill>
                  <a:srgbClr val="999999"/>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3</a:t>
            </a:r>
            <a:r>
              <a:rPr lang="en" sz="1000">
                <a:solidFill>
                  <a:srgbClr val="999999"/>
                </a:solidFill>
                <a:latin typeface="Consolas"/>
                <a:ea typeface="Consolas"/>
                <a:cs typeface="Consolas"/>
                <a:sym typeface="Consolas"/>
              </a:rPr>
              <a:t>  </a:t>
            </a:r>
            <a:r>
              <a:rPr lang="en" sz="1000">
                <a:solidFill>
                  <a:srgbClr val="000000"/>
                </a:solidFill>
                <a:latin typeface="Consolas"/>
                <a:ea typeface="Consolas"/>
                <a:cs typeface="Consolas"/>
                <a:sym typeface="Consolas"/>
              </a:rPr>
              <a:t>intQueue.enqueue(</a:t>
            </a:r>
            <a:r>
              <a:rPr lang="en" sz="1000">
                <a:solidFill>
                  <a:srgbClr val="098658"/>
                </a:solidFill>
                <a:latin typeface="Consolas"/>
                <a:ea typeface="Consolas"/>
                <a:cs typeface="Consolas"/>
                <a:sym typeface="Consolas"/>
              </a:rPr>
              <a:t>123</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4</a:t>
            </a:r>
            <a:r>
              <a:rPr lang="en" sz="1000">
                <a:solidFill>
                  <a:srgbClr val="999999"/>
                </a:solidFill>
                <a:latin typeface="Consolas"/>
                <a:ea typeface="Consolas"/>
                <a:cs typeface="Consolas"/>
                <a:sym typeface="Consolas"/>
              </a:rPr>
              <a:t>  </a:t>
            </a:r>
            <a:r>
              <a:rPr lang="en" sz="1000">
                <a:solidFill>
                  <a:srgbClr val="000000"/>
                </a:solidFill>
                <a:latin typeface="Consolas"/>
                <a:ea typeface="Consolas"/>
                <a:cs typeface="Consolas"/>
                <a:sym typeface="Consolas"/>
              </a:rPr>
              <a:t>intQueue.enqueue(</a:t>
            </a:r>
            <a:r>
              <a:rPr lang="en" sz="1000">
                <a:solidFill>
                  <a:srgbClr val="098658"/>
                </a:solidFill>
                <a:latin typeface="Consolas"/>
                <a:ea typeface="Consolas"/>
                <a:cs typeface="Consolas"/>
                <a:sym typeface="Consolas"/>
              </a:rPr>
              <a:t>456</a:t>
            </a:r>
            <a:r>
              <a:rPr lang="en" sz="1000">
                <a:solidFill>
                  <a:srgbClr val="000000"/>
                </a:solidFill>
                <a:latin typeface="Consolas"/>
                <a:ea typeface="Consolas"/>
                <a:cs typeface="Consolas"/>
                <a:sym typeface="Consolas"/>
              </a:rPr>
              <a:t>);</a:t>
            </a:r>
            <a:endParaRPr sz="1000">
              <a:solidFill>
                <a:srgbClr val="4EC9B0"/>
              </a:solidFill>
              <a:latin typeface="Consolas"/>
              <a:ea typeface="Consolas"/>
              <a:cs typeface="Consolas"/>
              <a:sym typeface="Consolas"/>
            </a:endParaRPr>
          </a:p>
        </p:txBody>
      </p:sp>
      <p:sp>
        <p:nvSpPr>
          <p:cNvPr id="936" name="Google Shape;936;p92"/>
          <p:cNvSpPr txBox="1">
            <a:spLocks noGrp="1"/>
          </p:cNvSpPr>
          <p:nvPr>
            <p:ph type="body" idx="3"/>
          </p:nvPr>
        </p:nvSpPr>
        <p:spPr>
          <a:xfrm>
            <a:off x="5188525" y="2276143"/>
            <a:ext cx="3706500" cy="843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...Java will </a:t>
            </a:r>
            <a:r>
              <a:rPr lang="en" sz="1200" b="1" i="1">
                <a:solidFill>
                  <a:srgbClr val="FF0000"/>
                </a:solidFill>
              </a:rPr>
              <a:t>autobox</a:t>
            </a:r>
            <a:r>
              <a:rPr lang="en" sz="1200">
                <a:solidFill>
                  <a:srgbClr val="FF0000"/>
                </a:solidFill>
              </a:rPr>
              <a:t> </a:t>
            </a:r>
            <a:r>
              <a:rPr lang="en" sz="1200"/>
              <a:t>primitive values of the corresponding type by transparently creating a</a:t>
            </a:r>
            <a:r>
              <a:rPr lang="en" sz="1200">
                <a:solidFill>
                  <a:srgbClr val="FF0000"/>
                </a:solidFill>
              </a:rPr>
              <a:t> </a:t>
            </a:r>
            <a:r>
              <a:rPr lang="en" sz="1200" b="1" i="1">
                <a:solidFill>
                  <a:srgbClr val="FF0000"/>
                </a:solidFill>
              </a:rPr>
              <a:t>new instance</a:t>
            </a:r>
            <a:r>
              <a:rPr lang="en" sz="1200"/>
              <a:t> of the wrapper class with the </a:t>
            </a:r>
            <a:r>
              <a:rPr lang="en" sz="1200" b="1" i="1">
                <a:solidFill>
                  <a:srgbClr val="FF0000"/>
                </a:solidFill>
              </a:rPr>
              <a:t>same value</a:t>
            </a:r>
            <a:r>
              <a:rPr lang="en" sz="1200"/>
              <a:t> to use in place of the primitive.</a:t>
            </a:r>
            <a:endParaRPr sz="1200"/>
          </a:p>
        </p:txBody>
      </p:sp>
      <p:graphicFrame>
        <p:nvGraphicFramePr>
          <p:cNvPr id="937" name="Google Shape;937;p92"/>
          <p:cNvGraphicFramePr/>
          <p:nvPr/>
        </p:nvGraphicFramePr>
        <p:xfrm>
          <a:off x="7748553" y="3185118"/>
          <a:ext cx="1143200" cy="670500"/>
        </p:xfrm>
        <a:graphic>
          <a:graphicData uri="http://schemas.openxmlformats.org/drawingml/2006/table">
            <a:tbl>
              <a:tblPr>
                <a:noFill/>
                <a:tableStyleId>{5D16334A-BD30-4DCF-A821-F696FD12572A}</a:tableStyleId>
              </a:tblPr>
              <a:tblGrid>
                <a:gridCol w="571600">
                  <a:extLst>
                    <a:ext uri="{9D8B030D-6E8A-4147-A177-3AD203B41FA5}">
                      <a16:colId xmlns:a16="http://schemas.microsoft.com/office/drawing/2014/main" val="20000"/>
                    </a:ext>
                  </a:extLst>
                </a:gridCol>
                <a:gridCol w="571600">
                  <a:extLst>
                    <a:ext uri="{9D8B030D-6E8A-4147-A177-3AD203B41FA5}">
                      <a16:colId xmlns:a16="http://schemas.microsoft.com/office/drawing/2014/main" val="20001"/>
                    </a:ext>
                  </a:extLst>
                </a:gridCol>
              </a:tblGrid>
              <a:tr h="0">
                <a:tc gridSpan="2">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Integer</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value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123</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938" name="Google Shape;938;p92"/>
          <p:cNvSpPr txBox="1">
            <a:spLocks noGrp="1"/>
          </p:cNvSpPr>
          <p:nvPr>
            <p:ph type="body" idx="2"/>
          </p:nvPr>
        </p:nvSpPr>
        <p:spPr>
          <a:xfrm>
            <a:off x="5191788" y="3354818"/>
            <a:ext cx="2039400" cy="393600"/>
          </a:xfrm>
          <a:prstGeom prst="rect">
            <a:avLst/>
          </a:prstGeom>
          <a:noFill/>
          <a:ln>
            <a:noFill/>
          </a:ln>
        </p:spPr>
        <p:txBody>
          <a:bodyPr spcFirstLastPara="1" wrap="square" lIns="91425" tIns="91425" rIns="91425" bIns="91425" anchor="ctr" anchorCtr="0">
            <a:noAutofit/>
          </a:bodyPr>
          <a:lstStyle/>
          <a:p>
            <a:pPr marL="0" lvl="0" indent="0" algn="l" rtl="0">
              <a:lnSpc>
                <a:spcPct val="135714"/>
              </a:lnSpc>
              <a:spcBef>
                <a:spcPts val="0"/>
              </a:spcBef>
              <a:spcAft>
                <a:spcPts val="0"/>
              </a:spcAft>
              <a:buSzPts val="1300"/>
              <a:buNone/>
            </a:pPr>
            <a:r>
              <a:rPr lang="en" sz="1250">
                <a:solidFill>
                  <a:srgbClr val="DCDCAA"/>
                </a:solidFill>
                <a:latin typeface="Consolas"/>
                <a:ea typeface="Consolas"/>
                <a:cs typeface="Consolas"/>
                <a:sym typeface="Consolas"/>
              </a:rPr>
              <a:t>Integer.valueOf</a:t>
            </a:r>
            <a:r>
              <a:rPr lang="en" sz="1250">
                <a:solidFill>
                  <a:srgbClr val="D4D4D4"/>
                </a:solidFill>
                <a:latin typeface="Consolas"/>
                <a:ea typeface="Consolas"/>
                <a:cs typeface="Consolas"/>
                <a:sym typeface="Consolas"/>
              </a:rPr>
              <a:t>(</a:t>
            </a:r>
            <a:r>
              <a:rPr lang="en" sz="1250">
                <a:solidFill>
                  <a:srgbClr val="B5CEA8"/>
                </a:solidFill>
                <a:latin typeface="Consolas"/>
                <a:ea typeface="Consolas"/>
                <a:cs typeface="Consolas"/>
                <a:sym typeface="Consolas"/>
              </a:rPr>
              <a:t>123</a:t>
            </a:r>
            <a:r>
              <a:rPr lang="en" sz="1250">
                <a:solidFill>
                  <a:srgbClr val="D4D4D4"/>
                </a:solidFill>
                <a:latin typeface="Consolas"/>
                <a:ea typeface="Consolas"/>
                <a:cs typeface="Consolas"/>
                <a:sym typeface="Consolas"/>
              </a:rPr>
              <a:t>);</a:t>
            </a:r>
            <a:endParaRPr sz="1200"/>
          </a:p>
        </p:txBody>
      </p:sp>
      <p:sp>
        <p:nvSpPr>
          <p:cNvPr id="939" name="Google Shape;939;p92"/>
          <p:cNvSpPr/>
          <p:nvPr/>
        </p:nvSpPr>
        <p:spPr>
          <a:xfrm>
            <a:off x="7189248" y="3434925"/>
            <a:ext cx="445500" cy="250200"/>
          </a:xfrm>
          <a:prstGeom prst="rightArrow">
            <a:avLst>
              <a:gd name="adj1" fmla="val 50000"/>
              <a:gd name="adj2" fmla="val 50000"/>
            </a:avLst>
          </a:prstGeom>
          <a:solidFill>
            <a:srgbClr val="FF0000"/>
          </a:solidFill>
          <a:ln w="2857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0" name="Google Shape;940;p92"/>
          <p:cNvSpPr txBox="1">
            <a:spLocks noGrp="1"/>
          </p:cNvSpPr>
          <p:nvPr>
            <p:ph type="body" idx="3"/>
          </p:nvPr>
        </p:nvSpPr>
        <p:spPr>
          <a:xfrm>
            <a:off x="5188525" y="3921299"/>
            <a:ext cx="3706500" cy="670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The same process also works in reverse; the primitive value is retrieved from inside the wrapper. This is called </a:t>
            </a:r>
            <a:r>
              <a:rPr lang="en" sz="1200" b="1" i="1">
                <a:solidFill>
                  <a:srgbClr val="FF0000"/>
                </a:solidFill>
              </a:rPr>
              <a:t>unboxing</a:t>
            </a:r>
            <a:r>
              <a:rPr lang="en" sz="1200"/>
              <a:t>.</a:t>
            </a:r>
            <a:endParaRPr sz="1200"/>
          </a:p>
        </p:txBody>
      </p:sp>
      <p:sp>
        <p:nvSpPr>
          <p:cNvPr id="941" name="Google Shape;941;p92"/>
          <p:cNvSpPr txBox="1">
            <a:spLocks noGrp="1"/>
          </p:cNvSpPr>
          <p:nvPr>
            <p:ph type="body" idx="2"/>
          </p:nvPr>
        </p:nvSpPr>
        <p:spPr>
          <a:xfrm>
            <a:off x="5188525" y="4691420"/>
            <a:ext cx="3706500" cy="3372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a:t>
            </a:r>
            <a:r>
              <a:rPr lang="en" sz="1000">
                <a:solidFill>
                  <a:srgbClr val="999999"/>
                </a:solidFill>
                <a:latin typeface="Consolas"/>
                <a:ea typeface="Consolas"/>
                <a:cs typeface="Consolas"/>
                <a:sym typeface="Consolas"/>
              </a:rPr>
              <a:t>  </a:t>
            </a:r>
            <a:r>
              <a:rPr lang="en" sz="1000">
                <a:solidFill>
                  <a:srgbClr val="0000FF"/>
                </a:solidFill>
                <a:latin typeface="Consolas"/>
                <a:ea typeface="Consolas"/>
                <a:cs typeface="Consolas"/>
                <a:sym typeface="Consolas"/>
              </a:rPr>
              <a:t>int</a:t>
            </a:r>
            <a:r>
              <a:rPr lang="en" sz="1000">
                <a:solidFill>
                  <a:srgbClr val="000000"/>
                </a:solidFill>
                <a:latin typeface="Consolas"/>
                <a:ea typeface="Consolas"/>
                <a:cs typeface="Consolas"/>
                <a:sym typeface="Consolas"/>
              </a:rPr>
              <a:t> value = intQueue.dequeue();</a:t>
            </a:r>
            <a:endParaRPr sz="1000">
              <a:solidFill>
                <a:srgbClr val="4EC9B0"/>
              </a:solidFill>
              <a:latin typeface="Consolas"/>
              <a:ea typeface="Consolas"/>
              <a:cs typeface="Consolas"/>
              <a:sym typeface="Consolas"/>
            </a:endParaRPr>
          </a:p>
        </p:txBody>
      </p:sp>
      <p:grpSp>
        <p:nvGrpSpPr>
          <p:cNvPr id="942" name="Google Shape;942;p92"/>
          <p:cNvGrpSpPr/>
          <p:nvPr/>
        </p:nvGrpSpPr>
        <p:grpSpPr>
          <a:xfrm>
            <a:off x="5842075" y="1382250"/>
            <a:ext cx="632100" cy="316200"/>
            <a:chOff x="5842075" y="1382250"/>
            <a:chExt cx="632100" cy="316200"/>
          </a:xfrm>
        </p:grpSpPr>
        <p:sp>
          <p:nvSpPr>
            <p:cNvPr id="943" name="Google Shape;943;p92"/>
            <p:cNvSpPr/>
            <p:nvPr/>
          </p:nvSpPr>
          <p:spPr>
            <a:xfrm>
              <a:off x="5842075" y="1523550"/>
              <a:ext cx="632100" cy="174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944" name="Google Shape;944;p92"/>
            <p:cNvCxnSpPr>
              <a:stCxn id="943" idx="0"/>
            </p:cNvCxnSpPr>
            <p:nvPr/>
          </p:nvCxnSpPr>
          <p:spPr>
            <a:xfrm rot="10800000">
              <a:off x="6158125" y="1382250"/>
              <a:ext cx="0" cy="141300"/>
            </a:xfrm>
            <a:prstGeom prst="straightConnector1">
              <a:avLst/>
            </a:prstGeom>
            <a:noFill/>
            <a:ln w="19050" cap="flat" cmpd="sng">
              <a:solidFill>
                <a:srgbClr val="FF0000"/>
              </a:solidFill>
              <a:prstDash val="solid"/>
              <a:round/>
              <a:headEnd type="none" w="med" len="med"/>
              <a:tailEnd type="none" w="med" len="med"/>
            </a:ln>
          </p:spPr>
        </p:cxnSp>
      </p:grpSp>
      <p:sp>
        <p:nvSpPr>
          <p:cNvPr id="945" name="Google Shape;945;p92"/>
          <p:cNvSpPr txBox="1">
            <a:spLocks noGrp="1"/>
          </p:cNvSpPr>
          <p:nvPr>
            <p:ph type="body" idx="3"/>
          </p:nvPr>
        </p:nvSpPr>
        <p:spPr>
          <a:xfrm>
            <a:off x="5188525" y="864490"/>
            <a:ext cx="3706500" cy="534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If one of the Java </a:t>
            </a:r>
            <a:r>
              <a:rPr lang="en" sz="1200" b="1" i="1">
                <a:solidFill>
                  <a:srgbClr val="FF0000"/>
                </a:solidFill>
              </a:rPr>
              <a:t>wrapper classes</a:t>
            </a:r>
            <a:r>
              <a:rPr lang="en" sz="1200"/>
              <a:t> is used to create an instance of a generic type...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3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3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3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45"/>
                                        </p:tgtEl>
                                        <p:attrNameLst>
                                          <p:attrName>style.visibility</p:attrName>
                                        </p:attrNameLst>
                                      </p:cBhvr>
                                      <p:to>
                                        <p:strVal val="visible"/>
                                      </p:to>
                                    </p:set>
                                    <p:animEffect transition="in" filter="fade">
                                      <p:cBhvr>
                                        <p:cTn id="47" dur="1000"/>
                                        <p:tgtEl>
                                          <p:spTgt spid="945"/>
                                        </p:tgtEl>
                                      </p:cBhvr>
                                    </p:animEffect>
                                  </p:childTnLst>
                                </p:cTn>
                              </p:par>
                              <p:par>
                                <p:cTn id="48" presetID="10" presetClass="entr" presetSubtype="0" fill="hold" nodeType="withEffect">
                                  <p:stCondLst>
                                    <p:cond delay="0"/>
                                  </p:stCondLst>
                                  <p:childTnLst>
                                    <p:set>
                                      <p:cBhvr>
                                        <p:cTn id="49" dur="1" fill="hold">
                                          <p:stCondLst>
                                            <p:cond delay="0"/>
                                          </p:stCondLst>
                                        </p:cTn>
                                        <p:tgtEl>
                                          <p:spTgt spid="935"/>
                                        </p:tgtEl>
                                        <p:attrNameLst>
                                          <p:attrName>style.visibility</p:attrName>
                                        </p:attrNameLst>
                                      </p:cBhvr>
                                      <p:to>
                                        <p:strVal val="visible"/>
                                      </p:to>
                                    </p:set>
                                    <p:animEffect transition="in" filter="fade">
                                      <p:cBhvr>
                                        <p:cTn id="50" dur="1000"/>
                                        <p:tgtEl>
                                          <p:spTgt spid="935"/>
                                        </p:tgtEl>
                                      </p:cBhvr>
                                    </p:animEffec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942"/>
                                        </p:tgtEl>
                                        <p:attrNameLst>
                                          <p:attrName>style.visibility</p:attrName>
                                        </p:attrNameLst>
                                      </p:cBhvr>
                                      <p:to>
                                        <p:strVal val="visible"/>
                                      </p:to>
                                    </p:set>
                                    <p:animEffect transition="in" filter="fade">
                                      <p:cBhvr>
                                        <p:cTn id="54" dur="1000"/>
                                        <p:tgtEl>
                                          <p:spTgt spid="942"/>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936"/>
                                        </p:tgtEl>
                                        <p:attrNameLst>
                                          <p:attrName>style.visibility</p:attrName>
                                        </p:attrNameLst>
                                      </p:cBhvr>
                                      <p:to>
                                        <p:strVal val="visible"/>
                                      </p:to>
                                    </p:set>
                                    <p:animEffect transition="in" filter="fade">
                                      <p:cBhvr>
                                        <p:cTn id="59" dur="1000"/>
                                        <p:tgtEl>
                                          <p:spTgt spid="936"/>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938"/>
                                        </p:tgtEl>
                                        <p:attrNameLst>
                                          <p:attrName>style.visibility</p:attrName>
                                        </p:attrNameLst>
                                      </p:cBhvr>
                                      <p:to>
                                        <p:strVal val="visible"/>
                                      </p:to>
                                    </p:set>
                                    <p:animEffect transition="in" filter="fade">
                                      <p:cBhvr>
                                        <p:cTn id="63" dur="1000"/>
                                        <p:tgtEl>
                                          <p:spTgt spid="938"/>
                                        </p:tgtEl>
                                      </p:cBhvr>
                                    </p:animEffect>
                                  </p:childTnLst>
                                </p:cTn>
                              </p:par>
                            </p:childTnLst>
                          </p:cTn>
                        </p:par>
                        <p:par>
                          <p:cTn id="64" fill="hold">
                            <p:stCondLst>
                              <p:cond delay="2000"/>
                            </p:stCondLst>
                            <p:childTnLst>
                              <p:par>
                                <p:cTn id="65" presetID="10" presetClass="entr" presetSubtype="0" fill="hold" nodeType="afterEffect">
                                  <p:stCondLst>
                                    <p:cond delay="0"/>
                                  </p:stCondLst>
                                  <p:childTnLst>
                                    <p:set>
                                      <p:cBhvr>
                                        <p:cTn id="66" dur="1" fill="hold">
                                          <p:stCondLst>
                                            <p:cond delay="0"/>
                                          </p:stCondLst>
                                        </p:cTn>
                                        <p:tgtEl>
                                          <p:spTgt spid="939"/>
                                        </p:tgtEl>
                                        <p:attrNameLst>
                                          <p:attrName>style.visibility</p:attrName>
                                        </p:attrNameLst>
                                      </p:cBhvr>
                                      <p:to>
                                        <p:strVal val="visible"/>
                                      </p:to>
                                    </p:set>
                                    <p:animEffect transition="in" filter="fade">
                                      <p:cBhvr>
                                        <p:cTn id="67" dur="1000"/>
                                        <p:tgtEl>
                                          <p:spTgt spid="939"/>
                                        </p:tgtEl>
                                      </p:cBhvr>
                                    </p:animEffect>
                                  </p:childTnLst>
                                </p:cTn>
                              </p:par>
                            </p:childTnLst>
                          </p:cTn>
                        </p:par>
                        <p:par>
                          <p:cTn id="68" fill="hold">
                            <p:stCondLst>
                              <p:cond delay="3000"/>
                            </p:stCondLst>
                            <p:childTnLst>
                              <p:par>
                                <p:cTn id="69" presetID="10" presetClass="entr" presetSubtype="0" fill="hold" nodeType="afterEffect">
                                  <p:stCondLst>
                                    <p:cond delay="0"/>
                                  </p:stCondLst>
                                  <p:childTnLst>
                                    <p:set>
                                      <p:cBhvr>
                                        <p:cTn id="70" dur="1" fill="hold">
                                          <p:stCondLst>
                                            <p:cond delay="0"/>
                                          </p:stCondLst>
                                        </p:cTn>
                                        <p:tgtEl>
                                          <p:spTgt spid="937"/>
                                        </p:tgtEl>
                                        <p:attrNameLst>
                                          <p:attrName>style.visibility</p:attrName>
                                        </p:attrNameLst>
                                      </p:cBhvr>
                                      <p:to>
                                        <p:strVal val="visible"/>
                                      </p:to>
                                    </p:set>
                                    <p:animEffect transition="in" filter="fade">
                                      <p:cBhvr>
                                        <p:cTn id="71" dur="1000"/>
                                        <p:tgtEl>
                                          <p:spTgt spid="937"/>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940"/>
                                        </p:tgtEl>
                                        <p:attrNameLst>
                                          <p:attrName>style.visibility</p:attrName>
                                        </p:attrNameLst>
                                      </p:cBhvr>
                                      <p:to>
                                        <p:strVal val="visible"/>
                                      </p:to>
                                    </p:set>
                                    <p:animEffect transition="in" filter="fade">
                                      <p:cBhvr>
                                        <p:cTn id="76" dur="1000"/>
                                        <p:tgtEl>
                                          <p:spTgt spid="940"/>
                                        </p:tgtEl>
                                      </p:cBhvr>
                                    </p:animEffect>
                                  </p:childTnLst>
                                </p:cTn>
                              </p:par>
                              <p:par>
                                <p:cTn id="77" presetID="10" presetClass="entr" presetSubtype="0" fill="hold" nodeType="withEffect">
                                  <p:stCondLst>
                                    <p:cond delay="0"/>
                                  </p:stCondLst>
                                  <p:childTnLst>
                                    <p:set>
                                      <p:cBhvr>
                                        <p:cTn id="78" dur="1" fill="hold">
                                          <p:stCondLst>
                                            <p:cond delay="0"/>
                                          </p:stCondLst>
                                        </p:cTn>
                                        <p:tgtEl>
                                          <p:spTgt spid="941"/>
                                        </p:tgtEl>
                                        <p:attrNameLst>
                                          <p:attrName>style.visibility</p:attrName>
                                        </p:attrNameLst>
                                      </p:cBhvr>
                                      <p:to>
                                        <p:strVal val="visible"/>
                                      </p:to>
                                    </p:set>
                                    <p:animEffect transition="in" filter="fade">
                                      <p:cBhvr>
                                        <p:cTn id="79" dur="1000"/>
                                        <p:tgtEl>
                                          <p:spTgt spid="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93"/>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36</a:t>
            </a:fld>
            <a:endParaRPr/>
          </a:p>
        </p:txBody>
      </p:sp>
      <p:sp>
        <p:nvSpPr>
          <p:cNvPr id="951" name="Google Shape;951;p93"/>
          <p:cNvSpPr txBox="1">
            <a:spLocks noGrp="1"/>
          </p:cNvSpPr>
          <p:nvPr>
            <p:ph type="title"/>
          </p:nvPr>
        </p:nvSpPr>
        <p:spPr>
          <a:xfrm>
            <a:off x="311725" y="437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Lists</a:t>
            </a:r>
            <a:endParaRPr/>
          </a:p>
        </p:txBody>
      </p:sp>
      <p:sp>
        <p:nvSpPr>
          <p:cNvPr id="952" name="Google Shape;952;p93"/>
          <p:cNvSpPr txBox="1">
            <a:spLocks noGrp="1"/>
          </p:cNvSpPr>
          <p:nvPr>
            <p:ph type="body" idx="1"/>
          </p:nvPr>
        </p:nvSpPr>
        <p:spPr>
          <a:xfrm>
            <a:off x="4372975" y="55125"/>
            <a:ext cx="4648200" cy="4869000"/>
          </a:xfrm>
          <a:prstGeom prst="rect">
            <a:avLst/>
          </a:prstGeom>
          <a:noFill/>
          <a:ln>
            <a:noFill/>
          </a:ln>
        </p:spPr>
        <p:txBody>
          <a:bodyPr spcFirstLastPara="1" wrap="square" lIns="91425" tIns="91425" rIns="91425" bIns="91425" anchor="ctr" anchorCtr="0">
            <a:spAutoFit/>
          </a:bodyPr>
          <a:lstStyle/>
          <a:p>
            <a:pPr marL="457200" lvl="0" indent="-311150" algn="l" rtl="0">
              <a:lnSpc>
                <a:spcPct val="100000"/>
              </a:lnSpc>
              <a:spcBef>
                <a:spcPts val="0"/>
              </a:spcBef>
              <a:spcAft>
                <a:spcPts val="0"/>
              </a:spcAft>
              <a:buSzPts val="1300"/>
              <a:buChar char="●"/>
            </a:pPr>
            <a:r>
              <a:rPr lang="en" dirty="0"/>
              <a:t>A </a:t>
            </a:r>
            <a:r>
              <a:rPr lang="en" b="1" i="1" dirty="0">
                <a:solidFill>
                  <a:srgbClr val="FF0000"/>
                </a:solidFill>
              </a:rPr>
              <a:t>list</a:t>
            </a:r>
            <a:r>
              <a:rPr lang="en" dirty="0">
                <a:solidFill>
                  <a:srgbClr val="FF0000"/>
                </a:solidFill>
              </a:rPr>
              <a:t> </a:t>
            </a:r>
            <a:r>
              <a:rPr lang="en" dirty="0"/>
              <a:t>is an abstract data type that provides at least the following operations:</a:t>
            </a:r>
            <a:endParaRPr dirty="0"/>
          </a:p>
          <a:p>
            <a:pPr marL="914400" lvl="1" indent="-298450" algn="l" rtl="0">
              <a:lnSpc>
                <a:spcPct val="100000"/>
              </a:lnSpc>
              <a:spcBef>
                <a:spcPts val="0"/>
              </a:spcBef>
              <a:spcAft>
                <a:spcPts val="0"/>
              </a:spcAft>
              <a:buSzPts val="1100"/>
              <a:buChar char="○"/>
            </a:pPr>
            <a:r>
              <a:rPr lang="en" b="1" i="1" dirty="0">
                <a:solidFill>
                  <a:srgbClr val="FF0000"/>
                </a:solidFill>
              </a:rPr>
              <a:t>append</a:t>
            </a:r>
            <a:r>
              <a:rPr lang="en" dirty="0">
                <a:solidFill>
                  <a:srgbClr val="FF0000"/>
                </a:solidFill>
              </a:rPr>
              <a:t> </a:t>
            </a:r>
            <a:r>
              <a:rPr lang="en" dirty="0"/>
              <a:t>- adds a new value to the end of the list.</a:t>
            </a:r>
            <a:endParaRPr dirty="0"/>
          </a:p>
          <a:p>
            <a:pPr marL="914400" lvl="1" indent="-298450" algn="l" rtl="0">
              <a:lnSpc>
                <a:spcPct val="100000"/>
              </a:lnSpc>
              <a:spcBef>
                <a:spcPts val="0"/>
              </a:spcBef>
              <a:spcAft>
                <a:spcPts val="0"/>
              </a:spcAft>
              <a:buSzPts val="1100"/>
              <a:buChar char="○"/>
            </a:pPr>
            <a:r>
              <a:rPr lang="en" b="1" i="1" dirty="0">
                <a:solidFill>
                  <a:srgbClr val="FF0000"/>
                </a:solidFill>
              </a:rPr>
              <a:t>get</a:t>
            </a:r>
            <a:r>
              <a:rPr lang="en" dirty="0">
                <a:solidFill>
                  <a:srgbClr val="FF0000"/>
                </a:solidFill>
              </a:rPr>
              <a:t> </a:t>
            </a:r>
            <a:r>
              <a:rPr lang="en" dirty="0"/>
              <a:t>- returns the value at a specific index in the list.</a:t>
            </a:r>
            <a:endParaRPr dirty="0"/>
          </a:p>
          <a:p>
            <a:pPr marL="914400" lvl="1" indent="-298450" algn="l" rtl="0">
              <a:lnSpc>
                <a:spcPct val="100000"/>
              </a:lnSpc>
              <a:spcBef>
                <a:spcPts val="0"/>
              </a:spcBef>
              <a:spcAft>
                <a:spcPts val="0"/>
              </a:spcAft>
              <a:buSzPts val="1100"/>
              <a:buChar char="○"/>
            </a:pPr>
            <a:r>
              <a:rPr lang="en" b="1" i="1" dirty="0">
                <a:solidFill>
                  <a:srgbClr val="FF0000"/>
                </a:solidFill>
              </a:rPr>
              <a:t>set</a:t>
            </a:r>
            <a:r>
              <a:rPr lang="en" dirty="0">
                <a:solidFill>
                  <a:srgbClr val="FF0000"/>
                </a:solidFill>
              </a:rPr>
              <a:t> </a:t>
            </a:r>
            <a:r>
              <a:rPr lang="en" dirty="0"/>
              <a:t>- changes the value at a specific index in the list.</a:t>
            </a:r>
            <a:endParaRPr dirty="0"/>
          </a:p>
          <a:p>
            <a:pPr marL="914400" lvl="1" indent="-298450" algn="l" rtl="0">
              <a:lnSpc>
                <a:spcPct val="100000"/>
              </a:lnSpc>
              <a:spcBef>
                <a:spcPts val="0"/>
              </a:spcBef>
              <a:spcAft>
                <a:spcPts val="0"/>
              </a:spcAft>
              <a:buSzPts val="1100"/>
              <a:buChar char="○"/>
            </a:pPr>
            <a:r>
              <a:rPr lang="en" b="1" i="1" dirty="0">
                <a:solidFill>
                  <a:srgbClr val="FF0000"/>
                </a:solidFill>
              </a:rPr>
              <a:t>size</a:t>
            </a:r>
            <a:r>
              <a:rPr lang="en" dirty="0">
                <a:solidFill>
                  <a:srgbClr val="FF0000"/>
                </a:solidFill>
              </a:rPr>
              <a:t> </a:t>
            </a:r>
            <a:r>
              <a:rPr lang="en" dirty="0"/>
              <a:t>- returns the number of elements currently in the list.</a:t>
            </a:r>
            <a:endParaRPr dirty="0"/>
          </a:p>
          <a:p>
            <a:pPr marL="457200" lvl="0" indent="-311150" algn="l" rtl="0">
              <a:lnSpc>
                <a:spcPct val="100000"/>
              </a:lnSpc>
              <a:spcBef>
                <a:spcPts val="1000"/>
              </a:spcBef>
              <a:spcAft>
                <a:spcPts val="0"/>
              </a:spcAft>
              <a:buSzPts val="1300"/>
              <a:buChar char="●"/>
            </a:pPr>
            <a:r>
              <a:rPr lang="en" dirty="0"/>
              <a:t>A list </a:t>
            </a:r>
            <a:r>
              <a:rPr lang="en" b="1" i="1" dirty="0">
                <a:solidFill>
                  <a:srgbClr val="FF0000"/>
                </a:solidFill>
              </a:rPr>
              <a:t>may</a:t>
            </a:r>
            <a:r>
              <a:rPr lang="en" dirty="0">
                <a:solidFill>
                  <a:srgbClr val="FF0000"/>
                </a:solidFill>
              </a:rPr>
              <a:t> </a:t>
            </a:r>
            <a:r>
              <a:rPr lang="en" dirty="0"/>
              <a:t>also provide additional operations.</a:t>
            </a:r>
            <a:endParaRPr dirty="0"/>
          </a:p>
          <a:p>
            <a:pPr marL="914400" lvl="1" indent="-298450" algn="l" rtl="0">
              <a:lnSpc>
                <a:spcPct val="100000"/>
              </a:lnSpc>
              <a:spcBef>
                <a:spcPts val="0"/>
              </a:spcBef>
              <a:spcAft>
                <a:spcPts val="0"/>
              </a:spcAft>
              <a:buSzPts val="1100"/>
              <a:buChar char="○"/>
            </a:pPr>
            <a:r>
              <a:rPr lang="en" b="1" i="1" dirty="0">
                <a:solidFill>
                  <a:srgbClr val="FF0000"/>
                </a:solidFill>
              </a:rPr>
              <a:t>insert</a:t>
            </a:r>
            <a:r>
              <a:rPr lang="en" dirty="0">
                <a:solidFill>
                  <a:srgbClr val="FF0000"/>
                </a:solidFill>
              </a:rPr>
              <a:t> </a:t>
            </a:r>
            <a:r>
              <a:rPr lang="en" dirty="0"/>
              <a:t>- inserts a new element at a specific index somewhere in the list. Elements after the specified index are </a:t>
            </a:r>
            <a:r>
              <a:rPr lang="en" b="1" i="1" dirty="0">
                <a:solidFill>
                  <a:srgbClr val="FF0000"/>
                </a:solidFill>
              </a:rPr>
              <a:t>shifted </a:t>
            </a:r>
            <a:r>
              <a:rPr lang="en" dirty="0"/>
              <a:t>to the </a:t>
            </a:r>
            <a:r>
              <a:rPr lang="en" b="1" i="1" dirty="0">
                <a:solidFill>
                  <a:srgbClr val="FF0000"/>
                </a:solidFill>
              </a:rPr>
              <a:t>right</a:t>
            </a:r>
            <a:r>
              <a:rPr lang="en" dirty="0"/>
              <a:t>.</a:t>
            </a:r>
            <a:endParaRPr dirty="0"/>
          </a:p>
          <a:p>
            <a:pPr marL="914400" lvl="1" indent="-298450" algn="l" rtl="0">
              <a:lnSpc>
                <a:spcPct val="100000"/>
              </a:lnSpc>
              <a:spcBef>
                <a:spcPts val="0"/>
              </a:spcBef>
              <a:spcAft>
                <a:spcPts val="0"/>
              </a:spcAft>
              <a:buSzPts val="1100"/>
              <a:buChar char="○"/>
            </a:pPr>
            <a:r>
              <a:rPr lang="en" b="1" i="1" dirty="0">
                <a:solidFill>
                  <a:srgbClr val="FF0000"/>
                </a:solidFill>
              </a:rPr>
              <a:t>remove</a:t>
            </a:r>
            <a:r>
              <a:rPr lang="en" dirty="0">
                <a:solidFill>
                  <a:srgbClr val="FF0000"/>
                </a:solidFill>
              </a:rPr>
              <a:t> </a:t>
            </a:r>
            <a:r>
              <a:rPr lang="en" dirty="0"/>
              <a:t>- removes an element from a specific index somewhere in the list. Elements after the specified index are </a:t>
            </a:r>
            <a:r>
              <a:rPr lang="en" b="1" i="1" dirty="0">
                <a:solidFill>
                  <a:srgbClr val="FF0000"/>
                </a:solidFill>
              </a:rPr>
              <a:t>shifted </a:t>
            </a:r>
            <a:r>
              <a:rPr lang="en" dirty="0"/>
              <a:t>to the </a:t>
            </a:r>
            <a:r>
              <a:rPr lang="en" b="1" i="1" dirty="0">
                <a:solidFill>
                  <a:srgbClr val="FF0000"/>
                </a:solidFill>
              </a:rPr>
              <a:t>left</a:t>
            </a:r>
            <a:r>
              <a:rPr lang="en" dirty="0"/>
              <a:t>.</a:t>
            </a:r>
            <a:endParaRPr dirty="0"/>
          </a:p>
          <a:p>
            <a:pPr marL="457200" lvl="0" indent="-311150" algn="l" rtl="0">
              <a:lnSpc>
                <a:spcPct val="100000"/>
              </a:lnSpc>
              <a:spcBef>
                <a:spcPts val="1000"/>
              </a:spcBef>
              <a:spcAft>
                <a:spcPts val="0"/>
              </a:spcAft>
              <a:buSzPts val="1300"/>
              <a:buChar char="●"/>
            </a:pPr>
            <a:r>
              <a:rPr lang="en" dirty="0"/>
              <a:t>A list maintains elements in the order in which they are added.</a:t>
            </a:r>
            <a:endParaRPr dirty="0"/>
          </a:p>
          <a:p>
            <a:pPr marL="457200" lvl="0" indent="-311150" algn="l" rtl="0">
              <a:lnSpc>
                <a:spcPct val="100000"/>
              </a:lnSpc>
              <a:spcBef>
                <a:spcPts val="1000"/>
              </a:spcBef>
              <a:spcAft>
                <a:spcPts val="0"/>
              </a:spcAft>
              <a:buSzPts val="1300"/>
              <a:buChar char="●"/>
            </a:pPr>
            <a:r>
              <a:rPr lang="en" dirty="0">
                <a:highlight>
                  <a:srgbClr val="FFFF00"/>
                </a:highlight>
              </a:rPr>
              <a:t>A list most closely resembles a </a:t>
            </a:r>
            <a:r>
              <a:rPr lang="en" b="1" i="1" dirty="0">
                <a:solidFill>
                  <a:srgbClr val="FF0000"/>
                </a:solidFill>
                <a:highlight>
                  <a:srgbClr val="FFFF00"/>
                </a:highlight>
              </a:rPr>
              <a:t>dynamically sized array</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 size </a:t>
            </a:r>
            <a:r>
              <a:rPr lang="en" b="1" i="1" dirty="0">
                <a:solidFill>
                  <a:srgbClr val="FF0000"/>
                </a:solidFill>
              </a:rPr>
              <a:t>grows</a:t>
            </a:r>
            <a:r>
              <a:rPr lang="en" dirty="0"/>
              <a:t> as elements are added and </a:t>
            </a:r>
            <a:r>
              <a:rPr lang="en" b="1" i="1" dirty="0">
                <a:solidFill>
                  <a:srgbClr val="FF0000"/>
                </a:solidFill>
              </a:rPr>
              <a:t>shrinks</a:t>
            </a:r>
            <a:r>
              <a:rPr lang="en" dirty="0"/>
              <a:t> as elements are removed.</a:t>
            </a:r>
            <a:endParaRPr dirty="0"/>
          </a:p>
          <a:p>
            <a:pPr marL="914400" lvl="1" indent="-298450" algn="l" rtl="0">
              <a:lnSpc>
                <a:spcPct val="100000"/>
              </a:lnSpc>
              <a:spcBef>
                <a:spcPts val="0"/>
              </a:spcBef>
              <a:spcAft>
                <a:spcPts val="0"/>
              </a:spcAft>
              <a:buSzPts val="1100"/>
              <a:buChar char="○"/>
            </a:pPr>
            <a:r>
              <a:rPr lang="en" dirty="0">
                <a:highlight>
                  <a:srgbClr val="FFFF00"/>
                </a:highlight>
              </a:rPr>
              <a:t>However, Java does not support </a:t>
            </a:r>
            <a:r>
              <a:rPr lang="en" b="1" i="1" dirty="0">
                <a:solidFill>
                  <a:srgbClr val="FF0000"/>
                </a:solidFill>
                <a:highlight>
                  <a:srgbClr val="FFFF00"/>
                </a:highlight>
              </a:rPr>
              <a:t>operator overloading</a:t>
            </a:r>
            <a:r>
              <a:rPr lang="en" dirty="0">
                <a:highlight>
                  <a:srgbClr val="FFFF00"/>
                </a:highlight>
              </a:rPr>
              <a:t>, and so square brackets (</a:t>
            </a:r>
            <a:r>
              <a:rPr lang="en" dirty="0">
                <a:highlight>
                  <a:srgbClr val="FFFF00"/>
                </a:highlight>
                <a:latin typeface="Courier New"/>
                <a:ea typeface="Courier New"/>
                <a:cs typeface="Courier New"/>
                <a:sym typeface="Courier New"/>
              </a:rPr>
              <a:t>[]</a:t>
            </a:r>
            <a:r>
              <a:rPr lang="en" dirty="0">
                <a:highlight>
                  <a:srgbClr val="FFFF00"/>
                </a:highlight>
              </a:rPr>
              <a:t>) cannot be used.</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highlight>
                  <a:srgbClr val="FFFF00"/>
                </a:highlight>
              </a:rPr>
              <a:t>The above description </a:t>
            </a:r>
            <a:r>
              <a:rPr lang="en" b="1" i="1" dirty="0">
                <a:solidFill>
                  <a:srgbClr val="FF0000"/>
                </a:solidFill>
                <a:highlight>
                  <a:srgbClr val="FFFF00"/>
                </a:highlight>
              </a:rPr>
              <a:t>defines</a:t>
            </a:r>
            <a:r>
              <a:rPr lang="en" dirty="0">
                <a:solidFill>
                  <a:srgbClr val="FF0000"/>
                </a:solidFill>
                <a:highlight>
                  <a:srgbClr val="FFFF00"/>
                </a:highlight>
              </a:rPr>
              <a:t> </a:t>
            </a:r>
            <a:r>
              <a:rPr lang="en" dirty="0">
                <a:highlight>
                  <a:srgbClr val="FFFF00"/>
                </a:highlight>
              </a:rPr>
              <a:t>the list abstract data type, but does not include </a:t>
            </a:r>
            <a:r>
              <a:rPr lang="en" b="1" i="1" dirty="0">
                <a:solidFill>
                  <a:srgbClr val="FF0000"/>
                </a:solidFill>
                <a:highlight>
                  <a:srgbClr val="FFFF00"/>
                </a:highlight>
              </a:rPr>
              <a:t>implementation details</a:t>
            </a:r>
            <a:r>
              <a:rPr lang="en" dirty="0">
                <a:highlight>
                  <a:srgbClr val="FFFF00"/>
                </a:highlight>
              </a:rPr>
              <a:t>.</a:t>
            </a:r>
            <a:endParaRPr dirty="0">
              <a:highlight>
                <a:srgbClr val="FFFF00"/>
              </a:highlight>
            </a:endParaRPr>
          </a:p>
        </p:txBody>
      </p:sp>
      <p:sp>
        <p:nvSpPr>
          <p:cNvPr id="953" name="Google Shape;953;p93"/>
          <p:cNvSpPr txBox="1">
            <a:spLocks noGrp="1"/>
          </p:cNvSpPr>
          <p:nvPr>
            <p:ph type="body" idx="3"/>
          </p:nvPr>
        </p:nvSpPr>
        <p:spPr>
          <a:xfrm>
            <a:off x="315425" y="630350"/>
            <a:ext cx="3706500" cy="369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A real-world analog for a list is a </a:t>
            </a:r>
            <a:r>
              <a:rPr lang="en" sz="1200" b="1" i="1">
                <a:solidFill>
                  <a:srgbClr val="FF0000"/>
                </a:solidFill>
              </a:rPr>
              <a:t>to-do list</a:t>
            </a:r>
            <a:r>
              <a:rPr lang="en" sz="1200"/>
              <a:t>.</a:t>
            </a:r>
            <a:endParaRPr sz="1200"/>
          </a:p>
        </p:txBody>
      </p:sp>
      <p:grpSp>
        <p:nvGrpSpPr>
          <p:cNvPr id="954" name="Google Shape;954;p93"/>
          <p:cNvGrpSpPr/>
          <p:nvPr/>
        </p:nvGrpSpPr>
        <p:grpSpPr>
          <a:xfrm>
            <a:off x="285848" y="1125001"/>
            <a:ext cx="1978497" cy="2318075"/>
            <a:chOff x="5225077" y="1125001"/>
            <a:chExt cx="1978497" cy="2318075"/>
          </a:xfrm>
        </p:grpSpPr>
        <p:pic>
          <p:nvPicPr>
            <p:cNvPr id="955" name="Google Shape;955;p93"/>
            <p:cNvPicPr preferRelativeResize="0"/>
            <p:nvPr/>
          </p:nvPicPr>
          <p:blipFill rotWithShape="1">
            <a:blip r:embed="rId3">
              <a:alphaModFix/>
            </a:blip>
            <a:srcRect/>
            <a:stretch/>
          </p:blipFill>
          <p:spPr>
            <a:xfrm rot="-600879">
              <a:off x="5391968" y="1252288"/>
              <a:ext cx="1644715" cy="2063500"/>
            </a:xfrm>
            <a:prstGeom prst="rect">
              <a:avLst/>
            </a:prstGeom>
            <a:noFill/>
            <a:ln>
              <a:noFill/>
            </a:ln>
          </p:spPr>
        </p:pic>
        <p:sp>
          <p:nvSpPr>
            <p:cNvPr id="956" name="Google Shape;956;p93"/>
            <p:cNvSpPr txBox="1"/>
            <p:nvPr/>
          </p:nvSpPr>
          <p:spPr>
            <a:xfrm rot="-600536">
              <a:off x="5528370" y="1921050"/>
              <a:ext cx="1039115" cy="188853"/>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DO HOMEWORK</a:t>
              </a:r>
              <a:endParaRPr sz="1100" b="0" i="0" u="none" strike="noStrike" cap="none">
                <a:solidFill>
                  <a:srgbClr val="4A86E8"/>
                </a:solidFill>
                <a:latin typeface="Shadows Into Light"/>
                <a:ea typeface="Shadows Into Light"/>
                <a:cs typeface="Shadows Into Light"/>
                <a:sym typeface="Shadows Into Light"/>
              </a:endParaRPr>
            </a:p>
          </p:txBody>
        </p:sp>
        <p:sp>
          <p:nvSpPr>
            <p:cNvPr id="957" name="Google Shape;957;p93"/>
            <p:cNvSpPr txBox="1"/>
            <p:nvPr/>
          </p:nvSpPr>
          <p:spPr>
            <a:xfrm rot="-600852">
              <a:off x="5492574" y="1781851"/>
              <a:ext cx="1121385" cy="15018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MAKE TACOS</a:t>
              </a:r>
              <a:endParaRPr sz="1100" b="0" i="0" u="none" strike="noStrike" cap="none">
                <a:solidFill>
                  <a:srgbClr val="4A86E8"/>
                </a:solidFill>
                <a:latin typeface="Shadows Into Light"/>
                <a:ea typeface="Shadows Into Light"/>
                <a:cs typeface="Shadows Into Light"/>
                <a:sym typeface="Shadows Into Light"/>
              </a:endParaRPr>
            </a:p>
          </p:txBody>
        </p:sp>
        <p:sp>
          <p:nvSpPr>
            <p:cNvPr id="958" name="Google Shape;958;p93"/>
            <p:cNvSpPr txBox="1"/>
            <p:nvPr/>
          </p:nvSpPr>
          <p:spPr>
            <a:xfrm rot="-600852">
              <a:off x="5550401" y="2109310"/>
              <a:ext cx="1121385" cy="15018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EAT TACOS</a:t>
              </a:r>
              <a:endParaRPr sz="1100" b="0" i="0" u="none" strike="noStrike" cap="none">
                <a:solidFill>
                  <a:srgbClr val="4A86E8"/>
                </a:solidFill>
                <a:latin typeface="Shadows Into Light"/>
                <a:ea typeface="Shadows Into Light"/>
                <a:cs typeface="Shadows Into Light"/>
                <a:sym typeface="Shadows Into Light"/>
              </a:endParaRPr>
            </a:p>
          </p:txBody>
        </p:sp>
        <p:sp>
          <p:nvSpPr>
            <p:cNvPr id="959" name="Google Shape;959;p93"/>
            <p:cNvSpPr txBox="1"/>
            <p:nvPr/>
          </p:nvSpPr>
          <p:spPr>
            <a:xfrm rot="-600885">
              <a:off x="5577835" y="2255799"/>
              <a:ext cx="1324887" cy="15018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MAKE MORE TACOS</a:t>
              </a:r>
              <a:endParaRPr sz="1100" b="0" i="0" u="none" strike="noStrike" cap="none">
                <a:solidFill>
                  <a:srgbClr val="4A86E8"/>
                </a:solidFill>
                <a:latin typeface="Shadows Into Light"/>
                <a:ea typeface="Shadows Into Light"/>
                <a:cs typeface="Shadows Into Light"/>
                <a:sym typeface="Shadows Into Light"/>
              </a:endParaRPr>
            </a:p>
          </p:txBody>
        </p:sp>
        <p:sp>
          <p:nvSpPr>
            <p:cNvPr id="960" name="Google Shape;960;p93"/>
            <p:cNvSpPr txBox="1"/>
            <p:nvPr/>
          </p:nvSpPr>
          <p:spPr>
            <a:xfrm rot="-600852">
              <a:off x="5608390" y="2437689"/>
              <a:ext cx="1121385" cy="15018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PAY PHONE BILL</a:t>
              </a:r>
              <a:endParaRPr sz="1100" b="0" i="0" u="none" strike="noStrike" cap="none">
                <a:solidFill>
                  <a:srgbClr val="4A86E8"/>
                </a:solidFill>
                <a:latin typeface="Shadows Into Light"/>
                <a:ea typeface="Shadows Into Light"/>
                <a:cs typeface="Shadows Into Light"/>
                <a:sym typeface="Shadows Into Light"/>
              </a:endParaRPr>
            </a:p>
          </p:txBody>
        </p:sp>
        <p:sp>
          <p:nvSpPr>
            <p:cNvPr id="961" name="Google Shape;961;p93"/>
            <p:cNvSpPr txBox="1"/>
            <p:nvPr/>
          </p:nvSpPr>
          <p:spPr>
            <a:xfrm rot="-600852">
              <a:off x="5638055" y="2605674"/>
              <a:ext cx="1121385" cy="15018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CALL MUM</a:t>
              </a:r>
              <a:endParaRPr sz="1100" b="0" i="0" u="none" strike="noStrike" cap="none">
                <a:solidFill>
                  <a:srgbClr val="4A86E8"/>
                </a:solidFill>
                <a:latin typeface="Shadows Into Light"/>
                <a:ea typeface="Shadows Into Light"/>
                <a:cs typeface="Shadows Into Light"/>
                <a:sym typeface="Shadows Into Light"/>
              </a:endParaRPr>
            </a:p>
          </p:txBody>
        </p:sp>
      </p:grpSp>
      <p:sp>
        <p:nvSpPr>
          <p:cNvPr id="962" name="Google Shape;962;p93"/>
          <p:cNvSpPr txBox="1">
            <a:spLocks noGrp="1"/>
          </p:cNvSpPr>
          <p:nvPr>
            <p:ph type="body" idx="3"/>
          </p:nvPr>
        </p:nvSpPr>
        <p:spPr>
          <a:xfrm>
            <a:off x="315425" y="3653625"/>
            <a:ext cx="3706500" cy="476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The size of the list </a:t>
            </a:r>
            <a:r>
              <a:rPr lang="en" sz="1200" b="1" i="1" dirty="0">
                <a:solidFill>
                  <a:srgbClr val="FF0000"/>
                </a:solidFill>
              </a:rPr>
              <a:t>dynamically changes</a:t>
            </a:r>
            <a:r>
              <a:rPr lang="en" sz="1200" dirty="0">
                <a:solidFill>
                  <a:srgbClr val="FF0000"/>
                </a:solidFill>
              </a:rPr>
              <a:t> </a:t>
            </a:r>
            <a:r>
              <a:rPr lang="en" sz="1200" dirty="0"/>
              <a:t>as new tasks are added or old tasks are completed.</a:t>
            </a:r>
            <a:endParaRPr sz="1200" dirty="0"/>
          </a:p>
        </p:txBody>
      </p:sp>
      <p:sp>
        <p:nvSpPr>
          <p:cNvPr id="963" name="Google Shape;963;p93"/>
          <p:cNvSpPr txBox="1">
            <a:spLocks noGrp="1"/>
          </p:cNvSpPr>
          <p:nvPr>
            <p:ph type="body" idx="3"/>
          </p:nvPr>
        </p:nvSpPr>
        <p:spPr>
          <a:xfrm>
            <a:off x="315425" y="4263225"/>
            <a:ext cx="37065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If the first page is filled up, </a:t>
            </a:r>
            <a:r>
              <a:rPr lang="en" sz="1200" b="1" i="1" dirty="0">
                <a:solidFill>
                  <a:srgbClr val="FF0000"/>
                </a:solidFill>
              </a:rPr>
              <a:t>additional space can be allocated</a:t>
            </a:r>
            <a:r>
              <a:rPr lang="en" sz="1200" dirty="0"/>
              <a:t> so that more items can be added to the list.</a:t>
            </a:r>
            <a:endParaRPr sz="1200" dirty="0"/>
          </a:p>
        </p:txBody>
      </p:sp>
      <p:sp>
        <p:nvSpPr>
          <p:cNvPr id="964" name="Google Shape;964;p93"/>
          <p:cNvSpPr txBox="1"/>
          <p:nvPr/>
        </p:nvSpPr>
        <p:spPr>
          <a:xfrm rot="-600526">
            <a:off x="698107" y="2765227"/>
            <a:ext cx="1277340" cy="15018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TAKE OUT GARBAGE</a:t>
            </a:r>
            <a:endParaRPr sz="1100" b="0" i="0" u="none" strike="noStrike" cap="none">
              <a:solidFill>
                <a:srgbClr val="4A86E8"/>
              </a:solidFill>
              <a:latin typeface="Shadows Into Light"/>
              <a:ea typeface="Shadows Into Light"/>
              <a:cs typeface="Shadows Into Light"/>
              <a:sym typeface="Shadows Into Light"/>
            </a:endParaRPr>
          </a:p>
        </p:txBody>
      </p:sp>
      <p:sp>
        <p:nvSpPr>
          <p:cNvPr id="965" name="Google Shape;965;p93"/>
          <p:cNvSpPr txBox="1"/>
          <p:nvPr/>
        </p:nvSpPr>
        <p:spPr>
          <a:xfrm rot="-600526">
            <a:off x="739421" y="2931399"/>
            <a:ext cx="1277340" cy="15018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BATHE</a:t>
            </a:r>
            <a:endParaRPr sz="1100" b="0" i="0" u="none" strike="noStrike" cap="none">
              <a:solidFill>
                <a:srgbClr val="4A86E8"/>
              </a:solidFill>
              <a:latin typeface="Shadows Into Light"/>
              <a:ea typeface="Shadows Into Light"/>
              <a:cs typeface="Shadows Into Light"/>
              <a:sym typeface="Shadows Into Light"/>
            </a:endParaRPr>
          </a:p>
        </p:txBody>
      </p:sp>
      <p:cxnSp>
        <p:nvCxnSpPr>
          <p:cNvPr id="966" name="Google Shape;966;p93"/>
          <p:cNvCxnSpPr/>
          <p:nvPr/>
        </p:nvCxnSpPr>
        <p:spPr>
          <a:xfrm rot="-599699">
            <a:off x="610584" y="2176187"/>
            <a:ext cx="1225499" cy="0"/>
          </a:xfrm>
          <a:prstGeom prst="straightConnector1">
            <a:avLst/>
          </a:prstGeom>
          <a:noFill/>
          <a:ln w="28575" cap="flat" cmpd="sng">
            <a:solidFill>
              <a:srgbClr val="FF0000"/>
            </a:solidFill>
            <a:prstDash val="solid"/>
            <a:round/>
            <a:headEnd type="none" w="sm" len="sm"/>
            <a:tailEnd type="none" w="sm" len="sm"/>
          </a:ln>
        </p:spPr>
      </p:cxnSp>
      <p:cxnSp>
        <p:nvCxnSpPr>
          <p:cNvPr id="967" name="Google Shape;967;p93"/>
          <p:cNvCxnSpPr/>
          <p:nvPr/>
        </p:nvCxnSpPr>
        <p:spPr>
          <a:xfrm rot="-599699">
            <a:off x="569270" y="1850730"/>
            <a:ext cx="1225499" cy="0"/>
          </a:xfrm>
          <a:prstGeom prst="straightConnector1">
            <a:avLst/>
          </a:prstGeom>
          <a:noFill/>
          <a:ln w="28575" cap="flat" cmpd="sng">
            <a:solidFill>
              <a:srgbClr val="FF0000"/>
            </a:solidFill>
            <a:prstDash val="solid"/>
            <a:round/>
            <a:headEnd type="none" w="sm" len="sm"/>
            <a:tailEnd type="none" w="sm" len="sm"/>
          </a:ln>
        </p:spPr>
      </p:cxnSp>
      <p:grpSp>
        <p:nvGrpSpPr>
          <p:cNvPr id="968" name="Google Shape;968;p93"/>
          <p:cNvGrpSpPr/>
          <p:nvPr/>
        </p:nvGrpSpPr>
        <p:grpSpPr>
          <a:xfrm>
            <a:off x="2212133" y="1274069"/>
            <a:ext cx="1783528" cy="2172337"/>
            <a:chOff x="7075162" y="1274069"/>
            <a:chExt cx="1783528" cy="2172337"/>
          </a:xfrm>
        </p:grpSpPr>
        <p:pic>
          <p:nvPicPr>
            <p:cNvPr id="969" name="Google Shape;969;p93"/>
            <p:cNvPicPr preferRelativeResize="0"/>
            <p:nvPr/>
          </p:nvPicPr>
          <p:blipFill rotWithShape="1">
            <a:blip r:embed="rId3">
              <a:alphaModFix/>
            </a:blip>
            <a:srcRect/>
            <a:stretch/>
          </p:blipFill>
          <p:spPr>
            <a:xfrm rot="-238012">
              <a:off x="7144568" y="1328488"/>
              <a:ext cx="1644715" cy="2063500"/>
            </a:xfrm>
            <a:prstGeom prst="rect">
              <a:avLst/>
            </a:prstGeom>
            <a:noFill/>
            <a:ln>
              <a:noFill/>
            </a:ln>
          </p:spPr>
        </p:pic>
        <p:sp>
          <p:nvSpPr>
            <p:cNvPr id="970" name="Google Shape;970;p93"/>
            <p:cNvSpPr txBox="1"/>
            <p:nvPr/>
          </p:nvSpPr>
          <p:spPr>
            <a:xfrm rot="-237209">
              <a:off x="7297391" y="1842601"/>
              <a:ext cx="1353220" cy="150047"/>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GO ROUND MUM'S</a:t>
              </a:r>
              <a:endParaRPr sz="1100" b="0" i="0" u="none" strike="noStrike" cap="none">
                <a:solidFill>
                  <a:srgbClr val="4A86E8"/>
                </a:solidFill>
                <a:latin typeface="Shadows Into Light"/>
                <a:ea typeface="Shadows Into Light"/>
                <a:cs typeface="Shadows Into Light"/>
                <a:sym typeface="Shadows Into Light"/>
              </a:endParaRPr>
            </a:p>
          </p:txBody>
        </p:sp>
        <p:sp>
          <p:nvSpPr>
            <p:cNvPr id="971" name="Google Shape;971;p93"/>
            <p:cNvSpPr txBox="1"/>
            <p:nvPr/>
          </p:nvSpPr>
          <p:spPr>
            <a:xfrm rot="-237544">
              <a:off x="7304515" y="2004431"/>
              <a:ext cx="1277448" cy="15006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GET LIZ BACK</a:t>
              </a:r>
              <a:endParaRPr sz="1100" b="0" i="0" u="none" strike="noStrike" cap="none">
                <a:solidFill>
                  <a:srgbClr val="4A86E8"/>
                </a:solidFill>
                <a:latin typeface="Shadows Into Light"/>
                <a:ea typeface="Shadows Into Light"/>
                <a:cs typeface="Shadows Into Light"/>
                <a:sym typeface="Shadows Into Light"/>
              </a:endParaRPr>
            </a:p>
          </p:txBody>
        </p:sp>
        <p:sp>
          <p:nvSpPr>
            <p:cNvPr id="972" name="Google Shape;972;p93"/>
            <p:cNvSpPr txBox="1"/>
            <p:nvPr/>
          </p:nvSpPr>
          <p:spPr>
            <a:xfrm rot="-237544">
              <a:off x="7311401" y="2170602"/>
              <a:ext cx="1277448" cy="15006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4A86E8"/>
                  </a:solidFill>
                  <a:latin typeface="Shadows Into Light"/>
                  <a:ea typeface="Shadows Into Light"/>
                  <a:cs typeface="Shadows Into Light"/>
                  <a:sym typeface="Shadows Into Light"/>
                </a:rPr>
                <a:t>SORT LIFE OUT</a:t>
              </a:r>
              <a:endParaRPr sz="1100" b="0" i="0" u="none" strike="noStrike" cap="none">
                <a:solidFill>
                  <a:srgbClr val="4A86E8"/>
                </a:solidFill>
                <a:latin typeface="Shadows Into Light"/>
                <a:ea typeface="Shadows Into Light"/>
                <a:cs typeface="Shadows Into Light"/>
                <a:sym typeface="Shadows Into Ligh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5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5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5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5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5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5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5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5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5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52">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953"/>
                                        </p:tgtEl>
                                        <p:attrNameLst>
                                          <p:attrName>style.visibility</p:attrName>
                                        </p:attrNameLst>
                                      </p:cBhvr>
                                      <p:to>
                                        <p:strVal val="visible"/>
                                      </p:to>
                                    </p:set>
                                    <p:animEffect transition="in" filter="fade">
                                      <p:cBhvr>
                                        <p:cTn id="59" dur="1000"/>
                                        <p:tgtEl>
                                          <p:spTgt spid="953"/>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954"/>
                                        </p:tgtEl>
                                        <p:attrNameLst>
                                          <p:attrName>style.visibility</p:attrName>
                                        </p:attrNameLst>
                                      </p:cBhvr>
                                      <p:to>
                                        <p:strVal val="visible"/>
                                      </p:to>
                                    </p:set>
                                    <p:animEffect transition="in" filter="fade">
                                      <p:cBhvr>
                                        <p:cTn id="63" dur="1000"/>
                                        <p:tgtEl>
                                          <p:spTgt spid="95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962"/>
                                        </p:tgtEl>
                                        <p:attrNameLst>
                                          <p:attrName>style.visibility</p:attrName>
                                        </p:attrNameLst>
                                      </p:cBhvr>
                                      <p:to>
                                        <p:strVal val="visible"/>
                                      </p:to>
                                    </p:set>
                                    <p:animEffect transition="in" filter="fade">
                                      <p:cBhvr>
                                        <p:cTn id="68" dur="1000"/>
                                        <p:tgtEl>
                                          <p:spTgt spid="962"/>
                                        </p:tgtEl>
                                      </p:cBhvr>
                                    </p:animEffect>
                                  </p:childTnLst>
                                </p:cTn>
                              </p:par>
                            </p:childTnLst>
                          </p:cTn>
                        </p:par>
                        <p:par>
                          <p:cTn id="69" fill="hold">
                            <p:stCondLst>
                              <p:cond delay="1000"/>
                            </p:stCondLst>
                            <p:childTnLst>
                              <p:par>
                                <p:cTn id="70" presetID="10" presetClass="entr" presetSubtype="0" fill="hold" nodeType="afterEffect">
                                  <p:stCondLst>
                                    <p:cond delay="0"/>
                                  </p:stCondLst>
                                  <p:childTnLst>
                                    <p:set>
                                      <p:cBhvr>
                                        <p:cTn id="71" dur="1" fill="hold">
                                          <p:stCondLst>
                                            <p:cond delay="0"/>
                                          </p:stCondLst>
                                        </p:cTn>
                                        <p:tgtEl>
                                          <p:spTgt spid="966"/>
                                        </p:tgtEl>
                                        <p:attrNameLst>
                                          <p:attrName>style.visibility</p:attrName>
                                        </p:attrNameLst>
                                      </p:cBhvr>
                                      <p:to>
                                        <p:strVal val="visible"/>
                                      </p:to>
                                    </p:set>
                                    <p:animEffect transition="in" filter="fade">
                                      <p:cBhvr>
                                        <p:cTn id="72" dur="1000"/>
                                        <p:tgtEl>
                                          <p:spTgt spid="966"/>
                                        </p:tgtEl>
                                      </p:cBhvr>
                                    </p:animEffect>
                                  </p:childTnLst>
                                </p:cTn>
                              </p:par>
                            </p:childTnLst>
                          </p:cTn>
                        </p:par>
                        <p:par>
                          <p:cTn id="73" fill="hold">
                            <p:stCondLst>
                              <p:cond delay="2000"/>
                            </p:stCondLst>
                            <p:childTnLst>
                              <p:par>
                                <p:cTn id="74" presetID="10" presetClass="entr" presetSubtype="0" fill="hold" nodeType="afterEffect">
                                  <p:stCondLst>
                                    <p:cond delay="0"/>
                                  </p:stCondLst>
                                  <p:childTnLst>
                                    <p:set>
                                      <p:cBhvr>
                                        <p:cTn id="75" dur="1" fill="hold">
                                          <p:stCondLst>
                                            <p:cond delay="0"/>
                                          </p:stCondLst>
                                        </p:cTn>
                                        <p:tgtEl>
                                          <p:spTgt spid="964"/>
                                        </p:tgtEl>
                                        <p:attrNameLst>
                                          <p:attrName>style.visibility</p:attrName>
                                        </p:attrNameLst>
                                      </p:cBhvr>
                                      <p:to>
                                        <p:strVal val="visible"/>
                                      </p:to>
                                    </p:set>
                                    <p:animEffect transition="in" filter="fade">
                                      <p:cBhvr>
                                        <p:cTn id="76" dur="1000"/>
                                        <p:tgtEl>
                                          <p:spTgt spid="964"/>
                                        </p:tgtEl>
                                      </p:cBhvr>
                                    </p:animEffect>
                                  </p:childTnLst>
                                </p:cTn>
                              </p:par>
                            </p:childTnLst>
                          </p:cTn>
                        </p:par>
                        <p:par>
                          <p:cTn id="77" fill="hold">
                            <p:stCondLst>
                              <p:cond delay="3000"/>
                            </p:stCondLst>
                            <p:childTnLst>
                              <p:par>
                                <p:cTn id="78" presetID="10" presetClass="entr" presetSubtype="0" fill="hold" nodeType="afterEffect">
                                  <p:stCondLst>
                                    <p:cond delay="0"/>
                                  </p:stCondLst>
                                  <p:childTnLst>
                                    <p:set>
                                      <p:cBhvr>
                                        <p:cTn id="79" dur="1" fill="hold">
                                          <p:stCondLst>
                                            <p:cond delay="0"/>
                                          </p:stCondLst>
                                        </p:cTn>
                                        <p:tgtEl>
                                          <p:spTgt spid="965"/>
                                        </p:tgtEl>
                                        <p:attrNameLst>
                                          <p:attrName>style.visibility</p:attrName>
                                        </p:attrNameLst>
                                      </p:cBhvr>
                                      <p:to>
                                        <p:strVal val="visible"/>
                                      </p:to>
                                    </p:set>
                                    <p:animEffect transition="in" filter="fade">
                                      <p:cBhvr>
                                        <p:cTn id="80" dur="1000"/>
                                        <p:tgtEl>
                                          <p:spTgt spid="965"/>
                                        </p:tgtEl>
                                      </p:cBhvr>
                                    </p:animEffect>
                                  </p:childTnLst>
                                </p:cTn>
                              </p:par>
                            </p:childTnLst>
                          </p:cTn>
                        </p:par>
                        <p:par>
                          <p:cTn id="81" fill="hold">
                            <p:stCondLst>
                              <p:cond delay="4000"/>
                            </p:stCondLst>
                            <p:childTnLst>
                              <p:par>
                                <p:cTn id="82" presetID="10" presetClass="entr" presetSubtype="0" fill="hold" nodeType="afterEffect">
                                  <p:stCondLst>
                                    <p:cond delay="0"/>
                                  </p:stCondLst>
                                  <p:childTnLst>
                                    <p:set>
                                      <p:cBhvr>
                                        <p:cTn id="83" dur="1" fill="hold">
                                          <p:stCondLst>
                                            <p:cond delay="0"/>
                                          </p:stCondLst>
                                        </p:cTn>
                                        <p:tgtEl>
                                          <p:spTgt spid="967"/>
                                        </p:tgtEl>
                                        <p:attrNameLst>
                                          <p:attrName>style.visibility</p:attrName>
                                        </p:attrNameLst>
                                      </p:cBhvr>
                                      <p:to>
                                        <p:strVal val="visible"/>
                                      </p:to>
                                    </p:set>
                                    <p:animEffect transition="in" filter="fade">
                                      <p:cBhvr>
                                        <p:cTn id="84" dur="1000"/>
                                        <p:tgtEl>
                                          <p:spTgt spid="967"/>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963"/>
                                        </p:tgtEl>
                                        <p:attrNameLst>
                                          <p:attrName>style.visibility</p:attrName>
                                        </p:attrNameLst>
                                      </p:cBhvr>
                                      <p:to>
                                        <p:strVal val="visible"/>
                                      </p:to>
                                    </p:set>
                                    <p:animEffect transition="in" filter="fade">
                                      <p:cBhvr>
                                        <p:cTn id="89" dur="1000"/>
                                        <p:tgtEl>
                                          <p:spTgt spid="963"/>
                                        </p:tgtEl>
                                      </p:cBhvr>
                                    </p:animEffect>
                                  </p:childTnLst>
                                </p:cTn>
                              </p:par>
                            </p:childTnLst>
                          </p:cTn>
                        </p:par>
                        <p:par>
                          <p:cTn id="90" fill="hold">
                            <p:stCondLst>
                              <p:cond delay="1000"/>
                            </p:stCondLst>
                            <p:childTnLst>
                              <p:par>
                                <p:cTn id="91" presetID="10" presetClass="entr" presetSubtype="0" fill="hold" nodeType="afterEffect">
                                  <p:stCondLst>
                                    <p:cond delay="0"/>
                                  </p:stCondLst>
                                  <p:childTnLst>
                                    <p:set>
                                      <p:cBhvr>
                                        <p:cTn id="92" dur="1" fill="hold">
                                          <p:stCondLst>
                                            <p:cond delay="0"/>
                                          </p:stCondLst>
                                        </p:cTn>
                                        <p:tgtEl>
                                          <p:spTgt spid="968"/>
                                        </p:tgtEl>
                                        <p:attrNameLst>
                                          <p:attrName>style.visibility</p:attrName>
                                        </p:attrNameLst>
                                      </p:cBhvr>
                                      <p:to>
                                        <p:strVal val="visible"/>
                                      </p:to>
                                    </p:set>
                                    <p:animEffect transition="in" filter="fade">
                                      <p:cBhvr>
                                        <p:cTn id="93" dur="1000"/>
                                        <p:tgtEl>
                                          <p:spTgt spid="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94"/>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highlight>
                  <a:srgbClr val="FFFF00"/>
                </a:highlight>
              </a:rPr>
              <a:t>The List abstract data type </a:t>
            </a:r>
            <a:r>
              <a:rPr lang="en" b="1" i="1" dirty="0">
                <a:solidFill>
                  <a:srgbClr val="FF0000"/>
                </a:solidFill>
                <a:highlight>
                  <a:srgbClr val="FFFF00"/>
                </a:highlight>
              </a:rPr>
              <a:t>defines</a:t>
            </a:r>
            <a:r>
              <a:rPr lang="en" dirty="0">
                <a:solidFill>
                  <a:srgbClr val="FF0000"/>
                </a:solidFill>
                <a:highlight>
                  <a:srgbClr val="FFFF00"/>
                </a:highlight>
              </a:rPr>
              <a:t> </a:t>
            </a:r>
            <a:r>
              <a:rPr lang="en" dirty="0">
                <a:highlight>
                  <a:srgbClr val="FFFF00"/>
                </a:highlight>
              </a:rPr>
              <a:t>the behavior that all lists must provide, </a:t>
            </a:r>
            <a:r>
              <a:rPr lang="en" dirty="0"/>
              <a:t>but doesn't </a:t>
            </a:r>
            <a:r>
              <a:rPr lang="en" b="1" i="1" dirty="0">
                <a:solidFill>
                  <a:srgbClr val="FF0000"/>
                </a:solidFill>
              </a:rPr>
              <a:t>implement</a:t>
            </a:r>
            <a:r>
              <a:rPr lang="en" dirty="0">
                <a:solidFill>
                  <a:srgbClr val="FF0000"/>
                </a:solidFill>
              </a:rPr>
              <a:t> </a:t>
            </a:r>
            <a:r>
              <a:rPr lang="en" dirty="0"/>
              <a:t>any of that behavior. Once again, a Java interface is the perfect way to represent an ADT. This time, let's make the List work with values of any type by making it generic right from the start.</a:t>
            </a:r>
            <a:endParaRPr dirty="0"/>
          </a:p>
        </p:txBody>
      </p:sp>
      <p:sp>
        <p:nvSpPr>
          <p:cNvPr id="978" name="Google Shape;978;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sp>
        <p:nvSpPr>
          <p:cNvPr id="979" name="Google Shape;979;p94"/>
          <p:cNvSpPr txBox="1">
            <a:spLocks noGrp="1"/>
          </p:cNvSpPr>
          <p:nvPr>
            <p:ph type="body" idx="2"/>
          </p:nvPr>
        </p:nvSpPr>
        <p:spPr>
          <a:xfrm>
            <a:off x="3399050" y="1936925"/>
            <a:ext cx="5542200" cy="21150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Create a new Java interface named "</a:t>
            </a:r>
            <a:r>
              <a:rPr lang="en" sz="1700" dirty="0">
                <a:solidFill>
                  <a:srgbClr val="FF0000"/>
                </a:solidFill>
                <a:latin typeface="Courier New"/>
                <a:ea typeface="Courier New"/>
                <a:cs typeface="Courier New"/>
                <a:sym typeface="Courier New"/>
              </a:rPr>
              <a:t>List</a:t>
            </a:r>
            <a:r>
              <a:rPr lang="en" sz="1700" dirty="0"/>
              <a:t>".</a:t>
            </a:r>
            <a:endParaRPr sz="1700" dirty="0"/>
          </a:p>
          <a:p>
            <a:pPr marL="914400" lvl="1" indent="-323850" algn="l" rtl="0">
              <a:spcBef>
                <a:spcPts val="0"/>
              </a:spcBef>
              <a:spcAft>
                <a:spcPts val="0"/>
              </a:spcAft>
              <a:buSzPts val="1500"/>
              <a:buChar char="○"/>
            </a:pPr>
            <a:r>
              <a:rPr lang="en" sz="1500" dirty="0"/>
              <a:t>Use the UML diagram to the left as a guide when implementing your </a:t>
            </a:r>
            <a:r>
              <a:rPr lang="en" sz="1500" dirty="0">
                <a:latin typeface="Courier New"/>
                <a:ea typeface="Courier New"/>
                <a:cs typeface="Courier New"/>
                <a:sym typeface="Courier New"/>
              </a:rPr>
              <a:t>List</a:t>
            </a:r>
            <a:r>
              <a:rPr lang="en" sz="1500" dirty="0"/>
              <a:t> interface.</a:t>
            </a:r>
            <a:endParaRPr sz="1500" dirty="0"/>
          </a:p>
          <a:p>
            <a:pPr marL="457200" lvl="0" indent="-336550" algn="l" rtl="0">
              <a:spcBef>
                <a:spcPts val="0"/>
              </a:spcBef>
              <a:spcAft>
                <a:spcPts val="0"/>
              </a:spcAft>
              <a:buSzPts val="1700"/>
              <a:buChar char="●"/>
            </a:pPr>
            <a:r>
              <a:rPr lang="en" sz="1700" dirty="0"/>
              <a:t>Now is a good time to make sure that you don't have any </a:t>
            </a:r>
            <a:r>
              <a:rPr lang="en" sz="1700" b="1" i="1" dirty="0">
                <a:solidFill>
                  <a:srgbClr val="FF0000"/>
                </a:solidFill>
              </a:rPr>
              <a:t>problems</a:t>
            </a:r>
            <a:r>
              <a:rPr lang="en" sz="1700" dirty="0">
                <a:solidFill>
                  <a:srgbClr val="FF0000"/>
                </a:solidFill>
              </a:rPr>
              <a:t> </a:t>
            </a:r>
            <a:r>
              <a:rPr lang="en" sz="1700" dirty="0"/>
              <a:t>in your project.</a:t>
            </a:r>
            <a:endParaRPr sz="1700" dirty="0"/>
          </a:p>
          <a:p>
            <a:pPr marL="914400" lvl="1" indent="-323850" algn="l" rtl="0">
              <a:spcBef>
                <a:spcPts val="0"/>
              </a:spcBef>
              <a:spcAft>
                <a:spcPts val="0"/>
              </a:spcAft>
              <a:buSzPts val="1500"/>
              <a:buChar char="○"/>
            </a:pPr>
            <a:r>
              <a:rPr lang="en" sz="1500" dirty="0"/>
              <a:t>If you do have any errors or warnings that you are not sure how to fix, please raise your hand now!</a:t>
            </a:r>
            <a:endParaRPr sz="1500" dirty="0"/>
          </a:p>
        </p:txBody>
      </p:sp>
      <p:sp>
        <p:nvSpPr>
          <p:cNvPr id="980" name="Google Shape;980;p9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The List Abstract Data Type</a:t>
            </a:r>
            <a:endParaRPr/>
          </a:p>
        </p:txBody>
      </p:sp>
      <p:sp>
        <p:nvSpPr>
          <p:cNvPr id="981" name="Google Shape;981;p9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5.15</a:t>
            </a:r>
            <a:endParaRPr/>
          </a:p>
        </p:txBody>
      </p:sp>
      <p:graphicFrame>
        <p:nvGraphicFramePr>
          <p:cNvPr id="982" name="Google Shape;982;p94"/>
          <p:cNvGraphicFramePr/>
          <p:nvPr/>
        </p:nvGraphicFramePr>
        <p:xfrm>
          <a:off x="190500" y="2000250"/>
          <a:ext cx="2943275" cy="2042070"/>
        </p:xfrm>
        <a:graphic>
          <a:graphicData uri="http://schemas.openxmlformats.org/drawingml/2006/table">
            <a:tbl>
              <a:tblPr>
                <a:noFill/>
                <a:tableStyleId>{5D16334A-BD30-4DCF-A821-F696FD12572A}</a:tableStyleId>
              </a:tblPr>
              <a:tblGrid>
                <a:gridCol w="2943275">
                  <a:extLst>
                    <a:ext uri="{9D8B030D-6E8A-4147-A177-3AD203B41FA5}">
                      <a16:colId xmlns:a16="http://schemas.microsoft.com/office/drawing/2014/main" val="20000"/>
                    </a:ext>
                  </a:extLst>
                </a:gridCol>
              </a:tblGrid>
              <a:tr h="548600">
                <a:tc>
                  <a:txBody>
                    <a:bodyPr/>
                    <a:lstStyle/>
                    <a:p>
                      <a:pPr marL="0" marR="0" lvl="0" indent="0" algn="ctr" rtl="0">
                        <a:lnSpc>
                          <a:spcPct val="100000"/>
                        </a:lnSpc>
                        <a:spcBef>
                          <a:spcPts val="0"/>
                        </a:spcBef>
                        <a:spcAft>
                          <a:spcPts val="0"/>
                        </a:spcAft>
                        <a:buClr>
                          <a:srgbClr val="000000"/>
                        </a:buClr>
                        <a:buSzPts val="1000"/>
                        <a:buFont typeface="Arial"/>
                        <a:buNone/>
                      </a:pPr>
                      <a:r>
                        <a:rPr lang="en" i="1" u="none" strike="noStrike" cap="none">
                          <a:latin typeface="Consolas"/>
                          <a:ea typeface="Consolas"/>
                          <a:cs typeface="Consolas"/>
                          <a:sym typeface="Consolas"/>
                        </a:rPr>
                        <a:t>&lt;&lt;interface&gt;&gt;</a:t>
                      </a:r>
                      <a:endParaRPr i="1" u="none" strike="noStrike" cap="none">
                        <a:latin typeface="Consolas"/>
                        <a:ea typeface="Consolas"/>
                        <a:cs typeface="Consolas"/>
                        <a:sym typeface="Consolas"/>
                      </a:endParaRPr>
                    </a:p>
                    <a:p>
                      <a:pPr marL="0" marR="0" lvl="0" indent="0" algn="ctr" rtl="0">
                        <a:lnSpc>
                          <a:spcPct val="100000"/>
                        </a:lnSpc>
                        <a:spcBef>
                          <a:spcPts val="0"/>
                        </a:spcBef>
                        <a:spcAft>
                          <a:spcPts val="0"/>
                        </a:spcAft>
                        <a:buClr>
                          <a:srgbClr val="000000"/>
                        </a:buClr>
                        <a:buSzPts val="1000"/>
                        <a:buFont typeface="Arial"/>
                        <a:buNone/>
                      </a:pPr>
                      <a:r>
                        <a:rPr lang="en" u="none" strike="noStrike" cap="none">
                          <a:latin typeface="Consolas"/>
                          <a:ea typeface="Consolas"/>
                          <a:cs typeface="Consolas"/>
                          <a:sym typeface="Consolas"/>
                        </a:rPr>
                        <a:t>List&lt;E&gt;</a:t>
                      </a:r>
                      <a:endParaRPr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000"/>
                        <a:buFont typeface="Arial"/>
                        <a:buNone/>
                      </a:pPr>
                      <a:endParaRPr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000"/>
                        <a:buFont typeface="Arial"/>
                        <a:buNone/>
                      </a:pPr>
                      <a:r>
                        <a:rPr lang="en" u="none" strike="noStrike" cap="none">
                          <a:latin typeface="Consolas"/>
                          <a:ea typeface="Consolas"/>
                          <a:cs typeface="Consolas"/>
                          <a:sym typeface="Consolas"/>
                        </a:rPr>
                        <a:t>+ append(value: E)</a:t>
                      </a:r>
                      <a:endParaRPr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u="none" strike="noStrike" cap="none">
                          <a:latin typeface="Consolas"/>
                          <a:ea typeface="Consolas"/>
                          <a:cs typeface="Consolas"/>
                          <a:sym typeface="Consolas"/>
                        </a:rPr>
                        <a:t>+ get(index: int): E</a:t>
                      </a:r>
                      <a:endParaRPr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u="none" strike="noStrike" cap="none">
                          <a:latin typeface="Consolas"/>
                          <a:ea typeface="Consolas"/>
                          <a:cs typeface="Consolas"/>
                          <a:sym typeface="Consolas"/>
                        </a:rPr>
                        <a:t>+ set(index: int, value: E)</a:t>
                      </a:r>
                      <a:endParaRPr u="none" strike="noStrike" cap="none">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00"/>
                        <a:buFont typeface="Arial"/>
                        <a:buNone/>
                      </a:pPr>
                      <a:r>
                        <a:rPr lang="en" u="none" strike="noStrike" cap="none">
                          <a:latin typeface="Consolas"/>
                          <a:ea typeface="Consolas"/>
                          <a:cs typeface="Consolas"/>
                          <a:sym typeface="Consolas"/>
                        </a:rPr>
                        <a:t>+ size(): int</a:t>
                      </a:r>
                      <a:endParaRPr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983" name="Google Shape;983;p94"/>
          <p:cNvPicPr preferRelativeResize="0"/>
          <p:nvPr/>
        </p:nvPicPr>
        <p:blipFill>
          <a:blip r:embed="rId3">
            <a:alphaModFix/>
          </a:blip>
          <a:stretch>
            <a:fillRect/>
          </a:stretch>
        </p:blipFill>
        <p:spPr>
          <a:xfrm>
            <a:off x="7135025" y="87075"/>
            <a:ext cx="1886124" cy="4833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95"/>
          <p:cNvSpPr txBox="1">
            <a:spLocks noGrp="1"/>
          </p:cNvSpPr>
          <p:nvPr>
            <p:ph type="title"/>
          </p:nvPr>
        </p:nvSpPr>
        <p:spPr>
          <a:xfrm>
            <a:off x="311725" y="1199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Array Lists</a:t>
            </a:r>
            <a:endParaRPr/>
          </a:p>
        </p:txBody>
      </p:sp>
      <p:sp>
        <p:nvSpPr>
          <p:cNvPr id="989" name="Google Shape;989;p95"/>
          <p:cNvSpPr txBox="1">
            <a:spLocks noGrp="1"/>
          </p:cNvSpPr>
          <p:nvPr>
            <p:ph type="body" idx="1"/>
          </p:nvPr>
        </p:nvSpPr>
        <p:spPr>
          <a:xfrm>
            <a:off x="4365475" y="43725"/>
            <a:ext cx="4655700" cy="4899900"/>
          </a:xfrm>
          <a:prstGeom prst="rect">
            <a:avLst/>
          </a:prstGeom>
          <a:noFill/>
          <a:ln>
            <a:noFill/>
          </a:ln>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highlight>
                  <a:srgbClr val="FFFF00"/>
                </a:highlight>
              </a:rPr>
              <a:t>One possible implementation of a list is built using an </a:t>
            </a:r>
            <a:r>
              <a:rPr lang="en" b="1" i="1" dirty="0">
                <a:solidFill>
                  <a:srgbClr val="FF0000"/>
                </a:solidFill>
                <a:highlight>
                  <a:srgbClr val="FFFF00"/>
                </a:highlight>
              </a:rPr>
              <a:t>array</a:t>
            </a:r>
            <a:r>
              <a:rPr lang="en" b="1" i="1"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 array is </a:t>
            </a:r>
            <a:r>
              <a:rPr lang="en" b="1" i="1" dirty="0">
                <a:solidFill>
                  <a:srgbClr val="FF0000"/>
                </a:solidFill>
              </a:rPr>
              <a:t>over-allocated</a:t>
            </a:r>
            <a:r>
              <a:rPr lang="en" dirty="0"/>
              <a:t>, meaning that it is created to be large enough to hold a non-zero number of elements even when the list is empty.</a:t>
            </a:r>
            <a:endParaRPr dirty="0"/>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highlight>
                  <a:srgbClr val="FFFF00"/>
                </a:highlight>
              </a:rPr>
              <a:t>capacity</a:t>
            </a:r>
            <a:r>
              <a:rPr lang="en" dirty="0">
                <a:solidFill>
                  <a:srgbClr val="FF0000"/>
                </a:solidFill>
              </a:rPr>
              <a:t> </a:t>
            </a:r>
            <a:r>
              <a:rPr lang="en" dirty="0"/>
              <a:t>of the </a:t>
            </a:r>
            <a:r>
              <a:rPr lang="en" i="1" dirty="0"/>
              <a:t>array </a:t>
            </a:r>
            <a:r>
              <a:rPr lang="en" dirty="0"/>
              <a:t>indicates the maximum number of elements that can be stored before the array is full.</a:t>
            </a:r>
            <a:endParaRPr dirty="0"/>
          </a:p>
          <a:p>
            <a:pPr marL="914400" lvl="1" indent="-298450" algn="l" rtl="0">
              <a:lnSpc>
                <a:spcPct val="100000"/>
              </a:lnSpc>
              <a:spcBef>
                <a:spcPts val="0"/>
              </a:spcBef>
              <a:spcAft>
                <a:spcPts val="0"/>
              </a:spcAft>
              <a:buSzPts val="1100"/>
              <a:buChar char="○"/>
            </a:pPr>
            <a:r>
              <a:rPr lang="en" dirty="0"/>
              <a:t>The </a:t>
            </a:r>
            <a:r>
              <a:rPr lang="en" b="1" i="1" dirty="0">
                <a:solidFill>
                  <a:srgbClr val="FF0000"/>
                </a:solidFill>
                <a:highlight>
                  <a:srgbClr val="FFFF00"/>
                </a:highlight>
              </a:rPr>
              <a:t>size</a:t>
            </a:r>
            <a:r>
              <a:rPr lang="en" dirty="0">
                <a:solidFill>
                  <a:srgbClr val="FF0000"/>
                </a:solidFill>
              </a:rPr>
              <a:t> </a:t>
            </a:r>
            <a:r>
              <a:rPr lang="en" dirty="0"/>
              <a:t>of the </a:t>
            </a:r>
            <a:r>
              <a:rPr lang="en" i="1" dirty="0"/>
              <a:t>list </a:t>
            </a:r>
            <a:r>
              <a:rPr lang="en" dirty="0"/>
              <a:t>indicates the number of elements currently stored in the array, which is initially 0.</a:t>
            </a:r>
            <a:endParaRPr dirty="0"/>
          </a:p>
          <a:p>
            <a:pPr marL="457200" lvl="0" indent="-311150" algn="l" rtl="0">
              <a:lnSpc>
                <a:spcPct val="100000"/>
              </a:lnSpc>
              <a:spcBef>
                <a:spcPts val="1000"/>
              </a:spcBef>
              <a:spcAft>
                <a:spcPts val="0"/>
              </a:spcAft>
              <a:buSzPts val="1300"/>
              <a:buChar char="●"/>
            </a:pPr>
            <a:r>
              <a:rPr lang="en" dirty="0"/>
              <a:t>Unfortunately, in Java an array </a:t>
            </a:r>
            <a:r>
              <a:rPr lang="en" dirty="0">
                <a:solidFill>
                  <a:srgbClr val="FF0000"/>
                </a:solidFill>
              </a:rPr>
              <a:t>cannot </a:t>
            </a:r>
            <a:r>
              <a:rPr lang="en" dirty="0"/>
              <a:t>be created using a type parameter.</a:t>
            </a:r>
            <a:endParaRPr dirty="0"/>
          </a:p>
          <a:p>
            <a:pPr marL="914400" lvl="1" indent="-298450" algn="l" rtl="0">
              <a:lnSpc>
                <a:spcPct val="100000"/>
              </a:lnSpc>
              <a:spcBef>
                <a:spcPts val="0"/>
              </a:spcBef>
              <a:spcAft>
                <a:spcPts val="0"/>
              </a:spcAft>
              <a:buSzPts val="1100"/>
              <a:buChar char="○"/>
            </a:pPr>
            <a:r>
              <a:rPr lang="en" dirty="0"/>
              <a:t>e.g. </a:t>
            </a:r>
            <a:r>
              <a:rPr lang="en" dirty="0">
                <a:solidFill>
                  <a:srgbClr val="FF0000"/>
                </a:solidFill>
                <a:highlight>
                  <a:srgbClr val="FFFF00"/>
                </a:highlight>
                <a:latin typeface="Courier New"/>
                <a:ea typeface="Courier New"/>
                <a:cs typeface="Courier New"/>
                <a:sym typeface="Courier New"/>
              </a:rPr>
              <a:t>E[] e = new E[5];</a:t>
            </a:r>
            <a:r>
              <a:rPr lang="en" dirty="0">
                <a:highlight>
                  <a:srgbClr val="FFFF00"/>
                </a:highlight>
              </a:rPr>
              <a:t> will cause a </a:t>
            </a:r>
            <a:r>
              <a:rPr lang="en" b="1" i="1" dirty="0">
                <a:solidFill>
                  <a:srgbClr val="FF0000"/>
                </a:solidFill>
                <a:highlight>
                  <a:srgbClr val="FFFF00"/>
                </a:highlight>
              </a:rPr>
              <a:t>compiler error</a:t>
            </a:r>
            <a:r>
              <a:rPr lang="en" dirty="0">
                <a:highlight>
                  <a:srgbClr val="FFFF00"/>
                </a:highlight>
              </a:rPr>
              <a:t>.</a:t>
            </a:r>
            <a:endParaRPr dirty="0">
              <a:highlight>
                <a:srgbClr val="FFFF00"/>
              </a:highlight>
            </a:endParaRPr>
          </a:p>
          <a:p>
            <a:pPr marL="457200" lvl="0" indent="-311150" algn="l" rtl="0">
              <a:lnSpc>
                <a:spcPct val="100000"/>
              </a:lnSpc>
              <a:spcBef>
                <a:spcPts val="1000"/>
              </a:spcBef>
              <a:spcAft>
                <a:spcPts val="0"/>
              </a:spcAft>
              <a:buSzPts val="1300"/>
              <a:buChar char="●"/>
            </a:pPr>
            <a:r>
              <a:rPr lang="en" dirty="0">
                <a:highlight>
                  <a:srgbClr val="FFFF00"/>
                </a:highlight>
              </a:rPr>
              <a:t>The </a:t>
            </a:r>
            <a:r>
              <a:rPr lang="en" b="1" i="1" dirty="0">
                <a:solidFill>
                  <a:srgbClr val="FF0000"/>
                </a:solidFill>
                <a:highlight>
                  <a:srgbClr val="FFFF00"/>
                </a:highlight>
              </a:rPr>
              <a:t>workaround </a:t>
            </a:r>
            <a:r>
              <a:rPr lang="en" dirty="0">
                <a:highlight>
                  <a:srgbClr val="FFFF00"/>
                </a:highlight>
              </a:rPr>
              <a:t>for this is to create an </a:t>
            </a:r>
            <a:r>
              <a:rPr lang="en" dirty="0">
                <a:solidFill>
                  <a:srgbClr val="FF0000"/>
                </a:solidFill>
                <a:highlight>
                  <a:srgbClr val="FFFF00"/>
                </a:highlight>
                <a:latin typeface="Courier New"/>
                <a:ea typeface="Courier New"/>
                <a:cs typeface="Courier New"/>
                <a:sym typeface="Courier New"/>
              </a:rPr>
              <a:t>Object</a:t>
            </a:r>
            <a:r>
              <a:rPr lang="en" dirty="0">
                <a:solidFill>
                  <a:srgbClr val="FF0000"/>
                </a:solidFill>
                <a:highlight>
                  <a:srgbClr val="FFFF00"/>
                </a:highlight>
              </a:rPr>
              <a:t> </a:t>
            </a:r>
            <a:r>
              <a:rPr lang="en" b="1" i="1" dirty="0">
                <a:solidFill>
                  <a:srgbClr val="FF0000"/>
                </a:solidFill>
                <a:highlight>
                  <a:srgbClr val="FFFF00"/>
                </a:highlight>
              </a:rPr>
              <a:t>array</a:t>
            </a:r>
            <a:r>
              <a:rPr lang="en" dirty="0">
                <a:highlight>
                  <a:srgbClr val="FFFF00"/>
                </a:highlight>
              </a:rPr>
              <a:t> to store the elements.</a:t>
            </a:r>
            <a:endParaRPr dirty="0">
              <a:highlight>
                <a:srgbClr val="FFFF00"/>
              </a:highlight>
            </a:endParaRPr>
          </a:p>
          <a:p>
            <a:pPr marL="914400" lvl="1" indent="-298450" algn="l" rtl="0">
              <a:lnSpc>
                <a:spcPct val="100000"/>
              </a:lnSpc>
              <a:spcBef>
                <a:spcPts val="0"/>
              </a:spcBef>
              <a:spcAft>
                <a:spcPts val="0"/>
              </a:spcAft>
              <a:buSzPts val="1100"/>
              <a:buChar char="○"/>
            </a:pPr>
            <a:r>
              <a:rPr lang="en" dirty="0"/>
              <a:t>Remember that </a:t>
            </a:r>
            <a:r>
              <a:rPr lang="en" dirty="0">
                <a:latin typeface="Courier New"/>
                <a:ea typeface="Courier New"/>
                <a:cs typeface="Courier New"/>
                <a:sym typeface="Courier New"/>
              </a:rPr>
              <a:t>Object</a:t>
            </a:r>
            <a:r>
              <a:rPr lang="en" dirty="0"/>
              <a:t> is the parent of </a:t>
            </a:r>
            <a:r>
              <a:rPr lang="en" b="1" i="1" dirty="0">
                <a:solidFill>
                  <a:srgbClr val="FF0000"/>
                </a:solidFill>
              </a:rPr>
              <a:t>all</a:t>
            </a:r>
            <a:r>
              <a:rPr lang="en" dirty="0">
                <a:solidFill>
                  <a:srgbClr val="FF0000"/>
                </a:solidFill>
              </a:rPr>
              <a:t> </a:t>
            </a:r>
            <a:r>
              <a:rPr lang="en" dirty="0"/>
              <a:t>reference types in the Java language, and so </a:t>
            </a:r>
            <a:r>
              <a:rPr lang="en" b="1" i="1" dirty="0">
                <a:solidFill>
                  <a:srgbClr val="FF0000"/>
                </a:solidFill>
              </a:rPr>
              <a:t>any</a:t>
            </a:r>
            <a:r>
              <a:rPr lang="en" dirty="0">
                <a:solidFill>
                  <a:srgbClr val="FF0000"/>
                </a:solidFill>
              </a:rPr>
              <a:t> </a:t>
            </a:r>
            <a:r>
              <a:rPr lang="en" dirty="0"/>
              <a:t>type can be stored in an </a:t>
            </a:r>
            <a:r>
              <a:rPr lang="en" dirty="0">
                <a:latin typeface="Courier New"/>
                <a:ea typeface="Courier New"/>
                <a:cs typeface="Courier New"/>
                <a:sym typeface="Courier New"/>
              </a:rPr>
              <a:t>Object</a:t>
            </a:r>
            <a:r>
              <a:rPr lang="en" dirty="0"/>
              <a:t> array.</a:t>
            </a:r>
            <a:endParaRPr dirty="0"/>
          </a:p>
          <a:p>
            <a:pPr marL="457200" lvl="0" indent="-311150" algn="l" rtl="0">
              <a:lnSpc>
                <a:spcPct val="100000"/>
              </a:lnSpc>
              <a:spcBef>
                <a:spcPts val="1000"/>
              </a:spcBef>
              <a:spcAft>
                <a:spcPts val="0"/>
              </a:spcAft>
              <a:buSzPts val="1300"/>
              <a:buChar char="●"/>
            </a:pPr>
            <a:r>
              <a:rPr lang="en" dirty="0">
                <a:highlight>
                  <a:srgbClr val="FFFF00"/>
                </a:highlight>
              </a:rPr>
              <a:t>This means that the</a:t>
            </a:r>
            <a:r>
              <a:rPr lang="en" dirty="0">
                <a:solidFill>
                  <a:srgbClr val="FF0000"/>
                </a:solidFill>
                <a:highlight>
                  <a:srgbClr val="FFFF00"/>
                </a:highlight>
              </a:rPr>
              <a:t> </a:t>
            </a:r>
            <a:r>
              <a:rPr lang="en" dirty="0">
                <a:solidFill>
                  <a:srgbClr val="FF0000"/>
                </a:solidFill>
                <a:highlight>
                  <a:srgbClr val="FFFF00"/>
                </a:highlight>
                <a:latin typeface="Courier New"/>
                <a:ea typeface="Courier New"/>
                <a:cs typeface="Courier New"/>
                <a:sym typeface="Courier New"/>
              </a:rPr>
              <a:t>get</a:t>
            </a:r>
            <a:r>
              <a:rPr lang="en" dirty="0">
                <a:solidFill>
                  <a:srgbClr val="FF0000"/>
                </a:solidFill>
                <a:highlight>
                  <a:srgbClr val="FFFF00"/>
                </a:highlight>
              </a:rPr>
              <a:t> method</a:t>
            </a:r>
            <a:r>
              <a:rPr lang="en" dirty="0">
                <a:highlight>
                  <a:srgbClr val="FFFF00"/>
                </a:highlight>
              </a:rPr>
              <a:t> will need to </a:t>
            </a:r>
            <a:r>
              <a:rPr lang="en" b="1" i="1" dirty="0">
                <a:solidFill>
                  <a:srgbClr val="FF0000"/>
                </a:solidFill>
                <a:highlight>
                  <a:srgbClr val="FFFF00"/>
                </a:highlight>
              </a:rPr>
              <a:t>cast</a:t>
            </a:r>
            <a:r>
              <a:rPr lang="en" dirty="0">
                <a:solidFill>
                  <a:srgbClr val="FF0000"/>
                </a:solidFill>
                <a:highlight>
                  <a:srgbClr val="FFFF00"/>
                </a:highlight>
              </a:rPr>
              <a:t> </a:t>
            </a:r>
            <a:r>
              <a:rPr lang="en" dirty="0">
                <a:highlight>
                  <a:srgbClr val="FFFF00"/>
                </a:highlight>
              </a:rPr>
              <a:t>the value into the correct type before it is returned.</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e.g. </a:t>
            </a:r>
            <a:r>
              <a:rPr lang="en" dirty="0">
                <a:solidFill>
                  <a:srgbClr val="FF0000"/>
                </a:solidFill>
                <a:highlight>
                  <a:srgbClr val="FFFF00"/>
                </a:highlight>
                <a:latin typeface="Courier New"/>
                <a:ea typeface="Courier New"/>
                <a:cs typeface="Courier New"/>
                <a:sym typeface="Courier New"/>
              </a:rPr>
              <a:t>E value = (E)elements[index];</a:t>
            </a:r>
            <a:endParaRPr dirty="0">
              <a:solidFill>
                <a:srgbClr val="FF0000"/>
              </a:solidFill>
              <a:highlight>
                <a:srgbClr val="FFFF00"/>
              </a:highlight>
              <a:latin typeface="Courier New"/>
              <a:ea typeface="Courier New"/>
              <a:cs typeface="Courier New"/>
              <a:sym typeface="Courier New"/>
            </a:endParaRPr>
          </a:p>
          <a:p>
            <a:pPr marL="457200" lvl="0" indent="-311150" algn="l" rtl="0">
              <a:lnSpc>
                <a:spcPct val="100000"/>
              </a:lnSpc>
              <a:spcBef>
                <a:spcPts val="1000"/>
              </a:spcBef>
              <a:spcAft>
                <a:spcPts val="0"/>
              </a:spcAft>
              <a:buSzPts val="1300"/>
              <a:buChar char="●"/>
            </a:pPr>
            <a:r>
              <a:rPr lang="en" dirty="0"/>
              <a:t>Otherwise the only challenge is that the array needs to be </a:t>
            </a:r>
            <a:r>
              <a:rPr lang="en" b="1" i="1" dirty="0">
                <a:solidFill>
                  <a:srgbClr val="FF0000"/>
                </a:solidFill>
                <a:highlight>
                  <a:srgbClr val="FFFF00"/>
                </a:highlight>
              </a:rPr>
              <a:t>resized</a:t>
            </a:r>
            <a:r>
              <a:rPr lang="en" dirty="0">
                <a:solidFill>
                  <a:srgbClr val="FF0000"/>
                </a:solidFill>
                <a:highlight>
                  <a:srgbClr val="FFFF00"/>
                </a:highlight>
              </a:rPr>
              <a:t> </a:t>
            </a:r>
            <a:r>
              <a:rPr lang="en" dirty="0">
                <a:highlight>
                  <a:srgbClr val="FFFF00"/>
                </a:highlight>
              </a:rPr>
              <a:t>when </a:t>
            </a:r>
            <a:r>
              <a:rPr lang="en" b="1" i="1" dirty="0">
                <a:solidFill>
                  <a:srgbClr val="FF0000"/>
                </a:solidFill>
                <a:highlight>
                  <a:srgbClr val="FFFF00"/>
                </a:highlight>
              </a:rPr>
              <a:t>size</a:t>
            </a:r>
            <a:r>
              <a:rPr lang="en" dirty="0">
                <a:solidFill>
                  <a:srgbClr val="FF0000"/>
                </a:solidFill>
                <a:highlight>
                  <a:srgbClr val="FFFF00"/>
                </a:highlight>
              </a:rPr>
              <a:t> </a:t>
            </a:r>
            <a:r>
              <a:rPr lang="en" dirty="0">
                <a:highlight>
                  <a:srgbClr val="FFFF00"/>
                </a:highlight>
              </a:rPr>
              <a:t>is equal to its </a:t>
            </a:r>
            <a:r>
              <a:rPr lang="en" b="1" i="1" dirty="0">
                <a:solidFill>
                  <a:srgbClr val="FF0000"/>
                </a:solidFill>
                <a:highlight>
                  <a:srgbClr val="FFFF00"/>
                </a:highlight>
              </a:rPr>
              <a:t>capacity</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Thankfully, this is pretty easy to do!</a:t>
            </a:r>
            <a:endParaRPr dirty="0"/>
          </a:p>
        </p:txBody>
      </p:sp>
      <p:sp>
        <p:nvSpPr>
          <p:cNvPr id="990" name="Google Shape;990;p95"/>
          <p:cNvSpPr txBox="1">
            <a:spLocks noGrp="1"/>
          </p:cNvSpPr>
          <p:nvPr>
            <p:ph type="sldNum" idx="12"/>
          </p:nvPr>
        </p:nvSpPr>
        <p:spPr>
          <a:xfrm>
            <a:off x="8591284" y="47394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38</a:t>
            </a:fld>
            <a:endParaRPr/>
          </a:p>
        </p:txBody>
      </p:sp>
      <p:sp>
        <p:nvSpPr>
          <p:cNvPr id="991" name="Google Shape;991;p95"/>
          <p:cNvSpPr txBox="1">
            <a:spLocks noGrp="1"/>
          </p:cNvSpPr>
          <p:nvPr>
            <p:ph type="body" idx="2"/>
          </p:nvPr>
        </p:nvSpPr>
        <p:spPr>
          <a:xfrm>
            <a:off x="315425" y="1590975"/>
            <a:ext cx="3706500" cy="3936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dirty="0">
                <a:solidFill>
                  <a:srgbClr val="0000FF"/>
                </a:solidFill>
                <a:latin typeface="Consolas"/>
                <a:ea typeface="Consolas"/>
                <a:cs typeface="Consolas"/>
                <a:sym typeface="Consolas"/>
              </a:rPr>
              <a:t>T</a:t>
            </a:r>
            <a:r>
              <a:rPr lang="en" sz="1050" dirty="0">
                <a:solidFill>
                  <a:srgbClr val="000000"/>
                </a:solidFill>
                <a:latin typeface="Consolas"/>
                <a:ea typeface="Consolas"/>
                <a:cs typeface="Consolas"/>
                <a:sym typeface="Consolas"/>
              </a:rPr>
              <a:t>[] things = </a:t>
            </a:r>
            <a:r>
              <a:rPr lang="en" sz="1050" dirty="0">
                <a:solidFill>
                  <a:srgbClr val="0000FF"/>
                </a:solidFill>
                <a:latin typeface="Consolas"/>
                <a:ea typeface="Consolas"/>
                <a:cs typeface="Consolas"/>
                <a:sym typeface="Consolas"/>
              </a:rPr>
              <a:t>new</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a:t>
            </a:r>
            <a:r>
              <a:rPr lang="en" sz="1050" dirty="0">
                <a:solidFill>
                  <a:srgbClr val="000000"/>
                </a:solidFill>
                <a:latin typeface="Consolas"/>
                <a:ea typeface="Consolas"/>
                <a:cs typeface="Consolas"/>
                <a:sym typeface="Consolas"/>
              </a:rPr>
              <a:t>[</a:t>
            </a:r>
            <a:r>
              <a:rPr lang="en" sz="1050" dirty="0">
                <a:solidFill>
                  <a:srgbClr val="098658"/>
                </a:solidFill>
                <a:latin typeface="Consolas"/>
                <a:ea typeface="Consolas"/>
                <a:cs typeface="Consolas"/>
                <a:sym typeface="Consolas"/>
              </a:rPr>
              <a:t>10</a:t>
            </a:r>
            <a:r>
              <a:rPr lang="en" sz="1050" dirty="0">
                <a:solidFill>
                  <a:srgbClr val="000000"/>
                </a:solidFill>
                <a:latin typeface="Consolas"/>
                <a:ea typeface="Consolas"/>
                <a:cs typeface="Consolas"/>
                <a:sym typeface="Consolas"/>
              </a:rPr>
              <a:t>]; </a:t>
            </a:r>
            <a:r>
              <a:rPr lang="en" sz="1050" dirty="0">
                <a:solidFill>
                  <a:srgbClr val="008000"/>
                </a:solidFill>
                <a:latin typeface="Consolas"/>
                <a:ea typeface="Consolas"/>
                <a:cs typeface="Consolas"/>
                <a:sym typeface="Consolas"/>
              </a:rPr>
              <a:t>// compiler error</a:t>
            </a:r>
            <a:endParaRPr sz="1050" dirty="0">
              <a:solidFill>
                <a:srgbClr val="4EC9B0"/>
              </a:solidFill>
              <a:latin typeface="Consolas"/>
              <a:ea typeface="Consolas"/>
              <a:cs typeface="Consolas"/>
              <a:sym typeface="Consolas"/>
            </a:endParaRPr>
          </a:p>
        </p:txBody>
      </p:sp>
      <p:sp>
        <p:nvSpPr>
          <p:cNvPr id="992" name="Google Shape;992;p95"/>
          <p:cNvSpPr txBox="1">
            <a:spLocks noGrp="1"/>
          </p:cNvSpPr>
          <p:nvPr>
            <p:ph type="body" idx="3"/>
          </p:nvPr>
        </p:nvSpPr>
        <p:spPr>
          <a:xfrm>
            <a:off x="315425" y="826800"/>
            <a:ext cx="3706500" cy="67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Using </a:t>
            </a:r>
            <a:r>
              <a:rPr lang="en" sz="1200" b="1" i="1" dirty="0">
                <a:solidFill>
                  <a:srgbClr val="FF0000"/>
                </a:solidFill>
              </a:rPr>
              <a:t>arrays</a:t>
            </a:r>
            <a:r>
              <a:rPr lang="en" sz="1200" dirty="0">
                <a:solidFill>
                  <a:srgbClr val="FF0000"/>
                </a:solidFill>
              </a:rPr>
              <a:t> </a:t>
            </a:r>
            <a:r>
              <a:rPr lang="en" sz="1200" dirty="0"/>
              <a:t>and </a:t>
            </a:r>
            <a:r>
              <a:rPr lang="en" sz="1200" b="1" i="1" dirty="0">
                <a:solidFill>
                  <a:srgbClr val="FF0000"/>
                </a:solidFill>
              </a:rPr>
              <a:t>type parameters</a:t>
            </a:r>
            <a:r>
              <a:rPr lang="en" sz="1200" dirty="0">
                <a:solidFill>
                  <a:srgbClr val="FF0000"/>
                </a:solidFill>
              </a:rPr>
              <a:t> </a:t>
            </a:r>
            <a:r>
              <a:rPr lang="en" sz="1200" dirty="0"/>
              <a:t>together can feel a little </a:t>
            </a:r>
            <a:r>
              <a:rPr lang="en" sz="1200" b="1" i="1" dirty="0">
                <a:solidFill>
                  <a:srgbClr val="FF0000"/>
                </a:solidFill>
              </a:rPr>
              <a:t>kludgy</a:t>
            </a:r>
            <a:r>
              <a:rPr lang="en" sz="1200" dirty="0"/>
              <a:t>. Trying to create an array using the type parameter </a:t>
            </a:r>
            <a:r>
              <a:rPr lang="en" sz="1200" b="1" i="1" dirty="0">
                <a:solidFill>
                  <a:srgbClr val="FF0000"/>
                </a:solidFill>
              </a:rPr>
              <a:t>won't work</a:t>
            </a:r>
            <a:r>
              <a:rPr lang="en" sz="1200" dirty="0"/>
              <a:t>...</a:t>
            </a:r>
            <a:endParaRPr sz="1200" dirty="0"/>
          </a:p>
        </p:txBody>
      </p:sp>
      <p:cxnSp>
        <p:nvCxnSpPr>
          <p:cNvPr id="993" name="Google Shape;993;p95"/>
          <p:cNvCxnSpPr/>
          <p:nvPr/>
        </p:nvCxnSpPr>
        <p:spPr>
          <a:xfrm>
            <a:off x="1384750" y="1879917"/>
            <a:ext cx="586800" cy="0"/>
          </a:xfrm>
          <a:prstGeom prst="straightConnector1">
            <a:avLst/>
          </a:prstGeom>
          <a:noFill/>
          <a:ln w="19050" cap="flat" cmpd="sng">
            <a:solidFill>
              <a:srgbClr val="FF9900"/>
            </a:solidFill>
            <a:prstDash val="dash"/>
            <a:round/>
            <a:headEnd type="none" w="sm" len="sm"/>
            <a:tailEnd type="none" w="sm" len="sm"/>
          </a:ln>
        </p:spPr>
      </p:cxnSp>
      <p:sp>
        <p:nvSpPr>
          <p:cNvPr id="994" name="Google Shape;994;p95"/>
          <p:cNvSpPr txBox="1">
            <a:spLocks noGrp="1"/>
          </p:cNvSpPr>
          <p:nvPr>
            <p:ph type="body" idx="3"/>
          </p:nvPr>
        </p:nvSpPr>
        <p:spPr>
          <a:xfrm>
            <a:off x="315425" y="2073750"/>
            <a:ext cx="3706500" cy="67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t>The </a:t>
            </a:r>
            <a:r>
              <a:rPr lang="en" sz="1200" strike="sngStrike"/>
              <a:t>hack</a:t>
            </a:r>
            <a:r>
              <a:rPr lang="en" sz="1200"/>
              <a:t> </a:t>
            </a:r>
            <a:r>
              <a:rPr lang="en" sz="1200" b="1" i="1">
                <a:solidFill>
                  <a:srgbClr val="FF0000"/>
                </a:solidFill>
              </a:rPr>
              <a:t>workaround </a:t>
            </a:r>
            <a:r>
              <a:rPr lang="en" sz="1200"/>
              <a:t>is to create an Object array, which can then be used to store </a:t>
            </a:r>
            <a:r>
              <a:rPr lang="en" sz="1200" b="1" i="1">
                <a:solidFill>
                  <a:srgbClr val="FF0000"/>
                </a:solidFill>
              </a:rPr>
              <a:t>any</a:t>
            </a:r>
            <a:r>
              <a:rPr lang="en" sz="1200">
                <a:solidFill>
                  <a:srgbClr val="FF0000"/>
                </a:solidFill>
              </a:rPr>
              <a:t> </a:t>
            </a:r>
            <a:r>
              <a:rPr lang="en" sz="1200"/>
              <a:t>kind of value (including the type parameter).</a:t>
            </a:r>
            <a:endParaRPr sz="1200"/>
          </a:p>
        </p:txBody>
      </p:sp>
      <p:sp>
        <p:nvSpPr>
          <p:cNvPr id="995" name="Google Shape;995;p95"/>
          <p:cNvSpPr txBox="1">
            <a:spLocks noGrp="1"/>
          </p:cNvSpPr>
          <p:nvPr>
            <p:ph type="body" idx="2"/>
          </p:nvPr>
        </p:nvSpPr>
        <p:spPr>
          <a:xfrm>
            <a:off x="315425" y="2837925"/>
            <a:ext cx="3706500" cy="5640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dirty="0">
                <a:solidFill>
                  <a:srgbClr val="0000FF"/>
                </a:solidFill>
                <a:latin typeface="Consolas"/>
                <a:ea typeface="Consolas"/>
                <a:cs typeface="Consolas"/>
                <a:sym typeface="Consolas"/>
              </a:rPr>
              <a:t>Object</a:t>
            </a:r>
            <a:r>
              <a:rPr lang="en" sz="1050" dirty="0">
                <a:solidFill>
                  <a:srgbClr val="000000"/>
                </a:solidFill>
                <a:latin typeface="Consolas"/>
                <a:ea typeface="Consolas"/>
                <a:cs typeface="Consolas"/>
                <a:sym typeface="Consolas"/>
              </a:rPr>
              <a:t>[] things = </a:t>
            </a:r>
            <a:r>
              <a:rPr lang="en" sz="1050" dirty="0">
                <a:solidFill>
                  <a:srgbClr val="0000FF"/>
                </a:solidFill>
                <a:latin typeface="Consolas"/>
                <a:ea typeface="Consolas"/>
                <a:cs typeface="Consolas"/>
                <a:sym typeface="Consolas"/>
              </a:rPr>
              <a:t>new</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Object</a:t>
            </a:r>
            <a:r>
              <a:rPr lang="en" sz="1050" dirty="0">
                <a:solidFill>
                  <a:srgbClr val="000000"/>
                </a:solidFill>
                <a:latin typeface="Consolas"/>
                <a:ea typeface="Consolas"/>
                <a:cs typeface="Consolas"/>
                <a:sym typeface="Consolas"/>
              </a:rPr>
              <a:t>[</a:t>
            </a:r>
            <a:r>
              <a:rPr lang="en" sz="1050" dirty="0">
                <a:solidFill>
                  <a:srgbClr val="098658"/>
                </a:solidFill>
                <a:latin typeface="Consolas"/>
                <a:ea typeface="Consolas"/>
                <a:cs typeface="Consolas"/>
                <a:sym typeface="Consolas"/>
              </a:rPr>
              <a:t>10</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0000"/>
                </a:solidFill>
                <a:latin typeface="Consolas"/>
                <a:ea typeface="Consolas"/>
                <a:cs typeface="Consolas"/>
                <a:sym typeface="Consolas"/>
              </a:rPr>
              <a:t>things[</a:t>
            </a:r>
            <a:r>
              <a:rPr lang="en" sz="1050" dirty="0">
                <a:solidFill>
                  <a:srgbClr val="098658"/>
                </a:solidFill>
                <a:latin typeface="Consolas"/>
                <a:ea typeface="Consolas"/>
                <a:cs typeface="Consolas"/>
                <a:sym typeface="Consolas"/>
              </a:rPr>
              <a:t>0</a:t>
            </a:r>
            <a:r>
              <a:rPr lang="en" sz="1050" dirty="0">
                <a:solidFill>
                  <a:srgbClr val="000000"/>
                </a:solidFill>
                <a:latin typeface="Consolas"/>
                <a:ea typeface="Consolas"/>
                <a:cs typeface="Consolas"/>
                <a:sym typeface="Consolas"/>
              </a:rPr>
              <a:t>] = anyValue; </a:t>
            </a:r>
            <a:r>
              <a:rPr lang="en" sz="1050" dirty="0">
                <a:solidFill>
                  <a:srgbClr val="008000"/>
                </a:solidFill>
                <a:latin typeface="Consolas"/>
                <a:ea typeface="Consolas"/>
                <a:cs typeface="Consolas"/>
                <a:sym typeface="Consolas"/>
              </a:rPr>
              <a:t>// OK!</a:t>
            </a:r>
            <a:endParaRPr sz="1050" dirty="0">
              <a:solidFill>
                <a:srgbClr val="4EC9B0"/>
              </a:solidFill>
              <a:latin typeface="Consolas"/>
              <a:ea typeface="Consolas"/>
              <a:cs typeface="Consolas"/>
              <a:sym typeface="Consolas"/>
            </a:endParaRPr>
          </a:p>
          <a:p>
            <a:pPr marL="0" lvl="0" indent="0" algn="l" rtl="0">
              <a:lnSpc>
                <a:spcPct val="135714"/>
              </a:lnSpc>
              <a:spcBef>
                <a:spcPts val="0"/>
              </a:spcBef>
              <a:spcAft>
                <a:spcPts val="0"/>
              </a:spcAft>
              <a:buSzPts val="1300"/>
              <a:buNone/>
            </a:pPr>
            <a:endParaRPr sz="1050" dirty="0">
              <a:solidFill>
                <a:srgbClr val="4EC9B0"/>
              </a:solidFill>
              <a:latin typeface="Consolas"/>
              <a:ea typeface="Consolas"/>
              <a:cs typeface="Consolas"/>
              <a:sym typeface="Consolas"/>
            </a:endParaRPr>
          </a:p>
        </p:txBody>
      </p:sp>
      <p:sp>
        <p:nvSpPr>
          <p:cNvPr id="996" name="Google Shape;996;p95"/>
          <p:cNvSpPr txBox="1">
            <a:spLocks noGrp="1"/>
          </p:cNvSpPr>
          <p:nvPr>
            <p:ph type="body" idx="2"/>
          </p:nvPr>
        </p:nvSpPr>
        <p:spPr>
          <a:xfrm>
            <a:off x="311725" y="4255275"/>
            <a:ext cx="3706500" cy="5640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050">
                <a:solidFill>
                  <a:srgbClr val="0000FF"/>
                </a:solidFill>
                <a:latin typeface="Consolas"/>
                <a:ea typeface="Consolas"/>
                <a:cs typeface="Consolas"/>
                <a:sym typeface="Consolas"/>
              </a:rPr>
              <a:t>Object</a:t>
            </a:r>
            <a:r>
              <a:rPr lang="en" sz="1050">
                <a:solidFill>
                  <a:srgbClr val="000000"/>
                </a:solidFill>
                <a:latin typeface="Consolas"/>
                <a:ea typeface="Consolas"/>
                <a:cs typeface="Consolas"/>
                <a:sym typeface="Consolas"/>
              </a:rPr>
              <a:t> obj = things[</a:t>
            </a: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000FF"/>
                </a:solidFill>
                <a:latin typeface="Consolas"/>
                <a:ea typeface="Consolas"/>
                <a:cs typeface="Consolas"/>
                <a:sym typeface="Consolas"/>
              </a:rPr>
              <a:t>T</a:t>
            </a:r>
            <a:r>
              <a:rPr lang="en" sz="1050">
                <a:solidFill>
                  <a:srgbClr val="000000"/>
                </a:solidFill>
                <a:latin typeface="Consolas"/>
                <a:ea typeface="Consolas"/>
                <a:cs typeface="Consolas"/>
                <a:sym typeface="Consolas"/>
              </a:rPr>
              <a:t> thing = (T)obj;</a:t>
            </a:r>
            <a:endParaRPr sz="1050">
              <a:solidFill>
                <a:srgbClr val="4EC9B0"/>
              </a:solidFill>
              <a:latin typeface="Consolas"/>
              <a:ea typeface="Consolas"/>
              <a:cs typeface="Consolas"/>
              <a:sym typeface="Consolas"/>
            </a:endParaRPr>
          </a:p>
        </p:txBody>
      </p:sp>
      <p:sp>
        <p:nvSpPr>
          <p:cNvPr id="997" name="Google Shape;997;p95"/>
          <p:cNvSpPr txBox="1">
            <a:spLocks noGrp="1"/>
          </p:cNvSpPr>
          <p:nvPr>
            <p:ph type="body" idx="3"/>
          </p:nvPr>
        </p:nvSpPr>
        <p:spPr>
          <a:xfrm>
            <a:off x="315425" y="3491100"/>
            <a:ext cx="3706500" cy="675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t>Of course this means that a </a:t>
            </a:r>
            <a:r>
              <a:rPr lang="en" sz="1200" b="1" i="1" dirty="0">
                <a:solidFill>
                  <a:srgbClr val="FF0000"/>
                </a:solidFill>
              </a:rPr>
              <a:t>cast</a:t>
            </a:r>
            <a:r>
              <a:rPr lang="en" sz="1200" dirty="0">
                <a:solidFill>
                  <a:srgbClr val="FF0000"/>
                </a:solidFill>
              </a:rPr>
              <a:t> </a:t>
            </a:r>
            <a:r>
              <a:rPr lang="en" sz="1200" dirty="0"/>
              <a:t>is needed to change the type of values in the array from Object to </a:t>
            </a:r>
            <a:r>
              <a:rPr lang="en" sz="1200" b="1" i="1" dirty="0">
                <a:solidFill>
                  <a:srgbClr val="FF0000"/>
                </a:solidFill>
              </a:rPr>
              <a:t>any other type</a:t>
            </a:r>
            <a:r>
              <a:rPr lang="en" sz="1200" dirty="0"/>
              <a:t> (including the type parameter).</a:t>
            </a:r>
            <a:endParaRPr sz="1200" dirty="0"/>
          </a:p>
        </p:txBody>
      </p:sp>
      <p:grpSp>
        <p:nvGrpSpPr>
          <p:cNvPr id="998" name="Google Shape;998;p95"/>
          <p:cNvGrpSpPr/>
          <p:nvPr/>
        </p:nvGrpSpPr>
        <p:grpSpPr>
          <a:xfrm>
            <a:off x="365575" y="4166100"/>
            <a:ext cx="1803100" cy="601650"/>
            <a:chOff x="365575" y="4166100"/>
            <a:chExt cx="1803100" cy="601650"/>
          </a:xfrm>
        </p:grpSpPr>
        <p:sp>
          <p:nvSpPr>
            <p:cNvPr id="999" name="Google Shape;999;p95"/>
            <p:cNvSpPr/>
            <p:nvPr/>
          </p:nvSpPr>
          <p:spPr>
            <a:xfrm>
              <a:off x="365575" y="4546050"/>
              <a:ext cx="1309500" cy="221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000" name="Google Shape;1000;p95"/>
            <p:cNvCxnSpPr>
              <a:stCxn id="997" idx="2"/>
              <a:endCxn id="999" idx="3"/>
            </p:cNvCxnSpPr>
            <p:nvPr/>
          </p:nvCxnSpPr>
          <p:spPr>
            <a:xfrm rot="5400000">
              <a:off x="1676525" y="4164750"/>
              <a:ext cx="490800" cy="493500"/>
            </a:xfrm>
            <a:prstGeom prst="bentConnector2">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8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8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8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8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8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8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8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92"/>
                                        </p:tgtEl>
                                        <p:attrNameLst>
                                          <p:attrName>style.visibility</p:attrName>
                                        </p:attrNameLst>
                                      </p:cBhvr>
                                      <p:to>
                                        <p:strVal val="visible"/>
                                      </p:to>
                                    </p:set>
                                    <p:animEffect transition="in" filter="fade">
                                      <p:cBhvr>
                                        <p:cTn id="55" dur="1000"/>
                                        <p:tgtEl>
                                          <p:spTgt spid="992"/>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991"/>
                                        </p:tgtEl>
                                        <p:attrNameLst>
                                          <p:attrName>style.visibility</p:attrName>
                                        </p:attrNameLst>
                                      </p:cBhvr>
                                      <p:to>
                                        <p:strVal val="visible"/>
                                      </p:to>
                                    </p:set>
                                    <p:animEffect transition="in" filter="fade">
                                      <p:cBhvr>
                                        <p:cTn id="59" dur="1000"/>
                                        <p:tgtEl>
                                          <p:spTgt spid="991"/>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993"/>
                                        </p:tgtEl>
                                        <p:attrNameLst>
                                          <p:attrName>style.visibility</p:attrName>
                                        </p:attrNameLst>
                                      </p:cBhvr>
                                      <p:to>
                                        <p:strVal val="visible"/>
                                      </p:to>
                                    </p:set>
                                    <p:animEffect transition="in" filter="fade">
                                      <p:cBhvr>
                                        <p:cTn id="63" dur="1000"/>
                                        <p:tgtEl>
                                          <p:spTgt spid="99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994"/>
                                        </p:tgtEl>
                                        <p:attrNameLst>
                                          <p:attrName>style.visibility</p:attrName>
                                        </p:attrNameLst>
                                      </p:cBhvr>
                                      <p:to>
                                        <p:strVal val="visible"/>
                                      </p:to>
                                    </p:set>
                                    <p:animEffect transition="in" filter="fade">
                                      <p:cBhvr>
                                        <p:cTn id="68" dur="1000"/>
                                        <p:tgtEl>
                                          <p:spTgt spid="994"/>
                                        </p:tgtEl>
                                      </p:cBhvr>
                                    </p:animEffect>
                                  </p:childTnLst>
                                </p:cTn>
                              </p:par>
                              <p:par>
                                <p:cTn id="69" presetID="10" presetClass="entr" presetSubtype="0" fill="hold" nodeType="withEffect">
                                  <p:stCondLst>
                                    <p:cond delay="0"/>
                                  </p:stCondLst>
                                  <p:childTnLst>
                                    <p:set>
                                      <p:cBhvr>
                                        <p:cTn id="70" dur="1" fill="hold">
                                          <p:stCondLst>
                                            <p:cond delay="0"/>
                                          </p:stCondLst>
                                        </p:cTn>
                                        <p:tgtEl>
                                          <p:spTgt spid="995"/>
                                        </p:tgtEl>
                                        <p:attrNameLst>
                                          <p:attrName>style.visibility</p:attrName>
                                        </p:attrNameLst>
                                      </p:cBhvr>
                                      <p:to>
                                        <p:strVal val="visible"/>
                                      </p:to>
                                    </p:set>
                                    <p:animEffect transition="in" filter="fade">
                                      <p:cBhvr>
                                        <p:cTn id="71" dur="1000"/>
                                        <p:tgtEl>
                                          <p:spTgt spid="99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997"/>
                                        </p:tgtEl>
                                        <p:attrNameLst>
                                          <p:attrName>style.visibility</p:attrName>
                                        </p:attrNameLst>
                                      </p:cBhvr>
                                      <p:to>
                                        <p:strVal val="visible"/>
                                      </p:to>
                                    </p:set>
                                    <p:animEffect transition="in" filter="fade">
                                      <p:cBhvr>
                                        <p:cTn id="76" dur="1000"/>
                                        <p:tgtEl>
                                          <p:spTgt spid="997"/>
                                        </p:tgtEl>
                                      </p:cBhvr>
                                    </p:animEffect>
                                  </p:childTnLst>
                                </p:cTn>
                              </p:par>
                              <p:par>
                                <p:cTn id="77" presetID="10" presetClass="entr" presetSubtype="0" fill="hold" nodeType="withEffect">
                                  <p:stCondLst>
                                    <p:cond delay="0"/>
                                  </p:stCondLst>
                                  <p:childTnLst>
                                    <p:set>
                                      <p:cBhvr>
                                        <p:cTn id="78" dur="1" fill="hold">
                                          <p:stCondLst>
                                            <p:cond delay="0"/>
                                          </p:stCondLst>
                                        </p:cTn>
                                        <p:tgtEl>
                                          <p:spTgt spid="996"/>
                                        </p:tgtEl>
                                        <p:attrNameLst>
                                          <p:attrName>style.visibility</p:attrName>
                                        </p:attrNameLst>
                                      </p:cBhvr>
                                      <p:to>
                                        <p:strVal val="visible"/>
                                      </p:to>
                                    </p:set>
                                    <p:animEffect transition="in" filter="fade">
                                      <p:cBhvr>
                                        <p:cTn id="79" dur="1000"/>
                                        <p:tgtEl>
                                          <p:spTgt spid="996"/>
                                        </p:tgtEl>
                                      </p:cBhvr>
                                    </p:animEffect>
                                  </p:childTnLst>
                                </p:cTn>
                              </p:par>
                            </p:childTnLst>
                          </p:cTn>
                        </p:par>
                        <p:par>
                          <p:cTn id="80" fill="hold">
                            <p:stCondLst>
                              <p:cond delay="1000"/>
                            </p:stCondLst>
                            <p:childTnLst>
                              <p:par>
                                <p:cTn id="81" presetID="10" presetClass="entr" presetSubtype="0" fill="hold" nodeType="afterEffect">
                                  <p:stCondLst>
                                    <p:cond delay="0"/>
                                  </p:stCondLst>
                                  <p:childTnLst>
                                    <p:set>
                                      <p:cBhvr>
                                        <p:cTn id="82" dur="1" fill="hold">
                                          <p:stCondLst>
                                            <p:cond delay="0"/>
                                          </p:stCondLst>
                                        </p:cTn>
                                        <p:tgtEl>
                                          <p:spTgt spid="998"/>
                                        </p:tgtEl>
                                        <p:attrNameLst>
                                          <p:attrName>style.visibility</p:attrName>
                                        </p:attrNameLst>
                                      </p:cBhvr>
                                      <p:to>
                                        <p:strVal val="visible"/>
                                      </p:to>
                                    </p:set>
                                    <p:animEffect transition="in" filter="fade">
                                      <p:cBhvr>
                                        <p:cTn id="83" dur="1000"/>
                                        <p:tgtEl>
                                          <p:spTgt spid="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96"/>
          <p:cNvSpPr txBox="1">
            <a:spLocks noGrp="1"/>
          </p:cNvSpPr>
          <p:nvPr>
            <p:ph type="body" idx="1"/>
          </p:nvPr>
        </p:nvSpPr>
        <p:spPr>
          <a:xfrm>
            <a:off x="65250" y="731625"/>
            <a:ext cx="8955900" cy="1239283"/>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One possible implementation of the List abstract data type uses an array to store the elements in the list. </a:t>
            </a:r>
            <a:r>
              <a:rPr lang="en" dirty="0">
                <a:highlight>
                  <a:srgbClr val="FFFF00"/>
                </a:highlight>
              </a:rPr>
              <a:t>The array is </a:t>
            </a:r>
            <a:r>
              <a:rPr lang="en" b="1" i="1" dirty="0">
                <a:solidFill>
                  <a:srgbClr val="FF0000"/>
                </a:solidFill>
                <a:highlight>
                  <a:srgbClr val="FFFF00"/>
                </a:highlight>
              </a:rPr>
              <a:t>over-allocated</a:t>
            </a:r>
            <a:r>
              <a:rPr lang="en" dirty="0">
                <a:highlight>
                  <a:srgbClr val="FFFF00"/>
                </a:highlight>
              </a:rPr>
              <a:t> to start, so that there is room to add a few elements before worrying about needing to resize (we'll handle that later).</a:t>
            </a:r>
            <a:endParaRPr dirty="0">
              <a:highlight>
                <a:srgbClr val="FFFF00"/>
              </a:highlight>
            </a:endParaRPr>
          </a:p>
        </p:txBody>
      </p:sp>
      <p:sp>
        <p:nvSpPr>
          <p:cNvPr id="1006" name="Google Shape;1006;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sp>
        <p:nvSpPr>
          <p:cNvPr id="1007" name="Google Shape;1007;p96"/>
          <p:cNvSpPr txBox="1">
            <a:spLocks noGrp="1"/>
          </p:cNvSpPr>
          <p:nvPr>
            <p:ph type="body" idx="2"/>
          </p:nvPr>
        </p:nvSpPr>
        <p:spPr>
          <a:xfrm>
            <a:off x="2380850" y="1689850"/>
            <a:ext cx="6551100" cy="2909997"/>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Create a new Java class named "</a:t>
            </a:r>
            <a:r>
              <a:rPr lang="en" sz="1400" dirty="0">
                <a:solidFill>
                  <a:srgbClr val="FF0000"/>
                </a:solidFill>
                <a:latin typeface="Courier New"/>
                <a:ea typeface="Courier New"/>
                <a:cs typeface="Courier New"/>
                <a:sym typeface="Courier New"/>
              </a:rPr>
              <a:t>ArrayList</a:t>
            </a:r>
            <a:r>
              <a:rPr lang="en" sz="1400" dirty="0"/>
              <a:t>".</a:t>
            </a:r>
            <a:endParaRPr sz="1400" dirty="0"/>
          </a:p>
          <a:p>
            <a:pPr marL="914400" lvl="1" indent="-304800" algn="l" rtl="0">
              <a:spcBef>
                <a:spcPts val="0"/>
              </a:spcBef>
              <a:spcAft>
                <a:spcPts val="0"/>
              </a:spcAft>
              <a:buSzPts val="1200"/>
              <a:buChar char="○"/>
            </a:pPr>
            <a:r>
              <a:rPr lang="en" sz="1200" dirty="0"/>
              <a:t>Use the UML to the left as a guide to begin implementing your </a:t>
            </a:r>
            <a:r>
              <a:rPr lang="en" sz="1200" dirty="0">
                <a:latin typeface="Courier New"/>
                <a:ea typeface="Courier New"/>
                <a:cs typeface="Courier New"/>
                <a:sym typeface="Courier New"/>
              </a:rPr>
              <a:t>ArrayList</a:t>
            </a:r>
            <a:r>
              <a:rPr lang="en" sz="1200" dirty="0"/>
              <a:t>.</a:t>
            </a:r>
            <a:endParaRPr sz="1200" dirty="0"/>
          </a:p>
          <a:p>
            <a:pPr marL="914400" lvl="1" indent="-304800" algn="l" rtl="0">
              <a:spcBef>
                <a:spcPts val="0"/>
              </a:spcBef>
              <a:spcAft>
                <a:spcPts val="0"/>
              </a:spcAft>
              <a:buSzPts val="1200"/>
              <a:buChar char="○"/>
            </a:pPr>
            <a:r>
              <a:rPr lang="en" sz="1200" dirty="0"/>
              <a:t>At first, focus on the </a:t>
            </a:r>
            <a:r>
              <a:rPr lang="en" sz="1200" b="1" i="1" dirty="0">
                <a:solidFill>
                  <a:srgbClr val="FF0000"/>
                </a:solidFill>
              </a:rPr>
              <a:t>fields</a:t>
            </a:r>
            <a:r>
              <a:rPr lang="en" sz="1200" dirty="0">
                <a:solidFill>
                  <a:srgbClr val="FF0000"/>
                </a:solidFill>
              </a:rPr>
              <a:t> </a:t>
            </a:r>
            <a:r>
              <a:rPr lang="en" sz="1200" dirty="0"/>
              <a:t>and a </a:t>
            </a:r>
            <a:r>
              <a:rPr lang="en" sz="1200" b="1" i="1" dirty="0">
                <a:solidFill>
                  <a:srgbClr val="FF0000"/>
                </a:solidFill>
              </a:rPr>
              <a:t>constructor</a:t>
            </a:r>
            <a:r>
              <a:rPr lang="en" sz="1200" dirty="0"/>
              <a:t>.</a:t>
            </a:r>
            <a:endParaRPr sz="1200" dirty="0"/>
          </a:p>
          <a:p>
            <a:pPr marL="1371600" lvl="2" indent="-304800" algn="l" rtl="0">
              <a:spcBef>
                <a:spcPts val="0"/>
              </a:spcBef>
              <a:spcAft>
                <a:spcPts val="0"/>
              </a:spcAft>
              <a:buSzPts val="1200"/>
              <a:buChar char="■"/>
            </a:pPr>
            <a:r>
              <a:rPr lang="en" sz="1200" dirty="0"/>
              <a:t>In the constructor, </a:t>
            </a:r>
            <a:r>
              <a:rPr lang="en" sz="1200" dirty="0">
                <a:highlight>
                  <a:srgbClr val="FFFF00"/>
                </a:highlight>
              </a:rPr>
              <a:t>create an </a:t>
            </a:r>
            <a:r>
              <a:rPr lang="en" sz="1200" dirty="0">
                <a:solidFill>
                  <a:srgbClr val="FF0000"/>
                </a:solidFill>
                <a:highlight>
                  <a:srgbClr val="FFFF00"/>
                </a:highlight>
                <a:latin typeface="Courier New"/>
                <a:ea typeface="Courier New"/>
                <a:cs typeface="Courier New"/>
                <a:sym typeface="Courier New"/>
              </a:rPr>
              <a:t>Object</a:t>
            </a:r>
            <a:r>
              <a:rPr lang="en" sz="1200" dirty="0">
                <a:solidFill>
                  <a:srgbClr val="FF0000"/>
                </a:solidFill>
                <a:highlight>
                  <a:srgbClr val="FFFF00"/>
                </a:highlight>
              </a:rPr>
              <a:t> </a:t>
            </a:r>
            <a:r>
              <a:rPr lang="en" sz="1200" b="1" i="1" dirty="0">
                <a:solidFill>
                  <a:srgbClr val="FF0000"/>
                </a:solidFill>
                <a:highlight>
                  <a:srgbClr val="FFFF00"/>
                </a:highlight>
              </a:rPr>
              <a:t>array</a:t>
            </a:r>
            <a:r>
              <a:rPr lang="en" sz="1200" dirty="0">
                <a:highlight>
                  <a:srgbClr val="FFFF00"/>
                </a:highlight>
              </a:rPr>
              <a:t> large enough to hold </a:t>
            </a:r>
            <a:r>
              <a:rPr lang="en" sz="1200" b="1" i="1" dirty="0">
                <a:solidFill>
                  <a:srgbClr val="FF0000"/>
                </a:solidFill>
                <a:highlight>
                  <a:srgbClr val="FFFF00"/>
                </a:highlight>
              </a:rPr>
              <a:t>2 values</a:t>
            </a:r>
            <a:r>
              <a:rPr lang="en" sz="1200" dirty="0">
                <a:highlight>
                  <a:srgbClr val="FFFF00"/>
                </a:highlight>
              </a:rPr>
              <a:t>.</a:t>
            </a:r>
            <a:endParaRPr sz="1200" dirty="0">
              <a:highlight>
                <a:srgbClr val="FFFF00"/>
              </a:highlight>
            </a:endParaRPr>
          </a:p>
          <a:p>
            <a:pPr marL="914400" lvl="1" indent="-304800" algn="l" rtl="0">
              <a:spcBef>
                <a:spcPts val="0"/>
              </a:spcBef>
              <a:spcAft>
                <a:spcPts val="0"/>
              </a:spcAft>
              <a:buSzPts val="1200"/>
              <a:buChar char="○"/>
            </a:pPr>
            <a:r>
              <a:rPr lang="en" sz="1200" dirty="0">
                <a:highlight>
                  <a:srgbClr val="FFFF00"/>
                </a:highlight>
              </a:rPr>
              <a:t>You should be able to easily implement the </a:t>
            </a:r>
            <a:r>
              <a:rPr lang="en" sz="1200" dirty="0">
                <a:solidFill>
                  <a:srgbClr val="FF0000"/>
                </a:solidFill>
                <a:highlight>
                  <a:srgbClr val="FFFF00"/>
                </a:highlight>
                <a:latin typeface="Courier New"/>
                <a:ea typeface="Courier New"/>
                <a:cs typeface="Courier New"/>
                <a:sym typeface="Courier New"/>
              </a:rPr>
              <a:t>size</a:t>
            </a:r>
            <a:r>
              <a:rPr lang="en" sz="1200" dirty="0">
                <a:highlight>
                  <a:srgbClr val="FFFF00"/>
                </a:highlight>
              </a:rPr>
              <a:t>, </a:t>
            </a:r>
            <a:r>
              <a:rPr lang="en" sz="1200" dirty="0">
                <a:solidFill>
                  <a:srgbClr val="FF0000"/>
                </a:solidFill>
                <a:highlight>
                  <a:srgbClr val="FFFF00"/>
                </a:highlight>
                <a:latin typeface="Courier New"/>
                <a:ea typeface="Courier New"/>
                <a:cs typeface="Courier New"/>
                <a:sym typeface="Courier New"/>
              </a:rPr>
              <a:t>get</a:t>
            </a:r>
            <a:r>
              <a:rPr lang="en" sz="1200" dirty="0">
                <a:highlight>
                  <a:srgbClr val="FFFF00"/>
                </a:highlight>
              </a:rPr>
              <a:t>, and </a:t>
            </a:r>
            <a:r>
              <a:rPr lang="en" sz="1200" dirty="0">
                <a:solidFill>
                  <a:srgbClr val="FF0000"/>
                </a:solidFill>
                <a:highlight>
                  <a:srgbClr val="FFFF00"/>
                </a:highlight>
                <a:latin typeface="Courier New"/>
                <a:ea typeface="Courier New"/>
                <a:cs typeface="Courier New"/>
                <a:sym typeface="Courier New"/>
              </a:rPr>
              <a:t>set</a:t>
            </a:r>
            <a:r>
              <a:rPr lang="en" sz="1200" dirty="0">
                <a:solidFill>
                  <a:srgbClr val="FF0000"/>
                </a:solidFill>
                <a:highlight>
                  <a:srgbClr val="FFFF00"/>
                </a:highlight>
              </a:rPr>
              <a:t> </a:t>
            </a:r>
            <a:r>
              <a:rPr lang="en" sz="1200" dirty="0">
                <a:highlight>
                  <a:srgbClr val="FFFF00"/>
                </a:highlight>
              </a:rPr>
              <a:t>methods.</a:t>
            </a:r>
            <a:endParaRPr sz="1200" dirty="0">
              <a:highlight>
                <a:srgbClr val="FFFF00"/>
              </a:highlight>
            </a:endParaRPr>
          </a:p>
          <a:p>
            <a:pPr marL="1371600" lvl="2" indent="-304800" algn="l" rtl="0">
              <a:spcBef>
                <a:spcPts val="0"/>
              </a:spcBef>
              <a:spcAft>
                <a:spcPts val="0"/>
              </a:spcAft>
              <a:buSzPts val="1200"/>
              <a:buChar char="■"/>
            </a:pPr>
            <a:r>
              <a:rPr lang="en" sz="1200" b="1" i="1" dirty="0">
                <a:solidFill>
                  <a:srgbClr val="FF0000"/>
                </a:solidFill>
              </a:rPr>
              <a:t>Do not</a:t>
            </a:r>
            <a:r>
              <a:rPr lang="en" sz="1200" dirty="0">
                <a:solidFill>
                  <a:srgbClr val="FF0000"/>
                </a:solidFill>
              </a:rPr>
              <a:t> </a:t>
            </a:r>
            <a:r>
              <a:rPr lang="en" sz="1200" dirty="0"/>
              <a:t>worry about validating the </a:t>
            </a:r>
            <a:r>
              <a:rPr lang="en" sz="1200" dirty="0">
                <a:latin typeface="Courier New"/>
                <a:ea typeface="Courier New"/>
                <a:cs typeface="Courier New"/>
                <a:sym typeface="Courier New"/>
              </a:rPr>
              <a:t>index</a:t>
            </a:r>
            <a:r>
              <a:rPr lang="en" sz="1200" dirty="0"/>
              <a:t>.</a:t>
            </a:r>
            <a:endParaRPr sz="1200" dirty="0"/>
          </a:p>
          <a:p>
            <a:pPr marL="457200" lvl="0" indent="-317500" algn="l" rtl="0">
              <a:spcBef>
                <a:spcPts val="0"/>
              </a:spcBef>
              <a:spcAft>
                <a:spcPts val="0"/>
              </a:spcAft>
              <a:buSzPts val="1400"/>
              <a:buChar char="●"/>
            </a:pPr>
            <a:r>
              <a:rPr lang="en" sz="1400" dirty="0"/>
              <a:t>The string representation of the </a:t>
            </a:r>
            <a:r>
              <a:rPr lang="en" sz="1400" dirty="0">
                <a:latin typeface="Courier New"/>
                <a:ea typeface="Courier New"/>
                <a:cs typeface="Courier New"/>
                <a:sym typeface="Courier New"/>
              </a:rPr>
              <a:t>ArrayList</a:t>
            </a:r>
            <a:r>
              <a:rPr lang="en" sz="1400" dirty="0"/>
              <a:t> should match the format </a:t>
            </a:r>
            <a:r>
              <a:rPr lang="en" sz="1400" dirty="0">
                <a:latin typeface="Courier New"/>
                <a:ea typeface="Courier New"/>
                <a:cs typeface="Courier New"/>
                <a:sym typeface="Courier New"/>
              </a:rPr>
              <a:t>"size, &lt;array&gt;"</a:t>
            </a:r>
            <a:r>
              <a:rPr lang="en" sz="1400" dirty="0"/>
              <a:t>. </a:t>
            </a:r>
            <a:endParaRPr sz="1400" dirty="0"/>
          </a:p>
          <a:p>
            <a:pPr marL="914400" lvl="1" indent="-304800" algn="l" rtl="0">
              <a:spcBef>
                <a:spcPts val="0"/>
              </a:spcBef>
              <a:spcAft>
                <a:spcPts val="0"/>
              </a:spcAft>
              <a:buSzPts val="1200"/>
              <a:buChar char="○"/>
            </a:pPr>
            <a:r>
              <a:rPr lang="en" sz="1200" dirty="0"/>
              <a:t>For example: </a:t>
            </a:r>
            <a:r>
              <a:rPr lang="en" sz="1200" dirty="0">
                <a:latin typeface="Courier New"/>
                <a:ea typeface="Courier New"/>
                <a:cs typeface="Courier New"/>
                <a:sym typeface="Courier New"/>
              </a:rPr>
              <a:t>"3, [2, 3, 4, 0, 0, 0]"</a:t>
            </a:r>
            <a:endParaRPr sz="1200" dirty="0"/>
          </a:p>
          <a:p>
            <a:pPr marL="914400" lvl="1" indent="-304800" algn="l" rtl="0">
              <a:spcBef>
                <a:spcPts val="0"/>
              </a:spcBef>
              <a:spcAft>
                <a:spcPts val="0"/>
              </a:spcAft>
              <a:buSzPts val="1200"/>
              <a:buChar char="○"/>
            </a:pPr>
            <a:r>
              <a:rPr lang="en" sz="1200" b="1" i="1" dirty="0">
                <a:solidFill>
                  <a:srgbClr val="FF0000"/>
                </a:solidFill>
              </a:rPr>
              <a:t>Hint</a:t>
            </a:r>
            <a:r>
              <a:rPr lang="en" sz="1200" dirty="0"/>
              <a:t>: use </a:t>
            </a:r>
            <a:r>
              <a:rPr lang="en" sz="1200" dirty="0">
                <a:latin typeface="Courier New"/>
                <a:ea typeface="Courier New"/>
                <a:cs typeface="Courier New"/>
                <a:sym typeface="Courier New"/>
              </a:rPr>
              <a:t>Arrays.toString(array)</a:t>
            </a:r>
            <a:endParaRPr sz="1200" dirty="0">
              <a:latin typeface="Courier New"/>
              <a:ea typeface="Courier New"/>
              <a:cs typeface="Courier New"/>
              <a:sym typeface="Courier New"/>
            </a:endParaRPr>
          </a:p>
          <a:p>
            <a:pPr marL="457200" lvl="0" indent="-317500" algn="l" rtl="0">
              <a:spcBef>
                <a:spcPts val="0"/>
              </a:spcBef>
              <a:spcAft>
                <a:spcPts val="0"/>
              </a:spcAft>
              <a:buSzPts val="1400"/>
              <a:buChar char="●"/>
            </a:pPr>
            <a:r>
              <a:rPr lang="en" sz="1400" dirty="0"/>
              <a:t>Define a </a:t>
            </a:r>
            <a:r>
              <a:rPr lang="en" sz="1400" dirty="0">
                <a:latin typeface="Courier New"/>
                <a:ea typeface="Courier New"/>
                <a:cs typeface="Courier New"/>
                <a:sym typeface="Courier New"/>
              </a:rPr>
              <a:t>main</a:t>
            </a:r>
            <a:r>
              <a:rPr lang="en" sz="1400" dirty="0"/>
              <a:t> method and use it to create an instance of your class and print it to standard output.</a:t>
            </a:r>
            <a:endParaRPr sz="1200" dirty="0"/>
          </a:p>
        </p:txBody>
      </p:sp>
      <p:sp>
        <p:nvSpPr>
          <p:cNvPr id="1008" name="Google Shape;1008;p9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Array-Based List</a:t>
            </a:r>
            <a:endParaRPr/>
          </a:p>
        </p:txBody>
      </p:sp>
      <p:sp>
        <p:nvSpPr>
          <p:cNvPr id="1009" name="Google Shape;1009;p9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5.16</a:t>
            </a:r>
            <a:endParaRPr/>
          </a:p>
        </p:txBody>
      </p:sp>
      <p:pic>
        <p:nvPicPr>
          <p:cNvPr id="1010" name="Google Shape;1010;p96"/>
          <p:cNvPicPr preferRelativeResize="0"/>
          <p:nvPr/>
        </p:nvPicPr>
        <p:blipFill rotWithShape="1">
          <a:blip r:embed="rId3">
            <a:alphaModFix/>
          </a:blip>
          <a:srcRect/>
          <a:stretch/>
        </p:blipFill>
        <p:spPr>
          <a:xfrm>
            <a:off x="340900" y="1729125"/>
            <a:ext cx="1845275" cy="31913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97"/>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Closer Look at Appending</a:t>
            </a:r>
            <a:endParaRPr/>
          </a:p>
        </p:txBody>
      </p:sp>
      <p:graphicFrame>
        <p:nvGraphicFramePr>
          <p:cNvPr id="1016" name="Google Shape;1016;p97"/>
          <p:cNvGraphicFramePr/>
          <p:nvPr/>
        </p:nvGraphicFramePr>
        <p:xfrm>
          <a:off x="184200" y="2367207"/>
          <a:ext cx="2768750" cy="670500"/>
        </p:xfrm>
        <a:graphic>
          <a:graphicData uri="http://schemas.openxmlformats.org/drawingml/2006/table">
            <a:tbl>
              <a:tblPr>
                <a:noFill/>
                <a:tableStyleId>{5D16334A-BD30-4DCF-A821-F696FD12572A}</a:tableStyleId>
              </a:tblPr>
              <a:tblGrid>
                <a:gridCol w="553750">
                  <a:extLst>
                    <a:ext uri="{9D8B030D-6E8A-4147-A177-3AD203B41FA5}">
                      <a16:colId xmlns:a16="http://schemas.microsoft.com/office/drawing/2014/main" val="20000"/>
                    </a:ext>
                  </a:extLst>
                </a:gridCol>
                <a:gridCol w="553750">
                  <a:extLst>
                    <a:ext uri="{9D8B030D-6E8A-4147-A177-3AD203B41FA5}">
                      <a16:colId xmlns:a16="http://schemas.microsoft.com/office/drawing/2014/main" val="20001"/>
                    </a:ext>
                  </a:extLst>
                </a:gridCol>
                <a:gridCol w="553750">
                  <a:extLst>
                    <a:ext uri="{9D8B030D-6E8A-4147-A177-3AD203B41FA5}">
                      <a16:colId xmlns:a16="http://schemas.microsoft.com/office/drawing/2014/main" val="20002"/>
                    </a:ext>
                  </a:extLst>
                </a:gridCol>
                <a:gridCol w="553750">
                  <a:extLst>
                    <a:ext uri="{9D8B030D-6E8A-4147-A177-3AD203B41FA5}">
                      <a16:colId xmlns:a16="http://schemas.microsoft.com/office/drawing/2014/main" val="20003"/>
                    </a:ext>
                  </a:extLst>
                </a:gridCol>
                <a:gridCol w="553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17" name="Google Shape;1017;p97"/>
          <p:cNvSpPr txBox="1"/>
          <p:nvPr/>
        </p:nvSpPr>
        <p:spPr>
          <a:xfrm>
            <a:off x="184225" y="1364950"/>
            <a:ext cx="2768700" cy="921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Conveniently, the </a:t>
            </a:r>
            <a:r>
              <a:rPr lang="en" sz="1200" b="0" i="0" u="none" strike="noStrike" cap="none">
                <a:solidFill>
                  <a:srgbClr val="FF0000"/>
                </a:solidFill>
                <a:latin typeface="Courier New"/>
                <a:ea typeface="Courier New"/>
                <a:cs typeface="Courier New"/>
                <a:sym typeface="Courier New"/>
              </a:rPr>
              <a:t>size</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field indicates both the number of elements in the list </a:t>
            </a:r>
            <a:r>
              <a:rPr lang="en" sz="1200" b="1" i="1" u="none" strike="noStrike" cap="none">
                <a:solidFill>
                  <a:srgbClr val="FF0000"/>
                </a:solidFill>
                <a:latin typeface="Arial"/>
                <a:ea typeface="Arial"/>
                <a:cs typeface="Arial"/>
                <a:sym typeface="Arial"/>
              </a:rPr>
              <a:t>and</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the index at which the next element should be appended.</a:t>
            </a:r>
            <a:endParaRPr sz="1200" b="0" i="0" u="none" strike="noStrike" cap="none">
              <a:solidFill>
                <a:srgbClr val="000000"/>
              </a:solidFill>
              <a:latin typeface="Arial"/>
              <a:ea typeface="Arial"/>
              <a:cs typeface="Arial"/>
              <a:sym typeface="Arial"/>
            </a:endParaRPr>
          </a:p>
        </p:txBody>
      </p:sp>
      <p:grpSp>
        <p:nvGrpSpPr>
          <p:cNvPr id="1018" name="Google Shape;1018;p97"/>
          <p:cNvGrpSpPr/>
          <p:nvPr/>
        </p:nvGrpSpPr>
        <p:grpSpPr>
          <a:xfrm>
            <a:off x="115371" y="2948528"/>
            <a:ext cx="693300" cy="358200"/>
            <a:chOff x="247571" y="2364646"/>
            <a:chExt cx="693300" cy="358200"/>
          </a:xfrm>
        </p:grpSpPr>
        <p:sp>
          <p:nvSpPr>
            <p:cNvPr id="1019" name="Google Shape;1019;p97"/>
            <p:cNvSpPr txBox="1"/>
            <p:nvPr/>
          </p:nvSpPr>
          <p:spPr>
            <a:xfrm>
              <a:off x="247571" y="2520346"/>
              <a:ext cx="693300" cy="202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size=0</a:t>
              </a:r>
              <a:endParaRPr sz="1000" b="0" i="0" u="none" strike="noStrike" cap="none">
                <a:solidFill>
                  <a:srgbClr val="000000"/>
                </a:solidFill>
                <a:latin typeface="Consolas"/>
                <a:ea typeface="Consolas"/>
                <a:cs typeface="Consolas"/>
                <a:sym typeface="Consolas"/>
              </a:endParaRPr>
            </a:p>
          </p:txBody>
        </p:sp>
        <p:cxnSp>
          <p:nvCxnSpPr>
            <p:cNvPr id="1020" name="Google Shape;1020;p97"/>
            <p:cNvCxnSpPr>
              <a:stCxn id="1019" idx="0"/>
            </p:cNvCxnSpPr>
            <p:nvPr/>
          </p:nvCxnSpPr>
          <p:spPr>
            <a:xfrm rot="10800000">
              <a:off x="594221" y="2364646"/>
              <a:ext cx="0" cy="155700"/>
            </a:xfrm>
            <a:prstGeom prst="straightConnector1">
              <a:avLst/>
            </a:prstGeom>
            <a:noFill/>
            <a:ln w="19050" cap="flat" cmpd="sng">
              <a:solidFill>
                <a:srgbClr val="000000"/>
              </a:solidFill>
              <a:prstDash val="solid"/>
              <a:round/>
              <a:headEnd type="none" w="sm" len="sm"/>
              <a:tailEnd type="triangle" w="med" len="med"/>
            </a:ln>
          </p:spPr>
        </p:cxnSp>
      </p:grpSp>
      <p:graphicFrame>
        <p:nvGraphicFramePr>
          <p:cNvPr id="1021" name="Google Shape;1021;p97"/>
          <p:cNvGraphicFramePr/>
          <p:nvPr/>
        </p:nvGraphicFramePr>
        <p:xfrm>
          <a:off x="184200" y="4119808"/>
          <a:ext cx="2768750" cy="670500"/>
        </p:xfrm>
        <a:graphic>
          <a:graphicData uri="http://schemas.openxmlformats.org/drawingml/2006/table">
            <a:tbl>
              <a:tblPr>
                <a:noFill/>
                <a:tableStyleId>{5D16334A-BD30-4DCF-A821-F696FD12572A}</a:tableStyleId>
              </a:tblPr>
              <a:tblGrid>
                <a:gridCol w="553750">
                  <a:extLst>
                    <a:ext uri="{9D8B030D-6E8A-4147-A177-3AD203B41FA5}">
                      <a16:colId xmlns:a16="http://schemas.microsoft.com/office/drawing/2014/main" val="20000"/>
                    </a:ext>
                  </a:extLst>
                </a:gridCol>
                <a:gridCol w="553750">
                  <a:extLst>
                    <a:ext uri="{9D8B030D-6E8A-4147-A177-3AD203B41FA5}">
                      <a16:colId xmlns:a16="http://schemas.microsoft.com/office/drawing/2014/main" val="20001"/>
                    </a:ext>
                  </a:extLst>
                </a:gridCol>
                <a:gridCol w="553750">
                  <a:extLst>
                    <a:ext uri="{9D8B030D-6E8A-4147-A177-3AD203B41FA5}">
                      <a16:colId xmlns:a16="http://schemas.microsoft.com/office/drawing/2014/main" val="20002"/>
                    </a:ext>
                  </a:extLst>
                </a:gridCol>
                <a:gridCol w="553750">
                  <a:extLst>
                    <a:ext uri="{9D8B030D-6E8A-4147-A177-3AD203B41FA5}">
                      <a16:colId xmlns:a16="http://schemas.microsoft.com/office/drawing/2014/main" val="20003"/>
                    </a:ext>
                  </a:extLst>
                </a:gridCol>
                <a:gridCol w="553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"a"</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"b"</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FF0000"/>
                          </a:solidFill>
                          <a:latin typeface="Consolas"/>
                          <a:ea typeface="Consolas"/>
                          <a:cs typeface="Consolas"/>
                          <a:sym typeface="Consolas"/>
                        </a:rPr>
                        <a:t>"c"</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pSp>
        <p:nvGrpSpPr>
          <p:cNvPr id="1022" name="Google Shape;1022;p97"/>
          <p:cNvGrpSpPr/>
          <p:nvPr/>
        </p:nvGrpSpPr>
        <p:grpSpPr>
          <a:xfrm>
            <a:off x="1784886" y="4701128"/>
            <a:ext cx="693300" cy="358200"/>
            <a:chOff x="247571" y="2364646"/>
            <a:chExt cx="693300" cy="358200"/>
          </a:xfrm>
        </p:grpSpPr>
        <p:sp>
          <p:nvSpPr>
            <p:cNvPr id="1023" name="Google Shape;1023;p97"/>
            <p:cNvSpPr txBox="1"/>
            <p:nvPr/>
          </p:nvSpPr>
          <p:spPr>
            <a:xfrm>
              <a:off x="247571" y="2520346"/>
              <a:ext cx="693300" cy="202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size=3</a:t>
              </a:r>
              <a:endParaRPr sz="1000" b="0" i="0" u="none" strike="noStrike" cap="none">
                <a:solidFill>
                  <a:srgbClr val="000000"/>
                </a:solidFill>
                <a:latin typeface="Consolas"/>
                <a:ea typeface="Consolas"/>
                <a:cs typeface="Consolas"/>
                <a:sym typeface="Consolas"/>
              </a:endParaRPr>
            </a:p>
          </p:txBody>
        </p:sp>
        <p:cxnSp>
          <p:nvCxnSpPr>
            <p:cNvPr id="1024" name="Google Shape;1024;p97"/>
            <p:cNvCxnSpPr>
              <a:stCxn id="1023" idx="0"/>
            </p:cNvCxnSpPr>
            <p:nvPr/>
          </p:nvCxnSpPr>
          <p:spPr>
            <a:xfrm rot="10800000">
              <a:off x="594221" y="2364646"/>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1025" name="Google Shape;1025;p97"/>
          <p:cNvSpPr txBox="1"/>
          <p:nvPr/>
        </p:nvSpPr>
        <p:spPr>
          <a:xfrm>
            <a:off x="184225" y="3348900"/>
            <a:ext cx="2768700" cy="670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For example, consider an array-based list onto which </a:t>
            </a:r>
            <a:r>
              <a:rPr lang="en" sz="1200" b="1" i="1" u="none" strike="noStrike" cap="none">
                <a:solidFill>
                  <a:srgbClr val="FF0000"/>
                </a:solidFill>
                <a:latin typeface="Arial"/>
                <a:ea typeface="Arial"/>
                <a:cs typeface="Arial"/>
                <a:sym typeface="Arial"/>
              </a:rPr>
              <a:t>3 elements</a:t>
            </a:r>
            <a:r>
              <a:rPr lang="en" sz="1200" b="0" i="0" u="none" strike="noStrike" cap="none">
                <a:solidFill>
                  <a:srgbClr val="000000"/>
                </a:solidFill>
                <a:latin typeface="Arial"/>
                <a:ea typeface="Arial"/>
                <a:cs typeface="Arial"/>
                <a:sym typeface="Arial"/>
              </a:rPr>
              <a:t> have been appended...</a:t>
            </a:r>
            <a:endParaRPr sz="1200" b="0" i="0" u="none" strike="noStrike" cap="none">
              <a:solidFill>
                <a:srgbClr val="000000"/>
              </a:solidFill>
              <a:latin typeface="Arial"/>
              <a:ea typeface="Arial"/>
              <a:cs typeface="Arial"/>
              <a:sym typeface="Arial"/>
            </a:endParaRPr>
          </a:p>
        </p:txBody>
      </p:sp>
      <p:graphicFrame>
        <p:nvGraphicFramePr>
          <p:cNvPr id="1026" name="Google Shape;1026;p97"/>
          <p:cNvGraphicFramePr/>
          <p:nvPr/>
        </p:nvGraphicFramePr>
        <p:xfrm>
          <a:off x="3198024" y="2236497"/>
          <a:ext cx="2623750" cy="670500"/>
        </p:xfrm>
        <a:graphic>
          <a:graphicData uri="http://schemas.openxmlformats.org/drawingml/2006/table">
            <a:tbl>
              <a:tblPr>
                <a:noFill/>
                <a:tableStyleId>{5D16334A-BD30-4DCF-A821-F696FD12572A}</a:tableStyleId>
              </a:tblPr>
              <a:tblGrid>
                <a:gridCol w="524750">
                  <a:extLst>
                    <a:ext uri="{9D8B030D-6E8A-4147-A177-3AD203B41FA5}">
                      <a16:colId xmlns:a16="http://schemas.microsoft.com/office/drawing/2014/main" val="20000"/>
                    </a:ext>
                  </a:extLst>
                </a:gridCol>
                <a:gridCol w="524750">
                  <a:extLst>
                    <a:ext uri="{9D8B030D-6E8A-4147-A177-3AD203B41FA5}">
                      <a16:colId xmlns:a16="http://schemas.microsoft.com/office/drawing/2014/main" val="20001"/>
                    </a:ext>
                  </a:extLst>
                </a:gridCol>
                <a:gridCol w="524750">
                  <a:extLst>
                    <a:ext uri="{9D8B030D-6E8A-4147-A177-3AD203B41FA5}">
                      <a16:colId xmlns:a16="http://schemas.microsoft.com/office/drawing/2014/main" val="20002"/>
                    </a:ext>
                  </a:extLst>
                </a:gridCol>
                <a:gridCol w="524750">
                  <a:extLst>
                    <a:ext uri="{9D8B030D-6E8A-4147-A177-3AD203B41FA5}">
                      <a16:colId xmlns:a16="http://schemas.microsoft.com/office/drawing/2014/main" val="20003"/>
                    </a:ext>
                  </a:extLst>
                </a:gridCol>
                <a:gridCol w="524750">
                  <a:extLst>
                    <a:ext uri="{9D8B030D-6E8A-4147-A177-3AD203B41FA5}">
                      <a16:colId xmlns:a16="http://schemas.microsoft.com/office/drawing/2014/main" val="20004"/>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a:t>
                      </a:r>
                      <a:r>
                        <a:rPr lang="en" sz="1000">
                          <a:latin typeface="Consolas"/>
                          <a:ea typeface="Consolas"/>
                          <a:cs typeface="Consolas"/>
                          <a:sym typeface="Consolas"/>
                        </a:rPr>
                        <a:t>a</a:t>
                      </a:r>
                      <a:r>
                        <a:rPr lang="en" sz="1000" u="none" strike="noStrike" cap="none">
                          <a:latin typeface="Consolas"/>
                          <a:ea typeface="Consolas"/>
                          <a:cs typeface="Consolas"/>
                          <a:sym typeface="Consolas"/>
                        </a:rPr>
                        <a:t>"</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a:t>
                      </a:r>
                      <a:r>
                        <a:rPr lang="en" sz="1000">
                          <a:latin typeface="Consolas"/>
                          <a:ea typeface="Consolas"/>
                          <a:cs typeface="Consolas"/>
                          <a:sym typeface="Consolas"/>
                        </a:rPr>
                        <a:t>b</a:t>
                      </a:r>
                      <a:r>
                        <a:rPr lang="en" sz="1000" u="none" strike="noStrike" cap="none">
                          <a:latin typeface="Consolas"/>
                          <a:ea typeface="Consolas"/>
                          <a:cs typeface="Consolas"/>
                          <a:sym typeface="Consolas"/>
                        </a:rPr>
                        <a:t>"</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"c"</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"d"</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"e"</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027" name="Google Shape;1027;p97"/>
          <p:cNvGraphicFramePr/>
          <p:nvPr/>
        </p:nvGraphicFramePr>
        <p:xfrm>
          <a:off x="3198024" y="3531897"/>
          <a:ext cx="5253500" cy="670500"/>
        </p:xfrm>
        <a:graphic>
          <a:graphicData uri="http://schemas.openxmlformats.org/drawingml/2006/table">
            <a:tbl>
              <a:tblPr>
                <a:noFill/>
                <a:tableStyleId>{5D16334A-BD30-4DCF-A821-F696FD12572A}</a:tableStyleId>
              </a:tblPr>
              <a:tblGrid>
                <a:gridCol w="525350">
                  <a:extLst>
                    <a:ext uri="{9D8B030D-6E8A-4147-A177-3AD203B41FA5}">
                      <a16:colId xmlns:a16="http://schemas.microsoft.com/office/drawing/2014/main" val="20000"/>
                    </a:ext>
                  </a:extLst>
                </a:gridCol>
                <a:gridCol w="525350">
                  <a:extLst>
                    <a:ext uri="{9D8B030D-6E8A-4147-A177-3AD203B41FA5}">
                      <a16:colId xmlns:a16="http://schemas.microsoft.com/office/drawing/2014/main" val="20001"/>
                    </a:ext>
                  </a:extLst>
                </a:gridCol>
                <a:gridCol w="525350">
                  <a:extLst>
                    <a:ext uri="{9D8B030D-6E8A-4147-A177-3AD203B41FA5}">
                      <a16:colId xmlns:a16="http://schemas.microsoft.com/office/drawing/2014/main" val="20002"/>
                    </a:ext>
                  </a:extLst>
                </a:gridCol>
                <a:gridCol w="525350">
                  <a:extLst>
                    <a:ext uri="{9D8B030D-6E8A-4147-A177-3AD203B41FA5}">
                      <a16:colId xmlns:a16="http://schemas.microsoft.com/office/drawing/2014/main" val="20003"/>
                    </a:ext>
                  </a:extLst>
                </a:gridCol>
                <a:gridCol w="525350">
                  <a:extLst>
                    <a:ext uri="{9D8B030D-6E8A-4147-A177-3AD203B41FA5}">
                      <a16:colId xmlns:a16="http://schemas.microsoft.com/office/drawing/2014/main" val="20004"/>
                    </a:ext>
                  </a:extLst>
                </a:gridCol>
                <a:gridCol w="525350">
                  <a:extLst>
                    <a:ext uri="{9D8B030D-6E8A-4147-A177-3AD203B41FA5}">
                      <a16:colId xmlns:a16="http://schemas.microsoft.com/office/drawing/2014/main" val="20005"/>
                    </a:ext>
                  </a:extLst>
                </a:gridCol>
                <a:gridCol w="525350">
                  <a:extLst>
                    <a:ext uri="{9D8B030D-6E8A-4147-A177-3AD203B41FA5}">
                      <a16:colId xmlns:a16="http://schemas.microsoft.com/office/drawing/2014/main" val="20006"/>
                    </a:ext>
                  </a:extLst>
                </a:gridCol>
                <a:gridCol w="525350">
                  <a:extLst>
                    <a:ext uri="{9D8B030D-6E8A-4147-A177-3AD203B41FA5}">
                      <a16:colId xmlns:a16="http://schemas.microsoft.com/office/drawing/2014/main" val="20007"/>
                    </a:ext>
                  </a:extLst>
                </a:gridCol>
                <a:gridCol w="525350">
                  <a:extLst>
                    <a:ext uri="{9D8B030D-6E8A-4147-A177-3AD203B41FA5}">
                      <a16:colId xmlns:a16="http://schemas.microsoft.com/office/drawing/2014/main" val="20008"/>
                    </a:ext>
                  </a:extLst>
                </a:gridCol>
                <a:gridCol w="525350">
                  <a:extLst>
                    <a:ext uri="{9D8B030D-6E8A-4147-A177-3AD203B41FA5}">
                      <a16:colId xmlns:a16="http://schemas.microsoft.com/office/drawing/2014/main" val="20009"/>
                    </a:ext>
                  </a:extLst>
                </a:gridCol>
              </a:tblGrid>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solidFill>
                          <a:srgbClr val="FF0000"/>
                        </a:solidFill>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latin typeface="Consolas"/>
                          <a:ea typeface="Consolas"/>
                          <a:cs typeface="Consolas"/>
                          <a:sym typeface="Consolas"/>
                        </a:rPr>
                        <a:t>null</a:t>
                      </a:r>
                      <a:endParaRPr sz="1000" u="none" strike="noStrike" cap="none">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0</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1</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2</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3</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4</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5</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6</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7</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8</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000" u="none" strike="noStrike" cap="none">
                          <a:solidFill>
                            <a:srgbClr val="4A86E8"/>
                          </a:solidFill>
                          <a:latin typeface="Consolas"/>
                          <a:ea typeface="Consolas"/>
                          <a:cs typeface="Consolas"/>
                          <a:sym typeface="Consolas"/>
                        </a:rPr>
                        <a:t>9</a:t>
                      </a:r>
                      <a:endParaRPr sz="1000" u="none" strike="noStrike" cap="none">
                        <a:solidFill>
                          <a:srgbClr val="4A86E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28" name="Google Shape;1028;p97"/>
          <p:cNvSpPr txBox="1"/>
          <p:nvPr/>
        </p:nvSpPr>
        <p:spPr>
          <a:xfrm>
            <a:off x="3204946" y="1410906"/>
            <a:ext cx="2623800" cy="660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 challenge occurs when the </a:t>
            </a:r>
            <a:r>
              <a:rPr lang="en" sz="1200" b="1" i="1" u="none" strike="noStrike" cap="none">
                <a:solidFill>
                  <a:srgbClr val="FF0000"/>
                </a:solidFill>
                <a:latin typeface="Arial"/>
                <a:ea typeface="Arial"/>
                <a:cs typeface="Arial"/>
                <a:sym typeface="Arial"/>
              </a:rPr>
              <a:t>size</a:t>
            </a:r>
            <a:r>
              <a:rPr lang="en" sz="1200" b="0" i="0" u="none" strike="noStrike" cap="none">
                <a:solidFill>
                  <a:srgbClr val="000000"/>
                </a:solidFill>
                <a:latin typeface="Arial"/>
                <a:ea typeface="Arial"/>
                <a:cs typeface="Arial"/>
                <a:sym typeface="Arial"/>
              </a:rPr>
              <a:t> is equal to the </a:t>
            </a:r>
            <a:r>
              <a:rPr lang="en" sz="1200" b="1" i="1" u="none" strike="noStrike" cap="none">
                <a:solidFill>
                  <a:srgbClr val="FF0000"/>
                </a:solidFill>
                <a:latin typeface="Arial"/>
                <a:ea typeface="Arial"/>
                <a:cs typeface="Arial"/>
                <a:sym typeface="Arial"/>
              </a:rPr>
              <a:t>capacity </a:t>
            </a:r>
            <a:r>
              <a:rPr lang="en" sz="1200" b="0" i="0" u="none" strike="noStrike" cap="none">
                <a:solidFill>
                  <a:srgbClr val="000000"/>
                </a:solidFill>
                <a:latin typeface="Arial"/>
                <a:ea typeface="Arial"/>
                <a:cs typeface="Arial"/>
                <a:sym typeface="Arial"/>
              </a:rPr>
              <a:t>of the array; the array must be </a:t>
            </a:r>
            <a:r>
              <a:rPr lang="en" sz="1200" b="1" i="1" u="none" strike="noStrike" cap="none">
                <a:solidFill>
                  <a:srgbClr val="FF0000"/>
                </a:solidFill>
                <a:latin typeface="Arial"/>
                <a:ea typeface="Arial"/>
                <a:cs typeface="Arial"/>
                <a:sym typeface="Arial"/>
              </a:rPr>
              <a:t>resized</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1029" name="Google Shape;1029;p97"/>
          <p:cNvSpPr txBox="1"/>
          <p:nvPr/>
        </p:nvSpPr>
        <p:spPr>
          <a:xfrm>
            <a:off x="6398925" y="1410900"/>
            <a:ext cx="2623800" cy="82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 process is much more straightforward than resizing a queue. First, create an array that is </a:t>
            </a:r>
            <a:r>
              <a:rPr lang="en" sz="1200" b="1" i="1" u="none" strike="noStrike" cap="none">
                <a:solidFill>
                  <a:srgbClr val="FF0000"/>
                </a:solidFill>
                <a:latin typeface="Arial"/>
                <a:ea typeface="Arial"/>
                <a:cs typeface="Arial"/>
                <a:sym typeface="Arial"/>
              </a:rPr>
              <a:t>double the size</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
        <p:nvSpPr>
          <p:cNvPr id="1030" name="Google Shape;1030;p97"/>
          <p:cNvSpPr txBox="1"/>
          <p:nvPr/>
        </p:nvSpPr>
        <p:spPr>
          <a:xfrm>
            <a:off x="6389125" y="2378050"/>
            <a:ext cx="2623800" cy="10308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...and then </a:t>
            </a:r>
            <a:r>
              <a:rPr lang="en" sz="1200" b="1" i="1" u="none" strike="noStrike" cap="none">
                <a:solidFill>
                  <a:srgbClr val="FF0000"/>
                </a:solidFill>
                <a:latin typeface="Arial"/>
                <a:ea typeface="Arial"/>
                <a:cs typeface="Arial"/>
                <a:sym typeface="Arial"/>
              </a:rPr>
              <a:t>copy </a:t>
            </a:r>
            <a:r>
              <a:rPr lang="en" sz="1200" b="0" i="0" u="none" strike="noStrike" cap="none">
                <a:solidFill>
                  <a:srgbClr val="000000"/>
                </a:solidFill>
                <a:latin typeface="Arial"/>
                <a:ea typeface="Arial"/>
                <a:cs typeface="Arial"/>
                <a:sym typeface="Arial"/>
              </a:rPr>
              <a:t>each element into the </a:t>
            </a:r>
            <a:r>
              <a:rPr lang="en" sz="1200" b="1" i="1" u="none" strike="noStrike" cap="none">
                <a:solidFill>
                  <a:srgbClr val="FF0000"/>
                </a:solidFill>
                <a:latin typeface="Arial"/>
                <a:ea typeface="Arial"/>
                <a:cs typeface="Arial"/>
                <a:sym typeface="Arial"/>
              </a:rPr>
              <a:t>same</a:t>
            </a:r>
            <a:r>
              <a:rPr lang="en" sz="1200" b="0" i="0" u="none" strike="noStrike" cap="none">
                <a:solidFill>
                  <a:srgbClr val="FF0000"/>
                </a:solidFill>
                <a:latin typeface="Arial"/>
                <a:ea typeface="Arial"/>
                <a:cs typeface="Arial"/>
                <a:sym typeface="Arial"/>
              </a:rPr>
              <a:t> </a:t>
            </a:r>
            <a:r>
              <a:rPr lang="en" sz="1200" b="1" i="1" u="none" strike="noStrike" cap="none">
                <a:solidFill>
                  <a:srgbClr val="FF0000"/>
                </a:solidFill>
                <a:latin typeface="Arial"/>
                <a:ea typeface="Arial"/>
                <a:cs typeface="Arial"/>
                <a:sym typeface="Arial"/>
              </a:rPr>
              <a:t>index</a:t>
            </a:r>
            <a:r>
              <a:rPr lang="en" sz="1200" b="0" i="0" u="none" strike="noStrike" cap="none">
                <a:solidFill>
                  <a:srgbClr val="000000"/>
                </a:solidFill>
                <a:latin typeface="Arial"/>
                <a:ea typeface="Arial"/>
                <a:cs typeface="Arial"/>
                <a:sym typeface="Arial"/>
              </a:rPr>
              <a:t> in the new array. There is no need to move any values around and the size </a:t>
            </a:r>
            <a:r>
              <a:rPr lang="en" sz="1200" b="1" i="1" u="none" strike="noStrike" cap="none">
                <a:solidFill>
                  <a:srgbClr val="FF0000"/>
                </a:solidFill>
                <a:latin typeface="Arial"/>
                <a:ea typeface="Arial"/>
                <a:cs typeface="Arial"/>
                <a:sym typeface="Arial"/>
              </a:rPr>
              <a:t>doesn't change</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grpSp>
        <p:nvGrpSpPr>
          <p:cNvPr id="1031" name="Google Shape;1031;p97"/>
          <p:cNvGrpSpPr/>
          <p:nvPr/>
        </p:nvGrpSpPr>
        <p:grpSpPr>
          <a:xfrm>
            <a:off x="5747286" y="2796128"/>
            <a:ext cx="693300" cy="358200"/>
            <a:chOff x="399971" y="2364646"/>
            <a:chExt cx="693300" cy="358200"/>
          </a:xfrm>
        </p:grpSpPr>
        <p:sp>
          <p:nvSpPr>
            <p:cNvPr id="1032" name="Google Shape;1032;p97"/>
            <p:cNvSpPr txBox="1"/>
            <p:nvPr/>
          </p:nvSpPr>
          <p:spPr>
            <a:xfrm>
              <a:off x="399971" y="2520346"/>
              <a:ext cx="693300" cy="202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size=5</a:t>
              </a:r>
              <a:endParaRPr sz="1000" b="0" i="0" u="none" strike="noStrike" cap="none">
                <a:solidFill>
                  <a:srgbClr val="000000"/>
                </a:solidFill>
                <a:latin typeface="Consolas"/>
                <a:ea typeface="Consolas"/>
                <a:cs typeface="Consolas"/>
                <a:sym typeface="Consolas"/>
              </a:endParaRPr>
            </a:p>
          </p:txBody>
        </p:sp>
        <p:cxnSp>
          <p:nvCxnSpPr>
            <p:cNvPr id="1033" name="Google Shape;1033;p97"/>
            <p:cNvCxnSpPr>
              <a:stCxn id="1032" idx="0"/>
            </p:cNvCxnSpPr>
            <p:nvPr/>
          </p:nvCxnSpPr>
          <p:spPr>
            <a:xfrm rot="10800000">
              <a:off x="746621" y="2364646"/>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1034" name="Google Shape;1034;p97"/>
          <p:cNvSpPr txBox="1"/>
          <p:nvPr/>
        </p:nvSpPr>
        <p:spPr>
          <a:xfrm>
            <a:off x="3226171" y="3577171"/>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a:t>
            </a:r>
            <a:r>
              <a:rPr lang="en" sz="1000" b="0" i="0" u="none" strike="noStrike" cap="none">
                <a:solidFill>
                  <a:srgbClr val="FF0000"/>
                </a:solidFill>
                <a:latin typeface="Consolas"/>
                <a:ea typeface="Consolas"/>
                <a:cs typeface="Consolas"/>
                <a:sym typeface="Consolas"/>
              </a:rPr>
              <a:t>"</a:t>
            </a:r>
            <a:endParaRPr sz="1000" b="0" i="0" u="none" strike="noStrike" cap="none">
              <a:solidFill>
                <a:srgbClr val="FF0000"/>
              </a:solidFill>
              <a:latin typeface="Consolas"/>
              <a:ea typeface="Consolas"/>
              <a:cs typeface="Consolas"/>
              <a:sym typeface="Consolas"/>
            </a:endParaRPr>
          </a:p>
        </p:txBody>
      </p:sp>
      <p:sp>
        <p:nvSpPr>
          <p:cNvPr id="1035" name="Google Shape;1035;p97"/>
          <p:cNvSpPr txBox="1"/>
          <p:nvPr/>
        </p:nvSpPr>
        <p:spPr>
          <a:xfrm>
            <a:off x="3759571" y="3577171"/>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b</a:t>
            </a:r>
            <a:r>
              <a:rPr lang="en" sz="1000" b="0" i="0" u="none" strike="noStrike" cap="none">
                <a:solidFill>
                  <a:srgbClr val="FF0000"/>
                </a:solidFill>
                <a:latin typeface="Consolas"/>
                <a:ea typeface="Consolas"/>
                <a:cs typeface="Consolas"/>
                <a:sym typeface="Consolas"/>
              </a:rPr>
              <a:t>"</a:t>
            </a:r>
            <a:endParaRPr sz="1000" b="0" i="0" u="none" strike="noStrike" cap="none">
              <a:solidFill>
                <a:srgbClr val="FF0000"/>
              </a:solidFill>
              <a:latin typeface="Consolas"/>
              <a:ea typeface="Consolas"/>
              <a:cs typeface="Consolas"/>
              <a:sym typeface="Consolas"/>
            </a:endParaRPr>
          </a:p>
        </p:txBody>
      </p:sp>
      <p:sp>
        <p:nvSpPr>
          <p:cNvPr id="1036" name="Google Shape;1036;p97"/>
          <p:cNvSpPr txBox="1"/>
          <p:nvPr/>
        </p:nvSpPr>
        <p:spPr>
          <a:xfrm>
            <a:off x="4280112" y="3577171"/>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c</a:t>
            </a:r>
            <a:r>
              <a:rPr lang="en" sz="1000" b="0" i="0" u="none" strike="noStrike" cap="none">
                <a:solidFill>
                  <a:srgbClr val="FF0000"/>
                </a:solidFill>
                <a:latin typeface="Consolas"/>
                <a:ea typeface="Consolas"/>
                <a:cs typeface="Consolas"/>
                <a:sym typeface="Consolas"/>
              </a:rPr>
              <a:t>"</a:t>
            </a:r>
            <a:endParaRPr sz="1000" b="0" i="0" u="none" strike="noStrike" cap="none">
              <a:solidFill>
                <a:srgbClr val="FF0000"/>
              </a:solidFill>
              <a:latin typeface="Consolas"/>
              <a:ea typeface="Consolas"/>
              <a:cs typeface="Consolas"/>
              <a:sym typeface="Consolas"/>
            </a:endParaRPr>
          </a:p>
        </p:txBody>
      </p:sp>
      <p:sp>
        <p:nvSpPr>
          <p:cNvPr id="1037" name="Google Shape;1037;p97"/>
          <p:cNvSpPr txBox="1"/>
          <p:nvPr/>
        </p:nvSpPr>
        <p:spPr>
          <a:xfrm>
            <a:off x="4813512" y="3577171"/>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d</a:t>
            </a:r>
            <a:r>
              <a:rPr lang="en" sz="1000" b="0" i="0" u="none" strike="noStrike" cap="none">
                <a:solidFill>
                  <a:srgbClr val="FF0000"/>
                </a:solidFill>
                <a:latin typeface="Consolas"/>
                <a:ea typeface="Consolas"/>
                <a:cs typeface="Consolas"/>
                <a:sym typeface="Consolas"/>
              </a:rPr>
              <a:t>"</a:t>
            </a:r>
            <a:endParaRPr sz="1000" b="0" i="0" u="none" strike="noStrike" cap="none">
              <a:solidFill>
                <a:srgbClr val="FF0000"/>
              </a:solidFill>
              <a:latin typeface="Consolas"/>
              <a:ea typeface="Consolas"/>
              <a:cs typeface="Consolas"/>
              <a:sym typeface="Consolas"/>
            </a:endParaRPr>
          </a:p>
        </p:txBody>
      </p:sp>
      <p:sp>
        <p:nvSpPr>
          <p:cNvPr id="1038" name="Google Shape;1038;p97"/>
          <p:cNvSpPr txBox="1"/>
          <p:nvPr/>
        </p:nvSpPr>
        <p:spPr>
          <a:xfrm>
            <a:off x="5346912" y="3577171"/>
            <a:ext cx="465600" cy="250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e</a:t>
            </a:r>
            <a:r>
              <a:rPr lang="en" sz="1000" b="0" i="0" u="none" strike="noStrike" cap="none">
                <a:solidFill>
                  <a:srgbClr val="FF0000"/>
                </a:solidFill>
                <a:latin typeface="Consolas"/>
                <a:ea typeface="Consolas"/>
                <a:cs typeface="Consolas"/>
                <a:sym typeface="Consolas"/>
              </a:rPr>
              <a:t>"</a:t>
            </a:r>
            <a:endParaRPr sz="1000" b="0" i="0" u="none" strike="noStrike" cap="none">
              <a:solidFill>
                <a:srgbClr val="FF0000"/>
              </a:solidFill>
              <a:latin typeface="Consolas"/>
              <a:ea typeface="Consolas"/>
              <a:cs typeface="Consolas"/>
              <a:sym typeface="Consolas"/>
            </a:endParaRPr>
          </a:p>
        </p:txBody>
      </p:sp>
      <p:cxnSp>
        <p:nvCxnSpPr>
          <p:cNvPr id="1039" name="Google Shape;1039;p97"/>
          <p:cNvCxnSpPr/>
          <p:nvPr/>
        </p:nvCxnSpPr>
        <p:spPr>
          <a:xfrm>
            <a:off x="3463004" y="2823366"/>
            <a:ext cx="0" cy="640500"/>
          </a:xfrm>
          <a:prstGeom prst="straightConnector1">
            <a:avLst/>
          </a:prstGeom>
          <a:noFill/>
          <a:ln w="19050" cap="flat" cmpd="sng">
            <a:solidFill>
              <a:srgbClr val="FF0000"/>
            </a:solidFill>
            <a:prstDash val="solid"/>
            <a:round/>
            <a:headEnd type="none" w="sm" len="sm"/>
            <a:tailEnd type="triangle" w="med" len="med"/>
          </a:ln>
        </p:spPr>
      </p:cxnSp>
      <p:cxnSp>
        <p:nvCxnSpPr>
          <p:cNvPr id="1040" name="Google Shape;1040;p97"/>
          <p:cNvCxnSpPr/>
          <p:nvPr/>
        </p:nvCxnSpPr>
        <p:spPr>
          <a:xfrm>
            <a:off x="3989518" y="2823366"/>
            <a:ext cx="0" cy="640500"/>
          </a:xfrm>
          <a:prstGeom prst="straightConnector1">
            <a:avLst/>
          </a:prstGeom>
          <a:noFill/>
          <a:ln w="19050" cap="flat" cmpd="sng">
            <a:solidFill>
              <a:srgbClr val="FF0000"/>
            </a:solidFill>
            <a:prstDash val="solid"/>
            <a:round/>
            <a:headEnd type="none" w="sm" len="sm"/>
            <a:tailEnd type="triangle" w="med" len="med"/>
          </a:ln>
        </p:spPr>
      </p:cxnSp>
      <p:cxnSp>
        <p:nvCxnSpPr>
          <p:cNvPr id="1041" name="Google Shape;1041;p97"/>
          <p:cNvCxnSpPr/>
          <p:nvPr/>
        </p:nvCxnSpPr>
        <p:spPr>
          <a:xfrm>
            <a:off x="4509147" y="2823366"/>
            <a:ext cx="0" cy="640500"/>
          </a:xfrm>
          <a:prstGeom prst="straightConnector1">
            <a:avLst/>
          </a:prstGeom>
          <a:noFill/>
          <a:ln w="19050" cap="flat" cmpd="sng">
            <a:solidFill>
              <a:srgbClr val="FF0000"/>
            </a:solidFill>
            <a:prstDash val="solid"/>
            <a:round/>
            <a:headEnd type="none" w="sm" len="sm"/>
            <a:tailEnd type="triangle" w="med" len="med"/>
          </a:ln>
        </p:spPr>
      </p:cxnSp>
      <p:cxnSp>
        <p:nvCxnSpPr>
          <p:cNvPr id="1042" name="Google Shape;1042;p97"/>
          <p:cNvCxnSpPr/>
          <p:nvPr/>
        </p:nvCxnSpPr>
        <p:spPr>
          <a:xfrm>
            <a:off x="5035662" y="2823366"/>
            <a:ext cx="0" cy="640500"/>
          </a:xfrm>
          <a:prstGeom prst="straightConnector1">
            <a:avLst/>
          </a:prstGeom>
          <a:noFill/>
          <a:ln w="19050" cap="flat" cmpd="sng">
            <a:solidFill>
              <a:srgbClr val="FF0000"/>
            </a:solidFill>
            <a:prstDash val="solid"/>
            <a:round/>
            <a:headEnd type="none" w="sm" len="sm"/>
            <a:tailEnd type="triangle" w="med" len="med"/>
          </a:ln>
        </p:spPr>
      </p:cxnSp>
      <p:cxnSp>
        <p:nvCxnSpPr>
          <p:cNvPr id="1043" name="Google Shape;1043;p97"/>
          <p:cNvCxnSpPr/>
          <p:nvPr/>
        </p:nvCxnSpPr>
        <p:spPr>
          <a:xfrm>
            <a:off x="5562176" y="2823366"/>
            <a:ext cx="0" cy="640500"/>
          </a:xfrm>
          <a:prstGeom prst="straightConnector1">
            <a:avLst/>
          </a:prstGeom>
          <a:noFill/>
          <a:ln w="19050" cap="flat" cmpd="sng">
            <a:solidFill>
              <a:srgbClr val="FF0000"/>
            </a:solidFill>
            <a:prstDash val="solid"/>
            <a:round/>
            <a:headEnd type="none" w="sm" len="sm"/>
            <a:tailEnd type="triangle" w="med" len="med"/>
          </a:ln>
        </p:spPr>
      </p:cxnSp>
      <p:grpSp>
        <p:nvGrpSpPr>
          <p:cNvPr id="1044" name="Google Shape;1044;p97"/>
          <p:cNvGrpSpPr/>
          <p:nvPr/>
        </p:nvGrpSpPr>
        <p:grpSpPr>
          <a:xfrm>
            <a:off x="5740400" y="4105299"/>
            <a:ext cx="693300" cy="358200"/>
            <a:chOff x="323771" y="2364646"/>
            <a:chExt cx="693300" cy="358200"/>
          </a:xfrm>
        </p:grpSpPr>
        <p:sp>
          <p:nvSpPr>
            <p:cNvPr id="1045" name="Google Shape;1045;p97"/>
            <p:cNvSpPr txBox="1"/>
            <p:nvPr/>
          </p:nvSpPr>
          <p:spPr>
            <a:xfrm>
              <a:off x="323771" y="2520346"/>
              <a:ext cx="693300" cy="202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Consolas"/>
                  <a:ea typeface="Consolas"/>
                  <a:cs typeface="Consolas"/>
                  <a:sym typeface="Consolas"/>
                </a:rPr>
                <a:t>size=5</a:t>
              </a:r>
              <a:endParaRPr sz="1000" b="0" i="0" u="none" strike="noStrike" cap="none">
                <a:solidFill>
                  <a:srgbClr val="000000"/>
                </a:solidFill>
                <a:latin typeface="Consolas"/>
                <a:ea typeface="Consolas"/>
                <a:cs typeface="Consolas"/>
                <a:sym typeface="Consolas"/>
              </a:endParaRPr>
            </a:p>
          </p:txBody>
        </p:sp>
        <p:cxnSp>
          <p:nvCxnSpPr>
            <p:cNvPr id="1046" name="Google Shape;1046;p97"/>
            <p:cNvCxnSpPr>
              <a:stCxn id="1045" idx="0"/>
            </p:cNvCxnSpPr>
            <p:nvPr/>
          </p:nvCxnSpPr>
          <p:spPr>
            <a:xfrm rot="10800000">
              <a:off x="670421" y="2364646"/>
              <a:ext cx="0" cy="155700"/>
            </a:xfrm>
            <a:prstGeom prst="straightConnector1">
              <a:avLst/>
            </a:prstGeom>
            <a:noFill/>
            <a:ln w="19050" cap="flat" cmpd="sng">
              <a:solidFill>
                <a:srgbClr val="000000"/>
              </a:solidFill>
              <a:prstDash val="solid"/>
              <a:round/>
              <a:headEnd type="none" w="sm" len="sm"/>
              <a:tailEnd type="triangle" w="med" len="med"/>
            </a:ln>
          </p:spPr>
        </p:cxnSp>
      </p:grpSp>
      <p:sp>
        <p:nvSpPr>
          <p:cNvPr id="1047" name="Google Shape;1047;p97"/>
          <p:cNvSpPr txBox="1"/>
          <p:nvPr/>
        </p:nvSpPr>
        <p:spPr>
          <a:xfrm>
            <a:off x="6404536" y="4188386"/>
            <a:ext cx="2623800" cy="825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latin typeface="Courier New"/>
                <a:ea typeface="Courier New"/>
                <a:cs typeface="Courier New"/>
                <a:sym typeface="Courier New"/>
              </a:rPr>
              <a:t>Arrays.copyOf(orig, size)</a:t>
            </a:r>
            <a:r>
              <a:rPr lang="en" sz="1200" b="0" i="0" u="none" strike="noStrike" cap="none">
                <a:solidFill>
                  <a:srgbClr val="000000"/>
                </a:solidFill>
                <a:latin typeface="Arial"/>
                <a:ea typeface="Arial"/>
                <a:cs typeface="Arial"/>
                <a:sym typeface="Arial"/>
              </a:rPr>
              <a:t> is a static method that returns a </a:t>
            </a:r>
            <a:r>
              <a:rPr lang="en" sz="1200" b="1" i="1" u="none" strike="noStrike" cap="none">
                <a:solidFill>
                  <a:srgbClr val="FF0000"/>
                </a:solidFill>
                <a:latin typeface="Arial"/>
                <a:ea typeface="Arial"/>
                <a:cs typeface="Arial"/>
                <a:sym typeface="Arial"/>
              </a:rPr>
              <a:t>new array</a:t>
            </a:r>
            <a:r>
              <a:rPr lang="en" sz="1200" b="0" i="0" u="none" strike="noStrike" cap="none">
                <a:solidFill>
                  <a:srgbClr val="000000"/>
                </a:solidFill>
                <a:latin typeface="Arial"/>
                <a:ea typeface="Arial"/>
                <a:cs typeface="Arial"/>
                <a:sym typeface="Arial"/>
              </a:rPr>
              <a:t> of the specified </a:t>
            </a:r>
            <a:r>
              <a:rPr lang="en" sz="1200" b="0" i="0" u="none" strike="noStrike" cap="none">
                <a:solidFill>
                  <a:srgbClr val="000000"/>
                </a:solidFill>
                <a:latin typeface="Courier New"/>
                <a:ea typeface="Courier New"/>
                <a:cs typeface="Courier New"/>
                <a:sym typeface="Courier New"/>
              </a:rPr>
              <a:t>size</a:t>
            </a:r>
            <a:r>
              <a:rPr lang="en" sz="1200" b="0" i="0" u="none" strike="noStrike" cap="none">
                <a:solidFill>
                  <a:srgbClr val="000000"/>
                </a:solidFill>
                <a:latin typeface="Arial"/>
                <a:ea typeface="Arial"/>
                <a:cs typeface="Arial"/>
                <a:sym typeface="Arial"/>
              </a:rPr>
              <a:t> with all of the elements </a:t>
            </a:r>
            <a:r>
              <a:rPr lang="en" sz="1200" b="1" i="1" u="none" strike="noStrike" cap="none">
                <a:solidFill>
                  <a:srgbClr val="FF0000"/>
                </a:solidFill>
                <a:latin typeface="Arial"/>
                <a:ea typeface="Arial"/>
                <a:cs typeface="Arial"/>
                <a:sym typeface="Arial"/>
              </a:rPr>
              <a:t>copied</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from </a:t>
            </a:r>
            <a:r>
              <a:rPr lang="en" sz="1200" b="0" i="0" u="none" strike="noStrike" cap="none">
                <a:solidFill>
                  <a:srgbClr val="000000"/>
                </a:solidFill>
                <a:latin typeface="Courier New"/>
                <a:ea typeface="Courier New"/>
                <a:cs typeface="Courier New"/>
                <a:sym typeface="Courier New"/>
              </a:rPr>
              <a:t>orig</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7"/>
                                        </p:tgtEl>
                                        <p:attrNameLst>
                                          <p:attrName>style.visibility</p:attrName>
                                        </p:attrNameLst>
                                      </p:cBhvr>
                                      <p:to>
                                        <p:strVal val="visible"/>
                                      </p:to>
                                    </p:set>
                                    <p:animEffect transition="in" filter="fade">
                                      <p:cBhvr>
                                        <p:cTn id="7" dur="1000"/>
                                        <p:tgtEl>
                                          <p:spTgt spid="1017"/>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016"/>
                                        </p:tgtEl>
                                        <p:attrNameLst>
                                          <p:attrName>style.visibility</p:attrName>
                                        </p:attrNameLst>
                                      </p:cBhvr>
                                      <p:to>
                                        <p:strVal val="visible"/>
                                      </p:to>
                                    </p:set>
                                    <p:animEffect transition="in" filter="fade">
                                      <p:cBhvr>
                                        <p:cTn id="11" dur="1000"/>
                                        <p:tgtEl>
                                          <p:spTgt spid="1016"/>
                                        </p:tgtEl>
                                      </p:cBhvr>
                                    </p:animEffect>
                                  </p:childTnLst>
                                </p:cTn>
                              </p:par>
                              <p:par>
                                <p:cTn id="12" presetID="10" presetClass="entr" presetSubtype="0" fill="hold" nodeType="withEffect">
                                  <p:stCondLst>
                                    <p:cond delay="0"/>
                                  </p:stCondLst>
                                  <p:childTnLst>
                                    <p:set>
                                      <p:cBhvr>
                                        <p:cTn id="13" dur="1" fill="hold">
                                          <p:stCondLst>
                                            <p:cond delay="0"/>
                                          </p:stCondLst>
                                        </p:cTn>
                                        <p:tgtEl>
                                          <p:spTgt spid="1018"/>
                                        </p:tgtEl>
                                        <p:attrNameLst>
                                          <p:attrName>style.visibility</p:attrName>
                                        </p:attrNameLst>
                                      </p:cBhvr>
                                      <p:to>
                                        <p:strVal val="visible"/>
                                      </p:to>
                                    </p:set>
                                    <p:animEffect transition="in" filter="fade">
                                      <p:cBhvr>
                                        <p:cTn id="14" dur="1000"/>
                                        <p:tgtEl>
                                          <p:spTgt spid="101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25"/>
                                        </p:tgtEl>
                                        <p:attrNameLst>
                                          <p:attrName>style.visibility</p:attrName>
                                        </p:attrNameLst>
                                      </p:cBhvr>
                                      <p:to>
                                        <p:strVal val="visible"/>
                                      </p:to>
                                    </p:set>
                                    <p:animEffect transition="in" filter="fade">
                                      <p:cBhvr>
                                        <p:cTn id="19" dur="1000"/>
                                        <p:tgtEl>
                                          <p:spTgt spid="1025"/>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021"/>
                                        </p:tgtEl>
                                        <p:attrNameLst>
                                          <p:attrName>style.visibility</p:attrName>
                                        </p:attrNameLst>
                                      </p:cBhvr>
                                      <p:to>
                                        <p:strVal val="visible"/>
                                      </p:to>
                                    </p:set>
                                    <p:animEffect transition="in" filter="fade">
                                      <p:cBhvr>
                                        <p:cTn id="23" dur="1000"/>
                                        <p:tgtEl>
                                          <p:spTgt spid="1021"/>
                                        </p:tgtEl>
                                      </p:cBhvr>
                                    </p:animEffect>
                                  </p:childTnLst>
                                </p:cTn>
                              </p:par>
                              <p:par>
                                <p:cTn id="24" presetID="10" presetClass="entr" presetSubtype="0" fill="hold" nodeType="withEffect">
                                  <p:stCondLst>
                                    <p:cond delay="0"/>
                                  </p:stCondLst>
                                  <p:childTnLst>
                                    <p:set>
                                      <p:cBhvr>
                                        <p:cTn id="25" dur="1" fill="hold">
                                          <p:stCondLst>
                                            <p:cond delay="0"/>
                                          </p:stCondLst>
                                        </p:cTn>
                                        <p:tgtEl>
                                          <p:spTgt spid="1022"/>
                                        </p:tgtEl>
                                        <p:attrNameLst>
                                          <p:attrName>style.visibility</p:attrName>
                                        </p:attrNameLst>
                                      </p:cBhvr>
                                      <p:to>
                                        <p:strVal val="visible"/>
                                      </p:to>
                                    </p:set>
                                    <p:animEffect transition="in" filter="fade">
                                      <p:cBhvr>
                                        <p:cTn id="26" dur="1000"/>
                                        <p:tgtEl>
                                          <p:spTgt spid="10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28"/>
                                        </p:tgtEl>
                                        <p:attrNameLst>
                                          <p:attrName>style.visibility</p:attrName>
                                        </p:attrNameLst>
                                      </p:cBhvr>
                                      <p:to>
                                        <p:strVal val="visible"/>
                                      </p:to>
                                    </p:set>
                                    <p:animEffect transition="in" filter="fade">
                                      <p:cBhvr>
                                        <p:cTn id="31" dur="1000"/>
                                        <p:tgtEl>
                                          <p:spTgt spid="1028"/>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1026"/>
                                        </p:tgtEl>
                                        <p:attrNameLst>
                                          <p:attrName>style.visibility</p:attrName>
                                        </p:attrNameLst>
                                      </p:cBhvr>
                                      <p:to>
                                        <p:strVal val="visible"/>
                                      </p:to>
                                    </p:set>
                                    <p:animEffect transition="in" filter="fade">
                                      <p:cBhvr>
                                        <p:cTn id="35" dur="1000"/>
                                        <p:tgtEl>
                                          <p:spTgt spid="1026"/>
                                        </p:tgtEl>
                                      </p:cBhvr>
                                    </p:animEffect>
                                  </p:childTnLst>
                                </p:cTn>
                              </p:par>
                              <p:par>
                                <p:cTn id="36" presetID="10" presetClass="entr" presetSubtype="0" fill="hold" nodeType="withEffect">
                                  <p:stCondLst>
                                    <p:cond delay="0"/>
                                  </p:stCondLst>
                                  <p:childTnLst>
                                    <p:set>
                                      <p:cBhvr>
                                        <p:cTn id="37" dur="1" fill="hold">
                                          <p:stCondLst>
                                            <p:cond delay="0"/>
                                          </p:stCondLst>
                                        </p:cTn>
                                        <p:tgtEl>
                                          <p:spTgt spid="1031"/>
                                        </p:tgtEl>
                                        <p:attrNameLst>
                                          <p:attrName>style.visibility</p:attrName>
                                        </p:attrNameLst>
                                      </p:cBhvr>
                                      <p:to>
                                        <p:strVal val="visible"/>
                                      </p:to>
                                    </p:set>
                                    <p:animEffect transition="in" filter="fade">
                                      <p:cBhvr>
                                        <p:cTn id="38" dur="1000"/>
                                        <p:tgtEl>
                                          <p:spTgt spid="103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029"/>
                                        </p:tgtEl>
                                        <p:attrNameLst>
                                          <p:attrName>style.visibility</p:attrName>
                                        </p:attrNameLst>
                                      </p:cBhvr>
                                      <p:to>
                                        <p:strVal val="visible"/>
                                      </p:to>
                                    </p:set>
                                    <p:animEffect transition="in" filter="fade">
                                      <p:cBhvr>
                                        <p:cTn id="43" dur="1000"/>
                                        <p:tgtEl>
                                          <p:spTgt spid="1029"/>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1027"/>
                                        </p:tgtEl>
                                        <p:attrNameLst>
                                          <p:attrName>style.visibility</p:attrName>
                                        </p:attrNameLst>
                                      </p:cBhvr>
                                      <p:to>
                                        <p:strVal val="visible"/>
                                      </p:to>
                                    </p:set>
                                    <p:animEffect transition="in" filter="fade">
                                      <p:cBhvr>
                                        <p:cTn id="47" dur="1000"/>
                                        <p:tgtEl>
                                          <p:spTgt spid="102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30"/>
                                        </p:tgtEl>
                                        <p:attrNameLst>
                                          <p:attrName>style.visibility</p:attrName>
                                        </p:attrNameLst>
                                      </p:cBhvr>
                                      <p:to>
                                        <p:strVal val="visible"/>
                                      </p:to>
                                    </p:set>
                                    <p:animEffect transition="in" filter="fade">
                                      <p:cBhvr>
                                        <p:cTn id="52" dur="1000"/>
                                        <p:tgtEl>
                                          <p:spTgt spid="1030"/>
                                        </p:tgtEl>
                                      </p:cBhvr>
                                    </p:animEffect>
                                  </p:childTnLst>
                                </p:cTn>
                              </p:par>
                            </p:childTnLst>
                          </p:cTn>
                        </p:par>
                        <p:par>
                          <p:cTn id="53" fill="hold">
                            <p:stCondLst>
                              <p:cond delay="1000"/>
                            </p:stCondLst>
                            <p:childTnLst>
                              <p:par>
                                <p:cTn id="54" presetID="10" presetClass="entr" presetSubtype="0" fill="hold" nodeType="afterEffect">
                                  <p:stCondLst>
                                    <p:cond delay="0"/>
                                  </p:stCondLst>
                                  <p:childTnLst>
                                    <p:set>
                                      <p:cBhvr>
                                        <p:cTn id="55" dur="1" fill="hold">
                                          <p:stCondLst>
                                            <p:cond delay="0"/>
                                          </p:stCondLst>
                                        </p:cTn>
                                        <p:tgtEl>
                                          <p:spTgt spid="1039"/>
                                        </p:tgtEl>
                                        <p:attrNameLst>
                                          <p:attrName>style.visibility</p:attrName>
                                        </p:attrNameLst>
                                      </p:cBhvr>
                                      <p:to>
                                        <p:strVal val="visible"/>
                                      </p:to>
                                    </p:set>
                                    <p:animEffect transition="in" filter="fade">
                                      <p:cBhvr>
                                        <p:cTn id="56" dur="1000"/>
                                        <p:tgtEl>
                                          <p:spTgt spid="1039"/>
                                        </p:tgtEl>
                                      </p:cBhvr>
                                    </p:animEffect>
                                  </p:childTnLst>
                                </p:cTn>
                              </p:par>
                              <p:par>
                                <p:cTn id="57" presetID="10" presetClass="entr" presetSubtype="0" fill="hold" nodeType="withEffect">
                                  <p:stCondLst>
                                    <p:cond delay="0"/>
                                  </p:stCondLst>
                                  <p:childTnLst>
                                    <p:set>
                                      <p:cBhvr>
                                        <p:cTn id="58" dur="1" fill="hold">
                                          <p:stCondLst>
                                            <p:cond delay="0"/>
                                          </p:stCondLst>
                                        </p:cTn>
                                        <p:tgtEl>
                                          <p:spTgt spid="1034"/>
                                        </p:tgtEl>
                                        <p:attrNameLst>
                                          <p:attrName>style.visibility</p:attrName>
                                        </p:attrNameLst>
                                      </p:cBhvr>
                                      <p:to>
                                        <p:strVal val="visible"/>
                                      </p:to>
                                    </p:set>
                                    <p:animEffect transition="in" filter="fade">
                                      <p:cBhvr>
                                        <p:cTn id="59" dur="1000"/>
                                        <p:tgtEl>
                                          <p:spTgt spid="1034"/>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1040"/>
                                        </p:tgtEl>
                                        <p:attrNameLst>
                                          <p:attrName>style.visibility</p:attrName>
                                        </p:attrNameLst>
                                      </p:cBhvr>
                                      <p:to>
                                        <p:strVal val="visible"/>
                                      </p:to>
                                    </p:set>
                                    <p:animEffect transition="in" filter="fade">
                                      <p:cBhvr>
                                        <p:cTn id="63" dur="1000"/>
                                        <p:tgtEl>
                                          <p:spTgt spid="1040"/>
                                        </p:tgtEl>
                                      </p:cBhvr>
                                    </p:animEffect>
                                  </p:childTnLst>
                                </p:cTn>
                              </p:par>
                              <p:par>
                                <p:cTn id="64" presetID="10" presetClass="entr" presetSubtype="0" fill="hold" nodeType="withEffect">
                                  <p:stCondLst>
                                    <p:cond delay="0"/>
                                  </p:stCondLst>
                                  <p:childTnLst>
                                    <p:set>
                                      <p:cBhvr>
                                        <p:cTn id="65" dur="1" fill="hold">
                                          <p:stCondLst>
                                            <p:cond delay="0"/>
                                          </p:stCondLst>
                                        </p:cTn>
                                        <p:tgtEl>
                                          <p:spTgt spid="1035"/>
                                        </p:tgtEl>
                                        <p:attrNameLst>
                                          <p:attrName>style.visibility</p:attrName>
                                        </p:attrNameLst>
                                      </p:cBhvr>
                                      <p:to>
                                        <p:strVal val="visible"/>
                                      </p:to>
                                    </p:set>
                                    <p:animEffect transition="in" filter="fade">
                                      <p:cBhvr>
                                        <p:cTn id="66" dur="1000"/>
                                        <p:tgtEl>
                                          <p:spTgt spid="1035"/>
                                        </p:tgtEl>
                                      </p:cBhvr>
                                    </p:animEffect>
                                  </p:childTnLst>
                                </p:cTn>
                              </p:par>
                            </p:childTnLst>
                          </p:cTn>
                        </p:par>
                        <p:par>
                          <p:cTn id="67" fill="hold">
                            <p:stCondLst>
                              <p:cond delay="3000"/>
                            </p:stCondLst>
                            <p:childTnLst>
                              <p:par>
                                <p:cTn id="68" presetID="10" presetClass="entr" presetSubtype="0" fill="hold" nodeType="afterEffect">
                                  <p:stCondLst>
                                    <p:cond delay="0"/>
                                  </p:stCondLst>
                                  <p:childTnLst>
                                    <p:set>
                                      <p:cBhvr>
                                        <p:cTn id="69" dur="1" fill="hold">
                                          <p:stCondLst>
                                            <p:cond delay="0"/>
                                          </p:stCondLst>
                                        </p:cTn>
                                        <p:tgtEl>
                                          <p:spTgt spid="1041"/>
                                        </p:tgtEl>
                                        <p:attrNameLst>
                                          <p:attrName>style.visibility</p:attrName>
                                        </p:attrNameLst>
                                      </p:cBhvr>
                                      <p:to>
                                        <p:strVal val="visible"/>
                                      </p:to>
                                    </p:set>
                                    <p:animEffect transition="in" filter="fade">
                                      <p:cBhvr>
                                        <p:cTn id="70" dur="1000"/>
                                        <p:tgtEl>
                                          <p:spTgt spid="1041"/>
                                        </p:tgtEl>
                                      </p:cBhvr>
                                    </p:animEffect>
                                  </p:childTnLst>
                                </p:cTn>
                              </p:par>
                              <p:par>
                                <p:cTn id="71" presetID="10" presetClass="entr" presetSubtype="0" fill="hold" nodeType="withEffect">
                                  <p:stCondLst>
                                    <p:cond delay="0"/>
                                  </p:stCondLst>
                                  <p:childTnLst>
                                    <p:set>
                                      <p:cBhvr>
                                        <p:cTn id="72" dur="1" fill="hold">
                                          <p:stCondLst>
                                            <p:cond delay="0"/>
                                          </p:stCondLst>
                                        </p:cTn>
                                        <p:tgtEl>
                                          <p:spTgt spid="1036"/>
                                        </p:tgtEl>
                                        <p:attrNameLst>
                                          <p:attrName>style.visibility</p:attrName>
                                        </p:attrNameLst>
                                      </p:cBhvr>
                                      <p:to>
                                        <p:strVal val="visible"/>
                                      </p:to>
                                    </p:set>
                                    <p:animEffect transition="in" filter="fade">
                                      <p:cBhvr>
                                        <p:cTn id="73" dur="1000"/>
                                        <p:tgtEl>
                                          <p:spTgt spid="1036"/>
                                        </p:tgtEl>
                                      </p:cBhvr>
                                    </p:animEffect>
                                  </p:childTnLst>
                                </p:cTn>
                              </p:par>
                            </p:childTnLst>
                          </p:cTn>
                        </p:par>
                        <p:par>
                          <p:cTn id="74" fill="hold">
                            <p:stCondLst>
                              <p:cond delay="4000"/>
                            </p:stCondLst>
                            <p:childTnLst>
                              <p:par>
                                <p:cTn id="75" presetID="10" presetClass="entr" presetSubtype="0" fill="hold" nodeType="afterEffect">
                                  <p:stCondLst>
                                    <p:cond delay="0"/>
                                  </p:stCondLst>
                                  <p:childTnLst>
                                    <p:set>
                                      <p:cBhvr>
                                        <p:cTn id="76" dur="1" fill="hold">
                                          <p:stCondLst>
                                            <p:cond delay="0"/>
                                          </p:stCondLst>
                                        </p:cTn>
                                        <p:tgtEl>
                                          <p:spTgt spid="1042"/>
                                        </p:tgtEl>
                                        <p:attrNameLst>
                                          <p:attrName>style.visibility</p:attrName>
                                        </p:attrNameLst>
                                      </p:cBhvr>
                                      <p:to>
                                        <p:strVal val="visible"/>
                                      </p:to>
                                    </p:set>
                                    <p:animEffect transition="in" filter="fade">
                                      <p:cBhvr>
                                        <p:cTn id="77" dur="1000"/>
                                        <p:tgtEl>
                                          <p:spTgt spid="1042"/>
                                        </p:tgtEl>
                                      </p:cBhvr>
                                    </p:animEffect>
                                  </p:childTnLst>
                                </p:cTn>
                              </p:par>
                              <p:par>
                                <p:cTn id="78" presetID="10" presetClass="entr" presetSubtype="0" fill="hold" nodeType="withEffect">
                                  <p:stCondLst>
                                    <p:cond delay="0"/>
                                  </p:stCondLst>
                                  <p:childTnLst>
                                    <p:set>
                                      <p:cBhvr>
                                        <p:cTn id="79" dur="1" fill="hold">
                                          <p:stCondLst>
                                            <p:cond delay="0"/>
                                          </p:stCondLst>
                                        </p:cTn>
                                        <p:tgtEl>
                                          <p:spTgt spid="1037"/>
                                        </p:tgtEl>
                                        <p:attrNameLst>
                                          <p:attrName>style.visibility</p:attrName>
                                        </p:attrNameLst>
                                      </p:cBhvr>
                                      <p:to>
                                        <p:strVal val="visible"/>
                                      </p:to>
                                    </p:set>
                                    <p:animEffect transition="in" filter="fade">
                                      <p:cBhvr>
                                        <p:cTn id="80" dur="1000"/>
                                        <p:tgtEl>
                                          <p:spTgt spid="1037"/>
                                        </p:tgtEl>
                                      </p:cBhvr>
                                    </p:animEffect>
                                  </p:childTnLst>
                                </p:cTn>
                              </p:par>
                            </p:childTnLst>
                          </p:cTn>
                        </p:par>
                        <p:par>
                          <p:cTn id="81" fill="hold">
                            <p:stCondLst>
                              <p:cond delay="5000"/>
                            </p:stCondLst>
                            <p:childTnLst>
                              <p:par>
                                <p:cTn id="82" presetID="10" presetClass="entr" presetSubtype="0" fill="hold" nodeType="afterEffect">
                                  <p:stCondLst>
                                    <p:cond delay="0"/>
                                  </p:stCondLst>
                                  <p:childTnLst>
                                    <p:set>
                                      <p:cBhvr>
                                        <p:cTn id="83" dur="1" fill="hold">
                                          <p:stCondLst>
                                            <p:cond delay="0"/>
                                          </p:stCondLst>
                                        </p:cTn>
                                        <p:tgtEl>
                                          <p:spTgt spid="1043"/>
                                        </p:tgtEl>
                                        <p:attrNameLst>
                                          <p:attrName>style.visibility</p:attrName>
                                        </p:attrNameLst>
                                      </p:cBhvr>
                                      <p:to>
                                        <p:strVal val="visible"/>
                                      </p:to>
                                    </p:set>
                                    <p:animEffect transition="in" filter="fade">
                                      <p:cBhvr>
                                        <p:cTn id="84" dur="1000"/>
                                        <p:tgtEl>
                                          <p:spTgt spid="1043"/>
                                        </p:tgtEl>
                                      </p:cBhvr>
                                    </p:animEffect>
                                  </p:childTnLst>
                                </p:cTn>
                              </p:par>
                              <p:par>
                                <p:cTn id="85" presetID="10" presetClass="entr" presetSubtype="0" fill="hold" nodeType="withEffect">
                                  <p:stCondLst>
                                    <p:cond delay="0"/>
                                  </p:stCondLst>
                                  <p:childTnLst>
                                    <p:set>
                                      <p:cBhvr>
                                        <p:cTn id="86" dur="1" fill="hold">
                                          <p:stCondLst>
                                            <p:cond delay="0"/>
                                          </p:stCondLst>
                                        </p:cTn>
                                        <p:tgtEl>
                                          <p:spTgt spid="1038"/>
                                        </p:tgtEl>
                                        <p:attrNameLst>
                                          <p:attrName>style.visibility</p:attrName>
                                        </p:attrNameLst>
                                      </p:cBhvr>
                                      <p:to>
                                        <p:strVal val="visible"/>
                                      </p:to>
                                    </p:set>
                                    <p:animEffect transition="in" filter="fade">
                                      <p:cBhvr>
                                        <p:cTn id="87" dur="1000"/>
                                        <p:tgtEl>
                                          <p:spTgt spid="1038"/>
                                        </p:tgtEl>
                                      </p:cBhvr>
                                    </p:animEffect>
                                  </p:childTnLst>
                                </p:cTn>
                              </p:par>
                            </p:childTnLst>
                          </p:cTn>
                        </p:par>
                        <p:par>
                          <p:cTn id="88" fill="hold">
                            <p:stCondLst>
                              <p:cond delay="6000"/>
                            </p:stCondLst>
                            <p:childTnLst>
                              <p:par>
                                <p:cTn id="89" presetID="10" presetClass="entr" presetSubtype="0" fill="hold" nodeType="afterEffect">
                                  <p:stCondLst>
                                    <p:cond delay="0"/>
                                  </p:stCondLst>
                                  <p:childTnLst>
                                    <p:set>
                                      <p:cBhvr>
                                        <p:cTn id="90" dur="1" fill="hold">
                                          <p:stCondLst>
                                            <p:cond delay="0"/>
                                          </p:stCondLst>
                                        </p:cTn>
                                        <p:tgtEl>
                                          <p:spTgt spid="1044"/>
                                        </p:tgtEl>
                                        <p:attrNameLst>
                                          <p:attrName>style.visibility</p:attrName>
                                        </p:attrNameLst>
                                      </p:cBhvr>
                                      <p:to>
                                        <p:strVal val="visible"/>
                                      </p:to>
                                    </p:set>
                                    <p:animEffect transition="in" filter="fade">
                                      <p:cBhvr>
                                        <p:cTn id="91" dur="1000"/>
                                        <p:tgtEl>
                                          <p:spTgt spid="1044"/>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1047"/>
                                        </p:tgtEl>
                                        <p:attrNameLst>
                                          <p:attrName>style.visibility</p:attrName>
                                        </p:attrNameLst>
                                      </p:cBhvr>
                                      <p:to>
                                        <p:strVal val="visible"/>
                                      </p:to>
                                    </p:set>
                                    <p:animEffect transition="in" filter="fade">
                                      <p:cBhvr>
                                        <p:cTn id="96" dur="1000"/>
                                        <p:tgtEl>
                                          <p:spTgt spid="1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p98"/>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basic implementation of the append method is pretty straightforward in an Array-based list: simply add the new value at the index to which size refers. Things get a little trickier if the array is full, but we'll worry about that in the next activity!</a:t>
            </a:r>
            <a:endParaRPr/>
          </a:p>
        </p:txBody>
      </p:sp>
      <p:sp>
        <p:nvSpPr>
          <p:cNvPr id="1053" name="Google Shape;1053;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41</a:t>
            </a:fld>
            <a:endParaRPr/>
          </a:p>
        </p:txBody>
      </p:sp>
      <p:sp>
        <p:nvSpPr>
          <p:cNvPr id="1054" name="Google Shape;1054;p98"/>
          <p:cNvSpPr txBox="1">
            <a:spLocks noGrp="1"/>
          </p:cNvSpPr>
          <p:nvPr>
            <p:ph type="body" idx="2"/>
          </p:nvPr>
        </p:nvSpPr>
        <p:spPr>
          <a:xfrm>
            <a:off x="2822550" y="1729125"/>
            <a:ext cx="6133500" cy="2556054"/>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Open your </a:t>
            </a:r>
            <a:r>
              <a:rPr lang="en" sz="1600" dirty="0">
                <a:highlight>
                  <a:srgbClr val="FFFF00"/>
                </a:highlight>
                <a:latin typeface="Courier New"/>
                <a:ea typeface="Courier New"/>
                <a:cs typeface="Courier New"/>
                <a:sym typeface="Courier New"/>
              </a:rPr>
              <a:t>ArrayList</a:t>
            </a:r>
            <a:r>
              <a:rPr lang="en" sz="1600" dirty="0"/>
              <a:t> class and navigate to the stubbed-out </a:t>
            </a:r>
            <a:r>
              <a:rPr lang="en" sz="1600" dirty="0">
                <a:latin typeface="Courier New"/>
                <a:ea typeface="Courier New"/>
                <a:cs typeface="Courier New"/>
                <a:sym typeface="Courier New"/>
              </a:rPr>
              <a:t>append</a:t>
            </a:r>
            <a:r>
              <a:rPr lang="en" sz="1600" dirty="0"/>
              <a:t> method.</a:t>
            </a:r>
            <a:endParaRPr sz="1600" dirty="0"/>
          </a:p>
          <a:p>
            <a:pPr marL="914400" lvl="1" indent="-317500" algn="l" rtl="0">
              <a:spcBef>
                <a:spcPts val="0"/>
              </a:spcBef>
              <a:spcAft>
                <a:spcPts val="0"/>
              </a:spcAft>
              <a:buSzPts val="1400"/>
              <a:buChar char="○"/>
            </a:pPr>
            <a:r>
              <a:rPr lang="en" sz="1400" dirty="0"/>
              <a:t>Implement the method so that it adds a new value to the index to which size currently points.</a:t>
            </a:r>
            <a:endParaRPr sz="1400" dirty="0"/>
          </a:p>
          <a:p>
            <a:pPr marL="914400" lvl="1" indent="-317500" algn="l" rtl="0">
              <a:spcBef>
                <a:spcPts val="0"/>
              </a:spcBef>
              <a:spcAft>
                <a:spcPts val="0"/>
              </a:spcAft>
              <a:buSzPts val="1400"/>
              <a:buChar char="○"/>
            </a:pPr>
            <a:r>
              <a:rPr lang="en" sz="1400" dirty="0"/>
              <a:t>Don't forget to increment size!</a:t>
            </a:r>
            <a:endParaRPr sz="1400" dirty="0"/>
          </a:p>
          <a:p>
            <a:pPr marL="914400" lvl="1" indent="-317500" algn="l" rtl="0">
              <a:spcBef>
                <a:spcPts val="0"/>
              </a:spcBef>
              <a:spcAft>
                <a:spcPts val="0"/>
              </a:spcAft>
              <a:buSzPts val="1400"/>
              <a:buChar char="○"/>
            </a:pPr>
            <a:r>
              <a:rPr lang="en" sz="1400" dirty="0"/>
              <a:t>Don't worry about resizing the array just yet.</a:t>
            </a:r>
            <a:endParaRPr sz="1400" dirty="0"/>
          </a:p>
          <a:p>
            <a:pPr marL="457200" lvl="0" indent="-330200" algn="l" rtl="0">
              <a:spcBef>
                <a:spcPts val="0"/>
              </a:spcBef>
              <a:spcAft>
                <a:spcPts val="0"/>
              </a:spcAft>
              <a:buSzPts val="1600"/>
              <a:buChar char="●"/>
            </a:pPr>
            <a:r>
              <a:rPr lang="en" sz="1600" dirty="0"/>
              <a:t>Update the </a:t>
            </a:r>
            <a:r>
              <a:rPr lang="en" sz="1600" dirty="0">
                <a:latin typeface="Courier New"/>
                <a:ea typeface="Courier New"/>
                <a:cs typeface="Courier New"/>
                <a:sym typeface="Courier New"/>
              </a:rPr>
              <a:t>main</a:t>
            </a:r>
            <a:r>
              <a:rPr lang="en" sz="1600" dirty="0"/>
              <a:t> method to append a few values to your </a:t>
            </a:r>
            <a:r>
              <a:rPr lang="en" sz="1600" dirty="0">
                <a:latin typeface="Courier New"/>
                <a:ea typeface="Courier New"/>
                <a:cs typeface="Courier New"/>
                <a:sym typeface="Courier New"/>
              </a:rPr>
              <a:t>ArrayList</a:t>
            </a:r>
            <a:r>
              <a:rPr lang="en" sz="1600" dirty="0"/>
              <a:t> and print it to standard output.</a:t>
            </a:r>
            <a:endParaRPr sz="1600" dirty="0"/>
          </a:p>
          <a:p>
            <a:pPr marL="914400" lvl="1" indent="-317500" algn="l" rtl="0">
              <a:spcBef>
                <a:spcPts val="0"/>
              </a:spcBef>
              <a:spcAft>
                <a:spcPts val="0"/>
              </a:spcAft>
              <a:buSzPts val="1400"/>
              <a:buChar char="○"/>
            </a:pPr>
            <a:r>
              <a:rPr lang="en" sz="1400" dirty="0"/>
              <a:t>Don't add more values that the array can hold!</a:t>
            </a:r>
            <a:endParaRPr sz="1400" dirty="0"/>
          </a:p>
        </p:txBody>
      </p:sp>
      <p:sp>
        <p:nvSpPr>
          <p:cNvPr id="1055" name="Google Shape;1055;p9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Basic Implementation of </a:t>
            </a:r>
            <a:r>
              <a:rPr lang="en">
                <a:latin typeface="Courier New"/>
                <a:ea typeface="Courier New"/>
                <a:cs typeface="Courier New"/>
                <a:sym typeface="Courier New"/>
              </a:rPr>
              <a:t>append</a:t>
            </a:r>
            <a:endParaRPr>
              <a:latin typeface="Courier New"/>
              <a:ea typeface="Courier New"/>
              <a:cs typeface="Courier New"/>
              <a:sym typeface="Courier New"/>
            </a:endParaRPr>
          </a:p>
        </p:txBody>
      </p:sp>
      <p:sp>
        <p:nvSpPr>
          <p:cNvPr id="1056" name="Google Shape;1056;p9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5.17</a:t>
            </a:r>
            <a:endParaRPr/>
          </a:p>
        </p:txBody>
      </p:sp>
      <p:pic>
        <p:nvPicPr>
          <p:cNvPr id="1057" name="Google Shape;1057;p98"/>
          <p:cNvPicPr preferRelativeResize="0"/>
          <p:nvPr/>
        </p:nvPicPr>
        <p:blipFill>
          <a:blip r:embed="rId3">
            <a:alphaModFix/>
          </a:blip>
          <a:stretch>
            <a:fillRect/>
          </a:stretch>
        </p:blipFill>
        <p:spPr>
          <a:xfrm>
            <a:off x="152400" y="1688575"/>
            <a:ext cx="2520425" cy="33025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p99"/>
          <p:cNvSpPr txBox="1">
            <a:spLocks noGrp="1"/>
          </p:cNvSpPr>
          <p:nvPr>
            <p:ph type="body" idx="1"/>
          </p:nvPr>
        </p:nvSpPr>
        <p:spPr>
          <a:xfrm>
            <a:off x="65250" y="655425"/>
            <a:ext cx="8955900" cy="11697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a:t>When the </a:t>
            </a:r>
            <a:r>
              <a:rPr lang="en" b="1" i="1">
                <a:solidFill>
                  <a:srgbClr val="FF0000"/>
                </a:solidFill>
              </a:rPr>
              <a:t>size</a:t>
            </a:r>
            <a:r>
              <a:rPr lang="en">
                <a:solidFill>
                  <a:srgbClr val="FF0000"/>
                </a:solidFill>
              </a:rPr>
              <a:t> </a:t>
            </a:r>
            <a:r>
              <a:rPr lang="en"/>
              <a:t>of the ArrayList is equal to the </a:t>
            </a:r>
            <a:r>
              <a:rPr lang="en" b="1" i="1">
                <a:solidFill>
                  <a:srgbClr val="FF0000"/>
                </a:solidFill>
              </a:rPr>
              <a:t>capacity</a:t>
            </a:r>
            <a:r>
              <a:rPr lang="en">
                <a:solidFill>
                  <a:srgbClr val="FF0000"/>
                </a:solidFill>
              </a:rPr>
              <a:t> </a:t>
            </a:r>
            <a:r>
              <a:rPr lang="en"/>
              <a:t>of its array, that means that the array is full! The only way to add more elements to the list is to create a new, bigger array to hold all of the elements. The existing elements will need to be copied into the new array before the new element is added.</a:t>
            </a:r>
            <a:endParaRPr/>
          </a:p>
        </p:txBody>
      </p:sp>
      <p:sp>
        <p:nvSpPr>
          <p:cNvPr id="1063" name="Google Shape;1063;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1064" name="Google Shape;1064;p99"/>
          <p:cNvSpPr txBox="1">
            <a:spLocks noGrp="1"/>
          </p:cNvSpPr>
          <p:nvPr>
            <p:ph type="body" idx="2"/>
          </p:nvPr>
        </p:nvSpPr>
        <p:spPr>
          <a:xfrm>
            <a:off x="4420400" y="1784525"/>
            <a:ext cx="4520700" cy="2662237"/>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Open the </a:t>
            </a:r>
            <a:r>
              <a:rPr lang="en" sz="1400" dirty="0">
                <a:latin typeface="Courier New"/>
                <a:ea typeface="Courier New"/>
                <a:cs typeface="Courier New"/>
                <a:sym typeface="Courier New"/>
              </a:rPr>
              <a:t>ArrayList</a:t>
            </a:r>
            <a:r>
              <a:rPr lang="en" sz="1400" dirty="0"/>
              <a:t> and navigate to the </a:t>
            </a:r>
            <a:r>
              <a:rPr lang="en" sz="1400" dirty="0">
                <a:latin typeface="Courier New"/>
                <a:ea typeface="Courier New"/>
                <a:cs typeface="Courier New"/>
                <a:sym typeface="Courier New"/>
              </a:rPr>
              <a:t>append</a:t>
            </a:r>
            <a:r>
              <a:rPr lang="en" sz="1400" dirty="0"/>
              <a:t> method.</a:t>
            </a:r>
            <a:endParaRPr sz="1400" dirty="0"/>
          </a:p>
          <a:p>
            <a:pPr marL="914400" lvl="1" indent="-304800" algn="l" rtl="0">
              <a:spcBef>
                <a:spcPts val="0"/>
              </a:spcBef>
              <a:spcAft>
                <a:spcPts val="0"/>
              </a:spcAft>
              <a:buSzPts val="1200"/>
              <a:buChar char="○"/>
            </a:pPr>
            <a:r>
              <a:rPr lang="en" sz="1200" b="1" i="1" dirty="0">
                <a:solidFill>
                  <a:srgbClr val="FF0000"/>
                </a:solidFill>
                <a:highlight>
                  <a:srgbClr val="FFFF00"/>
                </a:highlight>
              </a:rPr>
              <a:t>Before</a:t>
            </a:r>
            <a:r>
              <a:rPr lang="en" sz="1200" dirty="0">
                <a:highlight>
                  <a:srgbClr val="FFFF00"/>
                </a:highlight>
              </a:rPr>
              <a:t> adding the new element, check to see if the </a:t>
            </a:r>
            <a:r>
              <a:rPr lang="en" sz="1200" b="1" i="1" dirty="0">
                <a:solidFill>
                  <a:srgbClr val="FF0000"/>
                </a:solidFill>
                <a:highlight>
                  <a:srgbClr val="FFFF00"/>
                </a:highlight>
              </a:rPr>
              <a:t>size</a:t>
            </a:r>
            <a:r>
              <a:rPr lang="en" sz="1200" dirty="0">
                <a:solidFill>
                  <a:srgbClr val="FF0000"/>
                </a:solidFill>
                <a:highlight>
                  <a:srgbClr val="FFFF00"/>
                </a:highlight>
              </a:rPr>
              <a:t> </a:t>
            </a:r>
            <a:r>
              <a:rPr lang="en" sz="1200" dirty="0">
                <a:highlight>
                  <a:srgbClr val="FFFF00"/>
                </a:highlight>
              </a:rPr>
              <a:t>of the list is equal to the </a:t>
            </a:r>
            <a:r>
              <a:rPr lang="en" sz="1200" b="1" i="1" dirty="0">
                <a:solidFill>
                  <a:srgbClr val="FF0000"/>
                </a:solidFill>
                <a:highlight>
                  <a:srgbClr val="FFFF00"/>
                </a:highlight>
              </a:rPr>
              <a:t>capacity </a:t>
            </a:r>
            <a:r>
              <a:rPr lang="en" sz="1200" dirty="0">
                <a:highlight>
                  <a:srgbClr val="FFFF00"/>
                </a:highlight>
              </a:rPr>
              <a:t>of its array.</a:t>
            </a:r>
            <a:endParaRPr sz="1200" dirty="0">
              <a:highlight>
                <a:srgbClr val="FFFF00"/>
              </a:highlight>
            </a:endParaRPr>
          </a:p>
          <a:p>
            <a:pPr marL="914400" lvl="1" indent="-304800" algn="l" rtl="0">
              <a:spcBef>
                <a:spcPts val="0"/>
              </a:spcBef>
              <a:spcAft>
                <a:spcPts val="0"/>
              </a:spcAft>
              <a:buSzPts val="1200"/>
              <a:buChar char="○"/>
            </a:pPr>
            <a:r>
              <a:rPr lang="en" sz="1200" dirty="0">
                <a:highlight>
                  <a:srgbClr val="FFFF00"/>
                </a:highlight>
              </a:rPr>
              <a:t>If so, use </a:t>
            </a:r>
            <a:r>
              <a:rPr lang="en" sz="1200" dirty="0">
                <a:solidFill>
                  <a:srgbClr val="FF0000"/>
                </a:solidFill>
                <a:highlight>
                  <a:srgbClr val="FFFF00"/>
                </a:highlight>
                <a:latin typeface="Courier New"/>
                <a:ea typeface="Courier New"/>
                <a:cs typeface="Courier New"/>
                <a:sym typeface="Courier New"/>
              </a:rPr>
              <a:t>Arrays.copyOf(original, newSize)</a:t>
            </a:r>
            <a:r>
              <a:rPr lang="en" sz="1200" dirty="0">
                <a:highlight>
                  <a:srgbClr val="FFFF00"/>
                </a:highlight>
              </a:rPr>
              <a:t> to create a bigger copy of the array </a:t>
            </a:r>
            <a:r>
              <a:rPr lang="en" sz="1200" b="1" i="1" dirty="0">
                <a:solidFill>
                  <a:srgbClr val="FF0000"/>
                </a:solidFill>
                <a:highlight>
                  <a:srgbClr val="FFFF00"/>
                </a:highlight>
              </a:rPr>
              <a:t>first</a:t>
            </a:r>
            <a:r>
              <a:rPr lang="en" sz="1200" dirty="0">
                <a:highlight>
                  <a:srgbClr val="FFFF00"/>
                </a:highlight>
              </a:rPr>
              <a:t>.</a:t>
            </a:r>
            <a:endParaRPr sz="1200" dirty="0">
              <a:highlight>
                <a:srgbClr val="FFFF00"/>
              </a:highlight>
            </a:endParaRPr>
          </a:p>
          <a:p>
            <a:pPr marL="914400" lvl="1" indent="-304800" algn="l" rtl="0">
              <a:spcBef>
                <a:spcPts val="0"/>
              </a:spcBef>
              <a:spcAft>
                <a:spcPts val="0"/>
              </a:spcAft>
              <a:buSzPts val="1200"/>
              <a:buChar char="○"/>
            </a:pPr>
            <a:r>
              <a:rPr lang="en" sz="1200" dirty="0"/>
              <a:t>Then add the element as you would normally.</a:t>
            </a:r>
            <a:endParaRPr sz="1200" dirty="0"/>
          </a:p>
          <a:p>
            <a:pPr marL="457200" lvl="0" indent="-317500" algn="l" rtl="0">
              <a:spcBef>
                <a:spcPts val="0"/>
              </a:spcBef>
              <a:spcAft>
                <a:spcPts val="0"/>
              </a:spcAft>
              <a:buSzPts val="1400"/>
              <a:buChar char="●"/>
            </a:pPr>
            <a:r>
              <a:rPr lang="en" sz="1400" dirty="0"/>
              <a:t>Update your </a:t>
            </a:r>
            <a:r>
              <a:rPr lang="en" sz="1400" dirty="0">
                <a:latin typeface="Courier New"/>
                <a:ea typeface="Courier New"/>
                <a:cs typeface="Courier New"/>
                <a:sym typeface="Courier New"/>
              </a:rPr>
              <a:t>main</a:t>
            </a:r>
            <a:r>
              <a:rPr lang="en" sz="1400" dirty="0"/>
              <a:t> method to append enough values to cause the array to be resized.</a:t>
            </a:r>
            <a:endParaRPr sz="1400" dirty="0"/>
          </a:p>
          <a:p>
            <a:pPr marL="914400" lvl="1" indent="-304800" algn="l" rtl="0">
              <a:spcBef>
                <a:spcPts val="0"/>
              </a:spcBef>
              <a:spcAft>
                <a:spcPts val="0"/>
              </a:spcAft>
              <a:buSzPts val="1200"/>
              <a:buChar char="○"/>
            </a:pPr>
            <a:r>
              <a:rPr lang="en" sz="1200" dirty="0"/>
              <a:t>Print the </a:t>
            </a:r>
            <a:r>
              <a:rPr lang="en" sz="1200" dirty="0">
                <a:latin typeface="Courier New"/>
                <a:ea typeface="Courier New"/>
                <a:cs typeface="Courier New"/>
                <a:sym typeface="Courier New"/>
              </a:rPr>
              <a:t>ArrayList</a:t>
            </a:r>
            <a:r>
              <a:rPr lang="en" sz="1200" dirty="0"/>
              <a:t> to standard output!</a:t>
            </a:r>
            <a:endParaRPr sz="1200" dirty="0"/>
          </a:p>
        </p:txBody>
      </p:sp>
      <p:sp>
        <p:nvSpPr>
          <p:cNvPr id="1065" name="Google Shape;1065;p99"/>
          <p:cNvSpPr txBox="1">
            <a:spLocks noGrp="1"/>
          </p:cNvSpPr>
          <p:nvPr>
            <p:ph type="title"/>
          </p:nvPr>
        </p:nvSpPr>
        <p:spPr>
          <a:xfrm>
            <a:off x="1436850" y="100"/>
            <a:ext cx="7642500" cy="6156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2800"/>
              <a:t>Resizing the Array in an Array-Based List</a:t>
            </a:r>
            <a:endParaRPr sz="2800"/>
          </a:p>
        </p:txBody>
      </p:sp>
      <p:sp>
        <p:nvSpPr>
          <p:cNvPr id="1066" name="Google Shape;1066;p9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5.18</a:t>
            </a:r>
            <a:endParaRPr/>
          </a:p>
        </p:txBody>
      </p:sp>
      <p:pic>
        <p:nvPicPr>
          <p:cNvPr id="1067" name="Google Shape;1067;p99"/>
          <p:cNvPicPr preferRelativeResize="0"/>
          <p:nvPr/>
        </p:nvPicPr>
        <p:blipFill>
          <a:blip r:embed="rId3">
            <a:alphaModFix/>
          </a:blip>
          <a:stretch>
            <a:fillRect/>
          </a:stretch>
        </p:blipFill>
        <p:spPr>
          <a:xfrm>
            <a:off x="152400" y="1825125"/>
            <a:ext cx="4115597" cy="2587465"/>
          </a:xfrm>
          <a:prstGeom prst="rect">
            <a:avLst/>
          </a:prstGeom>
          <a:noFill/>
          <a:ln>
            <a:noFill/>
          </a:ln>
        </p:spPr>
      </p:pic>
      <p:pic>
        <p:nvPicPr>
          <p:cNvPr id="1068" name="Google Shape;1068;p99"/>
          <p:cNvPicPr preferRelativeResize="0"/>
          <p:nvPr/>
        </p:nvPicPr>
        <p:blipFill>
          <a:blip r:embed="rId4">
            <a:alphaModFix/>
          </a:blip>
          <a:stretch>
            <a:fillRect/>
          </a:stretch>
        </p:blipFill>
        <p:spPr>
          <a:xfrm rot="-900004">
            <a:off x="112275" y="4458675"/>
            <a:ext cx="1560070" cy="393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p100"/>
          <p:cNvSpPr txBox="1"/>
          <p:nvPr/>
        </p:nvSpPr>
        <p:spPr>
          <a:xfrm>
            <a:off x="318150" y="548250"/>
            <a:ext cx="3706500" cy="4680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A </a:t>
            </a:r>
            <a:r>
              <a:rPr lang="en" sz="1200" b="1" i="1" u="none" strike="noStrike" cap="none">
                <a:solidFill>
                  <a:srgbClr val="FF0000"/>
                </a:solidFill>
                <a:latin typeface="Arial"/>
                <a:ea typeface="Arial"/>
                <a:cs typeface="Arial"/>
                <a:sym typeface="Arial"/>
              </a:rPr>
              <a:t>linked list </a:t>
            </a:r>
            <a:r>
              <a:rPr lang="en" sz="1200"/>
              <a:t>is </a:t>
            </a:r>
            <a:r>
              <a:rPr lang="en" sz="1200" b="0" i="0" u="none" strike="noStrike" cap="none">
                <a:solidFill>
                  <a:srgbClr val="000000"/>
                </a:solidFill>
                <a:latin typeface="Arial"/>
                <a:ea typeface="Arial"/>
                <a:cs typeface="Arial"/>
                <a:sym typeface="Arial"/>
              </a:rPr>
              <a:t>very similar to a </a:t>
            </a:r>
            <a:r>
              <a:rPr lang="en" sz="1200" b="1" i="1" u="none" strike="noStrike" cap="none">
                <a:solidFill>
                  <a:srgbClr val="FF0000"/>
                </a:solidFill>
                <a:latin typeface="Arial"/>
                <a:ea typeface="Arial"/>
                <a:cs typeface="Arial"/>
                <a:sym typeface="Arial"/>
              </a:rPr>
              <a:t>node-based queue</a:t>
            </a:r>
            <a:r>
              <a:rPr lang="en" sz="1200" b="0" i="0" u="none" strike="noStrike" cap="none">
                <a:solidFill>
                  <a:srgbClr val="000000"/>
                </a:solidFill>
                <a:latin typeface="Arial"/>
                <a:ea typeface="Arial"/>
                <a:cs typeface="Arial"/>
                <a:sym typeface="Arial"/>
              </a:rPr>
              <a:t>.</a:t>
            </a:r>
            <a:endParaRPr sz="1200" b="0" i="0" u="none" strike="noStrike" cap="none">
              <a:solidFill>
                <a:srgbClr val="000000"/>
              </a:solidFill>
              <a:latin typeface="Arial"/>
              <a:ea typeface="Arial"/>
              <a:cs typeface="Arial"/>
              <a:sym typeface="Arial"/>
            </a:endParaRPr>
          </a:p>
        </p:txBody>
      </p:sp>
      <p:graphicFrame>
        <p:nvGraphicFramePr>
          <p:cNvPr id="1074" name="Google Shape;1074;p100"/>
          <p:cNvGraphicFramePr/>
          <p:nvPr/>
        </p:nvGraphicFramePr>
        <p:xfrm>
          <a:off x="2466904" y="1065234"/>
          <a:ext cx="983750" cy="914310"/>
        </p:xfrm>
        <a:graphic>
          <a:graphicData uri="http://schemas.openxmlformats.org/drawingml/2006/table">
            <a:tbl>
              <a:tblPr>
                <a:noFill/>
                <a:tableStyleId>{5D16334A-BD30-4DCF-A821-F696FD12572A}</a:tableStyleId>
              </a:tblPr>
              <a:tblGrid>
                <a:gridCol w="491875">
                  <a:extLst>
                    <a:ext uri="{9D8B030D-6E8A-4147-A177-3AD203B41FA5}">
                      <a16:colId xmlns:a16="http://schemas.microsoft.com/office/drawing/2014/main" val="20000"/>
                    </a:ext>
                  </a:extLst>
                </a:gridCol>
                <a:gridCol w="491875">
                  <a:extLst>
                    <a:ext uri="{9D8B030D-6E8A-4147-A177-3AD203B41FA5}">
                      <a16:colId xmlns:a16="http://schemas.microsoft.com/office/drawing/2014/main" val="20001"/>
                    </a:ext>
                  </a:extLst>
                </a:gridCol>
              </a:tblGrid>
              <a:tr h="0">
                <a:tc gridSpan="2">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Node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value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solidFill>
                            <a:srgbClr val="FF0000"/>
                          </a:solidFill>
                          <a:latin typeface="Consolas"/>
                          <a:ea typeface="Consolas"/>
                          <a:cs typeface="Consolas"/>
                          <a:sym typeface="Consolas"/>
                        </a:rPr>
                        <a:t>"a"</a:t>
                      </a: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next</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1075" name="Google Shape;1075;p100"/>
          <p:cNvGraphicFramePr/>
          <p:nvPr/>
        </p:nvGraphicFramePr>
        <p:xfrm>
          <a:off x="2466912" y="3179548"/>
          <a:ext cx="983750" cy="914310"/>
        </p:xfrm>
        <a:graphic>
          <a:graphicData uri="http://schemas.openxmlformats.org/drawingml/2006/table">
            <a:tbl>
              <a:tblPr>
                <a:noFill/>
                <a:tableStyleId>{5D16334A-BD30-4DCF-A821-F696FD12572A}</a:tableStyleId>
              </a:tblPr>
              <a:tblGrid>
                <a:gridCol w="491875">
                  <a:extLst>
                    <a:ext uri="{9D8B030D-6E8A-4147-A177-3AD203B41FA5}">
                      <a16:colId xmlns:a16="http://schemas.microsoft.com/office/drawing/2014/main" val="20000"/>
                    </a:ext>
                  </a:extLst>
                </a:gridCol>
                <a:gridCol w="491875">
                  <a:extLst>
                    <a:ext uri="{9D8B030D-6E8A-4147-A177-3AD203B41FA5}">
                      <a16:colId xmlns:a16="http://schemas.microsoft.com/office/drawing/2014/main" val="20001"/>
                    </a:ext>
                  </a:extLst>
                </a:gridCol>
              </a:tblGrid>
              <a:tr h="0">
                <a:tc gridSpan="2">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Node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value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solidFill>
                            <a:srgbClr val="FF0000"/>
                          </a:solidFill>
                          <a:latin typeface="Consolas"/>
                          <a:ea typeface="Consolas"/>
                          <a:cs typeface="Consolas"/>
                          <a:sym typeface="Consolas"/>
                        </a:rPr>
                        <a:t>"c"</a:t>
                      </a: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next</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solidFill>
                            <a:srgbClr val="FF0000"/>
                          </a:solidFill>
                          <a:latin typeface="Consolas"/>
                          <a:ea typeface="Consolas"/>
                          <a:cs typeface="Consolas"/>
                          <a:sym typeface="Consolas"/>
                        </a:rPr>
                        <a:t>null</a:t>
                      </a: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1076" name="Google Shape;1076;p100"/>
          <p:cNvGraphicFramePr/>
          <p:nvPr/>
        </p:nvGraphicFramePr>
        <p:xfrm>
          <a:off x="2466901" y="2119176"/>
          <a:ext cx="983750" cy="914310"/>
        </p:xfrm>
        <a:graphic>
          <a:graphicData uri="http://schemas.openxmlformats.org/drawingml/2006/table">
            <a:tbl>
              <a:tblPr>
                <a:noFill/>
                <a:tableStyleId>{5D16334A-BD30-4DCF-A821-F696FD12572A}</a:tableStyleId>
              </a:tblPr>
              <a:tblGrid>
                <a:gridCol w="491875">
                  <a:extLst>
                    <a:ext uri="{9D8B030D-6E8A-4147-A177-3AD203B41FA5}">
                      <a16:colId xmlns:a16="http://schemas.microsoft.com/office/drawing/2014/main" val="20000"/>
                    </a:ext>
                  </a:extLst>
                </a:gridCol>
                <a:gridCol w="491875">
                  <a:extLst>
                    <a:ext uri="{9D8B030D-6E8A-4147-A177-3AD203B41FA5}">
                      <a16:colId xmlns:a16="http://schemas.microsoft.com/office/drawing/2014/main" val="20001"/>
                    </a:ext>
                  </a:extLst>
                </a:gridCol>
              </a:tblGrid>
              <a:tr h="0">
                <a:tc gridSpan="2">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Node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value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solidFill>
                            <a:srgbClr val="FF0000"/>
                          </a:solidFill>
                          <a:latin typeface="Consolas"/>
                          <a:ea typeface="Consolas"/>
                          <a:cs typeface="Consolas"/>
                          <a:sym typeface="Consolas"/>
                        </a:rPr>
                        <a:t>"b"</a:t>
                      </a: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next</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graphicFrame>
        <p:nvGraphicFramePr>
          <p:cNvPr id="1077" name="Google Shape;1077;p100"/>
          <p:cNvGraphicFramePr/>
          <p:nvPr/>
        </p:nvGraphicFramePr>
        <p:xfrm>
          <a:off x="879304" y="1065235"/>
          <a:ext cx="983750" cy="1219080"/>
        </p:xfrm>
        <a:graphic>
          <a:graphicData uri="http://schemas.openxmlformats.org/drawingml/2006/table">
            <a:tbl>
              <a:tblPr>
                <a:noFill/>
                <a:tableStyleId>{5D16334A-BD30-4DCF-A821-F696FD12572A}</a:tableStyleId>
              </a:tblPr>
              <a:tblGrid>
                <a:gridCol w="491875">
                  <a:extLst>
                    <a:ext uri="{9D8B030D-6E8A-4147-A177-3AD203B41FA5}">
                      <a16:colId xmlns:a16="http://schemas.microsoft.com/office/drawing/2014/main" val="20000"/>
                    </a:ext>
                  </a:extLst>
                </a:gridCol>
                <a:gridCol w="491875">
                  <a:extLst>
                    <a:ext uri="{9D8B030D-6E8A-4147-A177-3AD203B41FA5}">
                      <a16:colId xmlns:a16="http://schemas.microsoft.com/office/drawing/2014/main" val="20001"/>
                    </a:ext>
                  </a:extLst>
                </a:gridCol>
              </a:tblGrid>
              <a:tr h="0">
                <a:tc gridSpan="2">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LinkedList</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head</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solidFill>
                          <a:srgbClr val="FF0000"/>
                        </a:solidFill>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tail</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size</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latin typeface="Consolas"/>
                          <a:ea typeface="Consolas"/>
                          <a:cs typeface="Consolas"/>
                          <a:sym typeface="Consolas"/>
                        </a:rPr>
                        <a:t>3</a:t>
                      </a:r>
                      <a:endParaRPr sz="800" u="none" strike="noStrike" cap="none">
                        <a:latin typeface="Consolas"/>
                        <a:ea typeface="Consolas"/>
                        <a:cs typeface="Consolas"/>
                        <a:sym typeface="Consolas"/>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1078" name="Google Shape;1078;p100"/>
          <p:cNvSpPr txBox="1"/>
          <p:nvPr/>
        </p:nvSpPr>
        <p:spPr>
          <a:xfrm>
            <a:off x="318150" y="4200484"/>
            <a:ext cx="3706500" cy="858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The primary difference is that a </a:t>
            </a:r>
            <a:r>
              <a:rPr lang="en" sz="1200" b="1" i="1" u="none" strike="noStrike" cap="none">
                <a:solidFill>
                  <a:srgbClr val="FF0000"/>
                </a:solidFill>
                <a:latin typeface="Arial"/>
                <a:ea typeface="Arial"/>
                <a:cs typeface="Arial"/>
                <a:sym typeface="Arial"/>
              </a:rPr>
              <a:t>linked list</a:t>
            </a:r>
            <a:r>
              <a:rPr lang="en" sz="1200" b="0" i="0" u="none" strike="noStrike" cap="none">
                <a:solidFill>
                  <a:srgbClr val="FF0000"/>
                </a:solidFill>
                <a:latin typeface="Arial"/>
                <a:ea typeface="Arial"/>
                <a:cs typeface="Arial"/>
                <a:sym typeface="Arial"/>
              </a:rPr>
              <a:t> </a:t>
            </a:r>
            <a:r>
              <a:rPr lang="en" sz="1200"/>
              <a:t>provides</a:t>
            </a:r>
            <a:r>
              <a:rPr lang="en" sz="1200" b="0" i="0" u="none" strike="noStrike" cap="none">
                <a:solidFill>
                  <a:srgbClr val="000000"/>
                </a:solidFill>
                <a:latin typeface="Arial"/>
                <a:ea typeface="Arial"/>
                <a:cs typeface="Arial"/>
                <a:sym typeface="Arial"/>
              </a:rPr>
              <a:t> access by index, meaning that the </a:t>
            </a:r>
            <a:r>
              <a:rPr lang="en" sz="1200" b="1" i="1" u="none" strike="noStrike" cap="none">
                <a:solidFill>
                  <a:srgbClr val="FF0000"/>
                </a:solidFill>
                <a:latin typeface="Arial"/>
                <a:ea typeface="Arial"/>
                <a:cs typeface="Arial"/>
                <a:sym typeface="Arial"/>
              </a:rPr>
              <a:t>get</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and </a:t>
            </a:r>
            <a:r>
              <a:rPr lang="en" sz="1200" b="1" i="1" u="none" strike="noStrike" cap="none">
                <a:solidFill>
                  <a:srgbClr val="FF0000"/>
                </a:solidFill>
                <a:latin typeface="Arial"/>
                <a:ea typeface="Arial"/>
                <a:cs typeface="Arial"/>
                <a:sym typeface="Arial"/>
              </a:rPr>
              <a:t>set</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methods need to </a:t>
            </a:r>
            <a:r>
              <a:rPr lang="en" sz="1200" b="1" i="1" u="none" strike="noStrike" cap="none">
                <a:solidFill>
                  <a:srgbClr val="FF0000"/>
                </a:solidFill>
                <a:latin typeface="Arial"/>
                <a:ea typeface="Arial"/>
                <a:cs typeface="Arial"/>
                <a:sym typeface="Arial"/>
              </a:rPr>
              <a:t>search </a:t>
            </a:r>
            <a:r>
              <a:rPr lang="en" sz="1200" b="0" i="0" u="none" strike="noStrike" cap="none">
                <a:solidFill>
                  <a:srgbClr val="000000"/>
                </a:solidFill>
                <a:latin typeface="Arial"/>
                <a:ea typeface="Arial"/>
                <a:cs typeface="Arial"/>
                <a:sym typeface="Arial"/>
              </a:rPr>
              <a:t>the linked sequence for the node at a specific index.</a:t>
            </a:r>
            <a:endParaRPr sz="1200" b="0" i="0" u="none" strike="noStrike" cap="none">
              <a:solidFill>
                <a:srgbClr val="000000"/>
              </a:solidFill>
              <a:latin typeface="Arial"/>
              <a:ea typeface="Arial"/>
              <a:cs typeface="Arial"/>
              <a:sym typeface="Arial"/>
            </a:endParaRPr>
          </a:p>
        </p:txBody>
      </p:sp>
      <p:grpSp>
        <p:nvGrpSpPr>
          <p:cNvPr id="1079" name="Google Shape;1079;p100"/>
          <p:cNvGrpSpPr/>
          <p:nvPr/>
        </p:nvGrpSpPr>
        <p:grpSpPr>
          <a:xfrm>
            <a:off x="1607425" y="1198047"/>
            <a:ext cx="1607350" cy="2081203"/>
            <a:chOff x="1607425" y="1198047"/>
            <a:chExt cx="1607350" cy="2081203"/>
          </a:xfrm>
        </p:grpSpPr>
        <p:sp>
          <p:nvSpPr>
            <p:cNvPr id="1080" name="Google Shape;1080;p100"/>
            <p:cNvSpPr/>
            <p:nvPr/>
          </p:nvSpPr>
          <p:spPr>
            <a:xfrm>
              <a:off x="1610875" y="1198047"/>
              <a:ext cx="867950" cy="321475"/>
            </a:xfrm>
            <a:custGeom>
              <a:avLst/>
              <a:gdLst/>
              <a:ahLst/>
              <a:cxnLst/>
              <a:rect l="l" t="t" r="r" b="b"/>
              <a:pathLst>
                <a:path w="34718" h="12859" extrusionOk="0">
                  <a:moveTo>
                    <a:pt x="0" y="12859"/>
                  </a:moveTo>
                  <a:lnTo>
                    <a:pt x="18259" y="12859"/>
                  </a:lnTo>
                  <a:lnTo>
                    <a:pt x="18259" y="0"/>
                  </a:lnTo>
                  <a:lnTo>
                    <a:pt x="34718" y="0"/>
                  </a:lnTo>
                </a:path>
              </a:pathLst>
            </a:custGeom>
            <a:noFill/>
            <a:ln w="19050" cap="flat" cmpd="sng">
              <a:solidFill>
                <a:srgbClr val="FF0000"/>
              </a:solidFill>
              <a:prstDash val="solid"/>
              <a:round/>
              <a:headEnd type="none" w="sm" len="sm"/>
              <a:tailEnd type="triangle" w="med" len="med"/>
            </a:ln>
          </p:spPr>
          <p:txBody>
            <a:bodyPr/>
            <a:lstStyle/>
            <a:p>
              <a:endParaRPr lang="en-US"/>
            </a:p>
          </p:txBody>
        </p:sp>
        <p:sp>
          <p:nvSpPr>
            <p:cNvPr id="1081" name="Google Shape;1081;p100"/>
            <p:cNvSpPr/>
            <p:nvPr/>
          </p:nvSpPr>
          <p:spPr>
            <a:xfrm>
              <a:off x="1607425" y="1826225"/>
              <a:ext cx="867941" cy="1453025"/>
            </a:xfrm>
            <a:custGeom>
              <a:avLst/>
              <a:gdLst/>
              <a:ahLst/>
              <a:cxnLst/>
              <a:rect l="l" t="t" r="r" b="b"/>
              <a:pathLst>
                <a:path w="33175" h="58121" extrusionOk="0">
                  <a:moveTo>
                    <a:pt x="0" y="0"/>
                  </a:moveTo>
                  <a:lnTo>
                    <a:pt x="16973" y="0"/>
                  </a:lnTo>
                  <a:lnTo>
                    <a:pt x="16973" y="58121"/>
                  </a:lnTo>
                  <a:lnTo>
                    <a:pt x="33175" y="58121"/>
                  </a:lnTo>
                </a:path>
              </a:pathLst>
            </a:custGeom>
            <a:noFill/>
            <a:ln w="19050" cap="flat" cmpd="sng">
              <a:solidFill>
                <a:srgbClr val="FF0000"/>
              </a:solidFill>
              <a:prstDash val="solid"/>
              <a:round/>
              <a:headEnd type="none" w="sm" len="sm"/>
              <a:tailEnd type="triangle" w="med" len="med"/>
            </a:ln>
          </p:spPr>
          <p:txBody>
            <a:bodyPr/>
            <a:lstStyle/>
            <a:p>
              <a:endParaRPr lang="en-US"/>
            </a:p>
          </p:txBody>
        </p:sp>
        <p:cxnSp>
          <p:nvCxnSpPr>
            <p:cNvPr id="1082" name="Google Shape;1082;p100"/>
            <p:cNvCxnSpPr/>
            <p:nvPr/>
          </p:nvCxnSpPr>
          <p:spPr>
            <a:xfrm>
              <a:off x="3214775" y="1863849"/>
              <a:ext cx="0" cy="270000"/>
            </a:xfrm>
            <a:prstGeom prst="straightConnector1">
              <a:avLst/>
            </a:prstGeom>
            <a:noFill/>
            <a:ln w="19050" cap="flat" cmpd="sng">
              <a:solidFill>
                <a:srgbClr val="FF0000"/>
              </a:solidFill>
              <a:prstDash val="solid"/>
              <a:round/>
              <a:headEnd type="none" w="sm" len="sm"/>
              <a:tailEnd type="triangle" w="med" len="med"/>
            </a:ln>
          </p:spPr>
        </p:cxnSp>
        <p:cxnSp>
          <p:nvCxnSpPr>
            <p:cNvPr id="1083" name="Google Shape;1083;p100"/>
            <p:cNvCxnSpPr/>
            <p:nvPr/>
          </p:nvCxnSpPr>
          <p:spPr>
            <a:xfrm>
              <a:off x="3214775" y="2917790"/>
              <a:ext cx="0" cy="270000"/>
            </a:xfrm>
            <a:prstGeom prst="straightConnector1">
              <a:avLst/>
            </a:prstGeom>
            <a:noFill/>
            <a:ln w="19050" cap="flat" cmpd="sng">
              <a:solidFill>
                <a:srgbClr val="FF0000"/>
              </a:solidFill>
              <a:prstDash val="solid"/>
              <a:round/>
              <a:headEnd type="none" w="sm" len="sm"/>
              <a:tailEnd type="triangle" w="med" len="med"/>
            </a:ln>
          </p:spPr>
        </p:cxnSp>
      </p:grpSp>
      <p:sp>
        <p:nvSpPr>
          <p:cNvPr id="1084" name="Google Shape;1084;p100"/>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43</a:t>
            </a:fld>
            <a:endParaRPr/>
          </a:p>
        </p:txBody>
      </p:sp>
      <p:sp>
        <p:nvSpPr>
          <p:cNvPr id="1085" name="Google Shape;1085;p100"/>
          <p:cNvSpPr txBox="1">
            <a:spLocks noGrp="1"/>
          </p:cNvSpPr>
          <p:nvPr>
            <p:ph type="title"/>
          </p:nvPr>
        </p:nvSpPr>
        <p:spPr>
          <a:xfrm>
            <a:off x="311725" y="23068"/>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dirty="0"/>
              <a:t>Linked Lists</a:t>
            </a:r>
            <a:endParaRPr dirty="0"/>
          </a:p>
        </p:txBody>
      </p:sp>
      <p:sp>
        <p:nvSpPr>
          <p:cNvPr id="1086" name="Google Shape;1086;p100"/>
          <p:cNvSpPr txBox="1">
            <a:spLocks noGrp="1"/>
          </p:cNvSpPr>
          <p:nvPr>
            <p:ph type="body" idx="1"/>
          </p:nvPr>
        </p:nvSpPr>
        <p:spPr>
          <a:xfrm>
            <a:off x="4416075" y="43725"/>
            <a:ext cx="4452600" cy="5075700"/>
          </a:xfrm>
          <a:prstGeom prst="rect">
            <a:avLst/>
          </a:prstGeom>
          <a:noFill/>
          <a:ln>
            <a:noFill/>
          </a:ln>
        </p:spPr>
        <p:txBody>
          <a:bodyPr spcFirstLastPara="1" wrap="square" lIns="91425" tIns="91425" rIns="91425" bIns="91425" anchor="t" anchorCtr="0">
            <a:spAutoFit/>
          </a:bodyPr>
          <a:lstStyle/>
          <a:p>
            <a:pPr marL="457200" lvl="0" indent="-311150" algn="l" rtl="0">
              <a:lnSpc>
                <a:spcPct val="115000"/>
              </a:lnSpc>
              <a:spcBef>
                <a:spcPts val="0"/>
              </a:spcBef>
              <a:spcAft>
                <a:spcPts val="0"/>
              </a:spcAft>
              <a:buSzPts val="1300"/>
              <a:buChar char="●"/>
            </a:pPr>
            <a:r>
              <a:rPr lang="en" dirty="0"/>
              <a:t>Another possible implementation of the list ADT is built using a </a:t>
            </a:r>
            <a:r>
              <a:rPr lang="en" b="1" i="1" dirty="0">
                <a:solidFill>
                  <a:srgbClr val="FF0000"/>
                </a:solidFill>
              </a:rPr>
              <a:t>linked-sequence</a:t>
            </a:r>
            <a:r>
              <a:rPr lang="en" dirty="0"/>
              <a:t>.</a:t>
            </a:r>
            <a:endParaRPr dirty="0"/>
          </a:p>
          <a:p>
            <a:pPr marL="914400" lvl="1" indent="-298450" algn="l" rtl="0">
              <a:lnSpc>
                <a:spcPct val="115000"/>
              </a:lnSpc>
              <a:spcBef>
                <a:spcPts val="0"/>
              </a:spcBef>
              <a:spcAft>
                <a:spcPts val="0"/>
              </a:spcAft>
              <a:buSzPts val="1100"/>
              <a:buChar char="○"/>
            </a:pPr>
            <a:r>
              <a:rPr lang="en" dirty="0"/>
              <a:t>This type of list is called a </a:t>
            </a:r>
            <a:r>
              <a:rPr lang="en" b="1" i="1" dirty="0">
                <a:solidFill>
                  <a:srgbClr val="FF0000"/>
                </a:solidFill>
              </a:rPr>
              <a:t>linked list</a:t>
            </a:r>
            <a:r>
              <a:rPr lang="en" dirty="0"/>
              <a:t>.</a:t>
            </a:r>
            <a:endParaRPr dirty="0"/>
          </a:p>
          <a:p>
            <a:pPr marL="457200" lvl="0" indent="-311150" algn="l" rtl="0">
              <a:lnSpc>
                <a:spcPct val="115000"/>
              </a:lnSpc>
              <a:spcBef>
                <a:spcPts val="1000"/>
              </a:spcBef>
              <a:spcAft>
                <a:spcPts val="0"/>
              </a:spcAft>
              <a:buSzPts val="1300"/>
              <a:buChar char="●"/>
            </a:pPr>
            <a:r>
              <a:rPr lang="en" dirty="0"/>
              <a:t>You should recall that a </a:t>
            </a:r>
            <a:r>
              <a:rPr lang="en" b="1" i="1" dirty="0">
                <a:solidFill>
                  <a:srgbClr val="FF0000"/>
                </a:solidFill>
              </a:rPr>
              <a:t>linked sequence</a:t>
            </a:r>
            <a:r>
              <a:rPr lang="en" dirty="0"/>
              <a:t> is defined as:</a:t>
            </a:r>
            <a:endParaRPr dirty="0"/>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rPr>
              <a:t>empty sequence</a:t>
            </a:r>
            <a:r>
              <a:rPr lang="en" dirty="0"/>
              <a:t>, which contains no values and is represented as </a:t>
            </a:r>
            <a:r>
              <a:rPr lang="en" dirty="0">
                <a:solidFill>
                  <a:srgbClr val="FF0000"/>
                </a:solidFill>
                <a:latin typeface="Courier New"/>
                <a:ea typeface="Courier New"/>
                <a:cs typeface="Courier New"/>
                <a:sym typeface="Courier New"/>
              </a:rPr>
              <a:t>null</a:t>
            </a:r>
            <a:r>
              <a:rPr lang="en" dirty="0"/>
              <a:t>.</a:t>
            </a:r>
            <a:endParaRPr dirty="0"/>
          </a:p>
          <a:p>
            <a:pPr marL="914400" lvl="1" indent="-298450" algn="l" rtl="0">
              <a:lnSpc>
                <a:spcPct val="115000"/>
              </a:lnSpc>
              <a:spcBef>
                <a:spcPts val="0"/>
              </a:spcBef>
              <a:spcAft>
                <a:spcPts val="0"/>
              </a:spcAft>
              <a:buSzPts val="1100"/>
              <a:buChar char="○"/>
            </a:pPr>
            <a:r>
              <a:rPr lang="en" dirty="0"/>
              <a:t>At least one </a:t>
            </a:r>
            <a:r>
              <a:rPr lang="en" b="1" i="1" dirty="0">
                <a:solidFill>
                  <a:srgbClr val="FF0000"/>
                </a:solidFill>
              </a:rPr>
              <a:t>node</a:t>
            </a:r>
            <a:r>
              <a:rPr lang="en" dirty="0">
                <a:solidFill>
                  <a:srgbClr val="FF0000"/>
                </a:solidFill>
              </a:rPr>
              <a:t> </a:t>
            </a:r>
            <a:r>
              <a:rPr lang="en" dirty="0"/>
              <a:t>that contains:</a:t>
            </a:r>
            <a:endParaRPr dirty="0"/>
          </a:p>
          <a:p>
            <a:pPr marL="1371600" lvl="2" indent="-298450" algn="l" rtl="0">
              <a:lnSpc>
                <a:spcPct val="115000"/>
              </a:lnSpc>
              <a:spcBef>
                <a:spcPts val="0"/>
              </a:spcBef>
              <a:spcAft>
                <a:spcPts val="0"/>
              </a:spcAft>
              <a:buSzPts val="1100"/>
              <a:buChar char="■"/>
            </a:pPr>
            <a:r>
              <a:rPr lang="en" dirty="0"/>
              <a:t>A </a:t>
            </a:r>
            <a:r>
              <a:rPr lang="en" b="1" i="1" dirty="0">
                <a:solidFill>
                  <a:srgbClr val="FF0000"/>
                </a:solidFill>
              </a:rPr>
              <a:t>value </a:t>
            </a:r>
            <a:r>
              <a:rPr lang="en" dirty="0"/>
              <a:t>of some type, e.g. a </a:t>
            </a:r>
            <a:r>
              <a:rPr lang="en" dirty="0">
                <a:latin typeface="Courier New"/>
                <a:ea typeface="Courier New"/>
                <a:cs typeface="Courier New"/>
                <a:sym typeface="Courier New"/>
              </a:rPr>
              <a:t>String</a:t>
            </a:r>
            <a:r>
              <a:rPr lang="en" dirty="0"/>
              <a:t>.</a:t>
            </a:r>
            <a:endParaRPr dirty="0"/>
          </a:p>
          <a:p>
            <a:pPr marL="1371600" lvl="2" indent="-298450" algn="l" rtl="0">
              <a:lnSpc>
                <a:spcPct val="115000"/>
              </a:lnSpc>
              <a:spcBef>
                <a:spcPts val="0"/>
              </a:spcBef>
              <a:spcAft>
                <a:spcPts val="0"/>
              </a:spcAft>
              <a:buSzPts val="1100"/>
              <a:buChar char="■"/>
            </a:pPr>
            <a:r>
              <a:rPr lang="en" dirty="0"/>
              <a:t>A reference to the </a:t>
            </a:r>
            <a:r>
              <a:rPr lang="en" b="1" i="1" dirty="0">
                <a:solidFill>
                  <a:srgbClr val="FF0000"/>
                </a:solidFill>
              </a:rPr>
              <a:t>next</a:t>
            </a:r>
            <a:r>
              <a:rPr lang="en" dirty="0">
                <a:solidFill>
                  <a:srgbClr val="FF0000"/>
                </a:solidFill>
              </a:rPr>
              <a:t> </a:t>
            </a:r>
            <a:r>
              <a:rPr lang="en" dirty="0"/>
              <a:t>node in the sequence, which may be </a:t>
            </a:r>
            <a:r>
              <a:rPr lang="en" dirty="0">
                <a:latin typeface="Courier New"/>
                <a:ea typeface="Courier New"/>
                <a:cs typeface="Courier New"/>
                <a:sym typeface="Courier New"/>
              </a:rPr>
              <a:t>null</a:t>
            </a:r>
            <a:r>
              <a:rPr lang="en" dirty="0"/>
              <a:t>.</a:t>
            </a:r>
            <a:endParaRPr dirty="0"/>
          </a:p>
          <a:p>
            <a:pPr marL="457200" lvl="0" indent="-311150" algn="l" rtl="0">
              <a:lnSpc>
                <a:spcPct val="115000"/>
              </a:lnSpc>
              <a:spcBef>
                <a:spcPts val="1000"/>
              </a:spcBef>
              <a:spcAft>
                <a:spcPts val="0"/>
              </a:spcAft>
              <a:buSzPts val="1300"/>
              <a:buChar char="●"/>
            </a:pPr>
            <a:r>
              <a:rPr lang="en" dirty="0"/>
              <a:t>A</a:t>
            </a:r>
            <a:r>
              <a:rPr lang="en" dirty="0">
                <a:solidFill>
                  <a:srgbClr val="FF0000"/>
                </a:solidFill>
              </a:rPr>
              <a:t> </a:t>
            </a:r>
            <a:r>
              <a:rPr lang="en" b="1" i="1" dirty="0">
                <a:solidFill>
                  <a:srgbClr val="FF0000"/>
                </a:solidFill>
              </a:rPr>
              <a:t>linked list</a:t>
            </a:r>
            <a:r>
              <a:rPr lang="en" dirty="0"/>
              <a:t> keeps track of three values:</a:t>
            </a:r>
            <a:endParaRPr dirty="0"/>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rPr>
              <a:t>first</a:t>
            </a:r>
            <a:r>
              <a:rPr lang="en" dirty="0">
                <a:solidFill>
                  <a:srgbClr val="FF0000"/>
                </a:solidFill>
              </a:rPr>
              <a:t> </a:t>
            </a:r>
            <a:r>
              <a:rPr lang="en" dirty="0"/>
              <a:t>node in the list, which is also called the </a:t>
            </a:r>
            <a:r>
              <a:rPr lang="en" b="1" i="1" dirty="0">
                <a:solidFill>
                  <a:srgbClr val="FF0000"/>
                </a:solidFill>
              </a:rPr>
              <a:t>head</a:t>
            </a:r>
            <a:r>
              <a:rPr lang="en" dirty="0"/>
              <a:t>.</a:t>
            </a:r>
            <a:endParaRPr dirty="0"/>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rPr>
              <a:t>last</a:t>
            </a:r>
            <a:r>
              <a:rPr lang="en" dirty="0">
                <a:solidFill>
                  <a:srgbClr val="FF0000"/>
                </a:solidFill>
              </a:rPr>
              <a:t> </a:t>
            </a:r>
            <a:r>
              <a:rPr lang="en" dirty="0"/>
              <a:t>node in the list, which is also called the </a:t>
            </a:r>
            <a:r>
              <a:rPr lang="en" b="1" i="1" dirty="0">
                <a:solidFill>
                  <a:srgbClr val="FF0000"/>
                </a:solidFill>
              </a:rPr>
              <a:t>tail</a:t>
            </a:r>
            <a:r>
              <a:rPr lang="en" dirty="0"/>
              <a:t>.</a:t>
            </a:r>
            <a:endParaRPr dirty="0"/>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rPr>
              <a:t>size</a:t>
            </a:r>
            <a:r>
              <a:rPr lang="en" dirty="0">
                <a:solidFill>
                  <a:srgbClr val="FF0000"/>
                </a:solidFill>
              </a:rPr>
              <a:t> </a:t>
            </a:r>
            <a:r>
              <a:rPr lang="en" dirty="0"/>
              <a:t>of the list - the total number of nodes including the head and the tail.</a:t>
            </a:r>
            <a:endParaRPr dirty="0"/>
          </a:p>
          <a:p>
            <a:pPr marL="457200" lvl="0" indent="-311150" algn="l" rtl="0">
              <a:lnSpc>
                <a:spcPct val="115000"/>
              </a:lnSpc>
              <a:spcBef>
                <a:spcPts val="1000"/>
              </a:spcBef>
              <a:spcAft>
                <a:spcPts val="0"/>
              </a:spcAft>
              <a:buSzPts val="1300"/>
              <a:buChar char="●"/>
            </a:pPr>
            <a:r>
              <a:rPr lang="en" dirty="0"/>
              <a:t>There are some special conditions that need to be considered:</a:t>
            </a:r>
            <a:endParaRPr dirty="0"/>
          </a:p>
          <a:p>
            <a:pPr marL="914400" lvl="1" indent="-298450" algn="l" rtl="0">
              <a:lnSpc>
                <a:spcPct val="115000"/>
              </a:lnSpc>
              <a:spcBef>
                <a:spcPts val="0"/>
              </a:spcBef>
              <a:spcAft>
                <a:spcPts val="0"/>
              </a:spcAft>
              <a:buSzPts val="1100"/>
              <a:buChar char="○"/>
            </a:pPr>
            <a:r>
              <a:rPr lang="en" dirty="0"/>
              <a:t>If the list is empty, </a:t>
            </a:r>
            <a:r>
              <a:rPr lang="en" b="1" i="1" dirty="0">
                <a:solidFill>
                  <a:srgbClr val="FF0000"/>
                </a:solidFill>
              </a:rPr>
              <a:t>both</a:t>
            </a:r>
            <a:r>
              <a:rPr lang="en" dirty="0">
                <a:solidFill>
                  <a:srgbClr val="FF0000"/>
                </a:solidFill>
              </a:rPr>
              <a:t> </a:t>
            </a:r>
            <a:r>
              <a:rPr lang="en" dirty="0"/>
              <a:t>the head and the tail are </a:t>
            </a:r>
            <a:r>
              <a:rPr lang="en" dirty="0">
                <a:solidFill>
                  <a:srgbClr val="FF0000"/>
                </a:solidFill>
                <a:latin typeface="Courier New"/>
                <a:ea typeface="Courier New"/>
                <a:cs typeface="Courier New"/>
                <a:sym typeface="Courier New"/>
              </a:rPr>
              <a:t>null</a:t>
            </a:r>
            <a:r>
              <a:rPr lang="en" dirty="0"/>
              <a:t>.</a:t>
            </a:r>
            <a:endParaRPr dirty="0"/>
          </a:p>
          <a:p>
            <a:pPr marL="914400" lvl="1" indent="-298450" algn="l" rtl="0">
              <a:lnSpc>
                <a:spcPct val="115000"/>
              </a:lnSpc>
              <a:spcBef>
                <a:spcPts val="0"/>
              </a:spcBef>
              <a:spcAft>
                <a:spcPts val="0"/>
              </a:spcAft>
              <a:buSzPts val="1100"/>
              <a:buChar char="○"/>
            </a:pPr>
            <a:r>
              <a:rPr lang="en" dirty="0"/>
              <a:t>If there is </a:t>
            </a:r>
            <a:r>
              <a:rPr lang="en" b="1" i="1" dirty="0">
                <a:solidFill>
                  <a:srgbClr val="FF0000"/>
                </a:solidFill>
              </a:rPr>
              <a:t>one</a:t>
            </a:r>
            <a:r>
              <a:rPr lang="en" dirty="0">
                <a:solidFill>
                  <a:srgbClr val="FF0000"/>
                </a:solidFill>
              </a:rPr>
              <a:t> </a:t>
            </a:r>
            <a:r>
              <a:rPr lang="en" dirty="0"/>
              <a:t>value in the list, </a:t>
            </a:r>
            <a:r>
              <a:rPr lang="en" b="1" i="1" dirty="0">
                <a:solidFill>
                  <a:srgbClr val="FF0000"/>
                </a:solidFill>
              </a:rPr>
              <a:t>both</a:t>
            </a:r>
            <a:r>
              <a:rPr lang="en" dirty="0">
                <a:solidFill>
                  <a:srgbClr val="FF0000"/>
                </a:solidFill>
              </a:rPr>
              <a:t> </a:t>
            </a:r>
            <a:r>
              <a:rPr lang="en" dirty="0"/>
              <a:t>the head and the tail refer to the </a:t>
            </a:r>
            <a:r>
              <a:rPr lang="en" b="1" i="1" dirty="0">
                <a:solidFill>
                  <a:srgbClr val="FF0000"/>
                </a:solidFill>
              </a:rPr>
              <a:t>same </a:t>
            </a:r>
            <a:r>
              <a:rPr lang="en" dirty="0"/>
              <a:t>node.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8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8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8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8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8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8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8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8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8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86">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073"/>
                                        </p:tgtEl>
                                        <p:attrNameLst>
                                          <p:attrName>style.visibility</p:attrName>
                                        </p:attrNameLst>
                                      </p:cBhvr>
                                      <p:to>
                                        <p:strVal val="visible"/>
                                      </p:to>
                                    </p:set>
                                    <p:animEffect transition="in" filter="fade">
                                      <p:cBhvr>
                                        <p:cTn id="63" dur="1000"/>
                                        <p:tgtEl>
                                          <p:spTgt spid="1073"/>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1074"/>
                                        </p:tgtEl>
                                        <p:attrNameLst>
                                          <p:attrName>style.visibility</p:attrName>
                                        </p:attrNameLst>
                                      </p:cBhvr>
                                      <p:to>
                                        <p:strVal val="visible"/>
                                      </p:to>
                                    </p:set>
                                    <p:animEffect transition="in" filter="fade">
                                      <p:cBhvr>
                                        <p:cTn id="67" dur="1000"/>
                                        <p:tgtEl>
                                          <p:spTgt spid="1074"/>
                                        </p:tgtEl>
                                      </p:cBhvr>
                                    </p:animEffect>
                                  </p:childTnLst>
                                </p:cTn>
                              </p:par>
                              <p:par>
                                <p:cTn id="68" presetID="10" presetClass="entr" presetSubtype="0" fill="hold" nodeType="withEffect">
                                  <p:stCondLst>
                                    <p:cond delay="0"/>
                                  </p:stCondLst>
                                  <p:childTnLst>
                                    <p:set>
                                      <p:cBhvr>
                                        <p:cTn id="69" dur="1" fill="hold">
                                          <p:stCondLst>
                                            <p:cond delay="0"/>
                                          </p:stCondLst>
                                        </p:cTn>
                                        <p:tgtEl>
                                          <p:spTgt spid="1075"/>
                                        </p:tgtEl>
                                        <p:attrNameLst>
                                          <p:attrName>style.visibility</p:attrName>
                                        </p:attrNameLst>
                                      </p:cBhvr>
                                      <p:to>
                                        <p:strVal val="visible"/>
                                      </p:to>
                                    </p:set>
                                    <p:animEffect transition="in" filter="fade">
                                      <p:cBhvr>
                                        <p:cTn id="70" dur="1000"/>
                                        <p:tgtEl>
                                          <p:spTgt spid="1075"/>
                                        </p:tgtEl>
                                      </p:cBhvr>
                                    </p:animEffect>
                                  </p:childTnLst>
                                </p:cTn>
                              </p:par>
                              <p:par>
                                <p:cTn id="71" presetID="10" presetClass="entr" presetSubtype="0" fill="hold" nodeType="withEffect">
                                  <p:stCondLst>
                                    <p:cond delay="0"/>
                                  </p:stCondLst>
                                  <p:childTnLst>
                                    <p:set>
                                      <p:cBhvr>
                                        <p:cTn id="72" dur="1" fill="hold">
                                          <p:stCondLst>
                                            <p:cond delay="0"/>
                                          </p:stCondLst>
                                        </p:cTn>
                                        <p:tgtEl>
                                          <p:spTgt spid="1076"/>
                                        </p:tgtEl>
                                        <p:attrNameLst>
                                          <p:attrName>style.visibility</p:attrName>
                                        </p:attrNameLst>
                                      </p:cBhvr>
                                      <p:to>
                                        <p:strVal val="visible"/>
                                      </p:to>
                                    </p:set>
                                    <p:animEffect transition="in" filter="fade">
                                      <p:cBhvr>
                                        <p:cTn id="73" dur="1000"/>
                                        <p:tgtEl>
                                          <p:spTgt spid="1076"/>
                                        </p:tgtEl>
                                      </p:cBhvr>
                                    </p:animEffect>
                                  </p:childTnLst>
                                </p:cTn>
                              </p:par>
                              <p:par>
                                <p:cTn id="74" presetID="10" presetClass="entr" presetSubtype="0" fill="hold" nodeType="withEffect">
                                  <p:stCondLst>
                                    <p:cond delay="0"/>
                                  </p:stCondLst>
                                  <p:childTnLst>
                                    <p:set>
                                      <p:cBhvr>
                                        <p:cTn id="75" dur="1" fill="hold">
                                          <p:stCondLst>
                                            <p:cond delay="0"/>
                                          </p:stCondLst>
                                        </p:cTn>
                                        <p:tgtEl>
                                          <p:spTgt spid="1077"/>
                                        </p:tgtEl>
                                        <p:attrNameLst>
                                          <p:attrName>style.visibility</p:attrName>
                                        </p:attrNameLst>
                                      </p:cBhvr>
                                      <p:to>
                                        <p:strVal val="visible"/>
                                      </p:to>
                                    </p:set>
                                    <p:animEffect transition="in" filter="fade">
                                      <p:cBhvr>
                                        <p:cTn id="76" dur="1000"/>
                                        <p:tgtEl>
                                          <p:spTgt spid="1077"/>
                                        </p:tgtEl>
                                      </p:cBhvr>
                                    </p:animEffect>
                                  </p:childTnLst>
                                </p:cTn>
                              </p:par>
                              <p:par>
                                <p:cTn id="77" presetID="10" presetClass="entr" presetSubtype="0" fill="hold" nodeType="withEffect">
                                  <p:stCondLst>
                                    <p:cond delay="0"/>
                                  </p:stCondLst>
                                  <p:childTnLst>
                                    <p:set>
                                      <p:cBhvr>
                                        <p:cTn id="78" dur="1" fill="hold">
                                          <p:stCondLst>
                                            <p:cond delay="0"/>
                                          </p:stCondLst>
                                        </p:cTn>
                                        <p:tgtEl>
                                          <p:spTgt spid="1079"/>
                                        </p:tgtEl>
                                        <p:attrNameLst>
                                          <p:attrName>style.visibility</p:attrName>
                                        </p:attrNameLst>
                                      </p:cBhvr>
                                      <p:to>
                                        <p:strVal val="visible"/>
                                      </p:to>
                                    </p:set>
                                    <p:animEffect transition="in" filter="fade">
                                      <p:cBhvr>
                                        <p:cTn id="79" dur="1000"/>
                                        <p:tgtEl>
                                          <p:spTgt spid="1079"/>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078"/>
                                        </p:tgtEl>
                                        <p:attrNameLst>
                                          <p:attrName>style.visibility</p:attrName>
                                        </p:attrNameLst>
                                      </p:cBhvr>
                                      <p:to>
                                        <p:strVal val="visible"/>
                                      </p:to>
                                    </p:set>
                                    <p:animEffect transition="in" filter="fade">
                                      <p:cBhvr>
                                        <p:cTn id="84" dur="1000"/>
                                        <p:tgtEl>
                                          <p:spTgt spid="1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101"/>
          <p:cNvSpPr txBox="1">
            <a:spLocks noGrp="1"/>
          </p:cNvSpPr>
          <p:nvPr>
            <p:ph type="body" idx="1"/>
          </p:nvPr>
        </p:nvSpPr>
        <p:spPr>
          <a:xfrm>
            <a:off x="244725" y="26470"/>
            <a:ext cx="4513200" cy="5111100"/>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dirty="0"/>
              <a:t>The </a:t>
            </a:r>
            <a:r>
              <a:rPr lang="en" b="1" i="1" dirty="0">
                <a:solidFill>
                  <a:srgbClr val="FF0000"/>
                </a:solidFill>
              </a:rPr>
              <a:t>expected</a:t>
            </a:r>
            <a:r>
              <a:rPr lang="en" dirty="0">
                <a:solidFill>
                  <a:srgbClr val="FF0000"/>
                </a:solidFill>
              </a:rPr>
              <a:t> </a:t>
            </a:r>
            <a:r>
              <a:rPr lang="en" dirty="0"/>
              <a:t>time complexity for all basic operations on an</a:t>
            </a:r>
            <a:r>
              <a:rPr lang="en" dirty="0">
                <a:solidFill>
                  <a:srgbClr val="FF0000"/>
                </a:solidFill>
              </a:rPr>
              <a:t> </a:t>
            </a:r>
            <a:r>
              <a:rPr lang="en" b="1" i="1" dirty="0">
                <a:solidFill>
                  <a:srgbClr val="FF0000"/>
                </a:solidFill>
              </a:rPr>
              <a:t>array list</a:t>
            </a:r>
            <a:r>
              <a:rPr lang="en" dirty="0">
                <a:solidFill>
                  <a:srgbClr val="FF0000"/>
                </a:solidFill>
              </a:rPr>
              <a:t> </a:t>
            </a:r>
            <a:r>
              <a:rPr lang="en" dirty="0"/>
              <a:t>is </a:t>
            </a:r>
            <a:r>
              <a:rPr lang="en" b="1" i="1" dirty="0">
                <a:solidFill>
                  <a:srgbClr val="FF0000"/>
                </a:solidFill>
              </a:rPr>
              <a:t>constant time</a:t>
            </a:r>
            <a:r>
              <a:rPr lang="en" dirty="0"/>
              <a:t> (</a:t>
            </a:r>
            <a:r>
              <a:rPr lang="en" b="1" i="1" dirty="0">
                <a:solidFill>
                  <a:srgbClr val="FF0000"/>
                </a:solidFill>
              </a:rPr>
              <a:t>O(1)</a:t>
            </a:r>
            <a:r>
              <a:rPr lang="en" dirty="0"/>
              <a:t>).</a:t>
            </a:r>
            <a:endParaRPr dirty="0"/>
          </a:p>
          <a:p>
            <a:pPr marL="914400" lvl="1" indent="-298450" algn="l" rtl="0">
              <a:lnSpc>
                <a:spcPct val="115000"/>
              </a:lnSpc>
              <a:spcBef>
                <a:spcPts val="0"/>
              </a:spcBef>
              <a:spcAft>
                <a:spcPts val="0"/>
              </a:spcAft>
              <a:buSzPts val="1100"/>
              <a:buChar char="○"/>
            </a:pPr>
            <a:r>
              <a:rPr lang="en" dirty="0">
                <a:highlight>
                  <a:srgbClr val="FFFF00"/>
                </a:highlight>
              </a:rPr>
              <a:t>The notable exception is </a:t>
            </a:r>
            <a:r>
              <a:rPr lang="en" b="1" i="1" dirty="0">
                <a:solidFill>
                  <a:srgbClr val="FF0000"/>
                </a:solidFill>
                <a:highlight>
                  <a:srgbClr val="FFFF00"/>
                </a:highlight>
              </a:rPr>
              <a:t>append</a:t>
            </a:r>
            <a:r>
              <a:rPr lang="en" dirty="0">
                <a:highlight>
                  <a:srgbClr val="FFFF00"/>
                </a:highlight>
              </a:rPr>
              <a:t>, which has a worst case time complexity of </a:t>
            </a:r>
            <a:r>
              <a:rPr lang="en" b="1" i="1" dirty="0">
                <a:solidFill>
                  <a:srgbClr val="FF0000"/>
                </a:solidFill>
                <a:highlight>
                  <a:srgbClr val="FFFF00"/>
                </a:highlight>
              </a:rPr>
              <a:t>O(n)</a:t>
            </a:r>
            <a:r>
              <a:rPr lang="en" dirty="0">
                <a:highlight>
                  <a:srgbClr val="FFFF00"/>
                </a:highlight>
              </a:rPr>
              <a:t> because of the copy operation, but this should be </a:t>
            </a:r>
            <a:r>
              <a:rPr lang="en" b="1" i="1" dirty="0">
                <a:solidFill>
                  <a:srgbClr val="FF0000"/>
                </a:solidFill>
                <a:highlight>
                  <a:srgbClr val="FFFF00"/>
                </a:highlight>
              </a:rPr>
              <a:t>rare</a:t>
            </a:r>
            <a:r>
              <a:rPr lang="en" dirty="0">
                <a:highlight>
                  <a:srgbClr val="FFFF00"/>
                </a:highlight>
              </a:rPr>
              <a:t>.</a:t>
            </a:r>
            <a:endParaRPr dirty="0">
              <a:highlight>
                <a:srgbClr val="FFFF00"/>
              </a:highlight>
            </a:endParaRPr>
          </a:p>
          <a:p>
            <a:pPr marL="457200" lvl="0" indent="-311150" algn="l" rtl="0">
              <a:lnSpc>
                <a:spcPct val="115000"/>
              </a:lnSpc>
              <a:spcBef>
                <a:spcPts val="1000"/>
              </a:spcBef>
              <a:spcAft>
                <a:spcPts val="0"/>
              </a:spcAft>
              <a:buSzPts val="1300"/>
              <a:buChar char="●"/>
            </a:pPr>
            <a:r>
              <a:rPr lang="en" dirty="0"/>
              <a:t>The performance of an array list suffers whenever the elements are </a:t>
            </a:r>
            <a:r>
              <a:rPr lang="en" b="1" i="1" dirty="0">
                <a:solidFill>
                  <a:srgbClr val="FF0000"/>
                </a:solidFill>
              </a:rPr>
              <a:t>shifted</a:t>
            </a:r>
            <a:r>
              <a:rPr lang="en" dirty="0">
                <a:solidFill>
                  <a:srgbClr val="FF0000"/>
                </a:solidFill>
              </a:rPr>
              <a:t> </a:t>
            </a:r>
            <a:r>
              <a:rPr lang="en" dirty="0"/>
              <a:t>in the array.</a:t>
            </a:r>
            <a:endParaRPr dirty="0"/>
          </a:p>
          <a:p>
            <a:pPr marL="914400" lvl="1" indent="-298450" algn="l" rtl="0">
              <a:lnSpc>
                <a:spcPct val="115000"/>
              </a:lnSpc>
              <a:spcBef>
                <a:spcPts val="0"/>
              </a:spcBef>
              <a:spcAft>
                <a:spcPts val="0"/>
              </a:spcAft>
              <a:buSzPts val="1100"/>
              <a:buChar char="○"/>
            </a:pPr>
            <a:r>
              <a:rPr lang="en" dirty="0"/>
              <a:t>The shift is a </a:t>
            </a:r>
            <a:r>
              <a:rPr lang="en" b="1" i="1" dirty="0">
                <a:solidFill>
                  <a:srgbClr val="FF0000"/>
                </a:solidFill>
                <a:highlight>
                  <a:srgbClr val="FFFF00"/>
                </a:highlight>
              </a:rPr>
              <a:t>linear time</a:t>
            </a:r>
            <a:r>
              <a:rPr lang="en" dirty="0">
                <a:solidFill>
                  <a:srgbClr val="FF0000"/>
                </a:solidFill>
                <a:highlight>
                  <a:srgbClr val="FFFF00"/>
                </a:highlight>
              </a:rPr>
              <a:t> </a:t>
            </a:r>
            <a:r>
              <a:rPr lang="en" dirty="0">
                <a:highlight>
                  <a:srgbClr val="FFFF00"/>
                </a:highlight>
              </a:rPr>
              <a:t>(</a:t>
            </a:r>
            <a:r>
              <a:rPr lang="en" b="1" i="1" dirty="0">
                <a:solidFill>
                  <a:srgbClr val="FF0000"/>
                </a:solidFill>
                <a:highlight>
                  <a:srgbClr val="FFFF00"/>
                </a:highlight>
              </a:rPr>
              <a:t>O(n)</a:t>
            </a:r>
            <a:r>
              <a:rPr lang="en" dirty="0">
                <a:highlight>
                  <a:srgbClr val="FFFF00"/>
                </a:highlight>
              </a:rPr>
              <a:t>)</a:t>
            </a:r>
            <a:r>
              <a:rPr lang="en" dirty="0"/>
              <a:t> operation and is necessary whenever an element is </a:t>
            </a:r>
            <a:r>
              <a:rPr lang="en" b="1" i="1" dirty="0">
                <a:solidFill>
                  <a:srgbClr val="FF0000"/>
                </a:solidFill>
              </a:rPr>
              <a:t>inserted into </a:t>
            </a:r>
            <a:r>
              <a:rPr lang="en" dirty="0"/>
              <a:t>or </a:t>
            </a:r>
            <a:r>
              <a:rPr lang="en" b="1" i="1" dirty="0">
                <a:solidFill>
                  <a:srgbClr val="FF0000"/>
                </a:solidFill>
              </a:rPr>
              <a:t>removed from </a:t>
            </a:r>
            <a:r>
              <a:rPr lang="en" dirty="0"/>
              <a:t>the </a:t>
            </a:r>
            <a:r>
              <a:rPr lang="en" dirty="0">
                <a:highlight>
                  <a:srgbClr val="FFFF00"/>
                </a:highlight>
              </a:rPr>
              <a:t>middle</a:t>
            </a:r>
            <a:r>
              <a:rPr lang="en" dirty="0"/>
              <a:t> of the array.</a:t>
            </a:r>
            <a:endParaRPr dirty="0"/>
          </a:p>
          <a:p>
            <a:pPr marL="457200" lvl="0" indent="-311150" algn="l" rtl="0">
              <a:lnSpc>
                <a:spcPct val="115000"/>
              </a:lnSpc>
              <a:spcBef>
                <a:spcPts val="1000"/>
              </a:spcBef>
              <a:spcAft>
                <a:spcPts val="0"/>
              </a:spcAft>
              <a:buSzPts val="1300"/>
              <a:buChar char="●"/>
            </a:pPr>
            <a:r>
              <a:rPr lang="en" dirty="0"/>
              <a:t>The </a:t>
            </a:r>
            <a:r>
              <a:rPr lang="en" b="1" i="1" dirty="0">
                <a:solidFill>
                  <a:srgbClr val="FF0000"/>
                </a:solidFill>
              </a:rPr>
              <a:t>expected</a:t>
            </a:r>
            <a:r>
              <a:rPr lang="en" dirty="0">
                <a:solidFill>
                  <a:srgbClr val="FF0000"/>
                </a:solidFill>
              </a:rPr>
              <a:t> </a:t>
            </a:r>
            <a:r>
              <a:rPr lang="en" dirty="0"/>
              <a:t>time complexity for a </a:t>
            </a:r>
            <a:r>
              <a:rPr lang="en" b="1" i="1" dirty="0">
                <a:solidFill>
                  <a:srgbClr val="FF0000"/>
                </a:solidFill>
              </a:rPr>
              <a:t>linked list</a:t>
            </a:r>
            <a:r>
              <a:rPr lang="en" dirty="0"/>
              <a:t> is very different!</a:t>
            </a:r>
            <a:endParaRPr dirty="0"/>
          </a:p>
          <a:p>
            <a:pPr marL="914400" lvl="1" indent="-298450" algn="l" rtl="0">
              <a:lnSpc>
                <a:spcPct val="115000"/>
              </a:lnSpc>
              <a:spcBef>
                <a:spcPts val="0"/>
              </a:spcBef>
              <a:spcAft>
                <a:spcPts val="0"/>
              </a:spcAft>
              <a:buSzPts val="1100"/>
              <a:buChar char="○"/>
            </a:pPr>
            <a:r>
              <a:rPr lang="en" dirty="0"/>
              <a:t>The performance of the </a:t>
            </a:r>
            <a:r>
              <a:rPr lang="en" b="1" i="1" dirty="0">
                <a:solidFill>
                  <a:srgbClr val="FF0000"/>
                </a:solidFill>
              </a:rPr>
              <a:t>append</a:t>
            </a:r>
            <a:r>
              <a:rPr lang="en" dirty="0">
                <a:solidFill>
                  <a:srgbClr val="FF0000"/>
                </a:solidFill>
              </a:rPr>
              <a:t> </a:t>
            </a:r>
            <a:r>
              <a:rPr lang="en" dirty="0"/>
              <a:t>method will </a:t>
            </a:r>
            <a:r>
              <a:rPr lang="en" b="1" i="1" dirty="0">
                <a:solidFill>
                  <a:srgbClr val="FF0000"/>
                </a:solidFill>
              </a:rPr>
              <a:t>always</a:t>
            </a:r>
            <a:r>
              <a:rPr lang="en" dirty="0">
                <a:solidFill>
                  <a:srgbClr val="FF0000"/>
                </a:solidFill>
              </a:rPr>
              <a:t> </a:t>
            </a:r>
            <a:r>
              <a:rPr lang="en" dirty="0"/>
              <a:t>be </a:t>
            </a:r>
            <a:r>
              <a:rPr lang="en" b="1" i="1" dirty="0">
                <a:solidFill>
                  <a:srgbClr val="FF0000"/>
                </a:solidFill>
              </a:rPr>
              <a:t>constant time</a:t>
            </a:r>
            <a:r>
              <a:rPr lang="en" dirty="0"/>
              <a:t>.</a:t>
            </a:r>
            <a:endParaRPr dirty="0"/>
          </a:p>
          <a:p>
            <a:pPr marL="914400" lvl="1" indent="-298450" algn="l" rtl="0">
              <a:lnSpc>
                <a:spcPct val="115000"/>
              </a:lnSpc>
              <a:spcBef>
                <a:spcPts val="0"/>
              </a:spcBef>
              <a:spcAft>
                <a:spcPts val="0"/>
              </a:spcAft>
              <a:buSzPts val="1100"/>
              <a:buChar char="○"/>
            </a:pPr>
            <a:r>
              <a:rPr lang="en" dirty="0"/>
              <a:t>The </a:t>
            </a:r>
            <a:r>
              <a:rPr lang="en" b="1" i="1" dirty="0">
                <a:solidFill>
                  <a:srgbClr val="FF0000"/>
                </a:solidFill>
              </a:rPr>
              <a:t>get</a:t>
            </a:r>
            <a:r>
              <a:rPr lang="en" dirty="0"/>
              <a:t>, </a:t>
            </a:r>
            <a:r>
              <a:rPr lang="en" b="1" i="1" dirty="0">
                <a:solidFill>
                  <a:srgbClr val="FF0000"/>
                </a:solidFill>
              </a:rPr>
              <a:t>set</a:t>
            </a:r>
            <a:r>
              <a:rPr lang="en" dirty="0"/>
              <a:t>, </a:t>
            </a:r>
            <a:r>
              <a:rPr lang="en" b="1" i="1" dirty="0">
                <a:solidFill>
                  <a:srgbClr val="FF0000"/>
                </a:solidFill>
              </a:rPr>
              <a:t>insert</a:t>
            </a:r>
            <a:r>
              <a:rPr lang="en" dirty="0"/>
              <a:t>, and </a:t>
            </a:r>
            <a:r>
              <a:rPr lang="en" b="1" i="1" dirty="0">
                <a:solidFill>
                  <a:srgbClr val="FF0000"/>
                </a:solidFill>
              </a:rPr>
              <a:t>remove</a:t>
            </a:r>
            <a:r>
              <a:rPr lang="en" dirty="0">
                <a:solidFill>
                  <a:srgbClr val="FF0000"/>
                </a:solidFill>
              </a:rPr>
              <a:t> </a:t>
            </a:r>
            <a:r>
              <a:rPr lang="en" dirty="0"/>
              <a:t>operations will also run in </a:t>
            </a:r>
            <a:r>
              <a:rPr lang="en" b="1" i="1" dirty="0">
                <a:solidFill>
                  <a:srgbClr val="FF0000"/>
                </a:solidFill>
              </a:rPr>
              <a:t>constant time</a:t>
            </a:r>
            <a:r>
              <a:rPr lang="en" dirty="0">
                <a:solidFill>
                  <a:srgbClr val="FF0000"/>
                </a:solidFill>
              </a:rPr>
              <a:t> </a:t>
            </a:r>
            <a:r>
              <a:rPr lang="en" dirty="0"/>
              <a:t>if performed at the </a:t>
            </a:r>
            <a:r>
              <a:rPr lang="en" b="1" i="1" dirty="0">
                <a:solidFill>
                  <a:srgbClr val="FF0000"/>
                </a:solidFill>
              </a:rPr>
              <a:t>head</a:t>
            </a:r>
            <a:r>
              <a:rPr lang="en" dirty="0">
                <a:solidFill>
                  <a:srgbClr val="FF0000"/>
                </a:solidFill>
              </a:rPr>
              <a:t> </a:t>
            </a:r>
            <a:r>
              <a:rPr lang="en" dirty="0"/>
              <a:t>or </a:t>
            </a:r>
            <a:r>
              <a:rPr lang="en" b="1" i="1" dirty="0">
                <a:solidFill>
                  <a:srgbClr val="FF0000"/>
                </a:solidFill>
              </a:rPr>
              <a:t>tail</a:t>
            </a:r>
            <a:r>
              <a:rPr lang="en" dirty="0">
                <a:solidFill>
                  <a:srgbClr val="FF0000"/>
                </a:solidFill>
              </a:rPr>
              <a:t> </a:t>
            </a:r>
            <a:r>
              <a:rPr lang="en" dirty="0"/>
              <a:t>of the list.</a:t>
            </a:r>
            <a:endParaRPr dirty="0"/>
          </a:p>
          <a:p>
            <a:pPr marL="457200" lvl="0" indent="-311150" algn="l" rtl="0">
              <a:lnSpc>
                <a:spcPct val="115000"/>
              </a:lnSpc>
              <a:spcBef>
                <a:spcPts val="1000"/>
              </a:spcBef>
              <a:spcAft>
                <a:spcPts val="0"/>
              </a:spcAft>
              <a:buSzPts val="1300"/>
              <a:buChar char="●"/>
            </a:pPr>
            <a:r>
              <a:rPr lang="en" dirty="0"/>
              <a:t>The performance of a linked list suffers whenever the list has to be </a:t>
            </a:r>
            <a:r>
              <a:rPr lang="en" b="1" i="1" dirty="0">
                <a:solidFill>
                  <a:srgbClr val="FF0000"/>
                </a:solidFill>
              </a:rPr>
              <a:t>searched</a:t>
            </a:r>
            <a:r>
              <a:rPr lang="en" dirty="0"/>
              <a:t>.</a:t>
            </a:r>
            <a:endParaRPr dirty="0"/>
          </a:p>
          <a:p>
            <a:pPr marL="914400" lvl="1" indent="-298450" algn="l" rtl="0">
              <a:lnSpc>
                <a:spcPct val="115000"/>
              </a:lnSpc>
              <a:spcBef>
                <a:spcPts val="0"/>
              </a:spcBef>
              <a:spcAft>
                <a:spcPts val="0"/>
              </a:spcAft>
              <a:buSzPts val="1100"/>
              <a:buChar char="○"/>
            </a:pPr>
            <a:r>
              <a:rPr lang="en" dirty="0"/>
              <a:t>This is a </a:t>
            </a:r>
            <a:r>
              <a:rPr lang="en" b="1" i="1" dirty="0">
                <a:solidFill>
                  <a:srgbClr val="FF0000"/>
                </a:solidFill>
              </a:rPr>
              <a:t>linear time</a:t>
            </a:r>
            <a:r>
              <a:rPr lang="en" dirty="0"/>
              <a:t> (</a:t>
            </a:r>
            <a:r>
              <a:rPr lang="en" b="1" i="1" dirty="0">
                <a:solidFill>
                  <a:srgbClr val="FF0000"/>
                </a:solidFill>
              </a:rPr>
              <a:t>O(n)</a:t>
            </a:r>
            <a:r>
              <a:rPr lang="en" dirty="0"/>
              <a:t>) operation and is necessary whenever </a:t>
            </a:r>
            <a:r>
              <a:rPr lang="en" b="1" i="1" dirty="0">
                <a:solidFill>
                  <a:srgbClr val="FF0000"/>
                </a:solidFill>
              </a:rPr>
              <a:t>get</a:t>
            </a:r>
            <a:r>
              <a:rPr lang="en" dirty="0"/>
              <a:t>, </a:t>
            </a:r>
            <a:r>
              <a:rPr lang="en" b="1" i="1" dirty="0">
                <a:solidFill>
                  <a:srgbClr val="FF0000"/>
                </a:solidFill>
              </a:rPr>
              <a:t>set</a:t>
            </a:r>
            <a:r>
              <a:rPr lang="en" dirty="0"/>
              <a:t>, </a:t>
            </a:r>
            <a:r>
              <a:rPr lang="en" b="1" i="1" dirty="0">
                <a:solidFill>
                  <a:srgbClr val="FF0000"/>
                </a:solidFill>
              </a:rPr>
              <a:t>insert</a:t>
            </a:r>
            <a:r>
              <a:rPr lang="en" dirty="0">
                <a:solidFill>
                  <a:srgbClr val="FF0000"/>
                </a:solidFill>
              </a:rPr>
              <a:t> </a:t>
            </a:r>
            <a:r>
              <a:rPr lang="en" dirty="0"/>
              <a:t>or </a:t>
            </a:r>
            <a:r>
              <a:rPr lang="en" b="1" i="1" dirty="0">
                <a:solidFill>
                  <a:srgbClr val="FF0000"/>
                </a:solidFill>
              </a:rPr>
              <a:t>remove</a:t>
            </a:r>
            <a:r>
              <a:rPr lang="en" dirty="0">
                <a:solidFill>
                  <a:srgbClr val="FF0000"/>
                </a:solidFill>
              </a:rPr>
              <a:t> </a:t>
            </a:r>
            <a:r>
              <a:rPr lang="en" dirty="0"/>
              <a:t>is performed at any index in the middle of the list.</a:t>
            </a:r>
            <a:endParaRPr dirty="0"/>
          </a:p>
        </p:txBody>
      </p:sp>
      <p:sp>
        <p:nvSpPr>
          <p:cNvPr id="1092" name="Google Shape;1092;p101"/>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000"/>
              <a:buFont typeface="Arial"/>
              <a:buNone/>
            </a:pPr>
            <a:fld id="{00000000-1234-1234-1234-123412341234}" type="slidenum">
              <a:rPr lang="en"/>
              <a:t>44</a:t>
            </a:fld>
            <a:endParaRPr/>
          </a:p>
        </p:txBody>
      </p:sp>
      <p:sp>
        <p:nvSpPr>
          <p:cNvPr id="1093" name="Google Shape;1093;p101"/>
          <p:cNvSpPr txBox="1">
            <a:spLocks noGrp="1"/>
          </p:cNvSpPr>
          <p:nvPr>
            <p:ph type="title"/>
          </p:nvPr>
        </p:nvSpPr>
        <p:spPr>
          <a:xfrm>
            <a:off x="4908375" y="119925"/>
            <a:ext cx="40629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List Complexity</a:t>
            </a:r>
            <a:endParaRPr/>
          </a:p>
        </p:txBody>
      </p:sp>
      <p:pic>
        <p:nvPicPr>
          <p:cNvPr id="1094" name="Google Shape;1094;p101"/>
          <p:cNvPicPr preferRelativeResize="0"/>
          <p:nvPr/>
        </p:nvPicPr>
        <p:blipFill rotWithShape="1">
          <a:blip r:embed="rId3">
            <a:alphaModFix/>
          </a:blip>
          <a:srcRect/>
          <a:stretch/>
        </p:blipFill>
        <p:spPr>
          <a:xfrm>
            <a:off x="7537325" y="963951"/>
            <a:ext cx="759800" cy="1326850"/>
          </a:xfrm>
          <a:prstGeom prst="rect">
            <a:avLst/>
          </a:prstGeom>
          <a:noFill/>
          <a:ln>
            <a:noFill/>
          </a:ln>
        </p:spPr>
      </p:pic>
      <p:sp>
        <p:nvSpPr>
          <p:cNvPr id="1095" name="Google Shape;1095;p101"/>
          <p:cNvSpPr/>
          <p:nvPr/>
        </p:nvSpPr>
        <p:spPr>
          <a:xfrm>
            <a:off x="5431500" y="758025"/>
            <a:ext cx="1735200" cy="826200"/>
          </a:xfrm>
          <a:prstGeom prst="wedgeRoundRectCallout">
            <a:avLst>
              <a:gd name="adj1" fmla="val 67132"/>
              <a:gd name="adj2" fmla="val 2163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So how do I decide which implementation to use?</a:t>
            </a:r>
            <a:endParaRPr sz="1200" b="0" i="0" u="none" strike="noStrike" cap="none">
              <a:solidFill>
                <a:srgbClr val="000000"/>
              </a:solidFill>
              <a:latin typeface="Arial"/>
              <a:ea typeface="Arial"/>
              <a:cs typeface="Arial"/>
              <a:sym typeface="Arial"/>
            </a:endParaRPr>
          </a:p>
        </p:txBody>
      </p:sp>
      <p:graphicFrame>
        <p:nvGraphicFramePr>
          <p:cNvPr id="1096" name="Google Shape;1096;p101"/>
          <p:cNvGraphicFramePr/>
          <p:nvPr/>
        </p:nvGraphicFramePr>
        <p:xfrm>
          <a:off x="4908375" y="2367625"/>
          <a:ext cx="4167950" cy="1958350"/>
        </p:xfrm>
        <a:graphic>
          <a:graphicData uri="http://schemas.openxmlformats.org/drawingml/2006/table">
            <a:tbl>
              <a:tblPr>
                <a:noFill/>
                <a:tableStyleId>{5D16334A-BD30-4DCF-A821-F696FD12572A}</a:tableStyleId>
              </a:tblPr>
              <a:tblGrid>
                <a:gridCol w="1202700">
                  <a:extLst>
                    <a:ext uri="{9D8B030D-6E8A-4147-A177-3AD203B41FA5}">
                      <a16:colId xmlns:a16="http://schemas.microsoft.com/office/drawing/2014/main" val="20000"/>
                    </a:ext>
                  </a:extLst>
                </a:gridCol>
                <a:gridCol w="1482625">
                  <a:extLst>
                    <a:ext uri="{9D8B030D-6E8A-4147-A177-3AD203B41FA5}">
                      <a16:colId xmlns:a16="http://schemas.microsoft.com/office/drawing/2014/main" val="20001"/>
                    </a:ext>
                  </a:extLst>
                </a:gridCol>
                <a:gridCol w="1482625">
                  <a:extLst>
                    <a:ext uri="{9D8B030D-6E8A-4147-A177-3AD203B41FA5}">
                      <a16:colId xmlns:a16="http://schemas.microsoft.com/office/drawing/2014/main" val="20002"/>
                    </a:ext>
                  </a:extLst>
                </a:gridCol>
              </a:tblGrid>
              <a:tr h="155077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rgbClr val="FFFFFF"/>
                          </a:solidFill>
                        </a:rPr>
                        <a:t>That depends, if you...</a:t>
                      </a:r>
                      <a:endParaRPr sz="12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0757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rgbClr val="FFFFFF"/>
                          </a:solidFill>
                        </a:rPr>
                        <a:t>...then choose:</a:t>
                      </a:r>
                      <a:endParaRPr sz="1200" u="none" strike="noStrike" cap="none">
                        <a:solidFill>
                          <a:srgbClr val="FFFFFF"/>
                        </a:solidFill>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4A86E8"/>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
        <p:nvSpPr>
          <p:cNvPr id="1097" name="Google Shape;1097;p101"/>
          <p:cNvSpPr txBox="1"/>
          <p:nvPr/>
        </p:nvSpPr>
        <p:spPr>
          <a:xfrm>
            <a:off x="6111075" y="2437774"/>
            <a:ext cx="1482600" cy="1427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200"/>
              <a:buFont typeface="Arial"/>
              <a:buNone/>
            </a:pPr>
            <a:r>
              <a:rPr lang="en" sz="1200" b="0" i="0" u="none" strike="noStrike" cap="none" dirty="0">
                <a:solidFill>
                  <a:srgbClr val="FF0000"/>
                </a:solidFill>
                <a:latin typeface="Shadows Into Light"/>
                <a:ea typeface="Shadows Into Light"/>
                <a:cs typeface="Shadows Into Light"/>
                <a:sym typeface="Shadows Into Light"/>
              </a:rPr>
              <a:t>- Always Append at the End</a:t>
            </a:r>
            <a:endParaRPr sz="12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15000"/>
              </a:lnSpc>
              <a:spcBef>
                <a:spcPts val="0"/>
              </a:spcBef>
              <a:spcAft>
                <a:spcPts val="0"/>
              </a:spcAft>
              <a:buClr>
                <a:srgbClr val="000000"/>
              </a:buClr>
              <a:buSzPts val="1200"/>
              <a:buFont typeface="Arial"/>
              <a:buNone/>
            </a:pPr>
            <a:r>
              <a:rPr lang="en" sz="1200" b="0" i="0" u="none" strike="noStrike" cap="none" dirty="0">
                <a:solidFill>
                  <a:srgbClr val="FF0000"/>
                </a:solidFill>
                <a:latin typeface="Shadows Into Light"/>
                <a:ea typeface="Shadows Into Light"/>
                <a:cs typeface="Shadows Into Light"/>
                <a:sym typeface="Shadows Into Light"/>
              </a:rPr>
              <a:t>- Never Insert or remove in the middle</a:t>
            </a:r>
            <a:endParaRPr sz="12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15000"/>
              </a:lnSpc>
              <a:spcBef>
                <a:spcPts val="0"/>
              </a:spcBef>
              <a:spcAft>
                <a:spcPts val="0"/>
              </a:spcAft>
              <a:buClr>
                <a:srgbClr val="000000"/>
              </a:buClr>
              <a:buSzPts val="1200"/>
              <a:buFont typeface="Arial"/>
              <a:buNone/>
            </a:pPr>
            <a:r>
              <a:rPr lang="en" sz="1200" b="0" i="0" u="none" strike="noStrike" cap="none" dirty="0">
                <a:solidFill>
                  <a:srgbClr val="FF0000"/>
                </a:solidFill>
                <a:latin typeface="Shadows Into Light"/>
                <a:ea typeface="Shadows Into Light"/>
                <a:cs typeface="Shadows Into Light"/>
                <a:sym typeface="Shadows Into Light"/>
              </a:rPr>
              <a:t>- Need Random Access</a:t>
            </a:r>
            <a:endParaRPr sz="1200" b="0" i="0" u="none" strike="noStrike" cap="none" dirty="0">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dirty="0">
                <a:solidFill>
                  <a:srgbClr val="FF0000"/>
                </a:solidFill>
                <a:latin typeface="Shadows Into Light"/>
                <a:ea typeface="Shadows Into Light"/>
                <a:cs typeface="Shadows Into Light"/>
                <a:sym typeface="Shadows Into Light"/>
              </a:rPr>
              <a:t>- Know the maximum number of elements </a:t>
            </a:r>
            <a:endParaRPr sz="1200" b="0" i="0" u="none" strike="noStrike" cap="none" dirty="0">
              <a:solidFill>
                <a:srgbClr val="FF0000"/>
              </a:solidFill>
              <a:latin typeface="Shadows Into Light"/>
              <a:ea typeface="Shadows Into Light"/>
              <a:cs typeface="Shadows Into Light"/>
              <a:sym typeface="Shadows Into Light"/>
            </a:endParaRPr>
          </a:p>
        </p:txBody>
      </p:sp>
      <p:sp>
        <p:nvSpPr>
          <p:cNvPr id="1098" name="Google Shape;1098;p101"/>
          <p:cNvSpPr txBox="1"/>
          <p:nvPr/>
        </p:nvSpPr>
        <p:spPr>
          <a:xfrm>
            <a:off x="6111075" y="3920558"/>
            <a:ext cx="1482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FF0000"/>
                </a:solidFill>
                <a:latin typeface="Shadows Into Light"/>
                <a:ea typeface="Shadows Into Light"/>
                <a:cs typeface="Shadows Into Light"/>
                <a:sym typeface="Shadows Into Light"/>
              </a:rPr>
              <a:t>Array List</a:t>
            </a:r>
            <a:endParaRPr sz="1900" b="0" i="0" u="none" strike="noStrike" cap="none">
              <a:solidFill>
                <a:srgbClr val="FF0000"/>
              </a:solidFill>
              <a:latin typeface="Shadows Into Light"/>
              <a:ea typeface="Shadows Into Light"/>
              <a:cs typeface="Shadows Into Light"/>
              <a:sym typeface="Shadows Into Light"/>
            </a:endParaRPr>
          </a:p>
        </p:txBody>
      </p:sp>
      <p:sp>
        <p:nvSpPr>
          <p:cNvPr id="1099" name="Google Shape;1099;p101"/>
          <p:cNvSpPr txBox="1"/>
          <p:nvPr/>
        </p:nvSpPr>
        <p:spPr>
          <a:xfrm>
            <a:off x="7593762" y="2431347"/>
            <a:ext cx="1482600" cy="1427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latin typeface="Shadows Into Light"/>
                <a:ea typeface="Shadows Into Light"/>
                <a:cs typeface="Shadows Into Light"/>
                <a:sym typeface="Shadows Into Light"/>
              </a:rPr>
              <a:t>- Always Insert or Remove at head </a:t>
            </a:r>
            <a:r>
              <a:rPr lang="en" sz="1200" b="0" i="0" u="sng" strike="noStrike" cap="none">
                <a:solidFill>
                  <a:srgbClr val="FF0000"/>
                </a:solidFill>
                <a:latin typeface="Shadows Into Light"/>
                <a:ea typeface="Shadows Into Light"/>
                <a:cs typeface="Shadows Into Light"/>
                <a:sym typeface="Shadows Into Light"/>
              </a:rPr>
              <a:t>and/or</a:t>
            </a:r>
            <a:r>
              <a:rPr lang="en" sz="1200" b="0" i="0" u="none" strike="noStrike" cap="none">
                <a:solidFill>
                  <a:srgbClr val="FF0000"/>
                </a:solidFill>
                <a:latin typeface="Shadows Into Light"/>
                <a:ea typeface="Shadows Into Light"/>
                <a:cs typeface="Shadows Into Light"/>
                <a:sym typeface="Shadows Into Light"/>
              </a:rPr>
              <a:t> tail</a:t>
            </a:r>
            <a:endParaRPr sz="12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latin typeface="Shadows Into Light"/>
                <a:ea typeface="Shadows Into Light"/>
                <a:cs typeface="Shadows Into Light"/>
                <a:sym typeface="Shadows Into Light"/>
              </a:rPr>
              <a:t>- Don't need random access</a:t>
            </a:r>
            <a:endParaRPr sz="1200" b="0" i="0" u="none" strike="noStrike" cap="none">
              <a:solidFill>
                <a:srgbClr val="FF0000"/>
              </a:solidFill>
              <a:latin typeface="Shadows Into Light"/>
              <a:ea typeface="Shadows Into Light"/>
              <a:cs typeface="Shadows Into Light"/>
              <a:sym typeface="Shadows Into Light"/>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FF0000"/>
                </a:solidFill>
                <a:latin typeface="Shadows Into Light"/>
                <a:ea typeface="Shadows Into Light"/>
                <a:cs typeface="Shadows Into Light"/>
                <a:sym typeface="Shadows Into Light"/>
              </a:rPr>
              <a:t>- Don't know the maximum number of elements</a:t>
            </a:r>
            <a:endParaRPr sz="1200" b="0" i="0" u="none" strike="noStrike" cap="none">
              <a:solidFill>
                <a:srgbClr val="FF0000"/>
              </a:solidFill>
              <a:latin typeface="Shadows Into Light"/>
              <a:ea typeface="Shadows Into Light"/>
              <a:cs typeface="Shadows Into Light"/>
              <a:sym typeface="Shadows Into Light"/>
            </a:endParaRPr>
          </a:p>
        </p:txBody>
      </p:sp>
      <p:sp>
        <p:nvSpPr>
          <p:cNvPr id="1100" name="Google Shape;1100;p101"/>
          <p:cNvSpPr txBox="1"/>
          <p:nvPr/>
        </p:nvSpPr>
        <p:spPr>
          <a:xfrm>
            <a:off x="7607533" y="3920558"/>
            <a:ext cx="1482600" cy="393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900"/>
              <a:buFont typeface="Arial"/>
              <a:buNone/>
            </a:pPr>
            <a:r>
              <a:rPr lang="en" sz="1900" b="0" i="0" u="none" strike="noStrike" cap="none">
                <a:solidFill>
                  <a:srgbClr val="FF0000"/>
                </a:solidFill>
                <a:latin typeface="Shadows Into Light"/>
                <a:ea typeface="Shadows Into Light"/>
                <a:cs typeface="Shadows Into Light"/>
                <a:sym typeface="Shadows Into Light"/>
              </a:rPr>
              <a:t>Linked List</a:t>
            </a:r>
            <a:endParaRPr sz="1900" b="0" i="0" u="none" strike="noStrike" cap="none">
              <a:solidFill>
                <a:srgbClr val="FF0000"/>
              </a:solidFill>
              <a:latin typeface="Shadows Into Light"/>
              <a:ea typeface="Shadows Into Light"/>
              <a:cs typeface="Shadows Into Light"/>
              <a:sym typeface="Shadows Into Light"/>
            </a:endParaRPr>
          </a:p>
        </p:txBody>
      </p:sp>
      <p:sp>
        <p:nvSpPr>
          <p:cNvPr id="1101" name="Google Shape;1101;p101"/>
          <p:cNvSpPr txBox="1"/>
          <p:nvPr/>
        </p:nvSpPr>
        <p:spPr>
          <a:xfrm>
            <a:off x="4923400" y="4402800"/>
            <a:ext cx="4137900" cy="638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Arial"/>
                <a:ea typeface="Arial"/>
                <a:cs typeface="Arial"/>
                <a:sym typeface="Arial"/>
              </a:rPr>
              <a:t>Understanding which operations are needed </a:t>
            </a:r>
            <a:r>
              <a:rPr lang="en" sz="1200" b="1" i="1" u="none" strike="noStrike" cap="none" dirty="0">
                <a:solidFill>
                  <a:srgbClr val="FF0000"/>
                </a:solidFill>
                <a:latin typeface="Arial"/>
                <a:ea typeface="Arial"/>
                <a:cs typeface="Arial"/>
                <a:sym typeface="Arial"/>
              </a:rPr>
              <a:t>the most frequently</a:t>
            </a:r>
            <a:r>
              <a:rPr lang="en" sz="1200" b="0" i="0" u="none" strike="noStrike" cap="none" dirty="0">
                <a:solidFill>
                  <a:srgbClr val="000000"/>
                </a:solidFill>
                <a:latin typeface="Arial"/>
                <a:ea typeface="Arial"/>
                <a:cs typeface="Arial"/>
                <a:sym typeface="Arial"/>
              </a:rPr>
              <a:t> will help you choose the most efficient implementation to solve your problem.</a:t>
            </a:r>
            <a:endParaRPr sz="1200" b="0" i="0" u="none" strike="noStrike" cap="none" dirty="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9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9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9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9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094"/>
                                        </p:tgtEl>
                                        <p:attrNameLst>
                                          <p:attrName>style.visibility</p:attrName>
                                        </p:attrNameLst>
                                      </p:cBhvr>
                                      <p:to>
                                        <p:strVal val="visible"/>
                                      </p:to>
                                    </p:set>
                                    <p:animEffect transition="in" filter="fade">
                                      <p:cBhvr>
                                        <p:cTn id="43" dur="1000"/>
                                        <p:tgtEl>
                                          <p:spTgt spid="1094"/>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1095"/>
                                        </p:tgtEl>
                                        <p:attrNameLst>
                                          <p:attrName>style.visibility</p:attrName>
                                        </p:attrNameLst>
                                      </p:cBhvr>
                                      <p:to>
                                        <p:strVal val="visible"/>
                                      </p:to>
                                    </p:set>
                                    <p:animEffect transition="in" filter="fade">
                                      <p:cBhvr>
                                        <p:cTn id="47" dur="1000"/>
                                        <p:tgtEl>
                                          <p:spTgt spid="109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96"/>
                                        </p:tgtEl>
                                        <p:attrNameLst>
                                          <p:attrName>style.visibility</p:attrName>
                                        </p:attrNameLst>
                                      </p:cBhvr>
                                      <p:to>
                                        <p:strVal val="visible"/>
                                      </p:to>
                                    </p:set>
                                    <p:animEffect transition="in" filter="fade">
                                      <p:cBhvr>
                                        <p:cTn id="52" dur="1000"/>
                                        <p:tgtEl>
                                          <p:spTgt spid="109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97">
                                            <p:txEl>
                                              <p:pRg st="0" end="0"/>
                                            </p:txEl>
                                          </p:spTgt>
                                        </p:tgtEl>
                                        <p:attrNameLst>
                                          <p:attrName>style.visibility</p:attrName>
                                        </p:attrNameLst>
                                      </p:cBhvr>
                                      <p:to>
                                        <p:strVal val="visible"/>
                                      </p:to>
                                    </p:set>
                                    <p:animEffect transition="in" filter="fade">
                                      <p:cBhvr>
                                        <p:cTn id="57" dur="1000"/>
                                        <p:tgtEl>
                                          <p:spTgt spid="1097">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097">
                                            <p:txEl>
                                              <p:pRg st="1" end="1"/>
                                            </p:txEl>
                                          </p:spTgt>
                                        </p:tgtEl>
                                        <p:attrNameLst>
                                          <p:attrName>style.visibility</p:attrName>
                                        </p:attrNameLst>
                                      </p:cBhvr>
                                      <p:to>
                                        <p:strVal val="visible"/>
                                      </p:to>
                                    </p:set>
                                    <p:animEffect transition="in" filter="fade">
                                      <p:cBhvr>
                                        <p:cTn id="62" dur="1000"/>
                                        <p:tgtEl>
                                          <p:spTgt spid="1097">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097">
                                            <p:txEl>
                                              <p:pRg st="2" end="2"/>
                                            </p:txEl>
                                          </p:spTgt>
                                        </p:tgtEl>
                                        <p:attrNameLst>
                                          <p:attrName>style.visibility</p:attrName>
                                        </p:attrNameLst>
                                      </p:cBhvr>
                                      <p:to>
                                        <p:strVal val="visible"/>
                                      </p:to>
                                    </p:set>
                                    <p:animEffect transition="in" filter="fade">
                                      <p:cBhvr>
                                        <p:cTn id="67" dur="1000"/>
                                        <p:tgtEl>
                                          <p:spTgt spid="1097">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097">
                                            <p:txEl>
                                              <p:pRg st="3" end="3"/>
                                            </p:txEl>
                                          </p:spTgt>
                                        </p:tgtEl>
                                        <p:attrNameLst>
                                          <p:attrName>style.visibility</p:attrName>
                                        </p:attrNameLst>
                                      </p:cBhvr>
                                      <p:to>
                                        <p:strVal val="visible"/>
                                      </p:to>
                                    </p:set>
                                    <p:animEffect transition="in" filter="fade">
                                      <p:cBhvr>
                                        <p:cTn id="72" dur="1000"/>
                                        <p:tgtEl>
                                          <p:spTgt spid="1097">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098"/>
                                        </p:tgtEl>
                                        <p:attrNameLst>
                                          <p:attrName>style.visibility</p:attrName>
                                        </p:attrNameLst>
                                      </p:cBhvr>
                                      <p:to>
                                        <p:strVal val="visible"/>
                                      </p:to>
                                    </p:set>
                                    <p:animEffect transition="in" filter="fade">
                                      <p:cBhvr>
                                        <p:cTn id="77" dur="1000"/>
                                        <p:tgtEl>
                                          <p:spTgt spid="109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099">
                                            <p:txEl>
                                              <p:pRg st="0" end="0"/>
                                            </p:txEl>
                                          </p:spTgt>
                                        </p:tgtEl>
                                        <p:attrNameLst>
                                          <p:attrName>style.visibility</p:attrName>
                                        </p:attrNameLst>
                                      </p:cBhvr>
                                      <p:to>
                                        <p:strVal val="visible"/>
                                      </p:to>
                                    </p:set>
                                    <p:animEffect transition="in" filter="fade">
                                      <p:cBhvr>
                                        <p:cTn id="82" dur="1000"/>
                                        <p:tgtEl>
                                          <p:spTgt spid="1099">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099">
                                            <p:txEl>
                                              <p:pRg st="1" end="1"/>
                                            </p:txEl>
                                          </p:spTgt>
                                        </p:tgtEl>
                                        <p:attrNameLst>
                                          <p:attrName>style.visibility</p:attrName>
                                        </p:attrNameLst>
                                      </p:cBhvr>
                                      <p:to>
                                        <p:strVal val="visible"/>
                                      </p:to>
                                    </p:set>
                                    <p:animEffect transition="in" filter="fade">
                                      <p:cBhvr>
                                        <p:cTn id="87" dur="1000"/>
                                        <p:tgtEl>
                                          <p:spTgt spid="1099">
                                            <p:txEl>
                                              <p:pRg st="1" end="1"/>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099">
                                            <p:txEl>
                                              <p:pRg st="2" end="2"/>
                                            </p:txEl>
                                          </p:spTgt>
                                        </p:tgtEl>
                                        <p:attrNameLst>
                                          <p:attrName>style.visibility</p:attrName>
                                        </p:attrNameLst>
                                      </p:cBhvr>
                                      <p:to>
                                        <p:strVal val="visible"/>
                                      </p:to>
                                    </p:set>
                                    <p:animEffect transition="in" filter="fade">
                                      <p:cBhvr>
                                        <p:cTn id="92" dur="1000"/>
                                        <p:tgtEl>
                                          <p:spTgt spid="1099">
                                            <p:txEl>
                                              <p:pRg st="2" end="2"/>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1100"/>
                                        </p:tgtEl>
                                        <p:attrNameLst>
                                          <p:attrName>style.visibility</p:attrName>
                                        </p:attrNameLst>
                                      </p:cBhvr>
                                      <p:to>
                                        <p:strVal val="visible"/>
                                      </p:to>
                                    </p:set>
                                    <p:animEffect transition="in" filter="fade">
                                      <p:cBhvr>
                                        <p:cTn id="97" dur="1000"/>
                                        <p:tgtEl>
                                          <p:spTgt spid="110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101"/>
                                        </p:tgtEl>
                                        <p:attrNameLst>
                                          <p:attrName>style.visibility</p:attrName>
                                        </p:attrNameLst>
                                      </p:cBhvr>
                                      <p:to>
                                        <p:strVal val="visible"/>
                                      </p:to>
                                    </p:set>
                                    <p:animEffect transition="in" filter="fade">
                                      <p:cBhvr>
                                        <p:cTn id="102" dur="1000"/>
                                        <p:tgtEl>
                                          <p:spTgt spid="1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p102"/>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700"/>
              <a:t>Java's </a:t>
            </a:r>
            <a:r>
              <a:rPr lang="en" sz="2700">
                <a:latin typeface="Courier New"/>
                <a:ea typeface="Courier New"/>
                <a:cs typeface="Courier New"/>
                <a:sym typeface="Courier New"/>
              </a:rPr>
              <a:t>for</a:t>
            </a:r>
            <a:r>
              <a:rPr lang="en" sz="2700"/>
              <a:t>-each Loop </a:t>
            </a:r>
            <a:endParaRPr sz="2700"/>
          </a:p>
        </p:txBody>
      </p:sp>
      <p:sp>
        <p:nvSpPr>
          <p:cNvPr id="1107" name="Google Shape;1107;p102"/>
          <p:cNvSpPr txBox="1">
            <a:spLocks noGrp="1"/>
          </p:cNvSpPr>
          <p:nvPr>
            <p:ph type="body" idx="1"/>
          </p:nvPr>
        </p:nvSpPr>
        <p:spPr>
          <a:xfrm>
            <a:off x="311700" y="1505700"/>
            <a:ext cx="4189800" cy="3396600"/>
          </a:xfrm>
          <a:prstGeom prst="rect">
            <a:avLst/>
          </a:prstGeom>
          <a:noFill/>
          <a:ln>
            <a:noFill/>
          </a:ln>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So far, most (if not all) of the </a:t>
            </a:r>
            <a:r>
              <a:rPr lang="en" dirty="0">
                <a:solidFill>
                  <a:srgbClr val="FF0000"/>
                </a:solidFill>
                <a:latin typeface="Courier New"/>
                <a:ea typeface="Courier New"/>
                <a:cs typeface="Courier New"/>
                <a:sym typeface="Courier New"/>
              </a:rPr>
              <a:t>for</a:t>
            </a:r>
            <a:r>
              <a:rPr lang="en" dirty="0">
                <a:solidFill>
                  <a:srgbClr val="FF0000"/>
                </a:solidFill>
              </a:rPr>
              <a:t> </a:t>
            </a:r>
            <a:r>
              <a:rPr lang="en" b="1" i="1" dirty="0">
                <a:solidFill>
                  <a:srgbClr val="FF0000"/>
                </a:solidFill>
              </a:rPr>
              <a:t>loops</a:t>
            </a:r>
            <a:r>
              <a:rPr lang="en" dirty="0"/>
              <a:t> we have written have used Java's </a:t>
            </a:r>
            <a:r>
              <a:rPr lang="en" b="1" i="1" dirty="0">
                <a:solidFill>
                  <a:srgbClr val="FF0000"/>
                </a:solidFill>
              </a:rPr>
              <a:t>"classic"</a:t>
            </a:r>
            <a:r>
              <a:rPr lang="en" dirty="0"/>
              <a:t> or </a:t>
            </a:r>
            <a:r>
              <a:rPr lang="en" b="1" i="1" dirty="0">
                <a:solidFill>
                  <a:srgbClr val="FF0000"/>
                </a:solidFill>
              </a:rPr>
              <a:t>"C-Style"</a:t>
            </a:r>
            <a:r>
              <a:rPr lang="en" dirty="0"/>
              <a:t> </a:t>
            </a:r>
            <a:r>
              <a:rPr lang="en" dirty="0">
                <a:latin typeface="Courier New"/>
                <a:ea typeface="Courier New"/>
                <a:cs typeface="Courier New"/>
                <a:sym typeface="Courier New"/>
              </a:rPr>
              <a:t>for</a:t>
            </a:r>
            <a:r>
              <a:rPr lang="en" dirty="0"/>
              <a:t> loop syntax.</a:t>
            </a:r>
            <a:endParaRPr dirty="0"/>
          </a:p>
          <a:p>
            <a:pPr marL="914400" lvl="1" indent="-298450" algn="l" rtl="0">
              <a:lnSpc>
                <a:spcPct val="100000"/>
              </a:lnSpc>
              <a:spcBef>
                <a:spcPts val="0"/>
              </a:spcBef>
              <a:spcAft>
                <a:spcPts val="0"/>
              </a:spcAft>
              <a:buSzPts val="1100"/>
              <a:buChar char="○"/>
            </a:pPr>
            <a:r>
              <a:rPr lang="en" b="1" i="1" dirty="0">
                <a:solidFill>
                  <a:srgbClr val="FF0000"/>
                </a:solidFill>
              </a:rPr>
              <a:t>Initialize </a:t>
            </a:r>
            <a:r>
              <a:rPr lang="en" dirty="0"/>
              <a:t>a counting variable, evaluate a </a:t>
            </a:r>
            <a:r>
              <a:rPr lang="en" b="1" i="1" dirty="0">
                <a:solidFill>
                  <a:srgbClr val="FF0000"/>
                </a:solidFill>
              </a:rPr>
              <a:t>boolean expression</a:t>
            </a:r>
            <a:r>
              <a:rPr lang="en" dirty="0"/>
              <a:t>, </a:t>
            </a:r>
            <a:r>
              <a:rPr lang="en" b="1" i="1" dirty="0">
                <a:solidFill>
                  <a:srgbClr val="FF0000"/>
                </a:solidFill>
              </a:rPr>
              <a:t>modify</a:t>
            </a:r>
            <a:r>
              <a:rPr lang="en" dirty="0">
                <a:solidFill>
                  <a:srgbClr val="FF0000"/>
                </a:solidFill>
              </a:rPr>
              <a:t> </a:t>
            </a:r>
            <a:r>
              <a:rPr lang="en" dirty="0"/>
              <a:t>the variable. </a:t>
            </a:r>
            <a:endParaRPr dirty="0"/>
          </a:p>
          <a:p>
            <a:pPr marL="914400" lvl="1" indent="-298450" algn="l" rtl="0">
              <a:lnSpc>
                <a:spcPct val="100000"/>
              </a:lnSpc>
              <a:spcBef>
                <a:spcPts val="0"/>
              </a:spcBef>
              <a:spcAft>
                <a:spcPts val="0"/>
              </a:spcAft>
              <a:buSzPts val="1100"/>
              <a:buFont typeface="Courier New"/>
              <a:buChar char="○"/>
            </a:pPr>
            <a:r>
              <a:rPr lang="en" dirty="0">
                <a:solidFill>
                  <a:srgbClr val="FF0000"/>
                </a:solidFill>
                <a:latin typeface="Courier New"/>
                <a:ea typeface="Courier New"/>
                <a:cs typeface="Courier New"/>
                <a:sym typeface="Courier New"/>
              </a:rPr>
              <a:t>for(int i=0; i&lt;array.length; i++) {}</a:t>
            </a:r>
            <a:endParaRPr dirty="0">
              <a:solidFill>
                <a:srgbClr val="FF0000"/>
              </a:solidFill>
              <a:latin typeface="Courier New"/>
              <a:ea typeface="Courier New"/>
              <a:cs typeface="Courier New"/>
              <a:sym typeface="Courier New"/>
            </a:endParaRPr>
          </a:p>
          <a:p>
            <a:pPr marL="457200" lvl="0" indent="-311150" algn="l" rtl="0">
              <a:lnSpc>
                <a:spcPct val="100000"/>
              </a:lnSpc>
              <a:spcBef>
                <a:spcPts val="1000"/>
              </a:spcBef>
              <a:spcAft>
                <a:spcPts val="0"/>
              </a:spcAft>
              <a:buSzPts val="1300"/>
              <a:buChar char="●"/>
            </a:pPr>
            <a:r>
              <a:rPr lang="en" dirty="0"/>
              <a:t>Java also includes a syntax that is much closer to Python's </a:t>
            </a:r>
            <a:r>
              <a:rPr lang="en" dirty="0">
                <a:latin typeface="Courier New"/>
                <a:ea typeface="Courier New"/>
                <a:cs typeface="Courier New"/>
                <a:sym typeface="Courier New"/>
              </a:rPr>
              <a:t>for</a:t>
            </a:r>
            <a:r>
              <a:rPr lang="en" dirty="0"/>
              <a:t> loop called a </a:t>
            </a:r>
            <a:r>
              <a:rPr lang="en" dirty="0">
                <a:solidFill>
                  <a:srgbClr val="FF0000"/>
                </a:solidFill>
                <a:latin typeface="Courier New"/>
                <a:ea typeface="Courier New"/>
                <a:cs typeface="Courier New"/>
                <a:sym typeface="Courier New"/>
              </a:rPr>
              <a:t>for</a:t>
            </a:r>
            <a:r>
              <a:rPr lang="en" dirty="0">
                <a:solidFill>
                  <a:srgbClr val="FF0000"/>
                </a:solidFill>
              </a:rPr>
              <a:t>-</a:t>
            </a:r>
            <a:r>
              <a:rPr lang="en" b="1" i="1" dirty="0">
                <a:solidFill>
                  <a:srgbClr val="FF0000"/>
                </a:solidFill>
              </a:rPr>
              <a:t>each</a:t>
            </a:r>
            <a:r>
              <a:rPr lang="en" dirty="0">
                <a:solidFill>
                  <a:srgbClr val="FF0000"/>
                </a:solidFill>
              </a:rPr>
              <a:t> loop</a:t>
            </a:r>
            <a:r>
              <a:rPr lang="en" dirty="0"/>
              <a:t>.</a:t>
            </a:r>
            <a:endParaRPr dirty="0"/>
          </a:p>
          <a:p>
            <a:pPr marL="914400" lvl="1" indent="-298450" algn="l" rtl="0">
              <a:lnSpc>
                <a:spcPct val="100000"/>
              </a:lnSpc>
              <a:spcBef>
                <a:spcPts val="0"/>
              </a:spcBef>
              <a:spcAft>
                <a:spcPts val="0"/>
              </a:spcAft>
              <a:buSzPts val="1100"/>
              <a:buChar char="○"/>
            </a:pPr>
            <a:r>
              <a:rPr lang="en" dirty="0"/>
              <a:t>Given some </a:t>
            </a:r>
            <a:r>
              <a:rPr lang="en" b="1" i="1" dirty="0">
                <a:solidFill>
                  <a:srgbClr val="FF0000"/>
                </a:solidFill>
              </a:rPr>
              <a:t>sequence</a:t>
            </a:r>
            <a:r>
              <a:rPr lang="en" dirty="0">
                <a:solidFill>
                  <a:srgbClr val="FF0000"/>
                </a:solidFill>
              </a:rPr>
              <a:t> </a:t>
            </a:r>
            <a:r>
              <a:rPr lang="en" dirty="0"/>
              <a:t>like a </a:t>
            </a:r>
            <a:r>
              <a:rPr lang="en" b="1" i="1" dirty="0">
                <a:solidFill>
                  <a:srgbClr val="FF0000"/>
                </a:solidFill>
              </a:rPr>
              <a:t>list</a:t>
            </a:r>
            <a:r>
              <a:rPr lang="en" dirty="0">
                <a:solidFill>
                  <a:srgbClr val="FF0000"/>
                </a:solidFill>
              </a:rPr>
              <a:t> </a:t>
            </a:r>
            <a:r>
              <a:rPr lang="en" dirty="0"/>
              <a:t>or an </a:t>
            </a:r>
            <a:r>
              <a:rPr lang="en" b="1" i="1" dirty="0">
                <a:solidFill>
                  <a:srgbClr val="FF0000"/>
                </a:solidFill>
              </a:rPr>
              <a:t>array</a:t>
            </a:r>
            <a:r>
              <a:rPr lang="en" dirty="0"/>
              <a:t>, the </a:t>
            </a:r>
            <a:r>
              <a:rPr lang="en" dirty="0">
                <a:latin typeface="Courier New"/>
                <a:ea typeface="Courier New"/>
                <a:cs typeface="Courier New"/>
                <a:sym typeface="Courier New"/>
              </a:rPr>
              <a:t>for</a:t>
            </a:r>
            <a:r>
              <a:rPr lang="en" dirty="0"/>
              <a:t>-each loop will iterate over the elements in the sequence.</a:t>
            </a:r>
            <a:endParaRPr dirty="0"/>
          </a:p>
          <a:p>
            <a:pPr marL="457200" lvl="0" indent="-311150" algn="l" rtl="0">
              <a:lnSpc>
                <a:spcPct val="100000"/>
              </a:lnSpc>
              <a:spcBef>
                <a:spcPts val="1000"/>
              </a:spcBef>
              <a:spcAft>
                <a:spcPts val="0"/>
              </a:spcAft>
              <a:buSzPts val="1300"/>
              <a:buChar char="●"/>
            </a:pPr>
            <a:r>
              <a:rPr lang="en" dirty="0"/>
              <a:t>Just like Python's version, a </a:t>
            </a:r>
            <a:r>
              <a:rPr lang="en" b="1" i="1" dirty="0">
                <a:solidFill>
                  <a:srgbClr val="FF0000"/>
                </a:solidFill>
              </a:rPr>
              <a:t>loop variable</a:t>
            </a:r>
            <a:r>
              <a:rPr lang="en" dirty="0">
                <a:solidFill>
                  <a:srgbClr val="FF0000"/>
                </a:solidFill>
              </a:rPr>
              <a:t> </a:t>
            </a:r>
            <a:r>
              <a:rPr lang="en" dirty="0"/>
              <a:t>is assigned to the next element in the sequence </a:t>
            </a:r>
            <a:r>
              <a:rPr lang="en" b="1" i="1" dirty="0">
                <a:solidFill>
                  <a:srgbClr val="FF0000"/>
                </a:solidFill>
              </a:rPr>
              <a:t>before</a:t>
            </a:r>
            <a:r>
              <a:rPr lang="en" dirty="0">
                <a:solidFill>
                  <a:srgbClr val="FF0000"/>
                </a:solidFill>
              </a:rPr>
              <a:t> </a:t>
            </a:r>
            <a:r>
              <a:rPr lang="en" dirty="0"/>
              <a:t>the start of each iteration.</a:t>
            </a:r>
            <a:endParaRPr dirty="0"/>
          </a:p>
          <a:p>
            <a:pPr marL="914400" lvl="1" indent="-298450" algn="l" rtl="0">
              <a:lnSpc>
                <a:spcPct val="100000"/>
              </a:lnSpc>
              <a:spcBef>
                <a:spcPts val="0"/>
              </a:spcBef>
              <a:spcAft>
                <a:spcPts val="0"/>
              </a:spcAft>
              <a:buSzPts val="1100"/>
              <a:buChar char="○"/>
            </a:pPr>
            <a:r>
              <a:rPr lang="en" dirty="0"/>
              <a:t>Of course, because it's Java the </a:t>
            </a:r>
            <a:r>
              <a:rPr lang="en" b="1" i="1" dirty="0">
                <a:solidFill>
                  <a:srgbClr val="FF0000"/>
                </a:solidFill>
              </a:rPr>
              <a:t>type</a:t>
            </a:r>
            <a:r>
              <a:rPr lang="en" dirty="0">
                <a:solidFill>
                  <a:srgbClr val="FF0000"/>
                </a:solidFill>
              </a:rPr>
              <a:t> </a:t>
            </a:r>
            <a:r>
              <a:rPr lang="en" dirty="0"/>
              <a:t>of the loop variable has to be declared.</a:t>
            </a:r>
            <a:endParaRPr dirty="0"/>
          </a:p>
        </p:txBody>
      </p:sp>
      <p:sp>
        <p:nvSpPr>
          <p:cNvPr id="1108" name="Google Shape;1108;p102"/>
          <p:cNvSpPr txBox="1">
            <a:spLocks noGrp="1"/>
          </p:cNvSpPr>
          <p:nvPr>
            <p:ph type="body" idx="2"/>
          </p:nvPr>
        </p:nvSpPr>
        <p:spPr>
          <a:xfrm>
            <a:off x="4724100" y="2135875"/>
            <a:ext cx="3999900" cy="5037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38761D"/>
                </a:solidFill>
                <a:latin typeface="Consolas"/>
                <a:ea typeface="Consolas"/>
                <a:cs typeface="Consolas"/>
                <a:sym typeface="Consolas"/>
              </a:rPr>
              <a:t>1  </a:t>
            </a:r>
            <a:r>
              <a:rPr lang="en" sz="1200">
                <a:solidFill>
                  <a:srgbClr val="0000FF"/>
                </a:solidFill>
                <a:latin typeface="Consolas"/>
                <a:ea typeface="Consolas"/>
                <a:cs typeface="Consolas"/>
                <a:sym typeface="Consolas"/>
              </a:rPr>
              <a:t>for</a:t>
            </a:r>
            <a:r>
              <a:rPr lang="en" sz="1200">
                <a:solidFill>
                  <a:srgbClr val="000000"/>
                </a:solidFill>
                <a:latin typeface="Consolas"/>
                <a:ea typeface="Consolas"/>
                <a:cs typeface="Consolas"/>
                <a:sym typeface="Consolas"/>
              </a:rPr>
              <a:t> element </a:t>
            </a:r>
            <a:r>
              <a:rPr lang="en" sz="1200">
                <a:solidFill>
                  <a:srgbClr val="0000FF"/>
                </a:solidFill>
                <a:latin typeface="Consolas"/>
                <a:ea typeface="Consolas"/>
                <a:cs typeface="Consolas"/>
                <a:sym typeface="Consolas"/>
              </a:rPr>
              <a:t>in</a:t>
            </a:r>
            <a:r>
              <a:rPr lang="en" sz="1200">
                <a:solidFill>
                  <a:srgbClr val="000000"/>
                </a:solidFill>
                <a:latin typeface="Consolas"/>
                <a:ea typeface="Consolas"/>
                <a:cs typeface="Consolas"/>
                <a:sym typeface="Consolas"/>
              </a:rPr>
              <a:t> an_array:</a:t>
            </a:r>
            <a:endParaRPr sz="12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38761D"/>
                </a:solidFill>
                <a:latin typeface="Consolas"/>
                <a:ea typeface="Consolas"/>
                <a:cs typeface="Consolas"/>
                <a:sym typeface="Consolas"/>
              </a:rPr>
              <a:t>2  </a:t>
            </a:r>
            <a:r>
              <a:rPr lang="en" sz="1200">
                <a:solidFill>
                  <a:srgbClr val="000000"/>
                </a:solidFill>
                <a:latin typeface="Consolas"/>
                <a:ea typeface="Consolas"/>
                <a:cs typeface="Consolas"/>
                <a:sym typeface="Consolas"/>
              </a:rPr>
              <a:t>   print(element)</a:t>
            </a:r>
            <a:endParaRPr sz="1200">
              <a:solidFill>
                <a:srgbClr val="C586C0"/>
              </a:solidFill>
              <a:latin typeface="Consolas"/>
              <a:ea typeface="Consolas"/>
              <a:cs typeface="Consolas"/>
              <a:sym typeface="Consolas"/>
            </a:endParaRPr>
          </a:p>
        </p:txBody>
      </p:sp>
      <p:sp>
        <p:nvSpPr>
          <p:cNvPr id="1109" name="Google Shape;1109;p10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45</a:t>
            </a:fld>
            <a:endParaRPr/>
          </a:p>
        </p:txBody>
      </p:sp>
      <p:sp>
        <p:nvSpPr>
          <p:cNvPr id="1110" name="Google Shape;1110;p102"/>
          <p:cNvSpPr txBox="1">
            <a:spLocks noGrp="1"/>
          </p:cNvSpPr>
          <p:nvPr>
            <p:ph type="body" idx="2"/>
          </p:nvPr>
        </p:nvSpPr>
        <p:spPr>
          <a:xfrm>
            <a:off x="4724100" y="3844525"/>
            <a:ext cx="3999900" cy="7374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solidFill>
                  <a:srgbClr val="38761D"/>
                </a:solidFill>
                <a:latin typeface="Consolas"/>
                <a:ea typeface="Consolas"/>
                <a:cs typeface="Consolas"/>
                <a:sym typeface="Consolas"/>
              </a:rPr>
              <a:t>1  </a:t>
            </a:r>
            <a:r>
              <a:rPr lang="en" sz="1200" dirty="0">
                <a:solidFill>
                  <a:srgbClr val="0000FF"/>
                </a:solidFill>
                <a:latin typeface="Consolas"/>
                <a:ea typeface="Consolas"/>
                <a:cs typeface="Consolas"/>
                <a:sym typeface="Consolas"/>
              </a:rPr>
              <a:t>for </a:t>
            </a:r>
            <a:r>
              <a:rPr lang="en" sz="1200" dirty="0">
                <a:solidFill>
                  <a:srgbClr val="000000"/>
                </a:solidFill>
                <a:latin typeface="Consolas"/>
                <a:ea typeface="Consolas"/>
                <a:cs typeface="Consolas"/>
                <a:sym typeface="Consolas"/>
              </a:rPr>
              <a:t>(</a:t>
            </a:r>
            <a:r>
              <a:rPr lang="en" sz="1200" dirty="0">
                <a:solidFill>
                  <a:srgbClr val="0000FF"/>
                </a:solidFill>
                <a:latin typeface="Consolas"/>
                <a:ea typeface="Consolas"/>
                <a:cs typeface="Consolas"/>
                <a:sym typeface="Consolas"/>
              </a:rPr>
              <a:t>int</a:t>
            </a:r>
            <a:r>
              <a:rPr lang="en" sz="1200" dirty="0">
                <a:solidFill>
                  <a:srgbClr val="000000"/>
                </a:solidFill>
                <a:latin typeface="Consolas"/>
                <a:ea typeface="Consolas"/>
                <a:cs typeface="Consolas"/>
                <a:sym typeface="Consolas"/>
              </a:rPr>
              <a:t> element </a:t>
            </a:r>
            <a:r>
              <a:rPr lang="en" sz="1200" dirty="0">
                <a:solidFill>
                  <a:srgbClr val="0000FF"/>
                </a:solidFill>
                <a:latin typeface="Consolas"/>
                <a:ea typeface="Consolas"/>
                <a:cs typeface="Consolas"/>
                <a:sym typeface="Consolas"/>
              </a:rPr>
              <a:t>:</a:t>
            </a:r>
            <a:r>
              <a:rPr lang="en" sz="1200" dirty="0">
                <a:solidFill>
                  <a:srgbClr val="000000"/>
                </a:solidFill>
                <a:latin typeface="Consolas"/>
                <a:ea typeface="Consolas"/>
                <a:cs typeface="Consolas"/>
                <a:sym typeface="Consolas"/>
              </a:rPr>
              <a:t> anArray) {</a:t>
            </a:r>
            <a:endParaRPr sz="12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rgbClr val="38761D"/>
                </a:solidFill>
                <a:latin typeface="Consolas"/>
                <a:ea typeface="Consolas"/>
                <a:cs typeface="Consolas"/>
                <a:sym typeface="Consolas"/>
              </a:rPr>
              <a:t>2  </a:t>
            </a:r>
            <a:r>
              <a:rPr lang="en" sz="1200" dirty="0">
                <a:solidFill>
                  <a:srgbClr val="000000"/>
                </a:solidFill>
                <a:latin typeface="Consolas"/>
                <a:ea typeface="Consolas"/>
                <a:cs typeface="Consolas"/>
                <a:sym typeface="Consolas"/>
              </a:rPr>
              <a:t>   System.out.println(element);</a:t>
            </a:r>
            <a:endParaRPr sz="12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dirty="0">
                <a:solidFill>
                  <a:srgbClr val="38761D"/>
                </a:solidFill>
                <a:latin typeface="Consolas"/>
                <a:ea typeface="Consolas"/>
                <a:cs typeface="Consolas"/>
                <a:sym typeface="Consolas"/>
              </a:rPr>
              <a:t>3  </a:t>
            </a:r>
            <a:r>
              <a:rPr lang="en" sz="1200" dirty="0">
                <a:solidFill>
                  <a:srgbClr val="000000"/>
                </a:solidFill>
                <a:latin typeface="Consolas"/>
                <a:ea typeface="Consolas"/>
                <a:cs typeface="Consolas"/>
                <a:sym typeface="Consolas"/>
              </a:rPr>
              <a:t>}</a:t>
            </a:r>
            <a:endParaRPr sz="1200" dirty="0">
              <a:solidFill>
                <a:srgbClr val="C586C0"/>
              </a:solidFill>
              <a:latin typeface="Consolas"/>
              <a:ea typeface="Consolas"/>
              <a:cs typeface="Consolas"/>
              <a:sym typeface="Consolas"/>
            </a:endParaRPr>
          </a:p>
        </p:txBody>
      </p:sp>
      <p:sp>
        <p:nvSpPr>
          <p:cNvPr id="1111" name="Google Shape;1111;p102"/>
          <p:cNvSpPr txBox="1">
            <a:spLocks noGrp="1"/>
          </p:cNvSpPr>
          <p:nvPr>
            <p:ph type="body" idx="2"/>
          </p:nvPr>
        </p:nvSpPr>
        <p:spPr>
          <a:xfrm>
            <a:off x="4724100" y="2727276"/>
            <a:ext cx="3999900" cy="333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loop automatically terminates after the last element.</a:t>
            </a:r>
            <a:endParaRPr sz="1200">
              <a:solidFill>
                <a:srgbClr val="000000"/>
              </a:solidFill>
              <a:latin typeface="Arial"/>
              <a:ea typeface="Arial"/>
              <a:cs typeface="Arial"/>
              <a:sym typeface="Arial"/>
            </a:endParaRPr>
          </a:p>
        </p:txBody>
      </p:sp>
      <p:sp>
        <p:nvSpPr>
          <p:cNvPr id="1112" name="Google Shape;1112;p102"/>
          <p:cNvSpPr txBox="1">
            <a:spLocks noGrp="1"/>
          </p:cNvSpPr>
          <p:nvPr>
            <p:ph type="body" idx="2"/>
          </p:nvPr>
        </p:nvSpPr>
        <p:spPr>
          <a:xfrm>
            <a:off x="4724100" y="1353900"/>
            <a:ext cx="3999900" cy="703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Python </a:t>
            </a:r>
            <a:r>
              <a:rPr lang="en" sz="1200">
                <a:solidFill>
                  <a:srgbClr val="FF0000"/>
                </a:solidFill>
                <a:latin typeface="Courier New"/>
                <a:ea typeface="Courier New"/>
                <a:cs typeface="Courier New"/>
                <a:sym typeface="Courier New"/>
              </a:rPr>
              <a:t>for</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loop</a:t>
            </a:r>
            <a:r>
              <a:rPr lang="en" sz="1200">
                <a:solidFill>
                  <a:srgbClr val="000000"/>
                </a:solidFill>
                <a:latin typeface="Arial"/>
                <a:ea typeface="Arial"/>
                <a:cs typeface="Arial"/>
                <a:sym typeface="Arial"/>
              </a:rPr>
              <a:t> assigns the next element in the specified </a:t>
            </a:r>
            <a:r>
              <a:rPr lang="en" sz="1200" b="1" i="1">
                <a:solidFill>
                  <a:srgbClr val="FF0000"/>
                </a:solidFill>
                <a:latin typeface="Arial"/>
                <a:ea typeface="Arial"/>
                <a:cs typeface="Arial"/>
                <a:sym typeface="Arial"/>
              </a:rPr>
              <a:t>sequence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to the </a:t>
            </a:r>
            <a:r>
              <a:rPr lang="en" sz="1200" b="1" i="1">
                <a:solidFill>
                  <a:srgbClr val="FF0000"/>
                </a:solidFill>
                <a:latin typeface="Arial"/>
                <a:ea typeface="Arial"/>
                <a:cs typeface="Arial"/>
                <a:sym typeface="Arial"/>
              </a:rPr>
              <a:t>loop variable</a:t>
            </a:r>
            <a:r>
              <a:rPr lang="en" sz="1200">
                <a:solidFill>
                  <a:srgbClr val="000000"/>
                </a:solidFill>
                <a:latin typeface="Arial"/>
                <a:ea typeface="Arial"/>
                <a:cs typeface="Arial"/>
                <a:sym typeface="Arial"/>
              </a:rPr>
              <a:t> at the start of each </a:t>
            </a:r>
            <a:r>
              <a:rPr lang="en" sz="1200" b="1" i="1">
                <a:solidFill>
                  <a:srgbClr val="FF0000"/>
                </a:solidFill>
                <a:latin typeface="Arial"/>
                <a:ea typeface="Arial"/>
                <a:cs typeface="Arial"/>
                <a:sym typeface="Arial"/>
              </a:rPr>
              <a:t>iteration</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113" name="Google Shape;1113;p102"/>
          <p:cNvSpPr txBox="1">
            <a:spLocks noGrp="1"/>
          </p:cNvSpPr>
          <p:nvPr>
            <p:ph type="body" idx="2"/>
          </p:nvPr>
        </p:nvSpPr>
        <p:spPr>
          <a:xfrm>
            <a:off x="4724100" y="4663226"/>
            <a:ext cx="3999900" cy="333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...and a </a:t>
            </a:r>
            <a:r>
              <a:rPr lang="en" sz="1200" b="1" i="1">
                <a:solidFill>
                  <a:srgbClr val="FF0000"/>
                </a:solidFill>
                <a:latin typeface="Arial"/>
                <a:ea typeface="Arial"/>
                <a:cs typeface="Arial"/>
                <a:sym typeface="Arial"/>
              </a:rPr>
              <a:t>colon</a:t>
            </a:r>
            <a:r>
              <a:rPr lang="en" sz="1200">
                <a:solidFill>
                  <a:srgbClr val="000000"/>
                </a:solidFill>
                <a:latin typeface="Arial"/>
                <a:ea typeface="Arial"/>
                <a:cs typeface="Arial"/>
                <a:sym typeface="Arial"/>
              </a:rPr>
              <a:t> (</a:t>
            </a:r>
            <a:r>
              <a:rPr lang="en" sz="1200">
                <a:solidFill>
                  <a:srgbClr val="FF0000"/>
                </a:solidFill>
                <a:latin typeface="Courier New"/>
                <a:ea typeface="Courier New"/>
                <a:cs typeface="Courier New"/>
                <a:sym typeface="Courier New"/>
              </a:rPr>
              <a:t>:</a:t>
            </a:r>
            <a:r>
              <a:rPr lang="en" sz="1200">
                <a:solidFill>
                  <a:srgbClr val="000000"/>
                </a:solidFill>
                <a:latin typeface="Arial"/>
                <a:ea typeface="Arial"/>
                <a:cs typeface="Arial"/>
                <a:sym typeface="Arial"/>
              </a:rPr>
              <a:t>) is used instead of "</a:t>
            </a:r>
            <a:r>
              <a:rPr lang="en" sz="1200">
                <a:solidFill>
                  <a:srgbClr val="000000"/>
                </a:solidFill>
                <a:latin typeface="Courier New"/>
                <a:ea typeface="Courier New"/>
                <a:cs typeface="Courier New"/>
                <a:sym typeface="Courier New"/>
              </a:rPr>
              <a:t>in</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114" name="Google Shape;1114;p102"/>
          <p:cNvSpPr txBox="1">
            <a:spLocks noGrp="1"/>
          </p:cNvSpPr>
          <p:nvPr>
            <p:ph type="body" idx="2"/>
          </p:nvPr>
        </p:nvSpPr>
        <p:spPr>
          <a:xfrm>
            <a:off x="4724100" y="3139526"/>
            <a:ext cx="3999900" cy="623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Java </a:t>
            </a:r>
            <a:r>
              <a:rPr lang="en" sz="1200">
                <a:solidFill>
                  <a:srgbClr val="FF0000"/>
                </a:solidFill>
                <a:latin typeface="Courier New"/>
                <a:ea typeface="Courier New"/>
                <a:cs typeface="Courier New"/>
                <a:sym typeface="Courier New"/>
              </a:rPr>
              <a:t>for</a:t>
            </a:r>
            <a:r>
              <a:rPr lang="en" sz="1200">
                <a:solidFill>
                  <a:srgbClr val="FF0000"/>
                </a:solidFill>
                <a:latin typeface="Arial"/>
                <a:ea typeface="Arial"/>
                <a:cs typeface="Arial"/>
                <a:sym typeface="Arial"/>
              </a:rPr>
              <a:t>-</a:t>
            </a:r>
            <a:r>
              <a:rPr lang="en" sz="1200" b="1" i="1">
                <a:solidFill>
                  <a:srgbClr val="FF0000"/>
                </a:solidFill>
                <a:latin typeface="Arial"/>
                <a:ea typeface="Arial"/>
                <a:cs typeface="Arial"/>
                <a:sym typeface="Arial"/>
              </a:rPr>
              <a:t>each loop</a:t>
            </a:r>
            <a:r>
              <a:rPr lang="en" sz="1200">
                <a:solidFill>
                  <a:srgbClr val="000000"/>
                </a:solidFill>
                <a:latin typeface="Arial"/>
                <a:ea typeface="Arial"/>
                <a:cs typeface="Arial"/>
                <a:sym typeface="Arial"/>
              </a:rPr>
              <a:t> works exactly the same way other than some small syntactic differences. The </a:t>
            </a:r>
            <a:r>
              <a:rPr lang="en" sz="1200" b="1" i="1">
                <a:solidFill>
                  <a:srgbClr val="FF0000"/>
                </a:solidFill>
                <a:latin typeface="Arial"/>
                <a:ea typeface="Arial"/>
                <a:cs typeface="Arial"/>
                <a:sym typeface="Arial"/>
              </a:rPr>
              <a:t>type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loop variable must be specified...</a:t>
            </a:r>
            <a:endParaRPr sz="120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7">
                                            <p:txEl>
                                              <p:pRg st="0" end="0"/>
                                            </p:txEl>
                                          </p:spTgt>
                                        </p:tgtEl>
                                        <p:attrNameLst>
                                          <p:attrName>style.visibility</p:attrName>
                                        </p:attrNameLst>
                                      </p:cBhvr>
                                      <p:to>
                                        <p:strVal val="visible"/>
                                      </p:to>
                                    </p:set>
                                    <p:animEffect transition="in" filter="fade">
                                      <p:cBhvr>
                                        <p:cTn id="7" dur="1000"/>
                                        <p:tgtEl>
                                          <p:spTgt spid="1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7">
                                            <p:txEl>
                                              <p:pRg st="1" end="1"/>
                                            </p:txEl>
                                          </p:spTgt>
                                        </p:tgtEl>
                                        <p:attrNameLst>
                                          <p:attrName>style.visibility</p:attrName>
                                        </p:attrNameLst>
                                      </p:cBhvr>
                                      <p:to>
                                        <p:strVal val="visible"/>
                                      </p:to>
                                    </p:set>
                                    <p:animEffect transition="in" filter="fade">
                                      <p:cBhvr>
                                        <p:cTn id="12" dur="1000"/>
                                        <p:tgtEl>
                                          <p:spTgt spid="11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07">
                                            <p:txEl>
                                              <p:pRg st="2" end="2"/>
                                            </p:txEl>
                                          </p:spTgt>
                                        </p:tgtEl>
                                        <p:attrNameLst>
                                          <p:attrName>style.visibility</p:attrName>
                                        </p:attrNameLst>
                                      </p:cBhvr>
                                      <p:to>
                                        <p:strVal val="visible"/>
                                      </p:to>
                                    </p:set>
                                    <p:animEffect transition="in" filter="fade">
                                      <p:cBhvr>
                                        <p:cTn id="17" dur="1000"/>
                                        <p:tgtEl>
                                          <p:spTgt spid="11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07">
                                            <p:txEl>
                                              <p:pRg st="3" end="3"/>
                                            </p:txEl>
                                          </p:spTgt>
                                        </p:tgtEl>
                                        <p:attrNameLst>
                                          <p:attrName>style.visibility</p:attrName>
                                        </p:attrNameLst>
                                      </p:cBhvr>
                                      <p:to>
                                        <p:strVal val="visible"/>
                                      </p:to>
                                    </p:set>
                                    <p:animEffect transition="in" filter="fade">
                                      <p:cBhvr>
                                        <p:cTn id="22" dur="1000"/>
                                        <p:tgtEl>
                                          <p:spTgt spid="11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07">
                                            <p:txEl>
                                              <p:pRg st="4" end="4"/>
                                            </p:txEl>
                                          </p:spTgt>
                                        </p:tgtEl>
                                        <p:attrNameLst>
                                          <p:attrName>style.visibility</p:attrName>
                                        </p:attrNameLst>
                                      </p:cBhvr>
                                      <p:to>
                                        <p:strVal val="visible"/>
                                      </p:to>
                                    </p:set>
                                    <p:animEffect transition="in" filter="fade">
                                      <p:cBhvr>
                                        <p:cTn id="27" dur="1000"/>
                                        <p:tgtEl>
                                          <p:spTgt spid="11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07">
                                            <p:txEl>
                                              <p:pRg st="5" end="5"/>
                                            </p:txEl>
                                          </p:spTgt>
                                        </p:tgtEl>
                                        <p:attrNameLst>
                                          <p:attrName>style.visibility</p:attrName>
                                        </p:attrNameLst>
                                      </p:cBhvr>
                                      <p:to>
                                        <p:strVal val="visible"/>
                                      </p:to>
                                    </p:set>
                                    <p:animEffect transition="in" filter="fade">
                                      <p:cBhvr>
                                        <p:cTn id="32" dur="1000"/>
                                        <p:tgtEl>
                                          <p:spTgt spid="11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07">
                                            <p:txEl>
                                              <p:pRg st="6" end="6"/>
                                            </p:txEl>
                                          </p:spTgt>
                                        </p:tgtEl>
                                        <p:attrNameLst>
                                          <p:attrName>style.visibility</p:attrName>
                                        </p:attrNameLst>
                                      </p:cBhvr>
                                      <p:to>
                                        <p:strVal val="visible"/>
                                      </p:to>
                                    </p:set>
                                    <p:animEffect transition="in" filter="fade">
                                      <p:cBhvr>
                                        <p:cTn id="37" dur="1000"/>
                                        <p:tgtEl>
                                          <p:spTgt spid="110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12"/>
                                        </p:tgtEl>
                                        <p:attrNameLst>
                                          <p:attrName>style.visibility</p:attrName>
                                        </p:attrNameLst>
                                      </p:cBhvr>
                                      <p:to>
                                        <p:strVal val="visible"/>
                                      </p:to>
                                    </p:set>
                                    <p:animEffect transition="in" filter="fade">
                                      <p:cBhvr>
                                        <p:cTn id="42" dur="1000"/>
                                        <p:tgtEl>
                                          <p:spTgt spid="1112"/>
                                        </p:tgtEl>
                                      </p:cBhvr>
                                    </p:animEffect>
                                  </p:childTnLst>
                                </p:cTn>
                              </p:par>
                              <p:par>
                                <p:cTn id="43" presetID="10" presetClass="entr" presetSubtype="0" fill="hold" nodeType="withEffect">
                                  <p:stCondLst>
                                    <p:cond delay="0"/>
                                  </p:stCondLst>
                                  <p:childTnLst>
                                    <p:set>
                                      <p:cBhvr>
                                        <p:cTn id="44" dur="1" fill="hold">
                                          <p:stCondLst>
                                            <p:cond delay="0"/>
                                          </p:stCondLst>
                                        </p:cTn>
                                        <p:tgtEl>
                                          <p:spTgt spid="1108"/>
                                        </p:tgtEl>
                                        <p:attrNameLst>
                                          <p:attrName>style.visibility</p:attrName>
                                        </p:attrNameLst>
                                      </p:cBhvr>
                                      <p:to>
                                        <p:strVal val="visible"/>
                                      </p:to>
                                    </p:set>
                                    <p:animEffect transition="in" filter="fade">
                                      <p:cBhvr>
                                        <p:cTn id="45" dur="1000"/>
                                        <p:tgtEl>
                                          <p:spTgt spid="110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11"/>
                                        </p:tgtEl>
                                        <p:attrNameLst>
                                          <p:attrName>style.visibility</p:attrName>
                                        </p:attrNameLst>
                                      </p:cBhvr>
                                      <p:to>
                                        <p:strVal val="visible"/>
                                      </p:to>
                                    </p:set>
                                    <p:animEffect transition="in" filter="fade">
                                      <p:cBhvr>
                                        <p:cTn id="50" dur="1000"/>
                                        <p:tgtEl>
                                          <p:spTgt spid="111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114"/>
                                        </p:tgtEl>
                                        <p:attrNameLst>
                                          <p:attrName>style.visibility</p:attrName>
                                        </p:attrNameLst>
                                      </p:cBhvr>
                                      <p:to>
                                        <p:strVal val="visible"/>
                                      </p:to>
                                    </p:set>
                                    <p:animEffect transition="in" filter="fade">
                                      <p:cBhvr>
                                        <p:cTn id="55" dur="1000"/>
                                        <p:tgtEl>
                                          <p:spTgt spid="1114"/>
                                        </p:tgtEl>
                                      </p:cBhvr>
                                    </p:animEffect>
                                  </p:childTnLst>
                                </p:cTn>
                              </p:par>
                              <p:par>
                                <p:cTn id="56" presetID="10" presetClass="entr" presetSubtype="0" fill="hold" nodeType="withEffect">
                                  <p:stCondLst>
                                    <p:cond delay="0"/>
                                  </p:stCondLst>
                                  <p:childTnLst>
                                    <p:set>
                                      <p:cBhvr>
                                        <p:cTn id="57" dur="1" fill="hold">
                                          <p:stCondLst>
                                            <p:cond delay="0"/>
                                          </p:stCondLst>
                                        </p:cTn>
                                        <p:tgtEl>
                                          <p:spTgt spid="1110"/>
                                        </p:tgtEl>
                                        <p:attrNameLst>
                                          <p:attrName>style.visibility</p:attrName>
                                        </p:attrNameLst>
                                      </p:cBhvr>
                                      <p:to>
                                        <p:strVal val="visible"/>
                                      </p:to>
                                    </p:set>
                                    <p:animEffect transition="in" filter="fade">
                                      <p:cBhvr>
                                        <p:cTn id="58" dur="1000"/>
                                        <p:tgtEl>
                                          <p:spTgt spid="111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113"/>
                                        </p:tgtEl>
                                        <p:attrNameLst>
                                          <p:attrName>style.visibility</p:attrName>
                                        </p:attrNameLst>
                                      </p:cBhvr>
                                      <p:to>
                                        <p:strVal val="visible"/>
                                      </p:to>
                                    </p:set>
                                    <p:animEffect transition="in" filter="fade">
                                      <p:cBhvr>
                                        <p:cTn id="63" dur="1000"/>
                                        <p:tgtEl>
                                          <p:spTgt spid="1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103"/>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Java's </a:t>
            </a:r>
            <a:r>
              <a:rPr lang="en" dirty="0">
                <a:latin typeface="Courier New"/>
                <a:ea typeface="Courier New"/>
                <a:cs typeface="Courier New"/>
                <a:sym typeface="Courier New"/>
              </a:rPr>
              <a:t>for</a:t>
            </a:r>
            <a:r>
              <a:rPr lang="en" dirty="0"/>
              <a:t>-each loop is a convenient way of iterating through the elements in a data structure without needing to understand how the elements are stored or organized. It works naturally with Java arrays, iterating through the elements in order by index. Try using a </a:t>
            </a:r>
            <a:r>
              <a:rPr lang="en" dirty="0">
                <a:latin typeface="Courier New"/>
                <a:ea typeface="Courier New"/>
                <a:cs typeface="Courier New"/>
                <a:sym typeface="Courier New"/>
              </a:rPr>
              <a:t>for</a:t>
            </a:r>
            <a:r>
              <a:rPr lang="en" dirty="0"/>
              <a:t>-each loop now to iterate over an array of strings.</a:t>
            </a:r>
            <a:endParaRPr dirty="0"/>
          </a:p>
        </p:txBody>
      </p:sp>
      <p:sp>
        <p:nvSpPr>
          <p:cNvPr id="1120" name="Google Shape;1120;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1121" name="Google Shape;1121;p103"/>
          <p:cNvSpPr txBox="1">
            <a:spLocks noGrp="1"/>
          </p:cNvSpPr>
          <p:nvPr>
            <p:ph type="body" idx="2"/>
          </p:nvPr>
        </p:nvSpPr>
        <p:spPr>
          <a:xfrm>
            <a:off x="3429000" y="2013125"/>
            <a:ext cx="5512200" cy="28029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Create a new Java class named "</a:t>
            </a:r>
            <a:r>
              <a:rPr lang="en" sz="1600" dirty="0">
                <a:solidFill>
                  <a:srgbClr val="FF0000"/>
                </a:solidFill>
                <a:latin typeface="Courier New"/>
                <a:ea typeface="Courier New"/>
                <a:cs typeface="Courier New"/>
                <a:sym typeface="Courier New"/>
              </a:rPr>
              <a:t>ForEach</a:t>
            </a:r>
            <a:r>
              <a:rPr lang="en" sz="1600" dirty="0"/>
              <a:t>" and define a </a:t>
            </a:r>
            <a:r>
              <a:rPr lang="en" sz="1600" dirty="0">
                <a:latin typeface="Courier New"/>
                <a:ea typeface="Courier New"/>
                <a:cs typeface="Courier New"/>
                <a:sym typeface="Courier New"/>
              </a:rPr>
              <a:t>static</a:t>
            </a:r>
            <a:r>
              <a:rPr lang="en" sz="1600" dirty="0"/>
              <a:t> method named "</a:t>
            </a:r>
            <a:r>
              <a:rPr lang="en" sz="1600" dirty="0">
                <a:solidFill>
                  <a:srgbClr val="FF0000"/>
                </a:solidFill>
                <a:latin typeface="Courier New"/>
                <a:ea typeface="Courier New"/>
                <a:cs typeface="Courier New"/>
                <a:sym typeface="Courier New"/>
              </a:rPr>
              <a:t>forArray</a:t>
            </a:r>
            <a:r>
              <a:rPr lang="en" sz="1600" dirty="0"/>
              <a:t>" that declares a parameter for a </a:t>
            </a:r>
            <a:r>
              <a:rPr lang="en" sz="1600" dirty="0">
                <a:solidFill>
                  <a:srgbClr val="FF0000"/>
                </a:solidFill>
                <a:latin typeface="Courier New"/>
                <a:ea typeface="Courier New"/>
                <a:cs typeface="Courier New"/>
                <a:sym typeface="Courier New"/>
              </a:rPr>
              <a:t>String</a:t>
            </a:r>
            <a:r>
              <a:rPr lang="en" sz="1600" dirty="0">
                <a:solidFill>
                  <a:srgbClr val="FF0000"/>
                </a:solidFill>
              </a:rPr>
              <a:t> </a:t>
            </a:r>
            <a:r>
              <a:rPr lang="en" sz="1600" b="1" i="1" dirty="0">
                <a:solidFill>
                  <a:srgbClr val="FF0000"/>
                </a:solidFill>
              </a:rPr>
              <a:t>array</a:t>
            </a:r>
            <a:r>
              <a:rPr lang="en" sz="1600" dirty="0"/>
              <a:t>.</a:t>
            </a:r>
            <a:endParaRPr sz="1600" dirty="0"/>
          </a:p>
          <a:p>
            <a:pPr marL="914400" lvl="1" indent="-317500" algn="l" rtl="0">
              <a:spcBef>
                <a:spcPts val="0"/>
              </a:spcBef>
              <a:spcAft>
                <a:spcPts val="0"/>
              </a:spcAft>
              <a:buSzPts val="1400"/>
              <a:buChar char="○"/>
            </a:pPr>
            <a:r>
              <a:rPr lang="en" sz="1400" dirty="0"/>
              <a:t>Use a </a:t>
            </a:r>
            <a:r>
              <a:rPr lang="en" sz="1400" dirty="0">
                <a:solidFill>
                  <a:srgbClr val="FF0000"/>
                </a:solidFill>
                <a:latin typeface="Courier New"/>
                <a:ea typeface="Courier New"/>
                <a:cs typeface="Courier New"/>
                <a:sym typeface="Courier New"/>
              </a:rPr>
              <a:t>for-each</a:t>
            </a:r>
            <a:r>
              <a:rPr lang="en" sz="1400" b="1" i="1" dirty="0">
                <a:solidFill>
                  <a:srgbClr val="FF0000"/>
                </a:solidFill>
              </a:rPr>
              <a:t> loop</a:t>
            </a:r>
            <a:r>
              <a:rPr lang="en" sz="1400" dirty="0"/>
              <a:t> to iterate over the elements in the array and print each on a separate line.</a:t>
            </a:r>
            <a:endParaRPr sz="1400" dirty="0"/>
          </a:p>
          <a:p>
            <a:pPr marL="914400" lvl="1" indent="-317500" algn="l" rtl="0">
              <a:spcBef>
                <a:spcPts val="0"/>
              </a:spcBef>
              <a:spcAft>
                <a:spcPts val="0"/>
              </a:spcAft>
              <a:buSzPts val="1400"/>
              <a:buChar char="○"/>
            </a:pPr>
            <a:r>
              <a:rPr lang="en" sz="1400" b="1" i="1" dirty="0">
                <a:solidFill>
                  <a:srgbClr val="FF0000"/>
                </a:solidFill>
              </a:rPr>
              <a:t>Do not</a:t>
            </a:r>
            <a:r>
              <a:rPr lang="en" sz="1400" dirty="0"/>
              <a:t> use a "classic" </a:t>
            </a:r>
            <a:r>
              <a:rPr lang="en" sz="1400" dirty="0">
                <a:latin typeface="Courier New"/>
                <a:ea typeface="Courier New"/>
                <a:cs typeface="Courier New"/>
                <a:sym typeface="Courier New"/>
              </a:rPr>
              <a:t>for</a:t>
            </a:r>
            <a:r>
              <a:rPr lang="en" sz="1400" dirty="0"/>
              <a:t> loop.</a:t>
            </a:r>
            <a:endParaRPr sz="1400" dirty="0"/>
          </a:p>
          <a:p>
            <a:pPr marL="457200" lvl="0" indent="-330200" algn="l" rtl="0">
              <a:spcBef>
                <a:spcPts val="0"/>
              </a:spcBef>
              <a:spcAft>
                <a:spcPts val="0"/>
              </a:spcAft>
              <a:buSzPts val="1600"/>
              <a:buChar char="●"/>
            </a:pPr>
            <a:r>
              <a:rPr lang="en" sz="1600" dirty="0"/>
              <a:t>Define a </a:t>
            </a:r>
            <a:r>
              <a:rPr lang="en" sz="1600" dirty="0">
                <a:solidFill>
                  <a:srgbClr val="FF0000"/>
                </a:solidFill>
                <a:latin typeface="Courier New"/>
                <a:ea typeface="Courier New"/>
                <a:cs typeface="Courier New"/>
                <a:sym typeface="Courier New"/>
              </a:rPr>
              <a:t>main</a:t>
            </a:r>
            <a:r>
              <a:rPr lang="en" sz="1600" dirty="0">
                <a:solidFill>
                  <a:srgbClr val="FF0000"/>
                </a:solidFill>
              </a:rPr>
              <a:t> </a:t>
            </a:r>
            <a:r>
              <a:rPr lang="en" sz="1600" dirty="0"/>
              <a:t>method with the appropriate signature.</a:t>
            </a:r>
            <a:endParaRPr sz="1600" dirty="0"/>
          </a:p>
          <a:p>
            <a:pPr marL="914400" lvl="1" indent="-317500" algn="l" rtl="0">
              <a:spcBef>
                <a:spcPts val="0"/>
              </a:spcBef>
              <a:spcAft>
                <a:spcPts val="0"/>
              </a:spcAft>
              <a:buSzPts val="1400"/>
              <a:buChar char="○"/>
            </a:pPr>
            <a:r>
              <a:rPr lang="en" sz="1400" b="1" i="1" dirty="0">
                <a:solidFill>
                  <a:srgbClr val="FF0000"/>
                </a:solidFill>
              </a:rPr>
              <a:t>Call </a:t>
            </a:r>
            <a:r>
              <a:rPr lang="en" sz="1400" dirty="0"/>
              <a:t>your method with a </a:t>
            </a:r>
            <a:r>
              <a:rPr lang="en" sz="1400" dirty="0">
                <a:latin typeface="Courier New"/>
                <a:ea typeface="Courier New"/>
                <a:cs typeface="Courier New"/>
                <a:sym typeface="Courier New"/>
              </a:rPr>
              <a:t>String</a:t>
            </a:r>
            <a:r>
              <a:rPr lang="en" sz="1400" dirty="0"/>
              <a:t> array containing several values of your choice.</a:t>
            </a:r>
            <a:endParaRPr sz="1400" dirty="0"/>
          </a:p>
          <a:p>
            <a:pPr marL="457200" lvl="0" indent="-330200" algn="l" rtl="0">
              <a:spcBef>
                <a:spcPts val="0"/>
              </a:spcBef>
              <a:spcAft>
                <a:spcPts val="0"/>
              </a:spcAft>
              <a:buSzPts val="1600"/>
              <a:buChar char="●"/>
            </a:pPr>
            <a:r>
              <a:rPr lang="en" sz="1600" b="1" i="1" dirty="0">
                <a:solidFill>
                  <a:srgbClr val="FF0000"/>
                </a:solidFill>
              </a:rPr>
              <a:t>Run</a:t>
            </a:r>
            <a:r>
              <a:rPr lang="en" sz="1600" dirty="0">
                <a:solidFill>
                  <a:srgbClr val="FF0000"/>
                </a:solidFill>
              </a:rPr>
              <a:t> </a:t>
            </a:r>
            <a:r>
              <a:rPr lang="en" sz="1600" dirty="0"/>
              <a:t>your new class.</a:t>
            </a:r>
            <a:endParaRPr sz="1600" dirty="0"/>
          </a:p>
        </p:txBody>
      </p:sp>
      <p:sp>
        <p:nvSpPr>
          <p:cNvPr id="1122" name="Google Shape;1122;p103"/>
          <p:cNvSpPr txBox="1">
            <a:spLocks noGrp="1"/>
          </p:cNvSpPr>
          <p:nvPr>
            <p:ph type="title"/>
          </p:nvPr>
        </p:nvSpPr>
        <p:spPr>
          <a:xfrm>
            <a:off x="1436850" y="100"/>
            <a:ext cx="7642500" cy="6312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2900"/>
              <a:t>Using for-each to Iterate Over an Array</a:t>
            </a:r>
            <a:endParaRPr sz="2900"/>
          </a:p>
        </p:txBody>
      </p:sp>
      <p:sp>
        <p:nvSpPr>
          <p:cNvPr id="1123" name="Google Shape;1123;p10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5.19</a:t>
            </a:r>
            <a:endParaRPr/>
          </a:p>
        </p:txBody>
      </p:sp>
      <p:sp>
        <p:nvSpPr>
          <p:cNvPr id="1124" name="Google Shape;1124;p103"/>
          <p:cNvSpPr txBox="1">
            <a:spLocks noGrp="1"/>
          </p:cNvSpPr>
          <p:nvPr>
            <p:ph type="body" idx="4"/>
          </p:nvPr>
        </p:nvSpPr>
        <p:spPr>
          <a:xfrm>
            <a:off x="188900" y="2129150"/>
            <a:ext cx="3104400" cy="714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lang="en" sz="1200">
                <a:solidFill>
                  <a:srgbClr val="000000"/>
                </a:solidFill>
                <a:latin typeface="Courier New"/>
                <a:ea typeface="Courier New"/>
                <a:cs typeface="Courier New"/>
                <a:sym typeface="Courier New"/>
              </a:rPr>
              <a:t>for-each</a:t>
            </a:r>
            <a:r>
              <a:rPr lang="en" sz="1200" b="1" i="1">
                <a:solidFill>
                  <a:srgbClr val="FF0000"/>
                </a:solidFill>
                <a:latin typeface="Arial"/>
                <a:ea typeface="Arial"/>
                <a:cs typeface="Arial"/>
                <a:sym typeface="Arial"/>
              </a:rPr>
              <a:t> loop</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Java works exactly like the for loop in Python, with some slight syntactic differences. </a:t>
            </a:r>
            <a:endParaRPr>
              <a:latin typeface="Arial"/>
              <a:ea typeface="Arial"/>
              <a:cs typeface="Arial"/>
              <a:sym typeface="Arial"/>
            </a:endParaRPr>
          </a:p>
        </p:txBody>
      </p:sp>
      <p:sp>
        <p:nvSpPr>
          <p:cNvPr id="1125" name="Google Shape;1125;p103"/>
          <p:cNvSpPr txBox="1">
            <a:spLocks noGrp="1"/>
          </p:cNvSpPr>
          <p:nvPr>
            <p:ph type="body" idx="4"/>
          </p:nvPr>
        </p:nvSpPr>
        <p:spPr>
          <a:xfrm>
            <a:off x="188900" y="2960875"/>
            <a:ext cx="3104400" cy="7374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38761D"/>
                </a:solidFill>
                <a:latin typeface="Consolas"/>
                <a:ea typeface="Consolas"/>
                <a:cs typeface="Consolas"/>
                <a:sym typeface="Consolas"/>
              </a:rPr>
              <a:t>1  </a:t>
            </a:r>
            <a:r>
              <a:rPr lang="en" sz="1200">
                <a:solidFill>
                  <a:srgbClr val="0000FF"/>
                </a:solidFill>
                <a:latin typeface="Consolas"/>
                <a:ea typeface="Consolas"/>
                <a:cs typeface="Consolas"/>
                <a:sym typeface="Consolas"/>
              </a:rPr>
              <a:t>for </a:t>
            </a:r>
            <a:r>
              <a:rPr lang="en" sz="1200">
                <a:solidFill>
                  <a:srgbClr val="000000"/>
                </a:solidFill>
                <a:latin typeface="Consolas"/>
                <a:ea typeface="Consolas"/>
                <a:cs typeface="Consolas"/>
                <a:sym typeface="Consolas"/>
              </a:rPr>
              <a:t>(</a:t>
            </a:r>
            <a:r>
              <a:rPr lang="en" sz="1200">
                <a:solidFill>
                  <a:srgbClr val="0000FF"/>
                </a:solidFill>
                <a:latin typeface="Consolas"/>
                <a:ea typeface="Consolas"/>
                <a:cs typeface="Consolas"/>
                <a:sym typeface="Consolas"/>
              </a:rPr>
              <a:t>int</a:t>
            </a:r>
            <a:r>
              <a:rPr lang="en" sz="1200">
                <a:solidFill>
                  <a:srgbClr val="000000"/>
                </a:solidFill>
                <a:latin typeface="Consolas"/>
                <a:ea typeface="Consolas"/>
                <a:cs typeface="Consolas"/>
                <a:sym typeface="Consolas"/>
              </a:rPr>
              <a:t> element </a:t>
            </a:r>
            <a:r>
              <a:rPr lang="en" sz="1200">
                <a:solidFill>
                  <a:srgbClr val="0000FF"/>
                </a:solidFill>
                <a:latin typeface="Consolas"/>
                <a:ea typeface="Consolas"/>
                <a:cs typeface="Consolas"/>
                <a:sym typeface="Consolas"/>
              </a:rPr>
              <a:t>:</a:t>
            </a:r>
            <a:r>
              <a:rPr lang="en" sz="1200">
                <a:solidFill>
                  <a:srgbClr val="000000"/>
                </a:solidFill>
                <a:latin typeface="Consolas"/>
                <a:ea typeface="Consolas"/>
                <a:cs typeface="Consolas"/>
                <a:sym typeface="Consolas"/>
              </a:rPr>
              <a:t> anArray)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38761D"/>
                </a:solidFill>
                <a:latin typeface="Consolas"/>
                <a:ea typeface="Consolas"/>
                <a:cs typeface="Consolas"/>
                <a:sym typeface="Consolas"/>
              </a:rPr>
              <a:t>2  </a:t>
            </a:r>
            <a:r>
              <a:rPr lang="en" sz="1200">
                <a:solidFill>
                  <a:srgbClr val="000000"/>
                </a:solidFill>
                <a:latin typeface="Consolas"/>
                <a:ea typeface="Consolas"/>
                <a:cs typeface="Consolas"/>
                <a:sym typeface="Consolas"/>
              </a:rPr>
              <a:t>   System.out.println(element);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38761D"/>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sz="1200">
              <a:solidFill>
                <a:srgbClr val="C586C0"/>
              </a:solidFill>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10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for</a:t>
            </a:r>
            <a:r>
              <a:rPr lang="en"/>
              <a:t>-each loop in Java should work with any data structure. For example, we </a:t>
            </a:r>
            <a:r>
              <a:rPr lang="en" i="1"/>
              <a:t>should </a:t>
            </a:r>
            <a:r>
              <a:rPr lang="en"/>
              <a:t>be able to use a </a:t>
            </a:r>
            <a:r>
              <a:rPr lang="en">
                <a:latin typeface="Courier New"/>
                <a:ea typeface="Courier New"/>
                <a:cs typeface="Courier New"/>
                <a:sym typeface="Courier New"/>
              </a:rPr>
              <a:t>for</a:t>
            </a:r>
            <a:r>
              <a:rPr lang="en"/>
              <a:t>-each loop to iterate through the elements of an </a:t>
            </a:r>
            <a:r>
              <a:rPr lang="en">
                <a:latin typeface="Courier New"/>
                <a:ea typeface="Courier New"/>
                <a:cs typeface="Courier New"/>
                <a:sym typeface="Courier New"/>
              </a:rPr>
              <a:t>ArrayList</a:t>
            </a:r>
            <a:r>
              <a:rPr lang="en"/>
              <a:t>. Let's try it now and see what happens.</a:t>
            </a:r>
            <a:endParaRPr baseline="-25000"/>
          </a:p>
        </p:txBody>
      </p:sp>
      <p:sp>
        <p:nvSpPr>
          <p:cNvPr id="1131" name="Google Shape;1131;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1132" name="Google Shape;1132;p104"/>
          <p:cNvSpPr txBox="1">
            <a:spLocks noGrp="1"/>
          </p:cNvSpPr>
          <p:nvPr>
            <p:ph type="body" idx="2"/>
          </p:nvPr>
        </p:nvSpPr>
        <p:spPr>
          <a:xfrm>
            <a:off x="3473900" y="1671950"/>
            <a:ext cx="5474700" cy="26682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your </a:t>
            </a:r>
            <a:r>
              <a:rPr lang="en" sz="1500" dirty="0">
                <a:solidFill>
                  <a:srgbClr val="FF0000"/>
                </a:solidFill>
                <a:latin typeface="Courier New"/>
                <a:ea typeface="Courier New"/>
                <a:cs typeface="Courier New"/>
                <a:sym typeface="Courier New"/>
              </a:rPr>
              <a:t>ForEach</a:t>
            </a:r>
            <a:r>
              <a:rPr lang="en" sz="1500" dirty="0"/>
              <a:t> class and define a </a:t>
            </a:r>
            <a:r>
              <a:rPr lang="en" sz="1500" dirty="0">
                <a:latin typeface="Courier New"/>
                <a:ea typeface="Courier New"/>
                <a:cs typeface="Courier New"/>
                <a:sym typeface="Courier New"/>
              </a:rPr>
              <a:t>static</a:t>
            </a:r>
            <a:r>
              <a:rPr lang="en" sz="1500" dirty="0"/>
              <a:t> method named "</a:t>
            </a:r>
            <a:r>
              <a:rPr lang="en" sz="1500" dirty="0">
                <a:solidFill>
                  <a:srgbClr val="FF0000"/>
                </a:solidFill>
                <a:latin typeface="Courier New"/>
                <a:ea typeface="Courier New"/>
                <a:cs typeface="Courier New"/>
                <a:sym typeface="Courier New"/>
              </a:rPr>
              <a:t>forList</a:t>
            </a:r>
            <a:r>
              <a:rPr lang="en" sz="1500" dirty="0"/>
              <a:t>" that declares a parameter for a </a:t>
            </a:r>
            <a:r>
              <a:rPr lang="en" sz="1500" dirty="0">
                <a:latin typeface="Courier New"/>
                <a:ea typeface="Courier New"/>
                <a:cs typeface="Courier New"/>
                <a:sym typeface="Courier New"/>
              </a:rPr>
              <a:t>List</a:t>
            </a:r>
            <a:r>
              <a:rPr lang="en" sz="1500" dirty="0"/>
              <a:t> of </a:t>
            </a:r>
            <a:r>
              <a:rPr lang="en" sz="1500" b="1" i="1" dirty="0">
                <a:solidFill>
                  <a:srgbClr val="FF0000"/>
                </a:solidFill>
              </a:rPr>
              <a:t>strings</a:t>
            </a:r>
            <a:r>
              <a:rPr lang="en" sz="1500" dirty="0"/>
              <a:t>.</a:t>
            </a:r>
            <a:endParaRPr sz="1500" dirty="0"/>
          </a:p>
          <a:p>
            <a:pPr marL="914400" lvl="1" indent="-311150" algn="l" rtl="0">
              <a:spcBef>
                <a:spcPts val="0"/>
              </a:spcBef>
              <a:spcAft>
                <a:spcPts val="0"/>
              </a:spcAft>
              <a:buSzPts val="1300"/>
              <a:buChar char="○"/>
            </a:pPr>
            <a:r>
              <a:rPr lang="en" sz="1300" dirty="0"/>
              <a:t>Use a </a:t>
            </a:r>
            <a:r>
              <a:rPr lang="en" sz="1300" dirty="0">
                <a:solidFill>
                  <a:srgbClr val="FF0000"/>
                </a:solidFill>
                <a:latin typeface="Courier New"/>
                <a:ea typeface="Courier New"/>
                <a:cs typeface="Courier New"/>
                <a:sym typeface="Courier New"/>
              </a:rPr>
              <a:t>for-each</a:t>
            </a:r>
            <a:r>
              <a:rPr lang="en" sz="1300" b="1" i="1" dirty="0">
                <a:solidFill>
                  <a:srgbClr val="FF0000"/>
                </a:solidFill>
              </a:rPr>
              <a:t> loop</a:t>
            </a:r>
            <a:r>
              <a:rPr lang="en" sz="1300" dirty="0"/>
              <a:t> to iterate over the elements in the list and print each on a separate line.</a:t>
            </a:r>
            <a:endParaRPr sz="1300" dirty="0"/>
          </a:p>
          <a:p>
            <a:pPr marL="914400" lvl="1" indent="-311150" algn="l" rtl="0">
              <a:spcBef>
                <a:spcPts val="0"/>
              </a:spcBef>
              <a:spcAft>
                <a:spcPts val="0"/>
              </a:spcAft>
              <a:buSzPts val="1300"/>
              <a:buChar char="○"/>
            </a:pPr>
            <a:r>
              <a:rPr lang="en" sz="1300" b="1" i="1" dirty="0">
                <a:solidFill>
                  <a:srgbClr val="FF0000"/>
                </a:solidFill>
              </a:rPr>
              <a:t>Do not</a:t>
            </a:r>
            <a:r>
              <a:rPr lang="en" sz="1300" dirty="0"/>
              <a:t> use a "classic" </a:t>
            </a:r>
            <a:r>
              <a:rPr lang="en" sz="1300" dirty="0">
                <a:latin typeface="Courier New"/>
                <a:ea typeface="Courier New"/>
                <a:cs typeface="Courier New"/>
                <a:sym typeface="Courier New"/>
              </a:rPr>
              <a:t>for</a:t>
            </a:r>
            <a:r>
              <a:rPr lang="en" sz="1300" dirty="0"/>
              <a:t> loop.</a:t>
            </a:r>
            <a:endParaRPr sz="1300" dirty="0"/>
          </a:p>
          <a:p>
            <a:pPr marL="457200" lvl="0" indent="-323850" algn="l" rtl="0">
              <a:spcBef>
                <a:spcPts val="0"/>
              </a:spcBef>
              <a:spcAft>
                <a:spcPts val="0"/>
              </a:spcAft>
              <a:buSzPts val="1500"/>
              <a:buChar char="●"/>
            </a:pPr>
            <a:r>
              <a:rPr lang="en" sz="1500" b="1" i="1" dirty="0">
                <a:solidFill>
                  <a:srgbClr val="FF0000"/>
                </a:solidFill>
              </a:rPr>
              <a:t>Call </a:t>
            </a:r>
            <a:r>
              <a:rPr lang="en" sz="1500" dirty="0">
                <a:latin typeface="Courier New"/>
                <a:ea typeface="Courier New"/>
                <a:cs typeface="Courier New"/>
                <a:sym typeface="Courier New"/>
              </a:rPr>
              <a:t>forList</a:t>
            </a:r>
            <a:r>
              <a:rPr lang="en" sz="1500" dirty="0"/>
              <a:t> from </a:t>
            </a:r>
            <a:r>
              <a:rPr lang="en" sz="1500" dirty="0">
                <a:latin typeface="Courier New"/>
                <a:ea typeface="Courier New"/>
                <a:cs typeface="Courier New"/>
                <a:sym typeface="Courier New"/>
              </a:rPr>
              <a:t>main</a:t>
            </a:r>
            <a:r>
              <a:rPr lang="en" sz="1500" dirty="0"/>
              <a:t> with an </a:t>
            </a:r>
            <a:r>
              <a:rPr lang="en" sz="1500" dirty="0">
                <a:latin typeface="Courier New"/>
                <a:ea typeface="Courier New"/>
                <a:cs typeface="Courier New"/>
                <a:sym typeface="Courier New"/>
              </a:rPr>
              <a:t>ArrayList</a:t>
            </a:r>
            <a:r>
              <a:rPr lang="en" sz="1500" dirty="0"/>
              <a:t> containing several </a:t>
            </a:r>
            <a:r>
              <a:rPr lang="en" sz="1500" dirty="0">
                <a:latin typeface="Courier New"/>
                <a:ea typeface="Courier New"/>
                <a:cs typeface="Courier New"/>
                <a:sym typeface="Courier New"/>
              </a:rPr>
              <a:t>String</a:t>
            </a:r>
            <a:r>
              <a:rPr lang="en" sz="1500" dirty="0"/>
              <a:t> values of your choice.</a:t>
            </a:r>
            <a:endParaRPr sz="1500" dirty="0"/>
          </a:p>
          <a:p>
            <a:pPr marL="457200" lvl="0" indent="-323850" algn="l" rtl="0">
              <a:spcBef>
                <a:spcPts val="0"/>
              </a:spcBef>
              <a:spcAft>
                <a:spcPts val="0"/>
              </a:spcAft>
              <a:buSzPts val="1500"/>
              <a:buChar char="●"/>
            </a:pPr>
            <a:r>
              <a:rPr lang="en" sz="1500" b="1" i="1" dirty="0">
                <a:solidFill>
                  <a:srgbClr val="FF0000"/>
                </a:solidFill>
              </a:rPr>
              <a:t>Run</a:t>
            </a:r>
            <a:r>
              <a:rPr lang="en" sz="1500" dirty="0">
                <a:solidFill>
                  <a:srgbClr val="FF0000"/>
                </a:solidFill>
              </a:rPr>
              <a:t> </a:t>
            </a:r>
            <a:r>
              <a:rPr lang="en" sz="1500" dirty="0"/>
              <a:t>your class.</a:t>
            </a:r>
            <a:endParaRPr sz="1500" dirty="0"/>
          </a:p>
          <a:p>
            <a:pPr marL="914400" lvl="1" indent="-311150" algn="l" rtl="0">
              <a:spcBef>
                <a:spcPts val="0"/>
              </a:spcBef>
              <a:spcAft>
                <a:spcPts val="0"/>
              </a:spcAft>
              <a:buSzPts val="1300"/>
              <a:buChar char="○"/>
            </a:pPr>
            <a:r>
              <a:rPr lang="en" sz="1300" dirty="0"/>
              <a:t>What happens?</a:t>
            </a:r>
            <a:endParaRPr sz="1300" dirty="0"/>
          </a:p>
        </p:txBody>
      </p:sp>
      <p:sp>
        <p:nvSpPr>
          <p:cNvPr id="1133" name="Google Shape;1133;p10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Using </a:t>
            </a:r>
            <a:r>
              <a:rPr lang="en">
                <a:latin typeface="Courier New"/>
                <a:ea typeface="Courier New"/>
                <a:cs typeface="Courier New"/>
                <a:sym typeface="Courier New"/>
              </a:rPr>
              <a:t>for</a:t>
            </a:r>
            <a:r>
              <a:rPr lang="en"/>
              <a:t>-each with an </a:t>
            </a:r>
            <a:r>
              <a:rPr lang="en">
                <a:latin typeface="Courier New"/>
                <a:ea typeface="Courier New"/>
                <a:cs typeface="Courier New"/>
                <a:sym typeface="Courier New"/>
              </a:rPr>
              <a:t>ArrayList</a:t>
            </a:r>
            <a:endParaRPr>
              <a:latin typeface="Courier New"/>
              <a:ea typeface="Courier New"/>
              <a:cs typeface="Courier New"/>
              <a:sym typeface="Courier New"/>
            </a:endParaRPr>
          </a:p>
        </p:txBody>
      </p:sp>
      <p:sp>
        <p:nvSpPr>
          <p:cNvPr id="1134" name="Google Shape;1134;p10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5.20</a:t>
            </a:r>
            <a:endParaRPr/>
          </a:p>
        </p:txBody>
      </p:sp>
      <p:sp>
        <p:nvSpPr>
          <p:cNvPr id="1135" name="Google Shape;1135;p104"/>
          <p:cNvSpPr txBox="1">
            <a:spLocks noGrp="1"/>
          </p:cNvSpPr>
          <p:nvPr>
            <p:ph type="body" idx="4"/>
          </p:nvPr>
        </p:nvSpPr>
        <p:spPr>
          <a:xfrm>
            <a:off x="188900" y="1748150"/>
            <a:ext cx="3104400" cy="714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lang="en" sz="1200">
                <a:solidFill>
                  <a:srgbClr val="000000"/>
                </a:solidFill>
                <a:latin typeface="Courier New"/>
                <a:ea typeface="Courier New"/>
                <a:cs typeface="Courier New"/>
                <a:sym typeface="Courier New"/>
              </a:rPr>
              <a:t>for-each</a:t>
            </a:r>
            <a:r>
              <a:rPr lang="en" sz="1200" b="1" i="1">
                <a:solidFill>
                  <a:srgbClr val="FF0000"/>
                </a:solidFill>
                <a:latin typeface="Arial"/>
                <a:ea typeface="Arial"/>
                <a:cs typeface="Arial"/>
                <a:sym typeface="Arial"/>
              </a:rPr>
              <a:t> loop</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Java works exactly like the for loop in Python, with some slight syntactic differences. </a:t>
            </a:r>
            <a:endParaRPr>
              <a:latin typeface="Arial"/>
              <a:ea typeface="Arial"/>
              <a:cs typeface="Arial"/>
              <a:sym typeface="Arial"/>
            </a:endParaRPr>
          </a:p>
        </p:txBody>
      </p:sp>
      <p:sp>
        <p:nvSpPr>
          <p:cNvPr id="1136" name="Google Shape;1136;p104"/>
          <p:cNvSpPr txBox="1">
            <a:spLocks noGrp="1"/>
          </p:cNvSpPr>
          <p:nvPr>
            <p:ph type="body" idx="4"/>
          </p:nvPr>
        </p:nvSpPr>
        <p:spPr>
          <a:xfrm>
            <a:off x="188900" y="2568650"/>
            <a:ext cx="3104400" cy="7374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38761D"/>
                </a:solidFill>
                <a:latin typeface="Consolas"/>
                <a:ea typeface="Consolas"/>
                <a:cs typeface="Consolas"/>
                <a:sym typeface="Consolas"/>
              </a:rPr>
              <a:t>1  </a:t>
            </a:r>
            <a:r>
              <a:rPr lang="en" sz="1200">
                <a:solidFill>
                  <a:srgbClr val="0000FF"/>
                </a:solidFill>
                <a:latin typeface="Consolas"/>
                <a:ea typeface="Consolas"/>
                <a:cs typeface="Consolas"/>
                <a:sym typeface="Consolas"/>
              </a:rPr>
              <a:t>for </a:t>
            </a:r>
            <a:r>
              <a:rPr lang="en" sz="1200">
                <a:solidFill>
                  <a:srgbClr val="000000"/>
                </a:solidFill>
                <a:latin typeface="Consolas"/>
                <a:ea typeface="Consolas"/>
                <a:cs typeface="Consolas"/>
                <a:sym typeface="Consolas"/>
              </a:rPr>
              <a:t>(</a:t>
            </a:r>
            <a:r>
              <a:rPr lang="en" sz="1200">
                <a:solidFill>
                  <a:srgbClr val="0000FF"/>
                </a:solidFill>
                <a:latin typeface="Consolas"/>
                <a:ea typeface="Consolas"/>
                <a:cs typeface="Consolas"/>
                <a:sym typeface="Consolas"/>
              </a:rPr>
              <a:t>int</a:t>
            </a:r>
            <a:r>
              <a:rPr lang="en" sz="1200">
                <a:solidFill>
                  <a:srgbClr val="000000"/>
                </a:solidFill>
                <a:latin typeface="Consolas"/>
                <a:ea typeface="Consolas"/>
                <a:cs typeface="Consolas"/>
                <a:sym typeface="Consolas"/>
              </a:rPr>
              <a:t> element </a:t>
            </a:r>
            <a:r>
              <a:rPr lang="en" sz="1200">
                <a:solidFill>
                  <a:srgbClr val="0000FF"/>
                </a:solidFill>
                <a:latin typeface="Consolas"/>
                <a:ea typeface="Consolas"/>
                <a:cs typeface="Consolas"/>
                <a:sym typeface="Consolas"/>
              </a:rPr>
              <a:t>:</a:t>
            </a:r>
            <a:r>
              <a:rPr lang="en" sz="1200">
                <a:solidFill>
                  <a:srgbClr val="000000"/>
                </a:solidFill>
                <a:latin typeface="Consolas"/>
                <a:ea typeface="Consolas"/>
                <a:cs typeface="Consolas"/>
                <a:sym typeface="Consolas"/>
              </a:rPr>
              <a:t> anArray)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38761D"/>
                </a:solidFill>
                <a:latin typeface="Consolas"/>
                <a:ea typeface="Consolas"/>
                <a:cs typeface="Consolas"/>
                <a:sym typeface="Consolas"/>
              </a:rPr>
              <a:t>2  </a:t>
            </a:r>
            <a:r>
              <a:rPr lang="en" sz="1200">
                <a:solidFill>
                  <a:srgbClr val="000000"/>
                </a:solidFill>
                <a:latin typeface="Consolas"/>
                <a:ea typeface="Consolas"/>
                <a:cs typeface="Consolas"/>
                <a:sym typeface="Consolas"/>
              </a:rPr>
              <a:t>   System.out.println(element);</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38761D"/>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sz="1200">
              <a:solidFill>
                <a:srgbClr val="C586C0"/>
              </a:solidFill>
              <a:latin typeface="Consolas"/>
              <a:ea typeface="Consolas"/>
              <a:cs typeface="Consolas"/>
              <a:sym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pic>
        <p:nvPicPr>
          <p:cNvPr id="1141" name="Google Shape;1141;p105"/>
          <p:cNvPicPr preferRelativeResize="0"/>
          <p:nvPr/>
        </p:nvPicPr>
        <p:blipFill rotWithShape="1">
          <a:blip r:embed="rId3">
            <a:alphaModFix/>
          </a:blip>
          <a:srcRect/>
          <a:stretch/>
        </p:blipFill>
        <p:spPr>
          <a:xfrm>
            <a:off x="5499099" y="2026889"/>
            <a:ext cx="3108049" cy="1828426"/>
          </a:xfrm>
          <a:prstGeom prst="rect">
            <a:avLst/>
          </a:prstGeom>
          <a:noFill/>
          <a:ln>
            <a:noFill/>
          </a:ln>
        </p:spPr>
      </p:pic>
      <p:sp>
        <p:nvSpPr>
          <p:cNvPr id="1142" name="Google Shape;1142;p105"/>
          <p:cNvSpPr txBox="1">
            <a:spLocks noGrp="1"/>
          </p:cNvSpPr>
          <p:nvPr>
            <p:ph type="sldNum" idx="12"/>
          </p:nvPr>
        </p:nvSpPr>
        <p:spPr>
          <a:xfrm>
            <a:off x="14258" y="4739417"/>
            <a:ext cx="548700" cy="3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000"/>
              <a:buNone/>
            </a:pPr>
            <a:fld id="{00000000-1234-1234-1234-123412341234}" type="slidenum">
              <a:rPr lang="en"/>
              <a:t>48</a:t>
            </a:fld>
            <a:endParaRPr/>
          </a:p>
        </p:txBody>
      </p:sp>
      <p:sp>
        <p:nvSpPr>
          <p:cNvPr id="1143" name="Google Shape;1143;p105"/>
          <p:cNvSpPr txBox="1">
            <a:spLocks noGrp="1"/>
          </p:cNvSpPr>
          <p:nvPr>
            <p:ph type="title"/>
          </p:nvPr>
        </p:nvSpPr>
        <p:spPr>
          <a:xfrm>
            <a:off x="5188525" y="437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Iterable &amp; Iterator </a:t>
            </a:r>
            <a:endParaRPr/>
          </a:p>
        </p:txBody>
      </p:sp>
      <p:sp>
        <p:nvSpPr>
          <p:cNvPr id="1144" name="Google Shape;1144;p105"/>
          <p:cNvSpPr txBox="1">
            <a:spLocks noGrp="1"/>
          </p:cNvSpPr>
          <p:nvPr>
            <p:ph type="body" idx="1"/>
          </p:nvPr>
        </p:nvSpPr>
        <p:spPr>
          <a:xfrm>
            <a:off x="167025" y="119925"/>
            <a:ext cx="4549800" cy="4782000"/>
          </a:xfrm>
          <a:prstGeom prst="rect">
            <a:avLst/>
          </a:prstGeom>
          <a:noFill/>
          <a:ln>
            <a:noFill/>
          </a:ln>
        </p:spPr>
        <p:txBody>
          <a:bodyPr spcFirstLastPara="1" wrap="square" lIns="91425" tIns="91425" rIns="91425" bIns="91425" anchor="t" anchorCtr="0">
            <a:spAutoFit/>
          </a:bodyPr>
          <a:lstStyle/>
          <a:p>
            <a:pPr marL="457200" lvl="0" indent="-304800" algn="l" rtl="0">
              <a:lnSpc>
                <a:spcPct val="100000"/>
              </a:lnSpc>
              <a:spcBef>
                <a:spcPts val="0"/>
              </a:spcBef>
              <a:spcAft>
                <a:spcPts val="0"/>
              </a:spcAft>
              <a:buSzPts val="1200"/>
              <a:buChar char="●"/>
            </a:pPr>
            <a:r>
              <a:rPr lang="en" sz="1200" dirty="0"/>
              <a:t>In Python, the </a:t>
            </a:r>
            <a:r>
              <a:rPr lang="en" sz="1200" dirty="0">
                <a:latin typeface="Courier New"/>
                <a:ea typeface="Courier New"/>
                <a:cs typeface="Courier New"/>
                <a:sym typeface="Courier New"/>
              </a:rPr>
              <a:t>for</a:t>
            </a:r>
            <a:r>
              <a:rPr lang="en" sz="1200" dirty="0"/>
              <a:t> loop</a:t>
            </a:r>
            <a:r>
              <a:rPr lang="en" sz="1200" b="1" i="1" dirty="0">
                <a:solidFill>
                  <a:srgbClr val="FF0000"/>
                </a:solidFill>
              </a:rPr>
              <a:t> does not </a:t>
            </a:r>
            <a:r>
              <a:rPr lang="en" sz="1200" dirty="0"/>
              <a:t>automatically work with any kind of data structure.</a:t>
            </a:r>
            <a:endParaRPr sz="1200" dirty="0"/>
          </a:p>
          <a:p>
            <a:pPr marL="914400" lvl="1" indent="-298450" algn="l" rtl="0">
              <a:lnSpc>
                <a:spcPct val="100000"/>
              </a:lnSpc>
              <a:spcBef>
                <a:spcPts val="0"/>
              </a:spcBef>
              <a:spcAft>
                <a:spcPts val="0"/>
              </a:spcAft>
              <a:buSzPts val="1100"/>
              <a:buChar char="○"/>
            </a:pPr>
            <a:r>
              <a:rPr lang="en" dirty="0"/>
              <a:t>The special </a:t>
            </a:r>
            <a:r>
              <a:rPr lang="en" dirty="0">
                <a:highlight>
                  <a:srgbClr val="FFFF00"/>
                </a:highlight>
                <a:latin typeface="Courier New"/>
                <a:ea typeface="Courier New"/>
                <a:cs typeface="Courier New"/>
                <a:sym typeface="Courier New"/>
              </a:rPr>
              <a:t>__get__</a:t>
            </a:r>
            <a:r>
              <a:rPr lang="en" dirty="0">
                <a:highlight>
                  <a:srgbClr val="FFFF00"/>
                </a:highlight>
              </a:rPr>
              <a:t> and/or </a:t>
            </a:r>
            <a:r>
              <a:rPr lang="en" dirty="0">
                <a:highlight>
                  <a:srgbClr val="FFFF00"/>
                </a:highlight>
                <a:latin typeface="Courier New"/>
                <a:ea typeface="Courier New"/>
                <a:cs typeface="Courier New"/>
                <a:sym typeface="Courier New"/>
              </a:rPr>
              <a:t>__iter__</a:t>
            </a:r>
            <a:r>
              <a:rPr lang="en" dirty="0">
                <a:highlight>
                  <a:srgbClr val="FFFF00"/>
                </a:highlight>
              </a:rPr>
              <a:t> </a:t>
            </a:r>
            <a:r>
              <a:rPr lang="en" dirty="0"/>
              <a:t>methods must to be implemented in the data structure class.</a:t>
            </a:r>
            <a:endParaRPr dirty="0"/>
          </a:p>
          <a:p>
            <a:pPr marL="457200" lvl="0" indent="-304800" algn="l" rtl="0">
              <a:lnSpc>
                <a:spcPct val="100000"/>
              </a:lnSpc>
              <a:spcBef>
                <a:spcPts val="1000"/>
              </a:spcBef>
              <a:spcAft>
                <a:spcPts val="0"/>
              </a:spcAft>
              <a:buSzPts val="1200"/>
              <a:buChar char="●"/>
            </a:pPr>
            <a:r>
              <a:rPr lang="en" sz="1200" dirty="0"/>
              <a:t>The same is true in Java - a data structure </a:t>
            </a:r>
            <a:r>
              <a:rPr lang="en" sz="1200" b="1" i="1" dirty="0">
                <a:solidFill>
                  <a:srgbClr val="FF0000"/>
                </a:solidFill>
              </a:rPr>
              <a:t>will not automatically work</a:t>
            </a:r>
            <a:r>
              <a:rPr lang="en" sz="1200" dirty="0"/>
              <a:t> with a </a:t>
            </a:r>
            <a:r>
              <a:rPr lang="en" sz="1200" dirty="0">
                <a:latin typeface="Courier New"/>
                <a:ea typeface="Courier New"/>
                <a:cs typeface="Courier New"/>
                <a:sym typeface="Courier New"/>
              </a:rPr>
              <a:t>for-each</a:t>
            </a:r>
            <a:r>
              <a:rPr lang="en" sz="1200" dirty="0"/>
              <a:t> loop.</a:t>
            </a:r>
            <a:endParaRPr sz="1200" dirty="0"/>
          </a:p>
          <a:p>
            <a:pPr marL="457200" lvl="0" indent="-304800" algn="l" rtl="0">
              <a:lnSpc>
                <a:spcPct val="100000"/>
              </a:lnSpc>
              <a:spcBef>
                <a:spcPts val="1000"/>
              </a:spcBef>
              <a:spcAft>
                <a:spcPts val="0"/>
              </a:spcAft>
              <a:buSzPts val="1200"/>
              <a:buChar char="●"/>
            </a:pPr>
            <a:r>
              <a:rPr lang="en" sz="1200" dirty="0"/>
              <a:t>The </a:t>
            </a:r>
            <a:r>
              <a:rPr lang="en" sz="1200" dirty="0">
                <a:solidFill>
                  <a:srgbClr val="FF0000"/>
                </a:solidFill>
                <a:highlight>
                  <a:srgbClr val="FFFF00"/>
                </a:highlight>
                <a:latin typeface="Courier New"/>
                <a:ea typeface="Courier New"/>
                <a:cs typeface="Courier New"/>
                <a:sym typeface="Courier New"/>
              </a:rPr>
              <a:t>java.lang.Iterable</a:t>
            </a:r>
            <a:r>
              <a:rPr lang="en" sz="1200" dirty="0">
                <a:highlight>
                  <a:srgbClr val="FFFF00"/>
                </a:highlight>
              </a:rPr>
              <a:t> </a:t>
            </a:r>
            <a:r>
              <a:rPr lang="en" sz="1200" dirty="0"/>
              <a:t>interface defines the </a:t>
            </a:r>
            <a:r>
              <a:rPr lang="en" sz="1200" dirty="0">
                <a:solidFill>
                  <a:srgbClr val="FF0000"/>
                </a:solidFill>
                <a:latin typeface="Courier New"/>
                <a:ea typeface="Courier New"/>
                <a:cs typeface="Courier New"/>
                <a:sym typeface="Courier New"/>
              </a:rPr>
              <a:t>iterator()</a:t>
            </a:r>
            <a:r>
              <a:rPr lang="en" sz="1200" dirty="0"/>
              <a:t> method that returns an instance of the </a:t>
            </a:r>
            <a:r>
              <a:rPr lang="en" sz="1200" dirty="0">
                <a:solidFill>
                  <a:srgbClr val="FF0000"/>
                </a:solidFill>
                <a:latin typeface="Courier New"/>
                <a:ea typeface="Courier New"/>
                <a:cs typeface="Courier New"/>
                <a:sym typeface="Courier New"/>
              </a:rPr>
              <a:t>java.util.</a:t>
            </a:r>
            <a:r>
              <a:rPr lang="en" sz="1200" dirty="0">
                <a:solidFill>
                  <a:srgbClr val="FF0000"/>
                </a:solidFill>
                <a:highlight>
                  <a:srgbClr val="FFFF00"/>
                </a:highlight>
                <a:latin typeface="Courier New"/>
                <a:ea typeface="Courier New"/>
                <a:cs typeface="Courier New"/>
                <a:sym typeface="Courier New"/>
              </a:rPr>
              <a:t>Iterator</a:t>
            </a:r>
            <a:r>
              <a:rPr lang="en" sz="1200" dirty="0"/>
              <a:t> interface.</a:t>
            </a:r>
            <a:endParaRPr sz="1200" dirty="0"/>
          </a:p>
          <a:p>
            <a:pPr marL="457200" lvl="0" indent="-304800" algn="l" rtl="0">
              <a:lnSpc>
                <a:spcPct val="100000"/>
              </a:lnSpc>
              <a:spcBef>
                <a:spcPts val="1000"/>
              </a:spcBef>
              <a:spcAft>
                <a:spcPts val="0"/>
              </a:spcAft>
              <a:buSzPts val="1200"/>
              <a:buChar char="●"/>
            </a:pPr>
            <a:r>
              <a:rPr lang="en" sz="1200" dirty="0"/>
              <a:t>An </a:t>
            </a:r>
            <a:r>
              <a:rPr lang="en" sz="1200" dirty="0">
                <a:latin typeface="Courier New"/>
                <a:ea typeface="Courier New"/>
                <a:cs typeface="Courier New"/>
                <a:sym typeface="Courier New"/>
              </a:rPr>
              <a:t>Iterator</a:t>
            </a:r>
            <a:r>
              <a:rPr lang="en" sz="1200" dirty="0"/>
              <a:t> returns </a:t>
            </a:r>
            <a:r>
              <a:rPr lang="en" sz="1200" b="1" i="1" dirty="0">
                <a:solidFill>
                  <a:srgbClr val="FF0000"/>
                </a:solidFill>
                <a:highlight>
                  <a:srgbClr val="FFFF00"/>
                </a:highlight>
              </a:rPr>
              <a:t>each element</a:t>
            </a:r>
            <a:r>
              <a:rPr lang="en" sz="1200" dirty="0">
                <a:highlight>
                  <a:srgbClr val="FFFF00"/>
                </a:highlight>
              </a:rPr>
              <a:t> in a data structure in some </a:t>
            </a:r>
            <a:r>
              <a:rPr lang="en" sz="1200" b="1" i="1" dirty="0">
                <a:solidFill>
                  <a:srgbClr val="FF0000"/>
                </a:solidFill>
                <a:highlight>
                  <a:srgbClr val="FFFF00"/>
                </a:highlight>
              </a:rPr>
              <a:t>sequential order</a:t>
            </a:r>
            <a:r>
              <a:rPr lang="en" sz="1200" dirty="0">
                <a:highlight>
                  <a:srgbClr val="FFFF00"/>
                </a:highlight>
              </a:rPr>
              <a:t>. </a:t>
            </a:r>
            <a:r>
              <a:rPr lang="en" sz="1200" dirty="0"/>
              <a:t>It defines basic methods that the </a:t>
            </a:r>
            <a:r>
              <a:rPr lang="en" sz="1200" dirty="0">
                <a:latin typeface="Courier New"/>
                <a:ea typeface="Courier New"/>
                <a:cs typeface="Courier New"/>
                <a:sym typeface="Courier New"/>
              </a:rPr>
              <a:t>for-each</a:t>
            </a:r>
            <a:r>
              <a:rPr lang="en" sz="1200" dirty="0"/>
              <a:t> loop uses to </a:t>
            </a:r>
            <a:r>
              <a:rPr lang="en" sz="1200" b="1" i="1" dirty="0">
                <a:solidFill>
                  <a:srgbClr val="FF0000"/>
                </a:solidFill>
              </a:rPr>
              <a:t>control </a:t>
            </a:r>
            <a:r>
              <a:rPr lang="en" sz="1200" dirty="0"/>
              <a:t>iteration.</a:t>
            </a:r>
            <a:endParaRPr sz="1200" dirty="0"/>
          </a:p>
          <a:p>
            <a:pPr marL="914400" lvl="1" indent="-298450" algn="l" rtl="0">
              <a:lnSpc>
                <a:spcPct val="100000"/>
              </a:lnSpc>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hasNext()</a:t>
            </a:r>
            <a:r>
              <a:rPr lang="en" dirty="0">
                <a:highlight>
                  <a:srgbClr val="FFFF00"/>
                </a:highlight>
              </a:rPr>
              <a:t> </a:t>
            </a:r>
            <a:r>
              <a:rPr lang="en" dirty="0"/>
              <a:t>- returns </a:t>
            </a:r>
            <a:r>
              <a:rPr lang="en" dirty="0">
                <a:latin typeface="Courier New"/>
                <a:ea typeface="Courier New"/>
                <a:cs typeface="Courier New"/>
                <a:sym typeface="Courier New"/>
              </a:rPr>
              <a:t>true</a:t>
            </a:r>
            <a:r>
              <a:rPr lang="en" dirty="0"/>
              <a:t> if there is at least one element in the sequence that the </a:t>
            </a:r>
            <a:r>
              <a:rPr lang="en" dirty="0">
                <a:latin typeface="Courier New"/>
                <a:ea typeface="Courier New"/>
                <a:cs typeface="Courier New"/>
                <a:sym typeface="Courier New"/>
              </a:rPr>
              <a:t>Iterator</a:t>
            </a:r>
            <a:r>
              <a:rPr lang="en" dirty="0"/>
              <a:t> has not yet returned.</a:t>
            </a:r>
            <a:endParaRPr dirty="0"/>
          </a:p>
          <a:p>
            <a:pPr marL="914400" lvl="1" indent="-298450" algn="l" rtl="0">
              <a:lnSpc>
                <a:spcPct val="100000"/>
              </a:lnSpc>
              <a:spcBef>
                <a:spcPts val="0"/>
              </a:spcBef>
              <a:spcAft>
                <a:spcPts val="0"/>
              </a:spcAft>
              <a:buSzPts val="1100"/>
              <a:buChar char="○"/>
            </a:pPr>
            <a:r>
              <a:rPr lang="en" dirty="0">
                <a:solidFill>
                  <a:srgbClr val="FF0000"/>
                </a:solidFill>
                <a:highlight>
                  <a:srgbClr val="FFFF00"/>
                </a:highlight>
                <a:latin typeface="Courier New"/>
                <a:ea typeface="Courier New"/>
                <a:cs typeface="Courier New"/>
                <a:sym typeface="Courier New"/>
              </a:rPr>
              <a:t>next()</a:t>
            </a:r>
            <a:r>
              <a:rPr lang="en" dirty="0">
                <a:highlight>
                  <a:srgbClr val="FFFF00"/>
                </a:highlight>
              </a:rPr>
              <a:t> </a:t>
            </a:r>
            <a:r>
              <a:rPr lang="en" dirty="0"/>
              <a:t>- returns the next element in the sequence, e.g. </a:t>
            </a:r>
            <a:r>
              <a:rPr lang="en" dirty="0">
                <a:solidFill>
                  <a:srgbClr val="FF0000"/>
                </a:solidFill>
                <a:latin typeface="Courier New"/>
                <a:ea typeface="Courier New"/>
                <a:cs typeface="Courier New"/>
                <a:sym typeface="Courier New"/>
              </a:rPr>
              <a:t>E e = iterator.next()</a:t>
            </a:r>
            <a:endParaRPr dirty="0">
              <a:solidFill>
                <a:srgbClr val="FF0000"/>
              </a:solidFill>
              <a:latin typeface="Courier New"/>
              <a:ea typeface="Courier New"/>
              <a:cs typeface="Courier New"/>
              <a:sym typeface="Courier New"/>
            </a:endParaRPr>
          </a:p>
          <a:p>
            <a:pPr marL="457200" lvl="0" indent="-304800" algn="l" rtl="0">
              <a:lnSpc>
                <a:spcPct val="100000"/>
              </a:lnSpc>
              <a:spcBef>
                <a:spcPts val="1000"/>
              </a:spcBef>
              <a:spcAft>
                <a:spcPts val="0"/>
              </a:spcAft>
              <a:buSzPts val="1200"/>
              <a:buChar char="●"/>
            </a:pPr>
            <a:r>
              <a:rPr lang="en" sz="1200" dirty="0">
                <a:highlight>
                  <a:srgbClr val="FFFF00"/>
                </a:highlight>
              </a:rPr>
              <a:t>An </a:t>
            </a:r>
            <a:r>
              <a:rPr lang="en" sz="1200" dirty="0">
                <a:highlight>
                  <a:srgbClr val="FFFF00"/>
                </a:highlight>
                <a:latin typeface="Courier New"/>
                <a:ea typeface="Courier New"/>
                <a:cs typeface="Courier New"/>
                <a:sym typeface="Courier New"/>
              </a:rPr>
              <a:t>Iterator</a:t>
            </a:r>
            <a:r>
              <a:rPr lang="en" sz="1200" dirty="0">
                <a:highlight>
                  <a:srgbClr val="FFFF00"/>
                </a:highlight>
              </a:rPr>
              <a:t> is guaranteed to return each element in the sequence </a:t>
            </a:r>
            <a:r>
              <a:rPr lang="en" sz="1200" b="1" i="1" dirty="0">
                <a:solidFill>
                  <a:srgbClr val="FF0000"/>
                </a:solidFill>
                <a:highlight>
                  <a:srgbClr val="FFFF00"/>
                </a:highlight>
              </a:rPr>
              <a:t>exactly once</a:t>
            </a:r>
            <a:r>
              <a:rPr lang="en" sz="1200" dirty="0">
                <a:highlight>
                  <a:srgbClr val="FFFF00"/>
                </a:highlight>
              </a:rPr>
              <a:t>.</a:t>
            </a:r>
            <a:endParaRPr sz="1200" dirty="0">
              <a:highlight>
                <a:srgbClr val="FFFF00"/>
              </a:highlight>
            </a:endParaRPr>
          </a:p>
          <a:p>
            <a:pPr marL="457200" lvl="0" indent="-304800" algn="l" rtl="0">
              <a:lnSpc>
                <a:spcPct val="100000"/>
              </a:lnSpc>
              <a:spcBef>
                <a:spcPts val="1000"/>
              </a:spcBef>
              <a:spcAft>
                <a:spcPts val="0"/>
              </a:spcAft>
              <a:buSzPts val="1200"/>
              <a:buChar char="●"/>
            </a:pPr>
            <a:r>
              <a:rPr lang="en" sz="1200" dirty="0">
                <a:highlight>
                  <a:srgbClr val="FFFF00"/>
                </a:highlight>
              </a:rPr>
              <a:t>In Java, a data structure </a:t>
            </a:r>
            <a:r>
              <a:rPr lang="en" sz="1200" b="1" i="1" dirty="0">
                <a:solidFill>
                  <a:srgbClr val="FF0000"/>
                </a:solidFill>
                <a:highlight>
                  <a:srgbClr val="FFFF00"/>
                </a:highlight>
              </a:rPr>
              <a:t>must implement</a:t>
            </a:r>
            <a:r>
              <a:rPr lang="en" sz="1200" dirty="0">
                <a:highlight>
                  <a:srgbClr val="FFFF00"/>
                </a:highlight>
              </a:rPr>
              <a:t> the </a:t>
            </a:r>
            <a:r>
              <a:rPr lang="en" sz="1200" dirty="0">
                <a:highlight>
                  <a:srgbClr val="FFFF00"/>
                </a:highlight>
                <a:latin typeface="Courier New"/>
                <a:ea typeface="Courier New"/>
                <a:cs typeface="Courier New"/>
                <a:sym typeface="Courier New"/>
              </a:rPr>
              <a:t>Iterable</a:t>
            </a:r>
            <a:r>
              <a:rPr lang="en" sz="1200" dirty="0">
                <a:highlight>
                  <a:srgbClr val="FFFF00"/>
                </a:highlight>
              </a:rPr>
              <a:t> interface and </a:t>
            </a:r>
            <a:r>
              <a:rPr lang="en" sz="1200" b="1" i="1" dirty="0">
                <a:solidFill>
                  <a:srgbClr val="FF0000"/>
                </a:solidFill>
                <a:highlight>
                  <a:srgbClr val="FFFF00"/>
                </a:highlight>
              </a:rPr>
              <a:t>return</a:t>
            </a:r>
            <a:r>
              <a:rPr lang="en" sz="1200" dirty="0">
                <a:solidFill>
                  <a:srgbClr val="FF0000"/>
                </a:solidFill>
                <a:highlight>
                  <a:srgbClr val="FFFF00"/>
                </a:highlight>
              </a:rPr>
              <a:t> </a:t>
            </a:r>
            <a:r>
              <a:rPr lang="en" sz="1200" dirty="0">
                <a:highlight>
                  <a:srgbClr val="FFFF00"/>
                </a:highlight>
              </a:rPr>
              <a:t>a working </a:t>
            </a:r>
            <a:r>
              <a:rPr lang="en" sz="1200" dirty="0">
                <a:highlight>
                  <a:srgbClr val="FFFF00"/>
                </a:highlight>
                <a:latin typeface="Courier New"/>
                <a:ea typeface="Courier New"/>
                <a:cs typeface="Courier New"/>
                <a:sym typeface="Courier New"/>
              </a:rPr>
              <a:t>Iterator</a:t>
            </a:r>
            <a:r>
              <a:rPr lang="en" sz="1200" dirty="0">
                <a:highlight>
                  <a:srgbClr val="FFFF00"/>
                </a:highlight>
              </a:rPr>
              <a:t> in order to work with a </a:t>
            </a:r>
            <a:r>
              <a:rPr lang="en" sz="1200" dirty="0">
                <a:highlight>
                  <a:srgbClr val="FFFF00"/>
                </a:highlight>
                <a:latin typeface="Courier New"/>
                <a:ea typeface="Courier New"/>
                <a:cs typeface="Courier New"/>
                <a:sym typeface="Courier New"/>
              </a:rPr>
              <a:t>for-each</a:t>
            </a:r>
            <a:r>
              <a:rPr lang="en" sz="1200" dirty="0">
                <a:highlight>
                  <a:srgbClr val="FFFF00"/>
                </a:highlight>
              </a:rPr>
              <a:t> loop.</a:t>
            </a:r>
            <a:endParaRPr sz="1200" dirty="0">
              <a:highlight>
                <a:srgbClr val="FFFF00"/>
              </a:highlight>
            </a:endParaRPr>
          </a:p>
        </p:txBody>
      </p:sp>
      <p:sp>
        <p:nvSpPr>
          <p:cNvPr id="1145" name="Google Shape;1145;p105"/>
          <p:cNvSpPr txBox="1">
            <a:spLocks noGrp="1"/>
          </p:cNvSpPr>
          <p:nvPr>
            <p:ph type="body" idx="2"/>
          </p:nvPr>
        </p:nvSpPr>
        <p:spPr>
          <a:xfrm>
            <a:off x="5039975" y="681825"/>
            <a:ext cx="4026300" cy="7386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38761D"/>
                </a:solidFill>
                <a:latin typeface="Consolas"/>
                <a:ea typeface="Consolas"/>
                <a:cs typeface="Consolas"/>
                <a:sym typeface="Consolas"/>
              </a:rPr>
              <a:t>1  </a:t>
            </a:r>
            <a:r>
              <a:rPr lang="en" sz="1200">
                <a:solidFill>
                  <a:srgbClr val="0000FF"/>
                </a:solidFill>
                <a:latin typeface="Consolas"/>
                <a:ea typeface="Consolas"/>
                <a:cs typeface="Consolas"/>
                <a:sym typeface="Consolas"/>
              </a:rPr>
              <a:t>for </a:t>
            </a:r>
            <a:r>
              <a:rPr lang="en" sz="1200">
                <a:solidFill>
                  <a:srgbClr val="000000"/>
                </a:solidFill>
                <a:latin typeface="Consolas"/>
                <a:ea typeface="Consolas"/>
                <a:cs typeface="Consolas"/>
                <a:sym typeface="Consolas"/>
              </a:rPr>
              <a:t>(</a:t>
            </a:r>
            <a:r>
              <a:rPr lang="en" sz="1200">
                <a:solidFill>
                  <a:srgbClr val="0000FF"/>
                </a:solidFill>
                <a:latin typeface="Consolas"/>
                <a:ea typeface="Consolas"/>
                <a:cs typeface="Consolas"/>
                <a:sym typeface="Consolas"/>
              </a:rPr>
              <a:t>E</a:t>
            </a:r>
            <a:r>
              <a:rPr lang="en" sz="1200">
                <a:solidFill>
                  <a:srgbClr val="000000"/>
                </a:solidFill>
                <a:latin typeface="Consolas"/>
                <a:ea typeface="Consolas"/>
                <a:cs typeface="Consolas"/>
                <a:sym typeface="Consolas"/>
              </a:rPr>
              <a:t> element </a:t>
            </a:r>
            <a:r>
              <a:rPr lang="en" sz="1200">
                <a:solidFill>
                  <a:srgbClr val="0000FF"/>
                </a:solidFill>
                <a:latin typeface="Consolas"/>
                <a:ea typeface="Consolas"/>
                <a:cs typeface="Consolas"/>
                <a:sym typeface="Consolas"/>
              </a:rPr>
              <a:t>:</a:t>
            </a:r>
            <a:r>
              <a:rPr lang="en" sz="1200">
                <a:solidFill>
                  <a:srgbClr val="000000"/>
                </a:solidFill>
                <a:latin typeface="Consolas"/>
                <a:ea typeface="Consolas"/>
                <a:cs typeface="Consolas"/>
                <a:sym typeface="Consolas"/>
              </a:rPr>
              <a:t> iterable) {</a:t>
            </a:r>
            <a:endParaRPr sz="12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38761D"/>
                </a:solidFill>
                <a:latin typeface="Consolas"/>
                <a:ea typeface="Consolas"/>
                <a:cs typeface="Consolas"/>
                <a:sym typeface="Consolas"/>
              </a:rPr>
              <a:t>2</a:t>
            </a:r>
            <a:r>
              <a:rPr lang="en" sz="1200">
                <a:solidFill>
                  <a:srgbClr val="000000"/>
                </a:solidFill>
                <a:latin typeface="Consolas"/>
                <a:ea typeface="Consolas"/>
                <a:cs typeface="Consolas"/>
                <a:sym typeface="Consolas"/>
              </a:rPr>
              <a:t>     </a:t>
            </a:r>
            <a:r>
              <a:rPr lang="en" sz="1200">
                <a:solidFill>
                  <a:srgbClr val="008000"/>
                </a:solidFill>
                <a:latin typeface="Consolas"/>
                <a:ea typeface="Consolas"/>
                <a:cs typeface="Consolas"/>
                <a:sym typeface="Consolas"/>
              </a:rPr>
              <a:t>// loop body</a:t>
            </a:r>
            <a:endParaRPr sz="12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200">
                <a:solidFill>
                  <a:srgbClr val="38761D"/>
                </a:solidFill>
                <a:latin typeface="Consolas"/>
                <a:ea typeface="Consolas"/>
                <a:cs typeface="Consolas"/>
                <a:sym typeface="Consolas"/>
              </a:rPr>
              <a:t>3</a:t>
            </a:r>
            <a:r>
              <a:rPr lang="en" sz="1200">
                <a:solidFill>
                  <a:srgbClr val="000000"/>
                </a:solidFill>
                <a:latin typeface="Consolas"/>
                <a:ea typeface="Consolas"/>
                <a:cs typeface="Consolas"/>
                <a:sym typeface="Consolas"/>
              </a:rPr>
              <a:t>  }</a:t>
            </a:r>
            <a:endParaRPr sz="1200">
              <a:solidFill>
                <a:srgbClr val="C586C0"/>
              </a:solidFill>
              <a:latin typeface="Consolas"/>
              <a:ea typeface="Consolas"/>
              <a:cs typeface="Consolas"/>
              <a:sym typeface="Consolas"/>
            </a:endParaRPr>
          </a:p>
        </p:txBody>
      </p:sp>
      <p:sp>
        <p:nvSpPr>
          <p:cNvPr id="1146" name="Google Shape;1146;p105"/>
          <p:cNvSpPr txBox="1">
            <a:spLocks noGrp="1"/>
          </p:cNvSpPr>
          <p:nvPr>
            <p:ph type="body" idx="3"/>
          </p:nvPr>
        </p:nvSpPr>
        <p:spPr>
          <a:xfrm>
            <a:off x="5039975" y="3852193"/>
            <a:ext cx="4026300" cy="51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At the start of each iteration, it calls </a:t>
            </a:r>
            <a:r>
              <a:rPr lang="en">
                <a:solidFill>
                  <a:srgbClr val="FF0000"/>
                </a:solidFill>
                <a:latin typeface="Courier New"/>
                <a:ea typeface="Courier New"/>
                <a:cs typeface="Courier New"/>
                <a:sym typeface="Courier New"/>
              </a:rPr>
              <a:t>hasNext()</a:t>
            </a:r>
            <a:r>
              <a:rPr lang="en"/>
              <a:t> on the </a:t>
            </a:r>
            <a:r>
              <a:rPr lang="en">
                <a:latin typeface="Courier New"/>
                <a:ea typeface="Courier New"/>
                <a:cs typeface="Courier New"/>
                <a:sym typeface="Courier New"/>
              </a:rPr>
              <a:t>Iterator</a:t>
            </a:r>
            <a:r>
              <a:rPr lang="en"/>
              <a:t> to determine if there are any more elements.</a:t>
            </a:r>
            <a:endParaRPr/>
          </a:p>
        </p:txBody>
      </p:sp>
      <p:sp>
        <p:nvSpPr>
          <p:cNvPr id="1147" name="Google Shape;1147;p105"/>
          <p:cNvSpPr txBox="1">
            <a:spLocks noGrp="1"/>
          </p:cNvSpPr>
          <p:nvPr>
            <p:ph type="body" idx="3"/>
          </p:nvPr>
        </p:nvSpPr>
        <p:spPr>
          <a:xfrm>
            <a:off x="5039975" y="4461793"/>
            <a:ext cx="4026300" cy="51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If </a:t>
            </a:r>
            <a:r>
              <a:rPr lang="en">
                <a:latin typeface="Courier New"/>
                <a:ea typeface="Courier New"/>
                <a:cs typeface="Courier New"/>
                <a:sym typeface="Courier New"/>
              </a:rPr>
              <a:t>hasNext()</a:t>
            </a:r>
            <a:r>
              <a:rPr lang="en"/>
              <a:t> returns </a:t>
            </a:r>
            <a:r>
              <a:rPr lang="en">
                <a:solidFill>
                  <a:srgbClr val="FF0000"/>
                </a:solidFill>
                <a:latin typeface="Courier New"/>
                <a:ea typeface="Courier New"/>
                <a:cs typeface="Courier New"/>
                <a:sym typeface="Courier New"/>
              </a:rPr>
              <a:t>true</a:t>
            </a:r>
            <a:r>
              <a:rPr lang="en"/>
              <a:t>, the </a:t>
            </a:r>
            <a:r>
              <a:rPr lang="en">
                <a:solidFill>
                  <a:srgbClr val="FF0000"/>
                </a:solidFill>
                <a:latin typeface="Courier New"/>
                <a:ea typeface="Courier New"/>
                <a:cs typeface="Courier New"/>
                <a:sym typeface="Courier New"/>
              </a:rPr>
              <a:t>next()</a:t>
            </a:r>
            <a:r>
              <a:rPr lang="en"/>
              <a:t> method is used to assign the next element to the </a:t>
            </a:r>
            <a:r>
              <a:rPr lang="en" b="1" i="1">
                <a:solidFill>
                  <a:srgbClr val="FF0000"/>
                </a:solidFill>
              </a:rPr>
              <a:t>loop variable</a:t>
            </a:r>
            <a:r>
              <a:rPr lang="en"/>
              <a:t>.</a:t>
            </a:r>
            <a:endParaRPr/>
          </a:p>
        </p:txBody>
      </p:sp>
      <p:cxnSp>
        <p:nvCxnSpPr>
          <p:cNvPr id="1148" name="Google Shape;1148;p105"/>
          <p:cNvCxnSpPr>
            <a:stCxn id="1147" idx="1"/>
            <a:endCxn id="1149" idx="1"/>
          </p:cNvCxnSpPr>
          <p:nvPr/>
        </p:nvCxnSpPr>
        <p:spPr>
          <a:xfrm rot="10800000" flipH="1">
            <a:off x="5039975" y="3179893"/>
            <a:ext cx="460200" cy="1538700"/>
          </a:xfrm>
          <a:prstGeom prst="bentConnector3">
            <a:avLst>
              <a:gd name="adj1" fmla="val -26467"/>
            </a:avLst>
          </a:prstGeom>
          <a:noFill/>
          <a:ln w="19050" cap="flat" cmpd="sng">
            <a:solidFill>
              <a:srgbClr val="FF0000"/>
            </a:solidFill>
            <a:prstDash val="solid"/>
            <a:round/>
            <a:headEnd type="none" w="med" len="med"/>
            <a:tailEnd type="triangle" w="med" len="med"/>
          </a:ln>
        </p:spPr>
      </p:cxnSp>
      <p:sp>
        <p:nvSpPr>
          <p:cNvPr id="1149" name="Google Shape;1149;p105"/>
          <p:cNvSpPr txBox="1"/>
          <p:nvPr/>
        </p:nvSpPr>
        <p:spPr>
          <a:xfrm>
            <a:off x="5500025" y="2987475"/>
            <a:ext cx="275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00">
              <a:solidFill>
                <a:schemeClr val="dk2"/>
              </a:solidFill>
              <a:latin typeface="Roboto"/>
              <a:ea typeface="Roboto"/>
              <a:cs typeface="Roboto"/>
              <a:sym typeface="Roboto"/>
            </a:endParaRPr>
          </a:p>
        </p:txBody>
      </p:sp>
      <p:sp>
        <p:nvSpPr>
          <p:cNvPr id="1150" name="Google Shape;1150;p105"/>
          <p:cNvSpPr txBox="1"/>
          <p:nvPr/>
        </p:nvSpPr>
        <p:spPr>
          <a:xfrm>
            <a:off x="8160310" y="2987475"/>
            <a:ext cx="275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00">
              <a:solidFill>
                <a:schemeClr val="dk2"/>
              </a:solidFill>
              <a:latin typeface="Roboto"/>
              <a:ea typeface="Roboto"/>
              <a:cs typeface="Roboto"/>
              <a:sym typeface="Roboto"/>
            </a:endParaRPr>
          </a:p>
        </p:txBody>
      </p:sp>
      <p:sp>
        <p:nvSpPr>
          <p:cNvPr id="1151" name="Google Shape;1151;p105"/>
          <p:cNvSpPr txBox="1"/>
          <p:nvPr/>
        </p:nvSpPr>
        <p:spPr>
          <a:xfrm>
            <a:off x="8312710" y="1954249"/>
            <a:ext cx="2754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00">
              <a:solidFill>
                <a:schemeClr val="dk2"/>
              </a:solidFill>
              <a:latin typeface="Roboto"/>
              <a:ea typeface="Roboto"/>
              <a:cs typeface="Roboto"/>
              <a:sym typeface="Roboto"/>
            </a:endParaRPr>
          </a:p>
        </p:txBody>
      </p:sp>
      <p:cxnSp>
        <p:nvCxnSpPr>
          <p:cNvPr id="1152" name="Google Shape;1152;p105"/>
          <p:cNvCxnSpPr>
            <a:stCxn id="1150" idx="3"/>
          </p:cNvCxnSpPr>
          <p:nvPr/>
        </p:nvCxnSpPr>
        <p:spPr>
          <a:xfrm>
            <a:off x="8435710" y="3179925"/>
            <a:ext cx="377100" cy="666900"/>
          </a:xfrm>
          <a:prstGeom prst="bentConnector2">
            <a:avLst/>
          </a:prstGeom>
          <a:noFill/>
          <a:ln w="19050" cap="flat" cmpd="sng">
            <a:solidFill>
              <a:srgbClr val="FF0000"/>
            </a:solidFill>
            <a:prstDash val="solid"/>
            <a:round/>
            <a:headEnd type="triangle" w="med" len="med"/>
            <a:tailEnd type="none" w="med" len="med"/>
          </a:ln>
        </p:spPr>
      </p:cxnSp>
      <p:cxnSp>
        <p:nvCxnSpPr>
          <p:cNvPr id="1153" name="Google Shape;1153;p105"/>
          <p:cNvCxnSpPr>
            <a:stCxn id="1151" idx="3"/>
          </p:cNvCxnSpPr>
          <p:nvPr/>
        </p:nvCxnSpPr>
        <p:spPr>
          <a:xfrm rot="10800000" flipH="1">
            <a:off x="8588110" y="2000299"/>
            <a:ext cx="405900" cy="146400"/>
          </a:xfrm>
          <a:prstGeom prst="bentConnector3">
            <a:avLst>
              <a:gd name="adj1" fmla="val 50000"/>
            </a:avLst>
          </a:prstGeom>
          <a:noFill/>
          <a:ln w="19050" cap="flat" cmpd="sng">
            <a:solidFill>
              <a:srgbClr val="FF0000"/>
            </a:solidFill>
            <a:prstDash val="solid"/>
            <a:round/>
            <a:headEnd type="triangle" w="med" len="med"/>
            <a:tailEnd type="none" w="med" len="med"/>
          </a:ln>
        </p:spPr>
      </p:cxnSp>
      <p:sp>
        <p:nvSpPr>
          <p:cNvPr id="1154" name="Google Shape;1154;p105"/>
          <p:cNvSpPr txBox="1">
            <a:spLocks noGrp="1"/>
          </p:cNvSpPr>
          <p:nvPr>
            <p:ph type="body" idx="3"/>
          </p:nvPr>
        </p:nvSpPr>
        <p:spPr>
          <a:xfrm>
            <a:off x="5039975" y="1510186"/>
            <a:ext cx="4026300" cy="513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Given some </a:t>
            </a:r>
            <a:r>
              <a:rPr lang="en">
                <a:solidFill>
                  <a:srgbClr val="FF0000"/>
                </a:solidFill>
                <a:latin typeface="Courier New"/>
                <a:ea typeface="Courier New"/>
                <a:cs typeface="Courier New"/>
                <a:sym typeface="Courier New"/>
              </a:rPr>
              <a:t>Iterable</a:t>
            </a:r>
            <a:r>
              <a:rPr lang="en">
                <a:solidFill>
                  <a:srgbClr val="FF0000"/>
                </a:solidFill>
              </a:rPr>
              <a:t> </a:t>
            </a:r>
            <a:r>
              <a:rPr lang="en"/>
              <a:t>object, the </a:t>
            </a:r>
            <a:r>
              <a:rPr lang="en">
                <a:latin typeface="Consolas"/>
                <a:ea typeface="Consolas"/>
                <a:cs typeface="Consolas"/>
                <a:sym typeface="Consolas"/>
              </a:rPr>
              <a:t>for-each</a:t>
            </a:r>
            <a:r>
              <a:rPr lang="en"/>
              <a:t> loop first calls its </a:t>
            </a:r>
            <a:r>
              <a:rPr lang="en">
                <a:solidFill>
                  <a:srgbClr val="FF0000"/>
                </a:solidFill>
                <a:latin typeface="Courier New"/>
                <a:ea typeface="Courier New"/>
                <a:cs typeface="Courier New"/>
                <a:sym typeface="Courier New"/>
              </a:rPr>
              <a:t>iterator()</a:t>
            </a:r>
            <a:r>
              <a:rPr lang="en"/>
              <a:t> method to get its </a:t>
            </a:r>
            <a:r>
              <a:rPr lang="en">
                <a:solidFill>
                  <a:srgbClr val="FF0000"/>
                </a:solidFill>
                <a:latin typeface="Courier New"/>
                <a:ea typeface="Courier New"/>
                <a:cs typeface="Courier New"/>
                <a:sym typeface="Courier New"/>
              </a:rPr>
              <a:t>Iterator</a:t>
            </a:r>
            <a:r>
              <a:rPr lang="en"/>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4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4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4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4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4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4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4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145"/>
                                        </p:tgtEl>
                                        <p:attrNameLst>
                                          <p:attrName>style.visibility</p:attrName>
                                        </p:attrNameLst>
                                      </p:cBhvr>
                                      <p:to>
                                        <p:strVal val="visible"/>
                                      </p:to>
                                    </p:set>
                                    <p:animEffect transition="in" filter="fade">
                                      <p:cBhvr>
                                        <p:cTn id="43" dur="1000"/>
                                        <p:tgtEl>
                                          <p:spTgt spid="1145"/>
                                        </p:tgtEl>
                                      </p:cBhvr>
                                    </p:animEffect>
                                  </p:childTnLst>
                                </p:cTn>
                              </p:par>
                            </p:childTnLst>
                          </p:cTn>
                        </p:par>
                        <p:par>
                          <p:cTn id="44" fill="hold">
                            <p:stCondLst>
                              <p:cond delay="1000"/>
                            </p:stCondLst>
                            <p:childTnLst>
                              <p:par>
                                <p:cTn id="45" presetID="10" presetClass="entr" presetSubtype="0" fill="hold" nodeType="afterEffect">
                                  <p:stCondLst>
                                    <p:cond delay="0"/>
                                  </p:stCondLst>
                                  <p:childTnLst>
                                    <p:set>
                                      <p:cBhvr>
                                        <p:cTn id="46" dur="1" fill="hold">
                                          <p:stCondLst>
                                            <p:cond delay="0"/>
                                          </p:stCondLst>
                                        </p:cTn>
                                        <p:tgtEl>
                                          <p:spTgt spid="1154"/>
                                        </p:tgtEl>
                                        <p:attrNameLst>
                                          <p:attrName>style.visibility</p:attrName>
                                        </p:attrNameLst>
                                      </p:cBhvr>
                                      <p:to>
                                        <p:strVal val="visible"/>
                                      </p:to>
                                    </p:set>
                                    <p:animEffect transition="in" filter="fade">
                                      <p:cBhvr>
                                        <p:cTn id="47" dur="1000"/>
                                        <p:tgtEl>
                                          <p:spTgt spid="1154"/>
                                        </p:tgtEl>
                                      </p:cBhvr>
                                    </p:animEffect>
                                  </p:childTnLst>
                                </p:cTn>
                              </p:par>
                              <p:par>
                                <p:cTn id="48" presetID="10" presetClass="entr" presetSubtype="0" fill="hold" nodeType="withEffect">
                                  <p:stCondLst>
                                    <p:cond delay="0"/>
                                  </p:stCondLst>
                                  <p:childTnLst>
                                    <p:set>
                                      <p:cBhvr>
                                        <p:cTn id="49" dur="1" fill="hold">
                                          <p:stCondLst>
                                            <p:cond delay="0"/>
                                          </p:stCondLst>
                                        </p:cTn>
                                        <p:tgtEl>
                                          <p:spTgt spid="1141"/>
                                        </p:tgtEl>
                                        <p:attrNameLst>
                                          <p:attrName>style.visibility</p:attrName>
                                        </p:attrNameLst>
                                      </p:cBhvr>
                                      <p:to>
                                        <p:strVal val="visible"/>
                                      </p:to>
                                    </p:set>
                                    <p:animEffect transition="in" filter="fade">
                                      <p:cBhvr>
                                        <p:cTn id="50" dur="1000"/>
                                        <p:tgtEl>
                                          <p:spTgt spid="1141"/>
                                        </p:tgtEl>
                                      </p:cBhvr>
                                    </p:animEffect>
                                  </p:childTnLst>
                                </p:cTn>
                              </p:par>
                            </p:childTnLst>
                          </p:cTn>
                        </p:par>
                        <p:par>
                          <p:cTn id="51" fill="hold">
                            <p:stCondLst>
                              <p:cond delay="2000"/>
                            </p:stCondLst>
                            <p:childTnLst>
                              <p:par>
                                <p:cTn id="52" presetID="10" presetClass="entr" presetSubtype="0" fill="hold" nodeType="afterEffect">
                                  <p:stCondLst>
                                    <p:cond delay="0"/>
                                  </p:stCondLst>
                                  <p:childTnLst>
                                    <p:set>
                                      <p:cBhvr>
                                        <p:cTn id="53" dur="1" fill="hold">
                                          <p:stCondLst>
                                            <p:cond delay="0"/>
                                          </p:stCondLst>
                                        </p:cTn>
                                        <p:tgtEl>
                                          <p:spTgt spid="1153"/>
                                        </p:tgtEl>
                                        <p:attrNameLst>
                                          <p:attrName>style.visibility</p:attrName>
                                        </p:attrNameLst>
                                      </p:cBhvr>
                                      <p:to>
                                        <p:strVal val="visible"/>
                                      </p:to>
                                    </p:set>
                                    <p:animEffect transition="in" filter="fade">
                                      <p:cBhvr>
                                        <p:cTn id="54" dur="1000"/>
                                        <p:tgtEl>
                                          <p:spTgt spid="115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146"/>
                                        </p:tgtEl>
                                        <p:attrNameLst>
                                          <p:attrName>style.visibility</p:attrName>
                                        </p:attrNameLst>
                                      </p:cBhvr>
                                      <p:to>
                                        <p:strVal val="visible"/>
                                      </p:to>
                                    </p:set>
                                    <p:animEffect transition="in" filter="fade">
                                      <p:cBhvr>
                                        <p:cTn id="59" dur="1000"/>
                                        <p:tgtEl>
                                          <p:spTgt spid="1146"/>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1152"/>
                                        </p:tgtEl>
                                        <p:attrNameLst>
                                          <p:attrName>style.visibility</p:attrName>
                                        </p:attrNameLst>
                                      </p:cBhvr>
                                      <p:to>
                                        <p:strVal val="visible"/>
                                      </p:to>
                                    </p:set>
                                    <p:animEffect transition="in" filter="fade">
                                      <p:cBhvr>
                                        <p:cTn id="63" dur="1000"/>
                                        <p:tgtEl>
                                          <p:spTgt spid="1152"/>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147"/>
                                        </p:tgtEl>
                                        <p:attrNameLst>
                                          <p:attrName>style.visibility</p:attrName>
                                        </p:attrNameLst>
                                      </p:cBhvr>
                                      <p:to>
                                        <p:strVal val="visible"/>
                                      </p:to>
                                    </p:set>
                                    <p:animEffect transition="in" filter="fade">
                                      <p:cBhvr>
                                        <p:cTn id="68" dur="1000"/>
                                        <p:tgtEl>
                                          <p:spTgt spid="1147"/>
                                        </p:tgtEl>
                                      </p:cBhvr>
                                    </p:animEffect>
                                  </p:childTnLst>
                                </p:cTn>
                              </p:par>
                            </p:childTnLst>
                          </p:cTn>
                        </p:par>
                        <p:par>
                          <p:cTn id="69" fill="hold">
                            <p:stCondLst>
                              <p:cond delay="1000"/>
                            </p:stCondLst>
                            <p:childTnLst>
                              <p:par>
                                <p:cTn id="70" presetID="10" presetClass="entr" presetSubtype="0" fill="hold" nodeType="afterEffect">
                                  <p:stCondLst>
                                    <p:cond delay="0"/>
                                  </p:stCondLst>
                                  <p:childTnLst>
                                    <p:set>
                                      <p:cBhvr>
                                        <p:cTn id="71" dur="1" fill="hold">
                                          <p:stCondLst>
                                            <p:cond delay="0"/>
                                          </p:stCondLst>
                                        </p:cTn>
                                        <p:tgtEl>
                                          <p:spTgt spid="1148"/>
                                        </p:tgtEl>
                                        <p:attrNameLst>
                                          <p:attrName>style.visibility</p:attrName>
                                        </p:attrNameLst>
                                      </p:cBhvr>
                                      <p:to>
                                        <p:strVal val="visible"/>
                                      </p:to>
                                    </p:set>
                                    <p:animEffect transition="in" filter="fade">
                                      <p:cBhvr>
                                        <p:cTn id="72" dur="1000"/>
                                        <p:tgtEl>
                                          <p:spTgt spid="1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59" name="Google Shape;1159;p106"/>
          <p:cNvSpPr txBox="1">
            <a:spLocks noGrp="1"/>
          </p:cNvSpPr>
          <p:nvPr>
            <p:ph type="title"/>
          </p:nvPr>
        </p:nvSpPr>
        <p:spPr>
          <a:xfrm>
            <a:off x="159325" y="19612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600"/>
              <a:t>Extending Interfaces</a:t>
            </a:r>
            <a:endParaRPr sz="2600"/>
          </a:p>
        </p:txBody>
      </p:sp>
      <p:sp>
        <p:nvSpPr>
          <p:cNvPr id="1160" name="Google Shape;1160;p106"/>
          <p:cNvSpPr txBox="1">
            <a:spLocks noGrp="1"/>
          </p:cNvSpPr>
          <p:nvPr>
            <p:ph type="body" idx="1"/>
          </p:nvPr>
        </p:nvSpPr>
        <p:spPr>
          <a:xfrm>
            <a:off x="4339900" y="98725"/>
            <a:ext cx="4493100" cy="4941000"/>
          </a:xfrm>
          <a:prstGeom prst="rect">
            <a:avLst/>
          </a:prstGeom>
          <a:noFill/>
          <a:ln>
            <a:noFill/>
          </a:ln>
        </p:spPr>
        <p:txBody>
          <a:bodyPr spcFirstLastPara="1" wrap="square" lIns="91425" tIns="91425" rIns="91425" bIns="91425" anchor="ctr" anchorCtr="0">
            <a:spAutoFit/>
          </a:bodyPr>
          <a:lstStyle/>
          <a:p>
            <a:pPr marL="457200" lvl="0" indent="-304800" algn="l" rtl="0">
              <a:lnSpc>
                <a:spcPct val="100000"/>
              </a:lnSpc>
              <a:spcBef>
                <a:spcPts val="0"/>
              </a:spcBef>
              <a:spcAft>
                <a:spcPts val="0"/>
              </a:spcAft>
              <a:buSzPts val="1200"/>
              <a:buChar char="●"/>
            </a:pPr>
            <a:r>
              <a:rPr lang="en" sz="1200" dirty="0"/>
              <a:t>In Java, one interface may </a:t>
            </a:r>
            <a:r>
              <a:rPr lang="en" sz="1200" b="1" i="1" dirty="0">
                <a:solidFill>
                  <a:srgbClr val="FF0000"/>
                </a:solidFill>
              </a:rPr>
              <a:t>extend</a:t>
            </a:r>
            <a:r>
              <a:rPr lang="en" sz="1200" dirty="0"/>
              <a:t> another interface.</a:t>
            </a:r>
            <a:endParaRPr sz="1200" dirty="0"/>
          </a:p>
          <a:p>
            <a:pPr marL="914400" lvl="1" indent="-298450" algn="l" rtl="0">
              <a:lnSpc>
                <a:spcPct val="100000"/>
              </a:lnSpc>
              <a:spcBef>
                <a:spcPts val="0"/>
              </a:spcBef>
              <a:spcAft>
                <a:spcPts val="0"/>
              </a:spcAft>
              <a:buSzPts val="1100"/>
              <a:buChar char="○"/>
            </a:pPr>
            <a:r>
              <a:rPr lang="en" dirty="0"/>
              <a:t>e.g. </a:t>
            </a:r>
            <a:r>
              <a:rPr lang="en" dirty="0">
                <a:solidFill>
                  <a:srgbClr val="FF0000"/>
                </a:solidFill>
                <a:highlight>
                  <a:srgbClr val="FFFF00"/>
                </a:highlight>
                <a:latin typeface="Courier New"/>
                <a:ea typeface="Courier New"/>
                <a:cs typeface="Courier New"/>
                <a:sym typeface="Courier New"/>
              </a:rPr>
              <a:t>public interface B extends A </a:t>
            </a:r>
            <a:r>
              <a:rPr lang="en" dirty="0">
                <a:solidFill>
                  <a:srgbClr val="FF0000"/>
                </a:solidFill>
                <a:latin typeface="Courier New"/>
                <a:ea typeface="Courier New"/>
                <a:cs typeface="Courier New"/>
                <a:sym typeface="Courier New"/>
              </a:rPr>
              <a:t>{}</a:t>
            </a:r>
            <a:endParaRPr dirty="0">
              <a:solidFill>
                <a:srgbClr val="FF0000"/>
              </a:solidFill>
              <a:latin typeface="Courier New"/>
              <a:ea typeface="Courier New"/>
              <a:cs typeface="Courier New"/>
              <a:sym typeface="Courier New"/>
            </a:endParaRPr>
          </a:p>
          <a:p>
            <a:pPr marL="914400" lvl="1" indent="-298450" algn="l" rtl="0">
              <a:lnSpc>
                <a:spcPct val="100000"/>
              </a:lnSpc>
              <a:spcBef>
                <a:spcPts val="0"/>
              </a:spcBef>
              <a:spcAft>
                <a:spcPts val="0"/>
              </a:spcAft>
              <a:buSzPts val="1100"/>
              <a:buFont typeface="Courier New"/>
              <a:buChar char="○"/>
            </a:pPr>
            <a:r>
              <a:rPr lang="en" dirty="0"/>
              <a:t>In this example, the interface </a:t>
            </a:r>
            <a:r>
              <a:rPr lang="en" dirty="0">
                <a:latin typeface="Courier New"/>
                <a:ea typeface="Courier New"/>
                <a:cs typeface="Courier New"/>
                <a:sym typeface="Courier New"/>
              </a:rPr>
              <a:t>B</a:t>
            </a:r>
            <a:r>
              <a:rPr lang="en" dirty="0"/>
              <a:t> will </a:t>
            </a:r>
            <a:r>
              <a:rPr lang="en" b="1" i="1" dirty="0">
                <a:solidFill>
                  <a:srgbClr val="FF0000"/>
                </a:solidFill>
              </a:rPr>
              <a:t>inherit </a:t>
            </a:r>
            <a:r>
              <a:rPr lang="en" dirty="0"/>
              <a:t>all of the abstract  methods defined in interface </a:t>
            </a:r>
            <a:r>
              <a:rPr lang="en" dirty="0">
                <a:latin typeface="Courier New"/>
                <a:ea typeface="Courier New"/>
                <a:cs typeface="Courier New"/>
                <a:sym typeface="Courier New"/>
              </a:rPr>
              <a:t>A</a:t>
            </a:r>
            <a:r>
              <a:rPr lang="en" dirty="0"/>
              <a:t>.</a:t>
            </a:r>
            <a:endParaRPr dirty="0">
              <a:latin typeface="Courier New"/>
              <a:ea typeface="Courier New"/>
              <a:cs typeface="Courier New"/>
              <a:sym typeface="Courier New"/>
            </a:endParaRPr>
          </a:p>
          <a:p>
            <a:pPr marL="914400" lvl="1" indent="-298450" algn="l" rtl="0">
              <a:lnSpc>
                <a:spcPct val="100000"/>
              </a:lnSpc>
              <a:spcBef>
                <a:spcPts val="0"/>
              </a:spcBef>
              <a:spcAft>
                <a:spcPts val="0"/>
              </a:spcAft>
              <a:buSzPts val="1100"/>
              <a:buChar char="○"/>
            </a:pPr>
            <a:r>
              <a:rPr lang="en" dirty="0"/>
              <a:t>Note that </a:t>
            </a:r>
            <a:r>
              <a:rPr lang="en" b="1" i="1" dirty="0">
                <a:solidFill>
                  <a:srgbClr val="FF0000"/>
                </a:solidFill>
              </a:rPr>
              <a:t>both</a:t>
            </a:r>
            <a:r>
              <a:rPr lang="en" dirty="0"/>
              <a:t> </a:t>
            </a:r>
            <a:r>
              <a:rPr lang="en" dirty="0">
                <a:latin typeface="Courier New"/>
                <a:ea typeface="Courier New"/>
                <a:cs typeface="Courier New"/>
                <a:sym typeface="Courier New"/>
              </a:rPr>
              <a:t>A</a:t>
            </a:r>
            <a:r>
              <a:rPr lang="en" dirty="0"/>
              <a:t> and </a:t>
            </a:r>
            <a:r>
              <a:rPr lang="en" dirty="0">
                <a:latin typeface="Courier New"/>
                <a:ea typeface="Courier New"/>
                <a:cs typeface="Courier New"/>
                <a:sym typeface="Courier New"/>
              </a:rPr>
              <a:t>B</a:t>
            </a:r>
            <a:r>
              <a:rPr lang="en" dirty="0"/>
              <a:t> must be interfaces; an </a:t>
            </a:r>
            <a:r>
              <a:rPr lang="en" dirty="0">
                <a:highlight>
                  <a:srgbClr val="FFFF00"/>
                </a:highlight>
              </a:rPr>
              <a:t>interface </a:t>
            </a:r>
            <a:r>
              <a:rPr lang="en" b="1" i="1" dirty="0">
                <a:solidFill>
                  <a:srgbClr val="FF0000"/>
                </a:solidFill>
                <a:highlight>
                  <a:srgbClr val="FFFF00"/>
                </a:highlight>
              </a:rPr>
              <a:t>cannot</a:t>
            </a:r>
            <a:r>
              <a:rPr lang="en" dirty="0">
                <a:highlight>
                  <a:srgbClr val="FFFF00"/>
                </a:highlight>
              </a:rPr>
              <a:t> extend a class.</a:t>
            </a:r>
            <a:endParaRPr dirty="0">
              <a:highlight>
                <a:srgbClr val="FFFF00"/>
              </a:highlight>
            </a:endParaRPr>
          </a:p>
          <a:p>
            <a:pPr marL="457200" lvl="0" indent="-304800" algn="l" rtl="0">
              <a:lnSpc>
                <a:spcPct val="100000"/>
              </a:lnSpc>
              <a:spcBef>
                <a:spcPts val="1000"/>
              </a:spcBef>
              <a:spcAft>
                <a:spcPts val="0"/>
              </a:spcAft>
              <a:buSzPts val="1200"/>
              <a:buChar char="●"/>
            </a:pPr>
            <a:r>
              <a:rPr lang="en" sz="1200" dirty="0"/>
              <a:t>Under normal circumstances, any class that implements an interface must provide a concrete implementation of </a:t>
            </a:r>
            <a:r>
              <a:rPr lang="en" sz="1200" b="1" i="1" dirty="0">
                <a:solidFill>
                  <a:srgbClr val="FF0000"/>
                </a:solidFill>
                <a:highlight>
                  <a:srgbClr val="FFFF00"/>
                </a:highlight>
              </a:rPr>
              <a:t>all</a:t>
            </a:r>
            <a:r>
              <a:rPr lang="en" sz="1200" dirty="0">
                <a:solidFill>
                  <a:srgbClr val="FF0000"/>
                </a:solidFill>
                <a:highlight>
                  <a:srgbClr val="FFFF00"/>
                </a:highlight>
              </a:rPr>
              <a:t> </a:t>
            </a:r>
            <a:r>
              <a:rPr lang="en" sz="1200" dirty="0">
                <a:highlight>
                  <a:srgbClr val="FFFF00"/>
                </a:highlight>
              </a:rPr>
              <a:t>of the abstract methods defined by the interface.</a:t>
            </a:r>
            <a:endParaRPr sz="1200" dirty="0">
              <a:highlight>
                <a:srgbClr val="FFFF00"/>
              </a:highlight>
            </a:endParaRPr>
          </a:p>
          <a:p>
            <a:pPr marL="914400" lvl="1" indent="-298450" algn="l" rtl="0">
              <a:lnSpc>
                <a:spcPct val="100000"/>
              </a:lnSpc>
              <a:spcBef>
                <a:spcPts val="0"/>
              </a:spcBef>
              <a:spcAft>
                <a:spcPts val="0"/>
              </a:spcAft>
              <a:buSzPts val="1100"/>
              <a:buChar char="○"/>
            </a:pPr>
            <a:r>
              <a:rPr lang="en" dirty="0"/>
              <a:t>This includes any methods that are inherited from some other interface!</a:t>
            </a:r>
            <a:endParaRPr dirty="0"/>
          </a:p>
          <a:p>
            <a:pPr marL="457200" lvl="0" indent="-304800" algn="l" rtl="0">
              <a:lnSpc>
                <a:spcPct val="100000"/>
              </a:lnSpc>
              <a:spcBef>
                <a:spcPts val="1000"/>
              </a:spcBef>
              <a:spcAft>
                <a:spcPts val="0"/>
              </a:spcAft>
              <a:buSzPts val="1200"/>
              <a:buChar char="●"/>
            </a:pPr>
            <a:r>
              <a:rPr lang="en" sz="1200" dirty="0"/>
              <a:t>We'd like to modify our </a:t>
            </a:r>
            <a:r>
              <a:rPr lang="en" sz="1200" dirty="0">
                <a:latin typeface="Courier New"/>
                <a:ea typeface="Courier New"/>
                <a:cs typeface="Courier New"/>
                <a:sym typeface="Courier New"/>
              </a:rPr>
              <a:t>List</a:t>
            </a:r>
            <a:r>
              <a:rPr lang="en" sz="1200" dirty="0"/>
              <a:t> interface so that it </a:t>
            </a:r>
            <a:r>
              <a:rPr lang="en" sz="1200" b="1" i="1" dirty="0">
                <a:solidFill>
                  <a:srgbClr val="FF0000"/>
                </a:solidFill>
              </a:rPr>
              <a:t>extends </a:t>
            </a:r>
            <a:r>
              <a:rPr lang="en" sz="1200" dirty="0">
                <a:solidFill>
                  <a:srgbClr val="FF0000"/>
                </a:solidFill>
                <a:highlight>
                  <a:srgbClr val="FFFF00"/>
                </a:highlight>
                <a:latin typeface="Courier New"/>
                <a:ea typeface="Courier New"/>
                <a:cs typeface="Courier New"/>
                <a:sym typeface="Courier New"/>
              </a:rPr>
              <a:t>Iterable</a:t>
            </a:r>
            <a:r>
              <a:rPr lang="en" sz="1200" dirty="0"/>
              <a:t>, but this introduces a </a:t>
            </a:r>
            <a:r>
              <a:rPr lang="en" sz="1200" b="1" i="1" dirty="0">
                <a:solidFill>
                  <a:srgbClr val="FF0000"/>
                </a:solidFill>
              </a:rPr>
              <a:t>problem</a:t>
            </a:r>
            <a:r>
              <a:rPr lang="en" sz="1200" dirty="0"/>
              <a:t>: any class that currently implements </a:t>
            </a:r>
            <a:r>
              <a:rPr lang="en" sz="1200" dirty="0">
                <a:latin typeface="Courier New"/>
                <a:ea typeface="Courier New"/>
                <a:cs typeface="Courier New"/>
                <a:sym typeface="Courier New"/>
              </a:rPr>
              <a:t>List</a:t>
            </a:r>
            <a:r>
              <a:rPr lang="en" sz="1200" dirty="0"/>
              <a:t> </a:t>
            </a:r>
            <a:r>
              <a:rPr lang="en" sz="1200" b="1" i="1" dirty="0">
                <a:solidFill>
                  <a:srgbClr val="FF0000"/>
                </a:solidFill>
              </a:rPr>
              <a:t>will no longer compile</a:t>
            </a:r>
            <a:r>
              <a:rPr lang="en" sz="1200" dirty="0"/>
              <a:t>!</a:t>
            </a:r>
            <a:endParaRPr sz="1200" dirty="0"/>
          </a:p>
          <a:p>
            <a:pPr marL="914400" lvl="1" indent="-298450" algn="l" rtl="0">
              <a:lnSpc>
                <a:spcPct val="100000"/>
              </a:lnSpc>
              <a:spcBef>
                <a:spcPts val="0"/>
              </a:spcBef>
              <a:spcAft>
                <a:spcPts val="0"/>
              </a:spcAft>
              <a:buSzPts val="1100"/>
              <a:buChar char="○"/>
            </a:pPr>
            <a:r>
              <a:rPr lang="en" b="1" i="1" dirty="0">
                <a:solidFill>
                  <a:srgbClr val="FF0000"/>
                </a:solidFill>
              </a:rPr>
              <a:t>Neither </a:t>
            </a:r>
            <a:r>
              <a:rPr lang="en" dirty="0">
                <a:latin typeface="Courier New"/>
                <a:ea typeface="Courier New"/>
                <a:cs typeface="Courier New"/>
                <a:sym typeface="Courier New"/>
              </a:rPr>
              <a:t>ArrayList</a:t>
            </a:r>
            <a:r>
              <a:rPr lang="en" dirty="0"/>
              <a:t> </a:t>
            </a:r>
            <a:r>
              <a:rPr lang="en" b="1" i="1" dirty="0">
                <a:solidFill>
                  <a:srgbClr val="FF0000"/>
                </a:solidFill>
              </a:rPr>
              <a:t>nor</a:t>
            </a:r>
            <a:r>
              <a:rPr lang="en" dirty="0"/>
              <a:t> </a:t>
            </a:r>
            <a:r>
              <a:rPr lang="en" dirty="0">
                <a:latin typeface="Courier New"/>
                <a:ea typeface="Courier New"/>
                <a:cs typeface="Courier New"/>
                <a:sym typeface="Courier New"/>
              </a:rPr>
              <a:t>LinkedList</a:t>
            </a:r>
            <a:r>
              <a:rPr lang="en" dirty="0"/>
              <a:t> currently provides an implementation of the </a:t>
            </a:r>
            <a:r>
              <a:rPr lang="en" dirty="0">
                <a:latin typeface="Courier New"/>
                <a:ea typeface="Courier New"/>
                <a:cs typeface="Courier New"/>
                <a:sym typeface="Courier New"/>
              </a:rPr>
              <a:t>iterator()</a:t>
            </a:r>
            <a:r>
              <a:rPr lang="en" dirty="0"/>
              <a:t> method, which would be required if </a:t>
            </a:r>
            <a:r>
              <a:rPr lang="en" dirty="0">
                <a:latin typeface="Courier New"/>
                <a:ea typeface="Courier New"/>
                <a:cs typeface="Courier New"/>
                <a:sym typeface="Courier New"/>
              </a:rPr>
              <a:t>List</a:t>
            </a:r>
            <a:r>
              <a:rPr lang="en" dirty="0"/>
              <a:t> extends </a:t>
            </a:r>
            <a:r>
              <a:rPr lang="en" dirty="0">
                <a:latin typeface="Courier New"/>
                <a:ea typeface="Courier New"/>
                <a:cs typeface="Courier New"/>
                <a:sym typeface="Courier New"/>
              </a:rPr>
              <a:t>Iterable</a:t>
            </a:r>
            <a:r>
              <a:rPr lang="en" dirty="0"/>
              <a:t>.</a:t>
            </a:r>
            <a:endParaRPr dirty="0"/>
          </a:p>
          <a:p>
            <a:pPr marL="457200" lvl="0" indent="-304800" algn="l" rtl="0">
              <a:lnSpc>
                <a:spcPct val="100000"/>
              </a:lnSpc>
              <a:spcBef>
                <a:spcPts val="1000"/>
              </a:spcBef>
              <a:spcAft>
                <a:spcPts val="0"/>
              </a:spcAft>
              <a:buSzPts val="1200"/>
              <a:buChar char="●"/>
            </a:pPr>
            <a:r>
              <a:rPr lang="en" sz="1200" dirty="0"/>
              <a:t>Java provides a mechanism to circumvent this problem: </a:t>
            </a:r>
            <a:r>
              <a:rPr lang="en" sz="1200" dirty="0">
                <a:solidFill>
                  <a:srgbClr val="FF0000"/>
                </a:solidFill>
                <a:highlight>
                  <a:srgbClr val="FFFF00"/>
                </a:highlight>
                <a:latin typeface="Courier New"/>
                <a:ea typeface="Courier New"/>
                <a:cs typeface="Courier New"/>
                <a:sym typeface="Courier New"/>
              </a:rPr>
              <a:t>default</a:t>
            </a:r>
            <a:r>
              <a:rPr lang="en" sz="1200" dirty="0">
                <a:solidFill>
                  <a:srgbClr val="FF0000"/>
                </a:solidFill>
                <a:highlight>
                  <a:srgbClr val="FFFF00"/>
                </a:highlight>
              </a:rPr>
              <a:t> </a:t>
            </a:r>
            <a:r>
              <a:rPr lang="en" sz="1200" b="1" i="1" dirty="0">
                <a:solidFill>
                  <a:srgbClr val="FF0000"/>
                </a:solidFill>
                <a:highlight>
                  <a:srgbClr val="FFFF00"/>
                </a:highlight>
              </a:rPr>
              <a:t>interface methods</a:t>
            </a:r>
            <a:r>
              <a:rPr lang="en" sz="1200" dirty="0">
                <a:highlight>
                  <a:srgbClr val="FFFF00"/>
                </a:highlight>
              </a:rPr>
              <a:t>.</a:t>
            </a:r>
            <a:endParaRPr sz="1200"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An interface may provide a</a:t>
            </a:r>
            <a:r>
              <a:rPr lang="en" dirty="0">
                <a:solidFill>
                  <a:srgbClr val="FF0000"/>
                </a:solidFill>
                <a:highlight>
                  <a:srgbClr val="FFFF00"/>
                </a:highlight>
              </a:rPr>
              <a:t> </a:t>
            </a:r>
            <a:r>
              <a:rPr lang="en" dirty="0">
                <a:solidFill>
                  <a:srgbClr val="FF0000"/>
                </a:solidFill>
                <a:highlight>
                  <a:srgbClr val="FFFF00"/>
                </a:highlight>
                <a:latin typeface="Courier New"/>
                <a:ea typeface="Courier New"/>
                <a:cs typeface="Courier New"/>
                <a:sym typeface="Courier New"/>
              </a:rPr>
              <a:t>default</a:t>
            </a:r>
            <a:r>
              <a:rPr lang="en" dirty="0">
                <a:solidFill>
                  <a:srgbClr val="FF0000"/>
                </a:solidFill>
                <a:highlight>
                  <a:srgbClr val="FFFF00"/>
                </a:highlight>
              </a:rPr>
              <a:t> </a:t>
            </a:r>
            <a:r>
              <a:rPr lang="en" b="1" i="1" dirty="0">
                <a:solidFill>
                  <a:srgbClr val="FF0000"/>
                </a:solidFill>
                <a:highlight>
                  <a:srgbClr val="FFFF00"/>
                </a:highlight>
              </a:rPr>
              <a:t>implementation</a:t>
            </a:r>
            <a:r>
              <a:rPr lang="en" dirty="0">
                <a:highlight>
                  <a:srgbClr val="FFFF00"/>
                </a:highlight>
              </a:rPr>
              <a:t> of one or more of its methods.</a:t>
            </a:r>
            <a:endParaRPr dirty="0">
              <a:highlight>
                <a:srgbClr val="FFFF00"/>
              </a:highlight>
            </a:endParaRPr>
          </a:p>
          <a:p>
            <a:pPr marL="914400" lvl="1" indent="-298450" algn="l" rtl="0">
              <a:lnSpc>
                <a:spcPct val="100000"/>
              </a:lnSpc>
              <a:spcBef>
                <a:spcPts val="0"/>
              </a:spcBef>
              <a:spcAft>
                <a:spcPts val="0"/>
              </a:spcAft>
              <a:buSzPts val="1100"/>
              <a:buChar char="○"/>
            </a:pPr>
            <a:r>
              <a:rPr lang="en" dirty="0">
                <a:highlight>
                  <a:srgbClr val="FFFF00"/>
                </a:highlight>
              </a:rPr>
              <a:t>If a class implements the interface but </a:t>
            </a:r>
            <a:r>
              <a:rPr lang="en" b="1" i="1" dirty="0">
                <a:solidFill>
                  <a:srgbClr val="FF0000"/>
                </a:solidFill>
                <a:highlight>
                  <a:srgbClr val="FFFF00"/>
                </a:highlight>
              </a:rPr>
              <a:t>does not</a:t>
            </a:r>
            <a:r>
              <a:rPr lang="en" dirty="0">
                <a:highlight>
                  <a:srgbClr val="FFFF00"/>
                </a:highlight>
              </a:rPr>
              <a:t> provide an implementation of a default method, the default implementation is used by...well, </a:t>
            </a:r>
            <a:r>
              <a:rPr lang="en" b="1" i="1" dirty="0">
                <a:solidFill>
                  <a:srgbClr val="FF0000"/>
                </a:solidFill>
                <a:highlight>
                  <a:srgbClr val="FFFF00"/>
                </a:highlight>
              </a:rPr>
              <a:t>default</a:t>
            </a:r>
            <a:r>
              <a:rPr lang="en" dirty="0">
                <a:highlight>
                  <a:srgbClr val="FFFF00"/>
                </a:highlight>
              </a:rPr>
              <a:t>.</a:t>
            </a:r>
            <a:endParaRPr dirty="0">
              <a:highlight>
                <a:srgbClr val="FFFF00"/>
              </a:highlight>
            </a:endParaRPr>
          </a:p>
        </p:txBody>
      </p:sp>
      <p:sp>
        <p:nvSpPr>
          <p:cNvPr id="1161" name="Google Shape;1161;p106"/>
          <p:cNvSpPr txBox="1">
            <a:spLocks noGrp="1"/>
          </p:cNvSpPr>
          <p:nvPr>
            <p:ph type="sldNum" idx="12"/>
          </p:nvPr>
        </p:nvSpPr>
        <p:spPr>
          <a:xfrm>
            <a:off x="8568802" y="4716935"/>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49</a:t>
            </a:fld>
            <a:endParaRPr dirty="0"/>
          </a:p>
        </p:txBody>
      </p:sp>
      <p:sp>
        <p:nvSpPr>
          <p:cNvPr id="1162" name="Google Shape;1162;p106"/>
          <p:cNvSpPr txBox="1">
            <a:spLocks noGrp="1"/>
          </p:cNvSpPr>
          <p:nvPr>
            <p:ph type="body" idx="2"/>
          </p:nvPr>
        </p:nvSpPr>
        <p:spPr>
          <a:xfrm>
            <a:off x="150975" y="1679834"/>
            <a:ext cx="3963900" cy="13854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300"/>
              <a:buNone/>
            </a:pPr>
            <a:r>
              <a:rPr lang="en" sz="1000" dirty="0">
                <a:solidFill>
                  <a:srgbClr val="38761D"/>
                </a:solidFill>
                <a:latin typeface="Consolas"/>
                <a:ea typeface="Consolas"/>
                <a:cs typeface="Consolas"/>
                <a:sym typeface="Consolas"/>
              </a:rPr>
              <a:t>1  </a:t>
            </a:r>
            <a:r>
              <a:rPr lang="en" sz="1000" dirty="0">
                <a:solidFill>
                  <a:srgbClr val="0000FF"/>
                </a:solidFill>
                <a:latin typeface="Consolas"/>
                <a:ea typeface="Consolas"/>
                <a:cs typeface="Consolas"/>
                <a:sym typeface="Consolas"/>
              </a:rPr>
              <a:t>public</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interface</a:t>
            </a:r>
            <a:r>
              <a:rPr lang="en" sz="1000" dirty="0">
                <a:solidFill>
                  <a:srgbClr val="000000"/>
                </a:solidFill>
                <a:latin typeface="Consolas"/>
                <a:ea typeface="Consolas"/>
                <a:cs typeface="Consolas"/>
                <a:sym typeface="Consolas"/>
              </a:rPr>
              <a:t> B </a:t>
            </a:r>
            <a:r>
              <a:rPr lang="en" sz="1000" dirty="0">
                <a:solidFill>
                  <a:srgbClr val="0000FF"/>
                </a:solidFill>
                <a:latin typeface="Consolas"/>
                <a:ea typeface="Consolas"/>
                <a:cs typeface="Consolas"/>
                <a:sym typeface="Consolas"/>
              </a:rPr>
              <a:t>extends</a:t>
            </a:r>
            <a:r>
              <a:rPr lang="en" sz="1000" dirty="0">
                <a:solidFill>
                  <a:srgbClr val="000000"/>
                </a:solidFill>
                <a:latin typeface="Consolas"/>
                <a:ea typeface="Consolas"/>
                <a:cs typeface="Consolas"/>
                <a:sym typeface="Consolas"/>
              </a:rPr>
              <a:t> A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2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void</a:t>
            </a:r>
            <a:r>
              <a:rPr lang="en" sz="1000" dirty="0">
                <a:solidFill>
                  <a:srgbClr val="000000"/>
                </a:solidFill>
                <a:latin typeface="Consolas"/>
                <a:ea typeface="Consolas"/>
                <a:cs typeface="Consolas"/>
                <a:sym typeface="Consolas"/>
              </a:rPr>
              <a:t> bar();</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3  </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4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Override</a:t>
            </a:r>
            <a:endParaRPr sz="1000" dirty="0">
              <a:solidFill>
                <a:srgbClr val="0000FF"/>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5  </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default</a:t>
            </a:r>
            <a:r>
              <a:rPr lang="en" sz="1000" dirty="0">
                <a:solidFill>
                  <a:srgbClr val="000000"/>
                </a:solidFill>
                <a:latin typeface="Consolas"/>
                <a:ea typeface="Consolas"/>
                <a:cs typeface="Consolas"/>
                <a:sym typeface="Consolas"/>
              </a:rPr>
              <a:t> </a:t>
            </a:r>
            <a:r>
              <a:rPr lang="en" sz="1000" dirty="0">
                <a:solidFill>
                  <a:srgbClr val="0000FF"/>
                </a:solidFill>
                <a:latin typeface="Consolas"/>
                <a:ea typeface="Consolas"/>
                <a:cs typeface="Consolas"/>
                <a:sym typeface="Consolas"/>
              </a:rPr>
              <a:t>void</a:t>
            </a:r>
            <a:r>
              <a:rPr lang="en" sz="1000" dirty="0">
                <a:solidFill>
                  <a:srgbClr val="000000"/>
                </a:solidFill>
                <a:latin typeface="Consolas"/>
                <a:ea typeface="Consolas"/>
                <a:cs typeface="Consolas"/>
                <a:sym typeface="Consolas"/>
              </a:rPr>
              <a:t> foo()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6  </a:t>
            </a:r>
            <a:r>
              <a:rPr lang="en" sz="1000" dirty="0">
                <a:solidFill>
                  <a:srgbClr val="000000"/>
                </a:solidFill>
                <a:latin typeface="Consolas"/>
                <a:ea typeface="Consolas"/>
                <a:cs typeface="Consolas"/>
                <a:sym typeface="Consolas"/>
              </a:rPr>
              <a:t>      System.out.println(</a:t>
            </a:r>
            <a:r>
              <a:rPr lang="en" sz="1000" dirty="0">
                <a:solidFill>
                  <a:srgbClr val="A31515"/>
                </a:solidFill>
                <a:latin typeface="Consolas"/>
                <a:ea typeface="Consolas"/>
                <a:cs typeface="Consolas"/>
                <a:sym typeface="Consolas"/>
              </a:rPr>
              <a:t>"Default bar!"</a:t>
            </a:r>
            <a:r>
              <a:rPr lang="en" sz="1000" dirty="0">
                <a:solidFill>
                  <a:srgbClr val="000000"/>
                </a:solidFill>
                <a:latin typeface="Consolas"/>
                <a:ea typeface="Consolas"/>
                <a:cs typeface="Consolas"/>
                <a:sym typeface="Consolas"/>
              </a:rPr>
              <a:t>);</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7  </a:t>
            </a:r>
            <a:r>
              <a:rPr lang="en" sz="1000" dirty="0">
                <a:solidFill>
                  <a:srgbClr val="000000"/>
                </a:solidFill>
                <a:latin typeface="Consolas"/>
                <a:ea typeface="Consolas"/>
                <a:cs typeface="Consolas"/>
                <a:sym typeface="Consolas"/>
              </a:rPr>
              <a:t>   }</a:t>
            </a:r>
            <a:endParaRPr sz="10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8  </a:t>
            </a:r>
            <a:r>
              <a:rPr lang="en" sz="1000" dirty="0">
                <a:solidFill>
                  <a:srgbClr val="000000"/>
                </a:solidFill>
                <a:latin typeface="Consolas"/>
                <a:ea typeface="Consolas"/>
                <a:cs typeface="Consolas"/>
                <a:sym typeface="Consolas"/>
              </a:rPr>
              <a:t>}</a:t>
            </a:r>
            <a:endParaRPr sz="1000" dirty="0">
              <a:solidFill>
                <a:srgbClr val="569CD6"/>
              </a:solidFill>
              <a:latin typeface="Consolas"/>
              <a:ea typeface="Consolas"/>
              <a:cs typeface="Consolas"/>
              <a:sym typeface="Consolas"/>
            </a:endParaRPr>
          </a:p>
        </p:txBody>
      </p:sp>
      <p:sp>
        <p:nvSpPr>
          <p:cNvPr id="1163" name="Google Shape;1163;p106"/>
          <p:cNvSpPr txBox="1">
            <a:spLocks noGrp="1"/>
          </p:cNvSpPr>
          <p:nvPr>
            <p:ph type="body" idx="3"/>
          </p:nvPr>
        </p:nvSpPr>
        <p:spPr>
          <a:xfrm>
            <a:off x="150975" y="4003625"/>
            <a:ext cx="3963900" cy="8286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dirty="0"/>
              <a:t>A class that implements the interface </a:t>
            </a:r>
            <a:r>
              <a:rPr lang="en" b="1" i="1" dirty="0">
                <a:solidFill>
                  <a:srgbClr val="FF0000"/>
                </a:solidFill>
                <a:highlight>
                  <a:srgbClr val="FFFF00"/>
                </a:highlight>
              </a:rPr>
              <a:t>may</a:t>
            </a:r>
            <a:r>
              <a:rPr lang="en" dirty="0">
                <a:solidFill>
                  <a:srgbClr val="FF0000"/>
                </a:solidFill>
                <a:highlight>
                  <a:srgbClr val="FFFF00"/>
                </a:highlight>
              </a:rPr>
              <a:t> </a:t>
            </a:r>
            <a:r>
              <a:rPr lang="en" dirty="0">
                <a:highlight>
                  <a:srgbClr val="FFFF00"/>
                </a:highlight>
              </a:rPr>
              <a:t>or </a:t>
            </a:r>
            <a:r>
              <a:rPr lang="en" b="1" i="1" dirty="0">
                <a:solidFill>
                  <a:srgbClr val="FF0000"/>
                </a:solidFill>
                <a:highlight>
                  <a:srgbClr val="FFFF00"/>
                </a:highlight>
              </a:rPr>
              <a:t>may not</a:t>
            </a:r>
            <a:r>
              <a:rPr lang="en" dirty="0">
                <a:highlight>
                  <a:srgbClr val="FFFF00"/>
                </a:highlight>
              </a:rPr>
              <a:t> </a:t>
            </a:r>
            <a:r>
              <a:rPr lang="en" dirty="0"/>
              <a:t>provide an implementation for any default methods. If no implementation is provided by the class, the default version in the interface is used.</a:t>
            </a:r>
            <a:endParaRPr dirty="0"/>
          </a:p>
        </p:txBody>
      </p:sp>
      <p:sp>
        <p:nvSpPr>
          <p:cNvPr id="1164" name="Google Shape;1164;p106"/>
          <p:cNvSpPr txBox="1">
            <a:spLocks noGrp="1"/>
          </p:cNvSpPr>
          <p:nvPr>
            <p:ph type="body" idx="3"/>
          </p:nvPr>
        </p:nvSpPr>
        <p:spPr>
          <a:xfrm>
            <a:off x="150975" y="847084"/>
            <a:ext cx="3963900" cy="719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dirty="0"/>
              <a:t>One interface may </a:t>
            </a:r>
            <a:r>
              <a:rPr lang="en" b="1" i="1" dirty="0">
                <a:solidFill>
                  <a:srgbClr val="FF0000"/>
                </a:solidFill>
              </a:rPr>
              <a:t>extend</a:t>
            </a:r>
            <a:r>
              <a:rPr lang="en" dirty="0"/>
              <a:t> another to inherit its methods and establish an </a:t>
            </a:r>
            <a:r>
              <a:rPr lang="en" b="1" i="1" dirty="0">
                <a:solidFill>
                  <a:srgbClr val="FF0000"/>
                </a:solidFill>
              </a:rPr>
              <a:t>inheritance relationship</a:t>
            </a:r>
            <a:r>
              <a:rPr lang="en" dirty="0"/>
              <a:t>, i.e. </a:t>
            </a:r>
            <a:r>
              <a:rPr lang="en" dirty="0">
                <a:latin typeface="Courier New"/>
                <a:ea typeface="Courier New"/>
                <a:cs typeface="Courier New"/>
                <a:sym typeface="Courier New"/>
              </a:rPr>
              <a:t>B</a:t>
            </a:r>
            <a:r>
              <a:rPr lang="en" dirty="0"/>
              <a:t> will work with code written for </a:t>
            </a:r>
            <a:r>
              <a:rPr lang="en" dirty="0">
                <a:latin typeface="Courier New"/>
                <a:ea typeface="Courier New"/>
                <a:cs typeface="Courier New"/>
                <a:sym typeface="Courier New"/>
              </a:rPr>
              <a:t>A</a:t>
            </a:r>
            <a:r>
              <a:rPr lang="en" dirty="0"/>
              <a:t>.</a:t>
            </a:r>
            <a:endParaRPr dirty="0"/>
          </a:p>
        </p:txBody>
      </p:sp>
      <p:sp>
        <p:nvSpPr>
          <p:cNvPr id="1165" name="Google Shape;1165;p106"/>
          <p:cNvSpPr txBox="1">
            <a:spLocks noGrp="1"/>
          </p:cNvSpPr>
          <p:nvPr>
            <p:ph type="body" idx="3"/>
          </p:nvPr>
        </p:nvSpPr>
        <p:spPr>
          <a:xfrm>
            <a:off x="150975" y="3178284"/>
            <a:ext cx="3963900" cy="719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dirty="0"/>
              <a:t>A Java interface may use the </a:t>
            </a:r>
            <a:r>
              <a:rPr lang="en" dirty="0">
                <a:solidFill>
                  <a:srgbClr val="FF0000"/>
                </a:solidFill>
                <a:latin typeface="Courier New"/>
                <a:ea typeface="Courier New"/>
                <a:cs typeface="Courier New"/>
                <a:sym typeface="Courier New"/>
              </a:rPr>
              <a:t>default</a:t>
            </a:r>
            <a:r>
              <a:rPr lang="en" dirty="0">
                <a:solidFill>
                  <a:srgbClr val="FF0000"/>
                </a:solidFill>
              </a:rPr>
              <a:t> </a:t>
            </a:r>
            <a:r>
              <a:rPr lang="en" b="1" i="1" dirty="0">
                <a:solidFill>
                  <a:srgbClr val="FF0000"/>
                </a:solidFill>
              </a:rPr>
              <a:t>modifier</a:t>
            </a:r>
            <a:r>
              <a:rPr lang="en" b="1" i="1" dirty="0"/>
              <a:t> </a:t>
            </a:r>
            <a:r>
              <a:rPr lang="en" dirty="0"/>
              <a:t>on a method to provide a default implementation of that method.</a:t>
            </a:r>
            <a:endParaRPr dirty="0"/>
          </a:p>
        </p:txBody>
      </p:sp>
      <p:grpSp>
        <p:nvGrpSpPr>
          <p:cNvPr id="1166" name="Google Shape;1166;p106"/>
          <p:cNvGrpSpPr/>
          <p:nvPr/>
        </p:nvGrpSpPr>
        <p:grpSpPr>
          <a:xfrm>
            <a:off x="1749664" y="1564075"/>
            <a:ext cx="548700" cy="369300"/>
            <a:chOff x="2923900" y="1564075"/>
            <a:chExt cx="548700" cy="369300"/>
          </a:xfrm>
        </p:grpSpPr>
        <p:sp>
          <p:nvSpPr>
            <p:cNvPr id="1167" name="Google Shape;1167;p106"/>
            <p:cNvSpPr/>
            <p:nvPr/>
          </p:nvSpPr>
          <p:spPr>
            <a:xfrm>
              <a:off x="2923900" y="1765375"/>
              <a:ext cx="548700" cy="168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168" name="Google Shape;1168;p106"/>
            <p:cNvCxnSpPr>
              <a:stCxn id="1167" idx="0"/>
            </p:cNvCxnSpPr>
            <p:nvPr/>
          </p:nvCxnSpPr>
          <p:spPr>
            <a:xfrm rot="10800000">
              <a:off x="3198250" y="1564075"/>
              <a:ext cx="0" cy="201300"/>
            </a:xfrm>
            <a:prstGeom prst="straightConnector1">
              <a:avLst/>
            </a:prstGeom>
            <a:noFill/>
            <a:ln w="19050" cap="flat" cmpd="sng">
              <a:solidFill>
                <a:srgbClr val="FF0000"/>
              </a:solidFill>
              <a:prstDash val="solid"/>
              <a:round/>
              <a:headEnd type="none" w="med" len="med"/>
              <a:tailEnd type="none" w="med" len="med"/>
            </a:ln>
          </p:spPr>
        </p:cxnSp>
      </p:grpSp>
      <p:grpSp>
        <p:nvGrpSpPr>
          <p:cNvPr id="1169" name="Google Shape;1169;p106"/>
          <p:cNvGrpSpPr/>
          <p:nvPr/>
        </p:nvGrpSpPr>
        <p:grpSpPr>
          <a:xfrm>
            <a:off x="372384" y="2383606"/>
            <a:ext cx="816000" cy="785100"/>
            <a:chOff x="372384" y="2383606"/>
            <a:chExt cx="816000" cy="785100"/>
          </a:xfrm>
        </p:grpSpPr>
        <p:sp>
          <p:nvSpPr>
            <p:cNvPr id="1170" name="Google Shape;1170;p106"/>
            <p:cNvSpPr/>
            <p:nvPr/>
          </p:nvSpPr>
          <p:spPr>
            <a:xfrm>
              <a:off x="639684" y="2383606"/>
              <a:ext cx="548700" cy="168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171" name="Google Shape;1171;p106"/>
            <p:cNvCxnSpPr>
              <a:stCxn id="1170" idx="1"/>
            </p:cNvCxnSpPr>
            <p:nvPr/>
          </p:nvCxnSpPr>
          <p:spPr>
            <a:xfrm flipH="1">
              <a:off x="372384" y="2467606"/>
              <a:ext cx="267300" cy="701100"/>
            </a:xfrm>
            <a:prstGeom prst="bentConnector2">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6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6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6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6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6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6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6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6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164"/>
                                        </p:tgtEl>
                                        <p:attrNameLst>
                                          <p:attrName>style.visibility</p:attrName>
                                        </p:attrNameLst>
                                      </p:cBhvr>
                                      <p:to>
                                        <p:strVal val="visible"/>
                                      </p:to>
                                    </p:set>
                                    <p:animEffect transition="in" filter="fade">
                                      <p:cBhvr>
                                        <p:cTn id="51" dur="1000"/>
                                        <p:tgtEl>
                                          <p:spTgt spid="1164"/>
                                        </p:tgtEl>
                                      </p:cBhvr>
                                    </p:animEffect>
                                  </p:childTnLst>
                                </p:cTn>
                              </p:par>
                              <p:par>
                                <p:cTn id="52" presetID="10" presetClass="entr" presetSubtype="0" fill="hold" nodeType="withEffect">
                                  <p:stCondLst>
                                    <p:cond delay="0"/>
                                  </p:stCondLst>
                                  <p:childTnLst>
                                    <p:set>
                                      <p:cBhvr>
                                        <p:cTn id="53" dur="1" fill="hold">
                                          <p:stCondLst>
                                            <p:cond delay="0"/>
                                          </p:stCondLst>
                                        </p:cTn>
                                        <p:tgtEl>
                                          <p:spTgt spid="1162"/>
                                        </p:tgtEl>
                                        <p:attrNameLst>
                                          <p:attrName>style.visibility</p:attrName>
                                        </p:attrNameLst>
                                      </p:cBhvr>
                                      <p:to>
                                        <p:strVal val="visible"/>
                                      </p:to>
                                    </p:set>
                                    <p:animEffect transition="in" filter="fade">
                                      <p:cBhvr>
                                        <p:cTn id="54" dur="1000"/>
                                        <p:tgtEl>
                                          <p:spTgt spid="1162"/>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1166"/>
                                        </p:tgtEl>
                                        <p:attrNameLst>
                                          <p:attrName>style.visibility</p:attrName>
                                        </p:attrNameLst>
                                      </p:cBhvr>
                                      <p:to>
                                        <p:strVal val="visible"/>
                                      </p:to>
                                    </p:set>
                                    <p:animEffect transition="in" filter="fade">
                                      <p:cBhvr>
                                        <p:cTn id="58" dur="1000"/>
                                        <p:tgtEl>
                                          <p:spTgt spid="116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165"/>
                                        </p:tgtEl>
                                        <p:attrNameLst>
                                          <p:attrName>style.visibility</p:attrName>
                                        </p:attrNameLst>
                                      </p:cBhvr>
                                      <p:to>
                                        <p:strVal val="visible"/>
                                      </p:to>
                                    </p:set>
                                    <p:animEffect transition="in" filter="fade">
                                      <p:cBhvr>
                                        <p:cTn id="63" dur="1000"/>
                                        <p:tgtEl>
                                          <p:spTgt spid="1165"/>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1169"/>
                                        </p:tgtEl>
                                        <p:attrNameLst>
                                          <p:attrName>style.visibility</p:attrName>
                                        </p:attrNameLst>
                                      </p:cBhvr>
                                      <p:to>
                                        <p:strVal val="visible"/>
                                      </p:to>
                                    </p:set>
                                    <p:animEffect transition="in" filter="fade">
                                      <p:cBhvr>
                                        <p:cTn id="67" dur="1000"/>
                                        <p:tgtEl>
                                          <p:spTgt spid="116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163"/>
                                        </p:tgtEl>
                                        <p:attrNameLst>
                                          <p:attrName>style.visibility</p:attrName>
                                        </p:attrNameLst>
                                      </p:cBhvr>
                                      <p:to>
                                        <p:strVal val="visible"/>
                                      </p:to>
                                    </p:set>
                                    <p:animEffect transition="in" filter="fade">
                                      <p:cBhvr>
                                        <p:cTn id="72" dur="1000"/>
                                        <p:tgtEl>
                                          <p:spTgt spid="1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107"/>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 Closer Look at Default Methods</a:t>
            </a:r>
            <a:endParaRPr/>
          </a:p>
        </p:txBody>
      </p:sp>
      <p:sp>
        <p:nvSpPr>
          <p:cNvPr id="1177" name="Google Shape;1177;p10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50</a:t>
            </a:fld>
            <a:endParaRPr/>
          </a:p>
        </p:txBody>
      </p:sp>
      <p:sp>
        <p:nvSpPr>
          <p:cNvPr id="1178" name="Google Shape;1178;p107"/>
          <p:cNvSpPr txBox="1">
            <a:spLocks noGrp="1"/>
          </p:cNvSpPr>
          <p:nvPr>
            <p:ph type="body" idx="4294967295"/>
          </p:nvPr>
        </p:nvSpPr>
        <p:spPr>
          <a:xfrm>
            <a:off x="4881125" y="2011484"/>
            <a:ext cx="3706500" cy="1777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interface</a:t>
            </a:r>
            <a:r>
              <a:rPr lang="en" sz="1000">
                <a:solidFill>
                  <a:srgbClr val="000000"/>
                </a:solidFill>
                <a:latin typeface="Consolas"/>
                <a:ea typeface="Consolas"/>
                <a:cs typeface="Consolas"/>
                <a:sym typeface="Consolas"/>
              </a:rPr>
              <a:t> B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2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bar();</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3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4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default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foo()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5  </a:t>
            </a:r>
            <a:r>
              <a:rPr lang="en" sz="1000">
                <a:solidFill>
                  <a:srgbClr val="000000"/>
                </a:solidFill>
                <a:latin typeface="Consolas"/>
                <a:ea typeface="Consolas"/>
                <a:cs typeface="Consolas"/>
                <a:sym typeface="Consolas"/>
              </a:rPr>
              <a:t>      System.out.println(</a:t>
            </a:r>
            <a:r>
              <a:rPr lang="en" sz="1000">
                <a:solidFill>
                  <a:srgbClr val="A31515"/>
                </a:solidFill>
                <a:latin typeface="Consolas"/>
                <a:ea typeface="Consolas"/>
                <a:cs typeface="Consolas"/>
                <a:sym typeface="Consolas"/>
              </a:rPr>
              <a:t>"Default foo!"</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6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7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8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default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bell()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9  </a:t>
            </a:r>
            <a:r>
              <a:rPr lang="en" sz="1000">
                <a:solidFill>
                  <a:srgbClr val="000000"/>
                </a:solidFill>
                <a:latin typeface="Consolas"/>
                <a:ea typeface="Consolas"/>
                <a:cs typeface="Consolas"/>
                <a:sym typeface="Consolas"/>
              </a:rPr>
              <a:t>      System.out.println(</a:t>
            </a:r>
            <a:r>
              <a:rPr lang="en" sz="1000">
                <a:solidFill>
                  <a:srgbClr val="A31515"/>
                </a:solidFill>
                <a:latin typeface="Consolas"/>
                <a:ea typeface="Consolas"/>
                <a:cs typeface="Consolas"/>
                <a:sym typeface="Consolas"/>
              </a:rPr>
              <a:t>"Default bell!"</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10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11 </a:t>
            </a:r>
            <a:r>
              <a:rPr lang="en" sz="1000">
                <a:solidFill>
                  <a:srgbClr val="000000"/>
                </a:solidFill>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179" name="Google Shape;1179;p107"/>
          <p:cNvSpPr txBox="1">
            <a:spLocks noGrp="1"/>
          </p:cNvSpPr>
          <p:nvPr>
            <p:ph type="body" idx="4294967295"/>
          </p:nvPr>
        </p:nvSpPr>
        <p:spPr>
          <a:xfrm>
            <a:off x="4881125" y="1333937"/>
            <a:ext cx="3706500" cy="623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interface</a:t>
            </a:r>
            <a:r>
              <a:rPr lang="en" sz="1000">
                <a:solidFill>
                  <a:srgbClr val="000000"/>
                </a:solidFill>
                <a:latin typeface="Consolas"/>
                <a:ea typeface="Consolas"/>
                <a:cs typeface="Consolas"/>
                <a:sym typeface="Consolas"/>
              </a:rPr>
              <a:t> A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2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foo();</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38761D"/>
                </a:solidFill>
                <a:latin typeface="Consolas"/>
                <a:ea typeface="Consolas"/>
                <a:cs typeface="Consolas"/>
                <a:sym typeface="Consolas"/>
              </a:rPr>
              <a:t>3  </a:t>
            </a:r>
            <a:r>
              <a:rPr lang="en" sz="1000">
                <a:solidFill>
                  <a:srgbClr val="000000"/>
                </a:solidFill>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180" name="Google Shape;1180;p107"/>
          <p:cNvSpPr txBox="1">
            <a:spLocks noGrp="1"/>
          </p:cNvSpPr>
          <p:nvPr>
            <p:ph type="body" idx="4294967295"/>
          </p:nvPr>
        </p:nvSpPr>
        <p:spPr>
          <a:xfrm>
            <a:off x="464113" y="3390275"/>
            <a:ext cx="3741600" cy="695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solidFill>
                  <a:srgbClr val="000000"/>
                </a:solidFill>
                <a:highlight>
                  <a:srgbClr val="FFFF00"/>
                </a:highlight>
                <a:latin typeface="Arial"/>
                <a:ea typeface="Arial"/>
                <a:cs typeface="Arial"/>
                <a:sym typeface="Arial"/>
              </a:rPr>
              <a:t>Default methods are typically used when adding </a:t>
            </a:r>
            <a:r>
              <a:rPr lang="en" sz="1200" b="1" i="1" dirty="0">
                <a:solidFill>
                  <a:srgbClr val="FF0000"/>
                </a:solidFill>
                <a:highlight>
                  <a:srgbClr val="FFFF00"/>
                </a:highlight>
                <a:latin typeface="Arial"/>
                <a:ea typeface="Arial"/>
                <a:cs typeface="Arial"/>
                <a:sym typeface="Arial"/>
              </a:rPr>
              <a:t>new</a:t>
            </a:r>
            <a:r>
              <a:rPr lang="en" sz="1200" dirty="0">
                <a:solidFill>
                  <a:srgbClr val="FF0000"/>
                </a:solidFill>
                <a:highlight>
                  <a:srgbClr val="FFFF00"/>
                </a:highlight>
                <a:latin typeface="Arial"/>
                <a:ea typeface="Arial"/>
                <a:cs typeface="Arial"/>
                <a:sym typeface="Arial"/>
              </a:rPr>
              <a:t> </a:t>
            </a:r>
            <a:r>
              <a:rPr lang="en" sz="1200" dirty="0">
                <a:solidFill>
                  <a:srgbClr val="000000"/>
                </a:solidFill>
                <a:highlight>
                  <a:srgbClr val="FFFF00"/>
                </a:highlight>
                <a:latin typeface="Arial"/>
                <a:ea typeface="Arial"/>
                <a:cs typeface="Arial"/>
                <a:sym typeface="Arial"/>
              </a:rPr>
              <a:t>methods to an </a:t>
            </a:r>
            <a:r>
              <a:rPr lang="en" sz="1200" b="1" i="1" dirty="0">
                <a:solidFill>
                  <a:srgbClr val="FF0000"/>
                </a:solidFill>
                <a:highlight>
                  <a:srgbClr val="FFFF00"/>
                </a:highlight>
                <a:latin typeface="Arial"/>
                <a:ea typeface="Arial"/>
                <a:cs typeface="Arial"/>
                <a:sym typeface="Arial"/>
              </a:rPr>
              <a:t>existing</a:t>
            </a:r>
            <a:r>
              <a:rPr lang="en" sz="1200" dirty="0">
                <a:solidFill>
                  <a:srgbClr val="FF0000"/>
                </a:solidFill>
                <a:highlight>
                  <a:srgbClr val="FFFF00"/>
                </a:highlight>
                <a:latin typeface="Arial"/>
                <a:ea typeface="Arial"/>
                <a:cs typeface="Arial"/>
                <a:sym typeface="Arial"/>
              </a:rPr>
              <a:t> </a:t>
            </a:r>
            <a:r>
              <a:rPr lang="en" sz="1200" dirty="0">
                <a:solidFill>
                  <a:srgbClr val="000000"/>
                </a:solidFill>
                <a:highlight>
                  <a:srgbClr val="FFFF00"/>
                </a:highlight>
                <a:latin typeface="Arial"/>
                <a:ea typeface="Arial"/>
                <a:cs typeface="Arial"/>
                <a:sym typeface="Arial"/>
              </a:rPr>
              <a:t>interface to avoid causing compilation errors in existing classes.</a:t>
            </a:r>
            <a:endParaRPr dirty="0">
              <a:highlight>
                <a:srgbClr val="FFFF00"/>
              </a:highlight>
              <a:latin typeface="Arial"/>
              <a:ea typeface="Arial"/>
              <a:cs typeface="Arial"/>
              <a:sym typeface="Arial"/>
            </a:endParaRPr>
          </a:p>
        </p:txBody>
      </p:sp>
      <p:sp>
        <p:nvSpPr>
          <p:cNvPr id="1181" name="Google Shape;1181;p107"/>
          <p:cNvSpPr txBox="1">
            <a:spLocks noGrp="1"/>
          </p:cNvSpPr>
          <p:nvPr>
            <p:ph type="body" idx="4294967295"/>
          </p:nvPr>
        </p:nvSpPr>
        <p:spPr>
          <a:xfrm>
            <a:off x="4881125" y="3842841"/>
            <a:ext cx="3706500" cy="11982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000" dirty="0">
                <a:solidFill>
                  <a:srgbClr val="38761D"/>
                </a:solidFill>
                <a:latin typeface="Consolas"/>
                <a:ea typeface="Consolas"/>
                <a:cs typeface="Consolas"/>
                <a:sym typeface="Consolas"/>
              </a:rPr>
              <a:t>1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solidFill>
                  <a:srgbClr val="000000"/>
                </a:solidFill>
                <a:latin typeface="Consolas"/>
                <a:ea typeface="Consolas"/>
                <a:cs typeface="Consolas"/>
                <a:sym typeface="Consolas"/>
              </a:rPr>
              <a:t> C </a:t>
            </a:r>
            <a:r>
              <a:rPr lang="en" sz="1050" dirty="0">
                <a:solidFill>
                  <a:srgbClr val="0000FF"/>
                </a:solidFill>
                <a:latin typeface="Consolas"/>
                <a:ea typeface="Consolas"/>
                <a:cs typeface="Consolas"/>
                <a:sym typeface="Consolas"/>
              </a:rPr>
              <a:t>implements</a:t>
            </a:r>
            <a:r>
              <a:rPr lang="en" sz="1050" dirty="0">
                <a:solidFill>
                  <a:srgbClr val="000000"/>
                </a:solidFill>
                <a:latin typeface="Consolas"/>
                <a:ea typeface="Consolas"/>
                <a:cs typeface="Consolas"/>
                <a:sym typeface="Consolas"/>
              </a:rPr>
              <a:t> B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2</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Override</a:t>
            </a:r>
            <a:endParaRPr sz="1050" dirty="0">
              <a:solidFill>
                <a:srgbClr val="0000FF"/>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3</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void</a:t>
            </a:r>
            <a:r>
              <a:rPr lang="en" sz="1050" dirty="0">
                <a:solidFill>
                  <a:srgbClr val="000000"/>
                </a:solidFill>
                <a:latin typeface="Consolas"/>
                <a:ea typeface="Consolas"/>
                <a:cs typeface="Consolas"/>
                <a:sym typeface="Consolas"/>
              </a:rPr>
              <a:t> bar()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4</a:t>
            </a:r>
            <a:r>
              <a:rPr lang="en" sz="1050" dirty="0">
                <a:solidFill>
                  <a:srgbClr val="000000"/>
                </a:solidFill>
                <a:latin typeface="Consolas"/>
                <a:ea typeface="Consolas"/>
                <a:cs typeface="Consolas"/>
                <a:sym typeface="Consolas"/>
              </a:rPr>
              <a:t>        System.out.println(</a:t>
            </a:r>
            <a:r>
              <a:rPr lang="en" sz="1050" dirty="0">
                <a:solidFill>
                  <a:srgbClr val="A31515"/>
                </a:solidFill>
                <a:latin typeface="Consolas"/>
                <a:ea typeface="Consolas"/>
                <a:cs typeface="Consolas"/>
                <a:sym typeface="Consolas"/>
              </a:rPr>
              <a:t>"Concrete bar!"</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5 </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dirty="0">
                <a:solidFill>
                  <a:srgbClr val="38761D"/>
                </a:solidFill>
                <a:latin typeface="Consolas"/>
                <a:ea typeface="Consolas"/>
                <a:cs typeface="Consolas"/>
                <a:sym typeface="Consolas"/>
              </a:rPr>
              <a:t>6 </a:t>
            </a:r>
            <a:r>
              <a:rPr lang="en" sz="1050" dirty="0">
                <a:solidFill>
                  <a:srgbClr val="000000"/>
                </a:solidFill>
                <a:latin typeface="Consolas"/>
                <a:ea typeface="Consolas"/>
                <a:cs typeface="Consolas"/>
                <a:sym typeface="Consolas"/>
              </a:rPr>
              <a:t> }</a:t>
            </a:r>
            <a:endParaRPr sz="1000" dirty="0">
              <a:solidFill>
                <a:srgbClr val="569CD6"/>
              </a:solidFill>
              <a:latin typeface="Consolas"/>
              <a:ea typeface="Consolas"/>
              <a:cs typeface="Consolas"/>
              <a:sym typeface="Consolas"/>
            </a:endParaRPr>
          </a:p>
        </p:txBody>
      </p:sp>
      <p:sp>
        <p:nvSpPr>
          <p:cNvPr id="1182" name="Google Shape;1182;p107"/>
          <p:cNvSpPr txBox="1">
            <a:spLocks noGrp="1"/>
          </p:cNvSpPr>
          <p:nvPr>
            <p:ph type="body" idx="4294967295"/>
          </p:nvPr>
        </p:nvSpPr>
        <p:spPr>
          <a:xfrm>
            <a:off x="464125" y="1486325"/>
            <a:ext cx="3741600" cy="461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In Java, one interface may </a:t>
            </a:r>
            <a:r>
              <a:rPr lang="en" sz="1200" b="1" i="1">
                <a:solidFill>
                  <a:srgbClr val="FF0000"/>
                </a:solidFill>
                <a:latin typeface="Arial"/>
                <a:ea typeface="Arial"/>
                <a:cs typeface="Arial"/>
                <a:sym typeface="Arial"/>
              </a:rPr>
              <a:t>extend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another interface to </a:t>
            </a:r>
            <a:r>
              <a:rPr lang="en" sz="1200" b="1" i="1">
                <a:solidFill>
                  <a:srgbClr val="FF0000"/>
                </a:solidFill>
                <a:latin typeface="Arial"/>
                <a:ea typeface="Arial"/>
                <a:cs typeface="Arial"/>
                <a:sym typeface="Arial"/>
              </a:rPr>
              <a:t>inherit </a:t>
            </a:r>
            <a:r>
              <a:rPr lang="en" sz="1200">
                <a:solidFill>
                  <a:srgbClr val="000000"/>
                </a:solidFill>
                <a:latin typeface="Arial"/>
                <a:ea typeface="Arial"/>
                <a:cs typeface="Arial"/>
                <a:sym typeface="Arial"/>
              </a:rPr>
              <a:t>the methods defined in the other interface.</a:t>
            </a:r>
            <a:endParaRPr>
              <a:latin typeface="Arial"/>
              <a:ea typeface="Arial"/>
              <a:cs typeface="Arial"/>
              <a:sym typeface="Arial"/>
            </a:endParaRPr>
          </a:p>
        </p:txBody>
      </p:sp>
      <p:sp>
        <p:nvSpPr>
          <p:cNvPr id="1183" name="Google Shape;1183;p107"/>
          <p:cNvSpPr txBox="1">
            <a:spLocks noGrp="1"/>
          </p:cNvSpPr>
          <p:nvPr>
            <p:ph type="body" idx="4294967295"/>
          </p:nvPr>
        </p:nvSpPr>
        <p:spPr>
          <a:xfrm>
            <a:off x="464125" y="2034879"/>
            <a:ext cx="3741600" cy="695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The child interface </a:t>
            </a:r>
            <a:r>
              <a:rPr lang="en" sz="1200" b="1" i="1">
                <a:solidFill>
                  <a:srgbClr val="FF0000"/>
                </a:solidFill>
                <a:latin typeface="Arial"/>
                <a:ea typeface="Arial"/>
                <a:cs typeface="Arial"/>
                <a:sym typeface="Arial"/>
              </a:rPr>
              <a:t>may </a:t>
            </a:r>
            <a:r>
              <a:rPr lang="en" sz="1200">
                <a:solidFill>
                  <a:srgbClr val="000000"/>
                </a:solidFill>
                <a:latin typeface="Arial"/>
                <a:ea typeface="Arial"/>
                <a:cs typeface="Arial"/>
                <a:sym typeface="Arial"/>
              </a:rPr>
              <a:t>add its own methods, and may also provide </a:t>
            </a:r>
            <a:r>
              <a:rPr lang="en" sz="1200" b="1" i="1">
                <a:solidFill>
                  <a:srgbClr val="FF0000"/>
                </a:solidFill>
                <a:latin typeface="Arial"/>
                <a:ea typeface="Arial"/>
                <a:cs typeface="Arial"/>
                <a:sym typeface="Arial"/>
              </a:rPr>
              <a:t>default implementations</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any inherited methods by using the </a:t>
            </a:r>
            <a:r>
              <a:rPr lang="en" sz="1200">
                <a:solidFill>
                  <a:srgbClr val="FF0000"/>
                </a:solidFill>
                <a:latin typeface="Courier New"/>
                <a:ea typeface="Courier New"/>
                <a:cs typeface="Courier New"/>
                <a:sym typeface="Courier New"/>
              </a:rPr>
              <a:t>default</a:t>
            </a:r>
            <a:r>
              <a:rPr lang="en" sz="1200">
                <a:solidFill>
                  <a:srgbClr val="FF0000"/>
                </a:solidFill>
                <a:latin typeface="Arial"/>
                <a:ea typeface="Arial"/>
                <a:cs typeface="Arial"/>
                <a:sym typeface="Arial"/>
              </a:rPr>
              <a:t> </a:t>
            </a:r>
            <a:r>
              <a:rPr lang="en" sz="1200" b="1" i="1">
                <a:solidFill>
                  <a:srgbClr val="FF0000"/>
                </a:solidFill>
                <a:latin typeface="Arial"/>
                <a:ea typeface="Arial"/>
                <a:cs typeface="Arial"/>
                <a:sym typeface="Arial"/>
              </a:rPr>
              <a:t>modifier</a:t>
            </a:r>
            <a:r>
              <a:rPr lang="en" sz="1200">
                <a:solidFill>
                  <a:srgbClr val="000000"/>
                </a:solidFill>
                <a:latin typeface="Arial"/>
                <a:ea typeface="Arial"/>
                <a:cs typeface="Arial"/>
                <a:sym typeface="Arial"/>
              </a:rPr>
              <a:t>.</a:t>
            </a:r>
            <a:endParaRPr>
              <a:latin typeface="Arial"/>
              <a:ea typeface="Arial"/>
              <a:cs typeface="Arial"/>
              <a:sym typeface="Arial"/>
            </a:endParaRPr>
          </a:p>
        </p:txBody>
      </p:sp>
      <p:sp>
        <p:nvSpPr>
          <p:cNvPr id="1184" name="Google Shape;1184;p107"/>
          <p:cNvSpPr txBox="1">
            <a:spLocks noGrp="1"/>
          </p:cNvSpPr>
          <p:nvPr>
            <p:ph type="body" idx="4294967295"/>
          </p:nvPr>
        </p:nvSpPr>
        <p:spPr>
          <a:xfrm>
            <a:off x="464125" y="2829871"/>
            <a:ext cx="3741600" cy="461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solidFill>
                  <a:srgbClr val="000000"/>
                </a:solidFill>
                <a:latin typeface="Arial"/>
                <a:ea typeface="Arial"/>
                <a:cs typeface="Arial"/>
                <a:sym typeface="Arial"/>
              </a:rPr>
              <a:t>An interface may also define its </a:t>
            </a:r>
            <a:r>
              <a:rPr lang="en" sz="1200" b="1" i="1" dirty="0">
                <a:solidFill>
                  <a:srgbClr val="FF0000"/>
                </a:solidFill>
                <a:latin typeface="Arial"/>
                <a:ea typeface="Arial"/>
                <a:cs typeface="Arial"/>
                <a:sym typeface="Arial"/>
              </a:rPr>
              <a:t>own</a:t>
            </a:r>
            <a:r>
              <a:rPr lang="en" sz="1200" dirty="0">
                <a:solidFill>
                  <a:srgbClr val="000000"/>
                </a:solidFill>
                <a:latin typeface="Arial"/>
                <a:ea typeface="Arial"/>
                <a:cs typeface="Arial"/>
                <a:sym typeface="Arial"/>
              </a:rPr>
              <a:t> default methods as well.</a:t>
            </a:r>
            <a:endParaRPr dirty="0">
              <a:latin typeface="Arial"/>
              <a:ea typeface="Arial"/>
              <a:cs typeface="Arial"/>
              <a:sym typeface="Arial"/>
            </a:endParaRPr>
          </a:p>
        </p:txBody>
      </p:sp>
      <p:sp>
        <p:nvSpPr>
          <p:cNvPr id="1185" name="Google Shape;1185;p107"/>
          <p:cNvSpPr txBox="1">
            <a:spLocks noGrp="1"/>
          </p:cNvSpPr>
          <p:nvPr>
            <p:ph type="body" idx="4294967295"/>
          </p:nvPr>
        </p:nvSpPr>
        <p:spPr>
          <a:xfrm>
            <a:off x="464113" y="4184422"/>
            <a:ext cx="3741600" cy="695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dirty="0">
                <a:solidFill>
                  <a:srgbClr val="000000"/>
                </a:solidFill>
                <a:latin typeface="Arial"/>
                <a:ea typeface="Arial"/>
                <a:cs typeface="Arial"/>
                <a:sym typeface="Arial"/>
              </a:rPr>
              <a:t>A class that implements the interface </a:t>
            </a:r>
            <a:r>
              <a:rPr lang="en" sz="1200" b="1" i="1" dirty="0">
                <a:solidFill>
                  <a:srgbClr val="FF0000"/>
                </a:solidFill>
                <a:latin typeface="Arial"/>
                <a:ea typeface="Arial"/>
                <a:cs typeface="Arial"/>
                <a:sym typeface="Arial"/>
              </a:rPr>
              <a:t>must</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implement any abstract methods and </a:t>
            </a:r>
            <a:r>
              <a:rPr lang="en" sz="1200" b="1" i="1" dirty="0">
                <a:solidFill>
                  <a:srgbClr val="FF0000"/>
                </a:solidFill>
                <a:latin typeface="Arial"/>
                <a:ea typeface="Arial"/>
                <a:cs typeface="Arial"/>
                <a:sym typeface="Arial"/>
              </a:rPr>
              <a:t>may</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provide its own implementations of any default methods.</a:t>
            </a:r>
            <a:endParaRPr dirty="0">
              <a:latin typeface="Arial"/>
              <a:ea typeface="Arial"/>
              <a:cs typeface="Arial"/>
              <a:sym typeface="Arial"/>
            </a:endParaRPr>
          </a:p>
        </p:txBody>
      </p:sp>
      <p:grpSp>
        <p:nvGrpSpPr>
          <p:cNvPr id="1186" name="Google Shape;1186;p107"/>
          <p:cNvGrpSpPr/>
          <p:nvPr/>
        </p:nvGrpSpPr>
        <p:grpSpPr>
          <a:xfrm>
            <a:off x="4205870" y="1716975"/>
            <a:ext cx="2825550" cy="507300"/>
            <a:chOff x="4205870" y="1716975"/>
            <a:chExt cx="2825550" cy="507300"/>
          </a:xfrm>
        </p:grpSpPr>
        <p:sp>
          <p:nvSpPr>
            <p:cNvPr id="1187" name="Google Shape;1187;p107"/>
            <p:cNvSpPr/>
            <p:nvPr/>
          </p:nvSpPr>
          <p:spPr>
            <a:xfrm>
              <a:off x="6482720" y="2074275"/>
              <a:ext cx="548700" cy="150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188" name="Google Shape;1188;p107"/>
            <p:cNvCxnSpPr>
              <a:stCxn id="1187" idx="0"/>
              <a:endCxn id="1182" idx="3"/>
            </p:cNvCxnSpPr>
            <p:nvPr/>
          </p:nvCxnSpPr>
          <p:spPr>
            <a:xfrm rot="5400000" flipH="1">
              <a:off x="5302820" y="620025"/>
              <a:ext cx="357300" cy="2551200"/>
            </a:xfrm>
            <a:prstGeom prst="bentConnector2">
              <a:avLst/>
            </a:prstGeom>
            <a:noFill/>
            <a:ln w="19050" cap="flat" cmpd="sng">
              <a:solidFill>
                <a:srgbClr val="FF0000"/>
              </a:solidFill>
              <a:prstDash val="solid"/>
              <a:round/>
              <a:headEnd type="none" w="med" len="med"/>
              <a:tailEnd type="none" w="med" len="med"/>
            </a:ln>
          </p:spPr>
        </p:cxnSp>
      </p:grpSp>
      <p:grpSp>
        <p:nvGrpSpPr>
          <p:cNvPr id="1189" name="Google Shape;1189;p107"/>
          <p:cNvGrpSpPr/>
          <p:nvPr/>
        </p:nvGrpSpPr>
        <p:grpSpPr>
          <a:xfrm>
            <a:off x="4205725" y="2382729"/>
            <a:ext cx="3881720" cy="621321"/>
            <a:chOff x="4205725" y="2382729"/>
            <a:chExt cx="3881720" cy="621321"/>
          </a:xfrm>
        </p:grpSpPr>
        <p:sp>
          <p:nvSpPr>
            <p:cNvPr id="1190" name="Google Shape;1190;p107"/>
            <p:cNvSpPr/>
            <p:nvPr/>
          </p:nvSpPr>
          <p:spPr>
            <a:xfrm>
              <a:off x="5372745" y="2496750"/>
              <a:ext cx="2714700" cy="507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191" name="Google Shape;1191;p107"/>
            <p:cNvCxnSpPr>
              <a:stCxn id="1183" idx="3"/>
              <a:endCxn id="1190" idx="1"/>
            </p:cNvCxnSpPr>
            <p:nvPr/>
          </p:nvCxnSpPr>
          <p:spPr>
            <a:xfrm>
              <a:off x="4205725" y="2382729"/>
              <a:ext cx="1167000" cy="367800"/>
            </a:xfrm>
            <a:prstGeom prst="bentConnector3">
              <a:avLst>
                <a:gd name="adj1" fmla="val 50001"/>
              </a:avLst>
            </a:prstGeom>
            <a:noFill/>
            <a:ln w="19050" cap="flat" cmpd="sng">
              <a:solidFill>
                <a:srgbClr val="FF0000"/>
              </a:solidFill>
              <a:prstDash val="solid"/>
              <a:round/>
              <a:headEnd type="none" w="med" len="med"/>
              <a:tailEnd type="none" w="med" len="med"/>
            </a:ln>
          </p:spPr>
        </p:cxnSp>
      </p:grpSp>
      <p:grpSp>
        <p:nvGrpSpPr>
          <p:cNvPr id="1192" name="Google Shape;1192;p107"/>
          <p:cNvGrpSpPr/>
          <p:nvPr/>
        </p:nvGrpSpPr>
        <p:grpSpPr>
          <a:xfrm>
            <a:off x="4205725" y="2224275"/>
            <a:ext cx="1981527" cy="158454"/>
            <a:chOff x="4205725" y="2224275"/>
            <a:chExt cx="1981527" cy="158454"/>
          </a:xfrm>
        </p:grpSpPr>
        <p:sp>
          <p:nvSpPr>
            <p:cNvPr id="1193" name="Google Shape;1193;p107"/>
            <p:cNvSpPr/>
            <p:nvPr/>
          </p:nvSpPr>
          <p:spPr>
            <a:xfrm>
              <a:off x="5372752" y="2224275"/>
              <a:ext cx="814500" cy="150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194" name="Google Shape;1194;p107"/>
            <p:cNvCxnSpPr>
              <a:stCxn id="1183" idx="3"/>
              <a:endCxn id="1193" idx="1"/>
            </p:cNvCxnSpPr>
            <p:nvPr/>
          </p:nvCxnSpPr>
          <p:spPr>
            <a:xfrm rot="10800000" flipH="1">
              <a:off x="4205725" y="2299329"/>
              <a:ext cx="1167000" cy="83400"/>
            </a:xfrm>
            <a:prstGeom prst="bentConnector3">
              <a:avLst>
                <a:gd name="adj1" fmla="val 50001"/>
              </a:avLst>
            </a:prstGeom>
            <a:noFill/>
            <a:ln w="19050" cap="flat" cmpd="sng">
              <a:solidFill>
                <a:srgbClr val="FF0000"/>
              </a:solidFill>
              <a:prstDash val="solid"/>
              <a:round/>
              <a:headEnd type="none" w="med" len="med"/>
              <a:tailEnd type="none" w="med" len="med"/>
            </a:ln>
          </p:spPr>
        </p:cxnSp>
      </p:grpSp>
      <p:grpSp>
        <p:nvGrpSpPr>
          <p:cNvPr id="1195" name="Google Shape;1195;p107"/>
          <p:cNvGrpSpPr/>
          <p:nvPr/>
        </p:nvGrpSpPr>
        <p:grpSpPr>
          <a:xfrm>
            <a:off x="4205725" y="3060421"/>
            <a:ext cx="3881720" cy="573373"/>
            <a:chOff x="4205725" y="3060421"/>
            <a:chExt cx="3881720" cy="573373"/>
          </a:xfrm>
        </p:grpSpPr>
        <p:sp>
          <p:nvSpPr>
            <p:cNvPr id="1196" name="Google Shape;1196;p107"/>
            <p:cNvSpPr/>
            <p:nvPr/>
          </p:nvSpPr>
          <p:spPr>
            <a:xfrm>
              <a:off x="5372745" y="3126494"/>
              <a:ext cx="2714700" cy="507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197" name="Google Shape;1197;p107"/>
            <p:cNvCxnSpPr>
              <a:stCxn id="1184" idx="3"/>
              <a:endCxn id="1196" idx="1"/>
            </p:cNvCxnSpPr>
            <p:nvPr/>
          </p:nvCxnSpPr>
          <p:spPr>
            <a:xfrm>
              <a:off x="4205725" y="3060421"/>
              <a:ext cx="1167000" cy="319800"/>
            </a:xfrm>
            <a:prstGeom prst="bentConnector3">
              <a:avLst>
                <a:gd name="adj1" fmla="val 50001"/>
              </a:avLst>
            </a:prstGeom>
            <a:noFill/>
            <a:ln w="19050" cap="flat" cmpd="sng">
              <a:solidFill>
                <a:srgbClr val="FF0000"/>
              </a:solidFill>
              <a:prstDash val="solid"/>
              <a:round/>
              <a:headEnd type="none" w="med" len="med"/>
              <a:tailEnd type="none" w="med" len="med"/>
            </a:ln>
          </p:spPr>
        </p:cxnSp>
      </p:grpSp>
      <p:grpSp>
        <p:nvGrpSpPr>
          <p:cNvPr id="1198" name="Google Shape;1198;p107"/>
          <p:cNvGrpSpPr/>
          <p:nvPr/>
        </p:nvGrpSpPr>
        <p:grpSpPr>
          <a:xfrm>
            <a:off x="4206425" y="4124359"/>
            <a:ext cx="4055700" cy="662700"/>
            <a:chOff x="4206425" y="3949775"/>
            <a:chExt cx="4055700" cy="662700"/>
          </a:xfrm>
        </p:grpSpPr>
        <p:sp>
          <p:nvSpPr>
            <p:cNvPr id="1199" name="Google Shape;1199;p107"/>
            <p:cNvSpPr/>
            <p:nvPr/>
          </p:nvSpPr>
          <p:spPr>
            <a:xfrm>
              <a:off x="5377025" y="3949775"/>
              <a:ext cx="2885100" cy="662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200" name="Google Shape;1200;p107"/>
            <p:cNvCxnSpPr>
              <a:stCxn id="1199" idx="1"/>
            </p:cNvCxnSpPr>
            <p:nvPr/>
          </p:nvCxnSpPr>
          <p:spPr>
            <a:xfrm rot="10800000">
              <a:off x="4206425" y="4281125"/>
              <a:ext cx="1170600" cy="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82"/>
                                        </p:tgtEl>
                                        <p:attrNameLst>
                                          <p:attrName>style.visibility</p:attrName>
                                        </p:attrNameLst>
                                      </p:cBhvr>
                                      <p:to>
                                        <p:strVal val="visible"/>
                                      </p:to>
                                    </p:set>
                                    <p:animEffect transition="in" filter="fade">
                                      <p:cBhvr>
                                        <p:cTn id="7" dur="1000"/>
                                        <p:tgtEl>
                                          <p:spTgt spid="1182"/>
                                        </p:tgtEl>
                                      </p:cBhvr>
                                    </p:animEffect>
                                  </p:childTnLst>
                                </p:cTn>
                              </p:par>
                              <p:par>
                                <p:cTn id="8" presetID="10" presetClass="entr" presetSubtype="0" fill="hold" nodeType="withEffect">
                                  <p:stCondLst>
                                    <p:cond delay="0"/>
                                  </p:stCondLst>
                                  <p:childTnLst>
                                    <p:set>
                                      <p:cBhvr>
                                        <p:cTn id="9" dur="1" fill="hold">
                                          <p:stCondLst>
                                            <p:cond delay="0"/>
                                          </p:stCondLst>
                                        </p:cTn>
                                        <p:tgtEl>
                                          <p:spTgt spid="1178"/>
                                        </p:tgtEl>
                                        <p:attrNameLst>
                                          <p:attrName>style.visibility</p:attrName>
                                        </p:attrNameLst>
                                      </p:cBhvr>
                                      <p:to>
                                        <p:strVal val="visible"/>
                                      </p:to>
                                    </p:set>
                                    <p:animEffect transition="in" filter="fade">
                                      <p:cBhvr>
                                        <p:cTn id="10" dur="1000"/>
                                        <p:tgtEl>
                                          <p:spTgt spid="1178"/>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1186"/>
                                        </p:tgtEl>
                                        <p:attrNameLst>
                                          <p:attrName>style.visibility</p:attrName>
                                        </p:attrNameLst>
                                      </p:cBhvr>
                                      <p:to>
                                        <p:strVal val="visible"/>
                                      </p:to>
                                    </p:set>
                                    <p:animEffect transition="in" filter="fade">
                                      <p:cBhvr>
                                        <p:cTn id="14" dur="1000"/>
                                        <p:tgtEl>
                                          <p:spTgt spid="118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183"/>
                                        </p:tgtEl>
                                        <p:attrNameLst>
                                          <p:attrName>style.visibility</p:attrName>
                                        </p:attrNameLst>
                                      </p:cBhvr>
                                      <p:to>
                                        <p:strVal val="visible"/>
                                      </p:to>
                                    </p:set>
                                    <p:animEffect transition="in" filter="fade">
                                      <p:cBhvr>
                                        <p:cTn id="19" dur="1000"/>
                                        <p:tgtEl>
                                          <p:spTgt spid="1183"/>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192"/>
                                        </p:tgtEl>
                                        <p:attrNameLst>
                                          <p:attrName>style.visibility</p:attrName>
                                        </p:attrNameLst>
                                      </p:cBhvr>
                                      <p:to>
                                        <p:strVal val="visible"/>
                                      </p:to>
                                    </p:set>
                                    <p:animEffect transition="in" filter="fade">
                                      <p:cBhvr>
                                        <p:cTn id="23" dur="1000"/>
                                        <p:tgtEl>
                                          <p:spTgt spid="1192"/>
                                        </p:tgtEl>
                                      </p:cBhvr>
                                    </p:animEffect>
                                  </p:childTnLst>
                                </p:cTn>
                              </p:par>
                            </p:childTnLst>
                          </p:cTn>
                        </p:par>
                        <p:par>
                          <p:cTn id="24" fill="hold">
                            <p:stCondLst>
                              <p:cond delay="2000"/>
                            </p:stCondLst>
                            <p:childTnLst>
                              <p:par>
                                <p:cTn id="25" presetID="10" presetClass="entr" presetSubtype="0" fill="hold" nodeType="afterEffect">
                                  <p:stCondLst>
                                    <p:cond delay="0"/>
                                  </p:stCondLst>
                                  <p:childTnLst>
                                    <p:set>
                                      <p:cBhvr>
                                        <p:cTn id="26" dur="1" fill="hold">
                                          <p:stCondLst>
                                            <p:cond delay="0"/>
                                          </p:stCondLst>
                                        </p:cTn>
                                        <p:tgtEl>
                                          <p:spTgt spid="1189"/>
                                        </p:tgtEl>
                                        <p:attrNameLst>
                                          <p:attrName>style.visibility</p:attrName>
                                        </p:attrNameLst>
                                      </p:cBhvr>
                                      <p:to>
                                        <p:strVal val="visible"/>
                                      </p:to>
                                    </p:set>
                                    <p:animEffect transition="in" filter="fade">
                                      <p:cBhvr>
                                        <p:cTn id="27" dur="1000"/>
                                        <p:tgtEl>
                                          <p:spTgt spid="118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84"/>
                                        </p:tgtEl>
                                        <p:attrNameLst>
                                          <p:attrName>style.visibility</p:attrName>
                                        </p:attrNameLst>
                                      </p:cBhvr>
                                      <p:to>
                                        <p:strVal val="visible"/>
                                      </p:to>
                                    </p:set>
                                    <p:animEffect transition="in" filter="fade">
                                      <p:cBhvr>
                                        <p:cTn id="32" dur="1000"/>
                                        <p:tgtEl>
                                          <p:spTgt spid="1184"/>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1195"/>
                                        </p:tgtEl>
                                        <p:attrNameLst>
                                          <p:attrName>style.visibility</p:attrName>
                                        </p:attrNameLst>
                                      </p:cBhvr>
                                      <p:to>
                                        <p:strVal val="visible"/>
                                      </p:to>
                                    </p:set>
                                    <p:animEffect transition="in" filter="fade">
                                      <p:cBhvr>
                                        <p:cTn id="36" dur="1000"/>
                                        <p:tgtEl>
                                          <p:spTgt spid="119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180"/>
                                        </p:tgtEl>
                                        <p:attrNameLst>
                                          <p:attrName>style.visibility</p:attrName>
                                        </p:attrNameLst>
                                      </p:cBhvr>
                                      <p:to>
                                        <p:strVal val="visible"/>
                                      </p:to>
                                    </p:set>
                                    <p:animEffect transition="in" filter="fade">
                                      <p:cBhvr>
                                        <p:cTn id="41" dur="1000"/>
                                        <p:tgtEl>
                                          <p:spTgt spid="118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185"/>
                                        </p:tgtEl>
                                        <p:attrNameLst>
                                          <p:attrName>style.visibility</p:attrName>
                                        </p:attrNameLst>
                                      </p:cBhvr>
                                      <p:to>
                                        <p:strVal val="visible"/>
                                      </p:to>
                                    </p:set>
                                    <p:animEffect transition="in" filter="fade">
                                      <p:cBhvr>
                                        <p:cTn id="46" dur="1000"/>
                                        <p:tgtEl>
                                          <p:spTgt spid="1185"/>
                                        </p:tgtEl>
                                      </p:cBhvr>
                                    </p:animEffect>
                                  </p:childTnLst>
                                </p:cTn>
                              </p:par>
                              <p:par>
                                <p:cTn id="47" presetID="10" presetClass="entr" presetSubtype="0" fill="hold" nodeType="withEffect">
                                  <p:stCondLst>
                                    <p:cond delay="0"/>
                                  </p:stCondLst>
                                  <p:childTnLst>
                                    <p:set>
                                      <p:cBhvr>
                                        <p:cTn id="48" dur="1" fill="hold">
                                          <p:stCondLst>
                                            <p:cond delay="0"/>
                                          </p:stCondLst>
                                        </p:cTn>
                                        <p:tgtEl>
                                          <p:spTgt spid="1181"/>
                                        </p:tgtEl>
                                        <p:attrNameLst>
                                          <p:attrName>style.visibility</p:attrName>
                                        </p:attrNameLst>
                                      </p:cBhvr>
                                      <p:to>
                                        <p:strVal val="visible"/>
                                      </p:to>
                                    </p:set>
                                    <p:animEffect transition="in" filter="fade">
                                      <p:cBhvr>
                                        <p:cTn id="49" dur="1000"/>
                                        <p:tgtEl>
                                          <p:spTgt spid="1181"/>
                                        </p:tgtEl>
                                      </p:cBhvr>
                                    </p:animEffect>
                                  </p:childTnLst>
                                </p:cTn>
                              </p:par>
                            </p:childTnLst>
                          </p:cTn>
                        </p:par>
                        <p:par>
                          <p:cTn id="50" fill="hold">
                            <p:stCondLst>
                              <p:cond delay="1000"/>
                            </p:stCondLst>
                            <p:childTnLst>
                              <p:par>
                                <p:cTn id="51" presetID="10" presetClass="entr" presetSubtype="0" fill="hold" nodeType="afterEffect">
                                  <p:stCondLst>
                                    <p:cond delay="0"/>
                                  </p:stCondLst>
                                  <p:childTnLst>
                                    <p:set>
                                      <p:cBhvr>
                                        <p:cTn id="52" dur="1" fill="hold">
                                          <p:stCondLst>
                                            <p:cond delay="0"/>
                                          </p:stCondLst>
                                        </p:cTn>
                                        <p:tgtEl>
                                          <p:spTgt spid="1198"/>
                                        </p:tgtEl>
                                        <p:attrNameLst>
                                          <p:attrName>style.visibility</p:attrName>
                                        </p:attrNameLst>
                                      </p:cBhvr>
                                      <p:to>
                                        <p:strVal val="visible"/>
                                      </p:to>
                                    </p:set>
                                    <p:animEffect transition="in" filter="fade">
                                      <p:cBhvr>
                                        <p:cTn id="53" dur="1000"/>
                                        <p:tgtEl>
                                          <p:spTgt spid="1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04"/>
        <p:cNvGrpSpPr/>
        <p:nvPr/>
      </p:nvGrpSpPr>
      <p:grpSpPr>
        <a:xfrm>
          <a:off x="0" y="0"/>
          <a:ext cx="0" cy="0"/>
          <a:chOff x="0" y="0"/>
          <a:chExt cx="0" cy="0"/>
        </a:xfrm>
      </p:grpSpPr>
      <p:sp>
        <p:nvSpPr>
          <p:cNvPr id="1205" name="Google Shape;1205;p108"/>
          <p:cNvSpPr txBox="1">
            <a:spLocks noGrp="1"/>
          </p:cNvSpPr>
          <p:nvPr>
            <p:ph type="body" idx="1"/>
          </p:nvPr>
        </p:nvSpPr>
        <p:spPr>
          <a:xfrm>
            <a:off x="65250" y="7316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Ideally, </a:t>
            </a:r>
            <a:r>
              <a:rPr lang="en" i="1"/>
              <a:t>any</a:t>
            </a:r>
            <a:r>
              <a:rPr lang="en"/>
              <a:t> implementation of </a:t>
            </a:r>
            <a:r>
              <a:rPr lang="en">
                <a:latin typeface="Courier New"/>
                <a:ea typeface="Courier New"/>
                <a:cs typeface="Courier New"/>
                <a:sym typeface="Courier New"/>
              </a:rPr>
              <a:t>List</a:t>
            </a:r>
            <a:r>
              <a:rPr lang="en"/>
              <a:t> should be iterable and thus usable with a </a:t>
            </a:r>
            <a:r>
              <a:rPr lang="en">
                <a:latin typeface="Courier New"/>
                <a:ea typeface="Courier New"/>
                <a:cs typeface="Courier New"/>
                <a:sym typeface="Courier New"/>
              </a:rPr>
              <a:t>for</a:t>
            </a:r>
            <a:r>
              <a:rPr lang="en"/>
              <a:t>-each loop. The best way to ensure this is to modify the </a:t>
            </a:r>
            <a:r>
              <a:rPr lang="en">
                <a:latin typeface="Courier New"/>
                <a:ea typeface="Courier New"/>
                <a:cs typeface="Courier New"/>
                <a:sym typeface="Courier New"/>
              </a:rPr>
              <a:t>List</a:t>
            </a:r>
            <a:r>
              <a:rPr lang="en"/>
              <a:t> interface to </a:t>
            </a:r>
            <a:r>
              <a:rPr lang="en" b="1" i="1">
                <a:solidFill>
                  <a:srgbClr val="FF0000"/>
                </a:solidFill>
              </a:rPr>
              <a:t>extend</a:t>
            </a:r>
            <a:r>
              <a:rPr lang="en">
                <a:solidFill>
                  <a:srgbClr val="FF0000"/>
                </a:solidFill>
              </a:rPr>
              <a:t> </a:t>
            </a:r>
            <a:r>
              <a:rPr lang="en"/>
              <a:t>the </a:t>
            </a:r>
            <a:r>
              <a:rPr lang="en">
                <a:latin typeface="Courier New"/>
                <a:ea typeface="Courier New"/>
                <a:cs typeface="Courier New"/>
                <a:sym typeface="Courier New"/>
              </a:rPr>
              <a:t>Iterable</a:t>
            </a:r>
            <a:r>
              <a:rPr lang="en"/>
              <a:t> interface. The existing implementation(s) of </a:t>
            </a:r>
            <a:r>
              <a:rPr lang="en">
                <a:latin typeface="Courier New"/>
                <a:ea typeface="Courier New"/>
                <a:cs typeface="Courier New"/>
                <a:sym typeface="Courier New"/>
              </a:rPr>
              <a:t>List</a:t>
            </a:r>
            <a:r>
              <a:rPr lang="en"/>
              <a:t> (e.g. </a:t>
            </a:r>
            <a:r>
              <a:rPr lang="en">
                <a:latin typeface="Courier New"/>
                <a:ea typeface="Courier New"/>
                <a:cs typeface="Courier New"/>
                <a:sym typeface="Courier New"/>
              </a:rPr>
              <a:t>ArrayList</a:t>
            </a:r>
            <a:r>
              <a:rPr lang="en"/>
              <a:t>) will break if we don't add a </a:t>
            </a:r>
            <a:r>
              <a:rPr lang="en" b="1" i="1">
                <a:solidFill>
                  <a:srgbClr val="FF0000"/>
                </a:solidFill>
              </a:rPr>
              <a:t>default</a:t>
            </a:r>
            <a:r>
              <a:rPr lang="en">
                <a:solidFill>
                  <a:srgbClr val="FF0000"/>
                </a:solidFill>
              </a:rPr>
              <a:t> </a:t>
            </a:r>
            <a:r>
              <a:rPr lang="en"/>
              <a:t>implementation of the required method!</a:t>
            </a:r>
            <a:endParaRPr/>
          </a:p>
        </p:txBody>
      </p:sp>
      <p:sp>
        <p:nvSpPr>
          <p:cNvPr id="1206" name="Google Shape;1206;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1207" name="Google Shape;1207;p108"/>
          <p:cNvSpPr txBox="1">
            <a:spLocks noGrp="1"/>
          </p:cNvSpPr>
          <p:nvPr>
            <p:ph type="body" idx="2"/>
          </p:nvPr>
        </p:nvSpPr>
        <p:spPr>
          <a:xfrm>
            <a:off x="3960575" y="2013125"/>
            <a:ext cx="4980600" cy="25242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Open the </a:t>
            </a:r>
            <a:r>
              <a:rPr lang="en" sz="1600" dirty="0">
                <a:latin typeface="Courier New"/>
                <a:ea typeface="Courier New"/>
                <a:cs typeface="Courier New"/>
                <a:sym typeface="Courier New"/>
              </a:rPr>
              <a:t>List</a:t>
            </a:r>
            <a:r>
              <a:rPr lang="en" sz="1600" dirty="0"/>
              <a:t> interface and modify it so that it </a:t>
            </a:r>
            <a:r>
              <a:rPr lang="en" sz="1600" b="1" i="1" dirty="0">
                <a:solidFill>
                  <a:srgbClr val="FF0000"/>
                </a:solidFill>
              </a:rPr>
              <a:t>extends</a:t>
            </a:r>
            <a:r>
              <a:rPr lang="en" sz="1600" dirty="0">
                <a:solidFill>
                  <a:srgbClr val="FF0000"/>
                </a:solidFill>
              </a:rPr>
              <a:t> </a:t>
            </a:r>
            <a:r>
              <a:rPr lang="en" sz="1600" dirty="0">
                <a:solidFill>
                  <a:srgbClr val="FF0000"/>
                </a:solidFill>
                <a:latin typeface="Courier New"/>
                <a:ea typeface="Courier New"/>
                <a:cs typeface="Courier New"/>
                <a:sym typeface="Courier New"/>
              </a:rPr>
              <a:t>Iterable</a:t>
            </a:r>
            <a:r>
              <a:rPr lang="en" sz="1600" dirty="0"/>
              <a:t>.</a:t>
            </a:r>
            <a:endParaRPr sz="1600" dirty="0"/>
          </a:p>
          <a:p>
            <a:pPr marL="914400" lvl="1" indent="-317500" algn="l" rtl="0">
              <a:spcBef>
                <a:spcPts val="0"/>
              </a:spcBef>
              <a:spcAft>
                <a:spcPts val="0"/>
              </a:spcAft>
              <a:buSzPts val="1400"/>
              <a:buChar char="○"/>
            </a:pPr>
            <a:r>
              <a:rPr lang="en" sz="1400" dirty="0"/>
              <a:t>You will need to </a:t>
            </a:r>
            <a:r>
              <a:rPr lang="en" sz="1400" b="1" i="1" dirty="0">
                <a:solidFill>
                  <a:srgbClr val="FF0000"/>
                </a:solidFill>
              </a:rPr>
              <a:t>import </a:t>
            </a:r>
            <a:r>
              <a:rPr lang="en" sz="1400" dirty="0">
                <a:solidFill>
                  <a:srgbClr val="FF0000"/>
                </a:solidFill>
                <a:latin typeface="Courier New"/>
                <a:ea typeface="Courier New"/>
                <a:cs typeface="Courier New"/>
                <a:sym typeface="Courier New"/>
              </a:rPr>
              <a:t>java.util.Iterator</a:t>
            </a:r>
            <a:r>
              <a:rPr lang="en" sz="1400" dirty="0"/>
              <a:t>.</a:t>
            </a:r>
            <a:endParaRPr sz="1400" dirty="0"/>
          </a:p>
          <a:p>
            <a:pPr marL="914400" lvl="1" indent="-317500" algn="l" rtl="0">
              <a:spcBef>
                <a:spcPts val="0"/>
              </a:spcBef>
              <a:spcAft>
                <a:spcPts val="0"/>
              </a:spcAft>
              <a:buSzPts val="1400"/>
              <a:buChar char="○"/>
            </a:pPr>
            <a:r>
              <a:rPr lang="en" sz="1400" dirty="0"/>
              <a:t>Add a </a:t>
            </a:r>
            <a:r>
              <a:rPr lang="en" sz="1400" b="1" i="1" dirty="0">
                <a:solidFill>
                  <a:srgbClr val="FF0000"/>
                </a:solidFill>
              </a:rPr>
              <a:t>default implementation</a:t>
            </a:r>
            <a:r>
              <a:rPr lang="en" sz="1400" dirty="0"/>
              <a:t> of the </a:t>
            </a:r>
            <a:r>
              <a:rPr lang="en" sz="1400" dirty="0">
                <a:solidFill>
                  <a:srgbClr val="FF0000"/>
                </a:solidFill>
                <a:latin typeface="Courier New"/>
                <a:ea typeface="Courier New"/>
                <a:cs typeface="Courier New"/>
                <a:sym typeface="Courier New"/>
              </a:rPr>
              <a:t>iterator()</a:t>
            </a:r>
            <a:r>
              <a:rPr lang="en" sz="1400" dirty="0"/>
              <a:t> method that throws an </a:t>
            </a:r>
            <a:r>
              <a:rPr lang="en" sz="1400" dirty="0">
                <a:solidFill>
                  <a:srgbClr val="FF0000"/>
                </a:solidFill>
                <a:latin typeface="Courier New"/>
                <a:ea typeface="Courier New"/>
                <a:cs typeface="Courier New"/>
                <a:sym typeface="Courier New"/>
              </a:rPr>
              <a:t>UnsupportedOperationException</a:t>
            </a:r>
            <a:endParaRPr sz="1400" dirty="0"/>
          </a:p>
          <a:p>
            <a:pPr marL="457200" lvl="0" indent="-330200" algn="l" rtl="0">
              <a:spcBef>
                <a:spcPts val="0"/>
              </a:spcBef>
              <a:spcAft>
                <a:spcPts val="0"/>
              </a:spcAft>
              <a:buSzPts val="1600"/>
              <a:buChar char="●"/>
            </a:pPr>
            <a:r>
              <a:rPr lang="en" sz="1600" dirty="0"/>
              <a:t>Your </a:t>
            </a:r>
            <a:r>
              <a:rPr lang="en" sz="1600" dirty="0">
                <a:latin typeface="Courier New"/>
                <a:ea typeface="Courier New"/>
                <a:cs typeface="Courier New"/>
                <a:sym typeface="Courier New"/>
              </a:rPr>
              <a:t>ForEach</a:t>
            </a:r>
            <a:r>
              <a:rPr lang="en" sz="1600" dirty="0"/>
              <a:t> class should no longer have any errors! That's a good thing!</a:t>
            </a:r>
            <a:endParaRPr sz="1600" dirty="0"/>
          </a:p>
          <a:p>
            <a:pPr marL="914400" lvl="1" indent="-317500" algn="l" rtl="0">
              <a:spcBef>
                <a:spcPts val="0"/>
              </a:spcBef>
              <a:spcAft>
                <a:spcPts val="0"/>
              </a:spcAft>
              <a:buSzPts val="1400"/>
              <a:buChar char="○"/>
            </a:pPr>
            <a:r>
              <a:rPr lang="en" sz="1400" dirty="0"/>
              <a:t>But what happens when you try to run it now?</a:t>
            </a:r>
            <a:endParaRPr sz="1400" dirty="0"/>
          </a:p>
        </p:txBody>
      </p:sp>
      <p:sp>
        <p:nvSpPr>
          <p:cNvPr id="1208" name="Google Shape;1208;p10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Iterable List</a:t>
            </a:r>
            <a:endParaRPr/>
          </a:p>
        </p:txBody>
      </p:sp>
      <p:sp>
        <p:nvSpPr>
          <p:cNvPr id="1209" name="Google Shape;1209;p10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5.21</a:t>
            </a:r>
            <a:endParaRPr/>
          </a:p>
        </p:txBody>
      </p:sp>
      <p:pic>
        <p:nvPicPr>
          <p:cNvPr id="1210" name="Google Shape;1210;p108"/>
          <p:cNvPicPr preferRelativeResize="0"/>
          <p:nvPr/>
        </p:nvPicPr>
        <p:blipFill rotWithShape="1">
          <a:blip r:embed="rId3">
            <a:alphaModFix/>
          </a:blip>
          <a:srcRect/>
          <a:stretch/>
        </p:blipFill>
        <p:spPr>
          <a:xfrm>
            <a:off x="84400" y="2032200"/>
            <a:ext cx="3780677" cy="2805026"/>
          </a:xfrm>
          <a:prstGeom prst="rect">
            <a:avLst/>
          </a:prstGeom>
          <a:noFill/>
          <a:ln>
            <a:noFill/>
          </a:ln>
        </p:spPr>
      </p:pic>
      <p:sp>
        <p:nvSpPr>
          <p:cNvPr id="1211" name="Google Shape;1211;p108"/>
          <p:cNvSpPr txBox="1">
            <a:spLocks noGrp="1"/>
          </p:cNvSpPr>
          <p:nvPr>
            <p:ph type="body" idx="4"/>
          </p:nvPr>
        </p:nvSpPr>
        <p:spPr>
          <a:xfrm>
            <a:off x="131700" y="4123653"/>
            <a:ext cx="1939500" cy="681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This is the same arrow that is used when one </a:t>
            </a:r>
            <a:r>
              <a:rPr lang="en" sz="1200" i="1">
                <a:solidFill>
                  <a:srgbClr val="000000"/>
                </a:solidFill>
                <a:latin typeface="Arial"/>
                <a:ea typeface="Arial"/>
                <a:cs typeface="Arial"/>
                <a:sym typeface="Arial"/>
              </a:rPr>
              <a:t>class</a:t>
            </a:r>
            <a:r>
              <a:rPr lang="en" sz="1200">
                <a:solidFill>
                  <a:srgbClr val="000000"/>
                </a:solidFill>
                <a:latin typeface="Arial"/>
                <a:ea typeface="Arial"/>
                <a:cs typeface="Arial"/>
                <a:sym typeface="Arial"/>
              </a:rPr>
              <a:t> extends another.</a:t>
            </a:r>
            <a:endParaRPr>
              <a:latin typeface="Arial"/>
              <a:ea typeface="Arial"/>
              <a:cs typeface="Arial"/>
              <a:sym typeface="Arial"/>
            </a:endParaRPr>
          </a:p>
        </p:txBody>
      </p:sp>
      <p:sp>
        <p:nvSpPr>
          <p:cNvPr id="1212" name="Google Shape;1212;p108"/>
          <p:cNvSpPr/>
          <p:nvPr/>
        </p:nvSpPr>
        <p:spPr>
          <a:xfrm>
            <a:off x="1325175" y="3201736"/>
            <a:ext cx="1519850" cy="227275"/>
          </a:xfrm>
          <a:custGeom>
            <a:avLst/>
            <a:gdLst/>
            <a:ahLst/>
            <a:cxnLst/>
            <a:rect l="l" t="t" r="r" b="b"/>
            <a:pathLst>
              <a:path w="60794" h="9091" extrusionOk="0">
                <a:moveTo>
                  <a:pt x="0" y="9091"/>
                </a:moveTo>
                <a:cubicBezTo>
                  <a:pt x="2845" y="7644"/>
                  <a:pt x="6938" y="1654"/>
                  <a:pt x="17070" y="406"/>
                </a:cubicBezTo>
                <a:cubicBezTo>
                  <a:pt x="27202" y="-842"/>
                  <a:pt x="53507" y="1404"/>
                  <a:pt x="60794" y="1604"/>
                </a:cubicBezTo>
              </a:path>
            </a:pathLst>
          </a:custGeom>
          <a:noFill/>
          <a:ln w="28575" cap="flat" cmpd="sng">
            <a:solidFill>
              <a:srgbClr val="FF0000"/>
            </a:solidFill>
            <a:prstDash val="solid"/>
            <a:round/>
            <a:headEnd type="none" w="med" len="med"/>
            <a:tailEnd type="triangle" w="med" len="med"/>
          </a:ln>
        </p:spPr>
        <p:txBody>
          <a:bodyPr/>
          <a:lstStyle/>
          <a:p>
            <a:endParaRPr lang="en-US"/>
          </a:p>
        </p:txBody>
      </p:sp>
      <p:sp>
        <p:nvSpPr>
          <p:cNvPr id="1213" name="Google Shape;1213;p108"/>
          <p:cNvSpPr txBox="1">
            <a:spLocks noGrp="1"/>
          </p:cNvSpPr>
          <p:nvPr>
            <p:ph type="body" idx="4"/>
          </p:nvPr>
        </p:nvSpPr>
        <p:spPr>
          <a:xfrm>
            <a:off x="131700" y="3361653"/>
            <a:ext cx="1939500" cy="681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300"/>
              <a:buNone/>
            </a:pPr>
            <a:r>
              <a:rPr lang="en" sz="1200">
                <a:solidFill>
                  <a:srgbClr val="000000"/>
                </a:solidFill>
                <a:latin typeface="Arial"/>
                <a:ea typeface="Arial"/>
                <a:cs typeface="Arial"/>
                <a:sym typeface="Arial"/>
              </a:rPr>
              <a:t>A </a:t>
            </a:r>
            <a:r>
              <a:rPr lang="en" sz="1200" b="1" i="1">
                <a:solidFill>
                  <a:srgbClr val="FF0000"/>
                </a:solidFill>
                <a:latin typeface="Arial"/>
                <a:ea typeface="Arial"/>
                <a:cs typeface="Arial"/>
                <a:sym typeface="Arial"/>
              </a:rPr>
              <a:t>solid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line is used in UML when one </a:t>
            </a:r>
            <a:r>
              <a:rPr lang="en" sz="1200" i="1">
                <a:solidFill>
                  <a:srgbClr val="000000"/>
                </a:solidFill>
                <a:latin typeface="Arial"/>
                <a:ea typeface="Arial"/>
                <a:cs typeface="Arial"/>
                <a:sym typeface="Arial"/>
              </a:rPr>
              <a:t>interface </a:t>
            </a:r>
            <a:r>
              <a:rPr lang="en" sz="1200">
                <a:solidFill>
                  <a:srgbClr val="000000"/>
                </a:solidFill>
                <a:latin typeface="Arial"/>
                <a:ea typeface="Arial"/>
                <a:cs typeface="Arial"/>
                <a:sym typeface="Arial"/>
              </a:rPr>
              <a:t>extends another.</a:t>
            </a:r>
            <a:endParaRPr>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17"/>
        <p:cNvGrpSpPr/>
        <p:nvPr/>
      </p:nvGrpSpPr>
      <p:grpSpPr>
        <a:xfrm>
          <a:off x="0" y="0"/>
          <a:ext cx="0" cy="0"/>
          <a:chOff x="0" y="0"/>
          <a:chExt cx="0" cy="0"/>
        </a:xfrm>
      </p:grpSpPr>
      <p:pic>
        <p:nvPicPr>
          <p:cNvPr id="1218" name="Google Shape;1218;p109"/>
          <p:cNvPicPr preferRelativeResize="0"/>
          <p:nvPr/>
        </p:nvPicPr>
        <p:blipFill rotWithShape="1">
          <a:blip r:embed="rId3">
            <a:alphaModFix/>
          </a:blip>
          <a:srcRect/>
          <a:stretch/>
        </p:blipFill>
        <p:spPr>
          <a:xfrm>
            <a:off x="228600" y="1729125"/>
            <a:ext cx="1934760" cy="3132326"/>
          </a:xfrm>
          <a:prstGeom prst="rect">
            <a:avLst/>
          </a:prstGeom>
          <a:noFill/>
          <a:ln>
            <a:noFill/>
          </a:ln>
        </p:spPr>
      </p:pic>
      <p:sp>
        <p:nvSpPr>
          <p:cNvPr id="1219" name="Google Shape;1219;p10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Trying to use the </a:t>
            </a:r>
            <a:r>
              <a:rPr lang="en" dirty="0">
                <a:latin typeface="Courier New"/>
                <a:ea typeface="Courier New"/>
                <a:cs typeface="Courier New"/>
                <a:sym typeface="Courier New"/>
              </a:rPr>
              <a:t>ArrayList</a:t>
            </a:r>
            <a:r>
              <a:rPr lang="en" dirty="0"/>
              <a:t> with a </a:t>
            </a:r>
            <a:r>
              <a:rPr lang="en" dirty="0">
                <a:latin typeface="Courier New"/>
                <a:ea typeface="Courier New"/>
                <a:cs typeface="Courier New"/>
                <a:sym typeface="Courier New"/>
              </a:rPr>
              <a:t>for</a:t>
            </a:r>
            <a:r>
              <a:rPr lang="en" dirty="0"/>
              <a:t>-each loop will throw an exception (because the default implementation in the </a:t>
            </a:r>
            <a:r>
              <a:rPr lang="en" dirty="0">
                <a:latin typeface="Courier New"/>
                <a:ea typeface="Courier New"/>
                <a:cs typeface="Courier New"/>
                <a:sym typeface="Courier New"/>
              </a:rPr>
              <a:t>List</a:t>
            </a:r>
            <a:r>
              <a:rPr lang="en" dirty="0"/>
              <a:t> interface is being used). The first step towards fixing that problem is to implement an </a:t>
            </a:r>
            <a:r>
              <a:rPr lang="en" dirty="0">
                <a:latin typeface="Courier New"/>
                <a:ea typeface="Courier New"/>
                <a:cs typeface="Courier New"/>
                <a:sym typeface="Courier New"/>
              </a:rPr>
              <a:t>Iterator</a:t>
            </a:r>
            <a:r>
              <a:rPr lang="en" dirty="0"/>
              <a:t> that can iterate through the elements in an array.</a:t>
            </a:r>
            <a:endParaRPr dirty="0"/>
          </a:p>
        </p:txBody>
      </p:sp>
      <p:sp>
        <p:nvSpPr>
          <p:cNvPr id="1220" name="Google Shape;1220;p10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1221" name="Google Shape;1221;p109"/>
          <p:cNvSpPr txBox="1">
            <a:spLocks noGrp="1"/>
          </p:cNvSpPr>
          <p:nvPr>
            <p:ph type="body" idx="2"/>
          </p:nvPr>
        </p:nvSpPr>
        <p:spPr>
          <a:xfrm>
            <a:off x="2298475" y="1842963"/>
            <a:ext cx="6635100" cy="2792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Create a new class named "</a:t>
            </a:r>
            <a:r>
              <a:rPr lang="en" sz="1500" dirty="0">
                <a:solidFill>
                  <a:srgbClr val="FF0000"/>
                </a:solidFill>
                <a:latin typeface="Courier New"/>
                <a:ea typeface="Courier New"/>
                <a:cs typeface="Courier New"/>
                <a:sym typeface="Courier New"/>
              </a:rPr>
              <a:t>ArrayIterator</a:t>
            </a:r>
            <a:r>
              <a:rPr lang="en" sz="1500" dirty="0"/>
              <a:t>".</a:t>
            </a:r>
            <a:endParaRPr sz="1500" dirty="0"/>
          </a:p>
          <a:p>
            <a:pPr marL="914400" lvl="1" indent="-311150" algn="l" rtl="0">
              <a:spcBef>
                <a:spcPts val="0"/>
              </a:spcBef>
              <a:spcAft>
                <a:spcPts val="0"/>
              </a:spcAft>
              <a:buSzPts val="1300"/>
              <a:buChar char="○"/>
            </a:pPr>
            <a:r>
              <a:rPr lang="en" sz="1300" dirty="0"/>
              <a:t>Use the UML class diagram to the left as a guide to implement your iterator.</a:t>
            </a:r>
            <a:endParaRPr sz="1300" dirty="0"/>
          </a:p>
          <a:p>
            <a:pPr marL="914400" lvl="1" indent="-311150" algn="l" rtl="0">
              <a:spcBef>
                <a:spcPts val="0"/>
              </a:spcBef>
              <a:spcAft>
                <a:spcPts val="0"/>
              </a:spcAft>
              <a:buSzPts val="1300"/>
              <a:buChar char="○"/>
            </a:pPr>
            <a:r>
              <a:rPr lang="en" sz="1300" dirty="0"/>
              <a:t>Use </a:t>
            </a:r>
            <a:r>
              <a:rPr lang="en" sz="1300" dirty="0">
                <a:latin typeface="Courier New"/>
                <a:ea typeface="Courier New"/>
                <a:cs typeface="Courier New"/>
                <a:sym typeface="Courier New"/>
              </a:rPr>
              <a:t>index</a:t>
            </a:r>
            <a:r>
              <a:rPr lang="en" sz="1300" dirty="0"/>
              <a:t> to keep track of which element should be returned by the </a:t>
            </a:r>
            <a:r>
              <a:rPr lang="en" sz="1300" dirty="0">
                <a:latin typeface="Courier New"/>
                <a:ea typeface="Courier New"/>
                <a:cs typeface="Courier New"/>
                <a:sym typeface="Courier New"/>
              </a:rPr>
              <a:t>next()</a:t>
            </a:r>
            <a:r>
              <a:rPr lang="en" sz="1300" dirty="0"/>
              <a:t> method.</a:t>
            </a:r>
            <a:endParaRPr sz="1300" b="1" i="1" dirty="0"/>
          </a:p>
          <a:p>
            <a:pPr marL="914400" lvl="1" indent="-311150" algn="l" rtl="0">
              <a:spcBef>
                <a:spcPts val="0"/>
              </a:spcBef>
              <a:spcAft>
                <a:spcPts val="0"/>
              </a:spcAft>
              <a:buSzPts val="1300"/>
              <a:buChar char="○"/>
            </a:pPr>
            <a:r>
              <a:rPr lang="en" sz="1300" b="1" i="1" dirty="0">
                <a:solidFill>
                  <a:srgbClr val="FF0000"/>
                </a:solidFill>
              </a:rPr>
              <a:t>Note</a:t>
            </a:r>
            <a:r>
              <a:rPr lang="en" sz="1300" dirty="0">
                <a:solidFill>
                  <a:srgbClr val="FF0000"/>
                </a:solidFill>
              </a:rPr>
              <a:t> </a:t>
            </a:r>
            <a:r>
              <a:rPr lang="en" sz="1300" dirty="0"/>
              <a:t>that the array may only be </a:t>
            </a:r>
            <a:r>
              <a:rPr lang="en" sz="1300" b="1" i="1" dirty="0">
                <a:solidFill>
                  <a:srgbClr val="FF0000"/>
                </a:solidFill>
              </a:rPr>
              <a:t>partially full</a:t>
            </a:r>
            <a:r>
              <a:rPr lang="en" sz="1300" dirty="0"/>
              <a:t>! Use </a:t>
            </a:r>
            <a:r>
              <a:rPr lang="en" sz="1300" dirty="0">
                <a:solidFill>
                  <a:srgbClr val="FF0000"/>
                </a:solidFill>
                <a:latin typeface="Courier New"/>
                <a:ea typeface="Courier New"/>
                <a:cs typeface="Courier New"/>
                <a:sym typeface="Courier New"/>
              </a:rPr>
              <a:t>size</a:t>
            </a:r>
            <a:r>
              <a:rPr lang="en" sz="1300" dirty="0"/>
              <a:t> to determine when the </a:t>
            </a:r>
            <a:r>
              <a:rPr lang="en" sz="1300" dirty="0">
                <a:latin typeface="Courier New"/>
                <a:ea typeface="Courier New"/>
                <a:cs typeface="Courier New"/>
                <a:sym typeface="Courier New"/>
              </a:rPr>
              <a:t>index</a:t>
            </a:r>
            <a:r>
              <a:rPr lang="en" sz="1300" dirty="0"/>
              <a:t> has passed the last element.</a:t>
            </a:r>
            <a:endParaRPr sz="1300" dirty="0"/>
          </a:p>
          <a:p>
            <a:pPr marL="914400" lvl="1" indent="-311150" algn="l" rtl="0">
              <a:spcBef>
                <a:spcPts val="0"/>
              </a:spcBef>
              <a:spcAft>
                <a:spcPts val="0"/>
              </a:spcAft>
              <a:buSzPts val="1300"/>
              <a:buChar char="○"/>
            </a:pPr>
            <a:r>
              <a:rPr lang="en" sz="1300" dirty="0"/>
              <a:t>Print a message to standard output in each method including that the name of the method and the value being returned.</a:t>
            </a:r>
            <a:endParaRPr sz="1300" dirty="0"/>
          </a:p>
          <a:p>
            <a:pPr marL="457200" lvl="0" indent="-323850" algn="l" rtl="0">
              <a:spcBef>
                <a:spcPts val="0"/>
              </a:spcBef>
              <a:spcAft>
                <a:spcPts val="0"/>
              </a:spcAft>
              <a:buSzPts val="1500"/>
              <a:buChar char="●"/>
            </a:pPr>
            <a:r>
              <a:rPr lang="en" sz="1500" dirty="0"/>
              <a:t>Rename the provided </a:t>
            </a:r>
            <a:r>
              <a:rPr lang="en" sz="1500" dirty="0">
                <a:latin typeface="Courier New"/>
                <a:ea typeface="Courier New"/>
                <a:cs typeface="Courier New"/>
                <a:sym typeface="Courier New"/>
              </a:rPr>
              <a:t>ArrayIteratorTest.txt</a:t>
            </a:r>
            <a:r>
              <a:rPr lang="en" sz="1500" dirty="0"/>
              <a:t> to </a:t>
            </a:r>
            <a:r>
              <a:rPr lang="en" sz="1500" dirty="0">
                <a:latin typeface="Courier New"/>
                <a:ea typeface="Courier New"/>
                <a:cs typeface="Courier New"/>
                <a:sym typeface="Courier New"/>
              </a:rPr>
              <a:t>.java</a:t>
            </a:r>
            <a:r>
              <a:rPr lang="en" sz="1500" dirty="0"/>
              <a:t> and use it to test your </a:t>
            </a:r>
            <a:r>
              <a:rPr lang="en" sz="1500" dirty="0">
                <a:latin typeface="Courier New"/>
                <a:ea typeface="Courier New"/>
                <a:cs typeface="Courier New"/>
                <a:sym typeface="Courier New"/>
              </a:rPr>
              <a:t>ArrayIterator</a:t>
            </a:r>
            <a:r>
              <a:rPr lang="en" sz="1500" dirty="0"/>
              <a:t>.</a:t>
            </a:r>
            <a:endParaRPr sz="1500" dirty="0"/>
          </a:p>
          <a:p>
            <a:pPr marL="914400" lvl="1" indent="-311150" algn="l" rtl="0">
              <a:spcBef>
                <a:spcPts val="0"/>
              </a:spcBef>
              <a:spcAft>
                <a:spcPts val="0"/>
              </a:spcAft>
              <a:buSzPts val="1300"/>
              <a:buChar char="○"/>
            </a:pPr>
            <a:r>
              <a:rPr lang="en" sz="1300" dirty="0"/>
              <a:t>If you need help getting it to work, please raise your hand!</a:t>
            </a:r>
            <a:endParaRPr sz="1300" dirty="0"/>
          </a:p>
        </p:txBody>
      </p:sp>
      <p:sp>
        <p:nvSpPr>
          <p:cNvPr id="1222" name="Google Shape;1222;p10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Array Iterator</a:t>
            </a:r>
            <a:endParaRPr/>
          </a:p>
        </p:txBody>
      </p:sp>
      <p:sp>
        <p:nvSpPr>
          <p:cNvPr id="1223" name="Google Shape;1223;p10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5.22</a:t>
            </a:r>
            <a:endParaRPr/>
          </a:p>
        </p:txBody>
      </p:sp>
      <p:pic>
        <p:nvPicPr>
          <p:cNvPr id="1224" name="Google Shape;1224;p109"/>
          <p:cNvPicPr preferRelativeResize="0"/>
          <p:nvPr/>
        </p:nvPicPr>
        <p:blipFill>
          <a:blip r:embed="rId4">
            <a:alphaModFix/>
          </a:blip>
          <a:stretch>
            <a:fillRect/>
          </a:stretch>
        </p:blipFill>
        <p:spPr>
          <a:xfrm>
            <a:off x="7135025" y="87075"/>
            <a:ext cx="1886124" cy="4833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28"/>
        <p:cNvGrpSpPr/>
        <p:nvPr/>
      </p:nvGrpSpPr>
      <p:grpSpPr>
        <a:xfrm>
          <a:off x="0" y="0"/>
          <a:ext cx="0" cy="0"/>
          <a:chOff x="0" y="0"/>
          <a:chExt cx="0" cy="0"/>
        </a:xfrm>
      </p:grpSpPr>
      <p:sp>
        <p:nvSpPr>
          <p:cNvPr id="1229" name="Google Shape;1229;p110"/>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 have an </a:t>
            </a:r>
            <a:r>
              <a:rPr lang="en">
                <a:latin typeface="Courier New"/>
                <a:ea typeface="Courier New"/>
                <a:cs typeface="Courier New"/>
                <a:sym typeface="Courier New"/>
              </a:rPr>
              <a:t>ArrayIterator</a:t>
            </a:r>
            <a:r>
              <a:rPr lang="en"/>
              <a:t>, we can implement the </a:t>
            </a:r>
            <a:r>
              <a:rPr lang="en">
                <a:latin typeface="Courier New"/>
                <a:ea typeface="Courier New"/>
                <a:cs typeface="Courier New"/>
                <a:sym typeface="Courier New"/>
              </a:rPr>
              <a:t>iterator()</a:t>
            </a:r>
            <a:r>
              <a:rPr lang="en"/>
              <a:t> method on </a:t>
            </a:r>
            <a:r>
              <a:rPr lang="en">
                <a:latin typeface="Courier New"/>
                <a:ea typeface="Courier New"/>
                <a:cs typeface="Courier New"/>
                <a:sym typeface="Courier New"/>
              </a:rPr>
              <a:t>ArrayList</a:t>
            </a:r>
            <a:r>
              <a:rPr lang="en"/>
              <a:t> so that it no longer uses the default implementation to throw an exception!</a:t>
            </a:r>
            <a:endParaRPr/>
          </a:p>
        </p:txBody>
      </p:sp>
      <p:sp>
        <p:nvSpPr>
          <p:cNvPr id="1230" name="Google Shape;1230;p1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1231" name="Google Shape;1231;p110"/>
          <p:cNvSpPr txBox="1">
            <a:spLocks noGrp="1"/>
          </p:cNvSpPr>
          <p:nvPr>
            <p:ph type="body" idx="2"/>
          </p:nvPr>
        </p:nvSpPr>
        <p:spPr>
          <a:xfrm>
            <a:off x="2650350" y="1608825"/>
            <a:ext cx="6290700" cy="29292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dirty="0"/>
              <a:t>Open your </a:t>
            </a:r>
            <a:r>
              <a:rPr lang="en" sz="1700" dirty="0">
                <a:latin typeface="Courier New"/>
                <a:ea typeface="Courier New"/>
                <a:cs typeface="Courier New"/>
                <a:sym typeface="Courier New"/>
              </a:rPr>
              <a:t>ArrayList</a:t>
            </a:r>
            <a:r>
              <a:rPr lang="en" sz="1700" dirty="0"/>
              <a:t> class and </a:t>
            </a:r>
            <a:r>
              <a:rPr lang="en" sz="1700" b="1" i="1" dirty="0">
                <a:solidFill>
                  <a:srgbClr val="FF0000"/>
                </a:solidFill>
              </a:rPr>
              <a:t>override </a:t>
            </a:r>
            <a:r>
              <a:rPr lang="en" sz="1700" dirty="0"/>
              <a:t>the </a:t>
            </a:r>
            <a:r>
              <a:rPr lang="en" sz="1700" dirty="0">
                <a:solidFill>
                  <a:srgbClr val="FF0000"/>
                </a:solidFill>
                <a:latin typeface="Courier New"/>
                <a:ea typeface="Courier New"/>
                <a:cs typeface="Courier New"/>
                <a:sym typeface="Courier New"/>
              </a:rPr>
              <a:t>iterator()</a:t>
            </a:r>
            <a:r>
              <a:rPr lang="en" sz="1700" dirty="0"/>
              <a:t> method inherited from </a:t>
            </a:r>
            <a:r>
              <a:rPr lang="en" sz="1700" dirty="0">
                <a:latin typeface="Courier New"/>
                <a:ea typeface="Courier New"/>
                <a:cs typeface="Courier New"/>
                <a:sym typeface="Courier New"/>
              </a:rPr>
              <a:t>Iterable</a:t>
            </a:r>
            <a:r>
              <a:rPr lang="en" sz="1700" dirty="0"/>
              <a:t> and </a:t>
            </a:r>
            <a:r>
              <a:rPr lang="en" sz="1700" dirty="0">
                <a:latin typeface="Courier New"/>
                <a:ea typeface="Courier New"/>
                <a:cs typeface="Courier New"/>
                <a:sym typeface="Courier New"/>
              </a:rPr>
              <a:t>List</a:t>
            </a:r>
            <a:r>
              <a:rPr lang="en" sz="1700" dirty="0"/>
              <a:t>.</a:t>
            </a:r>
            <a:endParaRPr sz="1700" dirty="0"/>
          </a:p>
          <a:p>
            <a:pPr marL="914400" lvl="1" indent="-323850" algn="l" rtl="0">
              <a:spcBef>
                <a:spcPts val="0"/>
              </a:spcBef>
              <a:spcAft>
                <a:spcPts val="0"/>
              </a:spcAft>
              <a:buSzPts val="1500"/>
              <a:buChar char="○"/>
            </a:pPr>
            <a:r>
              <a:rPr lang="en" sz="1500" dirty="0"/>
              <a:t>Print a message to standard output indicating that the method has been called.</a:t>
            </a:r>
            <a:endParaRPr sz="1500" dirty="0"/>
          </a:p>
          <a:p>
            <a:pPr marL="914400" lvl="1" indent="-323850" algn="l" rtl="0">
              <a:spcBef>
                <a:spcPts val="0"/>
              </a:spcBef>
              <a:spcAft>
                <a:spcPts val="0"/>
              </a:spcAft>
              <a:buSzPts val="1500"/>
              <a:buChar char="○"/>
            </a:pPr>
            <a:r>
              <a:rPr lang="en" sz="1500" b="1" i="1" dirty="0">
                <a:solidFill>
                  <a:srgbClr val="FF0000"/>
                </a:solidFill>
              </a:rPr>
              <a:t>Return</a:t>
            </a:r>
            <a:r>
              <a:rPr lang="en" sz="1500" dirty="0">
                <a:solidFill>
                  <a:srgbClr val="FF0000"/>
                </a:solidFill>
              </a:rPr>
              <a:t> </a:t>
            </a:r>
            <a:r>
              <a:rPr lang="en" sz="1500" dirty="0"/>
              <a:t>a new </a:t>
            </a:r>
            <a:r>
              <a:rPr lang="en" sz="1500" dirty="0">
                <a:latin typeface="Courier New"/>
                <a:ea typeface="Courier New"/>
                <a:cs typeface="Courier New"/>
                <a:sym typeface="Courier New"/>
              </a:rPr>
              <a:t>ArrayIterator</a:t>
            </a:r>
            <a:r>
              <a:rPr lang="en" sz="1500" dirty="0"/>
              <a:t> using the list's array of elements and its current size.</a:t>
            </a:r>
            <a:endParaRPr sz="1500" dirty="0"/>
          </a:p>
          <a:p>
            <a:pPr marL="457200" lvl="0" indent="-336550" algn="l" rtl="0">
              <a:spcBef>
                <a:spcPts val="0"/>
              </a:spcBef>
              <a:spcAft>
                <a:spcPts val="0"/>
              </a:spcAft>
              <a:buSzPts val="1700"/>
              <a:buChar char="●"/>
            </a:pPr>
            <a:r>
              <a:rPr lang="en" sz="1700" dirty="0"/>
              <a:t>Try running the </a:t>
            </a:r>
            <a:r>
              <a:rPr lang="en" sz="1700" dirty="0">
                <a:latin typeface="Courier New"/>
                <a:ea typeface="Courier New"/>
                <a:cs typeface="Courier New"/>
                <a:sym typeface="Courier New"/>
              </a:rPr>
              <a:t>ForEach</a:t>
            </a:r>
            <a:r>
              <a:rPr lang="en" sz="1700" dirty="0"/>
              <a:t> class again.</a:t>
            </a:r>
            <a:endParaRPr sz="1700" dirty="0"/>
          </a:p>
          <a:p>
            <a:pPr marL="914400" lvl="1" indent="-323850" algn="l" rtl="0">
              <a:spcBef>
                <a:spcPts val="0"/>
              </a:spcBef>
              <a:spcAft>
                <a:spcPts val="0"/>
              </a:spcAft>
              <a:buSzPts val="1500"/>
              <a:buChar char="○"/>
            </a:pPr>
            <a:r>
              <a:rPr lang="en" sz="1500" dirty="0"/>
              <a:t>What happens now?</a:t>
            </a:r>
            <a:endParaRPr sz="1500" dirty="0"/>
          </a:p>
          <a:p>
            <a:pPr marL="914400" lvl="1" indent="-330200" algn="l" rtl="0">
              <a:spcBef>
                <a:spcPts val="0"/>
              </a:spcBef>
              <a:spcAft>
                <a:spcPts val="0"/>
              </a:spcAft>
              <a:buSzPts val="1600"/>
              <a:buChar char="○"/>
            </a:pPr>
            <a:r>
              <a:rPr lang="en" sz="1500" dirty="0"/>
              <a:t>Do you see how the </a:t>
            </a:r>
            <a:r>
              <a:rPr lang="en" sz="1500" dirty="0">
                <a:latin typeface="Courier New"/>
                <a:ea typeface="Courier New"/>
                <a:cs typeface="Courier New"/>
                <a:sym typeface="Courier New"/>
              </a:rPr>
              <a:t>next()</a:t>
            </a:r>
            <a:r>
              <a:rPr lang="en" sz="1500" dirty="0"/>
              <a:t> and </a:t>
            </a:r>
            <a:r>
              <a:rPr lang="en" sz="1500" dirty="0">
                <a:latin typeface="Courier New"/>
                <a:ea typeface="Courier New"/>
                <a:cs typeface="Courier New"/>
                <a:sym typeface="Courier New"/>
              </a:rPr>
              <a:t>hasNext()</a:t>
            </a:r>
            <a:r>
              <a:rPr lang="en" sz="1500" dirty="0"/>
              <a:t> methods are used to control the </a:t>
            </a:r>
            <a:r>
              <a:rPr lang="en" sz="1500" dirty="0">
                <a:latin typeface="Courier New"/>
                <a:ea typeface="Courier New"/>
                <a:cs typeface="Courier New"/>
                <a:sym typeface="Courier New"/>
              </a:rPr>
              <a:t>for</a:t>
            </a:r>
            <a:r>
              <a:rPr lang="en" sz="1500" dirty="0"/>
              <a:t>-each loop?</a:t>
            </a:r>
            <a:endParaRPr sz="1600" dirty="0"/>
          </a:p>
        </p:txBody>
      </p:sp>
      <p:sp>
        <p:nvSpPr>
          <p:cNvPr id="1232" name="Google Shape;1232;p11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Iterable </a:t>
            </a:r>
            <a:r>
              <a:rPr lang="en">
                <a:latin typeface="Courier New"/>
                <a:ea typeface="Courier New"/>
                <a:cs typeface="Courier New"/>
                <a:sym typeface="Courier New"/>
              </a:rPr>
              <a:t>ArrayList</a:t>
            </a:r>
            <a:endParaRPr>
              <a:latin typeface="Courier New"/>
              <a:ea typeface="Courier New"/>
              <a:cs typeface="Courier New"/>
              <a:sym typeface="Courier New"/>
            </a:endParaRPr>
          </a:p>
        </p:txBody>
      </p:sp>
      <p:sp>
        <p:nvSpPr>
          <p:cNvPr id="1233" name="Google Shape;1233;p11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5.23</a:t>
            </a:r>
            <a:endParaRPr/>
          </a:p>
        </p:txBody>
      </p:sp>
      <p:pic>
        <p:nvPicPr>
          <p:cNvPr id="1234" name="Google Shape;1234;p110"/>
          <p:cNvPicPr preferRelativeResize="0"/>
          <p:nvPr/>
        </p:nvPicPr>
        <p:blipFill rotWithShape="1">
          <a:blip r:embed="rId3">
            <a:alphaModFix/>
          </a:blip>
          <a:srcRect/>
          <a:stretch/>
        </p:blipFill>
        <p:spPr>
          <a:xfrm>
            <a:off x="304800" y="1468375"/>
            <a:ext cx="2150176" cy="348108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sp>
        <p:nvSpPr>
          <p:cNvPr id="1239" name="Google Shape;1239;p111"/>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Technically speaking, a </a:t>
            </a:r>
            <a:r>
              <a:rPr lang="en">
                <a:latin typeface="Courier New"/>
                <a:ea typeface="Courier New"/>
                <a:cs typeface="Courier New"/>
                <a:sym typeface="Courier New"/>
              </a:rPr>
              <a:t>Queue</a:t>
            </a:r>
            <a:r>
              <a:rPr lang="en"/>
              <a:t> only provides access to the elements at the front and back (and not to the elements somewhere in the middle). Still, it can be a useful exercise to practice making another data structure iterable so that it will work with a </a:t>
            </a:r>
            <a:r>
              <a:rPr lang="en">
                <a:latin typeface="Courier New"/>
                <a:ea typeface="Courier New"/>
                <a:cs typeface="Courier New"/>
                <a:sym typeface="Courier New"/>
              </a:rPr>
              <a:t>for</a:t>
            </a:r>
            <a:r>
              <a:rPr lang="en"/>
              <a:t>-each loop. Let's try it now!</a:t>
            </a:r>
            <a:endParaRPr/>
          </a:p>
        </p:txBody>
      </p:sp>
      <p:sp>
        <p:nvSpPr>
          <p:cNvPr id="1240" name="Google Shape;1240;p1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1241" name="Google Shape;1241;p111"/>
          <p:cNvSpPr txBox="1">
            <a:spLocks noGrp="1"/>
          </p:cNvSpPr>
          <p:nvPr>
            <p:ph type="body" idx="2"/>
          </p:nvPr>
        </p:nvSpPr>
        <p:spPr>
          <a:xfrm>
            <a:off x="3384075" y="1784525"/>
            <a:ext cx="5556900" cy="2743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Queue</a:t>
            </a:r>
            <a:r>
              <a:rPr lang="en" dirty="0"/>
              <a:t> interface and modify it so that it extends Iterable.</a:t>
            </a:r>
            <a:endParaRPr dirty="0"/>
          </a:p>
          <a:p>
            <a:pPr marL="457200" lvl="0" indent="-311150" algn="l" rtl="0">
              <a:spcBef>
                <a:spcPts val="0"/>
              </a:spcBef>
              <a:spcAft>
                <a:spcPts val="0"/>
              </a:spcAft>
              <a:buSzPts val="1300"/>
              <a:buChar char="●"/>
            </a:pPr>
            <a:r>
              <a:rPr lang="en" dirty="0"/>
              <a:t>Write a default implementation of the </a:t>
            </a:r>
            <a:r>
              <a:rPr lang="en" dirty="0">
                <a:latin typeface="Courier New"/>
                <a:ea typeface="Courier New"/>
                <a:cs typeface="Courier New"/>
                <a:sym typeface="Courier New"/>
              </a:rPr>
              <a:t>iterator</a:t>
            </a:r>
            <a:r>
              <a:rPr lang="en" dirty="0"/>
              <a:t> method that throws an </a:t>
            </a:r>
            <a:r>
              <a:rPr lang="en" dirty="0">
                <a:latin typeface="Courier New"/>
                <a:ea typeface="Courier New"/>
                <a:cs typeface="Courier New"/>
                <a:sym typeface="Courier New"/>
              </a:rPr>
              <a:t>UnsupportedOperationExeption</a:t>
            </a:r>
            <a:r>
              <a:rPr lang="en" dirty="0"/>
              <a:t>.</a:t>
            </a:r>
            <a:endParaRPr dirty="0"/>
          </a:p>
          <a:p>
            <a:pPr marL="914400" lvl="1" indent="-298450" algn="l" rtl="0">
              <a:spcBef>
                <a:spcPts val="0"/>
              </a:spcBef>
              <a:spcAft>
                <a:spcPts val="0"/>
              </a:spcAft>
              <a:buSzPts val="1100"/>
              <a:buChar char="○"/>
            </a:pPr>
            <a:r>
              <a:rPr lang="en" dirty="0"/>
              <a:t>You will once again need to import the java.util.Iterator interface so that you can use it as a return type.</a:t>
            </a:r>
            <a:endParaRPr dirty="0"/>
          </a:p>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ForEach</a:t>
            </a:r>
            <a:r>
              <a:rPr lang="en" dirty="0"/>
              <a:t> class and define a method named "</a:t>
            </a:r>
            <a:r>
              <a:rPr lang="en" dirty="0">
                <a:latin typeface="Courier New"/>
                <a:ea typeface="Courier New"/>
                <a:cs typeface="Courier New"/>
                <a:sym typeface="Courier New"/>
              </a:rPr>
              <a:t>forQueue</a:t>
            </a:r>
            <a:r>
              <a:rPr lang="en" dirty="0"/>
              <a:t>" that declares a parameter for a </a:t>
            </a:r>
            <a:r>
              <a:rPr lang="en" dirty="0">
                <a:latin typeface="Courier New"/>
                <a:ea typeface="Courier New"/>
                <a:cs typeface="Courier New"/>
                <a:sym typeface="Courier New"/>
              </a:rPr>
              <a:t>Queue</a:t>
            </a:r>
            <a:r>
              <a:rPr lang="en" dirty="0"/>
              <a:t>.</a:t>
            </a:r>
            <a:endParaRPr dirty="0"/>
          </a:p>
          <a:p>
            <a:pPr marL="914400" lvl="1" indent="-298450" algn="l" rtl="0">
              <a:spcBef>
                <a:spcPts val="0"/>
              </a:spcBef>
              <a:spcAft>
                <a:spcPts val="0"/>
              </a:spcAft>
              <a:buSzPts val="1100"/>
              <a:buChar char="○"/>
            </a:pPr>
            <a:r>
              <a:rPr lang="en" dirty="0"/>
              <a:t>Uses a </a:t>
            </a:r>
            <a:r>
              <a:rPr lang="en" dirty="0">
                <a:latin typeface="Courier New"/>
                <a:ea typeface="Courier New"/>
                <a:cs typeface="Courier New"/>
                <a:sym typeface="Courier New"/>
              </a:rPr>
              <a:t>for</a:t>
            </a:r>
            <a:r>
              <a:rPr lang="en" dirty="0"/>
              <a:t>-each loop to iterate through the elements and print them to standard output.</a:t>
            </a:r>
            <a:endParaRPr dirty="0"/>
          </a:p>
          <a:p>
            <a:pPr marL="457200" lvl="0" indent="-311150" algn="l" rtl="0">
              <a:spcBef>
                <a:spcPts val="0"/>
              </a:spcBef>
              <a:spcAft>
                <a:spcPts val="0"/>
              </a:spcAft>
              <a:buSzPts val="1300"/>
              <a:buChar char="●"/>
            </a:pPr>
            <a:r>
              <a:rPr lang="en" dirty="0"/>
              <a:t>In main, create a </a:t>
            </a:r>
            <a:r>
              <a:rPr lang="en" dirty="0">
                <a:latin typeface="Courier New"/>
                <a:ea typeface="Courier New"/>
                <a:cs typeface="Courier New"/>
                <a:sym typeface="Courier New"/>
              </a:rPr>
              <a:t>NodeQueue</a:t>
            </a:r>
            <a:r>
              <a:rPr lang="en" dirty="0"/>
              <a:t> and enqueue a few elements before passing it into the </a:t>
            </a:r>
            <a:r>
              <a:rPr lang="en" dirty="0">
                <a:latin typeface="Courier New"/>
                <a:ea typeface="Courier New"/>
                <a:cs typeface="Courier New"/>
                <a:sym typeface="Courier New"/>
              </a:rPr>
              <a:t>forQueue</a:t>
            </a:r>
            <a:r>
              <a:rPr lang="en" dirty="0"/>
              <a:t> method.</a:t>
            </a:r>
            <a:endParaRPr dirty="0"/>
          </a:p>
          <a:p>
            <a:pPr marL="914400" lvl="1" indent="-298450" algn="l" rtl="0">
              <a:spcBef>
                <a:spcPts val="0"/>
              </a:spcBef>
              <a:spcAft>
                <a:spcPts val="0"/>
              </a:spcAft>
              <a:buSzPts val="1100"/>
              <a:buChar char="○"/>
            </a:pPr>
            <a:r>
              <a:rPr lang="en" dirty="0"/>
              <a:t>What happens?</a:t>
            </a:r>
            <a:endParaRPr dirty="0"/>
          </a:p>
        </p:txBody>
      </p:sp>
      <p:sp>
        <p:nvSpPr>
          <p:cNvPr id="1242" name="Google Shape;1242;p11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Iterable Queue</a:t>
            </a:r>
            <a:endParaRPr/>
          </a:p>
        </p:txBody>
      </p:sp>
      <p:sp>
        <p:nvSpPr>
          <p:cNvPr id="1243" name="Google Shape;1243;p11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5.24</a:t>
            </a:r>
            <a:endParaRPr u="sng"/>
          </a:p>
        </p:txBody>
      </p:sp>
      <p:grpSp>
        <p:nvGrpSpPr>
          <p:cNvPr id="1244" name="Google Shape;1244;p111"/>
          <p:cNvGrpSpPr/>
          <p:nvPr/>
        </p:nvGrpSpPr>
        <p:grpSpPr>
          <a:xfrm>
            <a:off x="152400" y="1881525"/>
            <a:ext cx="3337351" cy="2558200"/>
            <a:chOff x="152400" y="1881525"/>
            <a:chExt cx="3337351" cy="2558200"/>
          </a:xfrm>
        </p:grpSpPr>
        <p:pic>
          <p:nvPicPr>
            <p:cNvPr id="1245" name="Google Shape;1245;p111"/>
            <p:cNvPicPr preferRelativeResize="0"/>
            <p:nvPr/>
          </p:nvPicPr>
          <p:blipFill>
            <a:blip r:embed="rId3">
              <a:alphaModFix/>
            </a:blip>
            <a:stretch>
              <a:fillRect/>
            </a:stretch>
          </p:blipFill>
          <p:spPr>
            <a:xfrm>
              <a:off x="152400" y="1881525"/>
              <a:ext cx="3337351" cy="2558200"/>
            </a:xfrm>
            <a:prstGeom prst="rect">
              <a:avLst/>
            </a:prstGeom>
            <a:noFill/>
            <a:ln>
              <a:noFill/>
            </a:ln>
          </p:spPr>
        </p:pic>
        <p:cxnSp>
          <p:nvCxnSpPr>
            <p:cNvPr id="1246" name="Google Shape;1246;p111"/>
            <p:cNvCxnSpPr/>
            <p:nvPr/>
          </p:nvCxnSpPr>
          <p:spPr>
            <a:xfrm>
              <a:off x="2712455" y="2933250"/>
              <a:ext cx="0" cy="199800"/>
            </a:xfrm>
            <a:prstGeom prst="straightConnector1">
              <a:avLst/>
            </a:prstGeom>
            <a:noFill/>
            <a:ln w="19050" cap="flat" cmpd="sng">
              <a:solidFill>
                <a:srgbClr val="1E1E1E"/>
              </a:solidFill>
              <a:prstDash val="solid"/>
              <a:round/>
              <a:headEnd type="none" w="med" len="med"/>
              <a:tailEnd type="none" w="med" len="med"/>
            </a:ln>
          </p:spPr>
        </p:cxn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50"/>
        <p:cNvGrpSpPr/>
        <p:nvPr/>
      </p:nvGrpSpPr>
      <p:grpSpPr>
        <a:xfrm>
          <a:off x="0" y="0"/>
          <a:ext cx="0" cy="0"/>
          <a:chOff x="0" y="0"/>
          <a:chExt cx="0" cy="0"/>
        </a:xfrm>
      </p:grpSpPr>
      <p:sp>
        <p:nvSpPr>
          <p:cNvPr id="1251" name="Google Shape;1251;p11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ArrayIterator will not work with a NodeQueue because it stores its elements using nodes rather than an array. We'll need to implement a new Iterator that can iterate through a series of linked nodes.</a:t>
            </a:r>
            <a:endParaRPr/>
          </a:p>
        </p:txBody>
      </p:sp>
      <p:sp>
        <p:nvSpPr>
          <p:cNvPr id="1252" name="Google Shape;1252;p1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
        <p:nvSpPr>
          <p:cNvPr id="1253" name="Google Shape;1253;p112"/>
          <p:cNvSpPr txBox="1">
            <a:spLocks noGrp="1"/>
          </p:cNvSpPr>
          <p:nvPr>
            <p:ph type="body" idx="2"/>
          </p:nvPr>
        </p:nvSpPr>
        <p:spPr>
          <a:xfrm>
            <a:off x="2717750" y="1729125"/>
            <a:ext cx="6216000" cy="32523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a:t>Create a new class named "</a:t>
            </a:r>
            <a:r>
              <a:rPr lang="en" sz="1500">
                <a:solidFill>
                  <a:srgbClr val="FF0000"/>
                </a:solidFill>
                <a:latin typeface="Courier New"/>
                <a:ea typeface="Courier New"/>
                <a:cs typeface="Courier New"/>
                <a:sym typeface="Courier New"/>
              </a:rPr>
              <a:t>NodeIterator</a:t>
            </a:r>
            <a:r>
              <a:rPr lang="en" sz="1500"/>
              <a:t>".</a:t>
            </a:r>
            <a:endParaRPr sz="1500"/>
          </a:p>
          <a:p>
            <a:pPr marL="914400" lvl="1" indent="-311150" algn="l" rtl="0">
              <a:spcBef>
                <a:spcPts val="0"/>
              </a:spcBef>
              <a:spcAft>
                <a:spcPts val="0"/>
              </a:spcAft>
              <a:buSzPts val="1300"/>
              <a:buChar char="○"/>
            </a:pPr>
            <a:r>
              <a:rPr lang="en" sz="1300"/>
              <a:t>Use the UML class diagram to the left as a guide to implement your iterator.</a:t>
            </a:r>
            <a:endParaRPr sz="1300"/>
          </a:p>
          <a:p>
            <a:pPr marL="914400" lvl="1" indent="-311150" algn="l" rtl="0">
              <a:spcBef>
                <a:spcPts val="0"/>
              </a:spcBef>
              <a:spcAft>
                <a:spcPts val="0"/>
              </a:spcAft>
              <a:buSzPts val="1300"/>
              <a:buChar char="○"/>
            </a:pPr>
            <a:r>
              <a:rPr lang="en" sz="1300"/>
              <a:t>The </a:t>
            </a:r>
            <a:r>
              <a:rPr lang="en" sz="1300">
                <a:solidFill>
                  <a:srgbClr val="FF0000"/>
                </a:solidFill>
                <a:latin typeface="Courier New"/>
                <a:ea typeface="Courier New"/>
                <a:cs typeface="Courier New"/>
                <a:sym typeface="Courier New"/>
              </a:rPr>
              <a:t>hasNext()</a:t>
            </a:r>
            <a:r>
              <a:rPr lang="en" sz="1300"/>
              <a:t> method should return </a:t>
            </a:r>
            <a:r>
              <a:rPr lang="en" sz="1300">
                <a:solidFill>
                  <a:srgbClr val="FF0000"/>
                </a:solidFill>
                <a:latin typeface="Courier New"/>
                <a:ea typeface="Courier New"/>
                <a:cs typeface="Courier New"/>
                <a:sym typeface="Courier New"/>
              </a:rPr>
              <a:t>true</a:t>
            </a:r>
            <a:r>
              <a:rPr lang="en" sz="1300">
                <a:solidFill>
                  <a:srgbClr val="FF0000"/>
                </a:solidFill>
              </a:rPr>
              <a:t> </a:t>
            </a:r>
            <a:r>
              <a:rPr lang="en" sz="1300"/>
              <a:t>as long as the iterator has not reached the end of the sequence (</a:t>
            </a:r>
            <a:r>
              <a:rPr lang="en" sz="1300">
                <a:solidFill>
                  <a:srgbClr val="FF0000"/>
                </a:solidFill>
                <a:latin typeface="Courier New"/>
                <a:ea typeface="Courier New"/>
                <a:cs typeface="Courier New"/>
                <a:sym typeface="Courier New"/>
              </a:rPr>
              <a:t>node</a:t>
            </a:r>
            <a:r>
              <a:rPr lang="en" sz="1300">
                <a:solidFill>
                  <a:srgbClr val="FF0000"/>
                </a:solidFill>
              </a:rPr>
              <a:t> </a:t>
            </a:r>
            <a:r>
              <a:rPr lang="en" sz="1300"/>
              <a:t>is </a:t>
            </a:r>
            <a:r>
              <a:rPr lang="en" sz="1300">
                <a:solidFill>
                  <a:srgbClr val="FF0000"/>
                </a:solidFill>
                <a:latin typeface="Courier New"/>
                <a:ea typeface="Courier New"/>
                <a:cs typeface="Courier New"/>
                <a:sym typeface="Courier New"/>
              </a:rPr>
              <a:t>null</a:t>
            </a:r>
            <a:r>
              <a:rPr lang="en" sz="1300"/>
              <a:t>). </a:t>
            </a:r>
            <a:endParaRPr sz="1300"/>
          </a:p>
          <a:p>
            <a:pPr marL="914400" lvl="1" indent="-311150" algn="l" rtl="0">
              <a:spcBef>
                <a:spcPts val="0"/>
              </a:spcBef>
              <a:spcAft>
                <a:spcPts val="0"/>
              </a:spcAft>
              <a:buSzPts val="1300"/>
              <a:buChar char="○"/>
            </a:pPr>
            <a:r>
              <a:rPr lang="en" sz="1300"/>
              <a:t>The </a:t>
            </a:r>
            <a:r>
              <a:rPr lang="en" sz="1300">
                <a:solidFill>
                  <a:srgbClr val="FF0000"/>
                </a:solidFill>
                <a:latin typeface="Courier New"/>
                <a:ea typeface="Courier New"/>
                <a:cs typeface="Courier New"/>
                <a:sym typeface="Courier New"/>
              </a:rPr>
              <a:t>next()</a:t>
            </a:r>
            <a:r>
              <a:rPr lang="en" sz="1300"/>
              <a:t> method should return the </a:t>
            </a:r>
            <a:r>
              <a:rPr lang="en" sz="1300" b="1" i="1">
                <a:solidFill>
                  <a:srgbClr val="FF0000"/>
                </a:solidFill>
              </a:rPr>
              <a:t>value</a:t>
            </a:r>
            <a:r>
              <a:rPr lang="en" sz="1300">
                <a:solidFill>
                  <a:srgbClr val="FF0000"/>
                </a:solidFill>
              </a:rPr>
              <a:t> </a:t>
            </a:r>
            <a:r>
              <a:rPr lang="en" sz="1300"/>
              <a:t>in the </a:t>
            </a:r>
            <a:r>
              <a:rPr lang="en" sz="1300">
                <a:latin typeface="Courier New"/>
                <a:ea typeface="Courier New"/>
                <a:cs typeface="Courier New"/>
                <a:sym typeface="Courier New"/>
              </a:rPr>
              <a:t>node</a:t>
            </a:r>
            <a:r>
              <a:rPr lang="en" sz="1300"/>
              <a:t> </a:t>
            </a:r>
            <a:r>
              <a:rPr lang="en" sz="1300" b="1" i="1">
                <a:solidFill>
                  <a:srgbClr val="FF0000"/>
                </a:solidFill>
              </a:rPr>
              <a:t>and</a:t>
            </a:r>
            <a:r>
              <a:rPr lang="en" sz="1300">
                <a:solidFill>
                  <a:srgbClr val="FF0000"/>
                </a:solidFill>
              </a:rPr>
              <a:t> </a:t>
            </a:r>
            <a:r>
              <a:rPr lang="en" sz="1300"/>
              <a:t>move to the </a:t>
            </a:r>
            <a:r>
              <a:rPr lang="en" sz="1300" b="1" i="1">
                <a:solidFill>
                  <a:srgbClr val="FF0000"/>
                </a:solidFill>
              </a:rPr>
              <a:t>next node</a:t>
            </a:r>
            <a:r>
              <a:rPr lang="en" sz="1300"/>
              <a:t> in the linked-sequence.</a:t>
            </a:r>
            <a:endParaRPr sz="1300"/>
          </a:p>
          <a:p>
            <a:pPr marL="914400" lvl="1" indent="-311150" algn="l" rtl="0">
              <a:spcBef>
                <a:spcPts val="0"/>
              </a:spcBef>
              <a:spcAft>
                <a:spcPts val="0"/>
              </a:spcAft>
              <a:buSzPts val="1300"/>
              <a:buChar char="○"/>
            </a:pPr>
            <a:r>
              <a:rPr lang="en" sz="1300"/>
              <a:t>Print a message to standard output in each method including that the name of the method and the value being returned.</a:t>
            </a:r>
            <a:endParaRPr sz="1300"/>
          </a:p>
          <a:p>
            <a:pPr marL="457200" lvl="0" indent="-323850" algn="l" rtl="0">
              <a:spcBef>
                <a:spcPts val="0"/>
              </a:spcBef>
              <a:spcAft>
                <a:spcPts val="0"/>
              </a:spcAft>
              <a:buSzPts val="1500"/>
              <a:buChar char="●"/>
            </a:pPr>
            <a:r>
              <a:rPr lang="en" sz="1500"/>
              <a:t>Rename the provided </a:t>
            </a:r>
            <a:r>
              <a:rPr lang="en" sz="1500">
                <a:solidFill>
                  <a:srgbClr val="FF0000"/>
                </a:solidFill>
                <a:latin typeface="Courier New"/>
                <a:ea typeface="Courier New"/>
                <a:cs typeface="Courier New"/>
                <a:sym typeface="Courier New"/>
              </a:rPr>
              <a:t>NodeIteratorTest.txt</a:t>
            </a:r>
            <a:r>
              <a:rPr lang="en" sz="1500">
                <a:solidFill>
                  <a:srgbClr val="FF0000"/>
                </a:solidFill>
              </a:rPr>
              <a:t> </a:t>
            </a:r>
            <a:r>
              <a:rPr lang="en" sz="1500"/>
              <a:t>to </a:t>
            </a:r>
            <a:r>
              <a:rPr lang="en" sz="1500">
                <a:latin typeface="Courier New"/>
                <a:ea typeface="Courier New"/>
                <a:cs typeface="Courier New"/>
                <a:sym typeface="Courier New"/>
              </a:rPr>
              <a:t>.java</a:t>
            </a:r>
            <a:r>
              <a:rPr lang="en" sz="1500"/>
              <a:t> file and use it test your </a:t>
            </a:r>
            <a:r>
              <a:rPr lang="en" sz="1500">
                <a:latin typeface="Courier New"/>
                <a:ea typeface="Courier New"/>
                <a:cs typeface="Courier New"/>
                <a:sym typeface="Courier New"/>
              </a:rPr>
              <a:t>NodeIterator</a:t>
            </a:r>
            <a:r>
              <a:rPr lang="en" sz="1500"/>
              <a:t>.</a:t>
            </a:r>
            <a:endParaRPr sz="1500"/>
          </a:p>
          <a:p>
            <a:pPr marL="914400" lvl="1" indent="-311150" algn="l" rtl="0">
              <a:spcBef>
                <a:spcPts val="0"/>
              </a:spcBef>
              <a:spcAft>
                <a:spcPts val="0"/>
              </a:spcAft>
              <a:buSzPts val="1300"/>
              <a:buChar char="○"/>
            </a:pPr>
            <a:r>
              <a:rPr lang="en" sz="1300"/>
              <a:t>If your implementation is not working, raise your hand and ask for help!</a:t>
            </a:r>
            <a:endParaRPr sz="1300"/>
          </a:p>
        </p:txBody>
      </p:sp>
      <p:sp>
        <p:nvSpPr>
          <p:cNvPr id="1254" name="Google Shape;1254;p11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Iterator of Nodes</a:t>
            </a:r>
            <a:endParaRPr/>
          </a:p>
        </p:txBody>
      </p:sp>
      <p:sp>
        <p:nvSpPr>
          <p:cNvPr id="1255" name="Google Shape;1255;p11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5.25</a:t>
            </a:r>
            <a:endParaRPr u="sng"/>
          </a:p>
        </p:txBody>
      </p:sp>
      <p:pic>
        <p:nvPicPr>
          <p:cNvPr id="1256" name="Google Shape;1256;p112"/>
          <p:cNvPicPr preferRelativeResize="0"/>
          <p:nvPr/>
        </p:nvPicPr>
        <p:blipFill rotWithShape="1">
          <a:blip r:embed="rId3">
            <a:alphaModFix/>
          </a:blip>
          <a:srcRect/>
          <a:stretch/>
        </p:blipFill>
        <p:spPr>
          <a:xfrm>
            <a:off x="230350" y="1692050"/>
            <a:ext cx="2383199" cy="3191974"/>
          </a:xfrm>
          <a:prstGeom prst="rect">
            <a:avLst/>
          </a:prstGeom>
          <a:noFill/>
          <a:ln>
            <a:noFill/>
          </a:ln>
        </p:spPr>
      </p:pic>
      <p:pic>
        <p:nvPicPr>
          <p:cNvPr id="1257" name="Google Shape;1257;p112"/>
          <p:cNvPicPr preferRelativeResize="0"/>
          <p:nvPr/>
        </p:nvPicPr>
        <p:blipFill>
          <a:blip r:embed="rId4">
            <a:alphaModFix/>
          </a:blip>
          <a:stretch>
            <a:fillRect/>
          </a:stretch>
        </p:blipFill>
        <p:spPr>
          <a:xfrm>
            <a:off x="7135025" y="87075"/>
            <a:ext cx="1886124" cy="4833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61"/>
        <p:cNvGrpSpPr/>
        <p:nvPr/>
      </p:nvGrpSpPr>
      <p:grpSpPr>
        <a:xfrm>
          <a:off x="0" y="0"/>
          <a:ext cx="0" cy="0"/>
          <a:chOff x="0" y="0"/>
          <a:chExt cx="0" cy="0"/>
        </a:xfrm>
      </p:grpSpPr>
      <p:sp>
        <p:nvSpPr>
          <p:cNvPr id="1262" name="Google Shape;1262;p113"/>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Now that we've got a working </a:t>
            </a:r>
            <a:r>
              <a:rPr lang="en">
                <a:latin typeface="Courier New"/>
                <a:ea typeface="Courier New"/>
                <a:cs typeface="Courier New"/>
                <a:sym typeface="Courier New"/>
              </a:rPr>
              <a:t>NodeIterator</a:t>
            </a:r>
            <a:r>
              <a:rPr lang="en"/>
              <a:t>, we can update the </a:t>
            </a:r>
            <a:r>
              <a:rPr lang="en">
                <a:latin typeface="Courier New"/>
                <a:ea typeface="Courier New"/>
                <a:cs typeface="Courier New"/>
                <a:sym typeface="Courier New"/>
              </a:rPr>
              <a:t>NodeQueue</a:t>
            </a:r>
            <a:r>
              <a:rPr lang="en"/>
              <a:t> so that it will work with a </a:t>
            </a:r>
            <a:r>
              <a:rPr lang="en">
                <a:latin typeface="Courier New"/>
                <a:ea typeface="Courier New"/>
                <a:cs typeface="Courier New"/>
                <a:sym typeface="Courier New"/>
              </a:rPr>
              <a:t>for</a:t>
            </a:r>
            <a:r>
              <a:rPr lang="en"/>
              <a:t>-each loop without throwing an exception. Let's do that now.</a:t>
            </a:r>
            <a:endParaRPr/>
          </a:p>
        </p:txBody>
      </p:sp>
      <p:sp>
        <p:nvSpPr>
          <p:cNvPr id="1263" name="Google Shape;1263;p1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1264" name="Google Shape;1264;p113"/>
          <p:cNvSpPr txBox="1">
            <a:spLocks noGrp="1"/>
          </p:cNvSpPr>
          <p:nvPr>
            <p:ph type="body" idx="2"/>
          </p:nvPr>
        </p:nvSpPr>
        <p:spPr>
          <a:xfrm>
            <a:off x="3084600" y="1522150"/>
            <a:ext cx="5699400" cy="2524200"/>
          </a:xfrm>
          <a:prstGeom prst="rect">
            <a:avLst/>
          </a:prstGeom>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dirty="0"/>
              <a:t>Open your </a:t>
            </a:r>
            <a:r>
              <a:rPr lang="en" sz="1600" dirty="0">
                <a:latin typeface="Courier New"/>
                <a:ea typeface="Courier New"/>
                <a:cs typeface="Courier New"/>
                <a:sym typeface="Courier New"/>
              </a:rPr>
              <a:t>NodeQueue</a:t>
            </a:r>
            <a:r>
              <a:rPr lang="en" sz="1600" dirty="0"/>
              <a:t> class and </a:t>
            </a:r>
            <a:r>
              <a:rPr lang="en" sz="1600" b="1" i="1" dirty="0">
                <a:solidFill>
                  <a:srgbClr val="FF0000"/>
                </a:solidFill>
              </a:rPr>
              <a:t>override </a:t>
            </a:r>
            <a:r>
              <a:rPr lang="en" sz="1600" dirty="0"/>
              <a:t>the </a:t>
            </a:r>
            <a:r>
              <a:rPr lang="en" sz="1600" dirty="0">
                <a:solidFill>
                  <a:srgbClr val="FF0000"/>
                </a:solidFill>
                <a:latin typeface="Courier New"/>
                <a:ea typeface="Courier New"/>
                <a:cs typeface="Courier New"/>
                <a:sym typeface="Courier New"/>
              </a:rPr>
              <a:t>iterator()</a:t>
            </a:r>
            <a:r>
              <a:rPr lang="en" sz="1600" dirty="0"/>
              <a:t> method inherited from </a:t>
            </a:r>
            <a:r>
              <a:rPr lang="en" sz="1600" dirty="0">
                <a:latin typeface="Courier New"/>
                <a:ea typeface="Courier New"/>
                <a:cs typeface="Courier New"/>
                <a:sym typeface="Courier New"/>
              </a:rPr>
              <a:t>Iterable</a:t>
            </a:r>
            <a:r>
              <a:rPr lang="en" sz="1600" dirty="0"/>
              <a:t> and </a:t>
            </a:r>
            <a:r>
              <a:rPr lang="en" sz="1600" dirty="0">
                <a:latin typeface="Courier New"/>
                <a:ea typeface="Courier New"/>
                <a:cs typeface="Courier New"/>
                <a:sym typeface="Courier New"/>
              </a:rPr>
              <a:t>List</a:t>
            </a:r>
            <a:r>
              <a:rPr lang="en" sz="1600" dirty="0"/>
              <a:t>.</a:t>
            </a:r>
            <a:endParaRPr sz="1600" dirty="0"/>
          </a:p>
          <a:p>
            <a:pPr marL="914400" lvl="1" indent="-317500" algn="l" rtl="0">
              <a:spcBef>
                <a:spcPts val="0"/>
              </a:spcBef>
              <a:spcAft>
                <a:spcPts val="0"/>
              </a:spcAft>
              <a:buSzPts val="1400"/>
              <a:buChar char="○"/>
            </a:pPr>
            <a:r>
              <a:rPr lang="en" sz="1400" b="1" i="1" dirty="0">
                <a:solidFill>
                  <a:srgbClr val="FF0000"/>
                </a:solidFill>
              </a:rPr>
              <a:t>Return</a:t>
            </a:r>
            <a:r>
              <a:rPr lang="en" sz="1400" dirty="0">
                <a:solidFill>
                  <a:srgbClr val="FF0000"/>
                </a:solidFill>
              </a:rPr>
              <a:t> </a:t>
            </a:r>
            <a:r>
              <a:rPr lang="en" sz="1400" dirty="0"/>
              <a:t>a </a:t>
            </a:r>
            <a:r>
              <a:rPr lang="en" sz="1400" dirty="0">
                <a:latin typeface="Courier New"/>
                <a:ea typeface="Courier New"/>
                <a:cs typeface="Courier New"/>
                <a:sym typeface="Courier New"/>
              </a:rPr>
              <a:t>NodeIterator</a:t>
            </a:r>
            <a:r>
              <a:rPr lang="en" sz="1400" dirty="0"/>
              <a:t> that starts at the </a:t>
            </a:r>
            <a:r>
              <a:rPr lang="en" sz="1400" dirty="0">
                <a:solidFill>
                  <a:srgbClr val="FF0000"/>
                </a:solidFill>
                <a:latin typeface="Courier New"/>
                <a:ea typeface="Courier New"/>
                <a:cs typeface="Courier New"/>
                <a:sym typeface="Courier New"/>
              </a:rPr>
              <a:t>head</a:t>
            </a:r>
            <a:r>
              <a:rPr lang="en" sz="1400" dirty="0"/>
              <a:t> of the list.</a:t>
            </a:r>
            <a:endParaRPr sz="1400" dirty="0"/>
          </a:p>
          <a:p>
            <a:pPr marL="457200" lvl="0" indent="-330200" algn="l" rtl="0">
              <a:spcBef>
                <a:spcPts val="0"/>
              </a:spcBef>
              <a:spcAft>
                <a:spcPts val="0"/>
              </a:spcAft>
              <a:buSzPts val="1600"/>
              <a:buChar char="●"/>
            </a:pPr>
            <a:r>
              <a:rPr lang="en" sz="1600" b="1" i="1" dirty="0">
                <a:solidFill>
                  <a:srgbClr val="FF0000"/>
                </a:solidFill>
              </a:rPr>
              <a:t>Run</a:t>
            </a:r>
            <a:r>
              <a:rPr lang="en" sz="1600" dirty="0">
                <a:solidFill>
                  <a:srgbClr val="FF0000"/>
                </a:solidFill>
              </a:rPr>
              <a:t> </a:t>
            </a:r>
            <a:r>
              <a:rPr lang="en" sz="1600" dirty="0"/>
              <a:t>your </a:t>
            </a:r>
            <a:r>
              <a:rPr lang="en" sz="1600" dirty="0">
                <a:latin typeface="Courier New"/>
                <a:ea typeface="Courier New"/>
                <a:cs typeface="Courier New"/>
                <a:sym typeface="Courier New"/>
              </a:rPr>
              <a:t>ForEach</a:t>
            </a:r>
            <a:r>
              <a:rPr lang="en" sz="1600" dirty="0"/>
              <a:t> class.</a:t>
            </a:r>
            <a:endParaRPr sz="1600" dirty="0"/>
          </a:p>
          <a:p>
            <a:pPr marL="914400" lvl="1" indent="-317500" algn="l" rtl="0">
              <a:spcBef>
                <a:spcPts val="0"/>
              </a:spcBef>
              <a:spcAft>
                <a:spcPts val="0"/>
              </a:spcAft>
              <a:buSzPts val="1400"/>
              <a:buChar char="○"/>
            </a:pPr>
            <a:r>
              <a:rPr lang="en" sz="1400" dirty="0"/>
              <a:t>What happens now?</a:t>
            </a:r>
            <a:endParaRPr sz="1400" dirty="0"/>
          </a:p>
          <a:p>
            <a:pPr marL="914400" lvl="1" indent="-317500" algn="l" rtl="0">
              <a:spcBef>
                <a:spcPts val="0"/>
              </a:spcBef>
              <a:spcAft>
                <a:spcPts val="0"/>
              </a:spcAft>
              <a:buSzPts val="1400"/>
              <a:buChar char="○"/>
            </a:pPr>
            <a:r>
              <a:rPr lang="en" sz="1400" dirty="0"/>
              <a:t>Do you see how the </a:t>
            </a:r>
            <a:r>
              <a:rPr lang="en" sz="1400" dirty="0">
                <a:latin typeface="Courier New"/>
                <a:ea typeface="Courier New"/>
                <a:cs typeface="Courier New"/>
                <a:sym typeface="Courier New"/>
              </a:rPr>
              <a:t>next()</a:t>
            </a:r>
            <a:r>
              <a:rPr lang="en" sz="1400" dirty="0"/>
              <a:t> and </a:t>
            </a:r>
            <a:r>
              <a:rPr lang="en" sz="1400" dirty="0">
                <a:latin typeface="Courier New"/>
                <a:ea typeface="Courier New"/>
                <a:cs typeface="Courier New"/>
                <a:sym typeface="Courier New"/>
              </a:rPr>
              <a:t>hasNext()</a:t>
            </a:r>
            <a:r>
              <a:rPr lang="en" sz="1400" dirty="0"/>
              <a:t> methods are used to control the </a:t>
            </a:r>
            <a:r>
              <a:rPr lang="en" sz="1400" dirty="0">
                <a:latin typeface="Courier New"/>
                <a:ea typeface="Courier New"/>
                <a:cs typeface="Courier New"/>
                <a:sym typeface="Courier New"/>
              </a:rPr>
              <a:t>for</a:t>
            </a:r>
            <a:r>
              <a:rPr lang="en" sz="1400" dirty="0"/>
              <a:t>-each loop?</a:t>
            </a:r>
            <a:endParaRPr sz="1400" dirty="0"/>
          </a:p>
        </p:txBody>
      </p:sp>
      <p:sp>
        <p:nvSpPr>
          <p:cNvPr id="1265" name="Google Shape;1265;p11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a:t>
            </a:r>
            <a:r>
              <a:rPr lang="en">
                <a:latin typeface="Courier New"/>
                <a:ea typeface="Courier New"/>
                <a:cs typeface="Courier New"/>
                <a:sym typeface="Courier New"/>
              </a:rPr>
              <a:t>Iterable</a:t>
            </a:r>
            <a:r>
              <a:rPr lang="en"/>
              <a:t> </a:t>
            </a:r>
            <a:r>
              <a:rPr lang="en">
                <a:latin typeface="Courier New"/>
                <a:ea typeface="Courier New"/>
                <a:cs typeface="Courier New"/>
                <a:sym typeface="Courier New"/>
              </a:rPr>
              <a:t>NodeQueue</a:t>
            </a:r>
            <a:endParaRPr>
              <a:latin typeface="Courier New"/>
              <a:ea typeface="Courier New"/>
              <a:cs typeface="Courier New"/>
              <a:sym typeface="Courier New"/>
            </a:endParaRPr>
          </a:p>
        </p:txBody>
      </p:sp>
      <p:sp>
        <p:nvSpPr>
          <p:cNvPr id="1266" name="Google Shape;1266;p11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5.26</a:t>
            </a:r>
            <a:endParaRPr u="sng"/>
          </a:p>
        </p:txBody>
      </p:sp>
      <p:pic>
        <p:nvPicPr>
          <p:cNvPr id="1267" name="Google Shape;1267;p113"/>
          <p:cNvPicPr preferRelativeResize="0"/>
          <p:nvPr/>
        </p:nvPicPr>
        <p:blipFill rotWithShape="1">
          <a:blip r:embed="rId3">
            <a:alphaModFix/>
          </a:blip>
          <a:srcRect/>
          <a:stretch/>
        </p:blipFill>
        <p:spPr>
          <a:xfrm>
            <a:off x="230350" y="1492325"/>
            <a:ext cx="2532325" cy="33917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11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One </a:t>
            </a:r>
            <a:r>
              <a:rPr lang="en">
                <a:latin typeface="Courier New"/>
                <a:ea typeface="Courier New"/>
                <a:cs typeface="Courier New"/>
                <a:sym typeface="Courier New"/>
              </a:rPr>
              <a:t>Queue</a:t>
            </a:r>
            <a:r>
              <a:rPr lang="en"/>
              <a:t> down, and one to go! Let's update the </a:t>
            </a:r>
            <a:r>
              <a:rPr lang="en">
                <a:latin typeface="Courier New"/>
                <a:ea typeface="Courier New"/>
                <a:cs typeface="Courier New"/>
                <a:sym typeface="Courier New"/>
              </a:rPr>
              <a:t>ArrayQueue</a:t>
            </a:r>
            <a:r>
              <a:rPr lang="en"/>
              <a:t> so that it can also be used with a for-each loop. This may not be as simple as it seems…</a:t>
            </a:r>
            <a:endParaRPr/>
          </a:p>
        </p:txBody>
      </p:sp>
      <p:sp>
        <p:nvSpPr>
          <p:cNvPr id="1273" name="Google Shape;1273;p1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sp>
        <p:nvSpPr>
          <p:cNvPr id="1274" name="Google Shape;1274;p114"/>
          <p:cNvSpPr txBox="1">
            <a:spLocks noGrp="1"/>
          </p:cNvSpPr>
          <p:nvPr>
            <p:ph type="body" idx="2"/>
          </p:nvPr>
        </p:nvSpPr>
        <p:spPr>
          <a:xfrm>
            <a:off x="2680300" y="1530950"/>
            <a:ext cx="5937000" cy="2637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ArrayQueue</a:t>
            </a:r>
            <a:r>
              <a:rPr lang="en" dirty="0"/>
              <a:t> class and override the </a:t>
            </a:r>
            <a:r>
              <a:rPr lang="en" dirty="0">
                <a:latin typeface="Courier New"/>
                <a:ea typeface="Courier New"/>
                <a:cs typeface="Courier New"/>
                <a:sym typeface="Courier New"/>
              </a:rPr>
              <a:t>iterator</a:t>
            </a:r>
            <a:r>
              <a:rPr lang="en" dirty="0"/>
              <a:t> method inherited from the </a:t>
            </a:r>
            <a:r>
              <a:rPr lang="en" dirty="0">
                <a:latin typeface="Courier New"/>
                <a:ea typeface="Courier New"/>
                <a:cs typeface="Courier New"/>
                <a:sym typeface="Courier New"/>
              </a:rPr>
              <a:t>Queue</a:t>
            </a:r>
            <a:r>
              <a:rPr lang="en" dirty="0"/>
              <a:t> interface.</a:t>
            </a:r>
            <a:endParaRPr dirty="0"/>
          </a:p>
          <a:p>
            <a:pPr marL="914400" lvl="1" indent="-298450" algn="l" rtl="0">
              <a:spcBef>
                <a:spcPts val="0"/>
              </a:spcBef>
              <a:spcAft>
                <a:spcPts val="0"/>
              </a:spcAft>
              <a:buSzPts val="1100"/>
              <a:buChar char="○"/>
            </a:pPr>
            <a:r>
              <a:rPr lang="en" dirty="0"/>
              <a:t>Ideally, you would be able to use it to return an </a:t>
            </a:r>
            <a:r>
              <a:rPr lang="en" dirty="0">
                <a:latin typeface="Courier New"/>
                <a:ea typeface="Courier New"/>
                <a:cs typeface="Courier New"/>
                <a:sym typeface="Courier New"/>
              </a:rPr>
              <a:t>ArrayIterator</a:t>
            </a:r>
            <a:r>
              <a:rPr lang="en" dirty="0"/>
              <a:t>, but the current implementation of that class only iterates from index 0 to </a:t>
            </a:r>
            <a:r>
              <a:rPr lang="en" dirty="0">
                <a:latin typeface="Courier New"/>
                <a:ea typeface="Courier New"/>
                <a:cs typeface="Courier New"/>
                <a:sym typeface="Courier New"/>
              </a:rPr>
              <a:t>size-1</a:t>
            </a:r>
            <a:r>
              <a:rPr lang="en" dirty="0"/>
              <a:t>. Will that work with an </a:t>
            </a:r>
            <a:r>
              <a:rPr lang="en" dirty="0">
                <a:latin typeface="Courier New"/>
                <a:ea typeface="Courier New"/>
                <a:cs typeface="Courier New"/>
                <a:sym typeface="Courier New"/>
              </a:rPr>
              <a:t>ArrayQueue</a:t>
            </a:r>
            <a:r>
              <a:rPr lang="en" dirty="0"/>
              <a:t>?</a:t>
            </a:r>
            <a:endParaRPr dirty="0"/>
          </a:p>
          <a:p>
            <a:pPr marL="914400" lvl="1" indent="-298450" algn="l" rtl="0">
              <a:spcBef>
                <a:spcPts val="0"/>
              </a:spcBef>
              <a:spcAft>
                <a:spcPts val="0"/>
              </a:spcAft>
              <a:buSzPts val="1100"/>
              <a:buChar char="○"/>
            </a:pPr>
            <a:r>
              <a:rPr lang="en" dirty="0"/>
              <a:t>What changes do you think you will need to make to the class?</a:t>
            </a:r>
            <a:endParaRPr dirty="0"/>
          </a:p>
          <a:p>
            <a:pPr marL="914400" lvl="1" indent="-298450" algn="l" rtl="0">
              <a:spcBef>
                <a:spcPts val="0"/>
              </a:spcBef>
              <a:spcAft>
                <a:spcPts val="0"/>
              </a:spcAft>
              <a:buSzPts val="1100"/>
              <a:buChar char="○"/>
            </a:pPr>
            <a:r>
              <a:rPr lang="en" dirty="0"/>
              <a:t>Will it still work with the </a:t>
            </a:r>
            <a:r>
              <a:rPr lang="en" dirty="0">
                <a:latin typeface="Courier New"/>
                <a:ea typeface="Courier New"/>
                <a:cs typeface="Courier New"/>
                <a:sym typeface="Courier New"/>
              </a:rPr>
              <a:t>ArrayList</a:t>
            </a:r>
            <a:r>
              <a:rPr lang="en" dirty="0"/>
              <a:t>?!</a:t>
            </a:r>
            <a:endParaRPr dirty="0"/>
          </a:p>
          <a:p>
            <a:pPr marL="457200" lvl="0" indent="-311150" algn="l" rtl="0">
              <a:spcBef>
                <a:spcPts val="0"/>
              </a:spcBef>
              <a:spcAft>
                <a:spcPts val="0"/>
              </a:spcAft>
              <a:buSzPts val="1300"/>
              <a:buChar char="●"/>
            </a:pPr>
            <a:r>
              <a:rPr lang="en" dirty="0"/>
              <a:t>Use the </a:t>
            </a:r>
            <a:r>
              <a:rPr lang="en" dirty="0">
                <a:latin typeface="Courier New"/>
                <a:ea typeface="Courier New"/>
                <a:cs typeface="Courier New"/>
                <a:sym typeface="Courier New"/>
              </a:rPr>
              <a:t>main</a:t>
            </a:r>
            <a:r>
              <a:rPr lang="en" dirty="0"/>
              <a:t> method in the </a:t>
            </a:r>
            <a:r>
              <a:rPr lang="en" dirty="0">
                <a:latin typeface="Courier New"/>
                <a:ea typeface="Courier New"/>
                <a:cs typeface="Courier New"/>
                <a:sym typeface="Courier New"/>
              </a:rPr>
              <a:t>ForEach</a:t>
            </a:r>
            <a:r>
              <a:rPr lang="en" dirty="0"/>
              <a:t> class to create an </a:t>
            </a:r>
            <a:r>
              <a:rPr lang="en" dirty="0">
                <a:latin typeface="Courier New"/>
                <a:ea typeface="Courier New"/>
                <a:cs typeface="Courier New"/>
                <a:sym typeface="Courier New"/>
              </a:rPr>
              <a:t>ArrayQueue</a:t>
            </a:r>
            <a:r>
              <a:rPr lang="en" dirty="0"/>
              <a:t>, enqueue a few values, and pass it into the </a:t>
            </a:r>
            <a:r>
              <a:rPr lang="en" dirty="0">
                <a:latin typeface="Courier New"/>
                <a:ea typeface="Courier New"/>
                <a:cs typeface="Courier New"/>
                <a:sym typeface="Courier New"/>
              </a:rPr>
              <a:t>forQueue</a:t>
            </a:r>
            <a:r>
              <a:rPr lang="en" dirty="0"/>
              <a:t> method.</a:t>
            </a:r>
            <a:endParaRPr dirty="0"/>
          </a:p>
          <a:p>
            <a:pPr marL="914400" lvl="1" indent="-298450" algn="l" rtl="0">
              <a:spcBef>
                <a:spcPts val="0"/>
              </a:spcBef>
              <a:spcAft>
                <a:spcPts val="0"/>
              </a:spcAft>
              <a:buSzPts val="1100"/>
              <a:buChar char="○"/>
            </a:pPr>
            <a:r>
              <a:rPr lang="en" dirty="0"/>
              <a:t>What happens if you dequeue some of the values before calling the method?</a:t>
            </a:r>
            <a:endParaRPr dirty="0"/>
          </a:p>
          <a:p>
            <a:pPr marL="914400" lvl="1" indent="-298450" algn="l" rtl="0">
              <a:spcBef>
                <a:spcPts val="0"/>
              </a:spcBef>
              <a:spcAft>
                <a:spcPts val="0"/>
              </a:spcAft>
              <a:buSzPts val="1100"/>
              <a:buChar char="○"/>
            </a:pPr>
            <a:r>
              <a:rPr lang="en" dirty="0"/>
              <a:t>What if the array is resized?</a:t>
            </a:r>
            <a:endParaRPr dirty="0"/>
          </a:p>
          <a:p>
            <a:pPr marL="914400" lvl="1" indent="-298450" algn="l" rtl="0">
              <a:spcBef>
                <a:spcPts val="0"/>
              </a:spcBef>
              <a:spcAft>
                <a:spcPts val="0"/>
              </a:spcAft>
              <a:buSzPts val="1100"/>
              <a:buChar char="○"/>
            </a:pPr>
            <a:r>
              <a:rPr lang="en" dirty="0"/>
              <a:t>What if the front or back wrap around to the beginning?</a:t>
            </a:r>
            <a:endParaRPr dirty="0"/>
          </a:p>
        </p:txBody>
      </p:sp>
      <p:sp>
        <p:nvSpPr>
          <p:cNvPr id="1275" name="Google Shape;1275;p11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An Iterable </a:t>
            </a:r>
            <a:r>
              <a:rPr lang="en">
                <a:latin typeface="Courier New"/>
                <a:ea typeface="Courier New"/>
                <a:cs typeface="Courier New"/>
                <a:sym typeface="Courier New"/>
              </a:rPr>
              <a:t>ArrayQueue</a:t>
            </a:r>
            <a:endParaRPr>
              <a:latin typeface="Courier New"/>
              <a:ea typeface="Courier New"/>
              <a:cs typeface="Courier New"/>
              <a:sym typeface="Courier New"/>
            </a:endParaRPr>
          </a:p>
        </p:txBody>
      </p:sp>
      <p:sp>
        <p:nvSpPr>
          <p:cNvPr id="1276" name="Google Shape;1276;p11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u="sng"/>
              <a:t>5.27</a:t>
            </a:r>
            <a:endParaRPr u="sng"/>
          </a:p>
        </p:txBody>
      </p:sp>
      <p:pic>
        <p:nvPicPr>
          <p:cNvPr id="1277" name="Google Shape;1277;p114"/>
          <p:cNvPicPr preferRelativeResize="0"/>
          <p:nvPr/>
        </p:nvPicPr>
        <p:blipFill rotWithShape="1">
          <a:blip r:embed="rId3">
            <a:alphaModFix/>
          </a:blip>
          <a:srcRect/>
          <a:stretch/>
        </p:blipFill>
        <p:spPr>
          <a:xfrm>
            <a:off x="304800" y="1468375"/>
            <a:ext cx="2150176" cy="348108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sp>
        <p:nvSpPr>
          <p:cNvPr id="1282" name="Google Shape;1282;p115"/>
          <p:cNvSpPr txBox="1">
            <a:spLocks noGrp="1"/>
          </p:cNvSpPr>
          <p:nvPr>
            <p:ph type="title"/>
          </p:nvPr>
        </p:nvSpPr>
        <p:spPr>
          <a:xfrm>
            <a:off x="311725" y="272325"/>
            <a:ext cx="3706500" cy="6381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2600"/>
              <a:t>The Java Collections Framework (JCF)</a:t>
            </a:r>
            <a:endParaRPr sz="2600"/>
          </a:p>
        </p:txBody>
      </p:sp>
      <p:sp>
        <p:nvSpPr>
          <p:cNvPr id="1283" name="Google Shape;1283;p115"/>
          <p:cNvSpPr txBox="1">
            <a:spLocks noGrp="1"/>
          </p:cNvSpPr>
          <p:nvPr>
            <p:ph type="body" idx="1"/>
          </p:nvPr>
        </p:nvSpPr>
        <p:spPr>
          <a:xfrm>
            <a:off x="4429925" y="154825"/>
            <a:ext cx="4369500" cy="4905000"/>
          </a:xfrm>
          <a:prstGeom prst="rect">
            <a:avLst/>
          </a:prstGeom>
          <a:noFill/>
          <a:ln>
            <a:noFill/>
          </a:ln>
        </p:spPr>
        <p:txBody>
          <a:bodyPr spcFirstLastPara="1" wrap="square" lIns="91425" tIns="91425" rIns="91425" bIns="91425" anchor="ctr" anchorCtr="0">
            <a:spAutoFit/>
          </a:bodyPr>
          <a:lstStyle/>
          <a:p>
            <a:pPr marL="457200" lvl="0" indent="-304800" algn="l" rtl="0">
              <a:lnSpc>
                <a:spcPct val="100000"/>
              </a:lnSpc>
              <a:spcBef>
                <a:spcPts val="0"/>
              </a:spcBef>
              <a:spcAft>
                <a:spcPts val="0"/>
              </a:spcAft>
              <a:buSzPts val="1200"/>
              <a:buChar char="●"/>
            </a:pPr>
            <a:r>
              <a:rPr lang="en" sz="1200" dirty="0"/>
              <a:t>A </a:t>
            </a:r>
            <a:r>
              <a:rPr lang="en" sz="1200" b="1" i="1" dirty="0">
                <a:solidFill>
                  <a:srgbClr val="FF0000"/>
                </a:solidFill>
              </a:rPr>
              <a:t>data structure</a:t>
            </a:r>
            <a:r>
              <a:rPr lang="en" sz="1200" dirty="0"/>
              <a:t> is a grouping of related elements.</a:t>
            </a:r>
            <a:endParaRPr sz="1200" dirty="0"/>
          </a:p>
          <a:p>
            <a:pPr marL="914400" lvl="1" indent="-298450" algn="l" rtl="0">
              <a:lnSpc>
                <a:spcPct val="100000"/>
              </a:lnSpc>
              <a:spcBef>
                <a:spcPts val="0"/>
              </a:spcBef>
              <a:spcAft>
                <a:spcPts val="0"/>
              </a:spcAft>
              <a:buSzPts val="1100"/>
              <a:buChar char="○"/>
            </a:pPr>
            <a:r>
              <a:rPr lang="en" dirty="0"/>
              <a:t>Data structures are also sometimes referred to as </a:t>
            </a:r>
            <a:r>
              <a:rPr lang="en" b="1" i="1" dirty="0">
                <a:solidFill>
                  <a:srgbClr val="FF0000"/>
                </a:solidFill>
              </a:rPr>
              <a:t>collections</a:t>
            </a:r>
            <a:r>
              <a:rPr lang="en" dirty="0"/>
              <a:t>.</a:t>
            </a:r>
            <a:endParaRPr dirty="0"/>
          </a:p>
          <a:p>
            <a:pPr marL="457200" lvl="0" indent="-304800" algn="l" rtl="0">
              <a:lnSpc>
                <a:spcPct val="100000"/>
              </a:lnSpc>
              <a:spcBef>
                <a:spcPts val="1000"/>
              </a:spcBef>
              <a:spcAft>
                <a:spcPts val="0"/>
              </a:spcAft>
              <a:buSzPts val="1200"/>
              <a:buChar char="●"/>
            </a:pPr>
            <a:r>
              <a:rPr lang="en" sz="1200" dirty="0"/>
              <a:t>A </a:t>
            </a:r>
            <a:r>
              <a:rPr lang="en" sz="1200" b="1" i="1" dirty="0">
                <a:solidFill>
                  <a:srgbClr val="FF0000"/>
                </a:solidFill>
              </a:rPr>
              <a:t>collections framework</a:t>
            </a:r>
            <a:r>
              <a:rPr lang="en" sz="1200" dirty="0">
                <a:solidFill>
                  <a:srgbClr val="FF0000"/>
                </a:solidFill>
              </a:rPr>
              <a:t> </a:t>
            </a:r>
            <a:r>
              <a:rPr lang="en" sz="1200" dirty="0"/>
              <a:t>is a unified architecture for representing and manipulating collections.</a:t>
            </a:r>
            <a:endParaRPr sz="1200" dirty="0"/>
          </a:p>
          <a:p>
            <a:pPr marL="457200" lvl="0" indent="-304800" algn="l" rtl="0">
              <a:lnSpc>
                <a:spcPct val="100000"/>
              </a:lnSpc>
              <a:spcBef>
                <a:spcPts val="1000"/>
              </a:spcBef>
              <a:spcAft>
                <a:spcPts val="0"/>
              </a:spcAft>
              <a:buSzPts val="1200"/>
              <a:buChar char="●"/>
            </a:pPr>
            <a:r>
              <a:rPr lang="en" sz="1200" dirty="0"/>
              <a:t>All collections frameworks contain three things:</a:t>
            </a:r>
            <a:endParaRPr sz="1200" dirty="0"/>
          </a:p>
          <a:p>
            <a:pPr marL="914400" lvl="1" indent="-298450" algn="l" rtl="0">
              <a:lnSpc>
                <a:spcPct val="100000"/>
              </a:lnSpc>
              <a:spcBef>
                <a:spcPts val="0"/>
              </a:spcBef>
              <a:spcAft>
                <a:spcPts val="0"/>
              </a:spcAft>
              <a:buSzPts val="1100"/>
              <a:buChar char="○"/>
            </a:pPr>
            <a:r>
              <a:rPr lang="en" b="1" i="1" dirty="0">
                <a:solidFill>
                  <a:srgbClr val="FF0000"/>
                </a:solidFill>
              </a:rPr>
              <a:t>Interfaces</a:t>
            </a:r>
            <a:r>
              <a:rPr lang="en" dirty="0">
                <a:solidFill>
                  <a:srgbClr val="FF0000"/>
                </a:solidFill>
              </a:rPr>
              <a:t> </a:t>
            </a:r>
            <a:r>
              <a:rPr lang="en" dirty="0"/>
              <a:t>defining abstract data types (ADTs).</a:t>
            </a:r>
            <a:endParaRPr dirty="0"/>
          </a:p>
          <a:p>
            <a:pPr marL="914400" lvl="1" indent="-298450" algn="l" rtl="0">
              <a:lnSpc>
                <a:spcPct val="100000"/>
              </a:lnSpc>
              <a:spcBef>
                <a:spcPts val="0"/>
              </a:spcBef>
              <a:spcAft>
                <a:spcPts val="0"/>
              </a:spcAft>
              <a:buSzPts val="1100"/>
              <a:buChar char="○"/>
            </a:pPr>
            <a:r>
              <a:rPr lang="en" b="1" i="1" dirty="0">
                <a:solidFill>
                  <a:srgbClr val="FF0000"/>
                </a:solidFill>
              </a:rPr>
              <a:t>Implementations</a:t>
            </a:r>
            <a:r>
              <a:rPr lang="en" dirty="0">
                <a:solidFill>
                  <a:srgbClr val="FF0000"/>
                </a:solidFill>
              </a:rPr>
              <a:t> </a:t>
            </a:r>
            <a:r>
              <a:rPr lang="en" dirty="0"/>
              <a:t>of the interfaces.</a:t>
            </a:r>
            <a:endParaRPr dirty="0"/>
          </a:p>
          <a:p>
            <a:pPr marL="914400" lvl="1" indent="-298450" algn="l" rtl="0">
              <a:lnSpc>
                <a:spcPct val="100000"/>
              </a:lnSpc>
              <a:spcBef>
                <a:spcPts val="0"/>
              </a:spcBef>
              <a:spcAft>
                <a:spcPts val="0"/>
              </a:spcAft>
              <a:buSzPts val="1100"/>
              <a:buChar char="○"/>
            </a:pPr>
            <a:r>
              <a:rPr lang="en" dirty="0"/>
              <a:t>Methods that provide implementations of </a:t>
            </a:r>
            <a:r>
              <a:rPr lang="en" b="1" i="1" dirty="0">
                <a:solidFill>
                  <a:srgbClr val="FF0000"/>
                </a:solidFill>
              </a:rPr>
              <a:t>useful algorithms</a:t>
            </a:r>
            <a:r>
              <a:rPr lang="en" dirty="0"/>
              <a:t> for things like searching and sorting.</a:t>
            </a:r>
            <a:endParaRPr dirty="0"/>
          </a:p>
          <a:p>
            <a:pPr marL="457200" lvl="0" indent="-304800" algn="l" rtl="0">
              <a:lnSpc>
                <a:spcPct val="100000"/>
              </a:lnSpc>
              <a:spcBef>
                <a:spcPts val="1000"/>
              </a:spcBef>
              <a:spcAft>
                <a:spcPts val="0"/>
              </a:spcAft>
              <a:buSzPts val="1200"/>
              <a:buChar char="●"/>
            </a:pPr>
            <a:r>
              <a:rPr lang="en" sz="1200" dirty="0"/>
              <a:t>Java's version is the </a:t>
            </a:r>
            <a:r>
              <a:rPr lang="en" sz="1200" b="1" i="1" dirty="0">
                <a:solidFill>
                  <a:srgbClr val="FF0000"/>
                </a:solidFill>
              </a:rPr>
              <a:t>Java Collections Framework</a:t>
            </a:r>
            <a:r>
              <a:rPr lang="en" sz="1200" dirty="0"/>
              <a:t> (</a:t>
            </a:r>
            <a:r>
              <a:rPr lang="en" sz="1200" b="1" i="1" dirty="0">
                <a:solidFill>
                  <a:srgbClr val="FF0000"/>
                </a:solidFill>
              </a:rPr>
              <a:t>JCF</a:t>
            </a:r>
            <a:r>
              <a:rPr lang="en" sz="1200" dirty="0"/>
              <a:t>).</a:t>
            </a:r>
            <a:endParaRPr sz="1200" dirty="0"/>
          </a:p>
          <a:p>
            <a:pPr marL="457200" lvl="0" indent="-304800" algn="l" rtl="0">
              <a:lnSpc>
                <a:spcPct val="100000"/>
              </a:lnSpc>
              <a:spcBef>
                <a:spcPts val="1000"/>
              </a:spcBef>
              <a:spcAft>
                <a:spcPts val="0"/>
              </a:spcAft>
              <a:buSzPts val="1200"/>
              <a:buChar char="●"/>
            </a:pPr>
            <a:r>
              <a:rPr lang="en" sz="1200" dirty="0"/>
              <a:t>Implementing your own collections as we have done is an extremely valuable learning experience with many benefits.</a:t>
            </a:r>
            <a:endParaRPr sz="1200" dirty="0"/>
          </a:p>
          <a:p>
            <a:pPr marL="914400" lvl="1" indent="-298450" algn="l" rtl="0">
              <a:lnSpc>
                <a:spcPct val="100000"/>
              </a:lnSpc>
              <a:spcBef>
                <a:spcPts val="0"/>
              </a:spcBef>
              <a:spcAft>
                <a:spcPts val="0"/>
              </a:spcAft>
              <a:buSzPts val="1100"/>
              <a:buChar char="○"/>
            </a:pPr>
            <a:r>
              <a:rPr lang="en" dirty="0"/>
              <a:t>Gain practice with </a:t>
            </a:r>
            <a:r>
              <a:rPr lang="en" b="1" i="1" dirty="0">
                <a:solidFill>
                  <a:srgbClr val="FF0000"/>
                </a:solidFill>
              </a:rPr>
              <a:t>interfaces</a:t>
            </a:r>
            <a:r>
              <a:rPr lang="en" dirty="0"/>
              <a:t>, </a:t>
            </a:r>
            <a:r>
              <a:rPr lang="en" b="1" i="1" dirty="0">
                <a:solidFill>
                  <a:srgbClr val="FF0000"/>
                </a:solidFill>
              </a:rPr>
              <a:t>inheritance</a:t>
            </a:r>
            <a:r>
              <a:rPr lang="en" dirty="0"/>
              <a:t>, and </a:t>
            </a:r>
            <a:r>
              <a:rPr lang="en" b="1" i="1" dirty="0">
                <a:solidFill>
                  <a:srgbClr val="FF0000"/>
                </a:solidFill>
              </a:rPr>
              <a:t>polymorphism</a:t>
            </a:r>
            <a:r>
              <a:rPr lang="en" dirty="0"/>
              <a:t>.</a:t>
            </a:r>
            <a:endParaRPr dirty="0"/>
          </a:p>
          <a:p>
            <a:pPr marL="914400" lvl="1" indent="-298450" algn="l" rtl="0">
              <a:lnSpc>
                <a:spcPct val="100000"/>
              </a:lnSpc>
              <a:spcBef>
                <a:spcPts val="0"/>
              </a:spcBef>
              <a:spcAft>
                <a:spcPts val="0"/>
              </a:spcAft>
              <a:buSzPts val="1100"/>
              <a:buChar char="○"/>
            </a:pPr>
            <a:r>
              <a:rPr lang="en" dirty="0"/>
              <a:t>Gain a</a:t>
            </a:r>
            <a:r>
              <a:rPr lang="en" b="1" i="1" dirty="0"/>
              <a:t> </a:t>
            </a:r>
            <a:r>
              <a:rPr lang="en" b="1" i="1" dirty="0">
                <a:solidFill>
                  <a:srgbClr val="FF0000"/>
                </a:solidFill>
              </a:rPr>
              <a:t>deeper understanding</a:t>
            </a:r>
            <a:r>
              <a:rPr lang="en" dirty="0">
                <a:solidFill>
                  <a:srgbClr val="FF0000"/>
                </a:solidFill>
              </a:rPr>
              <a:t> </a:t>
            </a:r>
            <a:r>
              <a:rPr lang="en" dirty="0"/>
              <a:t>of how data structures work internally.</a:t>
            </a:r>
            <a:endParaRPr dirty="0"/>
          </a:p>
          <a:p>
            <a:pPr marL="914400" lvl="1" indent="-298450" algn="l" rtl="0">
              <a:lnSpc>
                <a:spcPct val="100000"/>
              </a:lnSpc>
              <a:spcBef>
                <a:spcPts val="0"/>
              </a:spcBef>
              <a:spcAft>
                <a:spcPts val="0"/>
              </a:spcAft>
              <a:buSzPts val="1100"/>
              <a:buChar char="○"/>
            </a:pPr>
            <a:r>
              <a:rPr lang="en" dirty="0"/>
              <a:t>Learn about </a:t>
            </a:r>
            <a:r>
              <a:rPr lang="en" b="1" i="1" dirty="0">
                <a:solidFill>
                  <a:srgbClr val="FF0000"/>
                </a:solidFill>
              </a:rPr>
              <a:t>design</a:t>
            </a:r>
            <a:r>
              <a:rPr lang="en" dirty="0"/>
              <a:t>, </a:t>
            </a:r>
            <a:r>
              <a:rPr lang="en" b="1" i="1" dirty="0">
                <a:solidFill>
                  <a:srgbClr val="FF0000"/>
                </a:solidFill>
              </a:rPr>
              <a:t>design patterns</a:t>
            </a:r>
            <a:r>
              <a:rPr lang="en" dirty="0">
                <a:solidFill>
                  <a:srgbClr val="FF0000"/>
                </a:solidFill>
              </a:rPr>
              <a:t> </a:t>
            </a:r>
            <a:r>
              <a:rPr lang="en" dirty="0"/>
              <a:t>and </a:t>
            </a:r>
            <a:r>
              <a:rPr lang="en" b="1" i="1" dirty="0">
                <a:solidFill>
                  <a:srgbClr val="FF0000"/>
                </a:solidFill>
              </a:rPr>
              <a:t>algorithms</a:t>
            </a:r>
            <a:r>
              <a:rPr lang="en" dirty="0"/>
              <a:t>.</a:t>
            </a:r>
            <a:endParaRPr dirty="0"/>
          </a:p>
          <a:p>
            <a:pPr marL="457200" lvl="0" indent="-304800" algn="l" rtl="0">
              <a:lnSpc>
                <a:spcPct val="100000"/>
              </a:lnSpc>
              <a:spcBef>
                <a:spcPts val="1000"/>
              </a:spcBef>
              <a:spcAft>
                <a:spcPts val="0"/>
              </a:spcAft>
              <a:buSzPts val="1200"/>
              <a:buChar char="●"/>
            </a:pPr>
            <a:r>
              <a:rPr lang="en" sz="1200" dirty="0"/>
              <a:t>Practically speaking, however, the implementations provided by a collections framework like the JCF are more </a:t>
            </a:r>
            <a:r>
              <a:rPr lang="en" sz="1200" b="1" i="1" dirty="0">
                <a:solidFill>
                  <a:srgbClr val="FF0000"/>
                </a:solidFill>
              </a:rPr>
              <a:t>robust</a:t>
            </a:r>
            <a:r>
              <a:rPr lang="en" sz="1200" dirty="0"/>
              <a:t>, </a:t>
            </a:r>
            <a:r>
              <a:rPr lang="en" sz="1200" b="1" i="1" dirty="0">
                <a:solidFill>
                  <a:srgbClr val="FF0000"/>
                </a:solidFill>
              </a:rPr>
              <a:t>reliable</a:t>
            </a:r>
            <a:r>
              <a:rPr lang="en" sz="1200" dirty="0"/>
              <a:t>, </a:t>
            </a:r>
            <a:r>
              <a:rPr lang="en" sz="1200" b="1" i="1" dirty="0">
                <a:solidFill>
                  <a:srgbClr val="FF0000"/>
                </a:solidFill>
              </a:rPr>
              <a:t>stable</a:t>
            </a:r>
            <a:r>
              <a:rPr lang="en" sz="1200" dirty="0"/>
              <a:t>, and </a:t>
            </a:r>
            <a:r>
              <a:rPr lang="en" sz="1200" b="1" i="1" dirty="0">
                <a:solidFill>
                  <a:srgbClr val="FF0000"/>
                </a:solidFill>
              </a:rPr>
              <a:t>feature rich</a:t>
            </a:r>
            <a:r>
              <a:rPr lang="en" sz="1200" dirty="0">
                <a:solidFill>
                  <a:srgbClr val="FF0000"/>
                </a:solidFill>
              </a:rPr>
              <a:t> </a:t>
            </a:r>
            <a:r>
              <a:rPr lang="en" sz="1200" dirty="0"/>
              <a:t>than those that we will build ourselves.</a:t>
            </a:r>
            <a:endParaRPr sz="1200" dirty="0"/>
          </a:p>
        </p:txBody>
      </p:sp>
      <p:sp>
        <p:nvSpPr>
          <p:cNvPr id="1284" name="Google Shape;1284;p115"/>
          <p:cNvSpPr txBox="1">
            <a:spLocks noGrp="1"/>
          </p:cNvSpPr>
          <p:nvPr>
            <p:ph type="sldNum" idx="12"/>
          </p:nvPr>
        </p:nvSpPr>
        <p:spPr>
          <a:xfrm>
            <a:off x="8548658" y="4703506"/>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58</a:t>
            </a:fld>
            <a:endParaRPr/>
          </a:p>
        </p:txBody>
      </p:sp>
      <p:sp>
        <p:nvSpPr>
          <p:cNvPr id="1285" name="Google Shape;1285;p115"/>
          <p:cNvSpPr txBox="1">
            <a:spLocks noGrp="1"/>
          </p:cNvSpPr>
          <p:nvPr>
            <p:ph type="body" idx="3"/>
          </p:nvPr>
        </p:nvSpPr>
        <p:spPr>
          <a:xfrm>
            <a:off x="216925" y="3371000"/>
            <a:ext cx="3896100" cy="681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The </a:t>
            </a:r>
            <a:r>
              <a:rPr lang="en" b="1" i="1">
                <a:solidFill>
                  <a:srgbClr val="FF0000"/>
                </a:solidFill>
              </a:rPr>
              <a:t>Java Collections Framework</a:t>
            </a:r>
            <a:r>
              <a:rPr lang="en"/>
              <a:t> (</a:t>
            </a:r>
            <a:r>
              <a:rPr lang="en" b="1" i="1">
                <a:solidFill>
                  <a:srgbClr val="FF0000"/>
                </a:solidFill>
              </a:rPr>
              <a:t>JCF</a:t>
            </a:r>
            <a:r>
              <a:rPr lang="en"/>
              <a:t>) provides very flexible and powerful implementations of many different abstract data types.</a:t>
            </a:r>
            <a:endParaRPr/>
          </a:p>
        </p:txBody>
      </p:sp>
      <p:sp>
        <p:nvSpPr>
          <p:cNvPr id="1286" name="Google Shape;1286;p115"/>
          <p:cNvSpPr txBox="1">
            <a:spLocks noGrp="1"/>
          </p:cNvSpPr>
          <p:nvPr>
            <p:ph type="body" idx="3"/>
          </p:nvPr>
        </p:nvSpPr>
        <p:spPr>
          <a:xfrm>
            <a:off x="216925" y="4209200"/>
            <a:ext cx="3896100" cy="6813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The general policy for </a:t>
            </a:r>
            <a:r>
              <a:rPr lang="en" u="sng"/>
              <a:t>SoftDev II</a:t>
            </a:r>
            <a:r>
              <a:rPr lang="en"/>
              <a:t> is that, </a:t>
            </a:r>
            <a:r>
              <a:rPr lang="en" b="1" i="1">
                <a:solidFill>
                  <a:srgbClr val="FF0000"/>
                </a:solidFill>
              </a:rPr>
              <a:t>once we have explored an abstract data type in class</a:t>
            </a:r>
            <a:r>
              <a:rPr lang="en"/>
              <a:t>, you are free to use the corresponding implementation in the JCF.</a:t>
            </a:r>
            <a:endParaRPr/>
          </a:p>
        </p:txBody>
      </p:sp>
      <p:pic>
        <p:nvPicPr>
          <p:cNvPr id="1287" name="Google Shape;1287;p115"/>
          <p:cNvPicPr preferRelativeResize="0"/>
          <p:nvPr/>
        </p:nvPicPr>
        <p:blipFill rotWithShape="1">
          <a:blip r:embed="rId3">
            <a:alphaModFix/>
          </a:blip>
          <a:srcRect/>
          <a:stretch/>
        </p:blipFill>
        <p:spPr>
          <a:xfrm>
            <a:off x="394053" y="1281175"/>
            <a:ext cx="924050" cy="1938899"/>
          </a:xfrm>
          <a:prstGeom prst="rect">
            <a:avLst/>
          </a:prstGeom>
          <a:noFill/>
          <a:ln>
            <a:noFill/>
          </a:ln>
        </p:spPr>
      </p:pic>
      <p:sp>
        <p:nvSpPr>
          <p:cNvPr id="1288" name="Google Shape;1288;p115"/>
          <p:cNvSpPr/>
          <p:nvPr/>
        </p:nvSpPr>
        <p:spPr>
          <a:xfrm>
            <a:off x="1733925" y="1143800"/>
            <a:ext cx="2243700" cy="1074600"/>
          </a:xfrm>
          <a:prstGeom prst="wedgeRoundRectCallout">
            <a:avLst>
              <a:gd name="adj1" fmla="val -67386"/>
              <a:gd name="adj2" fmla="val -1461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When is it OK for me to </a:t>
            </a:r>
            <a:r>
              <a:rPr lang="en" sz="1200" b="1" i="1" u="none" strike="noStrike" cap="none">
                <a:solidFill>
                  <a:srgbClr val="FF0000"/>
                </a:solidFill>
                <a:latin typeface="Arial"/>
                <a:ea typeface="Arial"/>
                <a:cs typeface="Arial"/>
                <a:sym typeface="Arial"/>
              </a:rPr>
              <a:t>use the JCF implementations</a:t>
            </a:r>
            <a:r>
              <a:rPr lang="en" sz="1200" b="0" i="0" u="none" strike="noStrike" cap="none">
                <a:solidFill>
                  <a:srgbClr val="000000"/>
                </a:solidFill>
                <a:latin typeface="Arial"/>
                <a:ea typeface="Arial"/>
                <a:cs typeface="Arial"/>
                <a:sym typeface="Arial"/>
              </a:rPr>
              <a:t> of different data structures in the code that I write for class? </a:t>
            </a:r>
            <a:endParaRPr sz="12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8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8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8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8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8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8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287"/>
                                        </p:tgtEl>
                                        <p:attrNameLst>
                                          <p:attrName>style.visibility</p:attrName>
                                        </p:attrNameLst>
                                      </p:cBhvr>
                                      <p:to>
                                        <p:strVal val="visible"/>
                                      </p:to>
                                    </p:set>
                                    <p:animEffect transition="in" filter="fade">
                                      <p:cBhvr>
                                        <p:cTn id="59" dur="1000"/>
                                        <p:tgtEl>
                                          <p:spTgt spid="1287"/>
                                        </p:tgtEl>
                                      </p:cBhvr>
                                    </p:animEffec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1288"/>
                                        </p:tgtEl>
                                        <p:attrNameLst>
                                          <p:attrName>style.visibility</p:attrName>
                                        </p:attrNameLst>
                                      </p:cBhvr>
                                      <p:to>
                                        <p:strVal val="visible"/>
                                      </p:to>
                                    </p:set>
                                    <p:animEffect transition="in" filter="fade">
                                      <p:cBhvr>
                                        <p:cTn id="63" dur="1000"/>
                                        <p:tgtEl>
                                          <p:spTgt spid="1288"/>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285"/>
                                        </p:tgtEl>
                                        <p:attrNameLst>
                                          <p:attrName>style.visibility</p:attrName>
                                        </p:attrNameLst>
                                      </p:cBhvr>
                                      <p:to>
                                        <p:strVal val="visible"/>
                                      </p:to>
                                    </p:set>
                                    <p:animEffect transition="in" filter="fade">
                                      <p:cBhvr>
                                        <p:cTn id="68" dur="1000"/>
                                        <p:tgtEl>
                                          <p:spTgt spid="128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286"/>
                                        </p:tgtEl>
                                        <p:attrNameLst>
                                          <p:attrName>style.visibility</p:attrName>
                                        </p:attrNameLst>
                                      </p:cBhvr>
                                      <p:to>
                                        <p:strVal val="visible"/>
                                      </p:to>
                                    </p:set>
                                    <p:animEffect transition="in" filter="fade">
                                      <p:cBhvr>
                                        <p:cTn id="73" dur="1000"/>
                                        <p:tgtEl>
                                          <p:spTgt spid="1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sp>
        <p:nvSpPr>
          <p:cNvPr id="1293" name="Google Shape;1293;p116"/>
          <p:cNvSpPr txBox="1">
            <a:spLocks noGrp="1"/>
          </p:cNvSpPr>
          <p:nvPr>
            <p:ph type="title"/>
          </p:nvPr>
        </p:nvSpPr>
        <p:spPr>
          <a:xfrm>
            <a:off x="5192225" y="189675"/>
            <a:ext cx="3706500" cy="63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600"/>
              <a:t>JCF Implementations</a:t>
            </a:r>
            <a:endParaRPr sz="2600"/>
          </a:p>
        </p:txBody>
      </p:sp>
      <p:sp>
        <p:nvSpPr>
          <p:cNvPr id="1294" name="Google Shape;1294;p116"/>
          <p:cNvSpPr txBox="1">
            <a:spLocks noGrp="1"/>
          </p:cNvSpPr>
          <p:nvPr>
            <p:ph type="body" idx="1"/>
          </p:nvPr>
        </p:nvSpPr>
        <p:spPr>
          <a:xfrm>
            <a:off x="166650" y="-25760"/>
            <a:ext cx="4609500" cy="5150700"/>
          </a:xfrm>
          <a:prstGeom prst="rect">
            <a:avLst/>
          </a:prstGeom>
          <a:noFill/>
          <a:ln>
            <a:noFill/>
          </a:ln>
        </p:spPr>
        <p:txBody>
          <a:bodyPr spcFirstLastPara="1" wrap="square" lIns="91425" tIns="91425" rIns="91425" bIns="91425" anchor="ctr" anchorCtr="0">
            <a:spAutoFit/>
          </a:bodyPr>
          <a:lstStyle/>
          <a:p>
            <a:pPr marL="457200" lvl="0" indent="-311150" algn="l" rtl="0">
              <a:lnSpc>
                <a:spcPct val="115000"/>
              </a:lnSpc>
              <a:spcBef>
                <a:spcPts val="0"/>
              </a:spcBef>
              <a:spcAft>
                <a:spcPts val="0"/>
              </a:spcAft>
              <a:buSzPts val="1300"/>
              <a:buChar char="●"/>
            </a:pPr>
            <a:r>
              <a:rPr lang="en" dirty="0"/>
              <a:t>Of course the JCF includes many interfaces and implementations of the data structures that we have looked at so far.</a:t>
            </a:r>
            <a:endParaRPr dirty="0"/>
          </a:p>
          <a:p>
            <a:pPr marL="914400" lvl="1" indent="-298450" algn="l" rtl="0">
              <a:lnSpc>
                <a:spcPct val="115000"/>
              </a:lnSpc>
              <a:spcBef>
                <a:spcPts val="0"/>
              </a:spcBef>
              <a:spcAft>
                <a:spcPts val="0"/>
              </a:spcAft>
              <a:buSzPts val="1100"/>
              <a:buChar char="○"/>
            </a:pPr>
            <a:r>
              <a:rPr lang="en" dirty="0"/>
              <a:t>Virtually every interface and implementation in the JCF is </a:t>
            </a:r>
            <a:r>
              <a:rPr lang="en" b="1" i="1" dirty="0">
                <a:solidFill>
                  <a:srgbClr val="FF0000"/>
                </a:solidFill>
              </a:rPr>
              <a:t>generic</a:t>
            </a:r>
            <a:r>
              <a:rPr lang="en" dirty="0">
                <a:solidFill>
                  <a:srgbClr val="FF0000"/>
                </a:solidFill>
              </a:rPr>
              <a:t> </a:t>
            </a:r>
            <a:r>
              <a:rPr lang="en" dirty="0"/>
              <a:t>and so can be used with any type.</a:t>
            </a:r>
            <a:endParaRPr dirty="0"/>
          </a:p>
          <a:p>
            <a:pPr marL="457200" lvl="0" indent="-311150" algn="l" rtl="0">
              <a:lnSpc>
                <a:spcPct val="115000"/>
              </a:lnSpc>
              <a:spcBef>
                <a:spcPts val="1000"/>
              </a:spcBef>
              <a:spcAft>
                <a:spcPts val="0"/>
              </a:spcAft>
              <a:buSzPts val="1300"/>
              <a:buChar char="●"/>
            </a:pPr>
            <a:r>
              <a:rPr lang="en" u="sng" dirty="0">
                <a:solidFill>
                  <a:srgbClr val="4A86E8"/>
                </a:solidFill>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java.util.List</a:t>
            </a:r>
            <a:r>
              <a:rPr lang="en" dirty="0"/>
              <a:t> is the </a:t>
            </a:r>
            <a:r>
              <a:rPr lang="en" b="1" i="1" dirty="0">
                <a:solidFill>
                  <a:srgbClr val="FF0000"/>
                </a:solidFill>
              </a:rPr>
              <a:t>list</a:t>
            </a:r>
            <a:r>
              <a:rPr lang="en" dirty="0">
                <a:solidFill>
                  <a:srgbClr val="FF0000"/>
                </a:solidFill>
              </a:rPr>
              <a:t> </a:t>
            </a:r>
            <a:r>
              <a:rPr lang="en" dirty="0"/>
              <a:t>interface and defines methods for </a:t>
            </a:r>
            <a:r>
              <a:rPr lang="en" b="1" i="1" dirty="0">
                <a:solidFill>
                  <a:srgbClr val="FF0000"/>
                </a:solidFill>
              </a:rPr>
              <a:t>add</a:t>
            </a:r>
            <a:r>
              <a:rPr lang="en" dirty="0"/>
              <a:t>, </a:t>
            </a:r>
            <a:r>
              <a:rPr lang="en" b="1" i="1" dirty="0">
                <a:solidFill>
                  <a:srgbClr val="FF0000"/>
                </a:solidFill>
              </a:rPr>
              <a:t>get</a:t>
            </a:r>
            <a:r>
              <a:rPr lang="en" dirty="0"/>
              <a:t>, </a:t>
            </a:r>
            <a:r>
              <a:rPr lang="en" b="1" i="1" dirty="0">
                <a:solidFill>
                  <a:srgbClr val="FF0000"/>
                </a:solidFill>
              </a:rPr>
              <a:t>insert</a:t>
            </a:r>
            <a:r>
              <a:rPr lang="en" dirty="0"/>
              <a:t>, </a:t>
            </a:r>
            <a:r>
              <a:rPr lang="en" b="1" i="1" dirty="0">
                <a:solidFill>
                  <a:srgbClr val="FF0000"/>
                </a:solidFill>
              </a:rPr>
              <a:t>remove</a:t>
            </a:r>
            <a:r>
              <a:rPr lang="en" dirty="0"/>
              <a:t>, and </a:t>
            </a:r>
            <a:r>
              <a:rPr lang="en" b="1" i="1" dirty="0">
                <a:solidFill>
                  <a:srgbClr val="FF0000"/>
                </a:solidFill>
              </a:rPr>
              <a:t>iteration </a:t>
            </a:r>
            <a:r>
              <a:rPr lang="en" dirty="0"/>
              <a:t>as well as many others.</a:t>
            </a:r>
            <a:endParaRPr dirty="0"/>
          </a:p>
          <a:p>
            <a:pPr marL="457200" lvl="0" indent="-311150" algn="l" rtl="0">
              <a:lnSpc>
                <a:spcPct val="115000"/>
              </a:lnSpc>
              <a:spcBef>
                <a:spcPts val="1000"/>
              </a:spcBef>
              <a:spcAft>
                <a:spcPts val="0"/>
              </a:spcAft>
              <a:buSzPts val="1300"/>
              <a:buChar char="●"/>
            </a:pPr>
            <a:r>
              <a:rPr lang="en" dirty="0"/>
              <a:t>Not surprisingly, there are </a:t>
            </a:r>
            <a:r>
              <a:rPr lang="en" b="1" i="1" dirty="0">
                <a:solidFill>
                  <a:srgbClr val="FF0000"/>
                </a:solidFill>
              </a:rPr>
              <a:t>two</a:t>
            </a:r>
            <a:r>
              <a:rPr lang="en" dirty="0"/>
              <a:t> main implementations of </a:t>
            </a:r>
            <a:r>
              <a:rPr lang="en" dirty="0">
                <a:latin typeface="Courier New"/>
                <a:ea typeface="Courier New"/>
                <a:cs typeface="Courier New"/>
                <a:sym typeface="Courier New"/>
              </a:rPr>
              <a:t>List</a:t>
            </a:r>
            <a:r>
              <a:rPr lang="en" dirty="0"/>
              <a:t> that are commonly used.</a:t>
            </a:r>
            <a:endParaRPr dirty="0"/>
          </a:p>
          <a:p>
            <a:pPr marL="914400" lvl="1" indent="-298450" algn="l" rtl="0">
              <a:lnSpc>
                <a:spcPct val="115000"/>
              </a:lnSpc>
              <a:spcBef>
                <a:spcPts val="0"/>
              </a:spcBef>
              <a:spcAft>
                <a:spcPts val="0"/>
              </a:spcAft>
              <a:buSzPts val="1100"/>
              <a:buChar char="○"/>
            </a:pPr>
            <a:r>
              <a:rPr lang="en" u="sng" dirty="0">
                <a:solidFill>
                  <a:srgbClr val="4A86E8"/>
                </a:solidFill>
                <a:latin typeface="Courier New"/>
                <a:ea typeface="Courier New"/>
                <a:cs typeface="Courier New"/>
                <a:sym typeface="Courier New"/>
                <a:hlinkClick r:id="rId4">
                  <a:extLst>
                    <a:ext uri="{A12FA001-AC4F-418D-AE19-62706E023703}">
                      <ahyp:hlinkClr xmlns:ahyp="http://schemas.microsoft.com/office/drawing/2018/hyperlinkcolor" val="tx"/>
                    </a:ext>
                  </a:extLst>
                </a:hlinkClick>
              </a:rPr>
              <a:t>java.util.ArrayList</a:t>
            </a:r>
            <a:r>
              <a:rPr lang="en" dirty="0"/>
              <a:t> is </a:t>
            </a:r>
            <a:r>
              <a:rPr lang="en" b="1" i="1" dirty="0">
                <a:solidFill>
                  <a:srgbClr val="FF0000"/>
                </a:solidFill>
              </a:rPr>
              <a:t>array-based</a:t>
            </a:r>
            <a:r>
              <a:rPr lang="en" dirty="0"/>
              <a:t>.</a:t>
            </a:r>
            <a:endParaRPr dirty="0"/>
          </a:p>
          <a:p>
            <a:pPr marL="914400" lvl="1" indent="-298450" algn="l" rtl="0">
              <a:lnSpc>
                <a:spcPct val="115000"/>
              </a:lnSpc>
              <a:spcBef>
                <a:spcPts val="0"/>
              </a:spcBef>
              <a:spcAft>
                <a:spcPts val="0"/>
              </a:spcAft>
              <a:buSzPts val="1100"/>
              <a:buChar char="○"/>
            </a:pPr>
            <a:r>
              <a:rPr lang="en" u="sng" dirty="0">
                <a:solidFill>
                  <a:srgbClr val="4A86E8"/>
                </a:solidFill>
                <a:latin typeface="Courier New"/>
                <a:ea typeface="Courier New"/>
                <a:cs typeface="Courier New"/>
                <a:sym typeface="Courier New"/>
                <a:hlinkClick r:id="rId5">
                  <a:extLst>
                    <a:ext uri="{A12FA001-AC4F-418D-AE19-62706E023703}">
                      <ahyp:hlinkClr xmlns:ahyp="http://schemas.microsoft.com/office/drawing/2018/hyperlinkcolor" val="tx"/>
                    </a:ext>
                  </a:extLst>
                </a:hlinkClick>
              </a:rPr>
              <a:t>java.util.LinkedList</a:t>
            </a:r>
            <a:r>
              <a:rPr lang="en" dirty="0"/>
              <a:t> is </a:t>
            </a:r>
            <a:r>
              <a:rPr lang="en" b="1" i="1" dirty="0">
                <a:solidFill>
                  <a:srgbClr val="FF0000"/>
                </a:solidFill>
              </a:rPr>
              <a:t>node-based</a:t>
            </a:r>
            <a:r>
              <a:rPr lang="en" dirty="0"/>
              <a:t>.</a:t>
            </a:r>
            <a:endParaRPr dirty="0"/>
          </a:p>
          <a:p>
            <a:pPr marL="457200" lvl="0" indent="-311150" algn="l" rtl="0">
              <a:lnSpc>
                <a:spcPct val="115000"/>
              </a:lnSpc>
              <a:spcBef>
                <a:spcPts val="1000"/>
              </a:spcBef>
              <a:spcAft>
                <a:spcPts val="0"/>
              </a:spcAft>
              <a:buSzPts val="1300"/>
              <a:buChar char="●"/>
            </a:pPr>
            <a:r>
              <a:rPr lang="en" u="sng" dirty="0">
                <a:solidFill>
                  <a:srgbClr val="4A86E8"/>
                </a:solidFill>
                <a:latin typeface="Courier New"/>
                <a:ea typeface="Courier New"/>
                <a:cs typeface="Courier New"/>
                <a:sym typeface="Courier New"/>
                <a:hlinkClick r:id="rId6">
                  <a:extLst>
                    <a:ext uri="{A12FA001-AC4F-418D-AE19-62706E023703}">
                      <ahyp:hlinkClr xmlns:ahyp="http://schemas.microsoft.com/office/drawing/2018/hyperlinkcolor" val="tx"/>
                    </a:ext>
                  </a:extLst>
                </a:hlinkClick>
              </a:rPr>
              <a:t>java.util.Queue</a:t>
            </a:r>
            <a:r>
              <a:rPr lang="en" dirty="0"/>
              <a:t> is the </a:t>
            </a:r>
            <a:r>
              <a:rPr lang="en" b="1" i="1" dirty="0">
                <a:solidFill>
                  <a:srgbClr val="FF0000"/>
                </a:solidFill>
              </a:rPr>
              <a:t>queue</a:t>
            </a:r>
            <a:r>
              <a:rPr lang="en" dirty="0">
                <a:solidFill>
                  <a:srgbClr val="FF0000"/>
                </a:solidFill>
              </a:rPr>
              <a:t> </a:t>
            </a:r>
            <a:r>
              <a:rPr lang="en" dirty="0"/>
              <a:t>interface and is, oddly enough, implemented by </a:t>
            </a:r>
            <a:r>
              <a:rPr lang="en" dirty="0">
                <a:latin typeface="Courier New"/>
                <a:ea typeface="Courier New"/>
                <a:cs typeface="Courier New"/>
                <a:sym typeface="Courier New"/>
              </a:rPr>
              <a:t>LinkedList</a:t>
            </a:r>
            <a:r>
              <a:rPr lang="en" dirty="0"/>
              <a:t>.</a:t>
            </a:r>
            <a:endParaRPr dirty="0"/>
          </a:p>
          <a:p>
            <a:pPr marL="914400" lvl="1" indent="-298450" algn="l" rtl="0">
              <a:lnSpc>
                <a:spcPct val="115000"/>
              </a:lnSpc>
              <a:spcBef>
                <a:spcPts val="0"/>
              </a:spcBef>
              <a:spcAft>
                <a:spcPts val="0"/>
              </a:spcAft>
              <a:buSzPts val="1100"/>
              <a:buChar char="○"/>
            </a:pPr>
            <a:r>
              <a:rPr lang="en" dirty="0"/>
              <a:t>Java's version of </a:t>
            </a:r>
            <a:r>
              <a:rPr lang="en" dirty="0">
                <a:latin typeface="Courier New"/>
                <a:ea typeface="Courier New"/>
                <a:cs typeface="Courier New"/>
                <a:sym typeface="Courier New"/>
              </a:rPr>
              <a:t>Queue</a:t>
            </a:r>
            <a:r>
              <a:rPr lang="en" dirty="0"/>
              <a:t> is a little odd because it is </a:t>
            </a:r>
            <a:r>
              <a:rPr lang="en" b="1" i="1" dirty="0">
                <a:solidFill>
                  <a:srgbClr val="FF0000"/>
                </a:solidFill>
                <a:highlight>
                  <a:srgbClr val="FFFF00"/>
                </a:highlight>
              </a:rPr>
              <a:t>iterable </a:t>
            </a:r>
            <a:r>
              <a:rPr lang="en" dirty="0">
                <a:highlight>
                  <a:srgbClr val="FFFF00"/>
                </a:highlight>
              </a:rPr>
              <a:t>and provides </a:t>
            </a:r>
            <a:r>
              <a:rPr lang="en" b="1" i="1" dirty="0">
                <a:solidFill>
                  <a:srgbClr val="FF0000"/>
                </a:solidFill>
                <a:highlight>
                  <a:srgbClr val="FFFF00"/>
                </a:highlight>
              </a:rPr>
              <a:t>random access</a:t>
            </a:r>
            <a:r>
              <a:rPr lang="en" dirty="0">
                <a:highlight>
                  <a:srgbClr val="FFFF00"/>
                </a:highlight>
              </a:rPr>
              <a:t>.</a:t>
            </a:r>
            <a:endParaRPr dirty="0">
              <a:highlight>
                <a:srgbClr val="FFFF00"/>
              </a:highlight>
            </a:endParaRPr>
          </a:p>
          <a:p>
            <a:pPr marL="914400" lvl="1" indent="-298450" algn="l" rtl="0">
              <a:lnSpc>
                <a:spcPct val="115000"/>
              </a:lnSpc>
              <a:spcBef>
                <a:spcPts val="0"/>
              </a:spcBef>
              <a:spcAft>
                <a:spcPts val="0"/>
              </a:spcAft>
              <a:buSzPts val="1100"/>
              <a:buChar char="○"/>
            </a:pPr>
            <a:r>
              <a:rPr lang="en" dirty="0"/>
              <a:t>It also uses strange method names like </a:t>
            </a:r>
            <a:r>
              <a:rPr lang="en" b="1" i="1" dirty="0">
                <a:solidFill>
                  <a:srgbClr val="FF0000"/>
                </a:solidFill>
              </a:rPr>
              <a:t>"offer"</a:t>
            </a:r>
            <a:r>
              <a:rPr lang="en" dirty="0"/>
              <a:t> and </a:t>
            </a:r>
            <a:r>
              <a:rPr lang="en" b="1" i="1" dirty="0">
                <a:solidFill>
                  <a:srgbClr val="FF0000"/>
                </a:solidFill>
              </a:rPr>
              <a:t>"poll"</a:t>
            </a:r>
            <a:r>
              <a:rPr lang="en" dirty="0"/>
              <a:t> instead of "enqueue" and "dequeue."</a:t>
            </a:r>
            <a:endParaRPr dirty="0"/>
          </a:p>
          <a:p>
            <a:pPr marL="457200" lvl="0" indent="-311150" algn="l" rtl="0">
              <a:lnSpc>
                <a:spcPct val="115000"/>
              </a:lnSpc>
              <a:spcBef>
                <a:spcPts val="1000"/>
              </a:spcBef>
              <a:spcAft>
                <a:spcPts val="0"/>
              </a:spcAft>
              <a:buSzPts val="1300"/>
              <a:buChar char="●"/>
            </a:pPr>
            <a:r>
              <a:rPr lang="en" u="sng" dirty="0">
                <a:solidFill>
                  <a:srgbClr val="4A86E8"/>
                </a:solidFill>
                <a:latin typeface="Courier New"/>
                <a:ea typeface="Courier New"/>
                <a:cs typeface="Courier New"/>
                <a:sym typeface="Courier New"/>
                <a:hlinkClick r:id="rId7">
                  <a:extLst>
                    <a:ext uri="{A12FA001-AC4F-418D-AE19-62706E023703}">
                      <ahyp:hlinkClr xmlns:ahyp="http://schemas.microsoft.com/office/drawing/2018/hyperlinkcolor" val="tx"/>
                    </a:ext>
                  </a:extLst>
                </a:hlinkClick>
              </a:rPr>
              <a:t>java.util.Stack</a:t>
            </a:r>
            <a:r>
              <a:rPr lang="en" dirty="0"/>
              <a:t> is an implementation of a </a:t>
            </a:r>
            <a:r>
              <a:rPr lang="en" b="1" i="1" dirty="0">
                <a:solidFill>
                  <a:srgbClr val="FF0000"/>
                </a:solidFill>
              </a:rPr>
              <a:t>stack</a:t>
            </a:r>
            <a:r>
              <a:rPr lang="en" dirty="0"/>
              <a:t>.</a:t>
            </a:r>
            <a:endParaRPr dirty="0"/>
          </a:p>
          <a:p>
            <a:pPr marL="914400" lvl="1" indent="-298450" algn="l" rtl="0">
              <a:lnSpc>
                <a:spcPct val="115000"/>
              </a:lnSpc>
              <a:spcBef>
                <a:spcPts val="0"/>
              </a:spcBef>
              <a:spcAft>
                <a:spcPts val="0"/>
              </a:spcAft>
              <a:buSzPts val="1100"/>
              <a:buChar char="○"/>
            </a:pPr>
            <a:r>
              <a:rPr lang="en" dirty="0"/>
              <a:t>It is also a little odd because it </a:t>
            </a:r>
            <a:r>
              <a:rPr lang="en" b="1" i="1" dirty="0">
                <a:solidFill>
                  <a:srgbClr val="FF0000"/>
                </a:solidFill>
                <a:highlight>
                  <a:srgbClr val="FFFF00"/>
                </a:highlight>
              </a:rPr>
              <a:t>iterates backwards</a:t>
            </a:r>
            <a:r>
              <a:rPr lang="en" dirty="0">
                <a:highlight>
                  <a:srgbClr val="FFFF00"/>
                </a:highlight>
              </a:rPr>
              <a:t> </a:t>
            </a:r>
            <a:r>
              <a:rPr lang="en" dirty="0"/>
              <a:t>(from bottom to top) and provides random access.</a:t>
            </a:r>
            <a:endParaRPr dirty="0"/>
          </a:p>
        </p:txBody>
      </p:sp>
      <p:sp>
        <p:nvSpPr>
          <p:cNvPr id="1295" name="Google Shape;1295;p116"/>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000"/>
              <a:buNone/>
            </a:pPr>
            <a:fld id="{00000000-1234-1234-1234-123412341234}" type="slidenum">
              <a:rPr lang="en"/>
              <a:t>59</a:t>
            </a:fld>
            <a:endParaRPr/>
          </a:p>
        </p:txBody>
      </p:sp>
      <p:sp>
        <p:nvSpPr>
          <p:cNvPr id="1296" name="Google Shape;1296;p116"/>
          <p:cNvSpPr txBox="1">
            <a:spLocks noGrp="1"/>
          </p:cNvSpPr>
          <p:nvPr>
            <p:ph type="body" idx="3"/>
          </p:nvPr>
        </p:nvSpPr>
        <p:spPr>
          <a:xfrm>
            <a:off x="5192225" y="3183125"/>
            <a:ext cx="3706500" cy="700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Unless otherwise instructed, you may feel free to use </a:t>
            </a:r>
            <a:r>
              <a:rPr lang="en" b="1" i="1">
                <a:solidFill>
                  <a:srgbClr val="FF0000"/>
                </a:solidFill>
              </a:rPr>
              <a:t>any </a:t>
            </a:r>
            <a:r>
              <a:rPr lang="en"/>
              <a:t>of the JCF interfaces or implementations </a:t>
            </a:r>
            <a:r>
              <a:rPr lang="en" b="1" i="1">
                <a:solidFill>
                  <a:srgbClr val="FF0000"/>
                </a:solidFill>
              </a:rPr>
              <a:t>here</a:t>
            </a:r>
            <a:r>
              <a:rPr lang="en"/>
              <a:t>, e.g. on your homework or practical exams.</a:t>
            </a:r>
            <a:endParaRPr/>
          </a:p>
        </p:txBody>
      </p:sp>
      <p:pic>
        <p:nvPicPr>
          <p:cNvPr id="1297" name="Google Shape;1297;p116"/>
          <p:cNvPicPr preferRelativeResize="0"/>
          <p:nvPr/>
        </p:nvPicPr>
        <p:blipFill rotWithShape="1">
          <a:blip r:embed="rId8">
            <a:alphaModFix/>
          </a:blip>
          <a:srcRect/>
          <a:stretch/>
        </p:blipFill>
        <p:spPr>
          <a:xfrm>
            <a:off x="7822278" y="991850"/>
            <a:ext cx="924050" cy="1938899"/>
          </a:xfrm>
          <a:prstGeom prst="rect">
            <a:avLst/>
          </a:prstGeom>
          <a:noFill/>
          <a:ln>
            <a:noFill/>
          </a:ln>
        </p:spPr>
      </p:pic>
      <p:sp>
        <p:nvSpPr>
          <p:cNvPr id="1298" name="Google Shape;1298;p116"/>
          <p:cNvSpPr/>
          <p:nvPr/>
        </p:nvSpPr>
        <p:spPr>
          <a:xfrm>
            <a:off x="5268425" y="1034475"/>
            <a:ext cx="2243700" cy="1203300"/>
          </a:xfrm>
          <a:prstGeom prst="wedgeRoundRectCallout">
            <a:avLst>
              <a:gd name="adj1" fmla="val 65317"/>
              <a:gd name="adj2" fmla="val -9915"/>
              <a:gd name="adj3" fmla="val 0"/>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I see! It is important for me to understand </a:t>
            </a:r>
            <a:r>
              <a:rPr lang="en" sz="1200" b="1" i="1" u="none" strike="noStrike" cap="none">
                <a:solidFill>
                  <a:srgbClr val="FF0000"/>
                </a:solidFill>
                <a:latin typeface="Arial"/>
                <a:ea typeface="Arial"/>
                <a:cs typeface="Arial"/>
                <a:sym typeface="Arial"/>
              </a:rPr>
              <a:t>what</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a data structure does and </a:t>
            </a:r>
            <a:r>
              <a:rPr lang="en" sz="1200" b="1" i="1" u="none" strike="noStrike" cap="none">
                <a:solidFill>
                  <a:srgbClr val="FF0000"/>
                </a:solidFill>
                <a:latin typeface="Arial"/>
                <a:ea typeface="Arial"/>
                <a:cs typeface="Arial"/>
                <a:sym typeface="Arial"/>
              </a:rPr>
              <a:t>how</a:t>
            </a:r>
            <a:r>
              <a:rPr lang="en" sz="1200" b="0" i="0" u="none" strike="noStrike" cap="none">
                <a:solidFill>
                  <a:srgbClr val="FF0000"/>
                </a:solidFill>
                <a:latin typeface="Arial"/>
                <a:ea typeface="Arial"/>
                <a:cs typeface="Arial"/>
                <a:sym typeface="Arial"/>
              </a:rPr>
              <a:t> </a:t>
            </a:r>
            <a:r>
              <a:rPr lang="en" sz="1200" b="0" i="0" u="none" strike="noStrike" cap="none">
                <a:solidFill>
                  <a:srgbClr val="000000"/>
                </a:solidFill>
                <a:latin typeface="Arial"/>
                <a:ea typeface="Arial"/>
                <a:cs typeface="Arial"/>
                <a:sym typeface="Arial"/>
              </a:rPr>
              <a:t>it does it </a:t>
            </a:r>
            <a:r>
              <a:rPr lang="en" sz="1200" b="1" i="1" u="none" strike="noStrike" cap="none">
                <a:solidFill>
                  <a:srgbClr val="FF0000"/>
                </a:solidFill>
                <a:latin typeface="Arial"/>
                <a:ea typeface="Arial"/>
                <a:cs typeface="Arial"/>
                <a:sym typeface="Arial"/>
              </a:rPr>
              <a:t>before </a:t>
            </a:r>
            <a:r>
              <a:rPr lang="en" sz="1200" b="0" i="0" u="none" strike="noStrike" cap="none">
                <a:solidFill>
                  <a:srgbClr val="000000"/>
                </a:solidFill>
                <a:latin typeface="Arial"/>
                <a:ea typeface="Arial"/>
                <a:cs typeface="Arial"/>
                <a:sym typeface="Arial"/>
              </a:rPr>
              <a:t>I use the implementation provided by Java in my code.</a:t>
            </a:r>
            <a:endParaRPr sz="1200" b="0" i="0" u="none" strike="noStrike" cap="none">
              <a:solidFill>
                <a:srgbClr val="000000"/>
              </a:solidFill>
              <a:latin typeface="Arial"/>
              <a:ea typeface="Arial"/>
              <a:cs typeface="Arial"/>
              <a:sym typeface="Arial"/>
            </a:endParaRPr>
          </a:p>
        </p:txBody>
      </p:sp>
      <p:sp>
        <p:nvSpPr>
          <p:cNvPr id="1299" name="Google Shape;1299;p116"/>
          <p:cNvSpPr txBox="1">
            <a:spLocks noGrp="1"/>
          </p:cNvSpPr>
          <p:nvPr>
            <p:ph type="body" idx="3"/>
          </p:nvPr>
        </p:nvSpPr>
        <p:spPr>
          <a:xfrm>
            <a:off x="5192225" y="4021325"/>
            <a:ext cx="3706500" cy="700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
              <a:buNone/>
            </a:pPr>
            <a:r>
              <a:rPr lang="en"/>
              <a:t>As we continue to explore additional data structures in the coming units, this list will </a:t>
            </a:r>
            <a:r>
              <a:rPr lang="en" b="1" i="1">
                <a:solidFill>
                  <a:srgbClr val="FF0000"/>
                </a:solidFill>
              </a:rPr>
              <a:t>gradually grow</a:t>
            </a:r>
            <a:r>
              <a:rPr lang="en">
                <a:solidFill>
                  <a:srgbClr val="FF0000"/>
                </a:solidFill>
              </a:rPr>
              <a:t> </a:t>
            </a:r>
            <a:r>
              <a:rPr lang="en"/>
              <a:t>to include the entire JCF.</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9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9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9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9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9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9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9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9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9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297"/>
                                        </p:tgtEl>
                                        <p:attrNameLst>
                                          <p:attrName>style.visibility</p:attrName>
                                        </p:attrNameLst>
                                      </p:cBhvr>
                                      <p:to>
                                        <p:strVal val="visible"/>
                                      </p:to>
                                    </p:set>
                                    <p:animEffect transition="in" filter="fade">
                                      <p:cBhvr>
                                        <p:cTn id="51" dur="1000"/>
                                        <p:tgtEl>
                                          <p:spTgt spid="1297"/>
                                        </p:tgtEl>
                                      </p:cBhvr>
                                    </p:animEffect>
                                  </p:childTnLst>
                                </p:cTn>
                              </p:par>
                            </p:childTnLst>
                          </p:cTn>
                        </p:par>
                        <p:par>
                          <p:cTn id="52" fill="hold">
                            <p:stCondLst>
                              <p:cond delay="1000"/>
                            </p:stCondLst>
                            <p:childTnLst>
                              <p:par>
                                <p:cTn id="53" presetID="10" presetClass="entr" presetSubtype="0" fill="hold" nodeType="afterEffect">
                                  <p:stCondLst>
                                    <p:cond delay="0"/>
                                  </p:stCondLst>
                                  <p:childTnLst>
                                    <p:set>
                                      <p:cBhvr>
                                        <p:cTn id="54" dur="1" fill="hold">
                                          <p:stCondLst>
                                            <p:cond delay="0"/>
                                          </p:stCondLst>
                                        </p:cTn>
                                        <p:tgtEl>
                                          <p:spTgt spid="1298"/>
                                        </p:tgtEl>
                                        <p:attrNameLst>
                                          <p:attrName>style.visibility</p:attrName>
                                        </p:attrNameLst>
                                      </p:cBhvr>
                                      <p:to>
                                        <p:strVal val="visible"/>
                                      </p:to>
                                    </p:set>
                                    <p:animEffect transition="in" filter="fade">
                                      <p:cBhvr>
                                        <p:cTn id="55" dur="1000"/>
                                        <p:tgtEl>
                                          <p:spTgt spid="129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296"/>
                                        </p:tgtEl>
                                        <p:attrNameLst>
                                          <p:attrName>style.visibility</p:attrName>
                                        </p:attrNameLst>
                                      </p:cBhvr>
                                      <p:to>
                                        <p:strVal val="visible"/>
                                      </p:to>
                                    </p:set>
                                    <p:animEffect transition="in" filter="fade">
                                      <p:cBhvr>
                                        <p:cTn id="60" dur="1000"/>
                                        <p:tgtEl>
                                          <p:spTgt spid="129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299"/>
                                        </p:tgtEl>
                                        <p:attrNameLst>
                                          <p:attrName>style.visibility</p:attrName>
                                        </p:attrNameLst>
                                      </p:cBhvr>
                                      <p:to>
                                        <p:strVal val="visible"/>
                                      </p:to>
                                    </p:set>
                                    <p:animEffect transition="in" filter="fade">
                                      <p:cBhvr>
                                        <p:cTn id="65" dur="1000"/>
                                        <p:tgtEl>
                                          <p:spTgt spid="1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303"/>
        <p:cNvGrpSpPr/>
        <p:nvPr/>
      </p:nvGrpSpPr>
      <p:grpSpPr>
        <a:xfrm>
          <a:off x="0" y="0"/>
          <a:ext cx="0" cy="0"/>
          <a:chOff x="0" y="0"/>
          <a:chExt cx="0" cy="0"/>
        </a:xfrm>
      </p:grpSpPr>
      <p:sp>
        <p:nvSpPr>
          <p:cNvPr id="1304" name="Google Shape;1304;p117"/>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a:t>An </a:t>
            </a:r>
            <a:r>
              <a:rPr lang="en" i="1"/>
              <a:t>Incomplete</a:t>
            </a:r>
            <a:r>
              <a:rPr lang="en"/>
              <a:t> JCF Class Hierarchy</a:t>
            </a:r>
            <a:endParaRPr/>
          </a:p>
        </p:txBody>
      </p:sp>
      <p:sp>
        <p:nvSpPr>
          <p:cNvPr id="1305" name="Google Shape;1305;p1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60</a:t>
            </a:fld>
            <a:endParaRPr/>
          </a:p>
        </p:txBody>
      </p:sp>
      <p:sp>
        <p:nvSpPr>
          <p:cNvPr id="1306" name="Google Shape;1306;p117"/>
          <p:cNvSpPr txBox="1"/>
          <p:nvPr/>
        </p:nvSpPr>
        <p:spPr>
          <a:xfrm>
            <a:off x="335550" y="13492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1" u="none" strike="noStrike" cap="none">
                <a:solidFill>
                  <a:srgbClr val="6AA84F"/>
                </a:solidFill>
                <a:latin typeface="Open Sans"/>
                <a:ea typeface="Open Sans"/>
                <a:cs typeface="Open Sans"/>
                <a:sym typeface="Open Sans"/>
              </a:rPr>
              <a:t>Iterable</a:t>
            </a:r>
            <a:endParaRPr sz="1400" b="1" i="1" u="none" strike="noStrike" cap="none">
              <a:solidFill>
                <a:srgbClr val="6AA84F"/>
              </a:solidFill>
              <a:latin typeface="Open Sans"/>
              <a:ea typeface="Open Sans"/>
              <a:cs typeface="Open Sans"/>
              <a:sym typeface="Open Sans"/>
            </a:endParaRPr>
          </a:p>
        </p:txBody>
      </p:sp>
      <p:sp>
        <p:nvSpPr>
          <p:cNvPr id="1307" name="Google Shape;1307;p117"/>
          <p:cNvSpPr txBox="1"/>
          <p:nvPr/>
        </p:nvSpPr>
        <p:spPr>
          <a:xfrm>
            <a:off x="335550" y="209670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Open Sans"/>
                <a:ea typeface="Open Sans"/>
                <a:cs typeface="Open Sans"/>
                <a:sym typeface="Open Sans"/>
              </a:rPr>
              <a:t>Collection</a:t>
            </a:r>
            <a:endParaRPr sz="1400" b="0" i="1" u="none" strike="noStrike" cap="none">
              <a:solidFill>
                <a:srgbClr val="000000"/>
              </a:solidFill>
              <a:latin typeface="Open Sans"/>
              <a:ea typeface="Open Sans"/>
              <a:cs typeface="Open Sans"/>
              <a:sym typeface="Open Sans"/>
            </a:endParaRPr>
          </a:p>
        </p:txBody>
      </p:sp>
      <p:sp>
        <p:nvSpPr>
          <p:cNvPr id="1308" name="Google Shape;1308;p117"/>
          <p:cNvSpPr txBox="1"/>
          <p:nvPr/>
        </p:nvSpPr>
        <p:spPr>
          <a:xfrm>
            <a:off x="2212950" y="13492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1" u="none" strike="noStrike" cap="none">
                <a:solidFill>
                  <a:srgbClr val="6AA84F"/>
                </a:solidFill>
                <a:latin typeface="Open Sans"/>
                <a:ea typeface="Open Sans"/>
                <a:cs typeface="Open Sans"/>
                <a:sym typeface="Open Sans"/>
              </a:rPr>
              <a:t>Queue</a:t>
            </a:r>
            <a:endParaRPr sz="1400" b="1" i="1" u="none" strike="noStrike" cap="none">
              <a:solidFill>
                <a:srgbClr val="6AA84F"/>
              </a:solidFill>
              <a:latin typeface="Open Sans"/>
              <a:ea typeface="Open Sans"/>
              <a:cs typeface="Open Sans"/>
              <a:sym typeface="Open Sans"/>
            </a:endParaRPr>
          </a:p>
        </p:txBody>
      </p:sp>
      <p:sp>
        <p:nvSpPr>
          <p:cNvPr id="1309" name="Google Shape;1309;p117"/>
          <p:cNvSpPr txBox="1"/>
          <p:nvPr/>
        </p:nvSpPr>
        <p:spPr>
          <a:xfrm>
            <a:off x="2212950" y="2098288"/>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1" u="none" strike="noStrike" cap="none">
                <a:solidFill>
                  <a:srgbClr val="6AA84F"/>
                </a:solidFill>
                <a:latin typeface="Open Sans"/>
                <a:ea typeface="Open Sans"/>
                <a:cs typeface="Open Sans"/>
                <a:sym typeface="Open Sans"/>
              </a:rPr>
              <a:t>List</a:t>
            </a:r>
            <a:endParaRPr sz="1400" b="1" i="1" u="none" strike="noStrike" cap="none">
              <a:solidFill>
                <a:srgbClr val="6AA84F"/>
              </a:solidFill>
              <a:latin typeface="Open Sans"/>
              <a:ea typeface="Open Sans"/>
              <a:cs typeface="Open Sans"/>
              <a:sym typeface="Open Sans"/>
            </a:endParaRPr>
          </a:p>
        </p:txBody>
      </p:sp>
      <p:sp>
        <p:nvSpPr>
          <p:cNvPr id="1310" name="Google Shape;1310;p117"/>
          <p:cNvSpPr txBox="1"/>
          <p:nvPr/>
        </p:nvSpPr>
        <p:spPr>
          <a:xfrm>
            <a:off x="2212950" y="38379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Open Sans"/>
                <a:ea typeface="Open Sans"/>
                <a:cs typeface="Open Sans"/>
                <a:sym typeface="Open Sans"/>
              </a:rPr>
              <a:t>Set</a:t>
            </a:r>
            <a:endParaRPr sz="1400" b="0" i="1" u="none" strike="noStrike" cap="none">
              <a:solidFill>
                <a:srgbClr val="000000"/>
              </a:solidFill>
              <a:latin typeface="Open Sans"/>
              <a:ea typeface="Open Sans"/>
              <a:cs typeface="Open Sans"/>
              <a:sym typeface="Open Sans"/>
            </a:endParaRPr>
          </a:p>
        </p:txBody>
      </p:sp>
      <p:sp>
        <p:nvSpPr>
          <p:cNvPr id="1311" name="Google Shape;1311;p117"/>
          <p:cNvSpPr txBox="1"/>
          <p:nvPr/>
        </p:nvSpPr>
        <p:spPr>
          <a:xfrm>
            <a:off x="4109700" y="1349250"/>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Open Sans"/>
                <a:ea typeface="Open Sans"/>
                <a:cs typeface="Open Sans"/>
                <a:sym typeface="Open Sans"/>
              </a:rPr>
              <a:t>Deque</a:t>
            </a:r>
            <a:endParaRPr sz="1400" b="0" i="1" u="none" strike="noStrike" cap="none">
              <a:solidFill>
                <a:srgbClr val="000000"/>
              </a:solidFill>
              <a:latin typeface="Open Sans"/>
              <a:ea typeface="Open Sans"/>
              <a:cs typeface="Open Sans"/>
              <a:sym typeface="Open Sans"/>
            </a:endParaRPr>
          </a:p>
        </p:txBody>
      </p:sp>
      <p:sp>
        <p:nvSpPr>
          <p:cNvPr id="1312" name="Google Shape;1312;p117"/>
          <p:cNvSpPr txBox="1"/>
          <p:nvPr/>
        </p:nvSpPr>
        <p:spPr>
          <a:xfrm>
            <a:off x="4109700" y="38379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Open Sans"/>
                <a:ea typeface="Open Sans"/>
                <a:cs typeface="Open Sans"/>
                <a:sym typeface="Open Sans"/>
              </a:rPr>
              <a:t>HashSet</a:t>
            </a:r>
            <a:endParaRPr sz="1400" b="0" i="0" u="none" strike="noStrike" cap="none">
              <a:solidFill>
                <a:srgbClr val="000000"/>
              </a:solidFill>
              <a:latin typeface="Open Sans"/>
              <a:ea typeface="Open Sans"/>
              <a:cs typeface="Open Sans"/>
              <a:sym typeface="Open Sans"/>
            </a:endParaRPr>
          </a:p>
        </p:txBody>
      </p:sp>
      <p:sp>
        <p:nvSpPr>
          <p:cNvPr id="1313" name="Google Shape;1313;p117"/>
          <p:cNvSpPr txBox="1"/>
          <p:nvPr/>
        </p:nvSpPr>
        <p:spPr>
          <a:xfrm>
            <a:off x="6006450" y="13492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ArrayDeque</a:t>
            </a:r>
            <a:endParaRPr sz="1400" b="1" i="0" u="none" strike="noStrike" cap="none">
              <a:solidFill>
                <a:srgbClr val="000000"/>
              </a:solidFill>
              <a:latin typeface="Open Sans"/>
              <a:ea typeface="Open Sans"/>
              <a:cs typeface="Open Sans"/>
              <a:sym typeface="Open Sans"/>
            </a:endParaRPr>
          </a:p>
        </p:txBody>
      </p:sp>
      <p:sp>
        <p:nvSpPr>
          <p:cNvPr id="1314" name="Google Shape;1314;p117"/>
          <p:cNvSpPr txBox="1"/>
          <p:nvPr/>
        </p:nvSpPr>
        <p:spPr>
          <a:xfrm>
            <a:off x="4109700" y="209830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6AA84F"/>
                </a:solidFill>
                <a:latin typeface="Open Sans"/>
                <a:ea typeface="Open Sans"/>
                <a:cs typeface="Open Sans"/>
                <a:sym typeface="Open Sans"/>
              </a:rPr>
              <a:t>LinkedList</a:t>
            </a:r>
            <a:endParaRPr sz="1400" b="1" i="0" u="none" strike="noStrike" cap="none">
              <a:solidFill>
                <a:srgbClr val="6AA84F"/>
              </a:solidFill>
              <a:latin typeface="Open Sans"/>
              <a:ea typeface="Open Sans"/>
              <a:cs typeface="Open Sans"/>
              <a:sym typeface="Open Sans"/>
            </a:endParaRPr>
          </a:p>
        </p:txBody>
      </p:sp>
      <p:sp>
        <p:nvSpPr>
          <p:cNvPr id="1315" name="Google Shape;1315;p117"/>
          <p:cNvSpPr txBox="1"/>
          <p:nvPr/>
        </p:nvSpPr>
        <p:spPr>
          <a:xfrm>
            <a:off x="4109700" y="2582459"/>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6AA84F"/>
                </a:solidFill>
                <a:latin typeface="Open Sans"/>
                <a:ea typeface="Open Sans"/>
                <a:cs typeface="Open Sans"/>
                <a:sym typeface="Open Sans"/>
              </a:rPr>
              <a:t>ArrayList</a:t>
            </a:r>
            <a:endParaRPr sz="1400" b="1" i="0" u="none" strike="noStrike" cap="none">
              <a:solidFill>
                <a:srgbClr val="6AA84F"/>
              </a:solidFill>
              <a:latin typeface="Open Sans"/>
              <a:ea typeface="Open Sans"/>
              <a:cs typeface="Open Sans"/>
              <a:sym typeface="Open Sans"/>
            </a:endParaRPr>
          </a:p>
        </p:txBody>
      </p:sp>
      <p:sp>
        <p:nvSpPr>
          <p:cNvPr id="1316" name="Google Shape;1316;p117"/>
          <p:cNvSpPr txBox="1"/>
          <p:nvPr/>
        </p:nvSpPr>
        <p:spPr>
          <a:xfrm>
            <a:off x="2212950" y="4650625"/>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Open Sans"/>
                <a:ea typeface="Open Sans"/>
                <a:cs typeface="Open Sans"/>
                <a:sym typeface="Open Sans"/>
              </a:rPr>
              <a:t>SortedSet</a:t>
            </a:r>
            <a:endParaRPr sz="1400" b="0" i="1" u="none" strike="noStrike" cap="none">
              <a:solidFill>
                <a:srgbClr val="000000"/>
              </a:solidFill>
              <a:latin typeface="Open Sans"/>
              <a:ea typeface="Open Sans"/>
              <a:cs typeface="Open Sans"/>
              <a:sym typeface="Open Sans"/>
            </a:endParaRPr>
          </a:p>
        </p:txBody>
      </p:sp>
      <p:sp>
        <p:nvSpPr>
          <p:cNvPr id="1317" name="Google Shape;1317;p117"/>
          <p:cNvSpPr txBox="1"/>
          <p:nvPr/>
        </p:nvSpPr>
        <p:spPr>
          <a:xfrm>
            <a:off x="4109700" y="4650625"/>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Open Sans"/>
                <a:ea typeface="Open Sans"/>
                <a:cs typeface="Open Sans"/>
                <a:sym typeface="Open Sans"/>
              </a:rPr>
              <a:t>NavigableSet</a:t>
            </a:r>
            <a:endParaRPr sz="1400" b="0" i="1" u="none" strike="noStrike" cap="none">
              <a:solidFill>
                <a:srgbClr val="000000"/>
              </a:solidFill>
              <a:latin typeface="Open Sans"/>
              <a:ea typeface="Open Sans"/>
              <a:cs typeface="Open Sans"/>
              <a:sym typeface="Open Sans"/>
            </a:endParaRPr>
          </a:p>
        </p:txBody>
      </p:sp>
      <p:sp>
        <p:nvSpPr>
          <p:cNvPr id="1318" name="Google Shape;1318;p117"/>
          <p:cNvSpPr txBox="1"/>
          <p:nvPr/>
        </p:nvSpPr>
        <p:spPr>
          <a:xfrm>
            <a:off x="6006450" y="4650625"/>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Open Sans"/>
                <a:ea typeface="Open Sans"/>
                <a:cs typeface="Open Sans"/>
                <a:sym typeface="Open Sans"/>
              </a:rPr>
              <a:t>TreeSet</a:t>
            </a:r>
            <a:endParaRPr sz="1400" b="0" i="0" u="none" strike="noStrike" cap="none">
              <a:solidFill>
                <a:srgbClr val="000000"/>
              </a:solidFill>
              <a:latin typeface="Open Sans"/>
              <a:ea typeface="Open Sans"/>
              <a:cs typeface="Open Sans"/>
              <a:sym typeface="Open Sans"/>
            </a:endParaRPr>
          </a:p>
        </p:txBody>
      </p:sp>
      <p:cxnSp>
        <p:nvCxnSpPr>
          <p:cNvPr id="1319" name="Google Shape;1319;p117"/>
          <p:cNvCxnSpPr>
            <a:stCxn id="1307" idx="0"/>
            <a:endCxn id="1306" idx="2"/>
          </p:cNvCxnSpPr>
          <p:nvPr/>
        </p:nvCxnSpPr>
        <p:spPr>
          <a:xfrm rot="10800000">
            <a:off x="1054500" y="1743000"/>
            <a:ext cx="0" cy="353700"/>
          </a:xfrm>
          <a:prstGeom prst="straightConnector1">
            <a:avLst/>
          </a:prstGeom>
          <a:noFill/>
          <a:ln w="9525" cap="flat" cmpd="sng">
            <a:solidFill>
              <a:srgbClr val="000000"/>
            </a:solidFill>
            <a:prstDash val="solid"/>
            <a:round/>
            <a:headEnd type="none" w="sm" len="sm"/>
            <a:tailEnd type="triangle" w="med" len="med"/>
          </a:ln>
        </p:spPr>
      </p:cxnSp>
      <p:cxnSp>
        <p:nvCxnSpPr>
          <p:cNvPr id="1320" name="Google Shape;1320;p117"/>
          <p:cNvCxnSpPr>
            <a:stCxn id="1308" idx="1"/>
            <a:endCxn id="1307" idx="3"/>
          </p:cNvCxnSpPr>
          <p:nvPr/>
        </p:nvCxnSpPr>
        <p:spPr>
          <a:xfrm flipH="1">
            <a:off x="1773450" y="1546050"/>
            <a:ext cx="439500" cy="747600"/>
          </a:xfrm>
          <a:prstGeom prst="bentConnector3">
            <a:avLst>
              <a:gd name="adj1" fmla="val 50000"/>
            </a:avLst>
          </a:prstGeom>
          <a:noFill/>
          <a:ln w="9525" cap="flat" cmpd="sng">
            <a:solidFill>
              <a:srgbClr val="000000"/>
            </a:solidFill>
            <a:prstDash val="solid"/>
            <a:round/>
            <a:headEnd type="none" w="sm" len="sm"/>
            <a:tailEnd type="triangle" w="med" len="med"/>
          </a:ln>
        </p:spPr>
      </p:cxnSp>
      <p:cxnSp>
        <p:nvCxnSpPr>
          <p:cNvPr id="1321" name="Google Shape;1321;p117"/>
          <p:cNvCxnSpPr>
            <a:stCxn id="1309" idx="1"/>
            <a:endCxn id="1307" idx="3"/>
          </p:cNvCxnSpPr>
          <p:nvPr/>
        </p:nvCxnSpPr>
        <p:spPr>
          <a:xfrm rot="10800000">
            <a:off x="1773450" y="2293588"/>
            <a:ext cx="439500" cy="1500"/>
          </a:xfrm>
          <a:prstGeom prst="bentConnector3">
            <a:avLst>
              <a:gd name="adj1" fmla="val 50000"/>
            </a:avLst>
          </a:prstGeom>
          <a:noFill/>
          <a:ln w="9525" cap="flat" cmpd="sng">
            <a:solidFill>
              <a:srgbClr val="000000"/>
            </a:solidFill>
            <a:prstDash val="solid"/>
            <a:round/>
            <a:headEnd type="none" w="sm" len="sm"/>
            <a:tailEnd type="triangle" w="med" len="med"/>
          </a:ln>
        </p:spPr>
      </p:cxnSp>
      <p:cxnSp>
        <p:nvCxnSpPr>
          <p:cNvPr id="1322" name="Google Shape;1322;p117"/>
          <p:cNvCxnSpPr>
            <a:stCxn id="1311" idx="1"/>
            <a:endCxn id="1308" idx="3"/>
          </p:cNvCxnSpPr>
          <p:nvPr/>
        </p:nvCxnSpPr>
        <p:spPr>
          <a:xfrm flipH="1">
            <a:off x="3651000" y="1546050"/>
            <a:ext cx="458700" cy="600"/>
          </a:xfrm>
          <a:prstGeom prst="bentConnector3">
            <a:avLst>
              <a:gd name="adj1" fmla="val 49984"/>
            </a:avLst>
          </a:prstGeom>
          <a:noFill/>
          <a:ln w="9525" cap="flat" cmpd="sng">
            <a:solidFill>
              <a:srgbClr val="000000"/>
            </a:solidFill>
            <a:prstDash val="solid"/>
            <a:round/>
            <a:headEnd type="none" w="sm" len="sm"/>
            <a:tailEnd type="triangle" w="med" len="med"/>
          </a:ln>
        </p:spPr>
      </p:cxnSp>
      <p:cxnSp>
        <p:nvCxnSpPr>
          <p:cNvPr id="1323" name="Google Shape;1323;p117"/>
          <p:cNvCxnSpPr>
            <a:stCxn id="1313" idx="1"/>
            <a:endCxn id="1311" idx="3"/>
          </p:cNvCxnSpPr>
          <p:nvPr/>
        </p:nvCxnSpPr>
        <p:spPr>
          <a:xfrm flipH="1">
            <a:off x="5547750" y="1546050"/>
            <a:ext cx="458700" cy="600"/>
          </a:xfrm>
          <a:prstGeom prst="bentConnector3">
            <a:avLst>
              <a:gd name="adj1" fmla="val 49984"/>
            </a:avLst>
          </a:prstGeom>
          <a:noFill/>
          <a:ln w="9525" cap="flat" cmpd="sng">
            <a:solidFill>
              <a:srgbClr val="000000"/>
            </a:solidFill>
            <a:prstDash val="dash"/>
            <a:round/>
            <a:headEnd type="none" w="sm" len="sm"/>
            <a:tailEnd type="triangle" w="med" len="med"/>
          </a:ln>
        </p:spPr>
      </p:cxnSp>
      <p:cxnSp>
        <p:nvCxnSpPr>
          <p:cNvPr id="1324" name="Google Shape;1324;p117"/>
          <p:cNvCxnSpPr>
            <a:stCxn id="1314" idx="1"/>
            <a:endCxn id="1309" idx="3"/>
          </p:cNvCxnSpPr>
          <p:nvPr/>
        </p:nvCxnSpPr>
        <p:spPr>
          <a:xfrm flipH="1">
            <a:off x="3651000" y="2295100"/>
            <a:ext cx="458700" cy="600"/>
          </a:xfrm>
          <a:prstGeom prst="bentConnector3">
            <a:avLst>
              <a:gd name="adj1" fmla="val 49984"/>
            </a:avLst>
          </a:prstGeom>
          <a:noFill/>
          <a:ln w="9525" cap="flat" cmpd="sng">
            <a:solidFill>
              <a:srgbClr val="000000"/>
            </a:solidFill>
            <a:prstDash val="dash"/>
            <a:round/>
            <a:headEnd type="none" w="sm" len="sm"/>
            <a:tailEnd type="triangle" w="med" len="med"/>
          </a:ln>
        </p:spPr>
      </p:cxnSp>
      <p:cxnSp>
        <p:nvCxnSpPr>
          <p:cNvPr id="1325" name="Google Shape;1325;p117"/>
          <p:cNvCxnSpPr>
            <a:stCxn id="1314" idx="0"/>
            <a:endCxn id="1311" idx="2"/>
          </p:cNvCxnSpPr>
          <p:nvPr/>
        </p:nvCxnSpPr>
        <p:spPr>
          <a:xfrm rot="-5400000">
            <a:off x="4651200" y="1920250"/>
            <a:ext cx="355500" cy="600"/>
          </a:xfrm>
          <a:prstGeom prst="bentConnector3">
            <a:avLst>
              <a:gd name="adj1" fmla="val 49993"/>
            </a:avLst>
          </a:prstGeom>
          <a:noFill/>
          <a:ln w="9525" cap="flat" cmpd="sng">
            <a:solidFill>
              <a:srgbClr val="000000"/>
            </a:solidFill>
            <a:prstDash val="dash"/>
            <a:round/>
            <a:headEnd type="none" w="sm" len="sm"/>
            <a:tailEnd type="triangle" w="med" len="med"/>
          </a:ln>
        </p:spPr>
      </p:cxnSp>
      <p:cxnSp>
        <p:nvCxnSpPr>
          <p:cNvPr id="1326" name="Google Shape;1326;p117"/>
          <p:cNvCxnSpPr>
            <a:stCxn id="1315" idx="1"/>
            <a:endCxn id="1309" idx="3"/>
          </p:cNvCxnSpPr>
          <p:nvPr/>
        </p:nvCxnSpPr>
        <p:spPr>
          <a:xfrm rot="10800000">
            <a:off x="3651000" y="2295059"/>
            <a:ext cx="458700" cy="484200"/>
          </a:xfrm>
          <a:prstGeom prst="bentConnector3">
            <a:avLst>
              <a:gd name="adj1" fmla="val 49984"/>
            </a:avLst>
          </a:prstGeom>
          <a:noFill/>
          <a:ln w="9525" cap="flat" cmpd="sng">
            <a:solidFill>
              <a:srgbClr val="000000"/>
            </a:solidFill>
            <a:prstDash val="dash"/>
            <a:round/>
            <a:headEnd type="none" w="sm" len="sm"/>
            <a:tailEnd type="triangle" w="med" len="med"/>
          </a:ln>
        </p:spPr>
      </p:cxnSp>
      <p:cxnSp>
        <p:nvCxnSpPr>
          <p:cNvPr id="1327" name="Google Shape;1327;p117"/>
          <p:cNvCxnSpPr>
            <a:stCxn id="1310" idx="1"/>
            <a:endCxn id="1307" idx="3"/>
          </p:cNvCxnSpPr>
          <p:nvPr/>
        </p:nvCxnSpPr>
        <p:spPr>
          <a:xfrm rot="10800000">
            <a:off x="1773450" y="2293550"/>
            <a:ext cx="439500" cy="1741200"/>
          </a:xfrm>
          <a:prstGeom prst="bentConnector3">
            <a:avLst>
              <a:gd name="adj1" fmla="val 50000"/>
            </a:avLst>
          </a:prstGeom>
          <a:noFill/>
          <a:ln w="9525" cap="flat" cmpd="sng">
            <a:solidFill>
              <a:srgbClr val="000000"/>
            </a:solidFill>
            <a:prstDash val="solid"/>
            <a:round/>
            <a:headEnd type="none" w="sm" len="sm"/>
            <a:tailEnd type="triangle" w="med" len="med"/>
          </a:ln>
        </p:spPr>
      </p:cxnSp>
      <p:cxnSp>
        <p:nvCxnSpPr>
          <p:cNvPr id="1328" name="Google Shape;1328;p117"/>
          <p:cNvCxnSpPr>
            <a:stCxn id="1312" idx="1"/>
            <a:endCxn id="1310" idx="3"/>
          </p:cNvCxnSpPr>
          <p:nvPr/>
        </p:nvCxnSpPr>
        <p:spPr>
          <a:xfrm flipH="1">
            <a:off x="3651000" y="4034750"/>
            <a:ext cx="458700" cy="600"/>
          </a:xfrm>
          <a:prstGeom prst="bentConnector3">
            <a:avLst>
              <a:gd name="adj1" fmla="val 49984"/>
            </a:avLst>
          </a:prstGeom>
          <a:noFill/>
          <a:ln w="9525" cap="flat" cmpd="sng">
            <a:solidFill>
              <a:srgbClr val="000000"/>
            </a:solidFill>
            <a:prstDash val="dash"/>
            <a:round/>
            <a:headEnd type="none" w="sm" len="sm"/>
            <a:tailEnd type="triangle" w="med" len="med"/>
          </a:ln>
        </p:spPr>
      </p:cxnSp>
      <p:cxnSp>
        <p:nvCxnSpPr>
          <p:cNvPr id="1329" name="Google Shape;1329;p117"/>
          <p:cNvCxnSpPr>
            <a:stCxn id="1316" idx="0"/>
            <a:endCxn id="1310" idx="2"/>
          </p:cNvCxnSpPr>
          <p:nvPr/>
        </p:nvCxnSpPr>
        <p:spPr>
          <a:xfrm rot="-5400000">
            <a:off x="2722650" y="4440775"/>
            <a:ext cx="419100" cy="600"/>
          </a:xfrm>
          <a:prstGeom prst="bentConnector3">
            <a:avLst>
              <a:gd name="adj1" fmla="val 49997"/>
            </a:avLst>
          </a:prstGeom>
          <a:noFill/>
          <a:ln w="9525" cap="flat" cmpd="sng">
            <a:solidFill>
              <a:srgbClr val="000000"/>
            </a:solidFill>
            <a:prstDash val="solid"/>
            <a:round/>
            <a:headEnd type="none" w="sm" len="sm"/>
            <a:tailEnd type="triangle" w="med" len="med"/>
          </a:ln>
        </p:spPr>
      </p:cxnSp>
      <p:sp>
        <p:nvSpPr>
          <p:cNvPr id="1330" name="Google Shape;1330;p117"/>
          <p:cNvSpPr txBox="1"/>
          <p:nvPr/>
        </p:nvSpPr>
        <p:spPr>
          <a:xfrm>
            <a:off x="5988150" y="36800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Open Sans"/>
                <a:ea typeface="Open Sans"/>
                <a:cs typeface="Open Sans"/>
                <a:sym typeface="Open Sans"/>
              </a:rPr>
              <a:t>HashMap</a:t>
            </a:r>
            <a:endParaRPr sz="1400" b="0" i="0" u="none" strike="noStrike" cap="none">
              <a:solidFill>
                <a:srgbClr val="000000"/>
              </a:solidFill>
              <a:latin typeface="Open Sans"/>
              <a:ea typeface="Open Sans"/>
              <a:cs typeface="Open Sans"/>
              <a:sym typeface="Open Sans"/>
            </a:endParaRPr>
          </a:p>
        </p:txBody>
      </p:sp>
      <p:sp>
        <p:nvSpPr>
          <p:cNvPr id="1331" name="Google Shape;1331;p117"/>
          <p:cNvSpPr txBox="1"/>
          <p:nvPr/>
        </p:nvSpPr>
        <p:spPr>
          <a:xfrm>
            <a:off x="7507050" y="3680050"/>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Open Sans"/>
                <a:ea typeface="Open Sans"/>
                <a:cs typeface="Open Sans"/>
                <a:sym typeface="Open Sans"/>
              </a:rPr>
              <a:t>TreeMap</a:t>
            </a:r>
            <a:endParaRPr sz="1400" b="0" i="0" u="none" strike="noStrike" cap="none">
              <a:solidFill>
                <a:srgbClr val="000000"/>
              </a:solidFill>
              <a:latin typeface="Open Sans"/>
              <a:ea typeface="Open Sans"/>
              <a:cs typeface="Open Sans"/>
              <a:sym typeface="Open Sans"/>
            </a:endParaRPr>
          </a:p>
        </p:txBody>
      </p:sp>
      <p:cxnSp>
        <p:nvCxnSpPr>
          <p:cNvPr id="1332" name="Google Shape;1332;p117"/>
          <p:cNvCxnSpPr>
            <a:stCxn id="1331" idx="0"/>
            <a:endCxn id="1333" idx="2"/>
          </p:cNvCxnSpPr>
          <p:nvPr/>
        </p:nvCxnSpPr>
        <p:spPr>
          <a:xfrm rot="5400000" flipH="1">
            <a:off x="7630350" y="3084400"/>
            <a:ext cx="424500" cy="766800"/>
          </a:xfrm>
          <a:prstGeom prst="bentConnector3">
            <a:avLst>
              <a:gd name="adj1" fmla="val 50012"/>
            </a:avLst>
          </a:prstGeom>
          <a:noFill/>
          <a:ln w="9525" cap="flat" cmpd="sng">
            <a:solidFill>
              <a:srgbClr val="000000"/>
            </a:solidFill>
            <a:prstDash val="dash"/>
            <a:round/>
            <a:headEnd type="none" w="sm" len="sm"/>
            <a:tailEnd type="triangle" w="med" len="med"/>
          </a:ln>
        </p:spPr>
      </p:cxnSp>
      <p:cxnSp>
        <p:nvCxnSpPr>
          <p:cNvPr id="1334" name="Google Shape;1334;p117"/>
          <p:cNvCxnSpPr>
            <a:stCxn id="1330" idx="0"/>
            <a:endCxn id="1333" idx="2"/>
          </p:cNvCxnSpPr>
          <p:nvPr/>
        </p:nvCxnSpPr>
        <p:spPr>
          <a:xfrm rot="-5400000">
            <a:off x="6870900" y="3091750"/>
            <a:ext cx="424500" cy="752100"/>
          </a:xfrm>
          <a:prstGeom prst="bentConnector3">
            <a:avLst>
              <a:gd name="adj1" fmla="val 50012"/>
            </a:avLst>
          </a:prstGeom>
          <a:noFill/>
          <a:ln w="9525" cap="flat" cmpd="sng">
            <a:solidFill>
              <a:srgbClr val="000000"/>
            </a:solidFill>
            <a:prstDash val="dash"/>
            <a:round/>
            <a:headEnd type="none" w="sm" len="sm"/>
            <a:tailEnd type="triangle" w="med" len="med"/>
          </a:ln>
        </p:spPr>
      </p:cxnSp>
      <p:grpSp>
        <p:nvGrpSpPr>
          <p:cNvPr id="1335" name="Google Shape;1335;p117"/>
          <p:cNvGrpSpPr/>
          <p:nvPr/>
        </p:nvGrpSpPr>
        <p:grpSpPr>
          <a:xfrm>
            <a:off x="6740250" y="2080038"/>
            <a:ext cx="1437900" cy="1175412"/>
            <a:chOff x="6816450" y="1927638"/>
            <a:chExt cx="1437900" cy="1175412"/>
          </a:xfrm>
        </p:grpSpPr>
        <p:sp>
          <p:nvSpPr>
            <p:cNvPr id="1333" name="Google Shape;1333;p117"/>
            <p:cNvSpPr txBox="1"/>
            <p:nvPr/>
          </p:nvSpPr>
          <p:spPr>
            <a:xfrm>
              <a:off x="6816450" y="2321250"/>
              <a:ext cx="1437900" cy="7818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1" u="none" strike="noStrike" cap="none">
                  <a:solidFill>
                    <a:srgbClr val="000000"/>
                  </a:solidFill>
                  <a:latin typeface="Open Sans"/>
                  <a:ea typeface="Open Sans"/>
                  <a:cs typeface="Open Sans"/>
                  <a:sym typeface="Open Sans"/>
                </a:rPr>
                <a:t>+put(key, value)</a:t>
              </a:r>
              <a:endParaRPr sz="1000" b="0" i="1"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000"/>
                <a:buFont typeface="Arial"/>
                <a:buNone/>
              </a:pPr>
              <a:r>
                <a:rPr lang="en" sz="1000" b="0" i="1" u="none" strike="noStrike" cap="none">
                  <a:solidFill>
                    <a:srgbClr val="000000"/>
                  </a:solidFill>
                  <a:latin typeface="Open Sans"/>
                  <a:ea typeface="Open Sans"/>
                  <a:cs typeface="Open Sans"/>
                  <a:sym typeface="Open Sans"/>
                </a:rPr>
                <a:t>+get(key): value</a:t>
              </a:r>
              <a:endParaRPr sz="1000" b="0" i="1"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000"/>
                <a:buFont typeface="Arial"/>
                <a:buNone/>
              </a:pPr>
              <a:r>
                <a:rPr lang="en" sz="1000" b="0" i="1" u="none" strike="noStrike" cap="none">
                  <a:solidFill>
                    <a:srgbClr val="000000"/>
                  </a:solidFill>
                  <a:latin typeface="Open Sans"/>
                  <a:ea typeface="Open Sans"/>
                  <a:cs typeface="Open Sans"/>
                  <a:sym typeface="Open Sans"/>
                </a:rPr>
                <a:t>+contains(K):boolean</a:t>
              </a:r>
              <a:endParaRPr sz="1000" b="0" i="1"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000"/>
                <a:buFont typeface="Arial"/>
                <a:buNone/>
              </a:pPr>
              <a:r>
                <a:rPr lang="en" sz="1000" b="0" i="1" u="none" strike="noStrike" cap="none">
                  <a:solidFill>
                    <a:srgbClr val="000000"/>
                  </a:solidFill>
                  <a:latin typeface="Open Sans"/>
                  <a:ea typeface="Open Sans"/>
                  <a:cs typeface="Open Sans"/>
                  <a:sym typeface="Open Sans"/>
                </a:rPr>
                <a:t>+size():int</a:t>
              </a:r>
              <a:endParaRPr sz="1000" b="0" i="1" u="none" strike="noStrike" cap="none">
                <a:solidFill>
                  <a:srgbClr val="000000"/>
                </a:solidFill>
                <a:latin typeface="Open Sans"/>
                <a:ea typeface="Open Sans"/>
                <a:cs typeface="Open Sans"/>
                <a:sym typeface="Open Sans"/>
              </a:endParaRPr>
            </a:p>
          </p:txBody>
        </p:sp>
        <p:sp>
          <p:nvSpPr>
            <p:cNvPr id="1336" name="Google Shape;1336;p117"/>
            <p:cNvSpPr txBox="1"/>
            <p:nvPr/>
          </p:nvSpPr>
          <p:spPr>
            <a:xfrm>
              <a:off x="6816450" y="1927638"/>
              <a:ext cx="1437900" cy="393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Open Sans"/>
                  <a:ea typeface="Open Sans"/>
                  <a:cs typeface="Open Sans"/>
                  <a:sym typeface="Open Sans"/>
                </a:rPr>
                <a:t>Map</a:t>
              </a:r>
              <a:endParaRPr sz="1400" b="0" i="1" u="none" strike="noStrike" cap="none">
                <a:solidFill>
                  <a:srgbClr val="000000"/>
                </a:solidFill>
                <a:latin typeface="Open Sans"/>
                <a:ea typeface="Open Sans"/>
                <a:cs typeface="Open Sans"/>
                <a:sym typeface="Open Sans"/>
              </a:endParaRPr>
            </a:p>
          </p:txBody>
        </p:sp>
      </p:grpSp>
      <p:sp>
        <p:nvSpPr>
          <p:cNvPr id="1337" name="Google Shape;1337;p117"/>
          <p:cNvSpPr txBox="1"/>
          <p:nvPr/>
        </p:nvSpPr>
        <p:spPr>
          <a:xfrm>
            <a:off x="335550" y="2491900"/>
            <a:ext cx="1437900" cy="7476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1" u="none" strike="noStrike" cap="none">
                <a:solidFill>
                  <a:srgbClr val="000000"/>
                </a:solidFill>
                <a:latin typeface="Open Sans"/>
                <a:ea typeface="Open Sans"/>
                <a:cs typeface="Open Sans"/>
                <a:sym typeface="Open Sans"/>
              </a:rPr>
              <a:t>+add(E)</a:t>
            </a:r>
            <a:endParaRPr sz="1000" b="0" i="1"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000"/>
              <a:buFont typeface="Arial"/>
              <a:buNone/>
            </a:pPr>
            <a:r>
              <a:rPr lang="en" sz="1000" b="0" i="1" u="none" strike="noStrike" cap="none">
                <a:solidFill>
                  <a:srgbClr val="000000"/>
                </a:solidFill>
                <a:latin typeface="Open Sans"/>
                <a:ea typeface="Open Sans"/>
                <a:cs typeface="Open Sans"/>
                <a:sym typeface="Open Sans"/>
              </a:rPr>
              <a:t>+contains(E):boolean</a:t>
            </a:r>
            <a:endParaRPr sz="1000" b="0" i="1"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000"/>
              <a:buFont typeface="Arial"/>
              <a:buNone/>
            </a:pPr>
            <a:r>
              <a:rPr lang="en" sz="1000" b="0" i="1" u="none" strike="noStrike" cap="none">
                <a:solidFill>
                  <a:srgbClr val="000000"/>
                </a:solidFill>
                <a:latin typeface="Open Sans"/>
                <a:ea typeface="Open Sans"/>
                <a:cs typeface="Open Sans"/>
                <a:sym typeface="Open Sans"/>
              </a:rPr>
              <a:t>+remove(E)</a:t>
            </a:r>
            <a:endParaRPr sz="1000" b="0" i="1" u="none" strike="noStrike" cap="none">
              <a:solidFill>
                <a:srgbClr val="000000"/>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000"/>
              <a:buFont typeface="Arial"/>
              <a:buNone/>
            </a:pPr>
            <a:r>
              <a:rPr lang="en" sz="1000" b="0" i="1" u="none" strike="noStrike" cap="none">
                <a:solidFill>
                  <a:srgbClr val="000000"/>
                </a:solidFill>
                <a:latin typeface="Open Sans"/>
                <a:ea typeface="Open Sans"/>
                <a:cs typeface="Open Sans"/>
                <a:sym typeface="Open Sans"/>
              </a:rPr>
              <a:t>+size():int</a:t>
            </a:r>
            <a:endParaRPr sz="1000" b="0" i="1" u="none" strike="noStrike" cap="none">
              <a:solidFill>
                <a:srgbClr val="000000"/>
              </a:solidFill>
              <a:latin typeface="Open Sans"/>
              <a:ea typeface="Open Sans"/>
              <a:cs typeface="Open Sans"/>
              <a:sym typeface="Open Sans"/>
            </a:endParaRPr>
          </a:p>
        </p:txBody>
      </p:sp>
      <p:cxnSp>
        <p:nvCxnSpPr>
          <p:cNvPr id="1338" name="Google Shape;1338;p117"/>
          <p:cNvCxnSpPr/>
          <p:nvPr/>
        </p:nvCxnSpPr>
        <p:spPr>
          <a:xfrm flipH="1">
            <a:off x="3650700" y="4847425"/>
            <a:ext cx="459000" cy="600"/>
          </a:xfrm>
          <a:prstGeom prst="bentConnector3">
            <a:avLst>
              <a:gd name="adj1" fmla="val 49984"/>
            </a:avLst>
          </a:prstGeom>
          <a:noFill/>
          <a:ln w="9525" cap="flat" cmpd="sng">
            <a:solidFill>
              <a:srgbClr val="000000"/>
            </a:solidFill>
            <a:prstDash val="solid"/>
            <a:round/>
            <a:headEnd type="none" w="sm" len="sm"/>
            <a:tailEnd type="triangle" w="med" len="med"/>
          </a:ln>
        </p:spPr>
      </p:cxnSp>
      <p:cxnSp>
        <p:nvCxnSpPr>
          <p:cNvPr id="1339" name="Google Shape;1339;p117"/>
          <p:cNvCxnSpPr/>
          <p:nvPr/>
        </p:nvCxnSpPr>
        <p:spPr>
          <a:xfrm flipH="1">
            <a:off x="5547450" y="4847425"/>
            <a:ext cx="459000" cy="600"/>
          </a:xfrm>
          <a:prstGeom prst="bentConnector3">
            <a:avLst>
              <a:gd name="adj1" fmla="val 49984"/>
            </a:avLst>
          </a:prstGeom>
          <a:noFill/>
          <a:ln w="9525" cap="flat" cmpd="sng">
            <a:solidFill>
              <a:srgbClr val="000000"/>
            </a:solidFill>
            <a:prstDash val="dash"/>
            <a:round/>
            <a:headEnd type="none" w="sm" len="sm"/>
            <a:tailEnd type="triangle" w="med" len="med"/>
          </a:ln>
        </p:spPr>
      </p:cxnSp>
      <p:sp>
        <p:nvSpPr>
          <p:cNvPr id="1340" name="Google Shape;1340;p117"/>
          <p:cNvSpPr/>
          <p:nvPr/>
        </p:nvSpPr>
        <p:spPr>
          <a:xfrm>
            <a:off x="361075" y="3945050"/>
            <a:ext cx="121500" cy="121500"/>
          </a:xfrm>
          <a:prstGeom prst="rect">
            <a:avLst/>
          </a:prstGeom>
          <a:solidFill>
            <a:srgbClr val="FFFFFF"/>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980000"/>
              </a:solidFill>
              <a:latin typeface="Arial"/>
              <a:ea typeface="Arial"/>
              <a:cs typeface="Arial"/>
              <a:sym typeface="Arial"/>
            </a:endParaRPr>
          </a:p>
        </p:txBody>
      </p:sp>
      <p:sp>
        <p:nvSpPr>
          <p:cNvPr id="1341" name="Google Shape;1341;p117"/>
          <p:cNvSpPr txBox="1"/>
          <p:nvPr/>
        </p:nvSpPr>
        <p:spPr>
          <a:xfrm>
            <a:off x="433697" y="3874325"/>
            <a:ext cx="1371900" cy="25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000000"/>
                </a:solidFill>
                <a:latin typeface="Roboto"/>
                <a:ea typeface="Roboto"/>
                <a:cs typeface="Roboto"/>
                <a:sym typeface="Roboto"/>
              </a:rPr>
              <a:t>Interface (italics)</a:t>
            </a:r>
            <a:endParaRPr sz="1200" b="0" i="1" u="none" strike="noStrike" cap="none">
              <a:solidFill>
                <a:srgbClr val="000000"/>
              </a:solidFill>
              <a:latin typeface="Roboto"/>
              <a:ea typeface="Roboto"/>
              <a:cs typeface="Roboto"/>
              <a:sym typeface="Roboto"/>
            </a:endParaRPr>
          </a:p>
        </p:txBody>
      </p:sp>
      <p:sp>
        <p:nvSpPr>
          <p:cNvPr id="1342" name="Google Shape;1342;p117"/>
          <p:cNvSpPr/>
          <p:nvPr/>
        </p:nvSpPr>
        <p:spPr>
          <a:xfrm>
            <a:off x="361075" y="4173650"/>
            <a:ext cx="121500" cy="121500"/>
          </a:xfrm>
          <a:prstGeom prst="rect">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3" name="Google Shape;1343;p117"/>
          <p:cNvSpPr txBox="1"/>
          <p:nvPr/>
        </p:nvSpPr>
        <p:spPr>
          <a:xfrm>
            <a:off x="433697" y="4102925"/>
            <a:ext cx="1371900" cy="25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Roboto"/>
                <a:ea typeface="Roboto"/>
                <a:cs typeface="Roboto"/>
                <a:sym typeface="Roboto"/>
              </a:rPr>
              <a:t>Implementation</a:t>
            </a:r>
            <a:endParaRPr sz="1200" b="0" i="0" u="none" strike="noStrike" cap="none">
              <a:solidFill>
                <a:srgbClr val="000000"/>
              </a:solidFill>
              <a:latin typeface="Roboto"/>
              <a:ea typeface="Roboto"/>
              <a:cs typeface="Roboto"/>
              <a:sym typeface="Roboto"/>
            </a:endParaRPr>
          </a:p>
        </p:txBody>
      </p:sp>
      <p:sp>
        <p:nvSpPr>
          <p:cNvPr id="1344" name="Google Shape;1344;p117"/>
          <p:cNvSpPr txBox="1"/>
          <p:nvPr/>
        </p:nvSpPr>
        <p:spPr>
          <a:xfrm>
            <a:off x="256532" y="3613578"/>
            <a:ext cx="1371900" cy="25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sng" strike="noStrike" cap="none">
                <a:solidFill>
                  <a:srgbClr val="000000"/>
                </a:solidFill>
                <a:latin typeface="Roboto"/>
                <a:ea typeface="Roboto"/>
                <a:cs typeface="Roboto"/>
                <a:sym typeface="Roboto"/>
              </a:rPr>
              <a:t>Legend</a:t>
            </a:r>
            <a:endParaRPr sz="1200" b="0" i="0" u="sng" strike="noStrike" cap="none">
              <a:solidFill>
                <a:srgbClr val="000000"/>
              </a:solidFill>
              <a:latin typeface="Roboto"/>
              <a:ea typeface="Roboto"/>
              <a:cs typeface="Roboto"/>
              <a:sym typeface="Roboto"/>
            </a:endParaRPr>
          </a:p>
        </p:txBody>
      </p:sp>
      <p:sp>
        <p:nvSpPr>
          <p:cNvPr id="1345" name="Google Shape;1345;p117"/>
          <p:cNvSpPr/>
          <p:nvPr/>
        </p:nvSpPr>
        <p:spPr>
          <a:xfrm>
            <a:off x="3876991" y="2779900"/>
            <a:ext cx="250750" cy="501500"/>
          </a:xfrm>
          <a:custGeom>
            <a:avLst/>
            <a:gdLst/>
            <a:ahLst/>
            <a:cxnLst/>
            <a:rect l="l" t="t" r="r" b="b"/>
            <a:pathLst>
              <a:path w="10030" h="20060" extrusionOk="0">
                <a:moveTo>
                  <a:pt x="0" y="0"/>
                </a:moveTo>
                <a:lnTo>
                  <a:pt x="0" y="20060"/>
                </a:lnTo>
                <a:lnTo>
                  <a:pt x="10030" y="20060"/>
                </a:lnTo>
              </a:path>
            </a:pathLst>
          </a:custGeom>
          <a:noFill/>
          <a:ln w="9525" cap="flat" cmpd="sng">
            <a:solidFill>
              <a:srgbClr val="000000"/>
            </a:solidFill>
            <a:prstDash val="dash"/>
            <a:round/>
            <a:headEnd type="none" w="sm" len="sm"/>
            <a:tailEnd type="none" w="sm" len="sm"/>
          </a:ln>
        </p:spPr>
        <p:txBody>
          <a:bodyPr/>
          <a:lstStyle/>
          <a:p>
            <a:endParaRPr lang="en-US"/>
          </a:p>
        </p:txBody>
      </p:sp>
      <p:sp>
        <p:nvSpPr>
          <p:cNvPr id="1346" name="Google Shape;1346;p117"/>
          <p:cNvSpPr txBox="1"/>
          <p:nvPr/>
        </p:nvSpPr>
        <p:spPr>
          <a:xfrm>
            <a:off x="4117125" y="3084709"/>
            <a:ext cx="1437900" cy="393600"/>
          </a:xfrm>
          <a:prstGeom prst="rect">
            <a:avLst/>
          </a:prstGeom>
          <a:no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6AA84F"/>
                </a:solidFill>
                <a:latin typeface="Open Sans"/>
                <a:ea typeface="Open Sans"/>
                <a:cs typeface="Open Sans"/>
                <a:sym typeface="Open Sans"/>
              </a:rPr>
              <a:t>Stack</a:t>
            </a:r>
            <a:endParaRPr sz="1400" b="1" i="0" u="none" strike="noStrike" cap="none">
              <a:solidFill>
                <a:srgbClr val="6AA84F"/>
              </a:solidFill>
              <a:latin typeface="Open Sans"/>
              <a:ea typeface="Open Sans"/>
              <a:cs typeface="Open Sans"/>
              <a:sym typeface="Open Sans"/>
            </a:endParaRPr>
          </a:p>
        </p:txBody>
      </p:sp>
      <p:sp>
        <p:nvSpPr>
          <p:cNvPr id="1347" name="Google Shape;1347;p117"/>
          <p:cNvSpPr txBox="1"/>
          <p:nvPr/>
        </p:nvSpPr>
        <p:spPr>
          <a:xfrm>
            <a:off x="433697" y="4331525"/>
            <a:ext cx="1371900" cy="25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6AA84F"/>
                </a:solidFill>
                <a:latin typeface="Roboto"/>
                <a:ea typeface="Roboto"/>
                <a:cs typeface="Roboto"/>
                <a:sym typeface="Roboto"/>
              </a:rPr>
              <a:t>OK to use (green)</a:t>
            </a:r>
            <a:endParaRPr sz="1200" b="0" i="0" u="none" strike="noStrike" cap="none">
              <a:solidFill>
                <a:srgbClr val="6AA84F"/>
              </a:solidFill>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351"/>
        <p:cNvGrpSpPr/>
        <p:nvPr/>
      </p:nvGrpSpPr>
      <p:grpSpPr>
        <a:xfrm>
          <a:off x="0" y="0"/>
          <a:ext cx="0" cy="0"/>
          <a:chOff x="0" y="0"/>
          <a:chExt cx="0" cy="0"/>
        </a:xfrm>
      </p:grpSpPr>
      <p:graphicFrame>
        <p:nvGraphicFramePr>
          <p:cNvPr id="1352" name="Google Shape;1352;p118"/>
          <p:cNvGraphicFramePr/>
          <p:nvPr/>
        </p:nvGraphicFramePr>
        <p:xfrm>
          <a:off x="-10" y="-9"/>
          <a:ext cx="9143975" cy="5151275"/>
        </p:xfrm>
        <a:graphic>
          <a:graphicData uri="http://schemas.openxmlformats.org/drawingml/2006/table">
            <a:tbl>
              <a:tblPr>
                <a:noFill/>
                <a:tableStyleId>{F4E8245F-B79C-49AF-8BD8-D9F0F8A7D024}</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2757200">
                <a:tc rowSpan="4">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rowSpan="2">
                  <a:txBody>
                    <a:bodyPr/>
                    <a:lstStyle/>
                    <a:p>
                      <a:pPr marL="0" lvl="0" indent="0" algn="l" rtl="0">
                        <a:spcBef>
                          <a:spcPts val="0"/>
                        </a:spcBef>
                        <a:spcAft>
                          <a:spcPts val="0"/>
                        </a:spcAft>
                        <a:buNone/>
                      </a:pPr>
                      <a:r>
                        <a:rPr lang="en" sz="1000" u="sng">
                          <a:solidFill>
                            <a:schemeClr val="accent5"/>
                          </a:solidFill>
                          <a:hlinkClick r:id="rId3">
                            <a:extLst>
                              <a:ext uri="{A12FA001-AC4F-418D-AE19-62706E023703}">
                                <ahyp:hlinkClr xmlns:ahyp="http://schemas.microsoft.com/office/drawing/2018/hyperlinkcolor" val="tx"/>
                              </a:ext>
                            </a:extLst>
                          </a:hlinkClick>
                        </a:rPr>
                        <a:t>Generics</a:t>
                      </a:r>
                      <a:endParaRPr sz="1000"/>
                    </a:p>
                    <a:p>
                      <a:pPr marL="0" lvl="0" indent="0" algn="l" rtl="0">
                        <a:spcBef>
                          <a:spcPts val="0"/>
                        </a:spcBef>
                        <a:spcAft>
                          <a:spcPts val="0"/>
                        </a:spcAft>
                        <a:buNone/>
                      </a:pPr>
                      <a:r>
                        <a:rPr lang="en" sz="1000">
                          <a:latin typeface="Courier New"/>
                          <a:ea typeface="Courier New"/>
                          <a:cs typeface="Courier New"/>
                          <a:sym typeface="Courier New"/>
                        </a:rPr>
                        <a:t>public class Container&lt;T&gt;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T value;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Container(T value)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this.value = value;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T getValue()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value;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void setValue(T value)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this.value = value;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Container&lt;String&gt; c = new Container&lt;&gt;("abc");</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String value = c.getValue();</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accent5"/>
                          </a:solidFill>
                          <a:hlinkClick r:id="rId4">
                            <a:extLst>
                              <a:ext uri="{A12FA001-AC4F-418D-AE19-62706E023703}">
                                <ahyp:hlinkClr xmlns:ahyp="http://schemas.microsoft.com/office/drawing/2018/hyperlinkcolor" val="tx"/>
                              </a:ext>
                            </a:extLst>
                          </a:hlinkClick>
                        </a:rPr>
                        <a:t>Combining Generics</a:t>
                      </a:r>
                      <a:endParaRPr sz="1000"/>
                    </a:p>
                    <a:p>
                      <a:pPr marL="0" lvl="0" indent="0" algn="l" rtl="0">
                        <a:spcBef>
                          <a:spcPts val="0"/>
                        </a:spcBef>
                        <a:spcAft>
                          <a:spcPts val="0"/>
                        </a:spcAft>
                        <a:buNone/>
                      </a:pPr>
                      <a:r>
                        <a:rPr lang="en" sz="1000">
                          <a:latin typeface="Courier New"/>
                          <a:ea typeface="Courier New"/>
                          <a:cs typeface="Courier New"/>
                          <a:sym typeface="Courier New"/>
                        </a:rPr>
                        <a:t>public class Warehouse&lt;T&gt;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Container&lt;T&gt; container;</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Warehouse(T value)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container = new Container&lt;&gt;(value);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Container&lt;T&gt; getContainer()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container;</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Warehouse&lt;String&gt; wh = new Warehouse&lt;&gt;("abc");</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Container&lt;String&gt; c = wh.getContainer();</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String value = c.getValue();</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841500">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accent5"/>
                          </a:solidFill>
                          <a:hlinkClick r:id="rId5">
                            <a:extLst>
                              <a:ext uri="{A12FA001-AC4F-418D-AE19-62706E023703}">
                                <ahyp:hlinkClr xmlns:ahyp="http://schemas.microsoft.com/office/drawing/2018/hyperlinkcolor" val="tx"/>
                              </a:ext>
                            </a:extLst>
                          </a:hlinkClick>
                        </a:rPr>
                        <a:t>Extending Generics</a:t>
                      </a:r>
                      <a:endParaRPr sz="1000"/>
                    </a:p>
                    <a:p>
                      <a:pPr marL="0" lvl="0" indent="0" algn="l" rtl="0">
                        <a:spcBef>
                          <a:spcPts val="0"/>
                        </a:spcBef>
                        <a:spcAft>
                          <a:spcPts val="0"/>
                        </a:spcAft>
                        <a:buNone/>
                      </a:pPr>
                      <a:r>
                        <a:rPr lang="en" sz="1000">
                          <a:latin typeface="Courier New"/>
                          <a:ea typeface="Courier New"/>
                          <a:cs typeface="Courier New"/>
                          <a:sym typeface="Courier New"/>
                        </a:rPr>
                        <a:t>public class Locker&lt;T&gt; extends Container&lt;T&gt;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class Folder extends Container&lt;String&gt;</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33525">
                <a:tc vMerge="1">
                  <a:txBody>
                    <a:bodyPr/>
                    <a:lstStyle/>
                    <a:p>
                      <a:endParaRPr lang="en-US"/>
                    </a:p>
                  </a:txBody>
                  <a:tcPr/>
                </a:tc>
                <a:tc>
                  <a:txBody>
                    <a:bodyPr/>
                    <a:lstStyle/>
                    <a:p>
                      <a:pPr marL="0" lvl="0" indent="0" algn="l" rtl="0">
                        <a:spcBef>
                          <a:spcPts val="0"/>
                        </a:spcBef>
                        <a:spcAft>
                          <a:spcPts val="0"/>
                        </a:spcAft>
                        <a:buNone/>
                      </a:pPr>
                      <a:r>
                        <a:rPr lang="en" sz="1000" u="sng">
                          <a:solidFill>
                            <a:schemeClr val="accent5"/>
                          </a:solidFill>
                          <a:hlinkClick r:id="rId6">
                            <a:extLst>
                              <a:ext uri="{A12FA001-AC4F-418D-AE19-62706E023703}">
                                <ahyp:hlinkClr xmlns:ahyp="http://schemas.microsoft.com/office/drawing/2018/hyperlinkcolor" val="tx"/>
                              </a:ext>
                            </a:extLst>
                          </a:hlinkClick>
                        </a:rPr>
                        <a:t>Java’s </a:t>
                      </a:r>
                      <a:r>
                        <a:rPr lang="en" sz="1000" u="sng">
                          <a:solidFill>
                            <a:schemeClr val="accent5"/>
                          </a:solidFill>
                          <a:latin typeface="Courier New"/>
                          <a:ea typeface="Courier New"/>
                          <a:cs typeface="Courier New"/>
                          <a:sym typeface="Courier New"/>
                          <a:hlinkClick r:id="rId6">
                            <a:extLst>
                              <a:ext uri="{A12FA001-AC4F-418D-AE19-62706E023703}">
                                <ahyp:hlinkClr xmlns:ahyp="http://schemas.microsoft.com/office/drawing/2018/hyperlinkcolor" val="tx"/>
                              </a:ext>
                            </a:extLst>
                          </a:hlinkClick>
                        </a:rPr>
                        <a:t>for</a:t>
                      </a:r>
                      <a:r>
                        <a:rPr lang="en" sz="1000" u="sng">
                          <a:solidFill>
                            <a:schemeClr val="accent5"/>
                          </a:solidFill>
                          <a:hlinkClick r:id="rId6">
                            <a:extLst>
                              <a:ext uri="{A12FA001-AC4F-418D-AE19-62706E023703}">
                                <ahyp:hlinkClr xmlns:ahyp="http://schemas.microsoft.com/office/drawing/2018/hyperlinkcolor" val="tx"/>
                              </a:ext>
                            </a:extLst>
                          </a:hlinkClick>
                        </a:rPr>
                        <a:t>-each loop</a:t>
                      </a:r>
                      <a:endParaRPr sz="1000"/>
                    </a:p>
                    <a:p>
                      <a:pPr marL="0" lvl="0" indent="0" algn="l" rtl="0">
                        <a:spcBef>
                          <a:spcPts val="0"/>
                        </a:spcBef>
                        <a:spcAft>
                          <a:spcPts val="0"/>
                        </a:spcAft>
                        <a:buNone/>
                      </a:pPr>
                      <a:r>
                        <a:rPr lang="en" sz="1000">
                          <a:latin typeface="Courier New"/>
                          <a:ea typeface="Courier New"/>
                          <a:cs typeface="Courier New"/>
                          <a:sym typeface="Courier New"/>
                        </a:rPr>
                        <a:t>for (int element : anArray)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System.out.println(element);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hlink"/>
                          </a:solidFill>
                          <a:hlinkClick r:id="rId7"/>
                        </a:rPr>
                        <a:t>Iterable &amp; Iterator</a:t>
                      </a:r>
                      <a:endParaRPr sz="1000"/>
                    </a:p>
                    <a:p>
                      <a:pPr marL="0" lvl="0" indent="0" algn="l" rtl="0">
                        <a:spcBef>
                          <a:spcPts val="0"/>
                        </a:spcBef>
                        <a:spcAft>
                          <a:spcPts val="0"/>
                        </a:spcAft>
                        <a:buNone/>
                      </a:pPr>
                      <a:r>
                        <a:rPr lang="en" sz="1000">
                          <a:latin typeface="Courier New"/>
                          <a:ea typeface="Courier New"/>
                          <a:cs typeface="Courier New"/>
                          <a:sym typeface="Courier New"/>
                        </a:rPr>
                        <a:t>iterator()</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hasNext()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next()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19050">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8"/>
                        </a:rPr>
                        <a:t>Extending Interfaces</a:t>
                      </a:r>
                      <a:endParaRPr sz="1000"/>
                    </a:p>
                    <a:p>
                      <a:pPr marL="0" lvl="0" indent="0" algn="l" rtl="0">
                        <a:spcBef>
                          <a:spcPts val="0"/>
                        </a:spcBef>
                        <a:spcAft>
                          <a:spcPts val="0"/>
                        </a:spcAft>
                        <a:buNone/>
                      </a:pPr>
                      <a:r>
                        <a:rPr lang="en" sz="1000">
                          <a:latin typeface="Courier New"/>
                          <a:ea typeface="Courier New"/>
                          <a:cs typeface="Courier New"/>
                          <a:sym typeface="Courier New"/>
                        </a:rPr>
                        <a:t>public interface A</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interface B extends A</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353" name="Google Shape;1353;p118"/>
          <p:cNvSpPr txBox="1"/>
          <p:nvPr/>
        </p:nvSpPr>
        <p:spPr>
          <a:xfrm rot="-5400000">
            <a:off x="-2378350" y="23776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5: Data Structures I</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57"/>
        <p:cNvGrpSpPr/>
        <p:nvPr/>
      </p:nvGrpSpPr>
      <p:grpSpPr>
        <a:xfrm>
          <a:off x="0" y="0"/>
          <a:ext cx="0" cy="0"/>
          <a:chOff x="0" y="0"/>
          <a:chExt cx="0" cy="0"/>
        </a:xfrm>
      </p:grpSpPr>
      <p:graphicFrame>
        <p:nvGraphicFramePr>
          <p:cNvPr id="1358" name="Google Shape;1358;p119"/>
          <p:cNvGraphicFramePr/>
          <p:nvPr/>
        </p:nvGraphicFramePr>
        <p:xfrm>
          <a:off x="-10" y="-9"/>
          <a:ext cx="9143975" cy="5143500"/>
        </p:xfrm>
        <a:graphic>
          <a:graphicData uri="http://schemas.openxmlformats.org/drawingml/2006/table">
            <a:tbl>
              <a:tblPr>
                <a:noFill/>
                <a:tableStyleId>{F4E8245F-B79C-49AF-8BD8-D9F0F8A7D024}</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5143500">
                <a:tc>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a:txBody>
                    <a:bodyPr/>
                    <a:lstStyle/>
                    <a:p>
                      <a:pPr marL="0" lvl="0" indent="0" algn="l" rtl="0">
                        <a:spcBef>
                          <a:spcPts val="0"/>
                        </a:spcBef>
                        <a:spcAft>
                          <a:spcPts val="0"/>
                        </a:spcAft>
                        <a:buNone/>
                      </a:pPr>
                      <a:r>
                        <a:rPr lang="en" sz="1000" u="sng">
                          <a:solidFill>
                            <a:schemeClr val="accent5"/>
                          </a:solidFill>
                          <a:hlinkClick r:id="rId3">
                            <a:extLst>
                              <a:ext uri="{A12FA001-AC4F-418D-AE19-62706E023703}">
                                <ahyp:hlinkClr xmlns:ahyp="http://schemas.microsoft.com/office/drawing/2018/hyperlinkcolor" val="tx"/>
                              </a:ext>
                            </a:extLst>
                          </a:hlinkClick>
                        </a:rPr>
                        <a:t>Default Methods</a:t>
                      </a:r>
                      <a:endParaRPr sz="1000"/>
                    </a:p>
                    <a:p>
                      <a:pPr marL="0" lvl="0" indent="0" algn="l" rtl="0">
                        <a:spcBef>
                          <a:spcPts val="0"/>
                        </a:spcBef>
                        <a:spcAft>
                          <a:spcPts val="0"/>
                        </a:spcAft>
                        <a:buNone/>
                      </a:pPr>
                      <a:r>
                        <a:rPr lang="en" sz="1000">
                          <a:latin typeface="Courier New"/>
                          <a:ea typeface="Courier New"/>
                          <a:cs typeface="Courier New"/>
                          <a:sym typeface="Courier New"/>
                        </a:rPr>
                        <a:t>public interface A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default public void greeting()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System.out.println(“Default Hello!”);</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interface B extends A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void greeting()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System.out.println(“Howdy!”);</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000" u="sng">
                          <a:solidFill>
                            <a:schemeClr val="hlink"/>
                          </a:solidFill>
                          <a:hlinkClick r:id="rId4"/>
                        </a:rPr>
                        <a:t>JCF Implementations</a:t>
                      </a:r>
                      <a:endParaRPr sz="1000"/>
                    </a:p>
                    <a:p>
                      <a:pPr marL="0" lvl="0" indent="0" algn="l" rtl="0">
                        <a:spcBef>
                          <a:spcPts val="0"/>
                        </a:spcBef>
                        <a:spcAft>
                          <a:spcPts val="0"/>
                        </a:spcAft>
                        <a:buNone/>
                      </a:pPr>
                      <a:r>
                        <a:rPr lang="en" sz="1000">
                          <a:latin typeface="Courier New"/>
                          <a:ea typeface="Courier New"/>
                          <a:cs typeface="Courier New"/>
                          <a:sym typeface="Courier New"/>
                        </a:rPr>
                        <a:t>java.util.List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java.util.ArrayList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java.util.LinkedList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java.util.Queue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java.util.Stack</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359" name="Google Shape;1359;p119"/>
          <p:cNvSpPr txBox="1"/>
          <p:nvPr/>
        </p:nvSpPr>
        <p:spPr>
          <a:xfrm rot="-5400000">
            <a:off x="-2378350" y="2377688"/>
            <a:ext cx="51513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5: Data Structures I</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1364" name="Google Shape;1364;p120"/>
          <p:cNvSpPr txBox="1">
            <a:spLocks noGrp="1"/>
          </p:cNvSpPr>
          <p:nvPr>
            <p:ph type="title"/>
          </p:nvPr>
        </p:nvSpPr>
        <p:spPr>
          <a:xfrm>
            <a:off x="311725" y="196125"/>
            <a:ext cx="8520600" cy="623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3900"/>
              <a:t>Summary &amp; Reflection</a:t>
            </a:r>
            <a:endParaRPr sz="3900"/>
          </a:p>
        </p:txBody>
      </p:sp>
      <p:sp>
        <p:nvSpPr>
          <p:cNvPr id="1365" name="Google Shape;1365;p120"/>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What is one new thing that you learned today?</a:t>
            </a:r>
            <a:endParaRPr sz="1200" b="0" i="0" u="none" strike="noStrike" cap="none">
              <a:solidFill>
                <a:srgbClr val="000000"/>
              </a:solidFill>
              <a:latin typeface="Arial"/>
              <a:ea typeface="Arial"/>
              <a:cs typeface="Arial"/>
              <a:sym typeface="Arial"/>
            </a:endParaRPr>
          </a:p>
        </p:txBody>
      </p:sp>
      <p:pic>
        <p:nvPicPr>
          <p:cNvPr id="1366" name="Google Shape;1366;p120"/>
          <p:cNvPicPr preferRelativeResize="0"/>
          <p:nvPr/>
        </p:nvPicPr>
        <p:blipFill rotWithShape="1">
          <a:blip r:embed="rId3">
            <a:alphaModFix/>
          </a:blip>
          <a:srcRect/>
          <a:stretch/>
        </p:blipFill>
        <p:spPr>
          <a:xfrm>
            <a:off x="5651400" y="3077250"/>
            <a:ext cx="1504525" cy="1504525"/>
          </a:xfrm>
          <a:prstGeom prst="rect">
            <a:avLst/>
          </a:prstGeom>
          <a:noFill/>
          <a:ln>
            <a:noFill/>
          </a:ln>
        </p:spPr>
      </p:pic>
      <p:sp>
        <p:nvSpPr>
          <p:cNvPr id="1367" name="Google Shape;1367;p120"/>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000000"/>
                </a:solidFill>
                <a:latin typeface="Arial"/>
                <a:ea typeface="Arial"/>
                <a:cs typeface="Arial"/>
                <a:sym typeface="Arial"/>
              </a:rPr>
              <a:t>What is one thing that you wish you knew more about as we move forward?</a:t>
            </a:r>
            <a:endParaRPr sz="1000" b="0" i="0" u="none" strike="noStrike" cap="none">
              <a:solidFill>
                <a:srgbClr val="000000"/>
              </a:solidFill>
              <a:latin typeface="Arial"/>
              <a:ea typeface="Arial"/>
              <a:cs typeface="Arial"/>
              <a:sym typeface="Arial"/>
            </a:endParaRPr>
          </a:p>
        </p:txBody>
      </p:sp>
      <p:sp>
        <p:nvSpPr>
          <p:cNvPr id="1368" name="Google Shape;1368;p120"/>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What one question do you have about today’s class?</a:t>
            </a:r>
            <a:endParaRPr sz="1200" b="0" i="0" u="none" strike="noStrike" cap="none">
              <a:solidFill>
                <a:srgbClr val="000000"/>
              </a:solidFill>
              <a:latin typeface="Arial"/>
              <a:ea typeface="Arial"/>
              <a:cs typeface="Arial"/>
              <a:sym typeface="Arial"/>
            </a:endParaRPr>
          </a:p>
        </p:txBody>
      </p:sp>
      <p:sp>
        <p:nvSpPr>
          <p:cNvPr id="1369" name="Google Shape;1369;p120"/>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2"/>
                </a:solidFill>
                <a:latin typeface="Roboto"/>
                <a:ea typeface="Roboto"/>
                <a:cs typeface="Roboto"/>
                <a:sym typeface="Roboto"/>
              </a:rPr>
              <a:t>Please answer the questions above in your notes for today.</a:t>
            </a:r>
            <a:endParaRPr sz="1200" b="0" i="0" u="none" strike="noStrike" cap="none">
              <a:solidFill>
                <a:schemeClr val="dk2"/>
              </a:solidFill>
              <a:latin typeface="Roboto"/>
              <a:ea typeface="Roboto"/>
              <a:cs typeface="Roboto"/>
              <a:sym typeface="Roboto"/>
            </a:endParaRPr>
          </a:p>
        </p:txBody>
      </p:sp>
      <p:pic>
        <p:nvPicPr>
          <p:cNvPr id="1370" name="Google Shape;1370;p120"/>
          <p:cNvPicPr preferRelativeResize="0"/>
          <p:nvPr/>
        </p:nvPicPr>
        <p:blipFill rotWithShape="1">
          <a:blip r:embed="rId4">
            <a:alphaModFix/>
          </a:blip>
          <a:srcRect/>
          <a:stretch/>
        </p:blipFill>
        <p:spPr>
          <a:xfrm rot="-1172163">
            <a:off x="798432" y="944685"/>
            <a:ext cx="2945835" cy="3808755"/>
          </a:xfrm>
          <a:prstGeom prst="rect">
            <a:avLst/>
          </a:prstGeom>
          <a:noFill/>
          <a:ln>
            <a:noFill/>
          </a:ln>
        </p:spPr>
      </p:pic>
      <p:sp>
        <p:nvSpPr>
          <p:cNvPr id="1371" name="Google Shape;1371;p120"/>
          <p:cNvSpPr txBox="1">
            <a:spLocks noGrp="1"/>
          </p:cNvSpPr>
          <p:nvPr>
            <p:ph type="body" idx="1"/>
          </p:nvPr>
        </p:nvSpPr>
        <p:spPr>
          <a:xfrm rot="-1168295">
            <a:off x="1011720" y="1531327"/>
            <a:ext cx="2569455" cy="2930016"/>
          </a:xfrm>
          <a:prstGeom prst="rect">
            <a:avLst/>
          </a:prstGeom>
          <a:noFill/>
          <a:ln>
            <a:noFill/>
          </a:ln>
        </p:spPr>
        <p:txBody>
          <a:bodyPr spcFirstLastPara="1" wrap="square" lIns="91425" tIns="91425" rIns="91425" bIns="91425" anchor="ctr" anchorCtr="0">
            <a:noAutofit/>
          </a:bodyPr>
          <a:lstStyle/>
          <a:p>
            <a:pPr marL="457200" lvl="0"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Abstract Data Types</a:t>
            </a:r>
            <a:endParaRPr sz="1400">
              <a:solidFill>
                <a:srgbClr val="FF0000"/>
              </a:solidFill>
              <a:latin typeface="Shadows Into Light"/>
              <a:ea typeface="Shadows Into Light"/>
              <a:cs typeface="Shadows Into Light"/>
              <a:sym typeface="Shadows Into Light"/>
            </a:endParaRPr>
          </a:p>
          <a:p>
            <a:pPr marL="914400" lvl="1"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Java Interfaces</a:t>
            </a:r>
            <a:endParaRPr sz="1400">
              <a:solidFill>
                <a:srgbClr val="FF0000"/>
              </a:solidFill>
              <a:latin typeface="Shadows Into Light"/>
              <a:ea typeface="Shadows Into Light"/>
              <a:cs typeface="Shadows Into Light"/>
              <a:sym typeface="Shadows Into Light"/>
            </a:endParaRPr>
          </a:p>
          <a:p>
            <a:pPr marL="457200" lvl="0"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Nodes &amp; Linked-Sequences</a:t>
            </a:r>
            <a:endParaRPr sz="1400">
              <a:solidFill>
                <a:srgbClr val="FF0000"/>
              </a:solidFill>
              <a:latin typeface="Shadows Into Light"/>
              <a:ea typeface="Shadows Into Light"/>
              <a:cs typeface="Shadows Into Light"/>
              <a:sym typeface="Shadows Into Light"/>
            </a:endParaRPr>
          </a:p>
          <a:p>
            <a:pPr marL="457200" lvl="0"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Queues</a:t>
            </a:r>
            <a:endParaRPr sz="1400">
              <a:solidFill>
                <a:srgbClr val="FF0000"/>
              </a:solidFill>
              <a:latin typeface="Shadows Into Light"/>
              <a:ea typeface="Shadows Into Light"/>
              <a:cs typeface="Shadows Into Light"/>
              <a:sym typeface="Shadows Into Light"/>
            </a:endParaRPr>
          </a:p>
          <a:p>
            <a:pPr marL="914400" lvl="1"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Node-Based</a:t>
            </a:r>
            <a:endParaRPr sz="1400">
              <a:solidFill>
                <a:srgbClr val="FF0000"/>
              </a:solidFill>
              <a:latin typeface="Shadows Into Light"/>
              <a:ea typeface="Shadows Into Light"/>
              <a:cs typeface="Shadows Into Light"/>
              <a:sym typeface="Shadows Into Light"/>
            </a:endParaRPr>
          </a:p>
          <a:p>
            <a:pPr marL="914400" lvl="1"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Array-Based</a:t>
            </a:r>
            <a:endParaRPr sz="1400">
              <a:solidFill>
                <a:srgbClr val="FF0000"/>
              </a:solidFill>
              <a:latin typeface="Shadows Into Light"/>
              <a:ea typeface="Shadows Into Light"/>
              <a:cs typeface="Shadows Into Light"/>
              <a:sym typeface="Shadows Into Light"/>
            </a:endParaRPr>
          </a:p>
          <a:p>
            <a:pPr marL="457200" lvl="0"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Lists</a:t>
            </a:r>
            <a:endParaRPr sz="1400">
              <a:solidFill>
                <a:srgbClr val="FF0000"/>
              </a:solidFill>
              <a:latin typeface="Shadows Into Light"/>
              <a:ea typeface="Shadows Into Light"/>
              <a:cs typeface="Shadows Into Light"/>
              <a:sym typeface="Shadows Into Light"/>
            </a:endParaRPr>
          </a:p>
          <a:p>
            <a:pPr marL="914400" lvl="1"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Array-based</a:t>
            </a:r>
            <a:endParaRPr sz="1400">
              <a:solidFill>
                <a:srgbClr val="FF0000"/>
              </a:solidFill>
              <a:latin typeface="Shadows Into Light"/>
              <a:ea typeface="Shadows Into Light"/>
              <a:cs typeface="Shadows Into Light"/>
              <a:sym typeface="Shadows Into Light"/>
            </a:endParaRPr>
          </a:p>
          <a:p>
            <a:pPr marL="457200" lvl="0"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for-each Loops</a:t>
            </a:r>
            <a:endParaRPr sz="1400">
              <a:solidFill>
                <a:srgbClr val="FF0000"/>
              </a:solidFill>
              <a:latin typeface="Shadows Into Light"/>
              <a:ea typeface="Shadows Into Light"/>
              <a:cs typeface="Shadows Into Light"/>
              <a:sym typeface="Shadows Into Light"/>
            </a:endParaRPr>
          </a:p>
          <a:p>
            <a:pPr marL="457200" lvl="0"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Iterable &amp; Iterator</a:t>
            </a:r>
            <a:endParaRPr sz="1400">
              <a:solidFill>
                <a:srgbClr val="FF0000"/>
              </a:solidFill>
              <a:latin typeface="Shadows Into Light"/>
              <a:ea typeface="Shadows Into Light"/>
              <a:cs typeface="Shadows Into Light"/>
              <a:sym typeface="Shadows Into Light"/>
            </a:endParaRPr>
          </a:p>
          <a:p>
            <a:pPr marL="914400" lvl="1"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ArrayIterator</a:t>
            </a:r>
            <a:endParaRPr sz="1400">
              <a:solidFill>
                <a:srgbClr val="FF0000"/>
              </a:solidFill>
              <a:latin typeface="Shadows Into Light"/>
              <a:ea typeface="Shadows Into Light"/>
              <a:cs typeface="Shadows Into Light"/>
              <a:sym typeface="Shadows Into Light"/>
            </a:endParaRPr>
          </a:p>
          <a:p>
            <a:pPr marL="914400" lvl="1"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NodeIterator</a:t>
            </a:r>
            <a:endParaRPr sz="1400">
              <a:solidFill>
                <a:srgbClr val="FF0000"/>
              </a:solidFill>
              <a:latin typeface="Shadows Into Light"/>
              <a:ea typeface="Shadows Into Light"/>
              <a:cs typeface="Shadows Into Light"/>
              <a:sym typeface="Shadows Into Light"/>
            </a:endParaRPr>
          </a:p>
          <a:p>
            <a:pPr marL="457200" lvl="0" indent="-317500" algn="l" rtl="0">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The JCF</a:t>
            </a:r>
            <a:endParaRPr sz="1400">
              <a:solidFill>
                <a:srgbClr val="FF0000"/>
              </a:solidFill>
              <a:latin typeface="Shadows Into Light"/>
              <a:ea typeface="Shadows Into Light"/>
              <a:cs typeface="Shadows Into Light"/>
              <a:sym typeface="Shadows Into Light"/>
            </a:endParaRPr>
          </a:p>
        </p:txBody>
      </p:sp>
      <p:sp>
        <p:nvSpPr>
          <p:cNvPr id="1372" name="Google Shape;1372;p1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
              <a:t>63</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1259</TotalTime>
  <Words>12832</Words>
  <Application>Microsoft Office PowerPoint</Application>
  <PresentationFormat>On-screen Show (16:9)</PresentationFormat>
  <Paragraphs>1529</Paragraphs>
  <Slides>63</Slides>
  <Notes>63</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63</vt:i4>
      </vt:variant>
    </vt:vector>
  </HeadingPairs>
  <TitlesOfParts>
    <vt:vector size="74" baseType="lpstr">
      <vt:lpstr>Arial</vt:lpstr>
      <vt:lpstr>Consolas</vt:lpstr>
      <vt:lpstr>Courier New</vt:lpstr>
      <vt:lpstr>Merriweather</vt:lpstr>
      <vt:lpstr>Open Sans</vt:lpstr>
      <vt:lpstr>Roboto</vt:lpstr>
      <vt:lpstr>Shadows Into Light</vt:lpstr>
      <vt:lpstr>Paradigm</vt:lpstr>
      <vt:lpstr>Paradigm</vt:lpstr>
      <vt:lpstr>Paradigm</vt:lpstr>
      <vt:lpstr>Paradigm</vt:lpstr>
      <vt:lpstr>GCIS-124 Software Development &amp; Problem Solving</vt:lpstr>
      <vt:lpstr>PowerPoint Presentation</vt:lpstr>
      <vt:lpstr>Data Structures</vt:lpstr>
      <vt:lpstr>Abstract Data Types</vt:lpstr>
      <vt:lpstr>Identify Abstract Data Types</vt:lpstr>
      <vt:lpstr>Identify Abstract Data Types</vt:lpstr>
      <vt:lpstr>Recursive Data Structures</vt:lpstr>
      <vt:lpstr>Visualizing a Linked-Sequence of Nodes</vt:lpstr>
      <vt:lpstr>Visualizing a Sequence of Nodes</vt:lpstr>
      <vt:lpstr>A Node Class</vt:lpstr>
      <vt:lpstr>Queues</vt:lpstr>
      <vt:lpstr>The Queue Abstract Data Type</vt:lpstr>
      <vt:lpstr>Node-Based Queues</vt:lpstr>
      <vt:lpstr>A Node-Based Queue</vt:lpstr>
      <vt:lpstr>A Closer Look at Enqueuing</vt:lpstr>
      <vt:lpstr>Enqueue Using Nodes</vt:lpstr>
      <vt:lpstr>A Closer Look at Dequeuing</vt:lpstr>
      <vt:lpstr>Dequeue Using Nodes</vt:lpstr>
      <vt:lpstr>Array-Based Queues</vt:lpstr>
      <vt:lpstr>An Array-Based Queue</vt:lpstr>
      <vt:lpstr>A Closer Look at Enqueuing</vt:lpstr>
      <vt:lpstr>Enqueue Using an Array</vt:lpstr>
      <vt:lpstr>A Closer Look at Dequeuing</vt:lpstr>
      <vt:lpstr>Dequeue Using an Array</vt:lpstr>
      <vt:lpstr>A Closer Look at Resizing</vt:lpstr>
      <vt:lpstr>Resizing</vt:lpstr>
      <vt:lpstr>Queue Complexity</vt:lpstr>
      <vt:lpstr>Generics</vt:lpstr>
      <vt:lpstr>A Closer Look at Generics</vt:lpstr>
      <vt:lpstr>Making Queue Work With any Type</vt:lpstr>
      <vt:lpstr>Combining Generics</vt:lpstr>
      <vt:lpstr>Making Nodes Work With any Type (too)</vt:lpstr>
      <vt:lpstr>Extending Generics</vt:lpstr>
      <vt:lpstr>Making NodeQueue Generic</vt:lpstr>
      <vt:lpstr>Autoboxing (and Unboxing)</vt:lpstr>
      <vt:lpstr>Lists</vt:lpstr>
      <vt:lpstr>The List Abstract Data Type</vt:lpstr>
      <vt:lpstr>Array Lists</vt:lpstr>
      <vt:lpstr>An Array-Based List</vt:lpstr>
      <vt:lpstr>A Closer Look at Appending</vt:lpstr>
      <vt:lpstr>A Basic Implementation of append</vt:lpstr>
      <vt:lpstr>Resizing the Array in an Array-Based List</vt:lpstr>
      <vt:lpstr>Linked Lists</vt:lpstr>
      <vt:lpstr>List Complexity</vt:lpstr>
      <vt:lpstr>Java's for-each Loop </vt:lpstr>
      <vt:lpstr>Using for-each to Iterate Over an Array</vt:lpstr>
      <vt:lpstr>Using for-each with an ArrayList</vt:lpstr>
      <vt:lpstr>Iterable &amp; Iterator </vt:lpstr>
      <vt:lpstr>Extending Interfaces</vt:lpstr>
      <vt:lpstr>A Closer Look at Default Methods</vt:lpstr>
      <vt:lpstr>An Iterable List</vt:lpstr>
      <vt:lpstr>An Array Iterator</vt:lpstr>
      <vt:lpstr>An Iterable ArrayList</vt:lpstr>
      <vt:lpstr>An Iterable Queue</vt:lpstr>
      <vt:lpstr>An Iterator of Nodes</vt:lpstr>
      <vt:lpstr>An Iterable NodeQueue</vt:lpstr>
      <vt:lpstr>An Iterable ArrayQueue</vt:lpstr>
      <vt:lpstr>The Java Collections Framework (JCF)</vt:lpstr>
      <vt:lpstr>JCF Implementations</vt:lpstr>
      <vt:lpstr>An Incomplete JCF Class Hierarchy</vt:lpstr>
      <vt:lpstr>PowerPoint Presentation</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37</cp:revision>
  <dcterms:modified xsi:type="dcterms:W3CDTF">2026-02-17T20:56:36Z</dcterms:modified>
</cp:coreProperties>
</file>